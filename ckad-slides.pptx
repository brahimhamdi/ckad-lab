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5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_rels/presentation.xml.rels" ContentType="application/vnd.openxmlformats-package.relationships+xml"/>
  <Override PartName="/ppt/media/image257.png" ContentType="image/png"/>
  <Override PartName="/ppt/media/image394.png" ContentType="image/png"/>
  <Override PartName="/ppt/media/image256.png" ContentType="image/png"/>
  <Override PartName="/ppt/media/image255.png" ContentType="image/png"/>
  <Override PartName="/ppt/media/image392.png" ContentType="image/png"/>
  <Override PartName="/ppt/media/image252.jpeg" ContentType="image/jpeg"/>
  <Override PartName="/ppt/media/image251.jpeg" ContentType="image/jpeg"/>
  <Override PartName="/ppt/media/image248.png" ContentType="image/png"/>
  <Override PartName="/ppt/media/image120.png" ContentType="image/png"/>
  <Override PartName="/ppt/media/image385.png" ContentType="image/png"/>
  <Override PartName="/ppt/media/image247.png" ContentType="image/png"/>
  <Override PartName="/ppt/media/image384.png" ContentType="image/png"/>
  <Override PartName="/ppt/media/image246.png" ContentType="image/png"/>
  <Override PartName="/ppt/media/image383.png" ContentType="image/png"/>
  <Override PartName="/ppt/media/image245.png" ContentType="image/png"/>
  <Override PartName="/ppt/media/image244.png" ContentType="image/png"/>
  <Override PartName="/ppt/media/image381.png" ContentType="image/png"/>
  <Override PartName="/ppt/media/image243.png" ContentType="image/png"/>
  <Override PartName="/ppt/media/image380.png" ContentType="image/png"/>
  <Override PartName="/ppt/media/image242.png" ContentType="image/png"/>
  <Override PartName="/ppt/media/image241.png" ContentType="image/png"/>
  <Override PartName="/ppt/media/image240.png" ContentType="image/png"/>
  <Override PartName="/ppt/media/image239.png" ContentType="image/png"/>
  <Override PartName="/ppt/media/image111.png" ContentType="image/png"/>
  <Override PartName="/ppt/media/image238.png" ContentType="image/png"/>
  <Override PartName="/ppt/media/image110.png" ContentType="image/png"/>
  <Override PartName="/ppt/media/image235.png" ContentType="image/png"/>
  <Override PartName="/ppt/media/image232.jpeg" ContentType="image/jpeg"/>
  <Override PartName="/ppt/media/image231.png" ContentType="image/png"/>
  <Override PartName="/ppt/media/image187.jpeg" ContentType="image/jpeg"/>
  <Override PartName="/ppt/media/image234.png" ContentType="image/png"/>
  <Override PartName="/ppt/media/image157.jpeg" ContentType="image/jpeg"/>
  <Override PartName="/ppt/media/image230.jpeg" ContentType="image/jpeg"/>
  <Override PartName="/ppt/media/image228.png" ContentType="image/png"/>
  <Override PartName="/ppt/media/image222.png" ContentType="image/png"/>
  <Override PartName="/ppt/media/image220.png" ContentType="image/png"/>
  <Override PartName="/ppt/media/image249.png" ContentType="image/png"/>
  <Override PartName="/ppt/media/image121.png" ContentType="image/png"/>
  <Override PartName="/ppt/media/image386.png" ContentType="image/png"/>
  <Override PartName="/ppt/media/image219.jpeg" ContentType="image/jpeg"/>
  <Override PartName="/ppt/media/image40.png" ContentType="image/png"/>
  <Override PartName="/ppt/media/image229.png" ContentType="image/png"/>
  <Override PartName="/ppt/media/image217.jpeg" ContentType="image/jpeg"/>
  <Override PartName="/ppt/media/image20.png" ContentType="image/png"/>
  <Override PartName="/ppt/media/image216.png" ContentType="image/png"/>
  <Override PartName="/ppt/media/image214.png" ContentType="image/png"/>
  <Override PartName="/ppt/media/image254.jpeg" ContentType="image/jpeg"/>
  <Override PartName="/ppt/media/image213.png" ContentType="image/png"/>
  <Override PartName="/ppt/media/image212.png" ContentType="image/png"/>
  <Override PartName="/ppt/media/image237.png" ContentType="image/png"/>
  <Override PartName="/ppt/media/image211.jpeg" ContentType="image/jpeg"/>
  <Override PartName="/ppt/media/image227.png" ContentType="image/png"/>
  <Override PartName="/ppt/media/image210.jpeg" ContentType="image/jpeg"/>
  <Override PartName="/ppt/media/image215.jpeg" ContentType="image/jpeg"/>
  <Override PartName="/ppt/media/image209.png" ContentType="image/png"/>
  <Override PartName="/ppt/media/image207.png" ContentType="image/png"/>
  <Override PartName="/ppt/media/image206.png" ContentType="image/png"/>
  <Override PartName="/ppt/media/image205.png" ContentType="image/png"/>
  <Override PartName="/ppt/media/image204.png" ContentType="image/png"/>
  <Override PartName="/ppt/media/image203.png" ContentType="image/png"/>
  <Override PartName="/ppt/media/image267.jpeg" ContentType="image/jpeg"/>
  <Override PartName="/ppt/media/image202.png" ContentType="image/png"/>
  <Override PartName="/ppt/media/image201.png" ContentType="image/png"/>
  <Override PartName="/ppt/media/image200.png" ContentType="image/png"/>
  <Override PartName="/ppt/media/image199.png" ContentType="image/png"/>
  <Override PartName="/ppt/media/image345.jpeg" ContentType="image/jpeg"/>
  <Override PartName="/ppt/media/image197.png" ContentType="image/png"/>
  <Override PartName="/ppt/media/image191.jpeg" ContentType="image/jpeg"/>
  <Override PartName="/ppt/media/image97.jpeg" ContentType="image/jpeg"/>
  <Override PartName="/ppt/media/image188.png" ContentType="image/png"/>
  <Override PartName="/ppt/media/image182.png" ContentType="image/png"/>
  <Override PartName="/ppt/media/image348.png" ContentType="image/png"/>
  <Override PartName="/ppt/media/image181.jpeg" ContentType="image/jpeg"/>
  <Override PartName="/ppt/media/image179.png" ContentType="image/png"/>
  <Override PartName="/ppt/media/image343.jpeg" ContentType="image/jpeg"/>
  <Override PartName="/ppt/media/image250.png" ContentType="image/png"/>
  <Override PartName="/ppt/media/image258.jpeg" ContentType="image/jpeg"/>
  <Override PartName="/ppt/media/image178.jpeg" ContentType="image/jpeg"/>
  <Override PartName="/ppt/media/image175.png" ContentType="image/png"/>
  <Override PartName="/ppt/media/image171.jpeg" ContentType="image/jpeg"/>
  <Override PartName="/ppt/media/image170.png" ContentType="image/png"/>
  <Override PartName="/ppt/media/image298.png" ContentType="image/png"/>
  <Override PartName="/ppt/media/image336.png" ContentType="image/png"/>
  <Override PartName="/ppt/media/image169.png" ContentType="image/png"/>
  <Override PartName="/ppt/media/image342.jpeg" ContentType="image/jpeg"/>
  <Override PartName="/ppt/media/image168.png" ContentType="image/png"/>
  <Override PartName="/ppt/media/image166.png" ContentType="image/png"/>
  <Override PartName="/ppt/media/image165.png" ContentType="image/png"/>
  <Override PartName="/ppt/media/image163.jpeg" ContentType="image/jpeg"/>
  <Override PartName="/ppt/media/image162.png" ContentType="image/png"/>
  <Override PartName="/ppt/media/image328.png" ContentType="image/png"/>
  <Override PartName="/ppt/media/image160.png" ContentType="image/png"/>
  <Override PartName="/ppt/media/image288.png" ContentType="image/png"/>
  <Override PartName="/ppt/media/image326.png" ContentType="image/png"/>
  <Override PartName="/ppt/media/image154.png" ContentType="image/png"/>
  <Override PartName="/ppt/media/image152.png" ContentType="image/png"/>
  <Override PartName="/ppt/media/image318.png" ContentType="image/png"/>
  <Override PartName="/ppt/media/image150.png" ContentType="image/png"/>
  <Override PartName="/ppt/media/image278.png" ContentType="image/png"/>
  <Override PartName="/ppt/media/image316.png" ContentType="image/png"/>
  <Override PartName="/ppt/media/image149.png" ContentType="image/png"/>
  <Override PartName="/ppt/media/image148.png" ContentType="image/png"/>
  <Override PartName="/ppt/media/image144.png" ContentType="image/png"/>
  <Override PartName="/ppt/media/image161.png" ContentType="image/png"/>
  <Override PartName="/ppt/media/image289.png" ContentType="image/png"/>
  <Override PartName="/ppt/media/image327.png" ContentType="image/png"/>
  <Override PartName="/ppt/media/image143.jpeg" ContentType="image/jpeg"/>
  <Override PartName="/ppt/media/image142.jpeg" ContentType="image/jpeg"/>
  <Override PartName="/ppt/media/image1.png" ContentType="image/png"/>
  <Override PartName="/ppt/media/image141.jpeg" ContentType="image/jpeg"/>
  <Override PartName="/ppt/media/image140.jpeg" ContentType="image/jpeg"/>
  <Override PartName="/ppt/media/image139.png" ContentType="image/png"/>
  <Override PartName="/ppt/media/image138.png" ContentType="image/png"/>
  <Override PartName="/ppt/media/image135.png" ContentType="image/png"/>
  <Override PartName="/ppt/media/image134.png" ContentType="image/png"/>
  <Override PartName="/ppt/media/image133.jpeg" ContentType="image/jpeg"/>
  <Override PartName="/ppt/media/image131.jpeg" ContentType="image/jpeg"/>
  <Override PartName="/ppt/media/image146.png" ContentType="image/png"/>
  <Override PartName="/ppt/media/image370.jpeg" ContentType="image/jpeg"/>
  <Override PartName="/ppt/media/image129.jpeg" ContentType="image/jpeg"/>
  <Override PartName="/ppt/media/image128.png" ContentType="image/png"/>
  <Override PartName="/ppt/media/image221.jpeg" ContentType="image/jpeg"/>
  <Override PartName="/ppt/media/image56.png" ContentType="image/png"/>
  <Override PartName="/ppt/media/image55.png" ContentType="image/png"/>
  <Override PartName="/ppt/media/image53.jpeg" ContentType="image/jpeg"/>
  <Override PartName="/ppt/media/image51.png" ContentType="image/png"/>
  <Override PartName="/ppt/media/image107.jpeg" ContentType="image/jpeg"/>
  <Override PartName="/ppt/media/image48.png" ContentType="image/png"/>
  <Override PartName="/ppt/media/image22.jpeg" ContentType="image/jpeg"/>
  <Override PartName="/ppt/media/image374.png" ContentType="image/png"/>
  <Override PartName="/ppt/media/image45.png" ContentType="image/png"/>
  <Override PartName="/ppt/media/image52.jpeg" ContentType="image/jpeg"/>
  <Override PartName="/ppt/media/image371.png" ContentType="image/png"/>
  <Override PartName="/ppt/media/image132.jpeg" ContentType="image/jpeg"/>
  <Override PartName="/ppt/media/image44.png" ContentType="image/png"/>
  <Override PartName="/ppt/media/image43.png" ContentType="image/png"/>
  <Override PartName="/ppt/media/image151.jpeg" ContentType="image/jpeg"/>
  <Override PartName="/ppt/media/image19.png" ContentType="image/png"/>
  <Override PartName="/ppt/media/image87.png" ContentType="image/png"/>
  <Override PartName="/ppt/media/image89.png" ContentType="image/png"/>
  <Override PartName="/ppt/media/image90.png" ContentType="image/png"/>
  <Override PartName="/ppt/media/image377.jpeg" ContentType="image/jpeg"/>
  <Override PartName="/ppt/media/image28.png" ContentType="image/png"/>
  <Override PartName="/ppt/media/image96.png" ContentType="image/png"/>
  <Override PartName="/ppt/media/image176.png" ContentType="image/png"/>
  <Override PartName="/ppt/media/image369.png" ContentType="image/png"/>
  <Override PartName="/ppt/media/image109.jpeg" ContentType="image/jpeg"/>
  <Override PartName="/ppt/media/image57.png" ContentType="image/png"/>
  <Override PartName="/ppt/media/image114.jpeg" ContentType="image/jpeg"/>
  <Override PartName="/ppt/media/image156.png" ContentType="image/png"/>
  <Override PartName="/ppt/media/image184.png" ContentType="image/png"/>
  <Override PartName="/ppt/media/image92.png" ContentType="image/png"/>
  <Override PartName="/ppt/media/image116.png" ContentType="image/png"/>
  <Override PartName="/ppt/media/image309.png" ContentType="image/png"/>
  <Override PartName="/ppt/media/image261.png" ContentType="image/png"/>
  <Override PartName="/ppt/media/image268.png" ContentType="image/png"/>
  <Override PartName="/ppt/media/image180.jpeg" ContentType="image/jpeg"/>
  <Override PartName="/ppt/media/image127.jpeg" ContentType="image/jpeg"/>
  <Override PartName="/ppt/media/image126.png" ContentType="image/png"/>
  <Override PartName="/ppt/media/image294.jpeg" ContentType="image/jpeg"/>
  <Override PartName="/ppt/media/image339.png" ContentType="image/png"/>
  <Override PartName="/ppt/media/image173.png" ContentType="image/png"/>
  <Override PartName="/ppt/media/image366.png" ContentType="image/png"/>
  <Override PartName="/ppt/media/image269.png" ContentType="image/png"/>
  <Override PartName="/ppt/media/image307.png" ContentType="image/png"/>
  <Override PartName="/ppt/media/image270.png" ContentType="image/png"/>
  <Override PartName="/ppt/media/image262.png" ContentType="image/png"/>
  <Override PartName="/ppt/media/image300.png" ContentType="image/png"/>
  <Override PartName="/ppt/media/image271.png" ContentType="image/png"/>
  <Override PartName="/ppt/media/image263.png" ContentType="image/png"/>
  <Override PartName="/ppt/media/image301.png" ContentType="image/png"/>
  <Override PartName="/ppt/media/image103.png" ContentType="image/png"/>
  <Override PartName="/ppt/media/image264.png" ContentType="image/png"/>
  <Override PartName="/ppt/media/image302.png" ContentType="image/png"/>
  <Override PartName="/ppt/media/image265.png" ContentType="image/png"/>
  <Override PartName="/ppt/media/image303.png" ContentType="image/png"/>
  <Override PartName="/ppt/media/image164.jpeg" ContentType="image/jpeg"/>
  <Override PartName="/ppt/media/image338.png" ContentType="image/png"/>
  <Override PartName="/ppt/media/image172.png" ContentType="image/png"/>
  <Override PartName="/ppt/media/image349.png" ContentType="image/png"/>
  <Override PartName="/ppt/media/image183.png" ContentType="image/png"/>
  <Override PartName="/ppt/media/image308.png" ContentType="image/png"/>
  <Override PartName="/ppt/media/image91.png" ContentType="image/png"/>
  <Override PartName="/ppt/media/image115.png" ContentType="image/png"/>
  <Override PartName="/ppt/media/image358.png" ContentType="image/png"/>
  <Override PartName="/ppt/media/image192.png" ContentType="image/png"/>
  <Override PartName="/ppt/media/image194.png" ContentType="image/png"/>
  <Override PartName="/ppt/media/image292.jpeg" ContentType="image/jpeg"/>
  <Override PartName="/ppt/media/image280.png" ContentType="image/png"/>
  <Override PartName="/ppt/media/image281.jpeg" ContentType="image/jpeg"/>
  <Override PartName="/ppt/media/image347.png" ContentType="image/png"/>
  <Override PartName="/ppt/media/image259.png" ContentType="image/png"/>
  <Override PartName="/ppt/media/image266.jpeg" ContentType="image/jpeg"/>
  <Override PartName="/ppt/media/image353.png" ContentType="image/png"/>
  <Override PartName="/ppt/media/image354.jpeg" ContentType="image/jpeg"/>
  <Override PartName="/ppt/media/image113.png" ContentType="image/png"/>
  <Override PartName="/ppt/media/image145.jpeg" ContentType="image/jpeg"/>
  <Override PartName="/ppt/media/image274.png" ContentType="image/png"/>
  <Override PartName="/ppt/media/image312.png" ContentType="image/png"/>
  <Override PartName="/ppt/media/image29.jpeg" ContentType="image/jpeg"/>
  <Override PartName="/ppt/media/image355.jpeg" ContentType="image/jpeg"/>
  <Override PartName="/ppt/media/image64.png" ContentType="image/png"/>
  <Override PartName="/ppt/media/image357.png" ContentType="image/png"/>
  <Override PartName="/ppt/media/image360.png" ContentType="image/png"/>
  <Override PartName="/ppt/media/image189.jpeg" ContentType="image/jpeg"/>
  <Override PartName="/ppt/media/image359.png" ContentType="image/png"/>
  <Override PartName="/ppt/media/image361.png" ContentType="image/png"/>
  <Override PartName="/ppt/media/image330.png" ContentType="image/png"/>
  <Override PartName="/ppt/media/image367.png" ContentType="image/png"/>
  <Override PartName="/ppt/media/image174.png" ContentType="image/png"/>
  <Override PartName="/ppt/media/image379.png" ContentType="image/png"/>
  <Override PartName="/ppt/media/image186.png" ContentType="image/png"/>
  <Override PartName="/ppt/media/image344.png" ContentType="image/png"/>
  <Override PartName="/ppt/media/image387.jpeg" ContentType="image/jpeg"/>
  <Override PartName="/ppt/media/image341.png" ContentType="image/png"/>
  <Override PartName="/ppt/media/image378.png" ContentType="image/png"/>
  <Override PartName="/ppt/media/image346.jpeg" ContentType="image/jpeg"/>
  <Override PartName="/ppt/media/image333.jpeg" ContentType="image/jpeg"/>
  <Override PartName="/ppt/media/image125.png" ContentType="image/png"/>
  <Override PartName="/ppt/media/image332.png" ContentType="image/png"/>
  <Override PartName="/ppt/media/image352.png" ContentType="image/png"/>
  <Override PartName="/ppt/media/image99.png" ContentType="image/png"/>
  <Override PartName="/ppt/media/image272.png" ContentType="image/png"/>
  <Override PartName="/ppt/media/image310.png" ContentType="image/png"/>
  <Override PartName="/ppt/media/image376.png" ContentType="image/png"/>
  <Override PartName="/ppt/media/image393.jpeg" ContentType="image/jpeg"/>
  <Override PartName="/ppt/media/image295.png" ContentType="image/png"/>
  <Override PartName="/ppt/media/image391.png" ContentType="image/png"/>
  <Override PartName="/ppt/media/image42.png" ContentType="image/png"/>
  <Override PartName="/ppt/media/image368.png" ContentType="image/png"/>
  <Override PartName="/ppt/media/image293.png" ContentType="image/png"/>
  <Override PartName="/ppt/media/image331.png" ContentType="image/png"/>
  <Override PartName="/ppt/media/image350.png" ContentType="image/png"/>
  <Override PartName="/ppt/media/image26.jpeg" ContentType="image/jpeg"/>
  <Override PartName="/ppt/media/image317.png" ContentType="image/png"/>
  <Override PartName="/ppt/media/image279.png" ContentType="image/png"/>
  <Override PartName="/ppt/media/image329.png" ContentType="image/png"/>
  <Override PartName="/ppt/media/image277.png" ContentType="image/png"/>
  <Override PartName="/ppt/media/image315.png" ContentType="image/png"/>
  <Override PartName="/ppt/media/image122.png" ContentType="image/png"/>
  <Override PartName="/ppt/media/image324.png" ContentType="image/png"/>
  <Override PartName="/ppt/media/image286.png" ContentType="image/png"/>
  <Override PartName="/ppt/media/image102.jpeg" ContentType="image/jpeg"/>
  <Override PartName="/ppt/media/image218.png" ContentType="image/png"/>
  <Override PartName="/ppt/media/image101.jpeg" ContentType="image/jpeg"/>
  <Override PartName="/ppt/media/image208.png" ContentType="image/png"/>
  <Override PartName="/ppt/media/image305.png" ContentType="image/png"/>
  <Override PartName="/ppt/media/image112.png" ContentType="image/png"/>
  <Override PartName="/ppt/media/image299.png" ContentType="image/png"/>
  <Override PartName="/ppt/media/image337.png" ContentType="image/png"/>
  <Override PartName="/ppt/media/image297.png" ContentType="image/png"/>
  <Override PartName="/ppt/media/image335.png" ContentType="image/png"/>
  <Override PartName="/ppt/media/image365.jpeg" ContentType="image/jpeg"/>
  <Override PartName="/ppt/media/image306.jpeg" ContentType="image/jpeg"/>
  <Override PartName="/ppt/media/image273.png" ContentType="image/png"/>
  <Override PartName="/ppt/media/image311.png" ContentType="image/png"/>
  <Override PartName="/ppt/media/image124.png" ContentType="image/png"/>
  <Override PartName="/ppt/media/image389.png" ContentType="image/png"/>
  <Override PartName="/ppt/media/image2.jpeg" ContentType="image/jpeg"/>
  <Override PartName="/ppt/media/image185.jpeg" ContentType="image/jpeg"/>
  <Override PartName="/ppt/media/image291.png" ContentType="image/png"/>
  <Override PartName="/ppt/media/image79.png" ContentType="image/png"/>
  <Override PartName="/ppt/media/image375.jpeg" ContentType="image/jpeg"/>
  <Override PartName="/ppt/media/image290.png" ContentType="image/png"/>
  <Override PartName="/ppt/media/image334.png" ContentType="image/png"/>
  <Override PartName="/ppt/media/image296.png" ContentType="image/png"/>
  <Override PartName="/ppt/media/image287.png" ContentType="image/png"/>
  <Override PartName="/ppt/media/image325.png" ContentType="image/png"/>
  <Override PartName="/ppt/media/image320.png" ContentType="image/png"/>
  <Override PartName="/ppt/media/image282.png" ContentType="image/png"/>
  <Override PartName="/ppt/media/image276.png" ContentType="image/png"/>
  <Override PartName="/ppt/media/image314.png" ContentType="image/png"/>
  <Override PartName="/ppt/media/image304.jpeg" ContentType="image/jpeg"/>
  <Override PartName="/ppt/media/image323.png" ContentType="image/png"/>
  <Override PartName="/ppt/media/image285.png" ContentType="image/png"/>
  <Override PartName="/ppt/media/image275.png" ContentType="image/png"/>
  <Override PartName="/ppt/media/image313.png" ContentType="image/png"/>
  <Override PartName="/ppt/media/image322.png" ContentType="image/png"/>
  <Override PartName="/ppt/media/image284.png" ContentType="image/png"/>
  <Override PartName="/ppt/media/image283.png" ContentType="image/png"/>
  <Override PartName="/ppt/media/image321.png" ContentType="image/png"/>
  <Override PartName="/ppt/media/image196.jpeg" ContentType="image/jpeg"/>
  <Override PartName="/ppt/media/image382.jpeg" ContentType="image/jpeg"/>
  <Override PartName="/ppt/media/image77.png" ContentType="image/png"/>
  <Override PartName="/ppt/media/image76.png" ContentType="image/png"/>
  <Override PartName="/ppt/media/image223.jpeg" ContentType="image/jpeg"/>
  <Override PartName="/ppt/media/image39.png" ContentType="image/png"/>
  <Override PartName="/ppt/media/image388.png" ContentType="image/png"/>
  <Override PartName="/ppt/media/image123.png" ContentType="image/png"/>
  <Override PartName="/ppt/media/image74.jpeg" ContentType="image/jpeg"/>
  <Override PartName="/ppt/media/image117.png" ContentType="image/png"/>
  <Override PartName="/ppt/media/image93.png" ContentType="image/png"/>
  <Override PartName="/ppt/media/image73.png" ContentType="image/png"/>
  <Override PartName="/ppt/media/image62.png" ContentType="image/png"/>
  <Override PartName="/ppt/media/image72.png" ContentType="image/png"/>
  <Override PartName="/ppt/media/image71.jpeg" ContentType="image/jpeg"/>
  <Override PartName="/ppt/media/image63.png" ContentType="image/png"/>
  <Override PartName="/ppt/media/image70.png" ContentType="image/png"/>
  <Override PartName="/ppt/media/image4.png" ContentType="image/png"/>
  <Override PartName="/ppt/media/image18.jpeg" ContentType="image/jpeg"/>
  <Override PartName="/ppt/media/image69.png" ContentType="image/png"/>
  <Override PartName="/ppt/media/image67.png" ContentType="image/png"/>
  <Override PartName="/ppt/media/image100.jpeg" ContentType="image/jpeg"/>
  <Override PartName="/ppt/media/image61.png" ContentType="image/png"/>
  <Override PartName="/ppt/media/image60.png" ContentType="image/png"/>
  <Override PartName="/ppt/media/image78.png" ContentType="image/png"/>
  <Override PartName="/ppt/media/image25.jpeg" ContentType="image/jpeg"/>
  <Override PartName="/ppt/media/image119.png" ContentType="image/png"/>
  <Override PartName="/ppt/media/image95.png" ContentType="image/png"/>
  <Override PartName="/ppt/media/image24.jpeg" ContentType="image/jpeg"/>
  <Override PartName="/ppt/media/image68.png" ContentType="image/png"/>
  <Override PartName="/ppt/media/image66.jpeg" ContentType="image/jpeg"/>
  <Override PartName="/ppt/media/image226.png" ContentType="image/png"/>
  <Override PartName="/ppt/media/image236.jpeg" ContentType="image/jpeg"/>
  <Override PartName="/ppt/media/image59.png" ContentType="image/png"/>
  <Override PartName="/ppt/media/image118.png" ContentType="image/png"/>
  <Override PartName="/ppt/media/image94.png" ContentType="image/png"/>
  <Override PartName="/ppt/media/image21.png" ContentType="image/png"/>
  <Override PartName="/ppt/media/image32.jpeg" ContentType="image/jpeg"/>
  <Override PartName="/ppt/media/image147.png" ContentType="image/png"/>
  <Override PartName="/ppt/media/image15.jpeg" ContentType="image/jpeg"/>
  <Override PartName="/ppt/media/image340.png" ContentType="image/png"/>
  <Override PartName="/ppt/media/image14.png" ContentType="image/png"/>
  <Override PartName="/ppt/media/image106.png" ContentType="image/png"/>
  <Override PartName="/ppt/media/image82.png" ContentType="image/png"/>
  <Override PartName="/ppt/media/image12.png" ContentType="image/png"/>
  <Override PartName="/ppt/media/image104.png" ContentType="image/png"/>
  <Override PartName="/ppt/media/image80.png" ContentType="image/png"/>
  <Override PartName="/ppt/media/image49.png" ContentType="image/png"/>
  <Override PartName="/ppt/media/image225.jpeg" ContentType="image/jpeg"/>
  <Override PartName="/ppt/media/image3.png" ContentType="image/png"/>
  <Override PartName="/ppt/media/image155.png" ContentType="image/png"/>
  <Override PartName="/ppt/media/image105.png" ContentType="image/png"/>
  <Override PartName="/ppt/media/image81.png" ContentType="image/png"/>
  <Override PartName="/ppt/media/image13.png" ContentType="image/png"/>
  <Override PartName="/ppt/media/image16.png" ContentType="image/png"/>
  <Override PartName="/ppt/media/image108.png" ContentType="image/png"/>
  <Override PartName="/ppt/media/image84.png" ContentType="image/png"/>
  <Override PartName="/ppt/media/image136.jpeg" ContentType="image/jpeg"/>
  <Override PartName="/ppt/media/image88.jpeg" ContentType="image/jpeg"/>
  <Override PartName="/ppt/media/image253.png" ContentType="image/png"/>
  <Override PartName="/ppt/media/image390.png" ContentType="image/png"/>
  <Override PartName="/ppt/media/image41.png" ContentType="image/png"/>
  <Override PartName="/ppt/media/image17.png" ContentType="image/png"/>
  <Override PartName="/ppt/media/image85.png" ContentType="image/png"/>
  <Override PartName="/ppt/media/image5.png" ContentType="image/png"/>
  <Override PartName="/ppt/media/image33.jpeg" ContentType="image/jpeg"/>
  <Override PartName="/ppt/media/image86.jpeg" ContentType="image/jpeg"/>
  <Override PartName="/ppt/media/image233.png" ContentType="image/png"/>
  <Override PartName="/ppt/media/image27.jpeg" ContentType="image/jpeg"/>
  <Override PartName="/ppt/media/image98.png" ContentType="image/png"/>
  <Override PartName="/ppt/media/image351.png" ContentType="image/png"/>
  <Override PartName="/ppt/media/image50.jpeg" ContentType="image/jpeg"/>
  <Override PartName="/ppt/media/image46.png" ContentType="image/png"/>
  <Override PartName="/ppt/media/image372.png" ContentType="image/png"/>
  <Override PartName="/ppt/media/image10.png" ContentType="image/png"/>
  <Override PartName="/ppt/media/image35.jpeg" ContentType="image/jpeg"/>
  <Override PartName="/ppt/media/image260.jpeg" ContentType="image/jpeg"/>
  <Override PartName="/ppt/media/image177.png" ContentType="image/png"/>
  <Override PartName="/ppt/media/image373.png" ContentType="image/png"/>
  <Override PartName="/ppt/media/image47.png" ContentType="image/png"/>
  <Override PartName="/ppt/media/image83.png" ContentType="image/png"/>
  <Override PartName="/ppt/media/image6.png" ContentType="image/png"/>
  <Override PartName="/ppt/media/image158.png" ContentType="image/png"/>
  <Override PartName="/ppt/media/image362.png" ContentType="image/png"/>
  <Override PartName="/ppt/media/image36.png" ContentType="image/png"/>
  <Override PartName="/ppt/media/image75.png" ContentType="image/png"/>
  <Override PartName="/ppt/media/image130.jpeg" ContentType="image/jpeg"/>
  <Override PartName="/ppt/media/image9.png" ContentType="image/png"/>
  <Override PartName="/ppt/media/image7.png" ContentType="image/png"/>
  <Override PartName="/ppt/media/image159.png" ContentType="image/png"/>
  <Override PartName="/ppt/media/image34.jpeg" ContentType="image/jpeg"/>
  <Override PartName="/ppt/media/image167.png" ContentType="image/png"/>
  <Override PartName="/ppt/media/image363.png" ContentType="image/png"/>
  <Override PartName="/ppt/media/image37.png" ContentType="image/png"/>
  <Override PartName="/ppt/media/image23.jpeg" ContentType="image/jpeg"/>
  <Override PartName="/ppt/media/image58.png" ContentType="image/png"/>
  <Override PartName="/ppt/media/image8.png" ContentType="image/png"/>
  <Override PartName="/ppt/media/image364.png" ContentType="image/png"/>
  <Override PartName="/ppt/media/image38.png" ContentType="image/png"/>
  <Override PartName="/ppt/media/image11.jpeg" ContentType="image/jpeg"/>
  <Override PartName="/ppt/media/image193.jpeg" ContentType="image/jpeg"/>
  <Override PartName="/ppt/media/image198.png" ContentType="image/png"/>
  <Override PartName="/ppt/media/image319.png" ContentType="image/png"/>
  <Override PartName="/ppt/media/image153.png" ContentType="image/png"/>
  <Override PartName="/ppt/media/image65.png" ContentType="image/png"/>
  <Override PartName="/ppt/media/image54.jpeg" ContentType="image/jpeg"/>
  <Override PartName="/ppt/media/image224.jpeg" ContentType="image/jpeg"/>
  <Override PartName="/ppt/media/image30.jpeg" ContentType="image/jpeg"/>
  <Override PartName="/ppt/media/image195.png" ContentType="image/png"/>
  <Override PartName="/ppt/media/image190.png" ContentType="image/png"/>
  <Override PartName="/ppt/media/image356.png" ContentType="image/png"/>
  <Override PartName="/ppt/media/image31.jpeg" ContentType="image/jpeg"/>
  <Override PartName="/ppt/media/image137.png" ContentType="image/png"/>
  <Override PartName="/ppt/slideLayouts/_rels/slideLayout52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53.xml.rels" ContentType="application/vnd.openxmlformats-package.relationships+xml"/>
  <Override PartName="/ppt/slideLayouts/slideLayout5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presProps.xml" ContentType="application/vnd.openxmlformats-officedocument.presentationml.presProps+xml"/>
  <Override PartName="/ppt/slides/_rels/slide172.xml.rels" ContentType="application/vnd.openxmlformats-package.relationships+xml"/>
  <Override PartName="/ppt/slides/_rels/slide43.xml.rels" ContentType="application/vnd.openxmlformats-package.relationships+xml"/>
  <Override PartName="/ppt/slides/_rels/slide38.xml.rels" ContentType="application/vnd.openxmlformats-package.relationships+xml"/>
  <Override PartName="/ppt/slides/_rels/slide329.xml.rels" ContentType="application/vnd.openxmlformats-package.relationships+xml"/>
  <Override PartName="/ppt/slides/_rels/slide328.xml.rels" ContentType="application/vnd.openxmlformats-package.relationships+xml"/>
  <Override PartName="/ppt/slides/_rels/slide211.xml.rels" ContentType="application/vnd.openxmlformats-package.relationships+xml"/>
  <Override PartName="/ppt/slides/_rels/slide190.xml.rels" ContentType="application/vnd.openxmlformats-package.relationships+xml"/>
  <Override PartName="/ppt/slides/_rels/slide185.xml.rels" ContentType="application/vnd.openxmlformats-package.relationships+xml"/>
  <Override PartName="/ppt/slides/_rels/slide159.xml.rels" ContentType="application/vnd.openxmlformats-package.relationships+xml"/>
  <Override PartName="/ppt/slides/_rels/slide8.xml.rels" ContentType="application/vnd.openxmlformats-package.relationships+xml"/>
  <Override PartName="/ppt/slides/_rels/slide164.xml.rels" ContentType="application/vnd.openxmlformats-package.relationships+xml"/>
  <Override PartName="/ppt/slides/_rels/slide31.xml.rels" ContentType="application/vnd.openxmlformats-package.relationships+xml"/>
  <Override PartName="/ppt/slides/_rels/slide322.xml.rels" ContentType="application/vnd.openxmlformats-package.relationships+xml"/>
  <Override PartName="/ppt/slides/_rels/slide26.xml.rels" ContentType="application/vnd.openxmlformats-package.relationships+xml"/>
  <Override PartName="/ppt/slides/_rels/slide218.xml.rels" ContentType="application/vnd.openxmlformats-package.relationships+xml"/>
  <Override PartName="/ppt/slides/_rels/slide210.xml.rels" ContentType="application/vnd.openxmlformats-package.relationships+xml"/>
  <Override PartName="/ppt/slides/_rels/slide205.xml.rels" ContentType="application/vnd.openxmlformats-package.relationships+xml"/>
  <Override PartName="/ppt/slides/_rels/slide184.xml.rels" ContentType="application/vnd.openxmlformats-package.relationships+xml"/>
  <Override PartName="/ppt/slides/_rels/slide158.xml.rels" ContentType="application/vnd.openxmlformats-package.relationships+xml"/>
  <Override PartName="/ppt/slides/_rels/slide7.xml.rels" ContentType="application/vnd.openxmlformats-package.relationships+xml"/>
  <Override PartName="/ppt/slides/_rels/slide163.xml.rels" ContentType="application/vnd.openxmlformats-package.relationships+xml"/>
  <Override PartName="/ppt/slides/_rels/slide30.xml.rels" ContentType="application/vnd.openxmlformats-package.relationships+xml"/>
  <Override PartName="/ppt/slides/_rels/slide25.xml.rels" ContentType="application/vnd.openxmlformats-package.relationships+xml"/>
  <Override PartName="/ppt/slides/_rels/slide321.xml.rels" ContentType="application/vnd.openxmlformats-package.relationships+xml"/>
  <Override PartName="/ppt/slides/_rels/slide201.xml.rels" ContentType="application/vnd.openxmlformats-package.relationships+xml"/>
  <Override PartName="/ppt/slides/_rels/slide180.xml.rels" ContentType="application/vnd.openxmlformats-package.relationships+xml"/>
  <Override PartName="/ppt/slides/_rels/slide21.xml.rels" ContentType="application/vnd.openxmlformats-package.relationships+xml"/>
  <Override PartName="/ppt/slides/_rels/slide200.xml.rels" ContentType="application/vnd.openxmlformats-package.relationships+xml"/>
  <Override PartName="/ppt/slides/_rels/slide148.xml.rels" ContentType="application/vnd.openxmlformats-package.relationships+xml"/>
  <Override PartName="/ppt/slides/_rels/slide153.xml.rels" ContentType="application/vnd.openxmlformats-package.relationships+xml"/>
  <Override PartName="/ppt/slides/_rels/slide20.xml.rels" ContentType="application/vnd.openxmlformats-package.relationships+xml"/>
  <Override PartName="/ppt/slides/_rels/slide318.xml.rels" ContentType="application/vnd.openxmlformats-package.relationships+xml"/>
  <Override PartName="/ppt/slides/_rels/slide297.xml.rels" ContentType="application/vnd.openxmlformats-package.relationships+xml"/>
  <Override PartName="/ppt/slides/_rels/slide56.xml.rels" ContentType="application/vnd.openxmlformats-package.relationships+xml"/>
  <Override PartName="/ppt/slides/_rels/slide317.xml.rels" ContentType="application/vnd.openxmlformats-package.relationships+xml"/>
  <Override PartName="/ppt/slides/_rels/slide296.xml.rels" ContentType="application/vnd.openxmlformats-package.relationships+xml"/>
  <Override PartName="/ppt/slides/_rels/slide55.xml.rels" ContentType="application/vnd.openxmlformats-package.relationships+xml"/>
  <Override PartName="/ppt/slides/_rels/slide316.xml.rels" ContentType="application/vnd.openxmlformats-package.relationships+xml"/>
  <Override PartName="/ppt/slides/_rels/slide295.xml.rels" ContentType="application/vnd.openxmlformats-package.relationships+xml"/>
  <Override PartName="/ppt/slides/_rels/slide54.xml.rels" ContentType="application/vnd.openxmlformats-package.relationships+xml"/>
  <Override PartName="/ppt/slides/_rels/slide49.xml.rels" ContentType="application/vnd.openxmlformats-package.relationships+xml"/>
  <Override PartName="/ppt/slides/_rels/slide142.xml.rels" ContentType="application/vnd.openxmlformats-package.relationships+xml"/>
  <Override PartName="/ppt/slides/_rels/slide308.xml.rels" ContentType="application/vnd.openxmlformats-package.relationships+xml"/>
  <Override PartName="/ppt/slides/_rels/slide313.xml.rels" ContentType="application/vnd.openxmlformats-package.relationships+xml"/>
  <Override PartName="/ppt/slides/_rels/slide17.xml.rels" ContentType="application/vnd.openxmlformats-package.relationships+xml"/>
  <Override PartName="/ppt/slides/_rels/slide45.xml.rels" ContentType="application/vnd.openxmlformats-package.relationships+xml"/>
  <Override PartName="/ppt/slides/_rels/slide132.xml.rels" ContentType="application/vnd.openxmlformats-package.relationships+xml"/>
  <Override PartName="/ppt/slides/_rels/slide131.xml.rels" ContentType="application/vnd.openxmlformats-package.relationships+xml"/>
  <Override PartName="/ppt/slides/_rels/slide130.xml.rels" ContentType="application/vnd.openxmlformats-package.relationships+xml"/>
  <Override PartName="/ppt/slides/_rels/slide212.xml.rels" ContentType="application/vnd.openxmlformats-package.relationships+xml"/>
  <Override PartName="/ppt/slides/_rels/slide32.xml.rels" ContentType="application/vnd.openxmlformats-package.relationships+xml"/>
  <Override PartName="/ppt/slides/_rels/slide323.xml.rels" ContentType="application/vnd.openxmlformats-package.relationships+xml"/>
  <Override PartName="/ppt/slides/_rels/slide219.xml.rels" ContentType="application/vnd.openxmlformats-package.relationships+xml"/>
  <Override PartName="/ppt/slides/_rels/slide242.xml.rels" ContentType="application/vnd.openxmlformats-package.relationships+xml"/>
  <Override PartName="/ppt/slides/_rels/slide138.xml.rels" ContentType="application/vnd.openxmlformats-package.relationships+xml"/>
  <Override PartName="/ppt/slides/_rels/slide241.xml.rels" ContentType="application/vnd.openxmlformats-package.relationships+xml"/>
  <Override PartName="/ppt/slides/_rels/slide137.xml.rels" ContentType="application/vnd.openxmlformats-package.relationships+xml"/>
  <Override PartName="/ppt/slides/_rels/slide135.xml.rels" ContentType="application/vnd.openxmlformats-package.relationships+xml"/>
  <Override PartName="/ppt/slides/_rels/slide140.xml.rels" ContentType="application/vnd.openxmlformats-package.relationships+xml"/>
  <Override PartName="/ppt/slides/_rels/slide5.xml.rels" ContentType="application/vnd.openxmlformats-package.relationships+xml"/>
  <Override PartName="/ppt/slides/_rels/slide156.xml.rels" ContentType="application/vnd.openxmlformats-package.relationships+xml"/>
  <Override PartName="/ppt/slides/_rels/slide161.xml.rels" ContentType="application/vnd.openxmlformats-package.relationships+xml"/>
  <Override PartName="/ppt/slides/_rels/slide44.xml.rels" ContentType="application/vnd.openxmlformats-package.relationships+xml"/>
  <Override PartName="/ppt/slides/_rels/slide39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65.xml.rels" ContentType="application/vnd.openxmlformats-package.relationships+xml"/>
  <Override PartName="/ppt/slides/_rels/slide13.xml.rels" ContentType="application/vnd.openxmlformats-package.relationships+xml"/>
  <Override PartName="/ppt/slides/_rels/slide240.xml.rels" ContentType="application/vnd.openxmlformats-package.relationships+xml"/>
  <Override PartName="/ppt/slides/_rels/slide136.xml.rels" ContentType="application/vnd.openxmlformats-package.relationships+xml"/>
  <Override PartName="/ppt/slides/_rels/slide134.xml.rels" ContentType="application/vnd.openxmlformats-package.relationships+xml"/>
  <Override PartName="/ppt/slides/_rels/slide4.xml.rels" ContentType="application/vnd.openxmlformats-package.relationships+xml"/>
  <Override PartName="/ppt/slides/_rels/slide155.xml.rels" ContentType="application/vnd.openxmlformats-package.relationships+xml"/>
  <Override PartName="/ppt/slides/_rels/slide145.xml.rels" ContentType="application/vnd.openxmlformats-package.relationships+xml"/>
  <Override PartName="/ppt/slides/_rels/slide150.xml.rels" ContentType="application/vnd.openxmlformats-package.relationships+xml"/>
  <Override PartName="/ppt/slides/_rels/slide73.xml.rels" ContentType="application/vnd.openxmlformats-package.relationships+xml"/>
  <Override PartName="/ppt/slides/_rels/slide58.xml.rels" ContentType="application/vnd.openxmlformats-package.relationships+xml"/>
  <Override PartName="/ppt/slides/_rels/slide101.xml.rels" ContentType="application/vnd.openxmlformats-package.relationships+xml"/>
  <Override PartName="/ppt/slides/_rels/slide113.xml.rels" ContentType="application/vnd.openxmlformats-package.relationships+xml"/>
  <Override PartName="/ppt/slides/_rels/slide108.xml.rels" ContentType="application/vnd.openxmlformats-package.relationships+xml"/>
  <Override PartName="/ppt/slides/_rels/slide260.xml.rels" ContentType="application/vnd.openxmlformats-package.relationships+xml"/>
  <Override PartName="/ppt/slides/_rels/slide255.xml.rels" ContentType="application/vnd.openxmlformats-package.relationships+xml"/>
  <Override PartName="/ppt/slides/_rels/slide80.xml.rels" ContentType="application/vnd.openxmlformats-package.relationships+xml"/>
  <Override PartName="/ppt/slides/_rels/slide75.xml.rels" ContentType="application/vnd.openxmlformats-package.relationships+xml"/>
  <Override PartName="/ppt/slides/_rels/slide274.xml.rels" ContentType="application/vnd.openxmlformats-package.relationships+xml"/>
  <Override PartName="/ppt/slides/_rels/slide127.xml.rels" ContentType="application/vnd.openxmlformats-package.relationships+xml"/>
  <Override PartName="/ppt/slides/_rels/slide94.xml.rels" ContentType="application/vnd.openxmlformats-package.relationships+xml"/>
  <Override PartName="/ppt/slides/_rels/slide89.xml.rels" ContentType="application/vnd.openxmlformats-package.relationships+xml"/>
  <Override PartName="/ppt/slides/_rels/slide166.xml.rels" ContentType="application/vnd.openxmlformats-package.relationships+xml"/>
  <Override PartName="/ppt/slides/_rels/slide273.xml.rels" ContentType="application/vnd.openxmlformats-package.relationships+xml"/>
  <Override PartName="/ppt/slides/_rels/slide268.xml.rels" ContentType="application/vnd.openxmlformats-package.relationships+xml"/>
  <Override PartName="/ppt/slides/_rels/slide93.xml.rels" ContentType="application/vnd.openxmlformats-package.relationships+xml"/>
  <Override PartName="/ppt/slides/_rels/slide88.xml.rels" ContentType="application/vnd.openxmlformats-package.relationships+xml"/>
  <Override PartName="/ppt/slides/_rels/slide24.xml.rels" ContentType="application/vnd.openxmlformats-package.relationships+xml"/>
  <Override PartName="/ppt/slides/_rels/slide320.xml.rels" ContentType="application/vnd.openxmlformats-package.relationships+xml"/>
  <Override PartName="/ppt/slides/_rels/slide126.xml.rels" ContentType="application/vnd.openxmlformats-package.relationships+xml"/>
  <Override PartName="/ppt/slides/_rels/slide230.xml.rels" ContentType="application/vnd.openxmlformats-package.relationships+xml"/>
  <Override PartName="/ppt/slides/_rels/slide175.xml.rels" ContentType="application/vnd.openxmlformats-package.relationships+xml"/>
  <Override PartName="/ppt/slides/_rels/slide98.xml.rels" ContentType="application/vnd.openxmlformats-package.relationships+xml"/>
  <Override PartName="/ppt/slides/_rels/slide128.xml.rels" ContentType="application/vnd.openxmlformats-package.relationships+xml"/>
  <Override PartName="/ppt/slides/_rels/slide95.xml.rels" ContentType="application/vnd.openxmlformats-package.relationships+xml"/>
  <Override PartName="/ppt/slides/_rels/slide97.xml.rels" ContentType="application/vnd.openxmlformats-package.relationships+xml"/>
  <Override PartName="/ppt/slides/_rels/slide29.xml.rels" ContentType="application/vnd.openxmlformats-package.relationships+xml"/>
  <Override PartName="/ppt/slides/_rels/slide292.xml.rels" ContentType="application/vnd.openxmlformats-package.relationships+xml"/>
  <Override PartName="/ppt/slides/_rels/slide188.xml.rels" ContentType="application/vnd.openxmlformats-package.relationships+xml"/>
  <Override PartName="/ppt/slides/_rels/slide209.xml.rels" ContentType="application/vnd.openxmlformats-package.relationships+xml"/>
  <Override PartName="/ppt/slides/_rels/slide96.xml.rels" ContentType="application/vnd.openxmlformats-package.relationships+xml"/>
  <Override PartName="/ppt/slides/_rels/slide129.xml.rels" ContentType="application/vnd.openxmlformats-package.relationships+xml"/>
  <Override PartName="/ppt/slides/_rels/slide28.xml.rels" ContentType="application/vnd.openxmlformats-package.relationships+xml"/>
  <Override PartName="/ppt/slides/_rels/slide27.xml.rels" ContentType="application/vnd.openxmlformats-package.relationships+xml"/>
  <Override PartName="/ppt/slides/_rels/slide275.xml.rels" ContentType="application/vnd.openxmlformats-package.relationships+xml"/>
  <Override PartName="/ppt/slides/_rels/slide301.xml.rels" ContentType="application/vnd.openxmlformats-package.relationships+xml"/>
  <Override PartName="/ppt/slides/_rels/slide249.xml.rels" ContentType="application/vnd.openxmlformats-package.relationships+xml"/>
  <Override PartName="/ppt/slides/_rels/slide69.xml.rels" ContentType="application/vnd.openxmlformats-package.relationships+xml"/>
  <Override PartName="/ppt/slides/_rels/slide264.xml.rels" ContentType="application/vnd.openxmlformats-package.relationships+xml"/>
  <Override PartName="/ppt/slides/_rels/slide84.xml.rels" ContentType="application/vnd.openxmlformats-package.relationships+xml"/>
  <Override PartName="/ppt/slides/_rels/slide117.xml.rels" ContentType="application/vnd.openxmlformats-package.relationships+xml"/>
  <Override PartName="/ppt/slides/_rels/slide102.xml.rels" ContentType="application/vnd.openxmlformats-package.relationships+xml"/>
  <Override PartName="/ppt/slides/_rels/slide267.xml.rels" ContentType="application/vnd.openxmlformats-package.relationships+xml"/>
  <Override PartName="/ppt/slides/_rels/slide272.xml.rels" ContentType="application/vnd.openxmlformats-package.relationships+xml"/>
  <Override PartName="/ppt/slides/_rels/slide87.xml.rels" ContentType="application/vnd.openxmlformats-package.relationships+xml"/>
  <Override PartName="/ppt/slides/_rels/slide92.xml.rels" ContentType="application/vnd.openxmlformats-package.relationships+xml"/>
  <Override PartName="/ppt/slides/_rels/slide125.xml.rels" ContentType="application/vnd.openxmlformats-package.relationships+xml"/>
  <Override PartName="/ppt/slides/_rels/slide146.xml.rels" ContentType="application/vnd.openxmlformats-package.relationships+xml"/>
  <Override PartName="/ppt/slides/_rels/slide151.xml.rels" ContentType="application/vnd.openxmlformats-package.relationships+xml"/>
  <Override PartName="/ppt/slides/_rels/slide254.xml.rels" ContentType="application/vnd.openxmlformats-package.relationships+xml"/>
  <Override PartName="/ppt/slides/_rels/slide74.xml.rels" ContentType="application/vnd.openxmlformats-package.relationships+xml"/>
  <Override PartName="/ppt/slides/_rels/slide293.xml.rels" ContentType="application/vnd.openxmlformats-package.relationships+xml"/>
  <Override PartName="/ppt/slides/_rels/slide189.xml.rels" ContentType="application/vnd.openxmlformats-package.relationships+xml"/>
  <Override PartName="/ppt/slides/_rels/slide258.xml.rels" ContentType="application/vnd.openxmlformats-package.relationships+xml"/>
  <Override PartName="/ppt/slides/_rels/slide78.xml.rels" ContentType="application/vnd.openxmlformats-package.relationships+xml"/>
  <Override PartName="/ppt/slides/_rels/slide77.xml.rels" ContentType="application/vnd.openxmlformats-package.relationships+xml"/>
  <Override PartName="/ppt/slides/_rels/slide46.xml.rels" ContentType="application/vnd.openxmlformats-package.relationships+xml"/>
  <Override PartName="/ppt/slides/_rels/slide61.xml.rels" ContentType="application/vnd.openxmlformats-package.relationships+xml"/>
  <Override PartName="/ppt/slides/_rels/slide90.xml.rels" ContentType="application/vnd.openxmlformats-package.relationships+xml"/>
  <Override PartName="/ppt/slides/_rels/slide85.xml.rels" ContentType="application/vnd.openxmlformats-package.relationships+xml"/>
  <Override PartName="/ppt/slides/_rels/slide123.xml.rels" ContentType="application/vnd.openxmlformats-package.relationships+xml"/>
  <Override PartName="/ppt/slides/_rels/slide118.xml.rels" ContentType="application/vnd.openxmlformats-package.relationships+xml"/>
  <Override PartName="/ppt/slides/_rels/slide270.xml.rels" ContentType="application/vnd.openxmlformats-package.relationships+xml"/>
  <Override PartName="/ppt/slides/_rels/slide265.xml.rels" ContentType="application/vnd.openxmlformats-package.relationships+xml"/>
  <Override PartName="/ppt/slides/_rels/slide62.xml.rels" ContentType="application/vnd.openxmlformats-package.relationships+xml"/>
  <Override PartName="/ppt/slides/_rels/slide48.xml.rels" ContentType="application/vnd.openxmlformats-package.relationships+xml"/>
  <Override PartName="/ppt/slides/_rels/slide53.xml.rels" ContentType="application/vnd.openxmlformats-package.relationships+xml"/>
  <Override PartName="/ppt/slides/_rels/slide228.xml.rels" ContentType="application/vnd.openxmlformats-package.relationships+xml"/>
  <Override PartName="/ppt/slides/_rels/slide233.xml.rels" ContentType="application/vnd.openxmlformats-package.relationships+xml"/>
  <Override PartName="/ppt/slides/_rels/slide91.xml.rels" ContentType="application/vnd.openxmlformats-package.relationships+xml"/>
  <Override PartName="/ppt/slides/_rels/slide86.xml.rels" ContentType="application/vnd.openxmlformats-package.relationships+xml"/>
  <Override PartName="/ppt/slides/_rels/slide124.xml.rels" ContentType="application/vnd.openxmlformats-package.relationships+xml"/>
  <Override PartName="/ppt/slides/_rels/slide119.xml.rels" ContentType="application/vnd.openxmlformats-package.relationships+xml"/>
  <Override PartName="/ppt/slides/_rels/slide271.xml.rels" ContentType="application/vnd.openxmlformats-package.relationships+xml"/>
  <Override PartName="/ppt/slides/_rels/slide266.xml.rels" ContentType="application/vnd.openxmlformats-package.relationships+xml"/>
  <Override PartName="/ppt/slides/_rels/slide63.xml.rels" ContentType="application/vnd.openxmlformats-package.relationships+xml"/>
  <Override PartName="/ppt/slides/_rels/slide257.xml.rels" ContentType="application/vnd.openxmlformats-package.relationships+xml"/>
  <Override PartName="/ppt/slides/_rels/slide70.xml.rels" ContentType="application/vnd.openxmlformats-package.relationships+xml"/>
  <Override PartName="/ppt/slides/_rels/slide198.xml.rels" ContentType="application/vnd.openxmlformats-package.relationships+xml"/>
  <Override PartName="/ppt/slides/_rels/slide250.xml.rels" ContentType="application/vnd.openxmlformats-package.relationships+xml"/>
  <Override PartName="/ppt/slides/_rels/slide103.xml.rels" ContentType="application/vnd.openxmlformats-package.relationships+xml"/>
  <Override PartName="/ppt/slides/_rels/slide236.xml.rels" ContentType="application/vnd.openxmlformats-package.relationships+xml"/>
  <Override PartName="/ppt/slides/_rels/slide199.xml.rels" ContentType="application/vnd.openxmlformats-package.relationships+xml"/>
  <Override PartName="/ppt/slides/_rels/slide324.xml.rels" ContentType="application/vnd.openxmlformats-package.relationships+xml"/>
  <Override PartName="/ppt/slides/_rels/slide36.xml.rels" ContentType="application/vnd.openxmlformats-package.relationships+xml"/>
  <Override PartName="/ppt/slides/_rels/slide41.xml.rels" ContentType="application/vnd.openxmlformats-package.relationships+xml"/>
  <Override PartName="/ppt/slides/_rels/slide174.xml.rels" ContentType="application/vnd.openxmlformats-package.relationships+xml"/>
  <Override PartName="/ppt/slides/_rels/slide169.xml.rels" ContentType="application/vnd.openxmlformats-package.relationships+xml"/>
  <Override PartName="/ppt/slides/_rels/slide171.xml.rels" ContentType="application/vnd.openxmlformats-package.relationships+xml"/>
  <Override PartName="/ppt/slides/_rels/slide248.xml.rels" ContentType="application/vnd.openxmlformats-package.relationships+xml"/>
  <Override PartName="/ppt/slides/_rels/slide68.xml.rels" ContentType="application/vnd.openxmlformats-package.relationships+xml"/>
  <Override PartName="/ppt/slides/_rels/slide300.xml.rels" ContentType="application/vnd.openxmlformats-package.relationships+xml"/>
  <Override PartName="/ppt/slides/_rels/slide252.xml.rels" ContentType="application/vnd.openxmlformats-package.relationships+xml"/>
  <Override PartName="/ppt/slides/_rels/slide72.xml.rels" ContentType="application/vnd.openxmlformats-package.relationships+xml"/>
  <Override PartName="/ppt/slides/_rels/slide60.xml.rels" ContentType="application/vnd.openxmlformats-package.relationships+xml"/>
  <Override PartName="/ppt/slides/_rels/slide235.xml.rels" ContentType="application/vnd.openxmlformats-package.relationships+xml"/>
  <Override PartName="/ppt/slides/_rels/slide251.xml.rels" ContentType="application/vnd.openxmlformats-package.relationships+xml"/>
  <Override PartName="/ppt/slides/_rels/slide71.xml.rels" ContentType="application/vnd.openxmlformats-package.relationships+xml"/>
  <Override PartName="/ppt/slides/_rels/slide104.xml.rels" ContentType="application/vnd.openxmlformats-package.relationships+xml"/>
  <Override PartName="/ppt/slides/_rels/slide247.xml.rels" ContentType="application/vnd.openxmlformats-package.relationships+xml"/>
  <Override PartName="/ppt/slides/_rels/slide67.xml.rels" ContentType="application/vnd.openxmlformats-package.relationships+xml"/>
  <Override PartName="/ppt/slides/_rels/slide79.xml.rels" ContentType="application/vnd.openxmlformats-package.relationships+xml"/>
  <Override PartName="/ppt/slides/_rels/slide259.xml.rels" ContentType="application/vnd.openxmlformats-package.relationships+xml"/>
  <Override PartName="/ppt/slides/_rels/slide83.xml.rels" ContentType="application/vnd.openxmlformats-package.relationships+xml"/>
  <Override PartName="/ppt/slides/_rels/slide116.xml.rels" ContentType="application/vnd.openxmlformats-package.relationships+xml"/>
  <Override PartName="/ppt/slides/_rels/slide263.xml.rels" ContentType="application/vnd.openxmlformats-package.relationships+xml"/>
  <Override PartName="/ppt/slides/_rels/slide225.xml.rels" ContentType="application/vnd.openxmlformats-package.relationships+xml"/>
  <Override PartName="/ppt/slides/_rels/slide224.xml.rels" ContentType="application/vnd.openxmlformats-package.relationships+xml"/>
  <Override PartName="/ppt/slides/_rels/slide229.xml.rels" ContentType="application/vnd.openxmlformats-package.relationships+xml"/>
  <Override PartName="/ppt/slides/_rels/slide234.xml.rels" ContentType="application/vnd.openxmlformats-package.relationships+xml"/>
  <Override PartName="/ppt/slides/_rels/slide76.xml.rels" ContentType="application/vnd.openxmlformats-package.relationships+xml"/>
  <Override PartName="/ppt/slides/_rels/slide81.xml.rels" ContentType="application/vnd.openxmlformats-package.relationships+xml"/>
  <Override PartName="/ppt/slides/_rels/slide109.xml.rels" ContentType="application/vnd.openxmlformats-package.relationships+xml"/>
  <Override PartName="/ppt/slides/_rels/slide114.xml.rels" ContentType="application/vnd.openxmlformats-package.relationships+xml"/>
  <Override PartName="/ppt/slides/_rels/slide261.xml.rels" ContentType="application/vnd.openxmlformats-package.relationships+xml"/>
  <Override PartName="/ppt/slides/_rels/slide197.xml.rels" ContentType="application/vnd.openxmlformats-package.relationships+xml"/>
  <Override PartName="/ppt/slides/_rels/slide223.xml.rels" ContentType="application/vnd.openxmlformats-package.relationships+xml"/>
  <Override PartName="/ppt/slides/_rels/slide196.xml.rels" ContentType="application/vnd.openxmlformats-package.relationships+xml"/>
  <Override PartName="/ppt/slides/_rels/slide217.xml.rels" ContentType="application/vnd.openxmlformats-package.relationships+xml"/>
  <Override PartName="/ppt/slides/_rels/slide222.xml.rels" ContentType="application/vnd.openxmlformats-package.relationships+xml"/>
  <Override PartName="/ppt/slides/_rels/slide330.xml.rels" ContentType="application/vnd.openxmlformats-package.relationships+xml"/>
  <Override PartName="/ppt/slides/_rels/slide325.xml.rels" ContentType="application/vnd.openxmlformats-package.relationships+xml"/>
  <Override PartName="/ppt/slides/_rels/slide37.xml.rels" ContentType="application/vnd.openxmlformats-package.relationships+xml"/>
  <Override PartName="/ppt/slides/_rels/slide42.xml.rels" ContentType="application/vnd.openxmlformats-package.relationships+xml"/>
  <Override PartName="/ppt/slides/_rels/slide107.xml.rels" ContentType="application/vnd.openxmlformats-package.relationships+xml"/>
  <Override PartName="/ppt/slides/_rels/slide112.xml.rels" ContentType="application/vnd.openxmlformats-package.relationships+xml"/>
  <Override PartName="/ppt/slides/_rels/slide227.xml.rels" ContentType="application/vnd.openxmlformats-package.relationships+xml"/>
  <Override PartName="/ppt/slides/_rels/slide232.xml.rels" ContentType="application/vnd.openxmlformats-package.relationships+xml"/>
  <Override PartName="/ppt/slides/_rels/slide47.xml.rels" ContentType="application/vnd.openxmlformats-package.relationships+xml"/>
  <Override PartName="/ppt/slides/_rels/slide52.xml.rels" ContentType="application/vnd.openxmlformats-package.relationships+xml"/>
  <Override PartName="/ppt/slides/_rels/slide216.xml.rels" ContentType="application/vnd.openxmlformats-package.relationships+xml"/>
  <Override PartName="/ppt/slides/_rels/slide221.xml.rels" ContentType="application/vnd.openxmlformats-package.relationships+xml"/>
  <Override PartName="/ppt/slides/_rels/slide195.xml.rels" ContentType="application/vnd.openxmlformats-package.relationships+xml"/>
  <Override PartName="/ppt/slides/_rels/slide100.xml.rels" ContentType="application/vnd.openxmlformats-package.relationships+xml"/>
  <Override PartName="/ppt/slides/_rels/slide23.xml.rels" ContentType="application/vnd.openxmlformats-package.relationships+xml"/>
  <Override PartName="/ppt/slides/_rels/slide204.xml.rels" ContentType="application/vnd.openxmlformats-package.relationships+xml"/>
  <Override PartName="/ppt/slides/_rels/slide183.xml.rels" ContentType="application/vnd.openxmlformats-package.relationships+xml"/>
  <Override PartName="/ppt/slides/_rels/slide173.xml.rels" ContentType="application/vnd.openxmlformats-package.relationships+xml"/>
  <Override PartName="/ppt/slides/_rels/slide168.xml.rels" ContentType="application/vnd.openxmlformats-package.relationships+xml"/>
  <Override PartName="/ppt/slides/_rels/slide35.xml.rels" ContentType="application/vnd.openxmlformats-package.relationships+xml"/>
  <Override PartName="/ppt/slides/_rels/slide40.xml.rels" ContentType="application/vnd.openxmlformats-package.relationships+xml"/>
  <Override PartName="/ppt/slides/_rels/slide179.xml.rels" ContentType="application/vnd.openxmlformats-package.relationships+xml"/>
  <Override PartName="/ppt/slides/_rels/slide226.xml.rels" ContentType="application/vnd.openxmlformats-package.relationships+xml"/>
  <Override PartName="/ppt/slides/_rels/slide231.xml.rels" ContentType="application/vnd.openxmlformats-package.relationships+xml"/>
  <Override PartName="/ppt/slides/_rels/slide331.xml.rels" ContentType="application/vnd.openxmlformats-package.relationships+xml"/>
  <Override PartName="/ppt/slides/_rels/slide99.xml.rels" ContentType="application/vnd.openxmlformats-package.relationships+xml"/>
  <Override PartName="/ppt/slides/_rels/slide178.xml.rels" ContentType="application/vnd.openxmlformats-package.relationships+xml"/>
  <Override PartName="/ppt/slides/_rels/slide50.xml.rels" ContentType="application/vnd.openxmlformats-package.relationships+xml"/>
  <Override PartName="/ppt/slides/_rels/slide237.xml.rels" ContentType="application/vnd.openxmlformats-package.relationships+xml"/>
  <Override PartName="/ppt/slides/_rels/slide57.xml.rels" ContentType="application/vnd.openxmlformats-package.relationships+xml"/>
  <Override PartName="/ppt/slides/_rels/slide177.xml.rels" ContentType="application/vnd.openxmlformats-package.relationships+xml"/>
  <Override PartName="/ppt/slides/_rels/slide246.xml.rels" ContentType="application/vnd.openxmlformats-package.relationships+xml"/>
  <Override PartName="/ppt/slides/_rels/slide66.xml.rels" ContentType="application/vnd.openxmlformats-package.relationships+xml"/>
  <Override PartName="/ppt/slides/_rels/slide160.xml.rels" ContentType="application/vnd.openxmlformats-package.relationships+xml"/>
  <Override PartName="/ppt/slides/_rels/slide141.xml.rels" ContentType="application/vnd.openxmlformats-package.relationships+xml"/>
  <Override PartName="/ppt/slides/_rels/slide215.xml.rels" ContentType="application/vnd.openxmlformats-package.relationships+xml"/>
  <Override PartName="/ppt/slides/_rels/slide220.xml.rels" ContentType="application/vnd.openxmlformats-package.relationships+xml"/>
  <Override PartName="/ppt/slides/_rels/slide194.xml.rels" ContentType="application/vnd.openxmlformats-package.relationships+xml"/>
  <Override PartName="/ppt/slides/_rels/slide22.xml.rels" ContentType="application/vnd.openxmlformats-package.relationships+xml"/>
  <Override PartName="/ppt/slides/_rels/slide327.xml.rels" ContentType="application/vnd.openxmlformats-package.relationships+xml"/>
  <Override PartName="/ppt/slides/_rels/slide64.xml.rels" ContentType="application/vnd.openxmlformats-package.relationships+xml"/>
  <Override PartName="/ppt/slides/_rels/slide256.xml.rels" ContentType="application/vnd.openxmlformats-package.relationships+xml"/>
  <Override PartName="/ppt/slides/_rels/slide170.xml.rels" ContentType="application/vnd.openxmlformats-package.relationships+xml"/>
  <Override PartName="/ppt/slides/_rels/slide59.xml.rels" ContentType="application/vnd.openxmlformats-package.relationships+xml"/>
  <Override PartName="/ppt/slides/_rels/slide244.xml.rels" ContentType="application/vnd.openxmlformats-package.relationships+xml"/>
  <Override PartName="/ppt/slides/_rels/slide239.xml.rels" ContentType="application/vnd.openxmlformats-package.relationships+xml"/>
  <Override PartName="/ppt/slides/_rels/slide299.xml.rels" ContentType="application/vnd.openxmlformats-package.relationships+xml"/>
  <Override PartName="/ppt/slides/_rels/slide16.xml.rels" ContentType="application/vnd.openxmlformats-package.relationships+xml"/>
  <Override PartName="/ppt/slides/_rels/slide307.xml.rels" ContentType="application/vnd.openxmlformats-package.relationships+xml"/>
  <Override PartName="/ppt/slides/_rels/slide279.xml.rels" ContentType="application/vnd.openxmlformats-package.relationships+xml"/>
  <Override PartName="/ppt/slides/_rels/slide305.xml.rels" ContentType="application/vnd.openxmlformats-package.relationships+xml"/>
  <Override PartName="/ppt/slides/_rels/slide284.xml.rels" ContentType="application/vnd.openxmlformats-package.relationships+xml"/>
  <Override PartName="/ppt/slides/_rels/slide262.xml.rels" ContentType="application/vnd.openxmlformats-package.relationships+xml"/>
  <Override PartName="/ppt/slides/_rels/slide115.xml.rels" ContentType="application/vnd.openxmlformats-package.relationships+xml"/>
  <Override PartName="/ppt/slides/_rels/slide282.xml.rels" ContentType="application/vnd.openxmlformats-package.relationships+xml"/>
  <Override PartName="/ppt/slides/_rels/slide277.xml.rels" ContentType="application/vnd.openxmlformats-package.relationships+xml"/>
  <Override PartName="/ppt/slides/_rels/slide303.xml.rels" ContentType="application/vnd.openxmlformats-package.relationships+xml"/>
  <Override PartName="/ppt/slides/_rels/slide278.xml.rels" ContentType="application/vnd.openxmlformats-package.relationships+xml"/>
  <Override PartName="/ppt/slides/_rels/slide283.xml.rels" ContentType="application/vnd.openxmlformats-package.relationships+xml"/>
  <Override PartName="/ppt/slides/_rels/slide304.xml.rels" ContentType="application/vnd.openxmlformats-package.relationships+xml"/>
  <Override PartName="/ppt/slides/_rels/slide253.xml.rels" ContentType="application/vnd.openxmlformats-package.relationships+xml"/>
  <Override PartName="/ppt/slides/_rels/slide149.xml.rels" ContentType="application/vnd.openxmlformats-package.relationships+xml"/>
  <Override PartName="/ppt/slides/_rels/slide326.xml.rels" ContentType="application/vnd.openxmlformats-package.relationships+xml"/>
  <Override PartName="/ppt/slides/_rels/slide14.xml.rels" ContentType="application/vnd.openxmlformats-package.relationships+xml"/>
  <Override PartName="/ppt/slides/_rels/slide238.xml.rels" ContentType="application/vnd.openxmlformats-package.relationships+xml"/>
  <Override PartName="/ppt/slides/_rels/slide51.xml.rels" ContentType="application/vnd.openxmlformats-package.relationships+xml"/>
  <Override PartName="/ppt/slides/_rels/slide243.xml.rels" ContentType="application/vnd.openxmlformats-package.relationships+xml"/>
  <Override PartName="/ppt/slides/_rels/slide191.xml.rels" ContentType="application/vnd.openxmlformats-package.relationships+xml"/>
  <Override PartName="/ppt/slides/_rels/slide152.xml.rels" ContentType="application/vnd.openxmlformats-package.relationships+xml"/>
  <Override PartName="/ppt/slides/_rels/slide147.xml.rels" ContentType="application/vnd.openxmlformats-package.relationships+xml"/>
  <Override PartName="/ppt/slides/_rels/slide276.xml.rels" ContentType="application/vnd.openxmlformats-package.relationships+xml"/>
  <Override PartName="/ppt/slides/_rels/slide281.xml.rels" ContentType="application/vnd.openxmlformats-package.relationships+xml"/>
  <Override PartName="/ppt/slides/_rels/slide302.xml.rels" ContentType="application/vnd.openxmlformats-package.relationships+xml"/>
  <Override PartName="/ppt/slides/_rels/slide122.xml.rels" ContentType="application/vnd.openxmlformats-package.relationships+xml"/>
  <Override PartName="/ppt/slides/_rels/slide65.xml.rels" ContentType="application/vnd.openxmlformats-package.relationships+xml"/>
  <Override PartName="/ppt/slides/_rels/slide245.xml.rels" ContentType="application/vnd.openxmlformats-package.relationships+xml"/>
  <Override PartName="/ppt/slides/_rels/slide121.xml.rels" ContentType="application/vnd.openxmlformats-package.relationships+xml"/>
  <Override PartName="/ppt/slides/_rels/slide120.xml.rels" ContentType="application/vnd.openxmlformats-package.relationships+xml"/>
  <Override PartName="/ppt/slides/_rels/slide167.xml.rels" ContentType="application/vnd.openxmlformats-package.relationships+xml"/>
  <Override PartName="/ppt/slides/_rels/slide15.xml.rels" ContentType="application/vnd.openxmlformats-package.relationships+xml"/>
  <Override PartName="/ppt/slides/_rels/slide208.xml.rels" ContentType="application/vnd.openxmlformats-package.relationships+xml"/>
  <Override PartName="/ppt/slides/_rels/slide187.xml.rels" ContentType="application/vnd.openxmlformats-package.relationships+xml"/>
  <Override PartName="/ppt/slides/_rels/slide312.xml.rels" ContentType="application/vnd.openxmlformats-package.relationships+xml"/>
  <Override PartName="/ppt/slides/_rels/slide291.xml.rels" ContentType="application/vnd.openxmlformats-package.relationships+xml"/>
  <Override PartName="/ppt/slides/_rels/slide144.xml.rels" ContentType="application/vnd.openxmlformats-package.relationships+xml"/>
  <Override PartName="/ppt/slides/_rels/slide287.xml.rels" ContentType="application/vnd.openxmlformats-package.relationships+xml"/>
  <Override PartName="/ppt/slides/_rels/slide203.xml.rels" ContentType="application/vnd.openxmlformats-package.relationships+xml"/>
  <Override PartName="/ppt/slides/_rels/slide182.xml.rels" ContentType="application/vnd.openxmlformats-package.relationships+xml"/>
  <Override PartName="/ppt/slides/_rels/slide10.xml.rels" ContentType="application/vnd.openxmlformats-package.relationships+xml"/>
  <Override PartName="/ppt/slides/_rels/slide207.xml.rels" ContentType="application/vnd.openxmlformats-package.relationships+xml"/>
  <Override PartName="/ppt/slides/_rels/slide186.xml.rels" ContentType="application/vnd.openxmlformats-package.relationships+xml"/>
  <Override PartName="/ppt/slides/_rels/slide311.xml.rels" ContentType="application/vnd.openxmlformats-package.relationships+xml"/>
  <Override PartName="/ppt/slides/_rels/slide290.xml.rels" ContentType="application/vnd.openxmlformats-package.relationships+xml"/>
  <Override PartName="/ppt/slides/_rels/slide143.xml.rels" ContentType="application/vnd.openxmlformats-package.relationships+xml"/>
  <Override PartName="/ppt/slides/_rels/slide286.xml.rels" ContentType="application/vnd.openxmlformats-package.relationships+xml"/>
  <Override PartName="/ppt/slides/_rels/slide139.xml.rels" ContentType="application/vnd.openxmlformats-package.relationships+xml"/>
  <Override PartName="/ppt/slides/_rels/slide176.xml.rels" ContentType="application/vnd.openxmlformats-package.relationships+xml"/>
  <Override PartName="/ppt/slides/_rels/slide280.xml.rels" ContentType="application/vnd.openxmlformats-package.relationships+xml"/>
  <Override PartName="/ppt/slides/_rels/slide133.xml.rels" ContentType="application/vnd.openxmlformats-package.relationships+xml"/>
  <Override PartName="/ppt/slides/_rels/slide306.xml.rels" ContentType="application/vnd.openxmlformats-package.relationships+xml"/>
  <Override PartName="/ppt/slides/_rels/slide285.xml.rels" ContentType="application/vnd.openxmlformats-package.relationships+xml"/>
  <Override PartName="/ppt/slides/_rels/slide289.xml.rels" ContentType="application/vnd.openxmlformats-package.relationships+xml"/>
  <Override PartName="/ppt/slides/_rels/slide19.xml.rels" ContentType="application/vnd.openxmlformats-package.relationships+xml"/>
  <Override PartName="/ppt/slides/_rels/slide294.xml.rels" ContentType="application/vnd.openxmlformats-package.relationships+xml"/>
  <Override PartName="/ppt/slides/_rels/slide315.xml.rels" ContentType="application/vnd.openxmlformats-package.relationships+xml"/>
  <Override PartName="/ppt/slides/_rels/slide82.xml.rels" ContentType="application/vnd.openxmlformats-package.relationships+xml"/>
  <Override PartName="/ppt/slides/_rels/slide269.xml.rels" ContentType="application/vnd.openxmlformats-package.relationships+xml"/>
  <Override PartName="/ppt/slides/_rels/slide202.xml.rels" ContentType="application/vnd.openxmlformats-package.relationships+xml"/>
  <Override PartName="/ppt/slides/_rels/slide181.xml.rels" ContentType="application/vnd.openxmlformats-package.relationships+xml"/>
  <Override PartName="/ppt/slides/_rels/slide162.xml.rels" ContentType="application/vnd.openxmlformats-package.relationships+xml"/>
  <Override PartName="/ppt/slides/_rels/slide157.xml.rels" ContentType="application/vnd.openxmlformats-package.relationships+xml"/>
  <Override PartName="/ppt/slides/_rels/slide6.xml.rels" ContentType="application/vnd.openxmlformats-package.relationships+xml"/>
  <Override PartName="/ppt/slides/_rels/slide106.xml.rels" ContentType="application/vnd.openxmlformats-package.relationships+xml"/>
  <Override PartName="/ppt/slides/_rels/slide111.xml.rels" ContentType="application/vnd.openxmlformats-package.relationships+xml"/>
  <Override PartName="/ppt/slides/_rels/slide34.xml.rels" ContentType="application/vnd.openxmlformats-package.relationships+xml"/>
  <Override PartName="/ppt/slides/_rels/slide214.xml.rels" ContentType="application/vnd.openxmlformats-package.relationships+xml"/>
  <Override PartName="/ppt/slides/_rels/slide193.xml.rels" ContentType="application/vnd.openxmlformats-package.relationships+xml"/>
  <Override PartName="/ppt/slides/_rels/slide154.xml.rels" ContentType="application/vnd.openxmlformats-package.relationships+xml"/>
  <Override PartName="/ppt/slides/_rels/slide105.xml.rels" ContentType="application/vnd.openxmlformats-package.relationships+xml"/>
  <Override PartName="/ppt/slides/_rels/slide110.xml.rels" ContentType="application/vnd.openxmlformats-package.relationships+xml"/>
  <Override PartName="/ppt/slides/_rels/slide33.xml.rels" ContentType="application/vnd.openxmlformats-package.relationships+xml"/>
  <Override PartName="/ppt/slides/_rels/slide213.xml.rels" ContentType="application/vnd.openxmlformats-package.relationships+xml"/>
  <Override PartName="/ppt/slides/_rels/slide192.xml.rels" ContentType="application/vnd.openxmlformats-package.relationships+xml"/>
  <Override PartName="/ppt/slides/_rels/slide298.xml.rels" ContentType="application/vnd.openxmlformats-package.relationships+xml"/>
  <Override PartName="/ppt/slides/_rels/slide319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288.xml.rels" ContentType="application/vnd.openxmlformats-package.relationships+xml"/>
  <Override PartName="/ppt/slides/_rels/slide314.xml.rels" ContentType="application/vnd.openxmlformats-package.relationships+xml"/>
  <Override PartName="/ppt/slides/_rels/slide309.xml.rels" ContentType="application/vnd.openxmlformats-package.relationships+xml"/>
  <Override PartName="/ppt/slides/_rels/slide206.xml.rels" ContentType="application/vnd.openxmlformats-package.relationships+xml"/>
  <Override PartName="/ppt/slides/_rels/slide310.xml.rels" ContentType="application/vnd.openxmlformats-package.relationships+xml"/>
  <Override PartName="/ppt/slides/_rels/slide12.xml.rels" ContentType="application/vnd.openxmlformats-package.relationships+xml"/>
  <Override PartName="/ppt/slides/slide257.xml" ContentType="application/vnd.openxmlformats-officedocument.presentationml.slide+xml"/>
  <Override PartName="/ppt/slides/slide91.xml" ContentType="application/vnd.openxmlformats-officedocument.presentationml.slide+xml"/>
  <Override PartName="/ppt/slides/slide256.xml" ContentType="application/vnd.openxmlformats-officedocument.presentationml.slide+xml"/>
  <Override PartName="/ppt/slides/slide90.xml" ContentType="application/vnd.openxmlformats-officedocument.presentationml.slide+xml"/>
  <Override PartName="/ppt/slides/slide255.xml" ContentType="application/vnd.openxmlformats-officedocument.presentationml.slide+xml"/>
  <Override PartName="/ppt/slides/slide254.xml" ContentType="application/vnd.openxmlformats-officedocument.presentationml.slide+xml"/>
  <Override PartName="/ppt/slides/slide253.xml" ContentType="application/vnd.openxmlformats-officedocument.presentationml.slide+xml"/>
  <Override PartName="/ppt/slides/slide252.xml" ContentType="application/vnd.openxmlformats-officedocument.presentationml.slide+xml"/>
  <Override PartName="/ppt/slides/slide251.xml" ContentType="application/vnd.openxmlformats-officedocument.presentationml.slide+xml"/>
  <Override PartName="/ppt/slides/slide250.xml" ContentType="application/vnd.openxmlformats-officedocument.presentationml.slide+xml"/>
  <Override PartName="/ppt/slides/slide249.xml" ContentType="application/vnd.openxmlformats-officedocument.presentationml.slide+xml"/>
  <Override PartName="/ppt/slides/slide83.xml" ContentType="application/vnd.openxmlformats-officedocument.presentationml.slide+xml"/>
  <Override PartName="/ppt/slides/slide248.xml" ContentType="application/vnd.openxmlformats-officedocument.presentationml.slide+xml"/>
  <Override PartName="/ppt/slides/slide82.xml" ContentType="application/vnd.openxmlformats-officedocument.presentationml.slide+xml"/>
  <Override PartName="/ppt/slides/slide247.xml" ContentType="application/vnd.openxmlformats-officedocument.presentationml.slide+xml"/>
  <Override PartName="/ppt/slides/slide81.xml" ContentType="application/vnd.openxmlformats-officedocument.presentationml.slide+xml"/>
  <Override PartName="/ppt/slides/slide246.xml" ContentType="application/vnd.openxmlformats-officedocument.presentationml.slide+xml"/>
  <Override PartName="/ppt/slides/slide80.xml" ContentType="application/vnd.openxmlformats-officedocument.presentationml.slide+xml"/>
  <Override PartName="/ppt/slides/slide239.xml" ContentType="application/vnd.openxmlformats-officedocument.presentationml.slide+xml"/>
  <Override PartName="/ppt/slides/slide73.xml" ContentType="application/vnd.openxmlformats-officedocument.presentationml.slide+xml"/>
  <Override PartName="/ppt/slides/slide238.xml" ContentType="application/vnd.openxmlformats-officedocument.presentationml.slide+xml"/>
  <Override PartName="/ppt/slides/slide72.xml" ContentType="application/vnd.openxmlformats-officedocument.presentationml.slide+xml"/>
  <Override PartName="/ppt/slides/slide237.xml" ContentType="application/vnd.openxmlformats-officedocument.presentationml.slide+xml"/>
  <Override PartName="/ppt/slides/slide199.xml" ContentType="application/vnd.openxmlformats-officedocument.presentationml.slide+xml"/>
  <Override PartName="/ppt/slides/slide71.xml" ContentType="application/vnd.openxmlformats-officedocument.presentationml.slide+xml"/>
  <Override PartName="/ppt/slides/slide236.xml" ContentType="application/vnd.openxmlformats-officedocument.presentationml.slide+xml"/>
  <Override PartName="/ppt/slides/slide198.xml" ContentType="application/vnd.openxmlformats-officedocument.presentationml.slide+xml"/>
  <Override PartName="/ppt/slides/slide70.xml" ContentType="application/vnd.openxmlformats-officedocument.presentationml.slide+xml"/>
  <Override PartName="/ppt/slides/slide235.xml" ContentType="application/vnd.openxmlformats-officedocument.presentationml.slide+xml"/>
  <Override PartName="/ppt/slides/slide197.xml" ContentType="application/vnd.openxmlformats-officedocument.presentationml.slide+xml"/>
  <Override PartName="/ppt/slides/slide234.xml" ContentType="application/vnd.openxmlformats-officedocument.presentationml.slide+xml"/>
  <Override PartName="/ppt/slides/slide196.xml" ContentType="application/vnd.openxmlformats-officedocument.presentationml.slide+xml"/>
  <Override PartName="/ppt/slides/slide233.xml" ContentType="application/vnd.openxmlformats-officedocument.presentationml.slide+xml"/>
  <Override PartName="/ppt/slides/slide195.xml" ContentType="application/vnd.openxmlformats-officedocument.presentationml.slide+xml"/>
  <Override PartName="/ppt/slides/slide232.xml" ContentType="application/vnd.openxmlformats-officedocument.presentationml.slide+xml"/>
  <Override PartName="/ppt/slides/slide194.xml" ContentType="application/vnd.openxmlformats-officedocument.presentationml.slide+xml"/>
  <Override PartName="/ppt/slides/slide231.xml" ContentType="application/vnd.openxmlformats-officedocument.presentationml.slide+xml"/>
  <Override PartName="/ppt/slides/slide193.xml" ContentType="application/vnd.openxmlformats-officedocument.presentationml.slide+xml"/>
  <Override PartName="/ppt/slides/slide230.xml" ContentType="application/vnd.openxmlformats-officedocument.presentationml.slide+xml"/>
  <Override PartName="/ppt/slides/slide192.xml" ContentType="application/vnd.openxmlformats-officedocument.presentationml.slide+xml"/>
  <Override PartName="/ppt/slides/slide229.xml" ContentType="application/vnd.openxmlformats-officedocument.presentationml.slide+xml"/>
  <Override PartName="/ppt/slides/slide63.xml" ContentType="application/vnd.openxmlformats-officedocument.presentationml.slide+xml"/>
  <Override PartName="/ppt/slides/slide228.xml" ContentType="application/vnd.openxmlformats-officedocument.presentationml.slide+xml"/>
  <Override PartName="/ppt/slides/slide62.xml" ContentType="application/vnd.openxmlformats-officedocument.presentationml.slide+xml"/>
  <Override PartName="/ppt/slides/slide227.xml" ContentType="application/vnd.openxmlformats-officedocument.presentationml.slide+xml"/>
  <Override PartName="/ppt/slides/slide189.xml" ContentType="application/vnd.openxmlformats-officedocument.presentationml.slide+xml"/>
  <Override PartName="/ppt/slides/slide61.xml" ContentType="application/vnd.openxmlformats-officedocument.presentationml.slide+xml"/>
  <Override PartName="/ppt/slides/slide226.xml" ContentType="application/vnd.openxmlformats-officedocument.presentationml.slide+xml"/>
  <Override PartName="/ppt/slides/slide188.xml" ContentType="application/vnd.openxmlformats-officedocument.presentationml.slide+xml"/>
  <Override PartName="/ppt/slides/slide60.xml" ContentType="application/vnd.openxmlformats-officedocument.presentationml.slide+xml"/>
  <Override PartName="/ppt/slides/slide225.xml" ContentType="application/vnd.openxmlformats-officedocument.presentationml.slide+xml"/>
  <Override PartName="/ppt/slides/slide187.xml" ContentType="application/vnd.openxmlformats-officedocument.presentationml.slide+xml"/>
  <Override PartName="/ppt/slides/slide224.xml" ContentType="application/vnd.openxmlformats-officedocument.presentationml.slide+xml"/>
  <Override PartName="/ppt/slides/slide186.xml" ContentType="application/vnd.openxmlformats-officedocument.presentationml.slide+xml"/>
  <Override PartName="/ppt/slides/slide223.xml" ContentType="application/vnd.openxmlformats-officedocument.presentationml.slide+xml"/>
  <Override PartName="/ppt/slides/slide185.xml" ContentType="application/vnd.openxmlformats-officedocument.presentationml.slide+xml"/>
  <Override PartName="/ppt/slides/slide222.xml" ContentType="application/vnd.openxmlformats-officedocument.presentationml.slide+xml"/>
  <Override PartName="/ppt/slides/slide184.xml" ContentType="application/vnd.openxmlformats-officedocument.presentationml.slide+xml"/>
  <Override PartName="/ppt/slides/slide221.xml" ContentType="application/vnd.openxmlformats-officedocument.presentationml.slide+xml"/>
  <Override PartName="/ppt/slides/slide183.xml" ContentType="application/vnd.openxmlformats-officedocument.presentationml.slide+xml"/>
  <Override PartName="/ppt/slides/slide220.xml" ContentType="application/vnd.openxmlformats-officedocument.presentationml.slide+xml"/>
  <Override PartName="/ppt/slides/slide182.xml" ContentType="application/vnd.openxmlformats-officedocument.presentationml.slide+xml"/>
  <Override PartName="/ppt/slides/slide219.xml" ContentType="application/vnd.openxmlformats-officedocument.presentationml.slide+xml"/>
  <Override PartName="/ppt/slides/slide53.xml" ContentType="application/vnd.openxmlformats-officedocument.presentationml.slide+xml"/>
  <Override PartName="/ppt/slides/slide218.xml" ContentType="application/vnd.openxmlformats-officedocument.presentationml.slide+xml"/>
  <Override PartName="/ppt/slides/slide52.xml" ContentType="application/vnd.openxmlformats-officedocument.presentationml.slide+xml"/>
  <Override PartName="/ppt/slides/slide217.xml" ContentType="application/vnd.openxmlformats-officedocument.presentationml.slide+xml"/>
  <Override PartName="/ppt/slides/slide179.xml" ContentType="application/vnd.openxmlformats-officedocument.presentationml.slide+xml"/>
  <Override PartName="/ppt/slides/slide51.xml" ContentType="application/vnd.openxmlformats-officedocument.presentationml.slide+xml"/>
  <Override PartName="/ppt/slides/slide216.xml" ContentType="application/vnd.openxmlformats-officedocument.presentationml.slide+xml"/>
  <Override PartName="/ppt/slides/slide178.xml" ContentType="application/vnd.openxmlformats-officedocument.presentationml.slide+xml"/>
  <Override PartName="/ppt/slides/slide50.xml" ContentType="application/vnd.openxmlformats-officedocument.presentationml.slide+xml"/>
  <Override PartName="/ppt/slides/slide215.xml" ContentType="application/vnd.openxmlformats-officedocument.presentationml.slide+xml"/>
  <Override PartName="/ppt/slides/slide177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161.xml" ContentType="application/vnd.openxmlformats-officedocument.presentationml.slide+xml"/>
  <Override PartName="/ppt/slides/slide327.xml" ContentType="application/vnd.openxmlformats-officedocument.presentationml.slide+xml"/>
  <Override PartName="/ppt/slides/slide38.xml" ContentType="application/vnd.openxmlformats-officedocument.presentationml.slide+xml"/>
  <Override PartName="/ppt/slides/slide134.xml" ContentType="application/vnd.openxmlformats-officedocument.presentationml.slide+xml"/>
  <Override PartName="/ppt/slides/slide67.xml" ContentType="application/vnd.openxmlformats-officedocument.presentationml.slide+xml"/>
  <Override PartName="/ppt/slides/slide120.xml" ContentType="application/vnd.openxmlformats-officedocument.presentationml.slide+xml"/>
  <Override PartName="/ppt/slides/slide313.xml" ContentType="application/vnd.openxmlformats-officedocument.presentationml.slide+xml"/>
  <Override PartName="/ppt/slides/slide258.xml" ContentType="application/vnd.openxmlformats-officedocument.presentationml.slide+xml"/>
  <Override PartName="/ppt/slides/slide92.xml" ContentType="application/vnd.openxmlformats-officedocument.presentationml.slide+xml"/>
  <Override PartName="/ppt/slides/slide24.xml" ContentType="application/vnd.openxmlformats-officedocument.presentationml.slide+xml"/>
  <Override PartName="/ppt/slides/slide66.xml" ContentType="application/vnd.openxmlformats-officedocument.presentationml.slide+xml"/>
  <Override PartName="/ppt/slides/slide100.xml" ContentType="application/vnd.openxmlformats-officedocument.presentationml.slide+xml"/>
  <Override PartName="/ppt/slides/slide107.xml" ContentType="application/vnd.openxmlformats-officedocument.presentationml.slide+xml"/>
  <Override PartName="/ppt/slides/slide79.xml" ContentType="application/vnd.openxmlformats-officedocument.presentationml.slide+xml"/>
  <Override PartName="/ppt/slides/slide77.xml" ContentType="application/vnd.openxmlformats-officedocument.presentationml.slide+xml"/>
  <Override PartName="/ppt/slides/slide105.xml" ContentType="application/vnd.openxmlformats-officedocument.presentationml.slide+xml"/>
  <Override PartName="/ppt/slides/slide87.xml" ContentType="application/vnd.openxmlformats-officedocument.presentationml.slide+xml"/>
  <Override PartName="/ppt/slides/slide115.xml" ContentType="application/vnd.openxmlformats-officedocument.presentationml.slide+xml"/>
  <Override PartName="/ppt/slides/slide19.xml" ContentType="application/vnd.openxmlformats-officedocument.presentationml.slide+xml"/>
  <Override PartName="/ppt/slides/slide88.xml" ContentType="application/vnd.openxmlformats-officedocument.presentationml.slide+xml"/>
  <Override PartName="/ppt/slides/slide116.xml" ContentType="application/vnd.openxmlformats-officedocument.presentationml.slide+xml"/>
  <Override PartName="/ppt/slides/slide89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97.xml" ContentType="application/vnd.openxmlformats-officedocument.presentationml.slide+xml"/>
  <Override PartName="/ppt/slides/slide29.xml" ContentType="application/vnd.openxmlformats-officedocument.presentationml.slide+xml"/>
  <Override PartName="/ppt/slides/slide125.xml" ContentType="application/vnd.openxmlformats-officedocument.presentationml.slide+xml"/>
  <Override PartName="/ppt/slides/slide98.xml" ContentType="application/vnd.openxmlformats-officedocument.presentationml.slide+xml"/>
  <Override PartName="/ppt/slides/slide126.xml" ContentType="application/vnd.openxmlformats-officedocument.presentationml.slide+xml"/>
  <Override PartName="/ppt/slides/slide99.xml" ContentType="application/vnd.openxmlformats-officedocument.presentationml.slide+xml"/>
  <Override PartName="/ppt/slides/slide127.xml" ContentType="application/vnd.openxmlformats-officedocument.presentationml.slide+xml"/>
  <Override PartName="/ppt/slides/slide160.xml" ContentType="application/vnd.openxmlformats-officedocument.presentationml.slide+xml"/>
  <Override PartName="/ppt/slides/slide326.xml" ContentType="application/vnd.openxmlformats-officedocument.presentationml.slide+xml"/>
  <Override PartName="/ppt/slides/slide37.xml" ContentType="application/vnd.openxmlformats-officedocument.presentationml.slide+xml"/>
  <Override PartName="/ppt/slides/slide133.xml" ContentType="application/vnd.openxmlformats-officedocument.presentationml.slide+xml"/>
  <Override PartName="/ppt/slides/slide260.xml" ContentType="application/vnd.openxmlformats-officedocument.presentationml.slide+xml"/>
  <Override PartName="/ppt/slides/slide297.xml" ContentType="application/vnd.openxmlformats-officedocument.presentationml.slide+xml"/>
  <Override PartName="/ppt/slides/slide114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298.xml" ContentType="application/vnd.openxmlformats-officedocument.presentationml.slide+xml"/>
  <Override PartName="/ppt/slides/slide314.xml" ContentType="application/vnd.openxmlformats-officedocument.presentationml.slide+xml"/>
  <Override PartName="/ppt/slides/slide259.xml" ContentType="application/vnd.openxmlformats-officedocument.presentationml.slide+xml"/>
  <Override PartName="/ppt/slides/slide93.xml" ContentType="application/vnd.openxmlformats-officedocument.presentationml.slide+xml"/>
  <Override PartName="/ppt/slides/slide121.xml" ContentType="application/vnd.openxmlformats-officedocument.presentationml.slide+xml"/>
  <Override PartName="/ppt/slides/slide25.xml" ContentType="application/vnd.openxmlformats-officedocument.presentationml.slide+xml"/>
  <Override PartName="/ppt/slides/slide261.xml" ContentType="application/vnd.openxmlformats-officedocument.presentationml.slide+xml"/>
  <Override PartName="/ppt/slides/slide291.xml" ContentType="application/vnd.openxmlformats-officedocument.presentationml.slide+xml"/>
  <Override PartName="/ppt/slides/slide101.xml" ContentType="application/vnd.openxmlformats-officedocument.presentationml.slide+xml"/>
  <Override PartName="/ppt/slides/slide300.xml" ContentType="application/vnd.openxmlformats-officedocument.presentationml.slide+xml"/>
  <Override PartName="/ppt/slides/slide26.xml" ContentType="application/vnd.openxmlformats-officedocument.presentationml.slide+xml"/>
  <Override PartName="/ppt/slides/slide94.xml" ContentType="application/vnd.openxmlformats-officedocument.presentationml.slide+xml"/>
  <Override PartName="/ppt/slides/slide315.xml" ContentType="application/vnd.openxmlformats-officedocument.presentationml.slide+xml"/>
  <Override PartName="/ppt/slides/slide190.xml" ContentType="application/vnd.openxmlformats-officedocument.presentationml.slide+xml"/>
  <Override PartName="/ppt/slides/slide122.xml" ContentType="application/vnd.openxmlformats-officedocument.presentationml.slide+xml"/>
  <Override PartName="/ppt/slides/slide284.xml" ContentType="application/vnd.openxmlformats-officedocument.presentationml.slide+xml"/>
  <Override PartName="/ppt/slides/slide292.xml" ContentType="application/vnd.openxmlformats-officedocument.presentationml.slide+xml"/>
  <Override PartName="/ppt/slides/slide102.xml" ContentType="application/vnd.openxmlformats-officedocument.presentationml.slide+xml"/>
  <Override PartName="/ppt/slides/slide170.xml" ContentType="application/vnd.openxmlformats-officedocument.presentationml.slide+xml"/>
  <Override PartName="/ppt/slides/slide74.xml" ContentType="application/vnd.openxmlformats-officedocument.presentationml.slide+xml"/>
  <Override PartName="/ppt/slides/slide301.xml" ContentType="application/vnd.openxmlformats-officedocument.presentationml.slide+xml"/>
  <Override PartName="/ppt/slides/slide12.xml" ContentType="application/vnd.openxmlformats-officedocument.presentationml.slide+xml"/>
  <Override PartName="/ppt/slides/slide27.xml" ContentType="application/vnd.openxmlformats-officedocument.presentationml.slide+xml"/>
  <Override PartName="/ppt/slides/slide95.xml" ContentType="application/vnd.openxmlformats-officedocument.presentationml.slide+xml"/>
  <Override PartName="/ppt/slides/slide191.xml" ContentType="application/vnd.openxmlformats-officedocument.presentationml.slide+xml"/>
  <Override PartName="/ppt/slides/slide123.xml" ContentType="application/vnd.openxmlformats-officedocument.presentationml.slide+xml"/>
  <Override PartName="/ppt/slides/slide285.xml" ContentType="application/vnd.openxmlformats-officedocument.presentationml.slide+xml"/>
  <Override PartName="/ppt/slides/slide293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75.xml" ContentType="application/vnd.openxmlformats-officedocument.presentationml.slide+xml"/>
  <Override PartName="/ppt/slides/slide302.xml" ContentType="application/vnd.openxmlformats-officedocument.presentationml.slide+xml"/>
  <Override PartName="/ppt/slides/slide13.xml" ContentType="application/vnd.openxmlformats-officedocument.presentationml.slide+xml"/>
  <Override PartName="/ppt/slides/slide28.xml" ContentType="application/vnd.openxmlformats-officedocument.presentationml.slide+xml"/>
  <Override PartName="/ppt/slides/slide96.xml" ContentType="application/vnd.openxmlformats-officedocument.presentationml.slide+xml"/>
  <Override PartName="/ppt/slides/slide124.xml" ContentType="application/vnd.openxmlformats-officedocument.presentationml.slide+xml"/>
  <Override PartName="/ppt/slides/slide286.xml" ContentType="application/vnd.openxmlformats-officedocument.presentationml.slide+xml"/>
  <Override PartName="/ppt/slides/slide294.xml" ContentType="application/vnd.openxmlformats-officedocument.presentationml.slide+xml"/>
  <Override PartName="/ppt/slides/slide310.xml" ContentType="application/vnd.openxmlformats-officedocument.presentationml.slide+xml"/>
  <Override PartName="/ppt/slides/slide104.xml" ContentType="application/vnd.openxmlformats-officedocument.presentationml.slide+xml"/>
  <Override PartName="/ppt/slides/slide76.xml" ContentType="application/vnd.openxmlformats-officedocument.presentationml.slide+xml"/>
  <Override PartName="/ppt/slides/slide303.xml" ContentType="application/vnd.openxmlformats-officedocument.presentationml.slide+xml"/>
  <Override PartName="/ppt/slides/slide110.xml" ContentType="application/vnd.openxmlformats-officedocument.presentationml.slide+xml"/>
  <Override PartName="/ppt/slides/slide14.xml" ContentType="application/vnd.openxmlformats-officedocument.presentationml.slide+xml"/>
  <Override PartName="/ppt/slides/slide287.xml" ContentType="application/vnd.openxmlformats-officedocument.presentationml.slide+xml"/>
  <Override PartName="/ppt/slides/slide295.xml" ContentType="application/vnd.openxmlformats-officedocument.presentationml.slide+xml"/>
  <Override PartName="/ppt/slides/slide311.xml" ContentType="application/vnd.openxmlformats-officedocument.presentationml.slide+xml"/>
  <Override PartName="/ppt/slides/slide22.xml" ContentType="application/vnd.openxmlformats-officedocument.presentationml.slide+xml"/>
  <Override PartName="/ppt/slides/slide304.xml" ContentType="application/vnd.openxmlformats-officedocument.presentationml.slide+xml"/>
  <Override PartName="/ppt/slides/slide111.xml" ContentType="application/vnd.openxmlformats-officedocument.presentationml.slide+xml"/>
  <Override PartName="/ppt/slides/slide15.xml" ContentType="application/vnd.openxmlformats-officedocument.presentationml.slide+xml"/>
  <Override PartName="/ppt/slides/slide288.xml" ContentType="application/vnd.openxmlformats-officedocument.presentationml.slide+xml"/>
  <Override PartName="/ppt/slides/slide296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312.xml" ContentType="application/vnd.openxmlformats-officedocument.presentationml.slide+xml"/>
  <Override PartName="/ppt/slides/slide23.xml" ContentType="application/vnd.openxmlformats-officedocument.presentationml.slide+xml"/>
  <Override PartName="/ppt/slides/slide106.xml" ContentType="application/vnd.openxmlformats-officedocument.presentationml.slide+xml"/>
  <Override PartName="/ppt/slides/slide78.xml" ContentType="application/vnd.openxmlformats-officedocument.presentationml.slide+xml"/>
  <Override PartName="/ppt/slides/slide305.xml" ContentType="application/vnd.openxmlformats-officedocument.presentationml.slide+xml"/>
  <Override PartName="/ppt/slides/slide112.xml" ContentType="application/vnd.openxmlformats-officedocument.presentationml.slide+xml"/>
  <Override PartName="/ppt/slides/slide84.xml" ContentType="application/vnd.openxmlformats-officedocument.presentationml.slide+xml"/>
  <Override PartName="/ppt/slides/slide16.xml" ContentType="application/vnd.openxmlformats-officedocument.presentationml.slide+xml"/>
  <Override PartName="/ppt/slides/slide180.xml" ContentType="application/vnd.openxmlformats-officedocument.presentationml.slide+xml"/>
  <Override PartName="/ppt/slides/slide289.xml" ContentType="application/vnd.openxmlformats-officedocument.presentationml.slide+xml"/>
  <Override PartName="/ppt/slides/slide299.xml" ContentType="application/vnd.openxmlformats-officedocument.presentationml.slide+xml"/>
  <Override PartName="/ppt/slides/slide262.xml" ContentType="application/vnd.openxmlformats-officedocument.presentationml.slide+xml"/>
  <Override PartName="/ppt/slides/slide331.xml" ContentType="application/vnd.openxmlformats-officedocument.presentationml.slide+xml"/>
  <Override PartName="/ppt/slides/slide330.xml" ContentType="application/vnd.openxmlformats-officedocument.presentationml.slide+xml"/>
  <Override PartName="/ppt/slides/slide325.xml" ContentType="application/vnd.openxmlformats-officedocument.presentationml.slide+xml"/>
  <Override PartName="/ppt/slides/slide36.xml" ContentType="application/vnd.openxmlformats-officedocument.presentationml.slide+xml"/>
  <Override PartName="/ppt/slides/slide132.xml" ContentType="application/vnd.openxmlformats-officedocument.presentationml.slide+xml"/>
  <Override PartName="/ppt/slides/slide272.xml" ContentType="application/vnd.openxmlformats-officedocument.presentationml.slide+xml"/>
  <Override PartName="/ppt/slides/slide324.xml" ContentType="application/vnd.openxmlformats-officedocument.presentationml.slide+xml"/>
  <Override PartName="/ppt/slides/slide35.xml" ContentType="application/vnd.openxmlformats-officedocument.presentationml.slide+xml"/>
  <Override PartName="/ppt/slides/slide131.xml" ContentType="application/vnd.openxmlformats-officedocument.presentationml.slide+xml"/>
  <Override PartName="/ppt/slides/slide271.xml" ContentType="application/vnd.openxmlformats-officedocument.presentationml.slide+xml"/>
  <Override PartName="/ppt/slides/slide323.xml" ContentType="application/vnd.openxmlformats-officedocument.presentationml.slide+xml"/>
  <Override PartName="/ppt/slides/slide34.xml" ContentType="application/vnd.openxmlformats-officedocument.presentationml.slide+xml"/>
  <Override PartName="/ppt/slides/slide130.xml" ContentType="application/vnd.openxmlformats-officedocument.presentationml.slide+xml"/>
  <Override PartName="/ppt/slides/slide270.xml" ContentType="application/vnd.openxmlformats-officedocument.presentationml.slide+xml"/>
  <Override PartName="/ppt/slides/slide322.xml" ContentType="application/vnd.openxmlformats-officedocument.presentationml.slide+xml"/>
  <Override PartName="/ppt/slides/slide33.xml" ContentType="application/vnd.openxmlformats-officedocument.presentationml.slide+xml"/>
  <Override PartName="/ppt/slides/slide69.xml" ContentType="application/vnd.openxmlformats-officedocument.presentationml.slide+xml"/>
  <Override PartName="/ppt/slides/slide203.xml" ContentType="application/vnd.openxmlformats-officedocument.presentationml.slide+xml"/>
  <Override PartName="/ppt/slides/slide165.xml" ContentType="application/vnd.openxmlformats-officedocument.presentationml.slide+xml"/>
  <Override PartName="/ppt/slides/slide321.xml" ContentType="application/vnd.openxmlformats-officedocument.presentationml.slide+xml"/>
  <Override PartName="/ppt/slides/slide32.xml" ContentType="application/vnd.openxmlformats-officedocument.presentationml.slide+xml"/>
  <Override PartName="/ppt/slides/slide68.xml" ContentType="application/vnd.openxmlformats-officedocument.presentationml.slide+xml"/>
  <Override PartName="/ppt/slides/slide202.xml" ContentType="application/vnd.openxmlformats-officedocument.presentationml.slide+xml"/>
  <Override PartName="/ppt/slides/slide164.xml" ContentType="application/vnd.openxmlformats-officedocument.presentationml.slide+xml"/>
  <Override PartName="/ppt/slides/slide320.xml" ContentType="application/vnd.openxmlformats-officedocument.presentationml.slide+xml"/>
  <Override PartName="/ppt/slides/slide290.xml" ContentType="application/vnd.openxmlformats-officedocument.presentationml.slide+xml"/>
  <Override PartName="/ppt/slides/slide283.xml" ContentType="application/vnd.openxmlformats-officedocument.presentationml.slide+xml"/>
  <Override PartName="/ppt/slides/slide282.xml" ContentType="application/vnd.openxmlformats-officedocument.presentationml.slide+xml"/>
  <Override PartName="/ppt/slides/slide281.xml" ContentType="application/vnd.openxmlformats-officedocument.presentationml.slide+xml"/>
  <Override PartName="/ppt/slides/slide175.xml" ContentType="application/vnd.openxmlformats-officedocument.presentationml.slide+xml"/>
  <Override PartName="/ppt/slides/slide213.xml" ContentType="application/vnd.openxmlformats-officedocument.presentationml.slide+xml"/>
  <Override PartName="/ppt/slides/slide280.xml" ContentType="application/vnd.openxmlformats-officedocument.presentationml.slide+xml"/>
  <Override PartName="/ppt/slides/slide174.xml" ContentType="application/vnd.openxmlformats-officedocument.presentationml.slide+xml"/>
  <Override PartName="/ppt/slides/slide212.xml" ContentType="application/vnd.openxmlformats-officedocument.presentationml.slide+xml"/>
  <Override PartName="/ppt/slides/slide279.xml" ContentType="application/vnd.openxmlformats-officedocument.presentationml.slide+xml"/>
  <Override PartName="/ppt/slides/slide278.xml" ContentType="application/vnd.openxmlformats-officedocument.presentationml.slide+xml"/>
  <Override PartName="/ppt/slides/slide277.xml" ContentType="application/vnd.openxmlformats-officedocument.presentationml.slide+xml"/>
  <Override PartName="/ppt/slides/slide276.xml" ContentType="application/vnd.openxmlformats-officedocument.presentationml.slide+xml"/>
  <Override PartName="/ppt/slides/slide42.xml" ContentType="application/vnd.openxmlformats-officedocument.presentationml.slide+xml"/>
  <Override PartName="/ppt/slides/slide208.xml" ContentType="application/vnd.openxmlformats-officedocument.presentationml.slide+xml"/>
  <Override PartName="/ppt/slides/slide275.xml" ContentType="application/vnd.openxmlformats-officedocument.presentationml.slide+xml"/>
  <Override PartName="/ppt/slides/slide274.xml" ContentType="application/vnd.openxmlformats-officedocument.presentationml.slide+xml"/>
  <Override PartName="/ppt/slides/slide273.xml" ContentType="application/vnd.openxmlformats-officedocument.presentationml.slide+xml"/>
  <Override PartName="/ppt/slides/slide269.xml" ContentType="application/vnd.openxmlformats-officedocument.presentationml.slide+xml"/>
  <Override PartName="/ppt/slides/slide268.xml" ContentType="application/vnd.openxmlformats-officedocument.presentationml.slide+xml"/>
  <Override PartName="/ppt/slides/slide267.xml" ContentType="application/vnd.openxmlformats-officedocument.presentationml.slide+xml"/>
  <Override PartName="/ppt/slides/slide266.xml" ContentType="application/vnd.openxmlformats-officedocument.presentationml.slide+xml"/>
  <Override PartName="/ppt/slides/slide265.xml" ContentType="application/vnd.openxmlformats-officedocument.presentationml.slide+xml"/>
  <Override PartName="/ppt/slides/slide264.xml" ContentType="application/vnd.openxmlformats-officedocument.presentationml.slide+xml"/>
  <Override PartName="/ppt/slides/slide263.xml" ContentType="application/vnd.openxmlformats-officedocument.presentationml.slide+xml"/>
  <Override PartName="/ppt/slides/slide59.xml" ContentType="application/vnd.openxmlformats-officedocument.presentationml.slide+xml"/>
  <Override PartName="/ppt/slides/slide155.xml" ContentType="application/vnd.openxmlformats-officedocument.presentationml.slide+xml"/>
  <Override PartName="/ppt/slides/slide58.xml" ContentType="application/vnd.openxmlformats-officedocument.presentationml.slide+xml"/>
  <Override PartName="/ppt/slides/slide154.xml" ContentType="application/vnd.openxmlformats-officedocument.presentationml.slide+xml"/>
  <Override PartName="/ppt/slides/slide119.xml" ContentType="application/vnd.openxmlformats-officedocument.presentationml.slide+xml"/>
  <Override PartName="/ppt/slides/slide57.xml" ContentType="application/vnd.openxmlformats-officedocument.presentationml.slide+xml"/>
  <Override PartName="/ppt/slides/slide319.xml" ContentType="application/vnd.openxmlformats-officedocument.presentationml.slide+xml"/>
  <Override PartName="/ppt/slides/slide153.xml" ContentType="application/vnd.openxmlformats-officedocument.presentationml.slide+xml"/>
  <Override PartName="/ppt/slides/slide1.xml" ContentType="application/vnd.openxmlformats-officedocument.presentationml.slide+xml"/>
  <Override PartName="/ppt/slides/slide205.xml" ContentType="application/vnd.openxmlformats-officedocument.presentationml.slide+xml"/>
  <Override PartName="/ppt/slides/slide167.xml" ContentType="application/vnd.openxmlformats-officedocument.presentationml.slide+xml"/>
  <Override PartName="/ppt/slides/slide108.xml" ContentType="application/vnd.openxmlformats-officedocument.presentationml.slide+xml"/>
  <Override PartName="/ppt/slides/slide214.xml" ContentType="application/vnd.openxmlformats-officedocument.presentationml.slide+xml"/>
  <Override PartName="/ppt/slides/slide176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243.xml" ContentType="application/vnd.openxmlformats-officedocument.presentationml.slide+xml"/>
  <Override PartName="/ppt/slides/slide109.xml" ContentType="application/vnd.openxmlformats-officedocument.presentationml.slide+xml"/>
  <Override PartName="/ppt/slides/slide3.xml" ContentType="application/vnd.openxmlformats-officedocument.presentationml.slide+xml"/>
  <Override PartName="/ppt/slides/slide41.xml" ContentType="application/vnd.openxmlformats-officedocument.presentationml.slide+xml"/>
  <Override PartName="/ppt/slides/slide207.xml" ContentType="application/vnd.openxmlformats-officedocument.presentationml.slide+xml"/>
  <Override PartName="/ppt/slides/slide169.xml" ContentType="application/vnd.openxmlformats-officedocument.presentationml.slide+xml"/>
  <Override PartName="/ppt/slides/slide47.xml" ContentType="application/vnd.openxmlformats-officedocument.presentationml.slide+xml"/>
  <Override PartName="/ppt/slides/slide309.xml" ContentType="application/vnd.openxmlformats-officedocument.presentationml.slide+xml"/>
  <Override PartName="/ppt/slides/slide143.xml" ContentType="application/vnd.openxmlformats-officedocument.presentationml.slide+xml"/>
  <Override PartName="/ppt/slides/slide8.xml" ContentType="application/vnd.openxmlformats-officedocument.presentationml.slide+xml"/>
  <Override PartName="/ppt/slides/slide244.xml" ContentType="application/vnd.openxmlformats-officedocument.presentationml.slide+xml"/>
  <Override PartName="/ppt/slides/slide4.xml" ContentType="application/vnd.openxmlformats-officedocument.presentationml.slide+xml"/>
  <Override PartName="/ppt/slides/slide240.xml" ContentType="application/vnd.openxmlformats-officedocument.presentationml.slide+xml"/>
  <Override PartName="/ppt/slides/slide48.xml" ContentType="application/vnd.openxmlformats-officedocument.presentationml.slide+xml"/>
  <Override PartName="/ppt/slides/slide144.xml" ContentType="application/vnd.openxmlformats-officedocument.presentationml.slide+xml"/>
  <Override PartName="/ppt/slides/slide9.xml" ContentType="application/vnd.openxmlformats-officedocument.presentationml.slide+xml"/>
  <Override PartName="/ppt/slides/slide245.xml" ContentType="application/vnd.openxmlformats-officedocument.presentationml.slide+xml"/>
  <Override PartName="/ppt/slides/slide44.xml" ContentType="application/vnd.openxmlformats-officedocument.presentationml.slide+xml"/>
  <Override PartName="/ppt/slides/slide306.xml" ContentType="application/vnd.openxmlformats-officedocument.presentationml.slide+xml"/>
  <Override PartName="/ppt/slides/slide140.xml" ContentType="application/vnd.openxmlformats-officedocument.presentationml.slide+xml"/>
  <Override PartName="/ppt/slides/slide5.xml" ContentType="application/vnd.openxmlformats-officedocument.presentationml.slide+xml"/>
  <Override PartName="/ppt/slides/slide241.xml" ContentType="application/vnd.openxmlformats-officedocument.presentationml.slide+xml"/>
  <Override PartName="/ppt/slides/slide49.xml" ContentType="application/vnd.openxmlformats-officedocument.presentationml.slide+xml"/>
  <Override PartName="/ppt/slides/slide145.xml" ContentType="application/vnd.openxmlformats-officedocument.presentationml.slide+xml"/>
  <Override PartName="/ppt/slides/slide6.xml" ContentType="application/vnd.openxmlformats-officedocument.presentationml.slide+xml"/>
  <Override PartName="/ppt/slides/slide242.xml" ContentType="application/vnd.openxmlformats-officedocument.presentationml.slide+xml"/>
  <Override PartName="/ppt/slides/slide39.xml" ContentType="application/vnd.openxmlformats-officedocument.presentationml.slide+xml"/>
  <Override PartName="/ppt/slides/slide135.xml" ContentType="application/vnd.openxmlformats-officedocument.presentationml.slide+xml"/>
  <Override PartName="/ppt/slides/slide45.xml" ContentType="application/vnd.openxmlformats-officedocument.presentationml.slide+xml"/>
  <Override PartName="/ppt/slides/slide307.xml" ContentType="application/vnd.openxmlformats-officedocument.presentationml.slide+xml"/>
  <Override PartName="/ppt/slides/slide141.xml" ContentType="application/vnd.openxmlformats-officedocument.presentationml.slide+xml"/>
  <Override PartName="/ppt/slides/slide46.xml" ContentType="application/vnd.openxmlformats-officedocument.presentationml.slide+xml"/>
  <Override PartName="/ppt/slides/slide308.xml" ContentType="application/vnd.openxmlformats-officedocument.presentationml.slide+xml"/>
  <Override PartName="/ppt/slides/slide142.xml" ContentType="application/vnd.openxmlformats-officedocument.presentationml.slide+xml"/>
  <Override PartName="/ppt/slides/slide54.xml" ContentType="application/vnd.openxmlformats-officedocument.presentationml.slide+xml"/>
  <Override PartName="/ppt/slides/slide316.xml" ContentType="application/vnd.openxmlformats-officedocument.presentationml.slide+xml"/>
  <Override PartName="/ppt/slides/slide150.xml" ContentType="application/vnd.openxmlformats-officedocument.presentationml.slide+xml"/>
  <Override PartName="/ppt/slides/slide55.xml" ContentType="application/vnd.openxmlformats-officedocument.presentationml.slide+xml"/>
  <Override PartName="/ppt/slides/slide317.xml" ContentType="application/vnd.openxmlformats-officedocument.presentationml.slide+xml"/>
  <Override PartName="/ppt/slides/slide151.xml" ContentType="application/vnd.openxmlformats-officedocument.presentationml.slide+xml"/>
  <Override PartName="/ppt/slides/slide56.xml" ContentType="application/vnd.openxmlformats-officedocument.presentationml.slide+xml"/>
  <Override PartName="/ppt/slides/slide318.xml" ContentType="application/vnd.openxmlformats-officedocument.presentationml.slide+xml"/>
  <Override PartName="/ppt/slides/slide152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0.xml" ContentType="application/vnd.openxmlformats-officedocument.presentationml.slide+xml"/>
  <Override PartName="/ppt/slides/slide138.xml" ContentType="application/vnd.openxmlformats-officedocument.presentationml.slide+xml"/>
  <Override PartName="/ppt/slides/slide11.xml" ContentType="application/vnd.openxmlformats-officedocument.presentationml.slide+xml"/>
  <Override PartName="/ppt/slides/slide139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20.xml" ContentType="application/vnd.openxmlformats-officedocument.presentationml.slide+xml"/>
  <Override PartName="/ppt/slides/slide148.xml" ContentType="application/vnd.openxmlformats-officedocument.presentationml.slide+xml"/>
  <Override PartName="/ppt/slides/slide21.xml" ContentType="application/vnd.openxmlformats-officedocument.presentationml.slide+xml"/>
  <Override PartName="/ppt/slides/slide149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30.xml" ContentType="application/vnd.openxmlformats-officedocument.presentationml.slide+xml"/>
  <Override PartName="/ppt/slides/slide158.xml" ContentType="application/vnd.openxmlformats-officedocument.presentationml.slide+xml"/>
  <Override PartName="/ppt/slides/slide31.xml" ContentType="application/vnd.openxmlformats-officedocument.presentationml.slide+xml"/>
  <Override PartName="/ppt/slides/slide159.xml" ContentType="application/vnd.openxmlformats-officedocument.presentationml.slide+xml"/>
  <Override PartName="/ppt/slides/slide162.xml" ContentType="application/vnd.openxmlformats-officedocument.presentationml.slide+xml"/>
  <Override PartName="/ppt/slides/slide328.xml" ContentType="application/vnd.openxmlformats-officedocument.presentationml.slide+xml"/>
  <Override PartName="/ppt/slides/slide200.xml" ContentType="application/vnd.openxmlformats-officedocument.presentationml.slide+xml"/>
  <Override PartName="/ppt/slides/slide163.xml" ContentType="application/vnd.openxmlformats-officedocument.presentationml.slide+xml"/>
  <Override PartName="/ppt/slides/slide329.xml" ContentType="application/vnd.openxmlformats-officedocument.presentationml.slide+xml"/>
  <Override PartName="/ppt/slides/slide201.xml" ContentType="application/vnd.openxmlformats-officedocument.presentationml.slide+xml"/>
  <Override PartName="/ppt/slides/slide204.xml" ContentType="application/vnd.openxmlformats-officedocument.presentationml.slide+xml"/>
  <Override PartName="/ppt/slides/slide166.xml" ContentType="application/vnd.openxmlformats-officedocument.presentationml.slide+xml"/>
  <Override PartName="/ppt/slides/slide206.xml" ContentType="application/vnd.openxmlformats-officedocument.presentationml.slide+xml"/>
  <Override PartName="/ppt/slides/slide168.xml" ContentType="application/vnd.openxmlformats-officedocument.presentationml.slide+xml"/>
  <Override PartName="/ppt/slides/slide40.xml" ContentType="application/vnd.openxmlformats-officedocument.presentationml.slide+xml"/>
  <Override PartName="/ppt/slides/slide209.xml" ContentType="application/vnd.openxmlformats-officedocument.presentationml.slide+xml"/>
  <Override PartName="/ppt/slides/slide43.xml" ContentType="application/vnd.openxmlformats-officedocument.presentationml.slide+xml"/>
  <Override PartName="/ppt/slides/slide172.xml" ContentType="application/vnd.openxmlformats-officedocument.presentationml.slide+xml"/>
  <Override PartName="/ppt/slides/slide210.xml" ContentType="application/vnd.openxmlformats-officedocument.presentationml.slide+xml"/>
  <Override PartName="/ppt/slides/slide173.xml" ContentType="application/vnd.openxmlformats-officedocument.presentationml.slide+xml"/>
  <Override PartName="/ppt/slides/slide2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AA6A8C-94A2-420E-8750-626A2DD2792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02F8291-B644-4921-8E2F-00AB44BF06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150E2E-2E1F-4592-9F21-A6FE1BDC56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60C2C5-0513-4405-9744-9A40417EFC8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706FDB0-E19E-45C5-B0B1-BD7E4A521ED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594F19-7BC4-453F-AA53-E4D4FA0F655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BB9854-42FC-4B6D-AEF2-D442CD89CD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63A60E-3F73-46AB-B8B2-DAA6835318B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0BFD12-36DB-44CC-836E-2B3749B4B65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534FC8-6D55-4E92-A8E5-EC7411366DB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1BD9AE-97BA-410E-B8F9-CD72E8C61D4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3A1736-D9D7-445B-91E6-C404F90155B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F35DE20-F93B-44C9-8D5F-07EA56096B9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02EB0BA-7054-42B6-AFC4-E101303B23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704AB92-0FC0-4936-9D8F-9FFFB331888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B835009-8160-465B-98E0-C614D0DC60E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6D2CA32-DF4F-473A-90EE-DA0554CD06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E16D8E3-5A49-4D9A-A096-4DEBBAEDC33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B51F4B8-0B36-40B2-8F80-2824FE23CAB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B768C63-4449-4C5F-9709-F7D6B371AA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B9D29C2-CFCB-4FF5-A660-1425836EB7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83F87AE-96A3-4D0B-A2B5-F1F8D74FEE0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6A249F8-0316-4BA8-B3D5-A18370804DF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C5BF64F-9866-4E38-91C7-673600C1D61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A126107-3526-46C3-91C7-7FB0F373FCB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518CAE0-0374-4580-9C0A-69F1BC0EE82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1BF6A4E-C6BE-4489-8A4A-2D66B9FDDF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6F24449-4A16-4757-92CE-72F1FE6908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D5ABCDD-ABC9-4E80-9757-BA5ECF60F1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CBB70C7-8F88-4B73-8257-39CB14A8B40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50B8A47-2671-4B1B-BB59-8D1C091AD2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7FDAB19-72C2-4006-9A04-733D9A0E7D5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A2A9AE2-A80A-461C-9E76-9D1CC8CCED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29E7498-97FE-4FA3-B688-1E0F18F51CD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C671553-E1B9-4485-B474-C969C9588CA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F9611D7-C26E-4D84-A345-3CF4130D933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18D07CD-3588-43A6-A0C3-9570BF20F01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91CB9B3-FA02-46BC-8A5D-2898FC86B1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C1C1388-C0C4-4B73-B20B-397B79F437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85381C0-B734-4863-8255-95F3CCBB75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AFDCBFB-1E46-4F99-99C7-862526CB2C4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97644FF-7011-495F-A165-6FD4A76AC33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D6B3273-6227-47BA-98C6-5E521467FD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7F34905-4DEB-48AA-BBD5-A43FB61394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6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8B83FD6-E134-4282-83C8-C1EF76C864B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C0045C9-7CA3-41DD-B0E1-DBDFAEE400D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4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0CCD67C-2302-41C5-B24F-A84643F2C30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9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70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71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6F2A16A-3E7B-4EB1-82FE-AFA10773F3E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5D1E4F0-69A2-4CD1-A1CB-42E314FB4AD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EE813E7-E0E5-429F-B381-5AAB737CCC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4FE6742-7BDB-4AA2-B00C-D2E0F6DC73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56093C9-0DAB-4AC8-9C77-249A891243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A1ECEC8-720A-42FF-8626-FEE6CC32359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7995728-C883-49D0-90CC-4BDD1FD011A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3511684-375D-4418-A9D9-F0BF94037BC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46EB16E-7C14-4D2D-9DAE-1CE03F727F2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360A10D-D038-4820-9D05-593E0530174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A371C4F-6331-44CB-9674-D269C39A06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1F65D07-A430-48EB-97A7-DFEBCB86AA9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51403F9-76EE-4B1E-83A3-BC5676994A4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jpe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slideLayout" Target="../slideLayouts/slideLayout49.xml"/><Relationship Id="rId8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54.xml"/><Relationship Id="rId13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56.xml"/><Relationship Id="rId15" Type="http://schemas.openxmlformats.org/officeDocument/2006/relationships/slideLayout" Target="../slideLayouts/slideLayout57.xml"/><Relationship Id="rId16" Type="http://schemas.openxmlformats.org/officeDocument/2006/relationships/slideLayout" Target="../slideLayouts/slideLayout58.xml"/><Relationship Id="rId17" Type="http://schemas.openxmlformats.org/officeDocument/2006/relationships/slideLayout" Target="../slideLayouts/slideLayout59.xml"/><Relationship Id="rId18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bg object 16" descr=""/>
          <p:cNvPicPr/>
          <p:nvPr/>
        </p:nvPicPr>
        <p:blipFill>
          <a:blip r:embed="rId2"/>
          <a:stretch/>
        </p:blipFill>
        <p:spPr>
          <a:xfrm>
            <a:off x="8463960" y="4493160"/>
            <a:ext cx="408600" cy="328680"/>
          </a:xfrm>
          <a:prstGeom prst="rect">
            <a:avLst/>
          </a:prstGeom>
          <a:ln w="0">
            <a:noFill/>
          </a:ln>
        </p:spPr>
      </p:pic>
      <p:pic>
        <p:nvPicPr>
          <p:cNvPr id="1" name="bg object 17" descr=""/>
          <p:cNvPicPr/>
          <p:nvPr/>
        </p:nvPicPr>
        <p:blipFill>
          <a:blip r:embed="rId3"/>
          <a:stretch/>
        </p:blipFill>
        <p:spPr>
          <a:xfrm>
            <a:off x="397440" y="254160"/>
            <a:ext cx="1425600" cy="3708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ftr" idx="1"/>
          </p:nvPr>
        </p:nvSpPr>
        <p:spPr>
          <a:xfrm>
            <a:off x="3108960" y="4783320"/>
            <a:ext cx="2917440" cy="24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fr-FR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fr-FR" sz="1400" spc="-1" strike="noStrike">
                <a:latin typeface="Times New Roman"/>
              </a:rPr>
              <a:t>&lt;pied de page&gt;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>
          <a:xfrm>
            <a:off x="6583680" y="4783320"/>
            <a:ext cx="2094480" cy="24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fr-FR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20F177D-3BDF-4A1B-8F19-5F554AD036A3}" type="slidenum">
              <a:rPr b="0" lang="fr-FR" sz="1400" spc="-1" strike="noStrike">
                <a:solidFill>
                  <a:srgbClr val="b2b2b2"/>
                </a:solidFill>
                <a:latin typeface="Times New Roman"/>
              </a:rPr>
              <a:t>&lt;numéro&gt;</a:t>
            </a:fld>
            <a:endParaRPr b="0" lang="fr-FR" sz="1400" spc="-1" strike="noStrike"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>
          <a:xfrm>
            <a:off x="457200" y="4783320"/>
            <a:ext cx="2094480" cy="24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fr-FR" sz="1400" spc="-1" strike="noStrike">
                <a:latin typeface="Times New Roman"/>
              </a:defRPr>
            </a:lvl1pPr>
          </a:lstStyle>
          <a:p>
            <a:r>
              <a:rPr b="0" lang="fr-FR" sz="1400" spc="-1" strike="noStrike">
                <a:latin typeface="Times New Roman"/>
              </a:rPr>
              <a:t>&lt;date/heure&gt;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Cliquez pour éditer le format 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bg object 16" descr=""/>
          <p:cNvPicPr/>
          <p:nvPr/>
        </p:nvPicPr>
        <p:blipFill>
          <a:blip r:embed="rId2"/>
          <a:stretch/>
        </p:blipFill>
        <p:spPr>
          <a:xfrm>
            <a:off x="8714160" y="146160"/>
            <a:ext cx="284760" cy="230040"/>
          </a:xfrm>
          <a:prstGeom prst="rect">
            <a:avLst/>
          </a:prstGeom>
          <a:ln w="0">
            <a:noFill/>
          </a:ln>
        </p:spPr>
      </p:pic>
      <p:pic>
        <p:nvPicPr>
          <p:cNvPr id="44" name="bg object 17" descr=""/>
          <p:cNvPicPr/>
          <p:nvPr/>
        </p:nvPicPr>
        <p:blipFill>
          <a:blip r:embed="rId3"/>
          <a:stretch/>
        </p:blipFill>
        <p:spPr>
          <a:xfrm>
            <a:off x="511200" y="227520"/>
            <a:ext cx="1270080" cy="112680"/>
          </a:xfrm>
          <a:prstGeom prst="rect">
            <a:avLst/>
          </a:prstGeom>
          <a:ln w="0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ftr" idx="4"/>
          </p:nvPr>
        </p:nvSpPr>
        <p:spPr>
          <a:xfrm>
            <a:off x="3108960" y="4783320"/>
            <a:ext cx="2923200" cy="25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fr-FR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fr-FR" sz="1400" spc="-1" strike="noStrike">
                <a:latin typeface="Times New Roman"/>
              </a:rPr>
              <a:t>&lt;pied de page&gt;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5"/>
          </p:nvPr>
        </p:nvSpPr>
        <p:spPr>
          <a:xfrm>
            <a:off x="8701560" y="4908600"/>
            <a:ext cx="26208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FF93C3A-48AD-4523-BF3F-B38B53C04A22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6"/>
          </p:nvPr>
        </p:nvSpPr>
        <p:spPr>
          <a:xfrm>
            <a:off x="457200" y="4783320"/>
            <a:ext cx="2100240" cy="25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fr-FR" sz="1400" spc="-1" strike="noStrike">
                <a:latin typeface="Times New Roman"/>
              </a:defRPr>
            </a:lvl1pPr>
          </a:lstStyle>
          <a:p>
            <a:r>
              <a:rPr b="0" lang="fr-FR" sz="1400" spc="-1" strike="noStrike">
                <a:latin typeface="Times New Roman"/>
              </a:rPr>
              <a:t>&lt;date/heure&gt;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Cliquez </a:t>
            </a:r>
            <a:r>
              <a:rPr b="0" lang="fr-FR" sz="4400" spc="-1" strike="noStrike">
                <a:latin typeface="Arial"/>
              </a:rPr>
              <a:t>pour </a:t>
            </a:r>
            <a:r>
              <a:rPr b="0" lang="fr-FR" sz="4400" spc="-1" strike="noStrike">
                <a:latin typeface="Arial"/>
              </a:rPr>
              <a:t>éditer le </a:t>
            </a:r>
            <a:r>
              <a:rPr b="0" lang="fr-FR" sz="4400" spc="-1" strike="noStrike">
                <a:latin typeface="Arial"/>
              </a:rPr>
              <a:t>format </a:t>
            </a:r>
            <a:r>
              <a:rPr b="0" lang="fr-FR" sz="4400" spc="-1" strike="noStrike">
                <a:latin typeface="Arial"/>
              </a:rPr>
              <a:t>du </a:t>
            </a:r>
            <a:r>
              <a:rPr b="0" lang="fr-FR" sz="4400" spc="-1" strike="noStrike">
                <a:latin typeface="Arial"/>
              </a:rPr>
              <a:t>texte-</a:t>
            </a:r>
            <a:r>
              <a:rPr b="0" lang="fr-FR" sz="4400" spc="-1" strike="noStrike">
                <a:latin typeface="Arial"/>
              </a:rPr>
              <a:t>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bg object 16" descr=""/>
          <p:cNvPicPr/>
          <p:nvPr/>
        </p:nvPicPr>
        <p:blipFill>
          <a:blip r:embed="rId2"/>
          <a:stretch/>
        </p:blipFill>
        <p:spPr>
          <a:xfrm>
            <a:off x="8714160" y="146160"/>
            <a:ext cx="284760" cy="230040"/>
          </a:xfrm>
          <a:prstGeom prst="rect">
            <a:avLst/>
          </a:prstGeom>
          <a:ln w="0">
            <a:noFill/>
          </a:ln>
        </p:spPr>
      </p:pic>
      <p:pic>
        <p:nvPicPr>
          <p:cNvPr id="87" name="bg object 17" descr=""/>
          <p:cNvPicPr/>
          <p:nvPr/>
        </p:nvPicPr>
        <p:blipFill>
          <a:blip r:embed="rId3"/>
          <a:stretch/>
        </p:blipFill>
        <p:spPr>
          <a:xfrm>
            <a:off x="511200" y="227520"/>
            <a:ext cx="1270080" cy="112680"/>
          </a:xfrm>
          <a:prstGeom prst="rect">
            <a:avLst/>
          </a:prstGeom>
          <a:ln w="0">
            <a:noFill/>
          </a:ln>
        </p:spPr>
      </p:pic>
      <p:sp>
        <p:nvSpPr>
          <p:cNvPr id="88" name="PlaceHolder 1"/>
          <p:cNvSpPr>
            <a:spLocks noGrp="1"/>
          </p:cNvSpPr>
          <p:nvPr>
            <p:ph type="ftr" idx="7"/>
          </p:nvPr>
        </p:nvSpPr>
        <p:spPr>
          <a:xfrm>
            <a:off x="3108960" y="4783320"/>
            <a:ext cx="2923200" cy="25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fr-FR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fr-FR" sz="1400" spc="-1" strike="noStrike">
                <a:latin typeface="Times New Roman"/>
              </a:rPr>
              <a:t>&lt;pied de page&gt;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8"/>
          </p:nvPr>
        </p:nvSpPr>
        <p:spPr>
          <a:xfrm>
            <a:off x="8701560" y="4908600"/>
            <a:ext cx="26208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ED9D7EC-620A-454F-B4D5-FB4B0DD5DF5C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dt" idx="9"/>
          </p:nvPr>
        </p:nvSpPr>
        <p:spPr>
          <a:xfrm>
            <a:off x="457200" y="4783320"/>
            <a:ext cx="2100240" cy="25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fr-FR" sz="1400" spc="-1" strike="noStrike">
                <a:latin typeface="Times New Roman"/>
              </a:defRPr>
            </a:lvl1pPr>
          </a:lstStyle>
          <a:p>
            <a:r>
              <a:rPr b="0" lang="fr-FR" sz="1400" spc="-1" strike="noStrike">
                <a:latin typeface="Times New Roman"/>
              </a:rPr>
              <a:t>&lt;date/heure&gt;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Cliquez pour éditer le format 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bg object 16" descr=""/>
          <p:cNvPicPr/>
          <p:nvPr/>
        </p:nvPicPr>
        <p:blipFill>
          <a:blip r:embed="rId2"/>
          <a:stretch/>
        </p:blipFill>
        <p:spPr>
          <a:xfrm>
            <a:off x="8714160" y="146160"/>
            <a:ext cx="284760" cy="230040"/>
          </a:xfrm>
          <a:prstGeom prst="rect">
            <a:avLst/>
          </a:prstGeom>
          <a:ln w="0">
            <a:noFill/>
          </a:ln>
        </p:spPr>
      </p:pic>
      <p:pic>
        <p:nvPicPr>
          <p:cNvPr id="130" name="bg object 17" descr=""/>
          <p:cNvPicPr/>
          <p:nvPr/>
        </p:nvPicPr>
        <p:blipFill>
          <a:blip r:embed="rId3"/>
          <a:stretch/>
        </p:blipFill>
        <p:spPr>
          <a:xfrm>
            <a:off x="511200" y="227520"/>
            <a:ext cx="1270080" cy="112680"/>
          </a:xfrm>
          <a:prstGeom prst="rect">
            <a:avLst/>
          </a:prstGeom>
          <a:ln w="0">
            <a:noFill/>
          </a:ln>
        </p:spPr>
      </p:pic>
      <p:sp>
        <p:nvSpPr>
          <p:cNvPr id="131" name="PlaceHolder 1"/>
          <p:cNvSpPr>
            <a:spLocks noGrp="1"/>
          </p:cNvSpPr>
          <p:nvPr>
            <p:ph type="ftr" idx="10"/>
          </p:nvPr>
        </p:nvSpPr>
        <p:spPr>
          <a:xfrm>
            <a:off x="3108960" y="4783320"/>
            <a:ext cx="2923200" cy="25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fr-FR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fr-FR" sz="1400" spc="-1" strike="noStrike">
                <a:latin typeface="Times New Roman"/>
              </a:rPr>
              <a:t>&lt;pied de page&gt;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sldNum" idx="11"/>
          </p:nvPr>
        </p:nvSpPr>
        <p:spPr>
          <a:xfrm>
            <a:off x="8701560" y="4908600"/>
            <a:ext cx="26208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BC7288A-C2AC-4C07-8F46-57FDBC5AB68B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dt" idx="12"/>
          </p:nvPr>
        </p:nvSpPr>
        <p:spPr>
          <a:xfrm>
            <a:off x="457200" y="4783320"/>
            <a:ext cx="2100240" cy="25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fr-FR" sz="1400" spc="-1" strike="noStrike">
                <a:latin typeface="Times New Roman"/>
              </a:defRPr>
            </a:lvl1pPr>
          </a:lstStyle>
          <a:p>
            <a:r>
              <a:rPr b="0" lang="fr-FR" sz="1400" spc="-1" strike="noStrike">
                <a:latin typeface="Times New Roman"/>
              </a:rPr>
              <a:t>&lt;date/heure&gt;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Cliquez pour éditer le format 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bg object 16" descr=""/>
          <p:cNvPicPr/>
          <p:nvPr/>
        </p:nvPicPr>
        <p:blipFill>
          <a:blip r:embed="rId2"/>
          <a:stretch/>
        </p:blipFill>
        <p:spPr>
          <a:xfrm>
            <a:off x="8714160" y="146160"/>
            <a:ext cx="284760" cy="230040"/>
          </a:xfrm>
          <a:prstGeom prst="rect">
            <a:avLst/>
          </a:prstGeom>
          <a:ln w="0">
            <a:noFill/>
          </a:ln>
        </p:spPr>
      </p:pic>
      <p:pic>
        <p:nvPicPr>
          <p:cNvPr id="173" name="bg object 17" descr=""/>
          <p:cNvPicPr/>
          <p:nvPr/>
        </p:nvPicPr>
        <p:blipFill>
          <a:blip r:embed="rId3"/>
          <a:stretch/>
        </p:blipFill>
        <p:spPr>
          <a:xfrm>
            <a:off x="511200" y="227520"/>
            <a:ext cx="1270080" cy="112680"/>
          </a:xfrm>
          <a:prstGeom prst="rect">
            <a:avLst/>
          </a:prstGeom>
          <a:ln w="0">
            <a:noFill/>
          </a:ln>
        </p:spPr>
      </p:pic>
      <p:pic>
        <p:nvPicPr>
          <p:cNvPr id="174" name="bg object 16" descr=""/>
          <p:cNvPicPr/>
          <p:nvPr/>
        </p:nvPicPr>
        <p:blipFill>
          <a:blip r:embed="rId4"/>
          <a:stretch/>
        </p:blipFill>
        <p:spPr>
          <a:xfrm>
            <a:off x="5753160" y="1972440"/>
            <a:ext cx="3387960" cy="3168360"/>
          </a:xfrm>
          <a:prstGeom prst="rect">
            <a:avLst/>
          </a:prstGeom>
          <a:ln w="0">
            <a:noFill/>
          </a:ln>
        </p:spPr>
      </p:pic>
      <p:sp>
        <p:nvSpPr>
          <p:cNvPr id="175" name="bg object 17"/>
          <p:cNvSpPr/>
          <p:nvPr/>
        </p:nvSpPr>
        <p:spPr>
          <a:xfrm>
            <a:off x="0" y="0"/>
            <a:ext cx="9141840" cy="5140800"/>
          </a:xfrm>
          <a:custGeom>
            <a:avLst/>
            <a:gdLst/>
            <a:ahLst/>
            <a:rect l="l" t="t" r="r" b="b"/>
            <a:pathLst>
              <a:path w="9144635" h="5143500">
                <a:moveTo>
                  <a:pt x="6089924" y="5143501"/>
                </a:moveTo>
                <a:lnTo>
                  <a:pt x="0" y="5143501"/>
                </a:lnTo>
                <a:lnTo>
                  <a:pt x="0" y="0"/>
                </a:lnTo>
                <a:lnTo>
                  <a:pt x="9144053" y="0"/>
                </a:lnTo>
                <a:lnTo>
                  <a:pt x="9144053" y="3297182"/>
                </a:lnTo>
                <a:lnTo>
                  <a:pt x="9113763" y="3257530"/>
                </a:lnTo>
                <a:lnTo>
                  <a:pt x="9082482" y="3218858"/>
                </a:lnTo>
                <a:lnTo>
                  <a:pt x="9050233" y="3181181"/>
                </a:lnTo>
                <a:lnTo>
                  <a:pt x="9017043" y="3144510"/>
                </a:lnTo>
                <a:lnTo>
                  <a:pt x="8982935" y="3108858"/>
                </a:lnTo>
                <a:lnTo>
                  <a:pt x="8947935" y="3074236"/>
                </a:lnTo>
                <a:lnTo>
                  <a:pt x="8912067" y="3040659"/>
                </a:lnTo>
                <a:lnTo>
                  <a:pt x="8875356" y="3008137"/>
                </a:lnTo>
                <a:lnTo>
                  <a:pt x="8837826" y="2976684"/>
                </a:lnTo>
                <a:lnTo>
                  <a:pt x="8799504" y="2946312"/>
                </a:lnTo>
                <a:lnTo>
                  <a:pt x="8760412" y="2917033"/>
                </a:lnTo>
                <a:lnTo>
                  <a:pt x="8720577" y="2888860"/>
                </a:lnTo>
                <a:lnTo>
                  <a:pt x="8680023" y="2861806"/>
                </a:lnTo>
                <a:lnTo>
                  <a:pt x="8638774" y="2835882"/>
                </a:lnTo>
                <a:lnTo>
                  <a:pt x="8596856" y="2811101"/>
                </a:lnTo>
                <a:lnTo>
                  <a:pt x="8554293" y="2787476"/>
                </a:lnTo>
                <a:lnTo>
                  <a:pt x="8511110" y="2765019"/>
                </a:lnTo>
                <a:lnTo>
                  <a:pt x="8467332" y="2743743"/>
                </a:lnTo>
                <a:lnTo>
                  <a:pt x="8422984" y="2723660"/>
                </a:lnTo>
                <a:lnTo>
                  <a:pt x="8378090" y="2704782"/>
                </a:lnTo>
                <a:lnTo>
                  <a:pt x="8332674" y="2687122"/>
                </a:lnTo>
                <a:lnTo>
                  <a:pt x="8286763" y="2670693"/>
                </a:lnTo>
                <a:lnTo>
                  <a:pt x="8240381" y="2655506"/>
                </a:lnTo>
                <a:lnTo>
                  <a:pt x="8193552" y="2641574"/>
                </a:lnTo>
                <a:lnTo>
                  <a:pt x="8146301" y="2628911"/>
                </a:lnTo>
                <a:lnTo>
                  <a:pt x="8098653" y="2617527"/>
                </a:lnTo>
                <a:lnTo>
                  <a:pt x="8050633" y="2607436"/>
                </a:lnTo>
                <a:lnTo>
                  <a:pt x="8002265" y="2598650"/>
                </a:lnTo>
                <a:lnTo>
                  <a:pt x="7953575" y="2591182"/>
                </a:lnTo>
                <a:lnTo>
                  <a:pt x="7904586" y="2585043"/>
                </a:lnTo>
                <a:lnTo>
                  <a:pt x="7855325" y="2580247"/>
                </a:lnTo>
                <a:lnTo>
                  <a:pt x="7805815" y="2576806"/>
                </a:lnTo>
                <a:lnTo>
                  <a:pt x="7756082" y="2574732"/>
                </a:lnTo>
                <a:lnTo>
                  <a:pt x="7706149" y="2574038"/>
                </a:lnTo>
                <a:lnTo>
                  <a:pt x="7657585" y="2574683"/>
                </a:lnTo>
                <a:lnTo>
                  <a:pt x="7609341" y="2576604"/>
                </a:lnTo>
                <a:lnTo>
                  <a:pt x="7561432" y="2579787"/>
                </a:lnTo>
                <a:lnTo>
                  <a:pt x="7513876" y="2584215"/>
                </a:lnTo>
                <a:lnTo>
                  <a:pt x="7466688" y="2589872"/>
                </a:lnTo>
                <a:lnTo>
                  <a:pt x="7419885" y="2596742"/>
                </a:lnTo>
                <a:lnTo>
                  <a:pt x="7373483" y="2604807"/>
                </a:lnTo>
                <a:lnTo>
                  <a:pt x="7327498" y="2614053"/>
                </a:lnTo>
                <a:lnTo>
                  <a:pt x="7281946" y="2624462"/>
                </a:lnTo>
                <a:lnTo>
                  <a:pt x="7236844" y="2636019"/>
                </a:lnTo>
                <a:lnTo>
                  <a:pt x="7192207" y="2648707"/>
                </a:lnTo>
                <a:lnTo>
                  <a:pt x="7148053" y="2662511"/>
                </a:lnTo>
                <a:lnTo>
                  <a:pt x="7104397" y="2677412"/>
                </a:lnTo>
                <a:lnTo>
                  <a:pt x="7061256" y="2693397"/>
                </a:lnTo>
                <a:lnTo>
                  <a:pt x="7018645" y="2710448"/>
                </a:lnTo>
                <a:lnTo>
                  <a:pt x="6976582" y="2728548"/>
                </a:lnTo>
                <a:lnTo>
                  <a:pt x="6935081" y="2747683"/>
                </a:lnTo>
                <a:lnTo>
                  <a:pt x="6894160" y="2767834"/>
                </a:lnTo>
                <a:lnTo>
                  <a:pt x="6853835" y="2788987"/>
                </a:lnTo>
                <a:lnTo>
                  <a:pt x="6814122" y="2811125"/>
                </a:lnTo>
                <a:lnTo>
                  <a:pt x="6775037" y="2834232"/>
                </a:lnTo>
                <a:lnTo>
                  <a:pt x="6736596" y="2858291"/>
                </a:lnTo>
                <a:lnTo>
                  <a:pt x="6698816" y="2883287"/>
                </a:lnTo>
                <a:lnTo>
                  <a:pt x="6661713" y="2909202"/>
                </a:lnTo>
                <a:lnTo>
                  <a:pt x="6625303" y="2936021"/>
                </a:lnTo>
                <a:lnTo>
                  <a:pt x="6589603" y="2963728"/>
                </a:lnTo>
                <a:lnTo>
                  <a:pt x="6554628" y="2992305"/>
                </a:lnTo>
                <a:lnTo>
                  <a:pt x="6520395" y="3021738"/>
                </a:lnTo>
                <a:lnTo>
                  <a:pt x="6486920" y="3052009"/>
                </a:lnTo>
                <a:lnTo>
                  <a:pt x="6454219" y="3083103"/>
                </a:lnTo>
                <a:lnTo>
                  <a:pt x="6422309" y="3115003"/>
                </a:lnTo>
                <a:lnTo>
                  <a:pt x="6391206" y="3147693"/>
                </a:lnTo>
                <a:lnTo>
                  <a:pt x="6360925" y="3181156"/>
                </a:lnTo>
                <a:lnTo>
                  <a:pt x="6331484" y="3215377"/>
                </a:lnTo>
                <a:lnTo>
                  <a:pt x="6302899" y="3250339"/>
                </a:lnTo>
                <a:lnTo>
                  <a:pt x="6275185" y="3286026"/>
                </a:lnTo>
                <a:lnTo>
                  <a:pt x="6248359" y="3322422"/>
                </a:lnTo>
                <a:lnTo>
                  <a:pt x="6222437" y="3359510"/>
                </a:lnTo>
                <a:lnTo>
                  <a:pt x="6197436" y="3397274"/>
                </a:lnTo>
                <a:lnTo>
                  <a:pt x="6173371" y="3435698"/>
                </a:lnTo>
                <a:lnTo>
                  <a:pt x="6150260" y="3474766"/>
                </a:lnTo>
                <a:lnTo>
                  <a:pt x="6128117" y="3514461"/>
                </a:lnTo>
                <a:lnTo>
                  <a:pt x="6106960" y="3554767"/>
                </a:lnTo>
                <a:lnTo>
                  <a:pt x="6086804" y="3595668"/>
                </a:lnTo>
                <a:lnTo>
                  <a:pt x="6067667" y="3637148"/>
                </a:lnTo>
                <a:lnTo>
                  <a:pt x="6049563" y="3679190"/>
                </a:lnTo>
                <a:lnTo>
                  <a:pt x="6032509" y="3721778"/>
                </a:lnTo>
                <a:lnTo>
                  <a:pt x="6016523" y="3764896"/>
                </a:lnTo>
                <a:lnTo>
                  <a:pt x="6001619" y="3808527"/>
                </a:lnTo>
                <a:lnTo>
                  <a:pt x="5987814" y="3852656"/>
                </a:lnTo>
                <a:lnTo>
                  <a:pt x="5975124" y="3897266"/>
                </a:lnTo>
                <a:lnTo>
                  <a:pt x="5963566" y="3942341"/>
                </a:lnTo>
                <a:lnTo>
                  <a:pt x="5953155" y="3987864"/>
                </a:lnTo>
                <a:lnTo>
                  <a:pt x="5943909" y="4033820"/>
                </a:lnTo>
                <a:lnTo>
                  <a:pt x="5935842" y="4080192"/>
                </a:lnTo>
                <a:lnTo>
                  <a:pt x="5928972" y="4126964"/>
                </a:lnTo>
                <a:lnTo>
                  <a:pt x="5923315" y="4174119"/>
                </a:lnTo>
                <a:lnTo>
                  <a:pt x="5918887" y="4221641"/>
                </a:lnTo>
                <a:lnTo>
                  <a:pt x="5915704" y="4269515"/>
                </a:lnTo>
                <a:lnTo>
                  <a:pt x="5913782" y="4317723"/>
                </a:lnTo>
                <a:lnTo>
                  <a:pt x="5913137" y="4366250"/>
                </a:lnTo>
                <a:lnTo>
                  <a:pt x="5913713" y="4416647"/>
                </a:lnTo>
                <a:lnTo>
                  <a:pt x="5915710" y="4466942"/>
                </a:lnTo>
                <a:lnTo>
                  <a:pt x="5919124" y="4517105"/>
                </a:lnTo>
                <a:lnTo>
                  <a:pt x="5923950" y="4567106"/>
                </a:lnTo>
                <a:lnTo>
                  <a:pt x="5930181" y="4616914"/>
                </a:lnTo>
                <a:lnTo>
                  <a:pt x="5937812" y="4666500"/>
                </a:lnTo>
                <a:lnTo>
                  <a:pt x="5946839" y="4715833"/>
                </a:lnTo>
                <a:lnTo>
                  <a:pt x="5957254" y="4764883"/>
                </a:lnTo>
                <a:lnTo>
                  <a:pt x="5969053" y="4813621"/>
                </a:lnTo>
                <a:lnTo>
                  <a:pt x="5982230" y="4862016"/>
                </a:lnTo>
                <a:lnTo>
                  <a:pt x="5996780" y="4910038"/>
                </a:lnTo>
                <a:lnTo>
                  <a:pt x="6012697" y="4957657"/>
                </a:lnTo>
                <a:lnTo>
                  <a:pt x="6029975" y="5004843"/>
                </a:lnTo>
                <a:lnTo>
                  <a:pt x="6048609" y="5051566"/>
                </a:lnTo>
                <a:lnTo>
                  <a:pt x="6068594" y="5097795"/>
                </a:lnTo>
                <a:lnTo>
                  <a:pt x="6089924" y="514350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76" name="bg object 18" descr=""/>
          <p:cNvPicPr/>
          <p:nvPr/>
        </p:nvPicPr>
        <p:blipFill>
          <a:blip r:embed="rId5"/>
          <a:stretch/>
        </p:blipFill>
        <p:spPr>
          <a:xfrm>
            <a:off x="8714160" y="146160"/>
            <a:ext cx="284760" cy="230040"/>
          </a:xfrm>
          <a:prstGeom prst="rect">
            <a:avLst/>
          </a:prstGeom>
          <a:ln w="0">
            <a:noFill/>
          </a:ln>
        </p:spPr>
      </p:pic>
      <p:pic>
        <p:nvPicPr>
          <p:cNvPr id="177" name="bg object 19" descr=""/>
          <p:cNvPicPr/>
          <p:nvPr/>
        </p:nvPicPr>
        <p:blipFill>
          <a:blip r:embed="rId6"/>
          <a:stretch/>
        </p:blipFill>
        <p:spPr>
          <a:xfrm>
            <a:off x="511200" y="227520"/>
            <a:ext cx="1270080" cy="112680"/>
          </a:xfrm>
          <a:prstGeom prst="rect">
            <a:avLst/>
          </a:prstGeom>
          <a:ln w="0">
            <a:noFill/>
          </a:ln>
        </p:spPr>
      </p:pic>
      <p:sp>
        <p:nvSpPr>
          <p:cNvPr id="178" name="PlaceHolder 1"/>
          <p:cNvSpPr>
            <a:spLocks noGrp="1"/>
          </p:cNvSpPr>
          <p:nvPr>
            <p:ph type="ftr" idx="13"/>
          </p:nvPr>
        </p:nvSpPr>
        <p:spPr>
          <a:xfrm>
            <a:off x="3108960" y="4783320"/>
            <a:ext cx="2923200" cy="25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fr-FR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fr-FR" sz="1400" spc="-1" strike="noStrike">
                <a:latin typeface="Times New Roman"/>
              </a:rPr>
              <a:t>&lt;pied de page&gt;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ldNum" idx="14"/>
          </p:nvPr>
        </p:nvSpPr>
        <p:spPr>
          <a:xfrm>
            <a:off x="8701560" y="4908600"/>
            <a:ext cx="26208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99B97B7-89DB-48D5-81CD-AA81E43E5284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dt" idx="15"/>
          </p:nvPr>
        </p:nvSpPr>
        <p:spPr>
          <a:xfrm>
            <a:off x="457200" y="4783320"/>
            <a:ext cx="2100240" cy="25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fr-FR" sz="1400" spc="-1" strike="noStrike">
                <a:latin typeface="Times New Roman"/>
              </a:defRPr>
            </a:lvl1pPr>
          </a:lstStyle>
          <a:p>
            <a:r>
              <a:rPr b="0" lang="fr-FR" sz="1400" spc="-1" strike="noStrike">
                <a:latin typeface="Times New Roman"/>
              </a:rPr>
              <a:t>&lt;date/heure&gt;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Cliquez pour éditer le format 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182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mailto:brahim.hamdi.consult@gmail.com" TargetMode="External"/><Relationship Id="rId2" Type="http://schemas.openxmlformats.org/officeDocument/2006/relationships/image" Target="../media/image15.jpe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jpe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2.jpeg"/><Relationship Id="rId2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3.jpeg"/><Relationship Id="rId2" Type="http://schemas.openxmlformats.org/officeDocument/2006/relationships/image" Target="../media/image24.jpeg"/><Relationship Id="rId3" Type="http://schemas.openxmlformats.org/officeDocument/2006/relationships/image" Target="../media/image25.jpeg"/><Relationship Id="rId4" Type="http://schemas.openxmlformats.org/officeDocument/2006/relationships/image" Target="../media/image26.jpeg"/><Relationship Id="rId5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7.jpe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9.jpeg"/><Relationship Id="rId2" Type="http://schemas.openxmlformats.org/officeDocument/2006/relationships/image" Target="../media/image30.jpeg"/><Relationship Id="rId3" Type="http://schemas.openxmlformats.org/officeDocument/2006/relationships/image" Target="../media/image31.jpeg"/><Relationship Id="rId4" Type="http://schemas.openxmlformats.org/officeDocument/2006/relationships/hyperlink" Target="https://kubernetes.io/" TargetMode="External"/><Relationship Id="rId5" Type="http://schemas.openxmlformats.org/officeDocument/2006/relationships/hyperlink" Target="https://kubernetes.io/" TargetMode="External"/><Relationship Id="rId6" Type="http://schemas.openxmlformats.org/officeDocument/2006/relationships/hyperlink" Target="https://www.nomadproject.io/use-cases/simple-container-orchestration" TargetMode="External"/><Relationship Id="rId7" Type="http://schemas.openxmlformats.org/officeDocument/2006/relationships/hyperlink" Target="https://docs.docker.com/engine/" TargetMode="External"/><Relationship Id="rId8" Type="http://schemas.openxmlformats.org/officeDocument/2006/relationships/hyperlink" Target="https://docs.docker.com/engine/" TargetMode="External"/><Relationship Id="rId9" Type="http://schemas.openxmlformats.org/officeDocument/2006/relationships/hyperlink" Target="https://docs.docker.com/engine/" TargetMode="External"/><Relationship Id="rId10" Type="http://schemas.openxmlformats.org/officeDocument/2006/relationships/hyperlink" Target="https://docs.docker.com/engine/" TargetMode="External"/><Relationship Id="rId11" Type="http://schemas.openxmlformats.org/officeDocument/2006/relationships/hyperlink" Target="https://containerd.io/" TargetMode="External"/><Relationship Id="rId1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2.jpeg"/><Relationship Id="rId2" Type="http://schemas.openxmlformats.org/officeDocument/2006/relationships/image" Target="../media/image33.jpeg"/><Relationship Id="rId3" Type="http://schemas.openxmlformats.org/officeDocument/2006/relationships/image" Target="../media/image34.jpeg"/><Relationship Id="rId4" Type="http://schemas.openxmlformats.org/officeDocument/2006/relationships/hyperlink" Target="https://hub.docker.com/" TargetMode="External"/><Relationship Id="rId5" Type="http://schemas.openxmlformats.org/officeDocument/2006/relationships/hyperlink" Target="https://hub.docker.com/" TargetMode="External"/><Relationship Id="rId6" Type="http://schemas.openxmlformats.org/officeDocument/2006/relationships/hyperlink" Target="https://hub.docker.com/" TargetMode="External"/><Relationship Id="rId7" Type="http://schemas.openxmlformats.org/officeDocument/2006/relationships/hyperlink" Target="https://hub.docker.com/" TargetMode="External"/><Relationship Id="rId8" Type="http://schemas.openxmlformats.org/officeDocument/2006/relationships/hyperlink" Target="https://cloud.google.com/container-registry" TargetMode="External"/><Relationship Id="rId9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5.jpeg"/><Relationship Id="rId2" Type="http://schemas.openxmlformats.org/officeDocument/2006/relationships/slideLayout" Target="../slideLayouts/slideLayout2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docs.docker.com/engine/reference/builder/" TargetMode="External"/><Relationship Id="rId2" Type="http://schemas.openxmlformats.org/officeDocument/2006/relationships/slideLayout" Target="../slideLayouts/slideLayout3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slideLayout" Target="../slideLayouts/slideLayout3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40.png"/><Relationship Id="rId3" Type="http://schemas.openxmlformats.org/officeDocument/2006/relationships/slideLayout" Target="../slideLayouts/slideLayout3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slideLayout" Target="../slideLayouts/slideLayout3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image" Target="../media/image43.png"/><Relationship Id="rId3" Type="http://schemas.openxmlformats.org/officeDocument/2006/relationships/slideLayout" Target="../slideLayouts/slideLayout3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slideLayout" Target="../slideLayouts/slideLayout3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slideLayout" Target="../slideLayouts/slideLayout3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3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0.jpeg"/><Relationship Id="rId2" Type="http://schemas.openxmlformats.org/officeDocument/2006/relationships/image" Target="../media/image51.png"/><Relationship Id="rId3" Type="http://schemas.openxmlformats.org/officeDocument/2006/relationships/slideLayout" Target="../slideLayouts/slideLayout2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52.jpeg"/><Relationship Id="rId2" Type="http://schemas.openxmlformats.org/officeDocument/2006/relationships/slideLayout" Target="../slideLayouts/slideLayout2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3.jpeg"/><Relationship Id="rId2" Type="http://schemas.openxmlformats.org/officeDocument/2006/relationships/slideLayout" Target="../slideLayouts/slideLayout2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54.jpeg"/><Relationship Id="rId2" Type="http://schemas.openxmlformats.org/officeDocument/2006/relationships/slideLayout" Target="../slideLayouts/slideLayout2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slideLayout" Target="../slideLayouts/slideLayout3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slideLayout" Target="../slideLayouts/slideLayout3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63.png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slideLayout" Target="../slideLayouts/slideLayout3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66.jpeg"/><Relationship Id="rId2" Type="http://schemas.openxmlformats.org/officeDocument/2006/relationships/image" Target="../media/image67.png"/><Relationship Id="rId3" Type="http://schemas.openxmlformats.org/officeDocument/2006/relationships/slideLayout" Target="../slideLayouts/slideLayout25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68.png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slideLayout" Target="../slideLayouts/slideLayout3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71.jpeg"/><Relationship Id="rId2" Type="http://schemas.openxmlformats.org/officeDocument/2006/relationships/slideLayout" Target="../slideLayouts/slideLayout25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72.png"/><Relationship Id="rId2" Type="http://schemas.openxmlformats.org/officeDocument/2006/relationships/image" Target="../media/image73.png"/><Relationship Id="rId3" Type="http://schemas.openxmlformats.org/officeDocument/2006/relationships/slideLayout" Target="../slideLayouts/slideLayout37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74.jpeg"/><Relationship Id="rId2" Type="http://schemas.openxmlformats.org/officeDocument/2006/relationships/slideLayout" Target="../slideLayouts/slideLayout25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75.png"/><Relationship Id="rId2" Type="http://schemas.openxmlformats.org/officeDocument/2006/relationships/image" Target="../media/image76.png"/><Relationship Id="rId3" Type="http://schemas.openxmlformats.org/officeDocument/2006/relationships/slideLayout" Target="../slideLayouts/slideLayout37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77.png"/><Relationship Id="rId2" Type="http://schemas.openxmlformats.org/officeDocument/2006/relationships/image" Target="../media/image78.png"/><Relationship Id="rId3" Type="http://schemas.openxmlformats.org/officeDocument/2006/relationships/slideLayout" Target="../slideLayouts/slideLayout1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79.png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slideLayout" Target="../slideLayouts/slideLayout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82.png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slideLayout" Target="../slideLayouts/slideLayout13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85.png"/><Relationship Id="rId2" Type="http://schemas.openxmlformats.org/officeDocument/2006/relationships/slideLayout" Target="../slideLayouts/slideLayout37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86.jpeg"/><Relationship Id="rId2" Type="http://schemas.openxmlformats.org/officeDocument/2006/relationships/image" Target="../media/image87.png"/><Relationship Id="rId3" Type="http://schemas.openxmlformats.org/officeDocument/2006/relationships/slideLayout" Target="../slideLayouts/slideLayout25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88.jpeg"/><Relationship Id="rId2" Type="http://schemas.openxmlformats.org/officeDocument/2006/relationships/slideLayout" Target="../slideLayouts/slideLayout25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89.png"/><Relationship Id="rId2" Type="http://schemas.openxmlformats.org/officeDocument/2006/relationships/image" Target="../media/image90.png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slideLayout" Target="../slideLayouts/slideLayout13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93.png"/><Relationship Id="rId2" Type="http://schemas.openxmlformats.org/officeDocument/2006/relationships/slideLayout" Target="../slideLayouts/slideLayout37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94.png"/><Relationship Id="rId2" Type="http://schemas.openxmlformats.org/officeDocument/2006/relationships/slideLayout" Target="../slideLayouts/slideLayout37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95.png"/><Relationship Id="rId2" Type="http://schemas.openxmlformats.org/officeDocument/2006/relationships/image" Target="../media/image96.png"/><Relationship Id="rId3" Type="http://schemas.openxmlformats.org/officeDocument/2006/relationships/image" Target="../media/image97.jpeg"/><Relationship Id="rId4" Type="http://schemas.openxmlformats.org/officeDocument/2006/relationships/slideLayout" Target="../slideLayouts/slideLayout4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98.png"/><Relationship Id="rId2" Type="http://schemas.openxmlformats.org/officeDocument/2006/relationships/image" Target="../media/image99.png"/><Relationship Id="rId3" Type="http://schemas.openxmlformats.org/officeDocument/2006/relationships/image" Target="../media/image100.jpeg"/><Relationship Id="rId4" Type="http://schemas.openxmlformats.org/officeDocument/2006/relationships/slideLayout" Target="../slideLayouts/slideLayout4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101.jpeg"/><Relationship Id="rId2" Type="http://schemas.openxmlformats.org/officeDocument/2006/relationships/slideLayout" Target="../slideLayouts/slideLayout37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102.jpeg"/><Relationship Id="rId2" Type="http://schemas.openxmlformats.org/officeDocument/2006/relationships/slideLayout" Target="../slideLayouts/slideLayout25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103.png"/><Relationship Id="rId2" Type="http://schemas.openxmlformats.org/officeDocument/2006/relationships/image" Target="../media/image104.png"/><Relationship Id="rId3" Type="http://schemas.openxmlformats.org/officeDocument/2006/relationships/image" Target="../media/image105.png"/><Relationship Id="rId4" Type="http://schemas.openxmlformats.org/officeDocument/2006/relationships/slideLayout" Target="../slideLayouts/slideLayout37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06.png"/><Relationship Id="rId2" Type="http://schemas.openxmlformats.org/officeDocument/2006/relationships/slideLayout" Target="../slideLayouts/slideLayout37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107.jpeg"/><Relationship Id="rId2" Type="http://schemas.openxmlformats.org/officeDocument/2006/relationships/image" Target="../media/image108.png"/><Relationship Id="rId3" Type="http://schemas.openxmlformats.org/officeDocument/2006/relationships/slideLayout" Target="../slideLayouts/slideLayout2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109.jpeg"/><Relationship Id="rId2" Type="http://schemas.openxmlformats.org/officeDocument/2006/relationships/slideLayout" Target="../slideLayouts/slideLayout25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110.png"/><Relationship Id="rId2" Type="http://schemas.openxmlformats.org/officeDocument/2006/relationships/image" Target="../media/image111.png"/><Relationship Id="rId3" Type="http://schemas.openxmlformats.org/officeDocument/2006/relationships/image" Target="../media/image112.png"/><Relationship Id="rId4" Type="http://schemas.openxmlformats.org/officeDocument/2006/relationships/slideLayout" Target="../slideLayouts/slideLayout37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113.png"/><Relationship Id="rId2" Type="http://schemas.openxmlformats.org/officeDocument/2006/relationships/slideLayout" Target="../slideLayouts/slideLayout37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114.jpeg"/><Relationship Id="rId2" Type="http://schemas.openxmlformats.org/officeDocument/2006/relationships/slideLayout" Target="../slideLayouts/slideLayout25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image" Target="../media/image115.png"/><Relationship Id="rId2" Type="http://schemas.openxmlformats.org/officeDocument/2006/relationships/slideLayout" Target="../slideLayouts/slideLayout37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image" Target="../media/image116.png"/><Relationship Id="rId2" Type="http://schemas.openxmlformats.org/officeDocument/2006/relationships/slideLayout" Target="../slideLayouts/slideLayout37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image" Target="../media/image117.png"/><Relationship Id="rId2" Type="http://schemas.openxmlformats.org/officeDocument/2006/relationships/image" Target="../media/image118.png"/><Relationship Id="rId3" Type="http://schemas.openxmlformats.org/officeDocument/2006/relationships/slideLayout" Target="../slideLayouts/slideLayout37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image" Target="../media/image119.png"/><Relationship Id="rId2" Type="http://schemas.openxmlformats.org/officeDocument/2006/relationships/slideLayout" Target="../slideLayouts/slideLayout3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image" Target="../media/image120.png"/><Relationship Id="rId2" Type="http://schemas.openxmlformats.org/officeDocument/2006/relationships/slideLayout" Target="../slideLayouts/slideLayout37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image" Target="../media/image121.png"/><Relationship Id="rId2" Type="http://schemas.openxmlformats.org/officeDocument/2006/relationships/image" Target="../media/image122.png"/><Relationship Id="rId3" Type="http://schemas.openxmlformats.org/officeDocument/2006/relationships/slideLayout" Target="../slideLayouts/slideLayout37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image" Target="../media/image123.png"/><Relationship Id="rId2" Type="http://schemas.openxmlformats.org/officeDocument/2006/relationships/image" Target="../media/image124.png"/><Relationship Id="rId3" Type="http://schemas.openxmlformats.org/officeDocument/2006/relationships/slideLayout" Target="../slideLayouts/slideLayout13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image" Target="../media/image125.png"/><Relationship Id="rId2" Type="http://schemas.openxmlformats.org/officeDocument/2006/relationships/image" Target="../media/image126.png"/><Relationship Id="rId3" Type="http://schemas.openxmlformats.org/officeDocument/2006/relationships/slideLayout" Target="../slideLayouts/slideLayout37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image" Target="../media/image127.jpeg"/><Relationship Id="rId2" Type="http://schemas.openxmlformats.org/officeDocument/2006/relationships/image" Target="../media/image128.png"/><Relationship Id="rId3" Type="http://schemas.openxmlformats.org/officeDocument/2006/relationships/slideLayout" Target="../slideLayouts/slideLayout25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image" Target="../media/image129.jpeg"/><Relationship Id="rId2" Type="http://schemas.openxmlformats.org/officeDocument/2006/relationships/image" Target="../media/image130.jpeg"/><Relationship Id="rId3" Type="http://schemas.openxmlformats.org/officeDocument/2006/relationships/image" Target="../media/image131.jpeg"/><Relationship Id="rId4" Type="http://schemas.openxmlformats.org/officeDocument/2006/relationships/image" Target="../media/image132.jpeg"/><Relationship Id="rId5" Type="http://schemas.openxmlformats.org/officeDocument/2006/relationships/slideLayout" Target="../slideLayouts/slideLayout13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image" Target="../media/image133.jpeg"/><Relationship Id="rId2" Type="http://schemas.openxmlformats.org/officeDocument/2006/relationships/slideLayout" Target="../slideLayouts/slideLayout25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image" Target="../media/image134.png"/><Relationship Id="rId2" Type="http://schemas.openxmlformats.org/officeDocument/2006/relationships/slideLayout" Target="../slideLayouts/slideLayout3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image" Target="../media/image135.png"/><Relationship Id="rId2" Type="http://schemas.openxmlformats.org/officeDocument/2006/relationships/slideLayout" Target="../slideLayouts/slideLayout37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image" Target="../media/image136.jpeg"/><Relationship Id="rId2" Type="http://schemas.openxmlformats.org/officeDocument/2006/relationships/slideLayout" Target="../slideLayouts/slideLayout25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image" Target="../media/image137.png"/><Relationship Id="rId2" Type="http://schemas.openxmlformats.org/officeDocument/2006/relationships/slideLayout" Target="../slideLayouts/slideLayout37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image" Target="../media/image138.png"/><Relationship Id="rId2" Type="http://schemas.openxmlformats.org/officeDocument/2006/relationships/slideLayout" Target="../slideLayouts/slideLayout37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image" Target="../media/image139.png"/><Relationship Id="rId2" Type="http://schemas.openxmlformats.org/officeDocument/2006/relationships/slideLayout" Target="../slideLayouts/slideLayout37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image" Target="../media/image140.jpeg"/><Relationship Id="rId2" Type="http://schemas.openxmlformats.org/officeDocument/2006/relationships/slideLayout" Target="../slideLayouts/slideLayout25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image" Target="../media/image141.jpeg"/><Relationship Id="rId2" Type="http://schemas.openxmlformats.org/officeDocument/2006/relationships/slideLayout" Target="../slideLayouts/slideLayout25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image" Target="../media/image142.jpeg"/><Relationship Id="rId2" Type="http://schemas.openxmlformats.org/officeDocument/2006/relationships/slideLayout" Target="../slideLayouts/slideLayout2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image" Target="../media/image143.jpeg"/><Relationship Id="rId2" Type="http://schemas.openxmlformats.org/officeDocument/2006/relationships/image" Target="../media/image144.png"/><Relationship Id="rId3" Type="http://schemas.openxmlformats.org/officeDocument/2006/relationships/slideLayout" Target="../slideLayouts/slideLayout25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image" Target="../media/image145.jpeg"/><Relationship Id="rId2" Type="http://schemas.openxmlformats.org/officeDocument/2006/relationships/slideLayout" Target="../slideLayouts/slideLayout25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image" Target="../media/image146.png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slideLayout" Target="../slideLayouts/slideLayout37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image" Target="../media/image149.png"/><Relationship Id="rId2" Type="http://schemas.openxmlformats.org/officeDocument/2006/relationships/slideLayout" Target="../slideLayouts/slideLayout37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hyperlink" Target="https://kubernetes.io/docs/concepts/overview/working-with-objects/common-labels/" TargetMode="External"/><Relationship Id="rId2" Type="http://schemas.openxmlformats.org/officeDocument/2006/relationships/hyperlink" Target="https://kubernetes.io/docs/concepts/overview/working-with-objects/common-labels/" TargetMode="External"/><Relationship Id="rId3" Type="http://schemas.openxmlformats.org/officeDocument/2006/relationships/hyperlink" Target="https://kubernetes.io/docs/concepts/overview/working-with-objects/common-labels/" TargetMode="External"/><Relationship Id="rId4" Type="http://schemas.openxmlformats.org/officeDocument/2006/relationships/hyperlink" Target="https://kubernetes.io/docs/concepts/overview/working-with-objects/common-labels/" TargetMode="External"/><Relationship Id="rId5" Type="http://schemas.openxmlformats.org/officeDocument/2006/relationships/image" Target="../media/image150.png"/><Relationship Id="rId6" Type="http://schemas.openxmlformats.org/officeDocument/2006/relationships/slideLayout" Target="../slideLayouts/slideLayout37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image" Target="../media/image151.jpeg"/><Relationship Id="rId2" Type="http://schemas.openxmlformats.org/officeDocument/2006/relationships/slideLayout" Target="../slideLayouts/slideLayout25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image" Target="../media/image152.png"/><Relationship Id="rId2" Type="http://schemas.openxmlformats.org/officeDocument/2006/relationships/image" Target="../media/image153.png"/><Relationship Id="rId3" Type="http://schemas.openxmlformats.org/officeDocument/2006/relationships/image" Target="../media/image154.png"/><Relationship Id="rId4" Type="http://schemas.openxmlformats.org/officeDocument/2006/relationships/image" Target="../media/image155.png"/><Relationship Id="rId5" Type="http://schemas.openxmlformats.org/officeDocument/2006/relationships/slideLayout" Target="../slideLayouts/slideLayout37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image" Target="../media/image156.png"/><Relationship Id="rId2" Type="http://schemas.openxmlformats.org/officeDocument/2006/relationships/slideLayout" Target="../slideLayouts/slideLayout37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image" Target="../media/image157.jpeg"/><Relationship Id="rId2" Type="http://schemas.openxmlformats.org/officeDocument/2006/relationships/slideLayout" Target="../slideLayouts/slideLayout25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image" Target="../media/image158.png"/><Relationship Id="rId2" Type="http://schemas.openxmlformats.org/officeDocument/2006/relationships/image" Target="../media/image159.png"/><Relationship Id="rId3" Type="http://schemas.openxmlformats.org/officeDocument/2006/relationships/image" Target="../media/image160.png"/><Relationship Id="rId4" Type="http://schemas.openxmlformats.org/officeDocument/2006/relationships/slideLayout" Target="../slideLayouts/slideLayout37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image" Target="../media/image161.png"/><Relationship Id="rId2" Type="http://schemas.openxmlformats.org/officeDocument/2006/relationships/slideLayout" Target="../slideLayouts/slideLayout37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hyperlink" Target="https://kubernetes.io/docs/reference/labels-annotations-taints/" TargetMode="External"/><Relationship Id="rId2" Type="http://schemas.openxmlformats.org/officeDocument/2006/relationships/hyperlink" Target="https://kubernetes.io/docs/reference/labels-annotations-taints/" TargetMode="External"/><Relationship Id="rId3" Type="http://schemas.openxmlformats.org/officeDocument/2006/relationships/hyperlink" Target="https://kubernetes.io/docs/reference/labels-annotations-taints/" TargetMode="External"/><Relationship Id="rId4" Type="http://schemas.openxmlformats.org/officeDocument/2006/relationships/hyperlink" Target="https://kubernetes.io/docs/reference/labels-annotations-taints/" TargetMode="External"/><Relationship Id="rId5" Type="http://schemas.openxmlformats.org/officeDocument/2006/relationships/image" Target="../media/image162.png"/><Relationship Id="rId6" Type="http://schemas.openxmlformats.org/officeDocument/2006/relationships/slideLayout" Target="../slideLayouts/slideLayout37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image" Target="../media/image163.jpeg"/><Relationship Id="rId2" Type="http://schemas.openxmlformats.org/officeDocument/2006/relationships/slideLayout" Target="../slideLayouts/slideLayout25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image" Target="../media/image164.jpeg"/><Relationship Id="rId2" Type="http://schemas.openxmlformats.org/officeDocument/2006/relationships/slideLayout" Target="../slideLayouts/slideLayout25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image" Target="../media/image165.png"/><Relationship Id="rId2" Type="http://schemas.openxmlformats.org/officeDocument/2006/relationships/image" Target="../media/image166.png"/><Relationship Id="rId3" Type="http://schemas.openxmlformats.org/officeDocument/2006/relationships/slideLayout" Target="../slideLayouts/slideLayout37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image" Target="../media/image167.png"/><Relationship Id="rId2" Type="http://schemas.openxmlformats.org/officeDocument/2006/relationships/slideLayout" Target="../slideLayouts/slideLayout37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image" Target="../media/image168.png"/><Relationship Id="rId2" Type="http://schemas.openxmlformats.org/officeDocument/2006/relationships/slideLayout" Target="../slideLayouts/slideLayout37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image" Target="../media/image169.png"/><Relationship Id="rId2" Type="http://schemas.openxmlformats.org/officeDocument/2006/relationships/slideLayout" Target="../slideLayouts/slideLayout37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image" Target="../media/image170.png"/><Relationship Id="rId2" Type="http://schemas.openxmlformats.org/officeDocument/2006/relationships/slideLayout" Target="../slideLayouts/slideLayout37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image" Target="../media/image171.jpeg"/><Relationship Id="rId2" Type="http://schemas.openxmlformats.org/officeDocument/2006/relationships/slideLayout" Target="../slideLayouts/slideLayout25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image" Target="../media/image172.png"/><Relationship Id="rId2" Type="http://schemas.openxmlformats.org/officeDocument/2006/relationships/image" Target="../media/image173.png"/><Relationship Id="rId3" Type="http://schemas.openxmlformats.org/officeDocument/2006/relationships/slideLayout" Target="../slideLayouts/slideLayout37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image" Target="../media/image174.png"/><Relationship Id="rId2" Type="http://schemas.openxmlformats.org/officeDocument/2006/relationships/image" Target="../media/image175.png"/><Relationship Id="rId3" Type="http://schemas.openxmlformats.org/officeDocument/2006/relationships/slideLayout" Target="../slideLayouts/slideLayout37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image" Target="../media/image176.png"/><Relationship Id="rId2" Type="http://schemas.openxmlformats.org/officeDocument/2006/relationships/image" Target="../media/image177.png"/><Relationship Id="rId3" Type="http://schemas.openxmlformats.org/officeDocument/2006/relationships/slideLayout" Target="../slideLayouts/slideLayout37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image" Target="../media/image178.jpeg"/><Relationship Id="rId2" Type="http://schemas.openxmlformats.org/officeDocument/2006/relationships/slideLayout" Target="../slideLayouts/slideLayout25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image" Target="../media/image179.png"/><Relationship Id="rId2" Type="http://schemas.openxmlformats.org/officeDocument/2006/relationships/slideLayout" Target="../slideLayouts/slideLayout37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hyperlink" Target="https://github.com/kubernetes-sigs/metrics-server" TargetMode="External"/><Relationship Id="rId2" Type="http://schemas.openxmlformats.org/officeDocument/2006/relationships/hyperlink" Target="https://github.com/kubernetes-sigs/metrics-server" TargetMode="External"/><Relationship Id="rId3" Type="http://schemas.openxmlformats.org/officeDocument/2006/relationships/slideLayout" Target="../slideLayouts/slideLayout37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image" Target="../media/image180.jpeg"/><Relationship Id="rId2" Type="http://schemas.openxmlformats.org/officeDocument/2006/relationships/slideLayout" Target="../slideLayouts/slideLayout25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image" Target="../media/image181.jpeg"/><Relationship Id="rId2" Type="http://schemas.openxmlformats.org/officeDocument/2006/relationships/slideLayout" Target="../slideLayouts/slideLayout25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image" Target="../media/image182.png"/><Relationship Id="rId2" Type="http://schemas.openxmlformats.org/officeDocument/2006/relationships/slideLayout" Target="../slideLayouts/slideLayout37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image" Target="../media/image183.png"/><Relationship Id="rId2" Type="http://schemas.openxmlformats.org/officeDocument/2006/relationships/image" Target="../media/image184.png"/><Relationship Id="rId3" Type="http://schemas.openxmlformats.org/officeDocument/2006/relationships/slideLayout" Target="../slideLayouts/slideLayout37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image" Target="../media/image185.jpeg"/><Relationship Id="rId2" Type="http://schemas.openxmlformats.org/officeDocument/2006/relationships/slideLayout" Target="../slideLayouts/slideLayout25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image" Target="../media/image186.png"/><Relationship Id="rId2" Type="http://schemas.openxmlformats.org/officeDocument/2006/relationships/slideLayout" Target="../slideLayouts/slideLayout37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image" Target="../media/image187.jpeg"/><Relationship Id="rId2" Type="http://schemas.openxmlformats.org/officeDocument/2006/relationships/slideLayout" Target="../slideLayouts/slideLayout25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image" Target="../media/image188.png"/><Relationship Id="rId2" Type="http://schemas.openxmlformats.org/officeDocument/2006/relationships/slideLayout" Target="../slideLayouts/slideLayout37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image" Target="../media/image189.jpeg"/><Relationship Id="rId2" Type="http://schemas.openxmlformats.org/officeDocument/2006/relationships/slideLayout" Target="../slideLayouts/slideLayout25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image" Target="../media/image190.png"/><Relationship Id="rId2" Type="http://schemas.openxmlformats.org/officeDocument/2006/relationships/slideLayout" Target="../slideLayouts/slideLayout37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image" Target="../media/image191.jpeg"/><Relationship Id="rId2" Type="http://schemas.openxmlformats.org/officeDocument/2006/relationships/slideLayout" Target="../slideLayouts/slideLayout25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image" Target="../media/image192.png"/><Relationship Id="rId2" Type="http://schemas.openxmlformats.org/officeDocument/2006/relationships/slideLayout" Target="../slideLayouts/slideLayout37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image" Target="../media/image193.jpeg"/><Relationship Id="rId2" Type="http://schemas.openxmlformats.org/officeDocument/2006/relationships/image" Target="../media/image194.png"/><Relationship Id="rId3" Type="http://schemas.openxmlformats.org/officeDocument/2006/relationships/image" Target="../media/image195.png"/><Relationship Id="rId4" Type="http://schemas.openxmlformats.org/officeDocument/2006/relationships/slideLayout" Target="../slideLayouts/slideLayout37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image" Target="../media/image196.jpeg"/><Relationship Id="rId2" Type="http://schemas.openxmlformats.org/officeDocument/2006/relationships/image" Target="../media/image197.png"/><Relationship Id="rId3" Type="http://schemas.openxmlformats.org/officeDocument/2006/relationships/slideLayout" Target="../slideLayouts/slideLayout25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hyperlink" Target="https://artifacthub.io/packages/search?kind=0" TargetMode="External"/><Relationship Id="rId2" Type="http://schemas.openxmlformats.org/officeDocument/2006/relationships/hyperlink" Target="https://artifacthub.io/packages/search?kind=0" TargetMode="External"/><Relationship Id="rId3" Type="http://schemas.openxmlformats.org/officeDocument/2006/relationships/image" Target="../media/image198.png"/><Relationship Id="rId4" Type="http://schemas.openxmlformats.org/officeDocument/2006/relationships/slideLayout" Target="../slideLayouts/slideLayout37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image" Target="../media/image199.png"/><Relationship Id="rId2" Type="http://schemas.openxmlformats.org/officeDocument/2006/relationships/image" Target="../media/image200.png"/><Relationship Id="rId3" Type="http://schemas.openxmlformats.org/officeDocument/2006/relationships/image" Target="../media/image201.png"/><Relationship Id="rId4" Type="http://schemas.openxmlformats.org/officeDocument/2006/relationships/slideLayout" Target="../slideLayouts/slideLayout37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image" Target="../media/image202.png"/><Relationship Id="rId2" Type="http://schemas.openxmlformats.org/officeDocument/2006/relationships/slideLayout" Target="../slideLayouts/slideLayout37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image" Target="../media/image203.png"/><Relationship Id="rId2" Type="http://schemas.openxmlformats.org/officeDocument/2006/relationships/slideLayout" Target="../slideLayouts/slideLayout37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hyperlink" Target="https://helm.sh/docs/chart_template_guide/builtin_objects/" TargetMode="External"/><Relationship Id="rId2" Type="http://schemas.openxmlformats.org/officeDocument/2006/relationships/hyperlink" Target="https://helm.sh/docs/chart_template_guide/builtin_objects/" TargetMode="External"/><Relationship Id="rId3" Type="http://schemas.openxmlformats.org/officeDocument/2006/relationships/hyperlink" Target="https://helm.sh/docs/chart_template_guide/builtin_objects/" TargetMode="External"/><Relationship Id="rId4" Type="http://schemas.openxmlformats.org/officeDocument/2006/relationships/hyperlink" Target="https://helm.sh/docs/chart_template_guide/builtin_objects/" TargetMode="External"/><Relationship Id="rId5" Type="http://schemas.openxmlformats.org/officeDocument/2006/relationships/slideLayout" Target="../slideLayouts/slideLayout37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image" Target="../media/image204.png"/><Relationship Id="rId2" Type="http://schemas.openxmlformats.org/officeDocument/2006/relationships/slideLayout" Target="../slideLayouts/slideLayout37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image" Target="../media/image205.png"/><Relationship Id="rId2" Type="http://schemas.openxmlformats.org/officeDocument/2006/relationships/slideLayout" Target="../slideLayouts/slideLayout37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image" Target="../media/image206.png"/><Relationship Id="rId2" Type="http://schemas.openxmlformats.org/officeDocument/2006/relationships/slideLayout" Target="../slideLayouts/slideLayout37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image" Target="../media/image207.png"/><Relationship Id="rId2" Type="http://schemas.openxmlformats.org/officeDocument/2006/relationships/image" Target="../media/image208.png"/><Relationship Id="rId3" Type="http://schemas.openxmlformats.org/officeDocument/2006/relationships/image" Target="../media/image209.png"/><Relationship Id="rId4" Type="http://schemas.openxmlformats.org/officeDocument/2006/relationships/slideLayout" Target="../slideLayouts/slideLayout37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image" Target="../media/image210.jpeg"/><Relationship Id="rId2" Type="http://schemas.openxmlformats.org/officeDocument/2006/relationships/slideLayout" Target="../slideLayouts/slideLayout25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image" Target="../media/image211.jpeg"/><Relationship Id="rId2" Type="http://schemas.openxmlformats.org/officeDocument/2006/relationships/image" Target="../media/image212.png"/><Relationship Id="rId3" Type="http://schemas.openxmlformats.org/officeDocument/2006/relationships/slideLayout" Target="../slideLayouts/slideLayout25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hyperlink" Target="https://kubernetes.io/blog/2021/07/20/new-kubernetes-release-cadence/" TargetMode="External"/><Relationship Id="rId2" Type="http://schemas.openxmlformats.org/officeDocument/2006/relationships/hyperlink" Target="https://kubernetes.io/blog/2021/07/20/new-kubernetes-release-cadence/" TargetMode="External"/><Relationship Id="rId3" Type="http://schemas.openxmlformats.org/officeDocument/2006/relationships/hyperlink" Target="https://kubernetes.io/blog/2021/07/20/new-kubernetes-release-cadence/" TargetMode="External"/><Relationship Id="rId4" Type="http://schemas.openxmlformats.org/officeDocument/2006/relationships/hyperlink" Target="https://kubernetes.io/docs/reference/using-api/deprecation-policy/" TargetMode="External"/><Relationship Id="rId5" Type="http://schemas.openxmlformats.org/officeDocument/2006/relationships/hyperlink" Target="https://kubernetes.io/docs/reference/using-api/deprecation-policy/" TargetMode="External"/><Relationship Id="rId6" Type="http://schemas.openxmlformats.org/officeDocument/2006/relationships/hyperlink" Target="https://kubernetes.io/docs/reference/using-api/deprecation-policy/" TargetMode="External"/><Relationship Id="rId7" Type="http://schemas.openxmlformats.org/officeDocument/2006/relationships/hyperlink" Target="https://kubernetes.io/docs/reference/using-api/deprecation-policy/" TargetMode="External"/><Relationship Id="rId8" Type="http://schemas.openxmlformats.org/officeDocument/2006/relationships/hyperlink" Target="https://kubernetes.io/docs/reference/using-api/deprecation-guide/" TargetMode="External"/><Relationship Id="rId9" Type="http://schemas.openxmlformats.org/officeDocument/2006/relationships/hyperlink" Target="https://kubernetes.io/docs/reference/using-api/deprecation-guide/" TargetMode="External"/><Relationship Id="rId10" Type="http://schemas.openxmlformats.org/officeDocument/2006/relationships/hyperlink" Target="https://kubernetes.io/docs/reference/using-api/deprecation-guide/" TargetMode="External"/><Relationship Id="rId11" Type="http://schemas.openxmlformats.org/officeDocument/2006/relationships/hyperlink" Target="https://kubernetes.io/docs/reference/using-api/deprecation-guide/" TargetMode="External"/><Relationship Id="rId12" Type="http://schemas.openxmlformats.org/officeDocument/2006/relationships/hyperlink" Target="https://kubernetes.io/docs/reference/using-api/deprecation-guide/" TargetMode="External"/><Relationship Id="rId13" Type="http://schemas.openxmlformats.org/officeDocument/2006/relationships/hyperlink" Target="https://kubernetes.io/docs/reference/using-api/deprecation-guide/" TargetMode="External"/><Relationship Id="rId14" Type="http://schemas.openxmlformats.org/officeDocument/2006/relationships/hyperlink" Target="https://kubernetes.io/docs/reference/using-api/deprecation-guide/" TargetMode="External"/><Relationship Id="rId15" Type="http://schemas.openxmlformats.org/officeDocument/2006/relationships/hyperlink" Target="https://kubernetes.io/docs/reference/using-api/deprecation-guide/" TargetMode="External"/><Relationship Id="rId16" Type="http://schemas.openxmlformats.org/officeDocument/2006/relationships/slideLayout" Target="../slideLayouts/slideLayout37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hyperlink" Target="https://kubernetes.io/docs/reference/using-api/deprecation-guide/#horizontalpodautoscaler-v126" TargetMode="External"/><Relationship Id="rId2" Type="http://schemas.openxmlformats.org/officeDocument/2006/relationships/hyperlink" Target="https://kubernetes.io/docs/reference/using-api/deprecation-guide/#horizontalpodautoscaler-v126" TargetMode="External"/><Relationship Id="rId3" Type="http://schemas.openxmlformats.org/officeDocument/2006/relationships/image" Target="../media/image213.png"/><Relationship Id="rId4" Type="http://schemas.openxmlformats.org/officeDocument/2006/relationships/image" Target="../media/image214.png"/><Relationship Id="rId5" Type="http://schemas.openxmlformats.org/officeDocument/2006/relationships/image" Target="../media/image215.jpeg"/><Relationship Id="rId6" Type="http://schemas.openxmlformats.org/officeDocument/2006/relationships/slideLayout" Target="../slideLayouts/slideLayout37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hyperlink" Target="https://kubernetes.io/docs/reference/using-api/deprecation-guide/#rbac-resources-v122" TargetMode="External"/><Relationship Id="rId2" Type="http://schemas.openxmlformats.org/officeDocument/2006/relationships/hyperlink" Target="https://kubernetes.io/docs/reference/using-api/deprecation-guide/#rbac-resources-v122" TargetMode="External"/><Relationship Id="rId3" Type="http://schemas.openxmlformats.org/officeDocument/2006/relationships/hyperlink" Target="https://kubernetes.io/docs/reference/using-api/deprecation-guide/#rbac-resources-v122" TargetMode="External"/><Relationship Id="rId4" Type="http://schemas.openxmlformats.org/officeDocument/2006/relationships/hyperlink" Target="https://kubernetes.io/docs/reference/using-api/deprecation-guide/#rbac-resources-v122" TargetMode="External"/><Relationship Id="rId5" Type="http://schemas.openxmlformats.org/officeDocument/2006/relationships/image" Target="../media/image216.png"/><Relationship Id="rId6" Type="http://schemas.openxmlformats.org/officeDocument/2006/relationships/image" Target="../media/image217.jpeg"/><Relationship Id="rId7" Type="http://schemas.openxmlformats.org/officeDocument/2006/relationships/slideLayout" Target="../slideLayouts/slideLayout37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image" Target="../media/image218.png"/><Relationship Id="rId2" Type="http://schemas.openxmlformats.org/officeDocument/2006/relationships/image" Target="../media/image219.jpeg"/><Relationship Id="rId3" Type="http://schemas.openxmlformats.org/officeDocument/2006/relationships/image" Target="../media/image220.png"/><Relationship Id="rId4" Type="http://schemas.openxmlformats.org/officeDocument/2006/relationships/slideLayout" Target="../slideLayouts/slideLayout37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image" Target="../media/image221.jpeg"/><Relationship Id="rId2" Type="http://schemas.openxmlformats.org/officeDocument/2006/relationships/image" Target="../media/image222.png"/><Relationship Id="rId3" Type="http://schemas.openxmlformats.org/officeDocument/2006/relationships/slideLayout" Target="../slideLayouts/slideLayout25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image" Target="../media/image223.jpeg"/><Relationship Id="rId2" Type="http://schemas.openxmlformats.org/officeDocument/2006/relationships/slideLayout" Target="../slideLayouts/slideLayout25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image" Target="../media/image224.jpeg"/><Relationship Id="rId2" Type="http://schemas.openxmlformats.org/officeDocument/2006/relationships/slideLayout" Target="../slideLayouts/slideLayout25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image" Target="../media/image225.jpeg"/><Relationship Id="rId2" Type="http://schemas.openxmlformats.org/officeDocument/2006/relationships/slideLayout" Target="../slideLayouts/slideLayout25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hyperlink" Target="https://github.com/grpc/grpc/blob/master/doc/health-checking.md" TargetMode="External"/><Relationship Id="rId2" Type="http://schemas.openxmlformats.org/officeDocument/2006/relationships/slideLayout" Target="../slideLayouts/slideLayout37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image" Target="../media/image226.png"/><Relationship Id="rId2" Type="http://schemas.openxmlformats.org/officeDocument/2006/relationships/slideLayout" Target="../slideLayouts/slideLayout37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image" Target="../media/image227.png"/><Relationship Id="rId2" Type="http://schemas.openxmlformats.org/officeDocument/2006/relationships/slideLayout" Target="../slideLayouts/slideLayout37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image" Target="../media/image228.png"/><Relationship Id="rId2" Type="http://schemas.openxmlformats.org/officeDocument/2006/relationships/slideLayout" Target="../slideLayouts/slideLayout37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image" Target="../media/image229.png"/><Relationship Id="rId2" Type="http://schemas.openxmlformats.org/officeDocument/2006/relationships/slideLayout" Target="../slideLayouts/slideLayout37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image" Target="../media/image230.jpeg"/><Relationship Id="rId2" Type="http://schemas.openxmlformats.org/officeDocument/2006/relationships/image" Target="../media/image231.png"/><Relationship Id="rId3" Type="http://schemas.openxmlformats.org/officeDocument/2006/relationships/slideLayout" Target="../slideLayouts/slideLayout25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hyperlink" Target="https://kubernetes.io/docs/tasks/debug/debug-cluster/resource-metrics-pipeline/" TargetMode="External"/><Relationship Id="rId2" Type="http://schemas.openxmlformats.org/officeDocument/2006/relationships/hyperlink" Target="https://kubernetes.io/docs/tasks/debug/debug-cluster/resource-metrics-pipeline/" TargetMode="External"/><Relationship Id="rId3" Type="http://schemas.openxmlformats.org/officeDocument/2006/relationships/hyperlink" Target="https://kubernetes.io/docs/tasks/debug/debug-cluster/resource-metrics-pipeline/" TargetMode="External"/><Relationship Id="rId4" Type="http://schemas.openxmlformats.org/officeDocument/2006/relationships/image" Target="../media/image232.jpeg"/><Relationship Id="rId5" Type="http://schemas.openxmlformats.org/officeDocument/2006/relationships/slideLayout" Target="../slideLayouts/slideLayout37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image" Target="../media/image233.png"/><Relationship Id="rId2" Type="http://schemas.openxmlformats.org/officeDocument/2006/relationships/image" Target="../media/image234.png"/><Relationship Id="rId3" Type="http://schemas.openxmlformats.org/officeDocument/2006/relationships/slideLayout" Target="../slideLayouts/slideLayout37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image" Target="../media/image235.png"/><Relationship Id="rId2" Type="http://schemas.openxmlformats.org/officeDocument/2006/relationships/slideLayout" Target="../slideLayouts/slideLayout37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hyperlink" Target="https://github.com/kubernetes/design-proposals-archive/blob/main/instrumentation/resource-metrics-api.md#main-use-cases" TargetMode="External"/><Relationship Id="rId2" Type="http://schemas.openxmlformats.org/officeDocument/2006/relationships/slideLayout" Target="../slideLayouts/slideLayout37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image" Target="../media/image236.jpeg"/><Relationship Id="rId2" Type="http://schemas.openxmlformats.org/officeDocument/2006/relationships/image" Target="../media/image237.png"/><Relationship Id="rId3" Type="http://schemas.openxmlformats.org/officeDocument/2006/relationships/slideLayout" Target="../slideLayouts/slideLayout25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image" Target="../media/image238.png"/><Relationship Id="rId2" Type="http://schemas.openxmlformats.org/officeDocument/2006/relationships/image" Target="../media/image239.png"/><Relationship Id="rId3" Type="http://schemas.openxmlformats.org/officeDocument/2006/relationships/image" Target="../media/image240.png"/><Relationship Id="rId4" Type="http://schemas.openxmlformats.org/officeDocument/2006/relationships/slideLayout" Target="../slideLayouts/slideLayout37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image" Target="../media/image241.png"/><Relationship Id="rId2" Type="http://schemas.openxmlformats.org/officeDocument/2006/relationships/slideLayout" Target="../slideLayouts/slideLayout37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image" Target="../media/image242.png"/><Relationship Id="rId2" Type="http://schemas.openxmlformats.org/officeDocument/2006/relationships/slideLayout" Target="../slideLayouts/slideLayout37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image" Target="../media/image243.png"/><Relationship Id="rId2" Type="http://schemas.openxmlformats.org/officeDocument/2006/relationships/slideLayout" Target="../slideLayouts/slideLayout37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image" Target="../media/image244.png"/><Relationship Id="rId2" Type="http://schemas.openxmlformats.org/officeDocument/2006/relationships/slideLayout" Target="../slideLayouts/slideLayout37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image" Target="../media/image245.png"/><Relationship Id="rId2" Type="http://schemas.openxmlformats.org/officeDocument/2006/relationships/slideLayout" Target="../slideLayouts/slideLayout37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image" Target="../media/image246.png"/><Relationship Id="rId2" Type="http://schemas.openxmlformats.org/officeDocument/2006/relationships/slideLayout" Target="../slideLayouts/slideLayout37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image" Target="../media/image247.png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Relationship Id="rId5" Type="http://schemas.openxmlformats.org/officeDocument/2006/relationships/slideLayout" Target="../slideLayouts/slideLayout37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image" Target="../media/image251.jpeg"/><Relationship Id="rId2" Type="http://schemas.openxmlformats.org/officeDocument/2006/relationships/slideLayout" Target="../slideLayouts/slideLayout25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image" Target="../media/image252.jpeg"/><Relationship Id="rId2" Type="http://schemas.openxmlformats.org/officeDocument/2006/relationships/image" Target="../media/image253.png"/><Relationship Id="rId3" Type="http://schemas.openxmlformats.org/officeDocument/2006/relationships/slideLayout" Target="../slideLayouts/slideLayout25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image" Target="../media/image254.jpeg"/><Relationship Id="rId2" Type="http://schemas.openxmlformats.org/officeDocument/2006/relationships/slideLayout" Target="../slideLayouts/slideLayout25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image" Target="../media/image255.png"/><Relationship Id="rId2" Type="http://schemas.openxmlformats.org/officeDocument/2006/relationships/slideLayout" Target="../slideLayouts/slideLayout37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image" Target="../media/image256.png"/><Relationship Id="rId2" Type="http://schemas.openxmlformats.org/officeDocument/2006/relationships/slideLayout" Target="../slideLayouts/slideLayout37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image" Target="../media/image257.png"/><Relationship Id="rId2" Type="http://schemas.openxmlformats.org/officeDocument/2006/relationships/slideLayout" Target="../slideLayouts/slideLayout37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hyperlink" Target="https://kubernetes.io/docs/reference/using-api/client-libraries/" TargetMode="External"/><Relationship Id="rId2" Type="http://schemas.openxmlformats.org/officeDocument/2006/relationships/hyperlink" Target="https://kubernetes.io/docs/reference/using-api/client-libraries/" TargetMode="External"/><Relationship Id="rId3" Type="http://schemas.openxmlformats.org/officeDocument/2006/relationships/slideLayout" Target="../slideLayouts/slideLayout37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image" Target="../media/image258.jpeg"/><Relationship Id="rId2" Type="http://schemas.openxmlformats.org/officeDocument/2006/relationships/image" Target="../media/image259.png"/><Relationship Id="rId3" Type="http://schemas.openxmlformats.org/officeDocument/2006/relationships/slideLayout" Target="../slideLayouts/slideLayout25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image" Target="../media/image260.jpeg"/><Relationship Id="rId2" Type="http://schemas.openxmlformats.org/officeDocument/2006/relationships/slideLayout" Target="../slideLayouts/slideLayout25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image" Target="../media/image261.png"/><Relationship Id="rId2" Type="http://schemas.openxmlformats.org/officeDocument/2006/relationships/slideLayout" Target="../slideLayouts/slideLayout37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image" Target="../media/image262.png"/><Relationship Id="rId2" Type="http://schemas.openxmlformats.org/officeDocument/2006/relationships/image" Target="../media/image263.png"/><Relationship Id="rId3" Type="http://schemas.openxmlformats.org/officeDocument/2006/relationships/image" Target="../media/image264.png"/><Relationship Id="rId4" Type="http://schemas.openxmlformats.org/officeDocument/2006/relationships/image" Target="../media/image265.png"/><Relationship Id="rId5" Type="http://schemas.openxmlformats.org/officeDocument/2006/relationships/slideLayout" Target="../slideLayouts/slideLayout13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image" Target="../media/image266.jpeg"/><Relationship Id="rId2" Type="http://schemas.openxmlformats.org/officeDocument/2006/relationships/slideLayout" Target="../slideLayouts/slideLayout25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image" Target="../media/image267.jpeg"/><Relationship Id="rId2" Type="http://schemas.openxmlformats.org/officeDocument/2006/relationships/slideLayout" Target="../slideLayouts/slideLayout25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image" Target="../media/image268.png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slideLayout" Target="../slideLayouts/slideLayout37.xml"/>
</Relationships>
</file>

<file path=ppt/slides/_rels/slide216.xml.rels><?xml version="1.0" encoding="UTF-8"?>
<Relationships xmlns="http://schemas.openxmlformats.org/package/2006/relationships"><Relationship Id="rId1" Type="http://schemas.openxmlformats.org/officeDocument/2006/relationships/image" Target="../media/image271.png"/><Relationship Id="rId2" Type="http://schemas.openxmlformats.org/officeDocument/2006/relationships/image" Target="../media/image272.png"/><Relationship Id="rId3" Type="http://schemas.openxmlformats.org/officeDocument/2006/relationships/slideLayout" Target="../slideLayouts/slideLayout37.xml"/>
</Relationships>
</file>

<file path=ppt/slides/_rels/slide217.xml.rels><?xml version="1.0" encoding="UTF-8"?>
<Relationships xmlns="http://schemas.openxmlformats.org/package/2006/relationships"><Relationship Id="rId1" Type="http://schemas.openxmlformats.org/officeDocument/2006/relationships/image" Target="../media/image273.png"/><Relationship Id="rId2" Type="http://schemas.openxmlformats.org/officeDocument/2006/relationships/slideLayout" Target="../slideLayouts/slideLayout37.xml"/>
</Relationships>
</file>

<file path=ppt/slides/_rels/slide218.xml.rels><?xml version="1.0" encoding="UTF-8"?>
<Relationships xmlns="http://schemas.openxmlformats.org/package/2006/relationships"><Relationship Id="rId1" Type="http://schemas.openxmlformats.org/officeDocument/2006/relationships/image" Target="../media/image274.png"/><Relationship Id="rId2" Type="http://schemas.openxmlformats.org/officeDocument/2006/relationships/image" Target="../media/image275.png"/><Relationship Id="rId3" Type="http://schemas.openxmlformats.org/officeDocument/2006/relationships/image" Target="../media/image276.png"/><Relationship Id="rId4" Type="http://schemas.openxmlformats.org/officeDocument/2006/relationships/slideLayout" Target="../slideLayouts/slideLayout37.xml"/>
</Relationships>
</file>

<file path=ppt/slides/_rels/slide219.xml.rels><?xml version="1.0" encoding="UTF-8"?>
<Relationships xmlns="http://schemas.openxmlformats.org/package/2006/relationships"><Relationship Id="rId1" Type="http://schemas.openxmlformats.org/officeDocument/2006/relationships/image" Target="../media/image277.png"/><Relationship Id="rId2" Type="http://schemas.openxmlformats.org/officeDocument/2006/relationships/image" Target="../media/image278.png"/><Relationship Id="rId3" Type="http://schemas.openxmlformats.org/officeDocument/2006/relationships/image" Target="../media/image279.png"/><Relationship Id="rId4" Type="http://schemas.openxmlformats.org/officeDocument/2006/relationships/slideLayout" Target="../slideLayouts/slideLayout37.xml"/>
</Relationships>
</file>

<file path=ppt/slides/_rels/slide220.xml.rels><?xml version="1.0" encoding="UTF-8"?>
<Relationships xmlns="http://schemas.openxmlformats.org/package/2006/relationships"><Relationship Id="rId1" Type="http://schemas.openxmlformats.org/officeDocument/2006/relationships/image" Target="../media/image280.png"/><Relationship Id="rId2" Type="http://schemas.openxmlformats.org/officeDocument/2006/relationships/slideLayout" Target="../slideLayouts/slideLayout37.xml"/>
</Relationships>
</file>

<file path=ppt/slides/_rels/slide2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22.xml.rels><?xml version="1.0" encoding="UTF-8"?>
<Relationships xmlns="http://schemas.openxmlformats.org/package/2006/relationships"><Relationship Id="rId1" Type="http://schemas.openxmlformats.org/officeDocument/2006/relationships/image" Target="../media/image281.jpeg"/><Relationship Id="rId2" Type="http://schemas.openxmlformats.org/officeDocument/2006/relationships/slideLayout" Target="../slideLayouts/slideLayout25.xml"/>
</Relationships>
</file>

<file path=ppt/slides/_rels/slide223.xml.rels><?xml version="1.0" encoding="UTF-8"?>
<Relationships xmlns="http://schemas.openxmlformats.org/package/2006/relationships"><Relationship Id="rId1" Type="http://schemas.openxmlformats.org/officeDocument/2006/relationships/image" Target="../media/image282.png"/><Relationship Id="rId2" Type="http://schemas.openxmlformats.org/officeDocument/2006/relationships/image" Target="../media/image283.png"/><Relationship Id="rId3" Type="http://schemas.openxmlformats.org/officeDocument/2006/relationships/image" Target="../media/image284.png"/><Relationship Id="rId4" Type="http://schemas.openxmlformats.org/officeDocument/2006/relationships/slideLayout" Target="../slideLayouts/slideLayout37.xml"/>
</Relationships>
</file>

<file path=ppt/slides/_rels/slide224.xml.rels><?xml version="1.0" encoding="UTF-8"?>
<Relationships xmlns="http://schemas.openxmlformats.org/package/2006/relationships"><Relationship Id="rId1" Type="http://schemas.openxmlformats.org/officeDocument/2006/relationships/image" Target="../media/image285.png"/><Relationship Id="rId2" Type="http://schemas.openxmlformats.org/officeDocument/2006/relationships/image" Target="../media/image286.png"/><Relationship Id="rId3" Type="http://schemas.openxmlformats.org/officeDocument/2006/relationships/image" Target="../media/image287.png"/><Relationship Id="rId4" Type="http://schemas.openxmlformats.org/officeDocument/2006/relationships/slideLayout" Target="../slideLayouts/slideLayout13.xml"/>
</Relationships>
</file>

<file path=ppt/slides/_rels/slide225.xml.rels><?xml version="1.0" encoding="UTF-8"?>
<Relationships xmlns="http://schemas.openxmlformats.org/package/2006/relationships"><Relationship Id="rId1" Type="http://schemas.openxmlformats.org/officeDocument/2006/relationships/image" Target="../media/image288.png"/><Relationship Id="rId2" Type="http://schemas.openxmlformats.org/officeDocument/2006/relationships/slideLayout" Target="../slideLayouts/slideLayout37.xml"/>
</Relationships>
</file>

<file path=ppt/slides/_rels/slide226.xml.rels><?xml version="1.0" encoding="UTF-8"?>
<Relationships xmlns="http://schemas.openxmlformats.org/package/2006/relationships"><Relationship Id="rId1" Type="http://schemas.openxmlformats.org/officeDocument/2006/relationships/image" Target="../media/image289.png"/><Relationship Id="rId2" Type="http://schemas.openxmlformats.org/officeDocument/2006/relationships/slideLayout" Target="../slideLayouts/slideLayout37.xml"/>
</Relationships>
</file>

<file path=ppt/slides/_rels/slide227.xml.rels><?xml version="1.0" encoding="UTF-8"?>
<Relationships xmlns="http://schemas.openxmlformats.org/package/2006/relationships"><Relationship Id="rId1" Type="http://schemas.openxmlformats.org/officeDocument/2006/relationships/image" Target="../media/image290.png"/><Relationship Id="rId2" Type="http://schemas.openxmlformats.org/officeDocument/2006/relationships/image" Target="../media/image291.png"/><Relationship Id="rId3" Type="http://schemas.openxmlformats.org/officeDocument/2006/relationships/slideLayout" Target="../slideLayouts/slideLayout37.xml"/>
</Relationships>
</file>

<file path=ppt/slides/_rels/slide2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29.xml.rels><?xml version="1.0" encoding="UTF-8"?>
<Relationships xmlns="http://schemas.openxmlformats.org/package/2006/relationships"><Relationship Id="rId1" Type="http://schemas.openxmlformats.org/officeDocument/2006/relationships/image" Target="../media/image292.jpeg"/><Relationship Id="rId2" Type="http://schemas.openxmlformats.org/officeDocument/2006/relationships/image" Target="../media/image293.png"/><Relationship Id="rId3" Type="http://schemas.openxmlformats.org/officeDocument/2006/relationships/slideLayout" Target="../slideLayouts/slideLayout25.xml"/>
</Relationships>
</file>

<file path=ppt/slides/_rels/slide2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31.xml.rels><?xml version="1.0" encoding="UTF-8"?>
<Relationships xmlns="http://schemas.openxmlformats.org/package/2006/relationships"><Relationship Id="rId1" Type="http://schemas.openxmlformats.org/officeDocument/2006/relationships/hyperlink" Target="https://kubernetes.io/docs/concepts/configuration/manage-resources-containers/#resource-units-in-kubernetes" TargetMode="External"/><Relationship Id="rId2" Type="http://schemas.openxmlformats.org/officeDocument/2006/relationships/hyperlink" Target="https://kubernetes.io/docs/concepts/configuration/manage-resources-containers/#resource-units-in-kubernetes" TargetMode="External"/><Relationship Id="rId3" Type="http://schemas.openxmlformats.org/officeDocument/2006/relationships/hyperlink" Target="https://kubernetes.io/docs/concepts/configuration/manage-resources-containers/#resource-units-in-kubernetes" TargetMode="External"/><Relationship Id="rId4" Type="http://schemas.openxmlformats.org/officeDocument/2006/relationships/hyperlink" Target="https://kubernetes.io/docs/concepts/configuration/manage-resources-containers/#resource-units-in-kubernetes" TargetMode="External"/><Relationship Id="rId5" Type="http://schemas.openxmlformats.org/officeDocument/2006/relationships/slideLayout" Target="../slideLayouts/slideLayout37.xml"/>
</Relationships>
</file>

<file path=ppt/slides/_rels/slide2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33.xml.rels><?xml version="1.0" encoding="UTF-8"?>
<Relationships xmlns="http://schemas.openxmlformats.org/package/2006/relationships"><Relationship Id="rId1" Type="http://schemas.openxmlformats.org/officeDocument/2006/relationships/image" Target="../media/image294.jpeg"/><Relationship Id="rId2" Type="http://schemas.openxmlformats.org/officeDocument/2006/relationships/slideLayout" Target="../slideLayouts/slideLayout25.xml"/>
</Relationships>
</file>

<file path=ppt/slides/_rels/slide234.xml.rels><?xml version="1.0" encoding="UTF-8"?>
<Relationships xmlns="http://schemas.openxmlformats.org/package/2006/relationships"><Relationship Id="rId1" Type="http://schemas.openxmlformats.org/officeDocument/2006/relationships/image" Target="../media/image295.png"/><Relationship Id="rId2" Type="http://schemas.openxmlformats.org/officeDocument/2006/relationships/slideLayout" Target="../slideLayouts/slideLayout37.xml"/>
</Relationships>
</file>

<file path=ppt/slides/_rels/slide235.xml.rels><?xml version="1.0" encoding="UTF-8"?>
<Relationships xmlns="http://schemas.openxmlformats.org/package/2006/relationships"><Relationship Id="rId1" Type="http://schemas.openxmlformats.org/officeDocument/2006/relationships/image" Target="../media/image296.png"/><Relationship Id="rId2" Type="http://schemas.openxmlformats.org/officeDocument/2006/relationships/slideLayout" Target="../slideLayouts/slideLayout37.xml"/>
</Relationships>
</file>

<file path=ppt/slides/_rels/slide2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37.xml.rels><?xml version="1.0" encoding="UTF-8"?>
<Relationships xmlns="http://schemas.openxmlformats.org/package/2006/relationships"><Relationship Id="rId1" Type="http://schemas.openxmlformats.org/officeDocument/2006/relationships/image" Target="../media/image297.png"/><Relationship Id="rId2" Type="http://schemas.openxmlformats.org/officeDocument/2006/relationships/slideLayout" Target="../slideLayouts/slideLayout37.xml"/>
</Relationships>
</file>

<file path=ppt/slides/_rels/slide238.xml.rels><?xml version="1.0" encoding="UTF-8"?>
<Relationships xmlns="http://schemas.openxmlformats.org/package/2006/relationships"><Relationship Id="rId1" Type="http://schemas.openxmlformats.org/officeDocument/2006/relationships/image" Target="../media/image298.png"/><Relationship Id="rId2" Type="http://schemas.openxmlformats.org/officeDocument/2006/relationships/slideLayout" Target="../slideLayouts/slideLayout37.xml"/>
</Relationships>
</file>

<file path=ppt/slides/_rels/slide2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40.xml.rels><?xml version="1.0" encoding="UTF-8"?>
<Relationships xmlns="http://schemas.openxmlformats.org/package/2006/relationships"><Relationship Id="rId1" Type="http://schemas.openxmlformats.org/officeDocument/2006/relationships/image" Target="../media/image299.png"/><Relationship Id="rId2" Type="http://schemas.openxmlformats.org/officeDocument/2006/relationships/slideLayout" Target="../slideLayouts/slideLayout37.xml"/>
</Relationships>
</file>

<file path=ppt/slides/_rels/slide2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42.xml.rels><?xml version="1.0" encoding="UTF-8"?>
<Relationships xmlns="http://schemas.openxmlformats.org/package/2006/relationships"><Relationship Id="rId1" Type="http://schemas.openxmlformats.org/officeDocument/2006/relationships/image" Target="../media/image300.png"/><Relationship Id="rId2" Type="http://schemas.openxmlformats.org/officeDocument/2006/relationships/slideLayout" Target="../slideLayouts/slideLayout37.xml"/>
</Relationships>
</file>

<file path=ppt/slides/_rels/slide2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45.xml.rels><?xml version="1.0" encoding="UTF-8"?>
<Relationships xmlns="http://schemas.openxmlformats.org/package/2006/relationships"><Relationship Id="rId1" Type="http://schemas.openxmlformats.org/officeDocument/2006/relationships/image" Target="../media/image301.png"/><Relationship Id="rId2" Type="http://schemas.openxmlformats.org/officeDocument/2006/relationships/slideLayout" Target="../slideLayouts/slideLayout37.xml"/>
</Relationships>
</file>

<file path=ppt/slides/_rels/slide2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47.xml.rels><?xml version="1.0" encoding="UTF-8"?>
<Relationships xmlns="http://schemas.openxmlformats.org/package/2006/relationships"><Relationship Id="rId1" Type="http://schemas.openxmlformats.org/officeDocument/2006/relationships/image" Target="../media/image302.png"/><Relationship Id="rId2" Type="http://schemas.openxmlformats.org/officeDocument/2006/relationships/slideLayout" Target="../slideLayouts/slideLayout37.xml"/>
</Relationships>
</file>

<file path=ppt/slides/_rels/slide248.xml.rels><?xml version="1.0" encoding="UTF-8"?>
<Relationships xmlns="http://schemas.openxmlformats.org/package/2006/relationships"><Relationship Id="rId1" Type="http://schemas.openxmlformats.org/officeDocument/2006/relationships/image" Target="../media/image303.png"/><Relationship Id="rId2" Type="http://schemas.openxmlformats.org/officeDocument/2006/relationships/slideLayout" Target="../slideLayouts/slideLayout37.xml"/>
</Relationships>
</file>

<file path=ppt/slides/_rels/slide2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51.xml.rels><?xml version="1.0" encoding="UTF-8"?>
<Relationships xmlns="http://schemas.openxmlformats.org/package/2006/relationships"><Relationship Id="rId1" Type="http://schemas.openxmlformats.org/officeDocument/2006/relationships/image" Target="../media/image304.jpeg"/><Relationship Id="rId2" Type="http://schemas.openxmlformats.org/officeDocument/2006/relationships/image" Target="../media/image305.png"/><Relationship Id="rId3" Type="http://schemas.openxmlformats.org/officeDocument/2006/relationships/slideLayout" Target="../slideLayouts/slideLayout25.xml"/>
</Relationships>
</file>

<file path=ppt/slides/_rels/slide252.xml.rels><?xml version="1.0" encoding="UTF-8"?>
<Relationships xmlns="http://schemas.openxmlformats.org/package/2006/relationships"><Relationship Id="rId1" Type="http://schemas.openxmlformats.org/officeDocument/2006/relationships/hyperlink" Target="https://kubernetes.io/docs/tasks/administer-cluster/encrypt-data/" TargetMode="External"/><Relationship Id="rId2" Type="http://schemas.openxmlformats.org/officeDocument/2006/relationships/slideLayout" Target="../slideLayouts/slideLayout37.xml"/>
</Relationships>
</file>

<file path=ppt/slides/_rels/slide253.xml.rels><?xml version="1.0" encoding="UTF-8"?>
<Relationships xmlns="http://schemas.openxmlformats.org/package/2006/relationships"><Relationship Id="rId1" Type="http://schemas.openxmlformats.org/officeDocument/2006/relationships/image" Target="../media/image306.jpeg"/><Relationship Id="rId2" Type="http://schemas.openxmlformats.org/officeDocument/2006/relationships/slideLayout" Target="../slideLayouts/slideLayout25.xml"/>
</Relationships>
</file>

<file path=ppt/slides/_rels/slide254.xml.rels><?xml version="1.0" encoding="UTF-8"?>
<Relationships xmlns="http://schemas.openxmlformats.org/package/2006/relationships"><Relationship Id="rId1" Type="http://schemas.openxmlformats.org/officeDocument/2006/relationships/image" Target="../media/image307.png"/><Relationship Id="rId2" Type="http://schemas.openxmlformats.org/officeDocument/2006/relationships/slideLayout" Target="../slideLayouts/slideLayout37.xml"/>
</Relationships>
</file>

<file path=ppt/slides/_rels/slide255.xml.rels><?xml version="1.0" encoding="UTF-8"?>
<Relationships xmlns="http://schemas.openxmlformats.org/package/2006/relationships"><Relationship Id="rId1" Type="http://schemas.openxmlformats.org/officeDocument/2006/relationships/image" Target="../media/image308.png"/><Relationship Id="rId2" Type="http://schemas.openxmlformats.org/officeDocument/2006/relationships/slideLayout" Target="../slideLayouts/slideLayout37.xml"/>
</Relationships>
</file>

<file path=ppt/slides/_rels/slide256.xml.rels><?xml version="1.0" encoding="UTF-8"?>
<Relationships xmlns="http://schemas.openxmlformats.org/package/2006/relationships"><Relationship Id="rId1" Type="http://schemas.openxmlformats.org/officeDocument/2006/relationships/image" Target="../media/image309.png"/><Relationship Id="rId2" Type="http://schemas.openxmlformats.org/officeDocument/2006/relationships/slideLayout" Target="../slideLayouts/slideLayout37.xml"/>
</Relationships>
</file>

<file path=ppt/slides/_rels/slide257.xml.rels><?xml version="1.0" encoding="UTF-8"?>
<Relationships xmlns="http://schemas.openxmlformats.org/package/2006/relationships"><Relationship Id="rId1" Type="http://schemas.openxmlformats.org/officeDocument/2006/relationships/image" Target="../media/image310.png"/><Relationship Id="rId2" Type="http://schemas.openxmlformats.org/officeDocument/2006/relationships/slideLayout" Target="../slideLayouts/slideLayout37.xml"/>
</Relationships>
</file>

<file path=ppt/slides/_rels/slide258.xml.rels><?xml version="1.0" encoding="UTF-8"?>
<Relationships xmlns="http://schemas.openxmlformats.org/package/2006/relationships"><Relationship Id="rId1" Type="http://schemas.openxmlformats.org/officeDocument/2006/relationships/image" Target="../media/image311.png"/><Relationship Id="rId2" Type="http://schemas.openxmlformats.org/officeDocument/2006/relationships/image" Target="../media/image312.png"/><Relationship Id="rId3" Type="http://schemas.openxmlformats.org/officeDocument/2006/relationships/slideLayout" Target="../slideLayouts/slideLayout13.xml"/>
</Relationships>
</file>

<file path=ppt/slides/_rels/slide259.xml.rels><?xml version="1.0" encoding="UTF-8"?>
<Relationships xmlns="http://schemas.openxmlformats.org/package/2006/relationships"><Relationship Id="rId1" Type="http://schemas.openxmlformats.org/officeDocument/2006/relationships/image" Target="../media/image313.png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slideLayout" Target="../slideLayouts/slideLayout37.xml"/>
</Relationships>
</file>

<file path=ppt/slides/_rels/slide260.xml.rels><?xml version="1.0" encoding="UTF-8"?>
<Relationships xmlns="http://schemas.openxmlformats.org/package/2006/relationships"><Relationship Id="rId1" Type="http://schemas.openxmlformats.org/officeDocument/2006/relationships/image" Target="../media/image316.png"/><Relationship Id="rId2" Type="http://schemas.openxmlformats.org/officeDocument/2006/relationships/image" Target="../media/image317.png"/><Relationship Id="rId3" Type="http://schemas.openxmlformats.org/officeDocument/2006/relationships/slideLayout" Target="../slideLayouts/slideLayout37.xml"/>
</Relationships>
</file>

<file path=ppt/slides/_rels/slide261.xml.rels><?xml version="1.0" encoding="UTF-8"?>
<Relationships xmlns="http://schemas.openxmlformats.org/package/2006/relationships"><Relationship Id="rId1" Type="http://schemas.openxmlformats.org/officeDocument/2006/relationships/image" Target="../media/image318.png"/><Relationship Id="rId2" Type="http://schemas.openxmlformats.org/officeDocument/2006/relationships/slideLayout" Target="../slideLayouts/slideLayout37.xml"/>
</Relationships>
</file>

<file path=ppt/slides/_rels/slide262.xml.rels><?xml version="1.0" encoding="UTF-8"?>
<Relationships xmlns="http://schemas.openxmlformats.org/package/2006/relationships"><Relationship Id="rId1" Type="http://schemas.openxmlformats.org/officeDocument/2006/relationships/image" Target="../media/image319.png"/><Relationship Id="rId2" Type="http://schemas.openxmlformats.org/officeDocument/2006/relationships/slideLayout" Target="../slideLayouts/slideLayout37.xml"/>
</Relationships>
</file>

<file path=ppt/slides/_rels/slide2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64.xml.rels><?xml version="1.0" encoding="UTF-8"?>
<Relationships xmlns="http://schemas.openxmlformats.org/package/2006/relationships"><Relationship Id="rId1" Type="http://schemas.openxmlformats.org/officeDocument/2006/relationships/image" Target="../media/image320.png"/><Relationship Id="rId2" Type="http://schemas.openxmlformats.org/officeDocument/2006/relationships/slideLayout" Target="../slideLayouts/slideLayout37.xml"/>
</Relationships>
</file>

<file path=ppt/slides/_rels/slide265.xml.rels><?xml version="1.0" encoding="UTF-8"?>
<Relationships xmlns="http://schemas.openxmlformats.org/package/2006/relationships"><Relationship Id="rId1" Type="http://schemas.openxmlformats.org/officeDocument/2006/relationships/image" Target="../media/image321.png"/><Relationship Id="rId2" Type="http://schemas.openxmlformats.org/officeDocument/2006/relationships/slideLayout" Target="../slideLayouts/slideLayout37.xml"/>
</Relationships>
</file>

<file path=ppt/slides/_rels/slide266.xml.rels><?xml version="1.0" encoding="UTF-8"?>
<Relationships xmlns="http://schemas.openxmlformats.org/package/2006/relationships"><Relationship Id="rId1" Type="http://schemas.openxmlformats.org/officeDocument/2006/relationships/image" Target="../media/image322.png"/><Relationship Id="rId2" Type="http://schemas.openxmlformats.org/officeDocument/2006/relationships/slideLayout" Target="../slideLayouts/slideLayout37.xml"/>
</Relationships>
</file>

<file path=ppt/slides/_rels/slide267.xml.rels><?xml version="1.0" encoding="UTF-8"?>
<Relationships xmlns="http://schemas.openxmlformats.org/package/2006/relationships"><Relationship Id="rId1" Type="http://schemas.openxmlformats.org/officeDocument/2006/relationships/hyperlink" Target="https://kubernetes.io/docs/concepts/configuration/secret/#secret-types" TargetMode="External"/><Relationship Id="rId2" Type="http://schemas.openxmlformats.org/officeDocument/2006/relationships/image" Target="../media/image323.png"/><Relationship Id="rId3" Type="http://schemas.openxmlformats.org/officeDocument/2006/relationships/slideLayout" Target="../slideLayouts/slideLayout37.xml"/>
</Relationships>
</file>

<file path=ppt/slides/_rels/slide268.xml.rels><?xml version="1.0" encoding="UTF-8"?>
<Relationships xmlns="http://schemas.openxmlformats.org/package/2006/relationships"><Relationship Id="rId1" Type="http://schemas.openxmlformats.org/officeDocument/2006/relationships/image" Target="../media/image324.png"/><Relationship Id="rId2" Type="http://schemas.openxmlformats.org/officeDocument/2006/relationships/slideLayout" Target="../slideLayouts/slideLayout37.xml"/>
</Relationships>
</file>

<file path=ppt/slides/_rels/slide269.xml.rels><?xml version="1.0" encoding="UTF-8"?>
<Relationships xmlns="http://schemas.openxmlformats.org/package/2006/relationships"><Relationship Id="rId1" Type="http://schemas.openxmlformats.org/officeDocument/2006/relationships/image" Target="../media/image325.png"/><Relationship Id="rId2" Type="http://schemas.openxmlformats.org/officeDocument/2006/relationships/image" Target="../media/image326.png"/><Relationship Id="rId3" Type="http://schemas.openxmlformats.org/officeDocument/2006/relationships/slideLayout" Target="../slideLayouts/slideLayout13.xml"/>
</Relationships>
</file>

<file path=ppt/slides/_rels/slide270.xml.rels><?xml version="1.0" encoding="UTF-8"?>
<Relationships xmlns="http://schemas.openxmlformats.org/package/2006/relationships"><Relationship Id="rId1" Type="http://schemas.openxmlformats.org/officeDocument/2006/relationships/image" Target="../media/image327.png"/><Relationship Id="rId2" Type="http://schemas.openxmlformats.org/officeDocument/2006/relationships/image" Target="../media/image328.png"/><Relationship Id="rId3" Type="http://schemas.openxmlformats.org/officeDocument/2006/relationships/slideLayout" Target="../slideLayouts/slideLayout37.xml"/>
</Relationships>
</file>

<file path=ppt/slides/_rels/slide271.xml.rels><?xml version="1.0" encoding="UTF-8"?>
<Relationships xmlns="http://schemas.openxmlformats.org/package/2006/relationships"><Relationship Id="rId1" Type="http://schemas.openxmlformats.org/officeDocument/2006/relationships/image" Target="../media/image329.png"/><Relationship Id="rId2" Type="http://schemas.openxmlformats.org/officeDocument/2006/relationships/image" Target="../media/image330.png"/><Relationship Id="rId3" Type="http://schemas.openxmlformats.org/officeDocument/2006/relationships/slideLayout" Target="../slideLayouts/slideLayout37.xml"/>
</Relationships>
</file>

<file path=ppt/slides/_rels/slide272.xml.rels><?xml version="1.0" encoding="UTF-8"?>
<Relationships xmlns="http://schemas.openxmlformats.org/package/2006/relationships"><Relationship Id="rId1" Type="http://schemas.openxmlformats.org/officeDocument/2006/relationships/image" Target="../media/image331.png"/><Relationship Id="rId2" Type="http://schemas.openxmlformats.org/officeDocument/2006/relationships/slideLayout" Target="../slideLayouts/slideLayout13.xml"/>
</Relationships>
</file>

<file path=ppt/slides/_rels/slide273.xml.rels><?xml version="1.0" encoding="UTF-8"?>
<Relationships xmlns="http://schemas.openxmlformats.org/package/2006/relationships"><Relationship Id="rId1" Type="http://schemas.openxmlformats.org/officeDocument/2006/relationships/image" Target="../media/image332.png"/><Relationship Id="rId2" Type="http://schemas.openxmlformats.org/officeDocument/2006/relationships/slideLayout" Target="../slideLayouts/slideLayout13.xml"/>
</Relationships>
</file>

<file path=ppt/slides/_rels/slide274.xml.rels><?xml version="1.0" encoding="UTF-8"?>
<Relationships xmlns="http://schemas.openxmlformats.org/package/2006/relationships"><Relationship Id="rId1" Type="http://schemas.openxmlformats.org/officeDocument/2006/relationships/hyperlink" Target="https://kubernetes.io/docs/tasks/administer-cluster/encrypt-data/" TargetMode="External"/><Relationship Id="rId2" Type="http://schemas.openxmlformats.org/officeDocument/2006/relationships/hyperlink" Target="https://external-secrets.io/" TargetMode="External"/><Relationship Id="rId3" Type="http://schemas.openxmlformats.org/officeDocument/2006/relationships/hyperlink" Target="https://external-secrets.io/" TargetMode="External"/><Relationship Id="rId4" Type="http://schemas.openxmlformats.org/officeDocument/2006/relationships/slideLayout" Target="../slideLayouts/slideLayout37.xml"/>
</Relationships>
</file>

<file path=ppt/slides/_rels/slide2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76.xml.rels><?xml version="1.0" encoding="UTF-8"?>
<Relationships xmlns="http://schemas.openxmlformats.org/package/2006/relationships"><Relationship Id="rId1" Type="http://schemas.openxmlformats.org/officeDocument/2006/relationships/image" Target="../media/image333.jpeg"/><Relationship Id="rId2" Type="http://schemas.openxmlformats.org/officeDocument/2006/relationships/image" Target="../media/image334.png"/><Relationship Id="rId3" Type="http://schemas.openxmlformats.org/officeDocument/2006/relationships/slideLayout" Target="../slideLayouts/slideLayout25.xml"/>
</Relationships>
</file>

<file path=ppt/slides/_rels/slide277.xml.rels><?xml version="1.0" encoding="UTF-8"?>
<Relationships xmlns="http://schemas.openxmlformats.org/package/2006/relationships"><Relationship Id="rId1" Type="http://schemas.openxmlformats.org/officeDocument/2006/relationships/hyperlink" Target="https://kubernetes.io/docs/tasks/configure-pod-container/security-context/" TargetMode="External"/><Relationship Id="rId2" Type="http://schemas.openxmlformats.org/officeDocument/2006/relationships/hyperlink" Target="https://kubernetes.io/docs/tasks/configure-pod-container/security-context/" TargetMode="External"/><Relationship Id="rId3" Type="http://schemas.openxmlformats.org/officeDocument/2006/relationships/hyperlink" Target="https://kubernetes.io/docs/tasks/configure-pod-container/security-context/" TargetMode="External"/><Relationship Id="rId4" Type="http://schemas.openxmlformats.org/officeDocument/2006/relationships/slideLayout" Target="../slideLayouts/slideLayout37.xml"/>
</Relationships>
</file>

<file path=ppt/slides/_rels/slide278.xml.rels><?xml version="1.0" encoding="UTF-8"?>
<Relationships xmlns="http://schemas.openxmlformats.org/package/2006/relationships"><Relationship Id="rId1" Type="http://schemas.openxmlformats.org/officeDocument/2006/relationships/hyperlink" Target="https://kubernetes.io/docs/reference/kubernetes-api/workload-resources/pod-v1/#security-context" TargetMode="External"/><Relationship Id="rId2" Type="http://schemas.openxmlformats.org/officeDocument/2006/relationships/hyperlink" Target="https://kubernetes.io/docs/reference/kubernetes-api/workload-resources/pod-v1/#security-context-1" TargetMode="External"/><Relationship Id="rId3" Type="http://schemas.openxmlformats.org/officeDocument/2006/relationships/slideLayout" Target="../slideLayouts/slideLayout37.xml"/>
</Relationships>
</file>

<file path=ppt/slides/_rels/slide279.xml.rels><?xml version="1.0" encoding="UTF-8"?>
<Relationships xmlns="http://schemas.openxmlformats.org/package/2006/relationships"><Relationship Id="rId1" Type="http://schemas.openxmlformats.org/officeDocument/2006/relationships/image" Target="../media/image335.png"/><Relationship Id="rId2" Type="http://schemas.openxmlformats.org/officeDocument/2006/relationships/slideLayout" Target="../slideLayouts/slideLayout37.xml"/>
</Relationships>
</file>

<file path=ppt/slides/_rels/slide280.xml.rels><?xml version="1.0" encoding="UTF-8"?>
<Relationships xmlns="http://schemas.openxmlformats.org/package/2006/relationships"><Relationship Id="rId1" Type="http://schemas.openxmlformats.org/officeDocument/2006/relationships/image" Target="../media/image336.png"/><Relationship Id="rId2" Type="http://schemas.openxmlformats.org/officeDocument/2006/relationships/image" Target="../media/image337.png"/><Relationship Id="rId3" Type="http://schemas.openxmlformats.org/officeDocument/2006/relationships/slideLayout" Target="../slideLayouts/slideLayout37.xml"/>
</Relationships>
</file>

<file path=ppt/slides/_rels/slide281.xml.rels><?xml version="1.0" encoding="UTF-8"?>
<Relationships xmlns="http://schemas.openxmlformats.org/package/2006/relationships"><Relationship Id="rId1" Type="http://schemas.openxmlformats.org/officeDocument/2006/relationships/image" Target="../media/image338.png"/><Relationship Id="rId2" Type="http://schemas.openxmlformats.org/officeDocument/2006/relationships/image" Target="../media/image339.png"/><Relationship Id="rId3" Type="http://schemas.openxmlformats.org/officeDocument/2006/relationships/slideLayout" Target="../slideLayouts/slideLayout37.xml"/>
</Relationships>
</file>

<file path=ppt/slides/_rels/slide282.xml.rels><?xml version="1.0" encoding="UTF-8"?>
<Relationships xmlns="http://schemas.openxmlformats.org/package/2006/relationships"><Relationship Id="rId1" Type="http://schemas.openxmlformats.org/officeDocument/2006/relationships/image" Target="../media/image340.png"/><Relationship Id="rId2" Type="http://schemas.openxmlformats.org/officeDocument/2006/relationships/image" Target="../media/image341.png"/><Relationship Id="rId3" Type="http://schemas.openxmlformats.org/officeDocument/2006/relationships/slideLayout" Target="../slideLayouts/slideLayout37.xml"/>
</Relationships>
</file>

<file path=ppt/slides/_rels/slide2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84.xml.rels><?xml version="1.0" encoding="UTF-8"?>
<Relationships xmlns="http://schemas.openxmlformats.org/package/2006/relationships"><Relationship Id="rId1" Type="http://schemas.openxmlformats.org/officeDocument/2006/relationships/image" Target="../media/image342.jpeg"/><Relationship Id="rId2" Type="http://schemas.openxmlformats.org/officeDocument/2006/relationships/slideLayout" Target="../slideLayouts/slideLayout25.xml"/>
</Relationships>
</file>

<file path=ppt/slides/_rels/slide285.xml.rels><?xml version="1.0" encoding="UTF-8"?>
<Relationships xmlns="http://schemas.openxmlformats.org/package/2006/relationships"><Relationship Id="rId1" Type="http://schemas.openxmlformats.org/officeDocument/2006/relationships/image" Target="../media/image343.jpeg"/><Relationship Id="rId2" Type="http://schemas.openxmlformats.org/officeDocument/2006/relationships/image" Target="../media/image344.png"/><Relationship Id="rId3" Type="http://schemas.openxmlformats.org/officeDocument/2006/relationships/slideLayout" Target="../slideLayouts/slideLayout25.xml"/>
</Relationships>
</file>

<file path=ppt/slides/_rels/slide2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87.xml.rels><?xml version="1.0" encoding="UTF-8"?>
<Relationships xmlns="http://schemas.openxmlformats.org/package/2006/relationships"><Relationship Id="rId1" Type="http://schemas.openxmlformats.org/officeDocument/2006/relationships/image" Target="../media/image345.jpeg"/><Relationship Id="rId2" Type="http://schemas.openxmlformats.org/officeDocument/2006/relationships/slideLayout" Target="../slideLayouts/slideLayout25.xml"/>
</Relationships>
</file>

<file path=ppt/slides/_rels/slide288.xml.rels><?xml version="1.0" encoding="UTF-8"?>
<Relationships xmlns="http://schemas.openxmlformats.org/package/2006/relationships"><Relationship Id="rId1" Type="http://schemas.openxmlformats.org/officeDocument/2006/relationships/image" Target="../media/image346.jpeg"/><Relationship Id="rId2" Type="http://schemas.openxmlformats.org/officeDocument/2006/relationships/slideLayout" Target="../slideLayouts/slideLayout25.xml"/>
</Relationships>
</file>

<file path=ppt/slides/_rels/slide289.xml.rels><?xml version="1.0" encoding="UTF-8"?>
<Relationships xmlns="http://schemas.openxmlformats.org/package/2006/relationships"><Relationship Id="rId1" Type="http://schemas.openxmlformats.org/officeDocument/2006/relationships/image" Target="../media/image347.png"/><Relationship Id="rId2" Type="http://schemas.openxmlformats.org/officeDocument/2006/relationships/image" Target="../media/image348.png"/><Relationship Id="rId3" Type="http://schemas.openxmlformats.org/officeDocument/2006/relationships/image" Target="../media/image349.png"/><Relationship Id="rId4" Type="http://schemas.openxmlformats.org/officeDocument/2006/relationships/image" Target="../media/image350.png"/><Relationship Id="rId5" Type="http://schemas.openxmlformats.org/officeDocument/2006/relationships/slideLayout" Target="../slideLayouts/slideLayout13.xml"/>
</Relationships>
</file>

<file path=ppt/slides/_rels/slide290.xml.rels><?xml version="1.0" encoding="UTF-8"?>
<Relationships xmlns="http://schemas.openxmlformats.org/package/2006/relationships"><Relationship Id="rId1" Type="http://schemas.openxmlformats.org/officeDocument/2006/relationships/image" Target="../media/image351.png"/><Relationship Id="rId2" Type="http://schemas.openxmlformats.org/officeDocument/2006/relationships/image" Target="../media/image352.png"/><Relationship Id="rId3" Type="http://schemas.openxmlformats.org/officeDocument/2006/relationships/image" Target="../media/image353.png"/><Relationship Id="rId4" Type="http://schemas.openxmlformats.org/officeDocument/2006/relationships/slideLayout" Target="../slideLayouts/slideLayout37.xml"/>
</Relationships>
</file>

<file path=ppt/slides/_rels/slide2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92.xml.rels><?xml version="1.0" encoding="UTF-8"?>
<Relationships xmlns="http://schemas.openxmlformats.org/package/2006/relationships"><Relationship Id="rId1" Type="http://schemas.openxmlformats.org/officeDocument/2006/relationships/image" Target="../media/image354.jpeg"/><Relationship Id="rId2" Type="http://schemas.openxmlformats.org/officeDocument/2006/relationships/slideLayout" Target="../slideLayouts/slideLayout25.xml"/>
</Relationships>
</file>

<file path=ppt/slides/_rels/slide293.xml.rels><?xml version="1.0" encoding="UTF-8"?>
<Relationships xmlns="http://schemas.openxmlformats.org/package/2006/relationships"><Relationship Id="rId1" Type="http://schemas.openxmlformats.org/officeDocument/2006/relationships/image" Target="../media/image355.jpeg"/><Relationship Id="rId2" Type="http://schemas.openxmlformats.org/officeDocument/2006/relationships/slideLayout" Target="../slideLayouts/slideLayout25.xml"/>
</Relationships>
</file>

<file path=ppt/slides/_rels/slide294.xml.rels><?xml version="1.0" encoding="UTF-8"?>
<Relationships xmlns="http://schemas.openxmlformats.org/package/2006/relationships"><Relationship Id="rId1" Type="http://schemas.openxmlformats.org/officeDocument/2006/relationships/image" Target="../media/image356.png"/><Relationship Id="rId2" Type="http://schemas.openxmlformats.org/officeDocument/2006/relationships/slideLayout" Target="../slideLayouts/slideLayout37.xml"/>
</Relationships>
</file>

<file path=ppt/slides/_rels/slide295.xml.rels><?xml version="1.0" encoding="UTF-8"?>
<Relationships xmlns="http://schemas.openxmlformats.org/package/2006/relationships"><Relationship Id="rId1" Type="http://schemas.openxmlformats.org/officeDocument/2006/relationships/image" Target="../media/image357.png"/><Relationship Id="rId2" Type="http://schemas.openxmlformats.org/officeDocument/2006/relationships/image" Target="../media/image358.png"/><Relationship Id="rId3" Type="http://schemas.openxmlformats.org/officeDocument/2006/relationships/image" Target="../media/image359.png"/><Relationship Id="rId4" Type="http://schemas.openxmlformats.org/officeDocument/2006/relationships/slideLayout" Target="../slideLayouts/slideLayout37.xml"/>
</Relationships>
</file>

<file path=ppt/slides/_rels/slide2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97.xml.rels><?xml version="1.0" encoding="UTF-8"?>
<Relationships xmlns="http://schemas.openxmlformats.org/package/2006/relationships"><Relationship Id="rId1" Type="http://schemas.openxmlformats.org/officeDocument/2006/relationships/image" Target="../media/image360.png"/><Relationship Id="rId2" Type="http://schemas.openxmlformats.org/officeDocument/2006/relationships/image" Target="../media/image361.png"/><Relationship Id="rId3" Type="http://schemas.openxmlformats.org/officeDocument/2006/relationships/image" Target="../media/image362.png"/><Relationship Id="rId4" Type="http://schemas.openxmlformats.org/officeDocument/2006/relationships/image" Target="../media/image363.png"/><Relationship Id="rId5" Type="http://schemas.openxmlformats.org/officeDocument/2006/relationships/image" Target="../media/image364.png"/><Relationship Id="rId6" Type="http://schemas.openxmlformats.org/officeDocument/2006/relationships/slideLayout" Target="../slideLayouts/slideLayout37.xml"/>
</Relationships>
</file>

<file path=ppt/slides/_rels/slide298.xml.rels><?xml version="1.0" encoding="UTF-8"?>
<Relationships xmlns="http://schemas.openxmlformats.org/package/2006/relationships"><Relationship Id="rId1" Type="http://schemas.openxmlformats.org/officeDocument/2006/relationships/image" Target="../media/image365.jpeg"/><Relationship Id="rId2" Type="http://schemas.openxmlformats.org/officeDocument/2006/relationships/slideLayout" Target="../slideLayouts/slideLayout25.xml"/>
</Relationships>
</file>

<file path=ppt/slides/_rels/slide299.xml.rels><?xml version="1.0" encoding="UTF-8"?>
<Relationships xmlns="http://schemas.openxmlformats.org/package/2006/relationships"><Relationship Id="rId1" Type="http://schemas.openxmlformats.org/officeDocument/2006/relationships/image" Target="../media/image366.png"/><Relationship Id="rId2" Type="http://schemas.openxmlformats.org/officeDocument/2006/relationships/slideLayout" Target="../slideLayouts/slideLayout37.xml"/>
</Relationships>
</file>

<file path=ppt/slides/_rels/slide300.xml.rels><?xml version="1.0" encoding="UTF-8"?>
<Relationships xmlns="http://schemas.openxmlformats.org/package/2006/relationships"><Relationship Id="rId1" Type="http://schemas.openxmlformats.org/officeDocument/2006/relationships/image" Target="../media/image367.png"/><Relationship Id="rId2" Type="http://schemas.openxmlformats.org/officeDocument/2006/relationships/image" Target="../media/image368.png"/><Relationship Id="rId3" Type="http://schemas.openxmlformats.org/officeDocument/2006/relationships/image" Target="../media/image369.png"/><Relationship Id="rId4" Type="http://schemas.openxmlformats.org/officeDocument/2006/relationships/slideLayout" Target="../slideLayouts/slideLayout37.xml"/>
</Relationships>
</file>

<file path=ppt/slides/_rels/slide301.xml.rels><?xml version="1.0" encoding="UTF-8"?>
<Relationships xmlns="http://schemas.openxmlformats.org/package/2006/relationships"><Relationship Id="rId1" Type="http://schemas.openxmlformats.org/officeDocument/2006/relationships/image" Target="../media/image370.jpeg"/><Relationship Id="rId2" Type="http://schemas.openxmlformats.org/officeDocument/2006/relationships/slideLayout" Target="../slideLayouts/slideLayout25.xml"/>
</Relationships>
</file>

<file path=ppt/slides/_rels/slide302.xml.rels><?xml version="1.0" encoding="UTF-8"?>
<Relationships xmlns="http://schemas.openxmlformats.org/package/2006/relationships"><Relationship Id="rId1" Type="http://schemas.openxmlformats.org/officeDocument/2006/relationships/image" Target="../media/image371.png"/><Relationship Id="rId2" Type="http://schemas.openxmlformats.org/officeDocument/2006/relationships/slideLayout" Target="../slideLayouts/slideLayout37.xml"/>
</Relationships>
</file>

<file path=ppt/slides/_rels/slide303.xml.rels><?xml version="1.0" encoding="UTF-8"?>
<Relationships xmlns="http://schemas.openxmlformats.org/package/2006/relationships"><Relationship Id="rId1" Type="http://schemas.openxmlformats.org/officeDocument/2006/relationships/image" Target="../media/image372.png"/><Relationship Id="rId2" Type="http://schemas.openxmlformats.org/officeDocument/2006/relationships/image" Target="../media/image373.png"/><Relationship Id="rId3" Type="http://schemas.openxmlformats.org/officeDocument/2006/relationships/image" Target="../media/image374.png"/><Relationship Id="rId4" Type="http://schemas.openxmlformats.org/officeDocument/2006/relationships/slideLayout" Target="../slideLayouts/slideLayout37.xml"/>
</Relationships>
</file>

<file path=ppt/slides/_rels/slide3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305.xml.rels><?xml version="1.0" encoding="UTF-8"?>
<Relationships xmlns="http://schemas.openxmlformats.org/package/2006/relationships"><Relationship Id="rId1" Type="http://schemas.openxmlformats.org/officeDocument/2006/relationships/image" Target="../media/image375.jpeg"/><Relationship Id="rId2" Type="http://schemas.openxmlformats.org/officeDocument/2006/relationships/image" Target="../media/image376.png"/><Relationship Id="rId3" Type="http://schemas.openxmlformats.org/officeDocument/2006/relationships/slideLayout" Target="../slideLayouts/slideLayout25.xml"/>
</Relationships>
</file>

<file path=ppt/slides/_rels/slide306.xml.rels><?xml version="1.0" encoding="UTF-8"?>
<Relationships xmlns="http://schemas.openxmlformats.org/package/2006/relationships"><Relationship Id="rId1" Type="http://schemas.openxmlformats.org/officeDocument/2006/relationships/hyperlink" Target="https://kubernetes.io/docs/concepts/services-networking/ingress/#tls" TargetMode="External"/><Relationship Id="rId2" Type="http://schemas.openxmlformats.org/officeDocument/2006/relationships/hyperlink" Target="https://kubernetes.io/docs/concepts/services-networking/ingress/#tls" TargetMode="External"/><Relationship Id="rId3" Type="http://schemas.openxmlformats.org/officeDocument/2006/relationships/slideLayout" Target="../slideLayouts/slideLayout37.xml"/>
</Relationships>
</file>

<file path=ppt/slides/_rels/slide307.xml.rels><?xml version="1.0" encoding="UTF-8"?>
<Relationships xmlns="http://schemas.openxmlformats.org/package/2006/relationships"><Relationship Id="rId1" Type="http://schemas.openxmlformats.org/officeDocument/2006/relationships/hyperlink" Target="https://kubernetes.io/docs/concepts/services-networking/ingress-controllers/" TargetMode="External"/><Relationship Id="rId2" Type="http://schemas.openxmlformats.org/officeDocument/2006/relationships/hyperlink" Target="https://kubernetes.io/docs/concepts/services-networking/ingress-controllers/" TargetMode="External"/><Relationship Id="rId3" Type="http://schemas.openxmlformats.org/officeDocument/2006/relationships/slideLayout" Target="../slideLayouts/slideLayout37.xml"/>
</Relationships>
</file>

<file path=ppt/slides/_rels/slide308.xml.rels><?xml version="1.0" encoding="UTF-8"?>
<Relationships xmlns="http://schemas.openxmlformats.org/package/2006/relationships"><Relationship Id="rId1" Type="http://schemas.openxmlformats.org/officeDocument/2006/relationships/image" Target="../media/image377.jpeg"/><Relationship Id="rId2" Type="http://schemas.openxmlformats.org/officeDocument/2006/relationships/slideLayout" Target="../slideLayouts/slideLayout25.xml"/>
</Relationships>
</file>

<file path=ppt/slides/_rels/slide309.xml.rels><?xml version="1.0" encoding="UTF-8"?>
<Relationships xmlns="http://schemas.openxmlformats.org/package/2006/relationships"><Relationship Id="rId1" Type="http://schemas.openxmlformats.org/officeDocument/2006/relationships/image" Target="../media/image378.png"/><Relationship Id="rId2" Type="http://schemas.openxmlformats.org/officeDocument/2006/relationships/slideLayout" Target="../slideLayouts/slideLayout37.xml"/>
</Relationships>
</file>

<file path=ppt/slides/_rels/slide310.xml.rels><?xml version="1.0" encoding="UTF-8"?>
<Relationships xmlns="http://schemas.openxmlformats.org/package/2006/relationships"><Relationship Id="rId1" Type="http://schemas.openxmlformats.org/officeDocument/2006/relationships/image" Target="../media/image379.png"/><Relationship Id="rId2" Type="http://schemas.openxmlformats.org/officeDocument/2006/relationships/slideLayout" Target="../slideLayouts/slideLayout37.xml"/>
</Relationships>
</file>

<file path=ppt/slides/_rels/slide3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13.xml.rels><?xml version="1.0" encoding="UTF-8"?>
<Relationships xmlns="http://schemas.openxmlformats.org/package/2006/relationships"><Relationship Id="rId1" Type="http://schemas.openxmlformats.org/officeDocument/2006/relationships/image" Target="../media/image380.png"/><Relationship Id="rId2" Type="http://schemas.openxmlformats.org/officeDocument/2006/relationships/slideLayout" Target="../slideLayouts/slideLayout37.xml"/>
</Relationships>
</file>

<file path=ppt/slides/_rels/slide314.xml.rels><?xml version="1.0" encoding="UTF-8"?>
<Relationships xmlns="http://schemas.openxmlformats.org/package/2006/relationships"><Relationship Id="rId1" Type="http://schemas.openxmlformats.org/officeDocument/2006/relationships/hyperlink" Target="https://github.com/kubernetes-sigs/external-dns" TargetMode="External"/><Relationship Id="rId2" Type="http://schemas.openxmlformats.org/officeDocument/2006/relationships/slideLayout" Target="../slideLayouts/slideLayout37.xml"/>
</Relationships>
</file>

<file path=ppt/slides/_rels/slide315.xml.rels><?xml version="1.0" encoding="UTF-8"?>
<Relationships xmlns="http://schemas.openxmlformats.org/package/2006/relationships"><Relationship Id="rId1" Type="http://schemas.openxmlformats.org/officeDocument/2006/relationships/image" Target="../media/image381.png"/><Relationship Id="rId2" Type="http://schemas.openxmlformats.org/officeDocument/2006/relationships/hyperlink" Target="http://star-alliance.com/corellian/api" TargetMode="External"/><Relationship Id="rId3" Type="http://schemas.openxmlformats.org/officeDocument/2006/relationships/hyperlink" Target="http://star-alliance.com/corellian/api/" TargetMode="External"/><Relationship Id="rId4" Type="http://schemas.openxmlformats.org/officeDocument/2006/relationships/slideLayout" Target="../slideLayouts/slideLayout37.xml"/>
</Relationships>
</file>

<file path=ppt/slides/_rels/slide3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317.xml.rels><?xml version="1.0" encoding="UTF-8"?>
<Relationships xmlns="http://schemas.openxmlformats.org/package/2006/relationships"><Relationship Id="rId1" Type="http://schemas.openxmlformats.org/officeDocument/2006/relationships/image" Target="../media/image382.jpeg"/><Relationship Id="rId2" Type="http://schemas.openxmlformats.org/officeDocument/2006/relationships/image" Target="../media/image383.png"/><Relationship Id="rId3" Type="http://schemas.openxmlformats.org/officeDocument/2006/relationships/slideLayout" Target="../slideLayouts/slideLayout25.xml"/>
</Relationships>
</file>

<file path=ppt/slides/_rels/slide318.xml.rels><?xml version="1.0" encoding="UTF-8"?>
<Relationships xmlns="http://schemas.openxmlformats.org/package/2006/relationships"><Relationship Id="rId1" Type="http://schemas.openxmlformats.org/officeDocument/2006/relationships/hyperlink" Target="https://kubernetes.io/docs/concepts/extend-kubernetes/compute-storage-net/network-plugins/" TargetMode="External"/><Relationship Id="rId2" Type="http://schemas.openxmlformats.org/officeDocument/2006/relationships/hyperlink" Target="https://kubernetes.io/docs/concepts/extend-kubernetes/compute-storage-net/network-plugins/" TargetMode="External"/><Relationship Id="rId3" Type="http://schemas.openxmlformats.org/officeDocument/2006/relationships/hyperlink" Target="https://kubernetes.io/docs/concepts/extend-kubernetes/compute-storage-net/network-plugins/" TargetMode="External"/><Relationship Id="rId4" Type="http://schemas.openxmlformats.org/officeDocument/2006/relationships/hyperlink" Target="https://kubernetes.io/docs/concepts/extend-kubernetes/compute-storage-net/network-plugins/" TargetMode="External"/><Relationship Id="rId5" Type="http://schemas.openxmlformats.org/officeDocument/2006/relationships/slideLayout" Target="../slideLayouts/slideLayout37.xml"/>
</Relationships>
</file>

<file path=ppt/slides/_rels/slide319.xml.rels><?xml version="1.0" encoding="UTF-8"?>
<Relationships xmlns="http://schemas.openxmlformats.org/package/2006/relationships"><Relationship Id="rId1" Type="http://schemas.openxmlformats.org/officeDocument/2006/relationships/hyperlink" Target="https://kubernetes.io/docs/tasks/administer-cluster/network-policy-provider/cilium-network-policy/" TargetMode="External"/><Relationship Id="rId2" Type="http://schemas.openxmlformats.org/officeDocument/2006/relationships/slideLayout" Target="../slideLayouts/slideLayout37.xml"/>
</Relationships>
</file>

<file path=ppt/slides/_rels/slide320.xml.rels><?xml version="1.0" encoding="UTF-8"?>
<Relationships xmlns="http://schemas.openxmlformats.org/package/2006/relationships"><Relationship Id="rId1" Type="http://schemas.openxmlformats.org/officeDocument/2006/relationships/image" Target="../media/image384.png"/><Relationship Id="rId2" Type="http://schemas.openxmlformats.org/officeDocument/2006/relationships/slideLayout" Target="../slideLayouts/slideLayout37.xml"/>
</Relationships>
</file>

<file path=ppt/slides/_rels/slide321.xml.rels><?xml version="1.0" encoding="UTF-8"?>
<Relationships xmlns="http://schemas.openxmlformats.org/package/2006/relationships"><Relationship Id="rId1" Type="http://schemas.openxmlformats.org/officeDocument/2006/relationships/image" Target="../media/image385.png"/><Relationship Id="rId2" Type="http://schemas.openxmlformats.org/officeDocument/2006/relationships/slideLayout" Target="../slideLayouts/slideLayout37.xml"/>
</Relationships>
</file>

<file path=ppt/slides/_rels/slide322.xml.rels><?xml version="1.0" encoding="UTF-8"?>
<Relationships xmlns="http://schemas.openxmlformats.org/package/2006/relationships"><Relationship Id="rId1" Type="http://schemas.openxmlformats.org/officeDocument/2006/relationships/image" Target="../media/image386.png"/><Relationship Id="rId2" Type="http://schemas.openxmlformats.org/officeDocument/2006/relationships/slideLayout" Target="../slideLayouts/slideLayout37.xml"/>
</Relationships>
</file>

<file path=ppt/slides/_rels/slide323.xml.rels><?xml version="1.0" encoding="UTF-8"?>
<Relationships xmlns="http://schemas.openxmlformats.org/package/2006/relationships"><Relationship Id="rId1" Type="http://schemas.openxmlformats.org/officeDocument/2006/relationships/image" Target="../media/image387.jpeg"/><Relationship Id="rId2" Type="http://schemas.openxmlformats.org/officeDocument/2006/relationships/slideLayout" Target="../slideLayouts/slideLayout25.xml"/>
</Relationships>
</file>

<file path=ppt/slides/_rels/slide324.xml.rels><?xml version="1.0" encoding="UTF-8"?>
<Relationships xmlns="http://schemas.openxmlformats.org/package/2006/relationships"><Relationship Id="rId1" Type="http://schemas.openxmlformats.org/officeDocument/2006/relationships/image" Target="../media/image388.png"/><Relationship Id="rId2" Type="http://schemas.openxmlformats.org/officeDocument/2006/relationships/slideLayout" Target="../slideLayouts/slideLayout37.xml"/>
</Relationships>
</file>

<file path=ppt/slides/_rels/slide325.xml.rels><?xml version="1.0" encoding="UTF-8"?>
<Relationships xmlns="http://schemas.openxmlformats.org/package/2006/relationships"><Relationship Id="rId1" Type="http://schemas.openxmlformats.org/officeDocument/2006/relationships/image" Target="../media/image389.png"/><Relationship Id="rId2" Type="http://schemas.openxmlformats.org/officeDocument/2006/relationships/slideLayout" Target="../slideLayouts/slideLayout37.xml"/>
</Relationships>
</file>

<file path=ppt/slides/_rels/slide326.xml.rels><?xml version="1.0" encoding="UTF-8"?>
<Relationships xmlns="http://schemas.openxmlformats.org/package/2006/relationships"><Relationship Id="rId1" Type="http://schemas.openxmlformats.org/officeDocument/2006/relationships/image" Target="../media/image390.png"/><Relationship Id="rId2" Type="http://schemas.openxmlformats.org/officeDocument/2006/relationships/slideLayout" Target="../slideLayouts/slideLayout37.xml"/>
</Relationships>
</file>

<file path=ppt/slides/_rels/slide327.xml.rels><?xml version="1.0" encoding="UTF-8"?>
<Relationships xmlns="http://schemas.openxmlformats.org/package/2006/relationships"><Relationship Id="rId1" Type="http://schemas.openxmlformats.org/officeDocument/2006/relationships/image" Target="../media/image391.png"/><Relationship Id="rId2" Type="http://schemas.openxmlformats.org/officeDocument/2006/relationships/slideLayout" Target="../slideLayouts/slideLayout37.xml"/>
</Relationships>
</file>

<file path=ppt/slides/_rels/slide328.xml.rels><?xml version="1.0" encoding="UTF-8"?>
<Relationships xmlns="http://schemas.openxmlformats.org/package/2006/relationships"><Relationship Id="rId1" Type="http://schemas.openxmlformats.org/officeDocument/2006/relationships/image" Target="../media/image392.png"/><Relationship Id="rId2" Type="http://schemas.openxmlformats.org/officeDocument/2006/relationships/slideLayout" Target="../slideLayouts/slideLayout37.xml"/>
</Relationships>
</file>

<file path=ppt/slides/_rels/slide329.xml.rels><?xml version="1.0" encoding="UTF-8"?>
<Relationships xmlns="http://schemas.openxmlformats.org/package/2006/relationships"><Relationship Id="rId1" Type="http://schemas.openxmlformats.org/officeDocument/2006/relationships/image" Target="../media/image393.jpeg"/><Relationship Id="rId2" Type="http://schemas.openxmlformats.org/officeDocument/2006/relationships/hyperlink" Target="https://github.com/ahmetb/kubernetes-network-policy-recipes" TargetMode="External"/><Relationship Id="rId3" Type="http://schemas.openxmlformats.org/officeDocument/2006/relationships/slideLayout" Target="../slideLayouts/slideLayout37.xml"/>
</Relationships>
</file>

<file path=ppt/slides/_rels/slide330.xml.rels><?xml version="1.0" encoding="UTF-8"?>
<Relationships xmlns="http://schemas.openxmlformats.org/package/2006/relationships"><Relationship Id="rId1" Type="http://schemas.openxmlformats.org/officeDocument/2006/relationships/hyperlink" Target="https://networkpolicy.io/" TargetMode="External"/><Relationship Id="rId2" Type="http://schemas.openxmlformats.org/officeDocument/2006/relationships/hyperlink" Target="https://networkpolicy.io/" TargetMode="External"/><Relationship Id="rId3" Type="http://schemas.openxmlformats.org/officeDocument/2006/relationships/image" Target="../media/image394.png"/><Relationship Id="rId4" Type="http://schemas.openxmlformats.org/officeDocument/2006/relationships/slideLayout" Target="../slideLayouts/slideLayout25.xml"/>
</Relationships>
</file>

<file path=ppt/slides/_rels/slide3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object 32"/>
          <p:cNvSpPr/>
          <p:nvPr/>
        </p:nvSpPr>
        <p:spPr>
          <a:xfrm>
            <a:off x="8412840" y="4408200"/>
            <a:ext cx="549000" cy="465120"/>
          </a:xfrm>
          <a:custGeom>
            <a:avLst/>
            <a:gdLst/>
            <a:ahLst/>
            <a:rect l="l" t="t" r="r" b="b"/>
            <a:pathLst>
              <a:path w="557529" h="473710">
                <a:moveTo>
                  <a:pt x="557099" y="473399"/>
                </a:moveTo>
                <a:lnTo>
                  <a:pt x="0" y="473399"/>
                </a:lnTo>
                <a:lnTo>
                  <a:pt x="0" y="0"/>
                </a:lnTo>
                <a:lnTo>
                  <a:pt x="557099" y="0"/>
                </a:lnTo>
                <a:lnTo>
                  <a:pt x="557099" y="47339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20" name="object 33" descr=""/>
          <p:cNvPicPr/>
          <p:nvPr/>
        </p:nvPicPr>
        <p:blipFill>
          <a:blip r:embed="rId1"/>
          <a:stretch/>
        </p:blipFill>
        <p:spPr>
          <a:xfrm>
            <a:off x="3893040" y="1324800"/>
            <a:ext cx="5242320" cy="3810240"/>
          </a:xfrm>
          <a:prstGeom prst="rect">
            <a:avLst/>
          </a:prstGeom>
          <a:ln w="0">
            <a:noFill/>
          </a:ln>
        </p:spPr>
      </p:pic>
      <p:sp>
        <p:nvSpPr>
          <p:cNvPr id="221" name="object 34"/>
          <p:cNvSpPr/>
          <p:nvPr/>
        </p:nvSpPr>
        <p:spPr>
          <a:xfrm>
            <a:off x="587880" y="1167840"/>
            <a:ext cx="3615840" cy="10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0040" bIns="0" anchor="t">
            <a:spAutoFit/>
          </a:bodyPr>
          <a:p>
            <a:pPr marL="12600">
              <a:lnSpc>
                <a:spcPts val="2631"/>
              </a:lnSpc>
              <a:spcBef>
                <a:spcPts val="394"/>
              </a:spcBef>
              <a:buNone/>
            </a:pPr>
            <a:r>
              <a:rPr b="0" lang="fr-FR" sz="2400" spc="-7" strike="noStrike">
                <a:solidFill>
                  <a:srgbClr val="6c6c6c"/>
                </a:solidFill>
                <a:latin typeface="Arial MT"/>
                <a:ea typeface="DejaVu Sans"/>
              </a:rPr>
              <a:t>Certified Kubernetes </a:t>
            </a:r>
            <a:r>
              <a:rPr b="0" lang="fr-FR" sz="2400" spc="-1" strike="noStrike">
                <a:solidFill>
                  <a:srgbClr val="6c6c6c"/>
                </a:solidFill>
                <a:latin typeface="Arial MT"/>
                <a:ea typeface="DejaVu Sans"/>
              </a:rPr>
              <a:t> </a:t>
            </a:r>
            <a:r>
              <a:rPr b="0" lang="fr-FR" sz="2400" spc="-7" strike="noStrike">
                <a:solidFill>
                  <a:srgbClr val="6c6c6c"/>
                </a:solidFill>
                <a:latin typeface="Arial MT"/>
                <a:ea typeface="DejaVu Sans"/>
              </a:rPr>
              <a:t>Application Developer</a:t>
            </a:r>
            <a:r>
              <a:rPr b="0" lang="fr-FR" sz="2400" spc="-60" strike="noStrike">
                <a:solidFill>
                  <a:srgbClr val="6c6c6c"/>
                </a:solidFill>
                <a:latin typeface="Arial MT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6c6c6c"/>
                </a:solidFill>
                <a:latin typeface="Arial MT"/>
                <a:ea typeface="DejaVu Sans"/>
              </a:rPr>
              <a:t>(CKAD)</a:t>
            </a:r>
            <a:r>
              <a:rPr b="0" lang="fr-FR" sz="2400" spc="-52" strike="noStrike">
                <a:solidFill>
                  <a:srgbClr val="6c6c6c"/>
                </a:solidFill>
                <a:latin typeface="Arial MT"/>
                <a:ea typeface="DejaVu Sans"/>
              </a:rPr>
              <a:t> 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222" name="object 35"/>
          <p:cNvSpPr/>
          <p:nvPr/>
        </p:nvSpPr>
        <p:spPr>
          <a:xfrm>
            <a:off x="223920" y="163800"/>
            <a:ext cx="1861560" cy="207360"/>
          </a:xfrm>
          <a:custGeom>
            <a:avLst/>
            <a:gdLst/>
            <a:ahLst/>
            <a:rect l="l" t="t" r="r" b="b"/>
            <a:pathLst>
              <a:path w="1870075" h="215900">
                <a:moveTo>
                  <a:pt x="1869599" y="215399"/>
                </a:moveTo>
                <a:lnTo>
                  <a:pt x="0" y="215399"/>
                </a:lnTo>
                <a:lnTo>
                  <a:pt x="0" y="0"/>
                </a:lnTo>
                <a:lnTo>
                  <a:pt x="1869599" y="0"/>
                </a:lnTo>
                <a:lnTo>
                  <a:pt x="1869599" y="21539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object 36"/>
          <p:cNvSpPr/>
          <p:nvPr/>
        </p:nvSpPr>
        <p:spPr>
          <a:xfrm>
            <a:off x="587880" y="2426400"/>
            <a:ext cx="2643840" cy="3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i="1" lang="fr-FR" sz="2200" spc="-446" strike="noStrike">
                <a:solidFill>
                  <a:srgbClr val="d3002d"/>
                </a:solidFill>
                <a:latin typeface="Trebuchet MS"/>
                <a:ea typeface="DejaVu Sans"/>
              </a:rPr>
              <a:t>K</a:t>
            </a:r>
            <a:r>
              <a:rPr b="1" i="1" lang="fr-FR" sz="2200" spc="-440" strike="noStrike">
                <a:solidFill>
                  <a:srgbClr val="d3002d"/>
                </a:solidFill>
                <a:latin typeface="Trebuchet MS"/>
                <a:ea typeface="DejaVu Sans"/>
              </a:rPr>
              <a:t>u</a:t>
            </a:r>
            <a:r>
              <a:rPr b="1" i="1" lang="fr-FR" sz="2200" spc="-335" strike="noStrike">
                <a:solidFill>
                  <a:srgbClr val="d3002d"/>
                </a:solidFill>
                <a:latin typeface="Trebuchet MS"/>
                <a:ea typeface="DejaVu Sans"/>
              </a:rPr>
              <a:t>bernetes</a:t>
            </a:r>
            <a:r>
              <a:rPr b="1" i="1" lang="fr-FR" sz="2200" spc="-137" strike="noStrike">
                <a:solidFill>
                  <a:srgbClr val="d3002d"/>
                </a:solidFill>
                <a:latin typeface="Trebuchet MS"/>
                <a:ea typeface="DejaVu Sans"/>
              </a:rPr>
              <a:t> </a:t>
            </a:r>
            <a:r>
              <a:rPr b="1" i="1" lang="fr-FR" sz="2200" spc="-330" strike="noStrike">
                <a:solidFill>
                  <a:srgbClr val="d3002d"/>
                </a:solidFill>
                <a:latin typeface="Trebuchet MS"/>
                <a:ea typeface="DejaVu Sans"/>
              </a:rPr>
              <a:t>1.31</a:t>
            </a:r>
            <a:r>
              <a:rPr b="1" i="1" lang="fr-FR" sz="2200" spc="-137" strike="noStrike">
                <a:solidFill>
                  <a:srgbClr val="d3002d"/>
                </a:solidFill>
                <a:latin typeface="Trebuchet MS"/>
                <a:ea typeface="DejaVu Sans"/>
              </a:rPr>
              <a:t> </a:t>
            </a:r>
            <a:r>
              <a:rPr b="1" i="1" lang="fr-FR" sz="2200" spc="-296" strike="noStrike">
                <a:solidFill>
                  <a:srgbClr val="d3002d"/>
                </a:solidFill>
                <a:latin typeface="Trebuchet MS"/>
                <a:ea typeface="DejaVu Sans"/>
              </a:rPr>
              <a:t>Edition</a:t>
            </a:r>
            <a:endParaRPr b="0" lang="fr-FR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385920" y="391320"/>
            <a:ext cx="5726880" cy="86256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4000" spc="-1" strike="noStrike">
                <a:solidFill>
                  <a:srgbClr val="000000"/>
                </a:solidFill>
                <a:latin typeface="Arial"/>
              </a:rPr>
              <a:t>About the trainer</a:t>
            </a:r>
            <a:endParaRPr b="0" lang="fr-FR" sz="4000" spc="-1" strike="noStrike">
              <a:latin typeface="Arial"/>
            </a:endParaRPr>
          </a:p>
        </p:txBody>
      </p:sp>
      <p:sp>
        <p:nvSpPr>
          <p:cNvPr id="225" name="object 1"/>
          <p:cNvSpPr/>
          <p:nvPr/>
        </p:nvSpPr>
        <p:spPr>
          <a:xfrm>
            <a:off x="441720" y="1289880"/>
            <a:ext cx="5581080" cy="13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8080" bIns="0" anchor="t">
            <a:spAutoFit/>
          </a:bodyPr>
          <a:p>
            <a:pPr marL="96480" indent="-84600">
              <a:lnSpc>
                <a:spcPts val="2849"/>
              </a:lnSpc>
              <a:spcBef>
                <a:spcPts val="221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595959"/>
                </a:solidFill>
                <a:latin typeface="Arial"/>
                <a:ea typeface="DejaVu Sans"/>
              </a:rPr>
              <a:t>Brahim HAMDI</a:t>
            </a:r>
            <a:endParaRPr b="0" lang="fr-FR" sz="2400" spc="-1" strike="noStrike">
              <a:latin typeface="Arial"/>
            </a:endParaRPr>
          </a:p>
          <a:p>
            <a:pPr marL="134640" indent="-84600">
              <a:lnSpc>
                <a:spcPct val="100000"/>
              </a:lnSpc>
              <a:spcBef>
                <a:spcPts val="6"/>
              </a:spcBef>
              <a:buNone/>
              <a:tabLst>
                <a:tab algn="l" pos="0"/>
              </a:tabLst>
            </a:pPr>
            <a:r>
              <a:rPr b="0" lang="fr-FR" sz="1200" spc="-12" strike="noStrike" u="heavy">
                <a:solidFill>
                  <a:srgbClr val="0000ff"/>
                </a:solidFill>
                <a:uFill>
                  <a:solidFill>
                    <a:srgbClr val="d3002d"/>
                  </a:solidFill>
                </a:uFill>
                <a:latin typeface="Arial MT"/>
                <a:ea typeface="DejaVu Sans"/>
                <a:hlinkClick r:id="rId1"/>
              </a:rPr>
              <a:t>brahim.hamdi.consult@gmail.com</a:t>
            </a:r>
            <a:endParaRPr b="0" lang="fr-FR" sz="1200" spc="-1" strike="noStrike">
              <a:latin typeface="Arial"/>
            </a:endParaRPr>
          </a:p>
          <a:p>
            <a:pPr marL="134640" indent="-84600">
              <a:lnSpc>
                <a:spcPct val="100000"/>
              </a:lnSpc>
              <a:spcBef>
                <a:spcPts val="6"/>
              </a:spcBef>
              <a:buNone/>
              <a:tabLst>
                <a:tab algn="l" pos="0"/>
              </a:tabLst>
            </a:pPr>
            <a:endParaRPr b="0" lang="fr-FR" sz="1200" spc="-1" strike="noStrike">
              <a:latin typeface="Arial"/>
            </a:endParaRPr>
          </a:p>
          <a:p>
            <a:pPr marL="98280" indent="-846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Arial"/>
                <a:ea typeface="DejaVu Sans"/>
              </a:rPr>
              <a:t>Consultant / Trainer</a:t>
            </a:r>
            <a:endParaRPr b="0" lang="fr-FR" sz="2000" spc="-1" strike="noStrike">
              <a:latin typeface="Arial"/>
            </a:endParaRPr>
          </a:p>
          <a:p>
            <a:pPr marL="98280" indent="-846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Arial"/>
                <a:ea typeface="DejaVu Sans"/>
              </a:rPr>
              <a:t>DevOps &amp; Cloud Expert</a:t>
            </a:r>
            <a:endParaRPr b="0" lang="fr-FR" sz="2000" spc="-1" strike="noStrike">
              <a:latin typeface="Arial"/>
            </a:endParaRPr>
          </a:p>
        </p:txBody>
      </p:sp>
      <p:pic>
        <p:nvPicPr>
          <p:cNvPr id="226" name="" descr=""/>
          <p:cNvPicPr/>
          <p:nvPr/>
        </p:nvPicPr>
        <p:blipFill>
          <a:blip r:embed="rId2"/>
          <a:stretch/>
        </p:blipFill>
        <p:spPr>
          <a:xfrm>
            <a:off x="2274840" y="3402720"/>
            <a:ext cx="707400" cy="655200"/>
          </a:xfrm>
          <a:prstGeom prst="rect">
            <a:avLst/>
          </a:prstGeom>
          <a:ln w="0">
            <a:noFill/>
          </a:ln>
        </p:spPr>
      </p:pic>
      <p:pic>
        <p:nvPicPr>
          <p:cNvPr id="227" name="" descr=""/>
          <p:cNvPicPr/>
          <p:nvPr/>
        </p:nvPicPr>
        <p:blipFill>
          <a:blip r:embed="rId3"/>
          <a:stretch/>
        </p:blipFill>
        <p:spPr>
          <a:xfrm>
            <a:off x="6579000" y="3204000"/>
            <a:ext cx="1009080" cy="981360"/>
          </a:xfrm>
          <a:prstGeom prst="rect">
            <a:avLst/>
          </a:prstGeom>
          <a:ln w="0">
            <a:noFill/>
          </a:ln>
        </p:spPr>
      </p:pic>
      <p:pic>
        <p:nvPicPr>
          <p:cNvPr id="228" name="" descr=""/>
          <p:cNvPicPr/>
          <p:nvPr/>
        </p:nvPicPr>
        <p:blipFill>
          <a:blip r:embed="rId4"/>
          <a:stretch/>
        </p:blipFill>
        <p:spPr>
          <a:xfrm>
            <a:off x="4330080" y="3357360"/>
            <a:ext cx="1514880" cy="696960"/>
          </a:xfrm>
          <a:prstGeom prst="rect">
            <a:avLst/>
          </a:prstGeom>
          <a:ln w="0">
            <a:noFill/>
          </a:ln>
        </p:spPr>
      </p:pic>
      <p:pic>
        <p:nvPicPr>
          <p:cNvPr id="229" name="" descr=""/>
          <p:cNvPicPr/>
          <p:nvPr/>
        </p:nvPicPr>
        <p:blipFill>
          <a:blip r:embed="rId5"/>
          <a:stretch/>
        </p:blipFill>
        <p:spPr>
          <a:xfrm>
            <a:off x="5878800" y="3389760"/>
            <a:ext cx="696600" cy="641520"/>
          </a:xfrm>
          <a:prstGeom prst="rect">
            <a:avLst/>
          </a:prstGeom>
          <a:ln w="0">
            <a:noFill/>
          </a:ln>
        </p:spPr>
      </p:pic>
      <p:pic>
        <p:nvPicPr>
          <p:cNvPr id="230" name="" descr=""/>
          <p:cNvPicPr/>
          <p:nvPr/>
        </p:nvPicPr>
        <p:blipFill>
          <a:blip r:embed="rId6"/>
          <a:stretch/>
        </p:blipFill>
        <p:spPr>
          <a:xfrm>
            <a:off x="3658680" y="3402720"/>
            <a:ext cx="685440" cy="666720"/>
          </a:xfrm>
          <a:prstGeom prst="rect">
            <a:avLst/>
          </a:prstGeom>
          <a:ln w="0">
            <a:noFill/>
          </a:ln>
        </p:spPr>
      </p:pic>
      <p:pic>
        <p:nvPicPr>
          <p:cNvPr id="231" name="" descr=""/>
          <p:cNvPicPr/>
          <p:nvPr/>
        </p:nvPicPr>
        <p:blipFill>
          <a:blip r:embed="rId7"/>
          <a:stretch/>
        </p:blipFill>
        <p:spPr>
          <a:xfrm>
            <a:off x="3018960" y="3383280"/>
            <a:ext cx="680760" cy="662040"/>
          </a:xfrm>
          <a:prstGeom prst="rect">
            <a:avLst/>
          </a:prstGeom>
          <a:ln w="0">
            <a:noFill/>
          </a:ln>
        </p:spPr>
      </p:pic>
      <p:pic>
        <p:nvPicPr>
          <p:cNvPr id="232" name="" descr=""/>
          <p:cNvPicPr/>
          <p:nvPr/>
        </p:nvPicPr>
        <p:blipFill>
          <a:blip r:embed="rId8"/>
          <a:stretch/>
        </p:blipFill>
        <p:spPr>
          <a:xfrm>
            <a:off x="1008000" y="3377160"/>
            <a:ext cx="1177560" cy="6570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18A1298-AD26-4310-8438-A6D4DCCA11C8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object 2" descr=""/>
          <p:cNvPicPr/>
          <p:nvPr/>
        </p:nvPicPr>
        <p:blipFill>
          <a:blip r:embed="rId1"/>
          <a:stretch/>
        </p:blipFill>
        <p:spPr>
          <a:xfrm>
            <a:off x="0" y="0"/>
            <a:ext cx="9141120" cy="5140440"/>
          </a:xfrm>
          <a:prstGeom prst="rect">
            <a:avLst/>
          </a:prstGeom>
          <a:ln w="0">
            <a:noFill/>
          </a:ln>
        </p:spPr>
      </p:pic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94280" y="1767960"/>
            <a:ext cx="3921480" cy="188640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1" lang="fr-FR" sz="3600" spc="29" strike="noStrike">
                <a:solidFill>
                  <a:srgbClr val="ffffff"/>
                </a:solidFill>
                <a:latin typeface="Tahoma"/>
              </a:rPr>
              <a:t>Application </a:t>
            </a:r>
            <a:r>
              <a:rPr b="1" lang="fr-FR" sz="3600" spc="3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Design</a:t>
            </a:r>
            <a:r>
              <a:rPr b="1" lang="fr-FR" sz="3600" spc="-22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9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600" spc="-22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21" strike="noStrike">
                <a:solidFill>
                  <a:srgbClr val="ffffff"/>
                </a:solidFill>
                <a:latin typeface="Tahoma"/>
              </a:rPr>
              <a:t>Build</a:t>
            </a:r>
            <a:endParaRPr b="0" lang="fr-FR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494280" y="371880"/>
            <a:ext cx="3283560" cy="86904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Topics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We’ll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Cover</a:t>
            </a:r>
            <a:endParaRPr b="0" lang="fr-FR" sz="2400" spc="-1" strike="noStrike">
              <a:latin typeface="Arial"/>
            </a:endParaRPr>
          </a:p>
        </p:txBody>
      </p:sp>
      <p:pic>
        <p:nvPicPr>
          <p:cNvPr id="236" name="object 3" descr=""/>
          <p:cNvPicPr/>
          <p:nvPr/>
        </p:nvPicPr>
        <p:blipFill>
          <a:blip r:embed="rId1"/>
          <a:stretch/>
        </p:blipFill>
        <p:spPr>
          <a:xfrm>
            <a:off x="4615560" y="3209760"/>
            <a:ext cx="146520" cy="344160"/>
          </a:xfrm>
          <a:prstGeom prst="rect">
            <a:avLst/>
          </a:prstGeom>
          <a:ln w="0">
            <a:noFill/>
          </a:ln>
        </p:spPr>
      </p:pic>
      <p:pic>
        <p:nvPicPr>
          <p:cNvPr id="237" name="object 4" descr=""/>
          <p:cNvPicPr/>
          <p:nvPr/>
        </p:nvPicPr>
        <p:blipFill>
          <a:blip r:embed="rId2"/>
          <a:stretch/>
        </p:blipFill>
        <p:spPr>
          <a:xfrm>
            <a:off x="506880" y="3209760"/>
            <a:ext cx="146520" cy="344160"/>
          </a:xfrm>
          <a:prstGeom prst="rect">
            <a:avLst/>
          </a:prstGeom>
          <a:ln w="0">
            <a:noFill/>
          </a:ln>
        </p:spPr>
      </p:pic>
      <p:pic>
        <p:nvPicPr>
          <p:cNvPr id="238" name="object 5" descr=""/>
          <p:cNvPicPr/>
          <p:nvPr/>
        </p:nvPicPr>
        <p:blipFill>
          <a:blip r:embed="rId3"/>
          <a:stretch/>
        </p:blipFill>
        <p:spPr>
          <a:xfrm>
            <a:off x="4615560" y="1436040"/>
            <a:ext cx="146520" cy="344160"/>
          </a:xfrm>
          <a:prstGeom prst="rect">
            <a:avLst/>
          </a:prstGeom>
          <a:ln w="0">
            <a:noFill/>
          </a:ln>
        </p:spPr>
      </p:pic>
      <p:pic>
        <p:nvPicPr>
          <p:cNvPr id="239" name="object 6" descr=""/>
          <p:cNvPicPr/>
          <p:nvPr/>
        </p:nvPicPr>
        <p:blipFill>
          <a:blip r:embed="rId4"/>
          <a:stretch/>
        </p:blipFill>
        <p:spPr>
          <a:xfrm>
            <a:off x="506880" y="1434600"/>
            <a:ext cx="146520" cy="344160"/>
          </a:xfrm>
          <a:prstGeom prst="rect">
            <a:avLst/>
          </a:prstGeom>
          <a:ln w="0">
            <a:noFill/>
          </a:ln>
        </p:spPr>
      </p:pic>
      <p:sp>
        <p:nvSpPr>
          <p:cNvPr id="240" name="object 8"/>
          <p:cNvSpPr/>
          <p:nvPr/>
        </p:nvSpPr>
        <p:spPr>
          <a:xfrm>
            <a:off x="760680" y="1383840"/>
            <a:ext cx="2837160" cy="11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r>
              <a:rPr b="1" lang="fr-FR" sz="1600" spc="-5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Images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00000"/>
              </a:lnSpc>
              <a:spcBef>
                <a:spcPts val="131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Terminology</a:t>
            </a:r>
            <a:endParaRPr b="0" lang="fr-FR" sz="1400" spc="-1" strike="noStrike">
              <a:latin typeface="Arial"/>
            </a:endParaRPr>
          </a:p>
          <a:p>
            <a:pPr marL="332640" indent="-19944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Containerization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process</a:t>
            </a:r>
            <a:endParaRPr b="0" lang="fr-FR" sz="1400" spc="-1" strike="noStrike">
              <a:latin typeface="Arial"/>
            </a:endParaRPr>
          </a:p>
          <a:p>
            <a:pPr marL="332640" indent="-19944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Docker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Engine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241" name="object 9"/>
          <p:cNvSpPr/>
          <p:nvPr/>
        </p:nvSpPr>
        <p:spPr>
          <a:xfrm>
            <a:off x="760680" y="3154320"/>
            <a:ext cx="3377160" cy="13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Single</a:t>
            </a:r>
            <a:r>
              <a:rPr b="1" lang="fr-FR" sz="1600" spc="-3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and</a:t>
            </a:r>
            <a:r>
              <a:rPr b="1" lang="fr-FR" sz="1600" spc="-3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multi-container</a:t>
            </a:r>
            <a:r>
              <a:rPr b="1" lang="fr-FR" sz="1600" spc="-3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Pods</a:t>
            </a:r>
            <a:endParaRPr b="0" lang="fr-FR" sz="1600" spc="-1" strike="noStrike">
              <a:latin typeface="Arial"/>
            </a:endParaRPr>
          </a:p>
          <a:p>
            <a:pPr marL="355680" indent="-22212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Running application workload in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</a:t>
            </a:r>
            <a:endParaRPr b="0" lang="fr-FR" sz="1400" spc="-1" strike="noStrike">
              <a:latin typeface="Arial"/>
            </a:endParaRPr>
          </a:p>
          <a:p>
            <a:pPr marL="355680" indent="-22212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Namespaces</a:t>
            </a:r>
            <a:endParaRPr b="0" lang="fr-FR" sz="1400" spc="-1" strike="noStrike">
              <a:latin typeface="Arial"/>
            </a:endParaRPr>
          </a:p>
          <a:p>
            <a:pPr marL="355680" indent="-22212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Design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patterns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242" name="object 10"/>
          <p:cNvSpPr/>
          <p:nvPr/>
        </p:nvSpPr>
        <p:spPr>
          <a:xfrm>
            <a:off x="4869360" y="1371240"/>
            <a:ext cx="3048480" cy="88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Jobs</a:t>
            </a:r>
            <a:r>
              <a:rPr b="1" lang="fr-FR" sz="1600" spc="-35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and</a:t>
            </a:r>
            <a:r>
              <a:rPr b="1" lang="fr-FR" sz="1600" spc="-35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CronJobs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00000"/>
              </a:lnSpc>
              <a:spcBef>
                <a:spcPts val="131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One-time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workload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execution</a:t>
            </a:r>
            <a:endParaRPr b="0" lang="fr-FR" sz="1400" spc="-1" strike="noStrike">
              <a:latin typeface="Arial"/>
            </a:endParaRPr>
          </a:p>
          <a:p>
            <a:pPr marL="332640" indent="-19944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Scheduled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workload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execution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243" name="object 11"/>
          <p:cNvSpPr/>
          <p:nvPr/>
        </p:nvSpPr>
        <p:spPr>
          <a:xfrm>
            <a:off x="4869360" y="3154320"/>
            <a:ext cx="2688480" cy="88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r>
              <a:rPr b="1" lang="fr-FR" sz="1600" spc="-5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Storage</a:t>
            </a:r>
            <a:endParaRPr b="0" lang="fr-FR" sz="1600" spc="-1" strike="noStrike">
              <a:latin typeface="Arial"/>
            </a:endParaRPr>
          </a:p>
          <a:p>
            <a:pPr marL="355680" indent="-222120">
              <a:lnSpc>
                <a:spcPct val="100000"/>
              </a:lnSpc>
              <a:spcBef>
                <a:spcPts val="131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Ephemeral</a:t>
            </a:r>
            <a:r>
              <a:rPr b="0" lang="fr-FR" sz="1400" spc="-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Volumes</a:t>
            </a:r>
            <a:endParaRPr b="0" lang="fr-FR" sz="1400" spc="-1" strike="noStrike">
              <a:latin typeface="Arial"/>
            </a:endParaRPr>
          </a:p>
          <a:p>
            <a:pPr marL="355680" indent="-22212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Persistent</a:t>
            </a:r>
            <a:r>
              <a:rPr b="0" lang="fr-FR" sz="1400" spc="-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Volumes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4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245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246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494280" y="1685160"/>
            <a:ext cx="8503560" cy="1483920"/>
          </a:xfrm>
          <a:prstGeom prst="rect">
            <a:avLst/>
          </a:prstGeom>
          <a:noFill/>
          <a:ln w="0">
            <a:noFill/>
          </a:ln>
        </p:spPr>
        <p:txBody>
          <a:bodyPr lIns="0" rIns="0" tIns="182160" bIns="0" anchor="t">
            <a:noAutofit/>
          </a:bodyPr>
          <a:p>
            <a:pPr marL="12600">
              <a:lnSpc>
                <a:spcPct val="100000"/>
              </a:lnSpc>
              <a:spcBef>
                <a:spcPts val="1434"/>
              </a:spcBef>
              <a:buNone/>
            </a:pPr>
            <a:r>
              <a:rPr b="1" lang="fr-FR" sz="3200" spc="29" strike="noStrike">
                <a:solidFill>
                  <a:srgbClr val="ffffff"/>
                </a:solidFill>
                <a:latin typeface="Tahoma"/>
              </a:rPr>
              <a:t>Image</a:t>
            </a:r>
            <a:r>
              <a:rPr b="1" lang="fr-FR" sz="3200" spc="-182" strike="noStrike">
                <a:solidFill>
                  <a:srgbClr val="ffffff"/>
                </a:solidFill>
                <a:latin typeface="Tahoma"/>
              </a:rPr>
              <a:t> an</a:t>
            </a:r>
            <a:r>
              <a:rPr b="1" lang="fr-FR" sz="3200" spc="77" strike="noStrike">
                <a:solidFill>
                  <a:srgbClr val="ffffff"/>
                </a:solidFill>
                <a:latin typeface="Tahoma"/>
              </a:rPr>
              <a:t>d</a:t>
            </a:r>
            <a:r>
              <a:rPr b="1" lang="fr-FR" sz="3200" spc="-177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24" strike="noStrike">
                <a:solidFill>
                  <a:srgbClr val="ffffff"/>
                </a:solidFill>
                <a:latin typeface="Tahoma"/>
              </a:rPr>
              <a:t>Container</a:t>
            </a:r>
            <a:r>
              <a:rPr b="1" lang="fr-FR" sz="3200" spc="-177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75" strike="noStrike">
                <a:solidFill>
                  <a:srgbClr val="ffffff"/>
                </a:solidFill>
                <a:latin typeface="Tahoma"/>
              </a:rPr>
              <a:t>Management</a:t>
            </a:r>
            <a:endParaRPr b="0" lang="fr-FR" sz="32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75"/>
              </a:spcBef>
              <a:buNone/>
            </a:pPr>
            <a:r>
              <a:rPr b="0" lang="fr-FR" sz="1600" spc="-15" strike="noStrike">
                <a:solidFill>
                  <a:srgbClr val="ffffff"/>
                </a:solidFill>
                <a:latin typeface="Lucida Sans Unicode"/>
              </a:rPr>
              <a:t>Defining,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ffffff"/>
                </a:solidFill>
                <a:latin typeface="Lucida Sans Unicode"/>
              </a:rPr>
              <a:t>building,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ffffff"/>
                </a:solidFill>
                <a:latin typeface="Lucida Sans Unicode"/>
              </a:rPr>
              <a:t>modifying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ffffff"/>
                </a:solidFill>
                <a:latin typeface="Lucida Sans Unicode"/>
              </a:rPr>
              <a:t>container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ffffff"/>
                </a:solidFill>
                <a:latin typeface="Lucida Sans Unicode"/>
              </a:rPr>
              <a:t>images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08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Terminology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its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environment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249" name="object 3" descr=""/>
          <p:cNvPicPr/>
          <p:nvPr/>
        </p:nvPicPr>
        <p:blipFill>
          <a:blip r:embed="rId1"/>
          <a:stretch/>
        </p:blipFill>
        <p:spPr>
          <a:xfrm>
            <a:off x="506880" y="3209760"/>
            <a:ext cx="146520" cy="344160"/>
          </a:xfrm>
          <a:prstGeom prst="rect">
            <a:avLst/>
          </a:prstGeom>
          <a:ln w="0">
            <a:noFill/>
          </a:ln>
        </p:spPr>
      </p:pic>
      <p:pic>
        <p:nvPicPr>
          <p:cNvPr id="250" name="object 4" descr=""/>
          <p:cNvPicPr/>
          <p:nvPr/>
        </p:nvPicPr>
        <p:blipFill>
          <a:blip r:embed="rId2"/>
          <a:stretch/>
        </p:blipFill>
        <p:spPr>
          <a:xfrm>
            <a:off x="4615560" y="1436040"/>
            <a:ext cx="146520" cy="344160"/>
          </a:xfrm>
          <a:prstGeom prst="rect">
            <a:avLst/>
          </a:prstGeom>
          <a:ln w="0">
            <a:noFill/>
          </a:ln>
        </p:spPr>
      </p:pic>
      <p:pic>
        <p:nvPicPr>
          <p:cNvPr id="251" name="object 5" descr=""/>
          <p:cNvPicPr/>
          <p:nvPr/>
        </p:nvPicPr>
        <p:blipFill>
          <a:blip r:embed="rId3"/>
          <a:stretch/>
        </p:blipFill>
        <p:spPr>
          <a:xfrm>
            <a:off x="506880" y="1434600"/>
            <a:ext cx="146520" cy="344160"/>
          </a:xfrm>
          <a:prstGeom prst="rect">
            <a:avLst/>
          </a:prstGeom>
          <a:ln w="0">
            <a:noFill/>
          </a:ln>
        </p:spPr>
      </p:pic>
      <p:sp>
        <p:nvSpPr>
          <p:cNvPr id="252" name="object 6"/>
          <p:cNvSpPr/>
          <p:nvPr/>
        </p:nvSpPr>
        <p:spPr>
          <a:xfrm>
            <a:off x="760680" y="1383840"/>
            <a:ext cx="3918600" cy="34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Packages an application into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single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unit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software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including its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environment, application 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binary, 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dependencies,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332640"/>
              </a:tabLst>
            </a:pPr>
            <a:endParaRPr b="0" lang="fr-FR" sz="15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32640"/>
              </a:tabLst>
            </a:pPr>
            <a:endParaRPr b="0" lang="fr-FR" sz="125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  <a:tabLst>
                <a:tab algn="l" pos="332640"/>
              </a:tabLst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r>
              <a:rPr b="1" lang="fr-FR" sz="1600" spc="-5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Orchestrator</a:t>
            </a:r>
            <a:endParaRPr b="0" lang="fr-FR" sz="1600" spc="-1" strike="noStrike">
              <a:latin typeface="Arial"/>
            </a:endParaRPr>
          </a:p>
          <a:p>
            <a:pPr marL="355680" indent="-22212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Uses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engine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instantiate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container.</a:t>
            </a:r>
            <a:endParaRPr b="0" lang="fr-FR" sz="1400" spc="-1" strike="noStrike">
              <a:latin typeface="Arial"/>
            </a:endParaRPr>
          </a:p>
          <a:p>
            <a:pPr marL="355680" indent="-222120">
              <a:lnSpc>
                <a:spcPct val="116000"/>
              </a:lnSpc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Automates and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manages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workload with </a:t>
            </a:r>
            <a:r>
              <a:rPr b="0" lang="fr-FR" sz="1400" spc="-38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features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like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scalability,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networking.</a:t>
            </a:r>
            <a:endParaRPr b="0" lang="fr-FR" sz="1400" spc="-1" strike="noStrike">
              <a:latin typeface="Arial"/>
            </a:endParaRPr>
          </a:p>
          <a:p>
            <a:pPr marL="355680" indent="-22212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Example:</a:t>
            </a:r>
            <a:r>
              <a:rPr b="0" lang="fr-FR" sz="1400" spc="-12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4"/>
              </a:rPr>
              <a:t>Kubernetes</a:t>
            </a:r>
            <a:r>
              <a:rPr b="0" lang="fr-FR" sz="1400" spc="-15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5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400" spc="-21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6"/>
              </a:rPr>
              <a:t>Nomad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253" name="object 8"/>
          <p:cNvSpPr/>
          <p:nvPr/>
        </p:nvSpPr>
        <p:spPr>
          <a:xfrm>
            <a:off x="8701560" y="4908600"/>
            <a:ext cx="197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097B585-1DCA-4F42-B4D2-0E69E4C45C5B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254" name="object 7"/>
          <p:cNvSpPr/>
          <p:nvPr/>
        </p:nvSpPr>
        <p:spPr>
          <a:xfrm>
            <a:off x="4869360" y="1371240"/>
            <a:ext cx="3948480" cy="11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r>
              <a:rPr b="1" lang="fr-FR" sz="1600" spc="-35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Runtime</a:t>
            </a:r>
            <a:r>
              <a:rPr b="1" lang="fr-FR" sz="1600" spc="-35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Engine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software component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that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can run  containers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on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host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operating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system.</a:t>
            </a:r>
            <a:endParaRPr b="0" lang="fr-FR" sz="1400" spc="-1" strike="noStrike">
              <a:latin typeface="Arial"/>
            </a:endParaRPr>
          </a:p>
          <a:p>
            <a:pPr marL="332640" indent="-19944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Example:</a:t>
            </a:r>
            <a:r>
              <a:rPr b="0" lang="fr-FR" sz="1400" spc="-1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7"/>
              </a:rPr>
              <a:t>Docker</a:t>
            </a:r>
            <a:r>
              <a:rPr b="0" lang="fr-FR" sz="1400" spc="-1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8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9"/>
              </a:rPr>
              <a:t>Engine</a:t>
            </a:r>
            <a:r>
              <a:rPr b="0" lang="fr-FR" sz="1400" spc="-7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10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400" spc="-7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1"/>
              </a:rPr>
              <a:t>containerd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Terminology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Building,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running,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publishing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image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256" name="object 3" descr=""/>
          <p:cNvPicPr/>
          <p:nvPr/>
        </p:nvPicPr>
        <p:blipFill>
          <a:blip r:embed="rId1"/>
          <a:stretch/>
        </p:blipFill>
        <p:spPr>
          <a:xfrm>
            <a:off x="506880" y="3209760"/>
            <a:ext cx="146520" cy="344160"/>
          </a:xfrm>
          <a:prstGeom prst="rect">
            <a:avLst/>
          </a:prstGeom>
          <a:ln w="0">
            <a:noFill/>
          </a:ln>
        </p:spPr>
      </p:pic>
      <p:pic>
        <p:nvPicPr>
          <p:cNvPr id="257" name="object 4" descr=""/>
          <p:cNvPicPr/>
          <p:nvPr/>
        </p:nvPicPr>
        <p:blipFill>
          <a:blip r:embed="rId2"/>
          <a:stretch/>
        </p:blipFill>
        <p:spPr>
          <a:xfrm>
            <a:off x="4615560" y="1436040"/>
            <a:ext cx="146520" cy="344160"/>
          </a:xfrm>
          <a:prstGeom prst="rect">
            <a:avLst/>
          </a:prstGeom>
          <a:ln w="0">
            <a:noFill/>
          </a:ln>
        </p:spPr>
      </p:pic>
      <p:pic>
        <p:nvPicPr>
          <p:cNvPr id="258" name="object 5" descr=""/>
          <p:cNvPicPr/>
          <p:nvPr/>
        </p:nvPicPr>
        <p:blipFill>
          <a:blip r:embed="rId3"/>
          <a:stretch/>
        </p:blipFill>
        <p:spPr>
          <a:xfrm>
            <a:off x="506880" y="1434600"/>
            <a:ext cx="146520" cy="344160"/>
          </a:xfrm>
          <a:prstGeom prst="rect">
            <a:avLst/>
          </a:prstGeom>
          <a:ln w="0">
            <a:noFill/>
          </a:ln>
        </p:spPr>
      </p:pic>
      <p:sp>
        <p:nvSpPr>
          <p:cNvPr id="259" name="object 6"/>
          <p:cNvSpPr/>
          <p:nvPr/>
        </p:nvSpPr>
        <p:spPr>
          <a:xfrm>
            <a:off x="760680" y="1383840"/>
            <a:ext cx="3737160" cy="316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Containerfile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Spells out what needs to happen when the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software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is built in the form of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list of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instructions.</a:t>
            </a:r>
            <a:endParaRPr b="0" lang="fr-FR" sz="1400" spc="-1" strike="noStrike">
              <a:latin typeface="Arial"/>
            </a:endParaRPr>
          </a:p>
          <a:p>
            <a:pPr marL="332640" indent="-19944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Synonymous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Dockerfile.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332640"/>
              </a:tabLst>
            </a:pPr>
            <a:endParaRPr b="0" lang="fr-FR" sz="15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32640"/>
              </a:tabLst>
            </a:pPr>
            <a:endParaRPr b="0" lang="fr-FR" sz="125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  <a:tabLst>
                <a:tab algn="l" pos="332640"/>
              </a:tabLst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r>
              <a:rPr b="1" lang="fr-FR" sz="1600" spc="-5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Registry</a:t>
            </a:r>
            <a:endParaRPr b="0" lang="fr-FR" sz="1600" spc="-1" strike="noStrike">
              <a:latin typeface="Arial"/>
            </a:endParaRPr>
          </a:p>
          <a:p>
            <a:pPr marL="355680" indent="-22212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Shares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images in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central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location and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makes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them available for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consumption.</a:t>
            </a:r>
            <a:endParaRPr b="0" lang="fr-FR" sz="1400" spc="-1" strike="noStrike">
              <a:latin typeface="Arial"/>
            </a:endParaRPr>
          </a:p>
          <a:p>
            <a:pPr marL="355680" indent="-22212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Example:</a:t>
            </a:r>
            <a:r>
              <a:rPr b="0" lang="fr-FR" sz="1400" spc="-7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4"/>
              </a:rPr>
              <a:t>Docker</a:t>
            </a:r>
            <a:r>
              <a:rPr b="0" lang="fr-FR" sz="1400" spc="-2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5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6"/>
              </a:rPr>
              <a:t>Hub</a:t>
            </a:r>
            <a:r>
              <a:rPr b="0" lang="fr-FR" sz="1400" spc="-21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7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400" spc="-15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8"/>
              </a:rPr>
              <a:t>GCR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260" name="object 8"/>
          <p:cNvSpPr/>
          <p:nvPr/>
        </p:nvSpPr>
        <p:spPr>
          <a:xfrm>
            <a:off x="8701560" y="4908600"/>
            <a:ext cx="197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75000E7-5318-4607-B0C1-71E4D6B224FB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261" name="object 7"/>
          <p:cNvSpPr/>
          <p:nvPr/>
        </p:nvSpPr>
        <p:spPr>
          <a:xfrm>
            <a:off x="4869360" y="1371240"/>
            <a:ext cx="3948480" cy="13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r>
              <a:rPr b="1" lang="fr-FR" sz="1600" spc="-5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Image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Packages an application into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single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unit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software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including its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environment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configuration.</a:t>
            </a:r>
            <a:endParaRPr b="0" lang="fr-FR" sz="1400" spc="-1" strike="noStrike">
              <a:latin typeface="Arial"/>
            </a:endParaRPr>
          </a:p>
          <a:p>
            <a:pPr marL="332640" indent="-19944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Built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from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Containerfile.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Containerization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Process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Building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publishing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image,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running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image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263" name="object 3" descr=""/>
          <p:cNvPicPr/>
          <p:nvPr/>
        </p:nvPicPr>
        <p:blipFill>
          <a:blip r:embed="rId1"/>
          <a:stretch/>
        </p:blipFill>
        <p:spPr>
          <a:xfrm>
            <a:off x="925920" y="1716840"/>
            <a:ext cx="7289640" cy="2658600"/>
          </a:xfrm>
          <a:prstGeom prst="rect">
            <a:avLst/>
          </a:prstGeom>
          <a:ln w="0">
            <a:noFill/>
          </a:ln>
        </p:spPr>
      </p:pic>
      <p:sp>
        <p:nvSpPr>
          <p:cNvPr id="264" name="object 4"/>
          <p:cNvSpPr/>
          <p:nvPr/>
        </p:nvSpPr>
        <p:spPr>
          <a:xfrm>
            <a:off x="8701560" y="4908600"/>
            <a:ext cx="197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D28D6A3-2859-4606-9695-599D1D3C1F5D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56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Building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Instructions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Dockerfile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plain-text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1"/>
              </a:rPr>
              <a:t>instructions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66" name="object 4"/>
          <p:cNvSpPr/>
          <p:nvPr/>
        </p:nvSpPr>
        <p:spPr>
          <a:xfrm>
            <a:off x="506880" y="1491840"/>
            <a:ext cx="8132400" cy="13762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400" bIns="0" anchor="t">
            <a:spAutoFit/>
          </a:bodyPr>
          <a:p>
            <a:pPr marL="208440">
              <a:lnSpc>
                <a:spcPct val="100000"/>
              </a:lnSpc>
              <a:spcBef>
                <a:spcPts val="1176"/>
              </a:spcBef>
              <a:buNone/>
            </a:pPr>
            <a:r>
              <a:rPr b="1" lang="fr-FR" sz="1600" spc="-7" strike="noStrike">
                <a:solidFill>
                  <a:srgbClr val="4618a2"/>
                </a:solidFill>
                <a:latin typeface="Courier New"/>
                <a:ea typeface="DejaVu Sans"/>
              </a:rPr>
              <a:t>FROM</a:t>
            </a:r>
            <a:r>
              <a:rPr b="1" lang="fr-FR" sz="16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600" spc="-72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openjdk:11-jre-slim</a:t>
            </a:r>
            <a:endParaRPr b="0" lang="fr-FR" sz="16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600" spc="-7" strike="noStrike">
                <a:solidFill>
                  <a:srgbClr val="4618a2"/>
                </a:solidFill>
                <a:latin typeface="Courier New"/>
                <a:ea typeface="DejaVu Sans"/>
              </a:rPr>
              <a:t>WORKDIR</a:t>
            </a:r>
            <a:r>
              <a:rPr b="1" lang="fr-FR" sz="16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/app</a:t>
            </a:r>
            <a:endParaRPr b="0" lang="fr-FR" sz="1600" spc="-1" strike="noStrike">
              <a:latin typeface="Arial"/>
            </a:endParaRPr>
          </a:p>
          <a:p>
            <a:pPr marL="208440">
              <a:lnSpc>
                <a:spcPct val="101000"/>
              </a:lnSpc>
              <a:buNone/>
            </a:pPr>
            <a:r>
              <a:rPr b="1" lang="fr-FR" sz="1600" spc="-7" strike="noStrike">
                <a:solidFill>
                  <a:srgbClr val="4618a2"/>
                </a:solidFill>
                <a:latin typeface="Courier New"/>
                <a:ea typeface="DejaVu Sans"/>
              </a:rPr>
              <a:t>COPY </a:t>
            </a:r>
            <a:r>
              <a:rPr b="1" lang="fr-FR" sz="16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target/java-hello-world-0.0.1.jar java-hello-world.jar </a:t>
            </a:r>
            <a:r>
              <a:rPr b="0" lang="fr-FR" sz="1600" spc="-95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4618a2"/>
                </a:solidFill>
                <a:latin typeface="Courier New"/>
                <a:ea typeface="DejaVu Sans"/>
              </a:rPr>
              <a:t>ENTRYPOINT </a:t>
            </a:r>
            <a:r>
              <a:rPr b="0" lang="fr-FR" sz="16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600" spc="-12" strike="noStrike">
                <a:solidFill>
                  <a:srgbClr val="d15e35"/>
                </a:solidFill>
                <a:latin typeface="Courier New"/>
                <a:ea typeface="DejaVu Sans"/>
              </a:rPr>
              <a:t>"java"</a:t>
            </a:r>
            <a:r>
              <a:rPr b="0" lang="fr-FR" sz="1600" spc="-12" strike="noStrike">
                <a:solidFill>
                  <a:srgbClr val="000000"/>
                </a:solidFill>
                <a:latin typeface="Courier New"/>
                <a:ea typeface="DejaVu Sans"/>
              </a:rPr>
              <a:t>, </a:t>
            </a:r>
            <a:r>
              <a:rPr b="1" lang="fr-FR" sz="1600" spc="-7" strike="noStrike">
                <a:solidFill>
                  <a:srgbClr val="d15e35"/>
                </a:solidFill>
                <a:latin typeface="Courier New"/>
                <a:ea typeface="DejaVu Sans"/>
              </a:rPr>
              <a:t>"-jar"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, </a:t>
            </a:r>
            <a:r>
              <a:rPr b="1" lang="fr-FR" sz="1600" spc="-7" strike="noStrike">
                <a:solidFill>
                  <a:srgbClr val="d15e35"/>
                </a:solidFill>
                <a:latin typeface="Courier New"/>
                <a:ea typeface="DejaVu Sans"/>
              </a:rPr>
              <a:t>"/app/java-hello-world.jar"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]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600" spc="-1" strike="noStrike">
              <a:latin typeface="Arial"/>
            </a:endParaRPr>
          </a:p>
          <a:p>
            <a:pPr marL="208440">
              <a:lnSpc>
                <a:spcPct val="101000"/>
              </a:lnSpc>
              <a:buNone/>
            </a:pPr>
            <a:r>
              <a:rPr b="1" lang="fr-FR" sz="1600" spc="-7" strike="noStrike">
                <a:solidFill>
                  <a:srgbClr val="4618a2"/>
                </a:solidFill>
                <a:latin typeface="Courier New"/>
                <a:ea typeface="DejaVu Sans"/>
              </a:rPr>
              <a:t>EXPOSE</a:t>
            </a:r>
            <a:r>
              <a:rPr b="1" lang="fr-FR" sz="1600" spc="-1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8080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67" name="object 5"/>
          <p:cNvSpPr/>
          <p:nvPr/>
        </p:nvSpPr>
        <p:spPr>
          <a:xfrm>
            <a:off x="8701560" y="4908600"/>
            <a:ext cx="197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9E84C6B-F7BD-4696-AB7B-EA172F338FF1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Building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tag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image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82" strike="noStrike">
                <a:solidFill>
                  <a:srgbClr val="666666"/>
                </a:solidFill>
                <a:latin typeface="Lucida Sans Unicode"/>
              </a:rPr>
              <a:t>+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context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directory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269" name="object 3"/>
          <p:cNvGrpSpPr/>
          <p:nvPr/>
        </p:nvGrpSpPr>
        <p:grpSpPr>
          <a:xfrm>
            <a:off x="453240" y="1443240"/>
            <a:ext cx="5179320" cy="2477160"/>
            <a:chOff x="453240" y="1443240"/>
            <a:chExt cx="5179320" cy="2477160"/>
          </a:xfrm>
        </p:grpSpPr>
        <p:pic>
          <p:nvPicPr>
            <p:cNvPr id="270" name="object 4" descr=""/>
            <p:cNvPicPr/>
            <p:nvPr/>
          </p:nvPicPr>
          <p:blipFill>
            <a:blip r:embed="rId1"/>
            <a:stretch/>
          </p:blipFill>
          <p:spPr>
            <a:xfrm>
              <a:off x="453240" y="1443240"/>
              <a:ext cx="5179320" cy="24771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71" name="object 5"/>
            <p:cNvSpPr/>
            <p:nvPr/>
          </p:nvSpPr>
          <p:spPr>
            <a:xfrm>
              <a:off x="506880" y="1491840"/>
              <a:ext cx="5065200" cy="2363040"/>
            </a:xfrm>
            <a:custGeom>
              <a:avLst/>
              <a:gdLst/>
              <a:ahLst/>
              <a:rect l="l" t="t" r="r" b="b"/>
              <a:pathLst>
                <a:path w="5067935" h="2366010">
                  <a:moveTo>
                    <a:pt x="5067899" y="2365799"/>
                  </a:moveTo>
                  <a:lnTo>
                    <a:pt x="0" y="2365799"/>
                  </a:lnTo>
                  <a:lnTo>
                    <a:pt x="0" y="0"/>
                  </a:lnTo>
                  <a:lnTo>
                    <a:pt x="5067899" y="0"/>
                  </a:lnTo>
                  <a:lnTo>
                    <a:pt x="5067899" y="2365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72" name="object 6"/>
          <p:cNvSpPr/>
          <p:nvPr/>
        </p:nvSpPr>
        <p:spPr>
          <a:xfrm>
            <a:off x="2531160" y="3216600"/>
            <a:ext cx="1358640" cy="2235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25920" bIns="0" anchor="t">
            <a:spAutoFit/>
          </a:bodyPr>
          <a:p>
            <a:pPr marL="65880">
              <a:lnSpc>
                <a:spcPct val="100000"/>
              </a:lnSpc>
              <a:spcBef>
                <a:spcPts val="20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3e9c22451a17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73" name="object 7"/>
          <p:cNvSpPr/>
          <p:nvPr/>
        </p:nvSpPr>
        <p:spPr>
          <a:xfrm>
            <a:off x="506880" y="1491840"/>
            <a:ext cx="5065200" cy="21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8680" bIns="0" anchor="t">
            <a:spAutoFit/>
          </a:bodyPr>
          <a:p>
            <a:pPr marL="208440">
              <a:lnSpc>
                <a:spcPct val="101000"/>
              </a:lnSpc>
              <a:spcBef>
                <a:spcPts val="1171"/>
              </a:spcBef>
              <a:buNone/>
              <a:tabLst>
                <a:tab algn="l" pos="4269240"/>
              </a:tabLst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 build -t java-hello-world:1.0.0 </a:t>
            </a: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. 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Sendin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g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buil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d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contex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t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o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Docke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r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daemo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n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8.32MB  Step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1/5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FROM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openjdk:11-jre-slim</a:t>
            </a:r>
            <a:endParaRPr b="0" lang="fr-FR" sz="1300" spc="-1" strike="noStrike">
              <a:latin typeface="Arial"/>
            </a:endParaRPr>
          </a:p>
          <a:p>
            <a:pPr marL="307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---&gt;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973c18dbf567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Step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2/5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WORKDIR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/app</a:t>
            </a:r>
            <a:endParaRPr b="0" lang="fr-FR" sz="1300" spc="-1" strike="noStrike">
              <a:latin typeface="Arial"/>
            </a:endParaRPr>
          </a:p>
          <a:p>
            <a:pPr marL="307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---&gt;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Using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cache</a:t>
            </a:r>
            <a:endParaRPr b="0" lang="fr-FR" sz="1300" spc="-1" strike="noStrike">
              <a:latin typeface="Arial"/>
            </a:endParaRPr>
          </a:p>
          <a:p>
            <a:pPr marL="307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---&gt;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31f9c5f2a019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Successfully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built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Successfully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tagged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java-hello-world:1.0.0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274" name="object 8"/>
          <p:cNvGrpSpPr/>
          <p:nvPr/>
        </p:nvGrpSpPr>
        <p:grpSpPr>
          <a:xfrm>
            <a:off x="4105800" y="1654560"/>
            <a:ext cx="1758960" cy="1745280"/>
            <a:chOff x="4105800" y="1654560"/>
            <a:chExt cx="1758960" cy="1745280"/>
          </a:xfrm>
        </p:grpSpPr>
        <p:sp>
          <p:nvSpPr>
            <p:cNvPr id="275" name="object 9"/>
            <p:cNvSpPr/>
            <p:nvPr/>
          </p:nvSpPr>
          <p:spPr>
            <a:xfrm>
              <a:off x="4201560" y="3361680"/>
              <a:ext cx="1662840" cy="360"/>
            </a:xfrm>
            <a:custGeom>
              <a:avLst/>
              <a:gdLst/>
              <a:ahLst/>
              <a:rect l="l" t="t" r="r" b="b"/>
              <a:pathLst>
                <a:path w="1665604" h="1904">
                  <a:moveTo>
                    <a:pt x="1664999" y="1684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276" name="object 10" descr=""/>
            <p:cNvPicPr/>
            <p:nvPr/>
          </p:nvPicPr>
          <p:blipFill>
            <a:blip r:embed="rId2"/>
            <a:stretch/>
          </p:blipFill>
          <p:spPr>
            <a:xfrm>
              <a:off x="4105800" y="332064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77" name="object 11"/>
            <p:cNvSpPr/>
            <p:nvPr/>
          </p:nvSpPr>
          <p:spPr>
            <a:xfrm>
              <a:off x="4715640" y="1654560"/>
              <a:ext cx="222480" cy="239040"/>
            </a:xfrm>
            <a:custGeom>
              <a:avLst/>
              <a:gdLst/>
              <a:ahLst/>
              <a:rect l="l" t="t" r="r" b="b"/>
              <a:pathLst>
                <a:path w="225425" h="241935">
                  <a:moveTo>
                    <a:pt x="0" y="0"/>
                  </a:moveTo>
                  <a:lnTo>
                    <a:pt x="225299" y="0"/>
                  </a:lnTo>
                  <a:lnTo>
                    <a:pt x="225299" y="241799"/>
                  </a:lnTo>
                  <a:lnTo>
                    <a:pt x="0" y="2417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78" name="object 12"/>
            <p:cNvSpPr/>
            <p:nvPr/>
          </p:nvSpPr>
          <p:spPr>
            <a:xfrm>
              <a:off x="5191200" y="1746000"/>
              <a:ext cx="673560" cy="360"/>
            </a:xfrm>
            <a:custGeom>
              <a:avLst/>
              <a:gdLst/>
              <a:ahLst/>
              <a:rect l="l" t="t" r="r" b="b"/>
              <a:pathLst>
                <a:path w="676275" h="0">
                  <a:moveTo>
                    <a:pt x="6761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279" name="object 13" descr=""/>
            <p:cNvPicPr/>
            <p:nvPr/>
          </p:nvPicPr>
          <p:blipFill>
            <a:blip r:embed="rId3"/>
            <a:stretch/>
          </p:blipFill>
          <p:spPr>
            <a:xfrm>
              <a:off x="5095080" y="170496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280" name="object 14"/>
          <p:cNvSpPr/>
          <p:nvPr/>
        </p:nvSpPr>
        <p:spPr>
          <a:xfrm>
            <a:off x="6013800" y="3228480"/>
            <a:ext cx="19040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Image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281" name="object 16"/>
          <p:cNvSpPr/>
          <p:nvPr/>
        </p:nvSpPr>
        <p:spPr>
          <a:xfrm>
            <a:off x="8701560" y="4908600"/>
            <a:ext cx="197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A44AD3C-8657-4867-87E4-DA2B7E05053A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282" name="object 15"/>
          <p:cNvSpPr/>
          <p:nvPr/>
        </p:nvSpPr>
        <p:spPr>
          <a:xfrm>
            <a:off x="6011280" y="1608840"/>
            <a:ext cx="19065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Context</a:t>
            </a:r>
            <a:r>
              <a:rPr b="0" lang="fr-FR" sz="1400" spc="-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directory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Images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Render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local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images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including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their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82" strike="noStrike">
                <a:solidFill>
                  <a:srgbClr val="666666"/>
                </a:solidFill>
                <a:latin typeface="Lucida Sans Unicode"/>
              </a:rPr>
              <a:t>+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hash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284" name="object 3"/>
          <p:cNvGrpSpPr/>
          <p:nvPr/>
        </p:nvGrpSpPr>
        <p:grpSpPr>
          <a:xfrm>
            <a:off x="446040" y="1451880"/>
            <a:ext cx="7877880" cy="1306800"/>
            <a:chOff x="446040" y="1451880"/>
            <a:chExt cx="7877880" cy="1306800"/>
          </a:xfrm>
        </p:grpSpPr>
        <p:pic>
          <p:nvPicPr>
            <p:cNvPr id="285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451880"/>
              <a:ext cx="7877880" cy="1306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86" name="object 5"/>
            <p:cNvSpPr/>
            <p:nvPr/>
          </p:nvSpPr>
          <p:spPr>
            <a:xfrm>
              <a:off x="499680" y="1500120"/>
              <a:ext cx="7763760" cy="1192680"/>
            </a:xfrm>
            <a:custGeom>
              <a:avLst/>
              <a:gdLst/>
              <a:ahLst/>
              <a:rect l="l" t="t" r="r" b="b"/>
              <a:pathLst>
                <a:path w="7766684" h="1195705">
                  <a:moveTo>
                    <a:pt x="7766399" y="1195199"/>
                  </a:moveTo>
                  <a:lnTo>
                    <a:pt x="0" y="1195199"/>
                  </a:lnTo>
                  <a:lnTo>
                    <a:pt x="0" y="0"/>
                  </a:lnTo>
                  <a:lnTo>
                    <a:pt x="7766399" y="0"/>
                  </a:lnTo>
                  <a:lnTo>
                    <a:pt x="7766399" y="1195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87" name="object 6"/>
          <p:cNvSpPr/>
          <p:nvPr/>
        </p:nvSpPr>
        <p:spPr>
          <a:xfrm>
            <a:off x="695520" y="1638360"/>
            <a:ext cx="160740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images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REPOSITORY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88" name="object 7"/>
          <p:cNvSpPr/>
          <p:nvPr/>
        </p:nvSpPr>
        <p:spPr>
          <a:xfrm>
            <a:off x="2577600" y="1838160"/>
            <a:ext cx="5176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TAG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1.0.0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89" name="object 8"/>
          <p:cNvSpPr/>
          <p:nvPr/>
        </p:nvSpPr>
        <p:spPr>
          <a:xfrm>
            <a:off x="695520" y="2238120"/>
            <a:ext cx="7160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openjdk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90" name="object 9"/>
          <p:cNvSpPr/>
          <p:nvPr/>
        </p:nvSpPr>
        <p:spPr>
          <a:xfrm>
            <a:off x="2577600" y="2238120"/>
            <a:ext cx="11120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11-jre-slim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91" name="object 10"/>
          <p:cNvSpPr/>
          <p:nvPr/>
        </p:nvSpPr>
        <p:spPr>
          <a:xfrm>
            <a:off x="3964320" y="1838160"/>
            <a:ext cx="121140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 ID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3e9c22451a17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973c18dbf567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92" name="object 11"/>
          <p:cNvSpPr/>
          <p:nvPr/>
        </p:nvSpPr>
        <p:spPr>
          <a:xfrm>
            <a:off x="5450040" y="1838160"/>
            <a:ext cx="180576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About</a:t>
            </a:r>
            <a:r>
              <a:rPr b="0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a</a:t>
            </a:r>
            <a:r>
              <a:rPr b="0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minute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ago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20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hours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ago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93" name="object 12"/>
          <p:cNvSpPr/>
          <p:nvPr/>
        </p:nvSpPr>
        <p:spPr>
          <a:xfrm>
            <a:off x="7530120" y="1838160"/>
            <a:ext cx="51840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SIZE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213MB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204MB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294" name="object 13"/>
          <p:cNvGrpSpPr/>
          <p:nvPr/>
        </p:nvGrpSpPr>
        <p:grpSpPr>
          <a:xfrm>
            <a:off x="666360" y="2249640"/>
            <a:ext cx="3110400" cy="1182600"/>
            <a:chOff x="666360" y="2249640"/>
            <a:chExt cx="3110400" cy="1182600"/>
          </a:xfrm>
        </p:grpSpPr>
        <p:sp>
          <p:nvSpPr>
            <p:cNvPr id="295" name="object 14"/>
            <p:cNvSpPr/>
            <p:nvPr/>
          </p:nvSpPr>
          <p:spPr>
            <a:xfrm>
              <a:off x="666360" y="2249640"/>
              <a:ext cx="3110400" cy="264600"/>
            </a:xfrm>
            <a:custGeom>
              <a:avLst/>
              <a:gdLst/>
              <a:ahLst/>
              <a:rect l="l" t="t" r="r" b="b"/>
              <a:pathLst>
                <a:path w="3113404" h="267335">
                  <a:moveTo>
                    <a:pt x="0" y="0"/>
                  </a:moveTo>
                  <a:lnTo>
                    <a:pt x="3113099" y="0"/>
                  </a:lnTo>
                  <a:lnTo>
                    <a:pt x="3113099" y="266999"/>
                  </a:lnTo>
                  <a:lnTo>
                    <a:pt x="0" y="266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6" name="object 15"/>
            <p:cNvSpPr/>
            <p:nvPr/>
          </p:nvSpPr>
          <p:spPr>
            <a:xfrm>
              <a:off x="2137320" y="2728440"/>
              <a:ext cx="1357200" cy="703800"/>
            </a:xfrm>
            <a:custGeom>
              <a:avLst/>
              <a:gdLst/>
              <a:ahLst/>
              <a:rect l="l" t="t" r="r" b="b"/>
              <a:pathLst>
                <a:path w="1360170" h="706754">
                  <a:moveTo>
                    <a:pt x="1359949" y="706423"/>
                  </a:moveTo>
                  <a:lnTo>
                    <a:pt x="0" y="706423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297" name="object 16" descr=""/>
            <p:cNvPicPr/>
            <p:nvPr/>
          </p:nvPicPr>
          <p:blipFill>
            <a:blip r:embed="rId2"/>
            <a:stretch/>
          </p:blipFill>
          <p:spPr>
            <a:xfrm>
              <a:off x="2096280" y="2632680"/>
              <a:ext cx="78840" cy="1044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298" name="object 17"/>
          <p:cNvSpPr/>
          <p:nvPr/>
        </p:nvSpPr>
        <p:spPr>
          <a:xfrm>
            <a:off x="3638520" y="3197520"/>
            <a:ext cx="3740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Base image is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downloaded</a:t>
            </a:r>
            <a:r>
              <a:rPr b="0" lang="fr-FR" sz="1400" spc="-8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automatically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299" name="object 18"/>
          <p:cNvSpPr/>
          <p:nvPr/>
        </p:nvSpPr>
        <p:spPr>
          <a:xfrm>
            <a:off x="8701560" y="4908600"/>
            <a:ext cx="197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120AB16-4036-4D0F-AFD9-4887C847FC62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Running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interact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once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its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running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301" name="object 3"/>
          <p:cNvGrpSpPr/>
          <p:nvPr/>
        </p:nvGrpSpPr>
        <p:grpSpPr>
          <a:xfrm>
            <a:off x="446040" y="1451880"/>
            <a:ext cx="5935320" cy="2550240"/>
            <a:chOff x="446040" y="1451880"/>
            <a:chExt cx="5935320" cy="2550240"/>
          </a:xfrm>
        </p:grpSpPr>
        <p:pic>
          <p:nvPicPr>
            <p:cNvPr id="302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451880"/>
              <a:ext cx="5935320" cy="2550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03" name="object 5"/>
            <p:cNvSpPr/>
            <p:nvPr/>
          </p:nvSpPr>
          <p:spPr>
            <a:xfrm>
              <a:off x="499680" y="1500120"/>
              <a:ext cx="5821200" cy="2436120"/>
            </a:xfrm>
            <a:custGeom>
              <a:avLst/>
              <a:gdLst/>
              <a:ahLst/>
              <a:rect l="l" t="t" r="r" b="b"/>
              <a:pathLst>
                <a:path w="5824220" h="2439035">
                  <a:moveTo>
                    <a:pt x="5823899" y="2438699"/>
                  </a:moveTo>
                  <a:lnTo>
                    <a:pt x="0" y="2438699"/>
                  </a:lnTo>
                  <a:lnTo>
                    <a:pt x="0" y="0"/>
                  </a:lnTo>
                  <a:lnTo>
                    <a:pt x="5823899" y="0"/>
                  </a:lnTo>
                  <a:lnTo>
                    <a:pt x="5823899" y="2438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04" name="object 6"/>
          <p:cNvSpPr/>
          <p:nvPr/>
        </p:nvSpPr>
        <p:spPr>
          <a:xfrm>
            <a:off x="695520" y="1637640"/>
            <a:ext cx="5463360" cy="21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-d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-p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8080:8080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java-hello-world:1.0.0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b0ee04accf078ea7c...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logs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b0ee04accf078ea7c...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Hello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World!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b0ee04accf078ea7c...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bash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root@b0ee04accf078ea7c:/#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pwd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root@b0ee04accf078ea7c:/#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05" name="object 7"/>
          <p:cNvSpPr/>
          <p:nvPr/>
        </p:nvSpPr>
        <p:spPr>
          <a:xfrm>
            <a:off x="8701560" y="4908600"/>
            <a:ext cx="197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4E2C1E1-C74F-41DC-B507-B972E3626824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Tagging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82" strike="noStrike">
                <a:solidFill>
                  <a:srgbClr val="666666"/>
                </a:solidFill>
                <a:latin typeface="Lucida Sans Unicode"/>
              </a:rPr>
              <a:t>+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tag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need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conform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registry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conventions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307" name="object 3"/>
          <p:cNvGrpSpPr/>
          <p:nvPr/>
        </p:nvGrpSpPr>
        <p:grpSpPr>
          <a:xfrm>
            <a:off x="446040" y="1451880"/>
            <a:ext cx="7656120" cy="1908000"/>
            <a:chOff x="446040" y="1451880"/>
            <a:chExt cx="7656120" cy="1908000"/>
          </a:xfrm>
        </p:grpSpPr>
        <p:pic>
          <p:nvPicPr>
            <p:cNvPr id="308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451880"/>
              <a:ext cx="7656120" cy="19080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09" name="object 5"/>
            <p:cNvSpPr/>
            <p:nvPr/>
          </p:nvSpPr>
          <p:spPr>
            <a:xfrm>
              <a:off x="499680" y="1500120"/>
              <a:ext cx="7542360" cy="1794240"/>
            </a:xfrm>
            <a:custGeom>
              <a:avLst/>
              <a:gdLst/>
              <a:ahLst/>
              <a:rect l="l" t="t" r="r" b="b"/>
              <a:pathLst>
                <a:path w="7545070" h="1797050">
                  <a:moveTo>
                    <a:pt x="7544699" y="1796699"/>
                  </a:moveTo>
                  <a:lnTo>
                    <a:pt x="0" y="1796699"/>
                  </a:lnTo>
                  <a:lnTo>
                    <a:pt x="0" y="0"/>
                  </a:lnTo>
                  <a:lnTo>
                    <a:pt x="7544699" y="0"/>
                  </a:lnTo>
                  <a:lnTo>
                    <a:pt x="7544699" y="1796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10" name="object 6"/>
          <p:cNvSpPr/>
          <p:nvPr/>
        </p:nvSpPr>
        <p:spPr>
          <a:xfrm>
            <a:off x="708480" y="1637640"/>
            <a:ext cx="71575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tag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java-hello-world:1.0.0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bhamdi/java-hello-world:1.0.0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11" name="object 7"/>
          <p:cNvSpPr/>
          <p:nvPr/>
        </p:nvSpPr>
        <p:spPr>
          <a:xfrm>
            <a:off x="708480" y="2057400"/>
            <a:ext cx="1594800" cy="8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images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REPOSITORY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 openjdk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12" name="object 8"/>
          <p:cNvSpPr/>
          <p:nvPr/>
        </p:nvSpPr>
        <p:spPr>
          <a:xfrm>
            <a:off x="3481560" y="2257200"/>
            <a:ext cx="109944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TAG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1.0.0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11-jre-slim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13" name="object 9"/>
          <p:cNvSpPr/>
          <p:nvPr/>
        </p:nvSpPr>
        <p:spPr>
          <a:xfrm>
            <a:off x="642240" y="2859120"/>
            <a:ext cx="3403440" cy="2084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65880">
              <a:lnSpc>
                <a:spcPct val="100000"/>
              </a:lnSpc>
              <a:spcBef>
                <a:spcPts val="85"/>
              </a:spcBef>
              <a:buNone/>
              <a:tabLst>
                <a:tab algn="l" pos="28389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bhamdi/java-hello-world     1.0.0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14" name="object 10"/>
          <p:cNvSpPr/>
          <p:nvPr/>
        </p:nvSpPr>
        <p:spPr>
          <a:xfrm>
            <a:off x="4868280" y="2257200"/>
            <a:ext cx="1793520" cy="8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  <a:tabLst>
                <a:tab algn="l" pos="1485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I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D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 3e9c22451a1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7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485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973c18dbf56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7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485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3e9c22451a1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7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15" name="object 11"/>
          <p:cNvSpPr/>
          <p:nvPr/>
        </p:nvSpPr>
        <p:spPr>
          <a:xfrm>
            <a:off x="3185640" y="3717720"/>
            <a:ext cx="14922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160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agge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 image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316" name="object 12"/>
          <p:cNvGrpSpPr/>
          <p:nvPr/>
        </p:nvGrpSpPr>
        <p:grpSpPr>
          <a:xfrm>
            <a:off x="2161800" y="3266280"/>
            <a:ext cx="908280" cy="581040"/>
            <a:chOff x="2161800" y="3266280"/>
            <a:chExt cx="908280" cy="581040"/>
          </a:xfrm>
        </p:grpSpPr>
        <p:sp>
          <p:nvSpPr>
            <p:cNvPr id="317" name="object 13"/>
            <p:cNvSpPr/>
            <p:nvPr/>
          </p:nvSpPr>
          <p:spPr>
            <a:xfrm>
              <a:off x="2202840" y="3362400"/>
              <a:ext cx="867240" cy="484920"/>
            </a:xfrm>
            <a:custGeom>
              <a:avLst/>
              <a:gdLst/>
              <a:ahLst/>
              <a:rect l="l" t="t" r="r" b="b"/>
              <a:pathLst>
                <a:path w="869950" h="487679">
                  <a:moveTo>
                    <a:pt x="869673" y="487199"/>
                  </a:moveTo>
                  <a:lnTo>
                    <a:pt x="0" y="487199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18" name="object 14" descr=""/>
            <p:cNvPicPr/>
            <p:nvPr/>
          </p:nvPicPr>
          <p:blipFill>
            <a:blip r:embed="rId2"/>
            <a:stretch/>
          </p:blipFill>
          <p:spPr>
            <a:xfrm>
              <a:off x="2161800" y="326628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19" name="object 15"/>
          <p:cNvSpPr/>
          <p:nvPr/>
        </p:nvSpPr>
        <p:spPr>
          <a:xfrm>
            <a:off x="8701560" y="4908600"/>
            <a:ext cx="197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61A470F-1EE0-4841-8060-FAE73CFC3561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56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Publishing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Authenticate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against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registry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push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tag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321" name="object 3"/>
          <p:cNvGrpSpPr/>
          <p:nvPr/>
        </p:nvGrpSpPr>
        <p:grpSpPr>
          <a:xfrm>
            <a:off x="446040" y="1451880"/>
            <a:ext cx="5276880" cy="1160280"/>
            <a:chOff x="446040" y="1451880"/>
            <a:chExt cx="5276880" cy="1160280"/>
          </a:xfrm>
        </p:grpSpPr>
        <p:pic>
          <p:nvPicPr>
            <p:cNvPr id="322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451880"/>
              <a:ext cx="5276880" cy="11602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23" name="object 5"/>
            <p:cNvSpPr/>
            <p:nvPr/>
          </p:nvSpPr>
          <p:spPr>
            <a:xfrm>
              <a:off x="499680" y="1500120"/>
              <a:ext cx="5162760" cy="1046160"/>
            </a:xfrm>
            <a:custGeom>
              <a:avLst/>
              <a:gdLst/>
              <a:ahLst/>
              <a:rect l="l" t="t" r="r" b="b"/>
              <a:pathLst>
                <a:path w="5165725" h="1049020">
                  <a:moveTo>
                    <a:pt x="5165399" y="1048799"/>
                  </a:moveTo>
                  <a:lnTo>
                    <a:pt x="0" y="1048799"/>
                  </a:lnTo>
                  <a:lnTo>
                    <a:pt x="0" y="0"/>
                  </a:lnTo>
                  <a:lnTo>
                    <a:pt x="5165399" y="0"/>
                  </a:lnTo>
                  <a:lnTo>
                    <a:pt x="5165399" y="1048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24" name="object 6"/>
          <p:cNvSpPr/>
          <p:nvPr/>
        </p:nvSpPr>
        <p:spPr>
          <a:xfrm>
            <a:off x="695520" y="1637640"/>
            <a:ext cx="4823280" cy="65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login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--username=bhamdi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push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bhamdi/java-hello-world:1.0.0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25" name="object 12"/>
          <p:cNvSpPr/>
          <p:nvPr/>
        </p:nvSpPr>
        <p:spPr>
          <a:xfrm>
            <a:off x="8701560" y="4908600"/>
            <a:ext cx="197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F5347D7-C221-4489-B0E9-A697108C4BE4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Saving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Produces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backup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TAR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archive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parent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layers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327" name="object 4"/>
          <p:cNvSpPr/>
          <p:nvPr/>
        </p:nvSpPr>
        <p:spPr>
          <a:xfrm>
            <a:off x="499680" y="1500120"/>
            <a:ext cx="6859080" cy="10026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208440">
              <a:lnSpc>
                <a:spcPct val="100000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save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-o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java-hello-world.tar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java-hello-world:1.0.0</a:t>
            </a:r>
            <a:endParaRPr b="0" lang="fr-FR" sz="14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2084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ls</a:t>
            </a:r>
            <a:endParaRPr b="0" lang="fr-FR" sz="1400" spc="-1" strike="noStrike">
              <a:latin typeface="Arial"/>
            </a:endParaRPr>
          </a:p>
          <a:p>
            <a:pPr marL="2084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java-hello-world.tar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328" name="object 5"/>
          <p:cNvGrpSpPr/>
          <p:nvPr/>
        </p:nvGrpSpPr>
        <p:grpSpPr>
          <a:xfrm>
            <a:off x="2094840" y="3133440"/>
            <a:ext cx="808560" cy="1061640"/>
            <a:chOff x="2094840" y="3133440"/>
            <a:chExt cx="808560" cy="1061640"/>
          </a:xfrm>
        </p:grpSpPr>
        <p:pic>
          <p:nvPicPr>
            <p:cNvPr id="329" name="object 6" descr=""/>
            <p:cNvPicPr/>
            <p:nvPr/>
          </p:nvPicPr>
          <p:blipFill>
            <a:blip r:embed="rId1"/>
            <a:stretch/>
          </p:blipFill>
          <p:spPr>
            <a:xfrm>
              <a:off x="2094840" y="3133440"/>
              <a:ext cx="808560" cy="10616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30" name="object 7" descr=""/>
            <p:cNvPicPr/>
            <p:nvPr/>
          </p:nvPicPr>
          <p:blipFill>
            <a:blip r:embed="rId2"/>
            <a:stretch/>
          </p:blipFill>
          <p:spPr>
            <a:xfrm>
              <a:off x="2152080" y="3171600"/>
              <a:ext cx="694080" cy="947520"/>
            </a:xfrm>
            <a:prstGeom prst="rect">
              <a:avLst/>
            </a:prstGeom>
            <a:ln w="0">
              <a:noFill/>
            </a:ln>
          </p:spPr>
        </p:pic>
      </p:grpSp>
      <p:grpSp>
        <p:nvGrpSpPr>
          <p:cNvPr id="331" name="object 8"/>
          <p:cNvGrpSpPr/>
          <p:nvPr/>
        </p:nvGrpSpPr>
        <p:grpSpPr>
          <a:xfrm>
            <a:off x="3153960" y="3345840"/>
            <a:ext cx="1099440" cy="79200"/>
            <a:chOff x="3153960" y="3345840"/>
            <a:chExt cx="1099440" cy="79200"/>
          </a:xfrm>
        </p:grpSpPr>
        <p:sp>
          <p:nvSpPr>
            <p:cNvPr id="332" name="object 9"/>
            <p:cNvSpPr/>
            <p:nvPr/>
          </p:nvSpPr>
          <p:spPr>
            <a:xfrm>
              <a:off x="3249720" y="3386880"/>
              <a:ext cx="1003680" cy="360"/>
            </a:xfrm>
            <a:custGeom>
              <a:avLst/>
              <a:gdLst/>
              <a:ahLst/>
              <a:rect l="l" t="t" r="r" b="b"/>
              <a:pathLst>
                <a:path w="1006475" h="0">
                  <a:moveTo>
                    <a:pt x="10061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33" name="object 10" descr=""/>
            <p:cNvPicPr/>
            <p:nvPr/>
          </p:nvPicPr>
          <p:blipFill>
            <a:blip r:embed="rId3"/>
            <a:stretch/>
          </p:blipFill>
          <p:spPr>
            <a:xfrm>
              <a:off x="3153960" y="334584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34" name="object 11"/>
          <p:cNvSpPr/>
          <p:nvPr/>
        </p:nvSpPr>
        <p:spPr>
          <a:xfrm>
            <a:off x="4345560" y="3237480"/>
            <a:ext cx="2369520" cy="75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21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openjdk:11-jre-slim</a:t>
            </a:r>
            <a:endParaRPr b="0" lang="fr-FR" sz="1400" spc="-1" strike="noStrike">
              <a:latin typeface="Arial"/>
            </a:endParaRPr>
          </a:p>
          <a:p>
            <a:pPr marL="21600">
              <a:lnSpc>
                <a:spcPct val="100000"/>
              </a:lnSpc>
              <a:spcBef>
                <a:spcPts val="51"/>
              </a:spcBef>
              <a:buNone/>
            </a:pPr>
            <a:endParaRPr b="0" lang="fr-FR" sz="205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java-hello-world:1.0.0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335" name="object 12"/>
          <p:cNvGrpSpPr/>
          <p:nvPr/>
        </p:nvGrpSpPr>
        <p:grpSpPr>
          <a:xfrm>
            <a:off x="3153960" y="3861000"/>
            <a:ext cx="1099440" cy="79200"/>
            <a:chOff x="3153960" y="3861000"/>
            <a:chExt cx="1099440" cy="79200"/>
          </a:xfrm>
        </p:grpSpPr>
        <p:sp>
          <p:nvSpPr>
            <p:cNvPr id="336" name="object 13"/>
            <p:cNvSpPr/>
            <p:nvPr/>
          </p:nvSpPr>
          <p:spPr>
            <a:xfrm>
              <a:off x="3249720" y="3902040"/>
              <a:ext cx="1003680" cy="360"/>
            </a:xfrm>
            <a:custGeom>
              <a:avLst/>
              <a:gdLst/>
              <a:ahLst/>
              <a:rect l="l" t="t" r="r" b="b"/>
              <a:pathLst>
                <a:path w="1006475" h="0">
                  <a:moveTo>
                    <a:pt x="10061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37" name="object 14" descr=""/>
            <p:cNvPicPr/>
            <p:nvPr/>
          </p:nvPicPr>
          <p:blipFill>
            <a:blip r:embed="rId4"/>
            <a:stretch/>
          </p:blipFill>
          <p:spPr>
            <a:xfrm>
              <a:off x="3153960" y="386100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38" name="object 15"/>
          <p:cNvSpPr/>
          <p:nvPr/>
        </p:nvSpPr>
        <p:spPr>
          <a:xfrm>
            <a:off x="8701560" y="4908600"/>
            <a:ext cx="197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6D44655-7740-4D4A-9BE1-D67339DA74A5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90356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Loading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Restores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image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TAR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archive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340" name="object 3"/>
          <p:cNvGrpSpPr/>
          <p:nvPr/>
        </p:nvGrpSpPr>
        <p:grpSpPr>
          <a:xfrm>
            <a:off x="446040" y="1451880"/>
            <a:ext cx="6522120" cy="1940400"/>
            <a:chOff x="446040" y="1451880"/>
            <a:chExt cx="6522120" cy="1940400"/>
          </a:xfrm>
        </p:grpSpPr>
        <p:pic>
          <p:nvPicPr>
            <p:cNvPr id="341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451880"/>
              <a:ext cx="6522120" cy="1940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42" name="object 5"/>
            <p:cNvSpPr/>
            <p:nvPr/>
          </p:nvSpPr>
          <p:spPr>
            <a:xfrm>
              <a:off x="499680" y="1500120"/>
              <a:ext cx="6408000" cy="1825920"/>
            </a:xfrm>
            <a:custGeom>
              <a:avLst/>
              <a:gdLst/>
              <a:ahLst/>
              <a:rect l="l" t="t" r="r" b="b"/>
              <a:pathLst>
                <a:path w="6410959" h="1828800">
                  <a:moveTo>
                    <a:pt x="6410699" y="1828799"/>
                  </a:moveTo>
                  <a:lnTo>
                    <a:pt x="0" y="1828799"/>
                  </a:lnTo>
                  <a:lnTo>
                    <a:pt x="0" y="0"/>
                  </a:lnTo>
                  <a:lnTo>
                    <a:pt x="6410699" y="0"/>
                  </a:lnTo>
                  <a:lnTo>
                    <a:pt x="6410699" y="1828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43" name="object 6"/>
          <p:cNvSpPr/>
          <p:nvPr/>
        </p:nvSpPr>
        <p:spPr>
          <a:xfrm>
            <a:off x="708480" y="1637640"/>
            <a:ext cx="449028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load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--input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java-hello-world.tar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Loaded</a:t>
            </a:r>
            <a:r>
              <a:rPr b="0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image:</a:t>
            </a:r>
            <a:r>
              <a:rPr b="0" lang="fr-FR" sz="1400" spc="154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1.0.0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44" name="object 10"/>
          <p:cNvSpPr/>
          <p:nvPr/>
        </p:nvSpPr>
        <p:spPr>
          <a:xfrm>
            <a:off x="8701560" y="4908600"/>
            <a:ext cx="197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BD53E45-42D8-49D2-9F20-86DACA0543F5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345" name="object 7"/>
          <p:cNvSpPr/>
          <p:nvPr/>
        </p:nvSpPr>
        <p:spPr>
          <a:xfrm>
            <a:off x="708480" y="2266200"/>
            <a:ext cx="160992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545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REPOSITORY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 openjdk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46" name="object 8"/>
          <p:cNvSpPr/>
          <p:nvPr/>
        </p:nvSpPr>
        <p:spPr>
          <a:xfrm>
            <a:off x="3481560" y="2476440"/>
            <a:ext cx="109944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TAG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1.0.0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11-jre-slim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47" name="object 9"/>
          <p:cNvSpPr/>
          <p:nvPr/>
        </p:nvSpPr>
        <p:spPr>
          <a:xfrm>
            <a:off x="4868640" y="2476440"/>
            <a:ext cx="179352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  <a:tabLst>
                <a:tab algn="l" pos="1485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I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D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 3e9c22451a1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7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485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973c18dbf56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7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object 2"/>
          <p:cNvSpPr/>
          <p:nvPr/>
        </p:nvSpPr>
        <p:spPr>
          <a:xfrm>
            <a:off x="494280" y="371880"/>
            <a:ext cx="148356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01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349" name="object 3"/>
          <p:cNvSpPr/>
          <p:nvPr/>
        </p:nvSpPr>
        <p:spPr>
          <a:xfrm>
            <a:off x="494280" y="1323360"/>
            <a:ext cx="526356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Defining, building, and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 running</a:t>
            </a:r>
            <a:r>
              <a:rPr b="0" lang="fr-FR" sz="29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image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351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52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742356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4" strike="noStrike">
                <a:solidFill>
                  <a:srgbClr val="ffffff"/>
                </a:solidFill>
                <a:latin typeface="Tahoma"/>
              </a:rPr>
              <a:t>Object</a:t>
            </a:r>
            <a:r>
              <a:rPr b="1" lang="fr-FR" sz="3600" spc="-216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58" strike="noStrike">
                <a:solidFill>
                  <a:srgbClr val="ffffff"/>
                </a:solidFill>
                <a:latin typeface="Tahoma"/>
              </a:rPr>
              <a:t>Management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14000"/>
              </a:lnSpc>
              <a:spcBef>
                <a:spcPts val="394"/>
              </a:spcBef>
              <a:buNone/>
            </a:pPr>
            <a:r>
              <a:rPr b="0" lang="fr-FR" sz="1800" spc="9" strike="noStrike">
                <a:solidFill>
                  <a:srgbClr val="ffffff"/>
                </a:solidFill>
                <a:latin typeface="Lucida Sans Unicode"/>
              </a:rPr>
              <a:t>Kubernetes</a:t>
            </a:r>
            <a:r>
              <a:rPr b="0" lang="fr-FR" sz="18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2" strike="noStrike">
                <a:solidFill>
                  <a:srgbClr val="ffffff"/>
                </a:solidFill>
                <a:latin typeface="Lucida Sans Unicode"/>
              </a:rPr>
              <a:t>primitives,</a:t>
            </a:r>
            <a:r>
              <a:rPr b="0" lang="fr-FR" sz="18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" strike="noStrike">
                <a:solidFill>
                  <a:srgbClr val="ffffff"/>
                </a:solidFill>
                <a:latin typeface="Lucida Sans Unicode"/>
              </a:rPr>
              <a:t>interaction</a:t>
            </a:r>
            <a:r>
              <a:rPr b="0" lang="fr-FR" sz="18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with</a:t>
            </a:r>
            <a:r>
              <a:rPr b="0" lang="fr-FR" sz="18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7" strike="noStrike">
                <a:solidFill>
                  <a:srgbClr val="ffffff"/>
                </a:solidFill>
                <a:latin typeface="Lucida Sans Unicode"/>
              </a:rPr>
              <a:t>kubectl,</a:t>
            </a:r>
            <a:r>
              <a:rPr b="0" lang="fr-FR" sz="18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9" strike="noStrike">
                <a:solidFill>
                  <a:srgbClr val="ffffff"/>
                </a:solidFill>
                <a:latin typeface="Lucida Sans Unicode"/>
              </a:rPr>
              <a:t>imperative</a:t>
            </a:r>
            <a:r>
              <a:rPr b="0" lang="fr-FR" sz="18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35" strike="noStrike">
                <a:solidFill>
                  <a:srgbClr val="ffffff"/>
                </a:solidFill>
                <a:latin typeface="Lucida Sans Unicode"/>
              </a:rPr>
              <a:t>vs. </a:t>
            </a:r>
            <a:r>
              <a:rPr b="0" lang="fr-FR" sz="1800" spc="-55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43" strike="noStrike">
                <a:solidFill>
                  <a:srgbClr val="ffffff"/>
                </a:solidFill>
                <a:latin typeface="Lucida Sans Unicode"/>
              </a:rPr>
              <a:t>declarative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77" strike="noStrike">
                <a:solidFill>
                  <a:srgbClr val="ffffff"/>
                </a:solidFill>
                <a:latin typeface="Lucida Sans Unicode"/>
              </a:rPr>
              <a:t>approach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Kubernetes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Primitives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Basic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building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blocks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creating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operating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application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355" name="object 3" descr=""/>
          <p:cNvPicPr/>
          <p:nvPr/>
        </p:nvPicPr>
        <p:blipFill>
          <a:blip r:embed="rId1"/>
          <a:stretch/>
        </p:blipFill>
        <p:spPr>
          <a:xfrm>
            <a:off x="727560" y="2054520"/>
            <a:ext cx="7598880" cy="1849680"/>
          </a:xfrm>
          <a:prstGeom prst="rect">
            <a:avLst/>
          </a:prstGeom>
          <a:ln w="0">
            <a:noFill/>
          </a:ln>
        </p:spPr>
      </p:pic>
      <p:sp>
        <p:nvSpPr>
          <p:cNvPr id="356" name="object 4"/>
          <p:cNvSpPr/>
          <p:nvPr/>
        </p:nvSpPr>
        <p:spPr>
          <a:xfrm>
            <a:off x="8701560" y="4908600"/>
            <a:ext cx="201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7651981-C2D5-4373-91D4-559A57015C0B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356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Kubernetes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Structure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General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structure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followed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most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primitives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358" name="object 3" descr=""/>
          <p:cNvPicPr/>
          <p:nvPr/>
        </p:nvPicPr>
        <p:blipFill>
          <a:blip r:embed="rId1"/>
          <a:stretch/>
        </p:blipFill>
        <p:spPr>
          <a:xfrm>
            <a:off x="2009160" y="1485000"/>
            <a:ext cx="5123160" cy="3145680"/>
          </a:xfrm>
          <a:prstGeom prst="rect">
            <a:avLst/>
          </a:prstGeom>
          <a:ln w="0">
            <a:noFill/>
          </a:ln>
        </p:spPr>
      </p:pic>
      <p:sp>
        <p:nvSpPr>
          <p:cNvPr id="359" name="object 4"/>
          <p:cNvSpPr/>
          <p:nvPr/>
        </p:nvSpPr>
        <p:spPr>
          <a:xfrm>
            <a:off x="8701560" y="4908600"/>
            <a:ext cx="201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4EE6D1E-F644-49A2-86D3-35E67670A77E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356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General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Primitive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Sections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Each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section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has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specific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function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361" name="object 4"/>
          <p:cNvSpPr/>
          <p:nvPr/>
        </p:nvSpPr>
        <p:spPr>
          <a:xfrm>
            <a:off x="8701560" y="4908600"/>
            <a:ext cx="201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80CC1BE-CEEB-4EE0-A953-EEF70B2B34DA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362" name="object 3"/>
          <p:cNvSpPr/>
          <p:nvPr/>
        </p:nvSpPr>
        <p:spPr>
          <a:xfrm>
            <a:off x="600120" y="1360440"/>
            <a:ext cx="8217720" cy="28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API </a:t>
            </a:r>
            <a:r>
              <a:rPr b="0" i="1" lang="fr-FR" sz="1600" spc="-1" strike="noStrike">
                <a:solidFill>
                  <a:srgbClr val="000000"/>
                </a:solidFill>
                <a:latin typeface="Arial"/>
                <a:ea typeface="DejaVu Sans"/>
              </a:rPr>
              <a:t>version: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Defines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structure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primitive and uses it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validate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correctness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the data.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Kind: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kind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type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primitive,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e.g.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Arial"/>
                <a:ea typeface="DejaVu Sans"/>
              </a:rPr>
              <a:t>Metadata:</a:t>
            </a:r>
            <a:r>
              <a:rPr b="0" i="1" lang="fr-FR" sz="1600" spc="-2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Describes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higher-level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information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about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Spec:</a:t>
            </a:r>
            <a:r>
              <a:rPr b="0" i="1" lang="fr-FR" sz="1600" spc="-2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Desired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state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Status:</a:t>
            </a:r>
            <a:r>
              <a:rPr b="0" i="1" lang="fr-FR" sz="1600" spc="-97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Actual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state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object.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Empty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yet.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Using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kubectl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Primary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tool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interact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CLI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364" name="object 3" descr=""/>
          <p:cNvPicPr/>
          <p:nvPr/>
        </p:nvPicPr>
        <p:blipFill>
          <a:blip r:embed="rId1"/>
          <a:stretch/>
        </p:blipFill>
        <p:spPr>
          <a:xfrm>
            <a:off x="803160" y="2694600"/>
            <a:ext cx="7378920" cy="939960"/>
          </a:xfrm>
          <a:prstGeom prst="rect">
            <a:avLst/>
          </a:prstGeom>
          <a:ln w="0">
            <a:noFill/>
          </a:ln>
        </p:spPr>
      </p:pic>
      <p:sp>
        <p:nvSpPr>
          <p:cNvPr id="365" name="object 4"/>
          <p:cNvSpPr/>
          <p:nvPr/>
        </p:nvSpPr>
        <p:spPr>
          <a:xfrm>
            <a:off x="8701560" y="4908600"/>
            <a:ext cx="201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E712F60-DECF-40BF-A66E-DCA0E239FA06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Management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Fast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but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requires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detailed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knowledge,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no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track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record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367" name="object 3"/>
          <p:cNvGrpSpPr/>
          <p:nvPr/>
        </p:nvGrpSpPr>
        <p:grpSpPr>
          <a:xfrm>
            <a:off x="446040" y="1375560"/>
            <a:ext cx="5080680" cy="2238120"/>
            <a:chOff x="446040" y="1375560"/>
            <a:chExt cx="5080680" cy="2238120"/>
          </a:xfrm>
        </p:grpSpPr>
        <p:pic>
          <p:nvPicPr>
            <p:cNvPr id="368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5080680" cy="2238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69" name="object 5"/>
            <p:cNvSpPr/>
            <p:nvPr/>
          </p:nvSpPr>
          <p:spPr>
            <a:xfrm>
              <a:off x="499680" y="1424160"/>
              <a:ext cx="4966560" cy="2124360"/>
            </a:xfrm>
            <a:custGeom>
              <a:avLst/>
              <a:gdLst/>
              <a:ahLst/>
              <a:rect l="l" t="t" r="r" b="b"/>
              <a:pathLst>
                <a:path w="4969510" h="2127250">
                  <a:moveTo>
                    <a:pt x="4969199" y="2126699"/>
                  </a:moveTo>
                  <a:lnTo>
                    <a:pt x="0" y="2126699"/>
                  </a:lnTo>
                  <a:lnTo>
                    <a:pt x="0" y="0"/>
                  </a:lnTo>
                  <a:lnTo>
                    <a:pt x="4969199" y="0"/>
                  </a:lnTo>
                  <a:lnTo>
                    <a:pt x="4969199" y="2126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70" name="object 6"/>
          <p:cNvSpPr/>
          <p:nvPr/>
        </p:nvSpPr>
        <p:spPr>
          <a:xfrm>
            <a:off x="752400" y="1602360"/>
            <a:ext cx="33296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ckad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71" name="object 7"/>
          <p:cNvSpPr/>
          <p:nvPr/>
        </p:nvSpPr>
        <p:spPr>
          <a:xfrm>
            <a:off x="752400" y="1811880"/>
            <a:ext cx="23695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namespace/ckad</a:t>
            </a:r>
            <a:r>
              <a:rPr b="0" lang="fr-FR" sz="14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72" name="object 8"/>
          <p:cNvSpPr/>
          <p:nvPr/>
        </p:nvSpPr>
        <p:spPr>
          <a:xfrm>
            <a:off x="752400" y="2230920"/>
            <a:ext cx="43963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--image=nginx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ckad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73" name="object 9"/>
          <p:cNvSpPr/>
          <p:nvPr/>
        </p:nvSpPr>
        <p:spPr>
          <a:xfrm>
            <a:off x="752400" y="2859480"/>
            <a:ext cx="34362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edit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ckad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74" name="object 10"/>
          <p:cNvSpPr/>
          <p:nvPr/>
        </p:nvSpPr>
        <p:spPr>
          <a:xfrm>
            <a:off x="752400" y="3069000"/>
            <a:ext cx="17294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4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edited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375" name="object 11"/>
          <p:cNvGrpSpPr/>
          <p:nvPr/>
        </p:nvGrpSpPr>
        <p:grpSpPr>
          <a:xfrm>
            <a:off x="4342320" y="1716840"/>
            <a:ext cx="2094840" cy="1328760"/>
            <a:chOff x="4342320" y="1716840"/>
            <a:chExt cx="2094840" cy="1328760"/>
          </a:xfrm>
        </p:grpSpPr>
        <p:sp>
          <p:nvSpPr>
            <p:cNvPr id="376" name="object 12"/>
            <p:cNvSpPr/>
            <p:nvPr/>
          </p:nvSpPr>
          <p:spPr>
            <a:xfrm>
              <a:off x="4438440" y="1757880"/>
              <a:ext cx="1998720" cy="360"/>
            </a:xfrm>
            <a:custGeom>
              <a:avLst/>
              <a:gdLst/>
              <a:ahLst/>
              <a:rect l="l" t="t" r="r" b="b"/>
              <a:pathLst>
                <a:path w="2001520" h="1269">
                  <a:moveTo>
                    <a:pt x="2000999" y="851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77" name="object 13" descr=""/>
            <p:cNvPicPr/>
            <p:nvPr/>
          </p:nvPicPr>
          <p:blipFill>
            <a:blip r:embed="rId2"/>
            <a:stretch/>
          </p:blipFill>
          <p:spPr>
            <a:xfrm>
              <a:off x="4342320" y="171684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78" name="object 14"/>
            <p:cNvSpPr/>
            <p:nvPr/>
          </p:nvSpPr>
          <p:spPr>
            <a:xfrm>
              <a:off x="5714280" y="2400120"/>
              <a:ext cx="720360" cy="360"/>
            </a:xfrm>
            <a:custGeom>
              <a:avLst/>
              <a:gdLst/>
              <a:ahLst/>
              <a:rect l="l" t="t" r="r" b="b"/>
              <a:pathLst>
                <a:path w="723264" h="0">
                  <a:moveTo>
                    <a:pt x="7229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79" name="object 15" descr=""/>
            <p:cNvPicPr/>
            <p:nvPr/>
          </p:nvPicPr>
          <p:blipFill>
            <a:blip r:embed="rId3"/>
            <a:stretch/>
          </p:blipFill>
          <p:spPr>
            <a:xfrm>
              <a:off x="5618520" y="235908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80" name="object 16"/>
            <p:cNvSpPr/>
            <p:nvPr/>
          </p:nvSpPr>
          <p:spPr>
            <a:xfrm>
              <a:off x="4536000" y="3007440"/>
              <a:ext cx="1890720" cy="360"/>
            </a:xfrm>
            <a:custGeom>
              <a:avLst/>
              <a:gdLst/>
              <a:ahLst/>
              <a:rect l="l" t="t" r="r" b="b"/>
              <a:pathLst>
                <a:path w="1893570" h="0">
                  <a:moveTo>
                    <a:pt x="18932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81" name="object 17" descr=""/>
            <p:cNvPicPr/>
            <p:nvPr/>
          </p:nvPicPr>
          <p:blipFill>
            <a:blip r:embed="rId4"/>
            <a:stretch/>
          </p:blipFill>
          <p:spPr>
            <a:xfrm>
              <a:off x="4439880" y="296640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82" name="object 18"/>
          <p:cNvSpPr/>
          <p:nvPr/>
        </p:nvSpPr>
        <p:spPr>
          <a:xfrm>
            <a:off x="6573960" y="1503000"/>
            <a:ext cx="206388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2232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Creates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e.g.</a:t>
            </a:r>
            <a:r>
              <a:rPr b="0" lang="fr-FR" sz="1400" spc="-5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83" name="object 21"/>
          <p:cNvSpPr/>
          <p:nvPr/>
        </p:nvSpPr>
        <p:spPr>
          <a:xfrm>
            <a:off x="8701560" y="4908600"/>
            <a:ext cx="201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FD63D25-6972-4F61-9E87-35AD20B9D782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384" name="object 19"/>
          <p:cNvSpPr/>
          <p:nvPr/>
        </p:nvSpPr>
        <p:spPr>
          <a:xfrm>
            <a:off x="6600960" y="2183760"/>
            <a:ext cx="203688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214560" indent="-2026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Creates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85" name="object 20"/>
          <p:cNvSpPr/>
          <p:nvPr/>
        </p:nvSpPr>
        <p:spPr>
          <a:xfrm>
            <a:off x="6588720" y="2791440"/>
            <a:ext cx="18691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2916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Modifies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 live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e.g.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356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Declarative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Management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Suitable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more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elaborate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changes,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tracks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changes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387" name="object 3"/>
          <p:cNvGrpSpPr/>
          <p:nvPr/>
        </p:nvGrpSpPr>
        <p:grpSpPr>
          <a:xfrm>
            <a:off x="446040" y="1388880"/>
            <a:ext cx="5227200" cy="2251800"/>
            <a:chOff x="446040" y="1388880"/>
            <a:chExt cx="5227200" cy="2251800"/>
          </a:xfrm>
        </p:grpSpPr>
        <p:pic>
          <p:nvPicPr>
            <p:cNvPr id="388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88880"/>
              <a:ext cx="5227200" cy="2251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89" name="object 5"/>
            <p:cNvSpPr/>
            <p:nvPr/>
          </p:nvSpPr>
          <p:spPr>
            <a:xfrm>
              <a:off x="499680" y="1437120"/>
              <a:ext cx="5113440" cy="2137680"/>
            </a:xfrm>
            <a:custGeom>
              <a:avLst/>
              <a:gdLst/>
              <a:ahLst/>
              <a:rect l="l" t="t" r="r" b="b"/>
              <a:pathLst>
                <a:path w="5116195" h="2140585">
                  <a:moveTo>
                    <a:pt x="5115599" y="2140199"/>
                  </a:moveTo>
                  <a:lnTo>
                    <a:pt x="0" y="2140199"/>
                  </a:lnTo>
                  <a:lnTo>
                    <a:pt x="0" y="0"/>
                  </a:lnTo>
                  <a:lnTo>
                    <a:pt x="5115599" y="0"/>
                  </a:lnTo>
                  <a:lnTo>
                    <a:pt x="5115599" y="2140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90" name="object 6"/>
          <p:cNvSpPr/>
          <p:nvPr/>
        </p:nvSpPr>
        <p:spPr>
          <a:xfrm>
            <a:off x="752400" y="1615320"/>
            <a:ext cx="43963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nginx-deployment.yaml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deployment.apps/nginx-deployment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91" name="object 7"/>
          <p:cNvSpPr/>
          <p:nvPr/>
        </p:nvSpPr>
        <p:spPr>
          <a:xfrm>
            <a:off x="752400" y="2243880"/>
            <a:ext cx="460980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apply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nginx-deployment.yaml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deployment.apps/nginx-deployment</a:t>
            </a:r>
            <a:r>
              <a:rPr b="0" lang="fr-FR" sz="1400" spc="-7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configured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92" name="object 8"/>
          <p:cNvSpPr/>
          <p:nvPr/>
        </p:nvSpPr>
        <p:spPr>
          <a:xfrm>
            <a:off x="752400" y="2872800"/>
            <a:ext cx="450324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nginx-deployment.yaml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"nginx-deployment"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393" name="object 9"/>
          <p:cNvGrpSpPr/>
          <p:nvPr/>
        </p:nvGrpSpPr>
        <p:grpSpPr>
          <a:xfrm>
            <a:off x="5400360" y="1717560"/>
            <a:ext cx="1036080" cy="1661040"/>
            <a:chOff x="5400360" y="1717560"/>
            <a:chExt cx="1036080" cy="1661040"/>
          </a:xfrm>
        </p:grpSpPr>
        <p:sp>
          <p:nvSpPr>
            <p:cNvPr id="394" name="object 10"/>
            <p:cNvSpPr/>
            <p:nvPr/>
          </p:nvSpPr>
          <p:spPr>
            <a:xfrm>
              <a:off x="5496480" y="1758600"/>
              <a:ext cx="939960" cy="360"/>
            </a:xfrm>
            <a:custGeom>
              <a:avLst/>
              <a:gdLst/>
              <a:ahLst/>
              <a:rect l="l" t="t" r="r" b="b"/>
              <a:pathLst>
                <a:path w="942975" h="0">
                  <a:moveTo>
                    <a:pt x="9428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95" name="object 11" descr=""/>
            <p:cNvPicPr/>
            <p:nvPr/>
          </p:nvPicPr>
          <p:blipFill>
            <a:blip r:embed="rId2"/>
            <a:stretch/>
          </p:blipFill>
          <p:spPr>
            <a:xfrm>
              <a:off x="5400360" y="171756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96" name="object 12"/>
            <p:cNvSpPr/>
            <p:nvPr/>
          </p:nvSpPr>
          <p:spPr>
            <a:xfrm>
              <a:off x="5496480" y="2382480"/>
              <a:ext cx="939960" cy="360"/>
            </a:xfrm>
            <a:custGeom>
              <a:avLst/>
              <a:gdLst/>
              <a:ahLst/>
              <a:rect l="l" t="t" r="r" b="b"/>
              <a:pathLst>
                <a:path w="942975" h="0">
                  <a:moveTo>
                    <a:pt x="9428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97" name="object 13" descr=""/>
            <p:cNvPicPr/>
            <p:nvPr/>
          </p:nvPicPr>
          <p:blipFill>
            <a:blip r:embed="rId3"/>
            <a:stretch/>
          </p:blipFill>
          <p:spPr>
            <a:xfrm>
              <a:off x="5400360" y="234144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98" name="object 14"/>
            <p:cNvSpPr/>
            <p:nvPr/>
          </p:nvSpPr>
          <p:spPr>
            <a:xfrm>
              <a:off x="5496480" y="3013920"/>
              <a:ext cx="939960" cy="364680"/>
            </a:xfrm>
            <a:custGeom>
              <a:avLst/>
              <a:gdLst/>
              <a:ahLst/>
              <a:rect l="l" t="t" r="r" b="b"/>
              <a:pathLst>
                <a:path w="942975" h="367664">
                  <a:moveTo>
                    <a:pt x="942899" y="367499"/>
                  </a:moveTo>
                  <a:lnTo>
                    <a:pt x="414299" y="367499"/>
                  </a:lnTo>
                  <a:lnTo>
                    <a:pt x="414299" y="0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99" name="object 15" descr=""/>
            <p:cNvPicPr/>
            <p:nvPr/>
          </p:nvPicPr>
          <p:blipFill>
            <a:blip r:embed="rId4"/>
            <a:stretch/>
          </p:blipFill>
          <p:spPr>
            <a:xfrm>
              <a:off x="5400360" y="297288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00" name="object 16"/>
          <p:cNvSpPr/>
          <p:nvPr/>
        </p:nvSpPr>
        <p:spPr>
          <a:xfrm>
            <a:off x="6569280" y="1503000"/>
            <a:ext cx="170856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86400" indent="-7416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Creates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if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it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doesn’t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exist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yet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01" name="object 19"/>
          <p:cNvSpPr/>
          <p:nvPr/>
        </p:nvSpPr>
        <p:spPr>
          <a:xfrm>
            <a:off x="8701560" y="4908600"/>
            <a:ext cx="201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0615725-AAB0-44A8-8A78-8916EED7DC49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402" name="object 17"/>
          <p:cNvSpPr/>
          <p:nvPr/>
        </p:nvSpPr>
        <p:spPr>
          <a:xfrm>
            <a:off x="6554520" y="2126880"/>
            <a:ext cx="244476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algn="ctr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Creates object or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update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if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it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already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exists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03" name="object 18"/>
          <p:cNvSpPr/>
          <p:nvPr/>
        </p:nvSpPr>
        <p:spPr>
          <a:xfrm>
            <a:off x="6545520" y="3240720"/>
            <a:ext cx="15523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Deletes</a:t>
            </a:r>
            <a:r>
              <a:rPr b="0" lang="fr-FR" sz="1400" spc="-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Hybrid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3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Generate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YAML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kubect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l</a:t>
            </a:r>
            <a:r>
              <a:rPr b="0" lang="fr-FR" sz="1600" spc="-642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but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make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further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edits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405" name="object 41"/>
          <p:cNvGrpSpPr/>
          <p:nvPr/>
        </p:nvGrpSpPr>
        <p:grpSpPr>
          <a:xfrm>
            <a:off x="446040" y="1391760"/>
            <a:ext cx="5220000" cy="2054880"/>
            <a:chOff x="446040" y="1391760"/>
            <a:chExt cx="5220000" cy="2054880"/>
          </a:xfrm>
        </p:grpSpPr>
        <p:pic>
          <p:nvPicPr>
            <p:cNvPr id="406" name="object 42" descr=""/>
            <p:cNvPicPr/>
            <p:nvPr/>
          </p:nvPicPr>
          <p:blipFill>
            <a:blip r:embed="rId1"/>
            <a:stretch/>
          </p:blipFill>
          <p:spPr>
            <a:xfrm>
              <a:off x="446040" y="1391760"/>
              <a:ext cx="5220000" cy="20548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07" name="object 43"/>
            <p:cNvSpPr/>
            <p:nvPr/>
          </p:nvSpPr>
          <p:spPr>
            <a:xfrm>
              <a:off x="499680" y="1440000"/>
              <a:ext cx="5106240" cy="1940760"/>
            </a:xfrm>
            <a:custGeom>
              <a:avLst/>
              <a:gdLst/>
              <a:ahLst/>
              <a:rect l="l" t="t" r="r" b="b"/>
              <a:pathLst>
                <a:path w="5109210" h="1943735">
                  <a:moveTo>
                    <a:pt x="5108699" y="1943399"/>
                  </a:moveTo>
                  <a:lnTo>
                    <a:pt x="0" y="1943399"/>
                  </a:lnTo>
                  <a:lnTo>
                    <a:pt x="0" y="0"/>
                  </a:lnTo>
                  <a:lnTo>
                    <a:pt x="5108699" y="0"/>
                  </a:lnTo>
                  <a:lnTo>
                    <a:pt x="5108699" y="1943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408" name="object 44"/>
          <p:cNvSpPr/>
          <p:nvPr/>
        </p:nvSpPr>
        <p:spPr>
          <a:xfrm>
            <a:off x="752400" y="1618200"/>
            <a:ext cx="460980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--image=nginx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64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--dry-run=client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-o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yaml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&gt;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nginx-pod.yaml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09" name="object 45"/>
          <p:cNvSpPr/>
          <p:nvPr/>
        </p:nvSpPr>
        <p:spPr>
          <a:xfrm>
            <a:off x="752400" y="2246760"/>
            <a:ext cx="21560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vim</a:t>
            </a:r>
            <a:r>
              <a:rPr b="1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nginx-pod.yaml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10" name="object 46"/>
          <p:cNvSpPr/>
          <p:nvPr/>
        </p:nvSpPr>
        <p:spPr>
          <a:xfrm>
            <a:off x="752400" y="2665800"/>
            <a:ext cx="3649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nginx-pod.yaml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11" name="object 47"/>
          <p:cNvSpPr/>
          <p:nvPr/>
        </p:nvSpPr>
        <p:spPr>
          <a:xfrm>
            <a:off x="752400" y="2875320"/>
            <a:ext cx="18360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4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412" name="object 48"/>
          <p:cNvGrpSpPr/>
          <p:nvPr/>
        </p:nvGrpSpPr>
        <p:grpSpPr>
          <a:xfrm>
            <a:off x="4651200" y="2774520"/>
            <a:ext cx="2084760" cy="79200"/>
            <a:chOff x="4651200" y="2774520"/>
            <a:chExt cx="2084760" cy="79200"/>
          </a:xfrm>
        </p:grpSpPr>
        <p:sp>
          <p:nvSpPr>
            <p:cNvPr id="413" name="object 49"/>
            <p:cNvSpPr/>
            <p:nvPr/>
          </p:nvSpPr>
          <p:spPr>
            <a:xfrm>
              <a:off x="4747320" y="2815560"/>
              <a:ext cx="1988640" cy="360"/>
            </a:xfrm>
            <a:custGeom>
              <a:avLst/>
              <a:gdLst/>
              <a:ahLst/>
              <a:rect l="l" t="t" r="r" b="b"/>
              <a:pathLst>
                <a:path w="1991359" h="0">
                  <a:moveTo>
                    <a:pt x="19907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14" name="object 50" descr=""/>
            <p:cNvPicPr/>
            <p:nvPr/>
          </p:nvPicPr>
          <p:blipFill>
            <a:blip r:embed="rId2"/>
            <a:stretch/>
          </p:blipFill>
          <p:spPr>
            <a:xfrm>
              <a:off x="4651200" y="277452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15" name="object 51"/>
          <p:cNvSpPr/>
          <p:nvPr/>
        </p:nvSpPr>
        <p:spPr>
          <a:xfrm>
            <a:off x="6902640" y="2586960"/>
            <a:ext cx="15552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18080" indent="-10620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Create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fro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06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AM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400" spc="-5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file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16" name="object 52"/>
          <p:cNvSpPr/>
          <p:nvPr/>
        </p:nvSpPr>
        <p:spPr>
          <a:xfrm>
            <a:off x="8701560" y="4908600"/>
            <a:ext cx="201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F118FA9-72FB-46C2-8BF9-3815F145C1E5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grpSp>
        <p:nvGrpSpPr>
          <p:cNvPr id="417" name="object 53"/>
          <p:cNvGrpSpPr/>
          <p:nvPr/>
        </p:nvGrpSpPr>
        <p:grpSpPr>
          <a:xfrm>
            <a:off x="5556240" y="1802520"/>
            <a:ext cx="1101600" cy="79200"/>
            <a:chOff x="5556240" y="1802520"/>
            <a:chExt cx="1101600" cy="79200"/>
          </a:xfrm>
        </p:grpSpPr>
        <p:sp>
          <p:nvSpPr>
            <p:cNvPr id="418" name="object 54"/>
            <p:cNvSpPr/>
            <p:nvPr/>
          </p:nvSpPr>
          <p:spPr>
            <a:xfrm>
              <a:off x="5607000" y="1843560"/>
              <a:ext cx="1050840" cy="360"/>
            </a:xfrm>
            <a:custGeom>
              <a:avLst/>
              <a:gdLst/>
              <a:ahLst/>
              <a:rect l="l" t="t" r="r" b="b"/>
              <a:pathLst>
                <a:path w="1991359" h="0">
                  <a:moveTo>
                    <a:pt x="19907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19" name="object 55" descr=""/>
            <p:cNvPicPr/>
            <p:nvPr/>
          </p:nvPicPr>
          <p:blipFill>
            <a:blip r:embed="rId3"/>
            <a:stretch/>
          </p:blipFill>
          <p:spPr>
            <a:xfrm>
              <a:off x="5556240" y="1802520"/>
              <a:ext cx="5328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20" name="object 56"/>
          <p:cNvSpPr/>
          <p:nvPr/>
        </p:nvSpPr>
        <p:spPr>
          <a:xfrm>
            <a:off x="6903360" y="1650960"/>
            <a:ext cx="1555200" cy="46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18080" indent="-10620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Capture YAML for</a:t>
            </a:r>
            <a:endParaRPr b="0" lang="fr-FR" sz="1400" spc="-1" strike="noStrike">
              <a:latin typeface="Arial"/>
            </a:endParaRPr>
          </a:p>
          <a:p>
            <a:pPr marL="118080" indent="-10620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Pod object in file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1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422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423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6523560" cy="138204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24" strike="noStrike">
                <a:solidFill>
                  <a:srgbClr val="ffffff"/>
                </a:solidFill>
                <a:latin typeface="Tahoma"/>
              </a:rPr>
              <a:t>Pods</a:t>
            </a:r>
            <a:r>
              <a:rPr b="1" lang="fr-FR" sz="3600" spc="-22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9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600" spc="-22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137" strike="noStrike">
                <a:solidFill>
                  <a:srgbClr val="ffffff"/>
                </a:solidFill>
                <a:latin typeface="Tahoma"/>
              </a:rPr>
              <a:t>Namespaces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Running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9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2" strike="noStrike">
                <a:solidFill>
                  <a:srgbClr val="ffffff"/>
                </a:solidFill>
                <a:latin typeface="Lucida Sans Unicode"/>
              </a:rPr>
              <a:t>inspecting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workload,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organizing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4" strike="noStrike">
                <a:solidFill>
                  <a:srgbClr val="ffffff"/>
                </a:solidFill>
                <a:latin typeface="Lucida Sans Unicode"/>
              </a:rPr>
              <a:t>objects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26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Pod?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process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container(s)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426" name="object 4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3D73A3A-8A5E-42C3-B318-28EAE2FA7382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427" name="object 3"/>
          <p:cNvSpPr/>
          <p:nvPr/>
        </p:nvSpPr>
        <p:spPr>
          <a:xfrm>
            <a:off x="600120" y="1392840"/>
            <a:ext cx="8037720" cy="19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smallest,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most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basic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deployable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more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executed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 enhances the basic functionality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container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features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such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security,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storage,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more.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7" strike="noStrike">
                <a:solidFill>
                  <a:srgbClr val="000000"/>
                </a:solidFill>
                <a:latin typeface="Tahoma"/>
              </a:rPr>
              <a:t>Command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"Execute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Hazelcast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configure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it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parameters"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429" name="object 4"/>
          <p:cNvSpPr/>
          <p:nvPr/>
        </p:nvSpPr>
        <p:spPr>
          <a:xfrm>
            <a:off x="536400" y="1419480"/>
            <a:ext cx="4178520" cy="14684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520" bIns="0" anchor="t">
            <a:spAutoFit/>
          </a:bodyPr>
          <a:p>
            <a:pPr>
              <a:lnSpc>
                <a:spcPct val="100000"/>
              </a:lnSpc>
              <a:spcBef>
                <a:spcPts val="20"/>
              </a:spcBef>
              <a:buNone/>
            </a:pPr>
            <a:endParaRPr b="0" lang="fr-FR" sz="1350" spc="-1" strike="noStrike">
              <a:latin typeface="Arial"/>
            </a:endParaRPr>
          </a:p>
          <a:p>
            <a:pPr marL="237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--image=hazelcast/hazelcast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--port=5701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--env="DNS_DOMAIN=cluster"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--labels="app=hazelcast,env=prod"</a:t>
            </a:r>
            <a:endParaRPr b="0" lang="fr-FR" sz="1400" spc="-1" strike="noStrike">
              <a:latin typeface="Arial"/>
            </a:endParaRPr>
          </a:p>
          <a:p>
            <a:pPr marL="237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pod/hazelcast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30" name="object 5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CE41616-D32F-48F8-9EB0-5B6526B253A1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"Execute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Hazelcast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configure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it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parameters"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432" name="object 3"/>
          <p:cNvGrpSpPr/>
          <p:nvPr/>
        </p:nvGrpSpPr>
        <p:grpSpPr>
          <a:xfrm>
            <a:off x="446040" y="1375560"/>
            <a:ext cx="3488760" cy="2680200"/>
            <a:chOff x="446040" y="1375560"/>
            <a:chExt cx="3488760" cy="2680200"/>
          </a:xfrm>
        </p:grpSpPr>
        <p:pic>
          <p:nvPicPr>
            <p:cNvPr id="433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3488760" cy="2680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34" name="object 5"/>
            <p:cNvSpPr/>
            <p:nvPr/>
          </p:nvSpPr>
          <p:spPr>
            <a:xfrm>
              <a:off x="499680" y="1424160"/>
              <a:ext cx="3374640" cy="2566440"/>
            </a:xfrm>
            <a:custGeom>
              <a:avLst/>
              <a:gdLst/>
              <a:ahLst/>
              <a:rect l="l" t="t" r="r" b="b"/>
              <a:pathLst>
                <a:path w="3377565" h="2569210">
                  <a:moveTo>
                    <a:pt x="3377399" y="2568899"/>
                  </a:moveTo>
                  <a:lnTo>
                    <a:pt x="0" y="2568899"/>
                  </a:lnTo>
                  <a:lnTo>
                    <a:pt x="0" y="0"/>
                  </a:lnTo>
                  <a:lnTo>
                    <a:pt x="3377399" y="0"/>
                  </a:lnTo>
                  <a:lnTo>
                    <a:pt x="3377399" y="2568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435" name="object 6"/>
          <p:cNvSpPr/>
          <p:nvPr/>
        </p:nvSpPr>
        <p:spPr>
          <a:xfrm>
            <a:off x="695520" y="1562040"/>
            <a:ext cx="2986560" cy="20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10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300" spc="-5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hazelcast/hazelcast</a:t>
            </a:r>
            <a:endParaRPr b="0" lang="fr-FR" sz="1300" spc="-1" strike="noStrike">
              <a:latin typeface="Arial"/>
            </a:endParaRPr>
          </a:p>
          <a:p>
            <a:pPr marL="4014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endParaRPr b="0" lang="fr-FR" sz="1300" spc="-1" strike="noStrike">
              <a:latin typeface="Arial"/>
            </a:endParaRPr>
          </a:p>
          <a:p>
            <a:pPr marL="4014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ports:</a:t>
            </a:r>
            <a:endParaRPr b="0" lang="fr-FR" sz="1300" spc="-1" strike="noStrike">
              <a:latin typeface="Arial"/>
            </a:endParaRPr>
          </a:p>
          <a:p>
            <a:pPr marL="40896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1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containerPort:</a:t>
            </a:r>
            <a:r>
              <a:rPr b="1" lang="fr-FR" sz="13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5701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436" name="object 8"/>
          <p:cNvGrpSpPr/>
          <p:nvPr/>
        </p:nvGrpSpPr>
        <p:grpSpPr>
          <a:xfrm>
            <a:off x="3984840" y="2854800"/>
            <a:ext cx="816120" cy="79200"/>
            <a:chOff x="3984840" y="2854800"/>
            <a:chExt cx="816120" cy="79200"/>
          </a:xfrm>
        </p:grpSpPr>
        <p:sp>
          <p:nvSpPr>
            <p:cNvPr id="437" name="object 9"/>
            <p:cNvSpPr/>
            <p:nvPr/>
          </p:nvSpPr>
          <p:spPr>
            <a:xfrm>
              <a:off x="4080600" y="2895840"/>
              <a:ext cx="720360" cy="360"/>
            </a:xfrm>
            <a:custGeom>
              <a:avLst/>
              <a:gdLst/>
              <a:ahLst/>
              <a:rect l="l" t="t" r="r" b="b"/>
              <a:pathLst>
                <a:path w="723264" h="0">
                  <a:moveTo>
                    <a:pt x="7229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38" name="object 10" descr=""/>
            <p:cNvPicPr/>
            <p:nvPr/>
          </p:nvPicPr>
          <p:blipFill>
            <a:blip r:embed="rId2"/>
            <a:stretch/>
          </p:blipFill>
          <p:spPr>
            <a:xfrm>
              <a:off x="3984840" y="285480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39" name="object 11"/>
          <p:cNvSpPr/>
          <p:nvPr/>
        </p:nvSpPr>
        <p:spPr>
          <a:xfrm>
            <a:off x="4932000" y="2760840"/>
            <a:ext cx="17258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400" spc="-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image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440" name="object 12"/>
          <p:cNvGrpSpPr/>
          <p:nvPr/>
        </p:nvGrpSpPr>
        <p:grpSpPr>
          <a:xfrm>
            <a:off x="3391560" y="3454200"/>
            <a:ext cx="1409760" cy="79200"/>
            <a:chOff x="3391560" y="3454200"/>
            <a:chExt cx="1409760" cy="79200"/>
          </a:xfrm>
        </p:grpSpPr>
        <p:sp>
          <p:nvSpPr>
            <p:cNvPr id="441" name="object 13"/>
            <p:cNvSpPr/>
            <p:nvPr/>
          </p:nvSpPr>
          <p:spPr>
            <a:xfrm>
              <a:off x="3487680" y="3495240"/>
              <a:ext cx="1313640" cy="360"/>
            </a:xfrm>
            <a:custGeom>
              <a:avLst/>
              <a:gdLst/>
              <a:ahLst/>
              <a:rect l="l" t="t" r="r" b="b"/>
              <a:pathLst>
                <a:path w="1316354" h="0">
                  <a:moveTo>
                    <a:pt x="13160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42" name="object 14" descr=""/>
            <p:cNvPicPr/>
            <p:nvPr/>
          </p:nvPicPr>
          <p:blipFill>
            <a:blip r:embed="rId3"/>
            <a:stretch/>
          </p:blipFill>
          <p:spPr>
            <a:xfrm>
              <a:off x="3391560" y="345420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43" name="object 15"/>
          <p:cNvSpPr/>
          <p:nvPr/>
        </p:nvSpPr>
        <p:spPr>
          <a:xfrm>
            <a:off x="4944600" y="3360600"/>
            <a:ext cx="26132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Exposed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port(s)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44" name="object 16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0FAEE12-AE69-4040-8DFE-E9292915905E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Retrieval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Downloads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image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registry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upon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creation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446" name="object 3" descr=""/>
          <p:cNvPicPr/>
          <p:nvPr/>
        </p:nvPicPr>
        <p:blipFill>
          <a:blip r:embed="rId1"/>
          <a:stretch/>
        </p:blipFill>
        <p:spPr>
          <a:xfrm>
            <a:off x="2043720" y="1677960"/>
            <a:ext cx="4966560" cy="2954520"/>
          </a:xfrm>
          <a:prstGeom prst="rect">
            <a:avLst/>
          </a:prstGeom>
          <a:ln w="0">
            <a:noFill/>
          </a:ln>
        </p:spPr>
      </p:pic>
      <p:sp>
        <p:nvSpPr>
          <p:cNvPr id="447" name="object 4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7D5FCB4-F8FC-40EA-B3E2-5C5FFDDD396B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Pods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Get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high-level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information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specific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one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449" name="object 3"/>
          <p:cNvGrpSpPr/>
          <p:nvPr/>
        </p:nvGrpSpPr>
        <p:grpSpPr>
          <a:xfrm>
            <a:off x="446040" y="1375560"/>
            <a:ext cx="5311800" cy="1972800"/>
            <a:chOff x="446040" y="1375560"/>
            <a:chExt cx="5311800" cy="1972800"/>
          </a:xfrm>
        </p:grpSpPr>
        <p:pic>
          <p:nvPicPr>
            <p:cNvPr id="450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5311800" cy="1972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51" name="object 5"/>
            <p:cNvSpPr/>
            <p:nvPr/>
          </p:nvSpPr>
          <p:spPr>
            <a:xfrm>
              <a:off x="501120" y="1424160"/>
              <a:ext cx="5194440" cy="1859040"/>
            </a:xfrm>
            <a:custGeom>
              <a:avLst/>
              <a:gdLst/>
              <a:ahLst/>
              <a:rect l="l" t="t" r="r" b="b"/>
              <a:pathLst>
                <a:path w="5067935" h="1861820">
                  <a:moveTo>
                    <a:pt x="5067899" y="1861499"/>
                  </a:moveTo>
                  <a:lnTo>
                    <a:pt x="0" y="1861499"/>
                  </a:lnTo>
                  <a:lnTo>
                    <a:pt x="0" y="0"/>
                  </a:lnTo>
                  <a:lnTo>
                    <a:pt x="5067899" y="0"/>
                  </a:lnTo>
                  <a:lnTo>
                    <a:pt x="5067899" y="1861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aphicFrame>
        <p:nvGraphicFramePr>
          <p:cNvPr id="452" name="object 6"/>
          <p:cNvGraphicFramePr/>
          <p:nvPr/>
        </p:nvGraphicFramePr>
        <p:xfrm>
          <a:off x="501120" y="1603800"/>
          <a:ext cx="5180760" cy="619920"/>
        </p:xfrm>
        <a:graphic>
          <a:graphicData uri="http://schemas.openxmlformats.org/drawingml/2006/table">
            <a:tbl>
              <a:tblPr/>
              <a:tblGrid>
                <a:gridCol w="1240560"/>
                <a:gridCol w="1135080"/>
                <a:gridCol w="1041480"/>
                <a:gridCol w="1195200"/>
                <a:gridCol w="568800"/>
              </a:tblGrid>
              <a:tr h="20520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$</a:t>
                      </a:r>
                      <a:r>
                        <a:rPr b="1" lang="fr-FR" sz="1400" spc="-7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kubectl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532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get</a:t>
                      </a:r>
                      <a:r>
                        <a:rPr b="1" lang="fr-FR" sz="1400" spc="-7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pods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gridSpan="3"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0952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NAME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26676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READY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0656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STATUS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6020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RESTARTS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AGE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  <a:tr h="20556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hazelcast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26604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1/1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0620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Running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6020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0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17s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</a:tbl>
          </a:graphicData>
        </a:graphic>
      </p:graphicFrame>
      <p:sp>
        <p:nvSpPr>
          <p:cNvPr id="453" name="object 7"/>
          <p:cNvSpPr/>
          <p:nvPr/>
        </p:nvSpPr>
        <p:spPr>
          <a:xfrm>
            <a:off x="2639880" y="2412720"/>
            <a:ext cx="1096200" cy="2131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62280">
              <a:lnSpc>
                <a:spcPts val="1681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54" name="object 8"/>
          <p:cNvSpPr/>
          <p:nvPr/>
        </p:nvSpPr>
        <p:spPr>
          <a:xfrm>
            <a:off x="612000" y="2399760"/>
            <a:ext cx="3345840" cy="64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  <a:tabLst>
                <a:tab algn="l" pos="1279440"/>
                <a:tab algn="l" pos="21330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 READY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  STATUS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  <a:tabLst>
                <a:tab algn="l" pos="1279440"/>
                <a:tab algn="l" pos="21330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1/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55" name="object 9"/>
          <p:cNvSpPr/>
          <p:nvPr/>
        </p:nvSpPr>
        <p:spPr>
          <a:xfrm>
            <a:off x="4127760" y="2609280"/>
            <a:ext cx="15033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  <a:tabLst>
                <a:tab algn="l" pos="11728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  <a:tabLst>
                <a:tab algn="l" pos="117288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17s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456" name="object 10"/>
          <p:cNvGrpSpPr/>
          <p:nvPr/>
        </p:nvGrpSpPr>
        <p:grpSpPr>
          <a:xfrm>
            <a:off x="3849120" y="2505240"/>
            <a:ext cx="2081880" cy="79200"/>
            <a:chOff x="3849120" y="2505240"/>
            <a:chExt cx="2081880" cy="79200"/>
          </a:xfrm>
        </p:grpSpPr>
        <p:sp>
          <p:nvSpPr>
            <p:cNvPr id="457" name="object 11"/>
            <p:cNvSpPr/>
            <p:nvPr/>
          </p:nvSpPr>
          <p:spPr>
            <a:xfrm>
              <a:off x="3944880" y="2546280"/>
              <a:ext cx="1986120" cy="360"/>
            </a:xfrm>
            <a:custGeom>
              <a:avLst/>
              <a:gdLst/>
              <a:ahLst/>
              <a:rect l="l" t="t" r="r" b="b"/>
              <a:pathLst>
                <a:path w="1988820" h="0">
                  <a:moveTo>
                    <a:pt x="19883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58" name="object 12" descr=""/>
            <p:cNvPicPr/>
            <p:nvPr/>
          </p:nvPicPr>
          <p:blipFill>
            <a:blip r:embed="rId2"/>
            <a:stretch/>
          </p:blipFill>
          <p:spPr>
            <a:xfrm>
              <a:off x="3849120" y="250524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59" name="object 13"/>
          <p:cNvSpPr/>
          <p:nvPr/>
        </p:nvSpPr>
        <p:spPr>
          <a:xfrm>
            <a:off x="6072120" y="2404080"/>
            <a:ext cx="20257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Specific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60" name="object 14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74F8A01-C93A-4FB1-A465-DFCF15D15B05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54356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97" strike="noStrike">
                <a:solidFill>
                  <a:srgbClr val="000000"/>
                </a:solidFill>
                <a:latin typeface="Tahoma"/>
              </a:rPr>
              <a:t>Life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5" strike="noStrike">
                <a:solidFill>
                  <a:srgbClr val="000000"/>
                </a:solidFill>
                <a:latin typeface="Tahoma"/>
              </a:rPr>
              <a:t>Cycle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Phases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Indicates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operational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status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462" name="object 3" descr=""/>
          <p:cNvPicPr/>
          <p:nvPr/>
        </p:nvPicPr>
        <p:blipFill>
          <a:blip r:embed="rId1"/>
          <a:stretch/>
        </p:blipFill>
        <p:spPr>
          <a:xfrm>
            <a:off x="2164680" y="1680120"/>
            <a:ext cx="4812120" cy="2862000"/>
          </a:xfrm>
          <a:prstGeom prst="rect">
            <a:avLst/>
          </a:prstGeom>
          <a:ln w="0">
            <a:noFill/>
          </a:ln>
        </p:spPr>
      </p:pic>
      <p:sp>
        <p:nvSpPr>
          <p:cNvPr id="463" name="object 4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3319E44-95CE-4701-BEA6-A92BD77C88B0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08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Rendering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Details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Shows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configuration,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events,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status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465" name="object 3"/>
          <p:cNvGrpSpPr/>
          <p:nvPr/>
        </p:nvGrpSpPr>
        <p:grpSpPr>
          <a:xfrm>
            <a:off x="446040" y="1375560"/>
            <a:ext cx="4017240" cy="2583000"/>
            <a:chOff x="446040" y="1375560"/>
            <a:chExt cx="4017240" cy="2583000"/>
          </a:xfrm>
        </p:grpSpPr>
        <p:pic>
          <p:nvPicPr>
            <p:cNvPr id="466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4017240" cy="25830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67" name="object 5"/>
            <p:cNvSpPr/>
            <p:nvPr/>
          </p:nvSpPr>
          <p:spPr>
            <a:xfrm>
              <a:off x="499680" y="1424160"/>
              <a:ext cx="3903120" cy="2468520"/>
            </a:xfrm>
            <a:custGeom>
              <a:avLst/>
              <a:gdLst/>
              <a:ahLst/>
              <a:rect l="l" t="t" r="r" b="b"/>
              <a:pathLst>
                <a:path w="3905885" h="2471420">
                  <a:moveTo>
                    <a:pt x="3905699" y="2471399"/>
                  </a:moveTo>
                  <a:lnTo>
                    <a:pt x="0" y="2471399"/>
                  </a:lnTo>
                  <a:lnTo>
                    <a:pt x="0" y="0"/>
                  </a:lnTo>
                  <a:lnTo>
                    <a:pt x="3905699" y="0"/>
                  </a:lnTo>
                  <a:lnTo>
                    <a:pt x="3905699" y="2471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468" name="object 6"/>
          <p:cNvSpPr/>
          <p:nvPr/>
        </p:nvSpPr>
        <p:spPr>
          <a:xfrm>
            <a:off x="663120" y="1561320"/>
            <a:ext cx="35431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69" name="object 7"/>
          <p:cNvSpPr/>
          <p:nvPr/>
        </p:nvSpPr>
        <p:spPr>
          <a:xfrm>
            <a:off x="2796480" y="1771200"/>
            <a:ext cx="98316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  default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70" name="object 8"/>
          <p:cNvSpPr/>
          <p:nvPr/>
        </p:nvSpPr>
        <p:spPr>
          <a:xfrm>
            <a:off x="2796480" y="2399760"/>
            <a:ext cx="7693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71" name="object 9"/>
          <p:cNvSpPr/>
          <p:nvPr/>
        </p:nvSpPr>
        <p:spPr>
          <a:xfrm>
            <a:off x="2731680" y="2621160"/>
            <a:ext cx="1107720" cy="2134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720" bIns="0" anchor="t">
            <a:spAutoFit/>
          </a:bodyPr>
          <a:p>
            <a:pPr marL="77400">
              <a:lnSpc>
                <a:spcPct val="100000"/>
              </a:lnSpc>
              <a:spcBef>
                <a:spcPts val="6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10.1.0.41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72" name="object 10"/>
          <p:cNvSpPr/>
          <p:nvPr/>
        </p:nvSpPr>
        <p:spPr>
          <a:xfrm>
            <a:off x="663120" y="1771200"/>
            <a:ext cx="1195920" cy="19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Name: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Namespace: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585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Status:  IP:</a:t>
            </a:r>
            <a:endParaRPr b="0" lang="fr-FR" sz="1400" spc="-1" strike="noStrike">
              <a:latin typeface="Arial"/>
            </a:endParaRPr>
          </a:p>
          <a:p>
            <a:pPr marL="12600" algn="ctr">
              <a:lnSpc>
                <a:spcPts val="1585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Containers:</a:t>
            </a:r>
            <a:endParaRPr b="0" lang="fr-FR" sz="1400" spc="-1" strike="noStrike">
              <a:latin typeface="Arial"/>
            </a:endParaRPr>
          </a:p>
          <a:p>
            <a:pPr marL="12600" algn="ctr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2600" algn="ctr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Events:</a:t>
            </a:r>
            <a:endParaRPr b="0" lang="fr-FR" sz="1400" spc="-1" strike="noStrike">
              <a:latin typeface="Arial"/>
            </a:endParaRPr>
          </a:p>
          <a:p>
            <a:pPr marL="12600" algn="ctr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</p:txBody>
      </p:sp>
      <p:pic>
        <p:nvPicPr>
          <p:cNvPr id="473" name="object 11" descr=""/>
          <p:cNvPicPr/>
          <p:nvPr/>
        </p:nvPicPr>
        <p:blipFill>
          <a:blip r:embed="rId2"/>
          <a:stretch/>
        </p:blipFill>
        <p:spPr>
          <a:xfrm>
            <a:off x="4030200" y="2722320"/>
            <a:ext cx="102600" cy="79200"/>
          </a:xfrm>
          <a:prstGeom prst="rect">
            <a:avLst/>
          </a:prstGeom>
          <a:ln w="0">
            <a:noFill/>
          </a:ln>
        </p:spPr>
      </p:pic>
      <p:sp>
        <p:nvSpPr>
          <p:cNvPr id="474" name="object 12"/>
          <p:cNvSpPr/>
          <p:nvPr/>
        </p:nvSpPr>
        <p:spPr>
          <a:xfrm>
            <a:off x="4509360" y="2549520"/>
            <a:ext cx="3948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  <a:tabLst>
                <a:tab algn="l" pos="1273320"/>
              </a:tabLst>
            </a:pP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Virtual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IP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assigned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 Pod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communicate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75" name="object 14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961FDBB-4BDA-4C3E-9EF0-7CB0BE8DB47A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Accessing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Logs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Renders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logs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produced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process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running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477" name="object 4"/>
          <p:cNvSpPr/>
          <p:nvPr/>
        </p:nvSpPr>
        <p:spPr>
          <a:xfrm>
            <a:off x="499680" y="1424160"/>
            <a:ext cx="7187400" cy="9910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176040">
              <a:lnSpc>
                <a:spcPts val="1664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logs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May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25,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2020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3:36:26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PM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com.hazelcast.core.LifecycleService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INFO: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[10.1.0.46]:5701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[dev]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[4.0.1]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[10.1.0.46]:5701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is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78" name="object 6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CFB54B4-0504-4198-9F04-7283E6B8D078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479" name="object 5"/>
          <p:cNvSpPr/>
          <p:nvPr/>
        </p:nvSpPr>
        <p:spPr>
          <a:xfrm>
            <a:off x="600120" y="3112920"/>
            <a:ext cx="8037720" cy="14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stream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logs 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line option</a:t>
            </a:r>
            <a:r>
              <a:rPr b="0" lang="fr-FR" sz="1600" spc="4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This option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helpful if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want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logs 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real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time.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still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get back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the logs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previous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adding the</a:t>
            </a:r>
            <a:r>
              <a:rPr b="0" lang="fr-FR" sz="1600" spc="18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-p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255"/>
              </a:spcBef>
              <a:buNone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line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case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crashes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restarted.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Executing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7" strike="noStrike">
                <a:solidFill>
                  <a:srgbClr val="000000"/>
                </a:solidFill>
                <a:latin typeface="Tahoma"/>
              </a:rPr>
              <a:t>Command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Interactive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exploration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container,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seeing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direct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effect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command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481" name="object 4"/>
          <p:cNvSpPr/>
          <p:nvPr/>
        </p:nvSpPr>
        <p:spPr>
          <a:xfrm>
            <a:off x="499680" y="1424160"/>
            <a:ext cx="7187400" cy="14216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176040">
              <a:lnSpc>
                <a:spcPts val="1664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env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DNS_DOMAIN=cluster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82" name="object 6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E2B250D-D768-41D3-9AF6-EF8324D4B2A8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483" name="object 5"/>
          <p:cNvSpPr/>
          <p:nvPr/>
        </p:nvSpPr>
        <p:spPr>
          <a:xfrm>
            <a:off x="600120" y="3341520"/>
            <a:ext cx="821772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lin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optio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-i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600" spc="-56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open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interactiv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shell.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usefu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want  to inspect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 or debug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current state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your 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direct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execution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simply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append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4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56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Temporary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Meant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experimentation,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deleted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after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use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485" name="object 3"/>
          <p:cNvGrpSpPr/>
          <p:nvPr/>
        </p:nvGrpSpPr>
        <p:grpSpPr>
          <a:xfrm>
            <a:off x="482760" y="1371240"/>
            <a:ext cx="4929480" cy="2228040"/>
            <a:chOff x="482760" y="1371240"/>
            <a:chExt cx="4929480" cy="2228040"/>
          </a:xfrm>
        </p:grpSpPr>
        <p:pic>
          <p:nvPicPr>
            <p:cNvPr id="486" name="object 4" descr=""/>
            <p:cNvPicPr/>
            <p:nvPr/>
          </p:nvPicPr>
          <p:blipFill>
            <a:blip r:embed="rId1"/>
            <a:stretch/>
          </p:blipFill>
          <p:spPr>
            <a:xfrm>
              <a:off x="482760" y="1371240"/>
              <a:ext cx="4929480" cy="2228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87" name="object 5"/>
            <p:cNvSpPr/>
            <p:nvPr/>
          </p:nvSpPr>
          <p:spPr>
            <a:xfrm>
              <a:off x="536400" y="1414080"/>
              <a:ext cx="4815360" cy="2126520"/>
            </a:xfrm>
            <a:custGeom>
              <a:avLst/>
              <a:gdLst/>
              <a:ahLst/>
              <a:rect l="l" t="t" r="r" b="b"/>
              <a:pathLst>
                <a:path w="4818380" h="2392679">
                  <a:moveTo>
                    <a:pt x="4817999" y="2392199"/>
                  </a:moveTo>
                  <a:lnTo>
                    <a:pt x="0" y="2392199"/>
                  </a:lnTo>
                  <a:lnTo>
                    <a:pt x="0" y="0"/>
                  </a:lnTo>
                  <a:lnTo>
                    <a:pt x="4817999" y="0"/>
                  </a:lnTo>
                  <a:lnTo>
                    <a:pt x="4817999" y="2392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488" name="object 6"/>
          <p:cNvSpPr/>
          <p:nvPr/>
        </p:nvSpPr>
        <p:spPr>
          <a:xfrm>
            <a:off x="894600" y="2046240"/>
            <a:ext cx="685440" cy="2055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92880">
              <a:lnSpc>
                <a:spcPts val="1621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--rm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89" name="object 7"/>
          <p:cNvSpPr/>
          <p:nvPr/>
        </p:nvSpPr>
        <p:spPr>
          <a:xfrm>
            <a:off x="536400" y="1419480"/>
            <a:ext cx="4815360" cy="18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520" bIns="0" anchor="t">
            <a:spAutoFit/>
          </a:bodyPr>
          <a:p>
            <a:pPr>
              <a:lnSpc>
                <a:spcPct val="100000"/>
              </a:lnSpc>
              <a:spcBef>
                <a:spcPts val="20"/>
              </a:spcBef>
              <a:buNone/>
            </a:pPr>
            <a:endParaRPr b="0" lang="fr-FR" sz="1350" spc="-1" strike="noStrike">
              <a:latin typeface="Arial"/>
            </a:endParaRPr>
          </a:p>
          <a:p>
            <a:pPr marL="237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busybox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>
              <a:lnSpc>
                <a:spcPts val="1664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--image=busybox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>
              <a:lnSpc>
                <a:spcPct val="100000"/>
              </a:lnSpc>
              <a:spcBef>
                <a:spcPts val="14"/>
              </a:spcBef>
              <a:buNone/>
            </a:pPr>
            <a:endParaRPr b="0" lang="fr-FR" sz="1250" spc="-1" strike="noStrike">
              <a:latin typeface="Arial"/>
            </a:endParaRPr>
          </a:p>
          <a:p>
            <a:pPr marL="450720">
              <a:lnSpc>
                <a:spcPts val="1664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</a:t>
            </a:r>
            <a:r>
              <a:rPr b="1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10.1.0.41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23760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</a:t>
            </a:r>
            <a:r>
              <a:rPr b="0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10.1.0.41:80</a:t>
            </a:r>
            <a:r>
              <a:rPr b="0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(10.1.0.41:80)</a:t>
            </a:r>
            <a:endParaRPr b="0" lang="fr-FR" sz="1400" spc="-1" strike="noStrike">
              <a:latin typeface="Arial"/>
            </a:endParaRPr>
          </a:p>
          <a:p>
            <a:pPr marL="23760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237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"busybox"</a:t>
            </a:r>
            <a:r>
              <a:rPr b="0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490" name="object 8"/>
          <p:cNvGrpSpPr/>
          <p:nvPr/>
        </p:nvGrpSpPr>
        <p:grpSpPr>
          <a:xfrm>
            <a:off x="1751760" y="2135880"/>
            <a:ext cx="3879360" cy="79200"/>
            <a:chOff x="1751760" y="2135880"/>
            <a:chExt cx="3879360" cy="79200"/>
          </a:xfrm>
        </p:grpSpPr>
        <p:sp>
          <p:nvSpPr>
            <p:cNvPr id="491" name="object 9"/>
            <p:cNvSpPr/>
            <p:nvPr/>
          </p:nvSpPr>
          <p:spPr>
            <a:xfrm>
              <a:off x="1847520" y="2176920"/>
              <a:ext cx="3783600" cy="360"/>
            </a:xfrm>
            <a:custGeom>
              <a:avLst/>
              <a:gdLst/>
              <a:ahLst/>
              <a:rect l="l" t="t" r="r" b="b"/>
              <a:pathLst>
                <a:path w="3786504" h="0">
                  <a:moveTo>
                    <a:pt x="37862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92" name="object 10" descr=""/>
            <p:cNvPicPr/>
            <p:nvPr/>
          </p:nvPicPr>
          <p:blipFill>
            <a:blip r:embed="rId2"/>
            <a:stretch/>
          </p:blipFill>
          <p:spPr>
            <a:xfrm>
              <a:off x="1751760" y="213588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93" name="object 11"/>
          <p:cNvSpPr/>
          <p:nvPr/>
        </p:nvSpPr>
        <p:spPr>
          <a:xfrm>
            <a:off x="5793480" y="1944360"/>
            <a:ext cx="284436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292680" indent="-28080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Removes Pod after executing </a:t>
            </a:r>
            <a:r>
              <a:rPr b="0" lang="fr-FR" sz="1500" spc="-40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5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provided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494" name="object 12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0E925EA-8912-4ADD-97DB-184204FC8A0B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56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Declaring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Environment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Variables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zero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many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pairs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496" name="object 3"/>
          <p:cNvGrpSpPr/>
          <p:nvPr/>
        </p:nvGrpSpPr>
        <p:grpSpPr>
          <a:xfrm>
            <a:off x="446040" y="1375560"/>
            <a:ext cx="4276800" cy="2810160"/>
            <a:chOff x="446040" y="1375560"/>
            <a:chExt cx="4276800" cy="2810160"/>
          </a:xfrm>
        </p:grpSpPr>
        <p:pic>
          <p:nvPicPr>
            <p:cNvPr id="497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4276800" cy="28101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98" name="object 5"/>
            <p:cNvSpPr/>
            <p:nvPr/>
          </p:nvSpPr>
          <p:spPr>
            <a:xfrm>
              <a:off x="499680" y="1424160"/>
              <a:ext cx="4162680" cy="2696400"/>
            </a:xfrm>
            <a:custGeom>
              <a:avLst/>
              <a:gdLst/>
              <a:ahLst/>
              <a:rect l="l" t="t" r="r" b="b"/>
              <a:pathLst>
                <a:path w="4165600" h="2699385">
                  <a:moveTo>
                    <a:pt x="4165499" y="2698799"/>
                  </a:moveTo>
                  <a:lnTo>
                    <a:pt x="0" y="2698799"/>
                  </a:lnTo>
                  <a:lnTo>
                    <a:pt x="0" y="0"/>
                  </a:lnTo>
                  <a:lnTo>
                    <a:pt x="4165499" y="0"/>
                  </a:lnTo>
                  <a:lnTo>
                    <a:pt x="4165499" y="2698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499" name="object 6"/>
          <p:cNvSpPr/>
          <p:nvPr/>
        </p:nvSpPr>
        <p:spPr>
          <a:xfrm>
            <a:off x="695520" y="1562400"/>
            <a:ext cx="3772080" cy="150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0880" bIns="0" anchor="t">
            <a:spAutoFit/>
          </a:bodyPr>
          <a:p>
            <a:pPr marL="12600">
              <a:lnSpc>
                <a:spcPts val="1420"/>
              </a:lnSpc>
              <a:spcBef>
                <a:spcPts val="164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200" spc="-9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200" spc="-70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0"/>
              </a:lnSpc>
              <a:spcBef>
                <a:spcPts val="164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0"/>
              </a:lnSpc>
              <a:spcBef>
                <a:spcPts val="164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38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spring-boot-app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200" spc="-4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bhamdi/spring-boot-app:1.5.3</a:t>
            </a:r>
            <a:endParaRPr b="0" lang="fr-FR" sz="1200" spc="-1" strike="noStrike">
              <a:latin typeface="Arial"/>
            </a:endParaRPr>
          </a:p>
          <a:p>
            <a:pPr marL="378360">
              <a:lnSpc>
                <a:spcPts val="1434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spring-boot-app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00" name="object 7"/>
          <p:cNvSpPr/>
          <p:nvPr/>
        </p:nvSpPr>
        <p:spPr>
          <a:xfrm>
            <a:off x="1061280" y="3010320"/>
            <a:ext cx="66312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env: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01" name="object 8"/>
          <p:cNvSpPr/>
          <p:nvPr/>
        </p:nvSpPr>
        <p:spPr>
          <a:xfrm>
            <a:off x="1762200" y="3168720"/>
            <a:ext cx="2144520" cy="2170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4920" bIns="0" anchor="t">
            <a:spAutoFit/>
          </a:bodyPr>
          <a:p>
            <a:pPr marL="43200">
              <a:lnSpc>
                <a:spcPct val="100000"/>
              </a:lnSpc>
              <a:spcBef>
                <a:spcPts val="275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SPRING_PROFILES_ACTIVE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02" name="object 9"/>
          <p:cNvSpPr/>
          <p:nvPr/>
        </p:nvSpPr>
        <p:spPr>
          <a:xfrm>
            <a:off x="1244160" y="3372120"/>
            <a:ext cx="102888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value:</a:t>
            </a:r>
            <a:r>
              <a:rPr b="1" lang="fr-FR" sz="12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prod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03" name="object 10"/>
          <p:cNvSpPr/>
          <p:nvPr/>
        </p:nvSpPr>
        <p:spPr>
          <a:xfrm>
            <a:off x="1061280" y="3553200"/>
            <a:ext cx="6631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04" name="object 11"/>
          <p:cNvSpPr/>
          <p:nvPr/>
        </p:nvSpPr>
        <p:spPr>
          <a:xfrm>
            <a:off x="1762200" y="3556800"/>
            <a:ext cx="762840" cy="1911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43200">
              <a:lnSpc>
                <a:spcPct val="100000"/>
              </a:lnSpc>
              <a:spcBef>
                <a:spcPts val="71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VERSION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05" name="object 12"/>
          <p:cNvSpPr/>
          <p:nvPr/>
        </p:nvSpPr>
        <p:spPr>
          <a:xfrm>
            <a:off x="1244160" y="3734280"/>
            <a:ext cx="13032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value:</a:t>
            </a:r>
            <a:r>
              <a:rPr b="1" lang="fr-FR" sz="12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d15e35"/>
                </a:solidFill>
                <a:latin typeface="Courier New"/>
                <a:ea typeface="DejaVu Sans"/>
              </a:rPr>
              <a:t>'1.5.3'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506" name="object 13"/>
          <p:cNvGrpSpPr/>
          <p:nvPr/>
        </p:nvGrpSpPr>
        <p:grpSpPr>
          <a:xfrm>
            <a:off x="2634840" y="3260880"/>
            <a:ext cx="3409560" cy="452880"/>
            <a:chOff x="2634840" y="3260880"/>
            <a:chExt cx="3409560" cy="452880"/>
          </a:xfrm>
        </p:grpSpPr>
        <p:sp>
          <p:nvSpPr>
            <p:cNvPr id="507" name="object 14"/>
            <p:cNvSpPr/>
            <p:nvPr/>
          </p:nvSpPr>
          <p:spPr>
            <a:xfrm>
              <a:off x="4161960" y="3301920"/>
              <a:ext cx="1216440" cy="360"/>
            </a:xfrm>
            <a:custGeom>
              <a:avLst/>
              <a:gdLst/>
              <a:ahLst/>
              <a:rect l="l" t="t" r="r" b="b"/>
              <a:pathLst>
                <a:path w="1219200" h="0">
                  <a:moveTo>
                    <a:pt x="12185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08" name="object 15" descr=""/>
            <p:cNvPicPr/>
            <p:nvPr/>
          </p:nvPicPr>
          <p:blipFill>
            <a:blip r:embed="rId2"/>
            <a:stretch/>
          </p:blipFill>
          <p:spPr>
            <a:xfrm>
              <a:off x="4066200" y="326088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09" name="object 16"/>
            <p:cNvSpPr/>
            <p:nvPr/>
          </p:nvSpPr>
          <p:spPr>
            <a:xfrm>
              <a:off x="2730600" y="3529440"/>
              <a:ext cx="3313800" cy="143280"/>
            </a:xfrm>
            <a:custGeom>
              <a:avLst/>
              <a:gdLst/>
              <a:ahLst/>
              <a:rect l="l" t="t" r="r" b="b"/>
              <a:pathLst>
                <a:path w="3316604" h="146050">
                  <a:moveTo>
                    <a:pt x="3316499" y="0"/>
                  </a:moveTo>
                  <a:lnTo>
                    <a:pt x="3316499" y="145799"/>
                  </a:lnTo>
                  <a:lnTo>
                    <a:pt x="0" y="1457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10" name="object 17" descr=""/>
            <p:cNvPicPr/>
            <p:nvPr/>
          </p:nvPicPr>
          <p:blipFill>
            <a:blip r:embed="rId3"/>
            <a:stretch/>
          </p:blipFill>
          <p:spPr>
            <a:xfrm>
              <a:off x="2634840" y="363456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511" name="object 18"/>
          <p:cNvSpPr/>
          <p:nvPr/>
        </p:nvSpPr>
        <p:spPr>
          <a:xfrm>
            <a:off x="5461200" y="3020760"/>
            <a:ext cx="263664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1320" indent="-1090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Typical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naming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conventions </a:t>
            </a:r>
            <a:r>
              <a:rPr b="0" lang="fr-FR" sz="1400" spc="-3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keys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are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not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enforced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512" name="object 19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D859B8C-1CB7-44E0-BB39-B175B6EEF888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Declaring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7" strike="noStrike">
                <a:solidFill>
                  <a:srgbClr val="000000"/>
                </a:solidFill>
                <a:latin typeface="Tahoma"/>
              </a:rPr>
              <a:t>Command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Args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Assign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overwrite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entrypoint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arguments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14" name="object 4"/>
          <p:cNvSpPr/>
          <p:nvPr/>
        </p:nvSpPr>
        <p:spPr>
          <a:xfrm>
            <a:off x="499680" y="1424160"/>
            <a:ext cx="5861880" cy="21409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8680" bIns="0" anchor="t">
            <a:spAutoFit/>
          </a:bodyPr>
          <a:p>
            <a:pPr marL="208440">
              <a:lnSpc>
                <a:spcPct val="100000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spring-boot-app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300" spc="-1" strike="noStrike">
              <a:latin typeface="Arial"/>
            </a:endParaRPr>
          </a:p>
          <a:p>
            <a:pPr marL="40644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10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300" spc="-4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bhamdi/spring-boot-app:1.5.3</a:t>
            </a:r>
            <a:endParaRPr b="0" lang="fr-FR" sz="1300" spc="-1" strike="noStrike">
              <a:latin typeface="Arial"/>
            </a:endParaRPr>
          </a:p>
          <a:p>
            <a:pPr marL="59688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spring-boot-app</a:t>
            </a:r>
            <a:endParaRPr b="0" lang="fr-FR" sz="1300" spc="-1" strike="noStrike">
              <a:latin typeface="Arial"/>
            </a:endParaRPr>
          </a:p>
          <a:p>
            <a:pPr marL="59688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command:</a:t>
            </a:r>
            <a:r>
              <a:rPr b="1" lang="fr-FR" sz="13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"/bin/sh"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  <a:p>
            <a:pPr marL="6044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args:</a:t>
            </a:r>
            <a:r>
              <a:rPr b="1" lang="fr-FR" sz="1300" spc="-1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"-c"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"while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true;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do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date;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sleep</a:t>
            </a:r>
            <a:r>
              <a:rPr b="1" lang="fr-FR" sz="1300" spc="-15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10;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done"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515" name="object 5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ABDC79A-2A3F-4620-AB19-EE5B3A0B77F0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Deleting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Graceful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deletion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take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up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30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seconds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17" name="object 4"/>
          <p:cNvSpPr/>
          <p:nvPr/>
        </p:nvSpPr>
        <p:spPr>
          <a:xfrm>
            <a:off x="499680" y="1424160"/>
            <a:ext cx="4026240" cy="18522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176040">
              <a:lnSpc>
                <a:spcPts val="1664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"hazelcast"</a:t>
            </a:r>
            <a:r>
              <a:rPr b="0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pod.yaml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"hazelcast"</a:t>
            </a:r>
            <a:r>
              <a:rPr b="0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pod.yaml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--now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"hazelcast"</a:t>
            </a:r>
            <a:r>
              <a:rPr b="0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518" name="object 5"/>
          <p:cNvGrpSpPr/>
          <p:nvPr/>
        </p:nvGrpSpPr>
        <p:grpSpPr>
          <a:xfrm>
            <a:off x="4683240" y="1662480"/>
            <a:ext cx="960120" cy="79200"/>
            <a:chOff x="4683240" y="1662480"/>
            <a:chExt cx="960120" cy="79200"/>
          </a:xfrm>
        </p:grpSpPr>
        <p:sp>
          <p:nvSpPr>
            <p:cNvPr id="519" name="object 6"/>
            <p:cNvSpPr/>
            <p:nvPr/>
          </p:nvSpPr>
          <p:spPr>
            <a:xfrm>
              <a:off x="4779360" y="1703520"/>
              <a:ext cx="864000" cy="360"/>
            </a:xfrm>
            <a:custGeom>
              <a:avLst/>
              <a:gdLst/>
              <a:ahLst/>
              <a:rect l="l" t="t" r="r" b="b"/>
              <a:pathLst>
                <a:path w="866775" h="0">
                  <a:moveTo>
                    <a:pt x="8666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20" name="object 7" descr=""/>
            <p:cNvPicPr/>
            <p:nvPr/>
          </p:nvPicPr>
          <p:blipFill>
            <a:blip r:embed="rId1"/>
            <a:stretch/>
          </p:blipFill>
          <p:spPr>
            <a:xfrm>
              <a:off x="4683240" y="166248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521" name="object 8"/>
          <p:cNvSpPr/>
          <p:nvPr/>
        </p:nvSpPr>
        <p:spPr>
          <a:xfrm>
            <a:off x="5716440" y="1561320"/>
            <a:ext cx="3102840" cy="16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2808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Imperative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approach</a:t>
            </a:r>
            <a:endParaRPr b="0" lang="fr-FR" sz="1400" spc="-1" strike="noStrike">
              <a:latin typeface="Arial"/>
            </a:endParaRPr>
          </a:p>
          <a:p>
            <a:pPr marL="264240" indent="-252000">
              <a:lnSpc>
                <a:spcPct val="26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Declarative approach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Force-kills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without</a:t>
            </a:r>
            <a:endParaRPr b="0" lang="fr-FR" sz="1400" spc="-1" strike="noStrike">
              <a:latin typeface="Arial"/>
            </a:endParaRPr>
          </a:p>
          <a:p>
            <a:pPr marL="26640" indent="-252000">
              <a:lnSpc>
                <a:spcPts val="1650"/>
              </a:lnSpc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graceful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deletion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workload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522" name="object 9"/>
          <p:cNvGrpSpPr/>
          <p:nvPr/>
        </p:nvGrpSpPr>
        <p:grpSpPr>
          <a:xfrm>
            <a:off x="4683240" y="2294280"/>
            <a:ext cx="960120" cy="79200"/>
            <a:chOff x="4683240" y="2294280"/>
            <a:chExt cx="960120" cy="79200"/>
          </a:xfrm>
        </p:grpSpPr>
        <p:sp>
          <p:nvSpPr>
            <p:cNvPr id="523" name="object 10"/>
            <p:cNvSpPr/>
            <p:nvPr/>
          </p:nvSpPr>
          <p:spPr>
            <a:xfrm>
              <a:off x="4779360" y="2335320"/>
              <a:ext cx="864000" cy="360"/>
            </a:xfrm>
            <a:custGeom>
              <a:avLst/>
              <a:gdLst/>
              <a:ahLst/>
              <a:rect l="l" t="t" r="r" b="b"/>
              <a:pathLst>
                <a:path w="866775" h="0">
                  <a:moveTo>
                    <a:pt x="8666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24" name="object 11" descr=""/>
            <p:cNvPicPr/>
            <p:nvPr/>
          </p:nvPicPr>
          <p:blipFill>
            <a:blip r:embed="rId2"/>
            <a:stretch/>
          </p:blipFill>
          <p:spPr>
            <a:xfrm>
              <a:off x="4683240" y="229428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grpSp>
        <p:nvGrpSpPr>
          <p:cNvPr id="525" name="object 12"/>
          <p:cNvGrpSpPr/>
          <p:nvPr/>
        </p:nvGrpSpPr>
        <p:grpSpPr>
          <a:xfrm>
            <a:off x="4683240" y="2935080"/>
            <a:ext cx="960120" cy="79200"/>
            <a:chOff x="4683240" y="2935080"/>
            <a:chExt cx="960120" cy="79200"/>
          </a:xfrm>
        </p:grpSpPr>
        <p:sp>
          <p:nvSpPr>
            <p:cNvPr id="526" name="object 13"/>
            <p:cNvSpPr/>
            <p:nvPr/>
          </p:nvSpPr>
          <p:spPr>
            <a:xfrm>
              <a:off x="4779360" y="2976120"/>
              <a:ext cx="864000" cy="360"/>
            </a:xfrm>
            <a:custGeom>
              <a:avLst/>
              <a:gdLst/>
              <a:ahLst/>
              <a:rect l="l" t="t" r="r" b="b"/>
              <a:pathLst>
                <a:path w="866775" h="0">
                  <a:moveTo>
                    <a:pt x="8666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27" name="object 14" descr=""/>
            <p:cNvPicPr/>
            <p:nvPr/>
          </p:nvPicPr>
          <p:blipFill>
            <a:blip r:embed="rId3"/>
            <a:stretch/>
          </p:blipFill>
          <p:spPr>
            <a:xfrm>
              <a:off x="4683240" y="293508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528" name="object 15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EE53486-3CBE-43AA-941E-6685D329653F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9" strike="noStrike">
                <a:solidFill>
                  <a:srgbClr val="000000"/>
                </a:solidFill>
                <a:latin typeface="Tahoma"/>
              </a:rPr>
              <a:t>Namespace?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Organizes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isolates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belong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together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30" name="object 4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F20B279-0EF2-4310-B2B7-D444585F3010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531" name="object 3"/>
          <p:cNvSpPr/>
          <p:nvPr/>
        </p:nvSpPr>
        <p:spPr>
          <a:xfrm>
            <a:off x="600120" y="1360440"/>
            <a:ext cx="8039160" cy="33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construct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avoid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collisions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represent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scope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names.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good use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case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 namespaces is to isolate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objects by team or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responsibility.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600" spc="-62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host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objec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haven’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bee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assigne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explicit  namespace.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starting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h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prefi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x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600" spc="-59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ar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considered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end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13000"/>
              </a:lnSpc>
              <a:buNone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user-namespaces. They have been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the Kubernetes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system. </a:t>
            </a: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will not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have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interact with them as 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developer.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Referenc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namespac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h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lin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optio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--namespac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600" spc="-68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600" spc="-32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86356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2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2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2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2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200" spc="89" strike="noStrike">
                <a:solidFill>
                  <a:srgbClr val="000000"/>
                </a:solidFill>
                <a:latin typeface="Tahoma"/>
              </a:rPr>
              <a:t>Namespace</a:t>
            </a:r>
            <a:r>
              <a:rPr b="1" lang="fr-FR" sz="22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2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2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2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2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200" spc="97" strike="noStrike">
                <a:solidFill>
                  <a:srgbClr val="000000"/>
                </a:solidFill>
                <a:latin typeface="Tahoma"/>
              </a:rPr>
              <a:t>Command</a:t>
            </a:r>
            <a:endParaRPr b="0" lang="fr-FR" sz="22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"Organize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namespace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called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Courier New"/>
              </a:rPr>
              <a:t>code-red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"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33" name="object 4"/>
          <p:cNvSpPr/>
          <p:nvPr/>
        </p:nvSpPr>
        <p:spPr>
          <a:xfrm>
            <a:off x="499680" y="1424160"/>
            <a:ext cx="6886080" cy="20617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176040">
              <a:lnSpc>
                <a:spcPts val="1664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namespace/code-red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--image=nginx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--restart=Never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50"/>
              </a:lnSpc>
              <a:buNone/>
              <a:tabLst>
                <a:tab algn="l" pos="1029240"/>
                <a:tab algn="l" pos="1882080"/>
                <a:tab algn="l" pos="2949120"/>
                <a:tab algn="l" pos="412236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RESTARTS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  <a:tabLst>
                <a:tab algn="l" pos="1029240"/>
                <a:tab algn="l" pos="1882080"/>
                <a:tab algn="l" pos="2949120"/>
                <a:tab algn="l" pos="412236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1/1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13s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534" name="object 5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02C59DB-BF49-4172-BE19-5024391599A8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83" strike="noStrike">
                <a:solidFill>
                  <a:srgbClr val="000000"/>
                </a:solidFill>
                <a:latin typeface="Tahoma"/>
              </a:rPr>
              <a:t>Namespaces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Includes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Courier New"/>
              </a:rPr>
              <a:t>default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,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Kubernetes-internal,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custom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namespaces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536" name="object 3"/>
          <p:cNvGrpSpPr/>
          <p:nvPr/>
        </p:nvGrpSpPr>
        <p:grpSpPr>
          <a:xfrm>
            <a:off x="446040" y="1375560"/>
            <a:ext cx="4951800" cy="1804680"/>
            <a:chOff x="446040" y="1375560"/>
            <a:chExt cx="4951800" cy="1804680"/>
          </a:xfrm>
        </p:grpSpPr>
        <p:pic>
          <p:nvPicPr>
            <p:cNvPr id="537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4951800" cy="18046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38" name="object 5"/>
            <p:cNvSpPr/>
            <p:nvPr/>
          </p:nvSpPr>
          <p:spPr>
            <a:xfrm>
              <a:off x="514800" y="1424160"/>
              <a:ext cx="4804920" cy="1690560"/>
            </a:xfrm>
            <a:custGeom>
              <a:avLst/>
              <a:gdLst/>
              <a:ahLst/>
              <a:rect l="l" t="t" r="r" b="b"/>
              <a:pathLst>
                <a:path w="3745229" h="1693545">
                  <a:moveTo>
                    <a:pt x="3745199" y="1693199"/>
                  </a:moveTo>
                  <a:lnTo>
                    <a:pt x="0" y="1693199"/>
                  </a:lnTo>
                  <a:lnTo>
                    <a:pt x="0" y="0"/>
                  </a:lnTo>
                  <a:lnTo>
                    <a:pt x="3745199" y="0"/>
                  </a:lnTo>
                  <a:lnTo>
                    <a:pt x="3745199" y="1693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aphicFrame>
        <p:nvGraphicFramePr>
          <p:cNvPr id="539" name="object 6"/>
          <p:cNvGraphicFramePr/>
          <p:nvPr/>
        </p:nvGraphicFramePr>
        <p:xfrm>
          <a:off x="644040" y="1495800"/>
          <a:ext cx="4188240" cy="1248480"/>
        </p:xfrm>
        <a:graphic>
          <a:graphicData uri="http://schemas.openxmlformats.org/drawingml/2006/table">
            <a:tbl>
              <a:tblPr/>
              <a:tblGrid>
                <a:gridCol w="1292760"/>
                <a:gridCol w="562320"/>
                <a:gridCol w="218880"/>
                <a:gridCol w="1338840"/>
                <a:gridCol w="775800"/>
              </a:tblGrid>
              <a:tr h="20520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$</a:t>
                      </a:r>
                      <a:r>
                        <a:rPr b="1" lang="fr-FR" sz="1400" spc="-7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kubectl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532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get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marL="532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namespaces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  <a:tr h="41472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66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NAME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3168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default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marL="479880">
                        <a:lnSpc>
                          <a:spcPts val="1466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STATUS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47988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Active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60200">
                        <a:lnSpc>
                          <a:spcPts val="1466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AGE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16020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157d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  <a:tr h="213480">
                <a:tc gridSpan="3"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46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kube-node-lease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1446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Active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ts val="1446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157d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  <a:tr h="209520">
                <a:tc gridSpan="3"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kube-public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Active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157d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  <a:tr h="205920">
                <a:tc gridSpan="3"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kube-system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Active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157d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</a:tbl>
          </a:graphicData>
        </a:graphic>
      </p:graphicFrame>
      <p:sp>
        <p:nvSpPr>
          <p:cNvPr id="540" name="object 7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2F3EC12-A836-4A74-B3A3-48B6677F042B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9" strike="noStrike">
                <a:solidFill>
                  <a:srgbClr val="000000"/>
                </a:solidFill>
                <a:latin typeface="Tahoma"/>
              </a:rPr>
              <a:t>Namespace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"Organize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namespace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called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Courier New"/>
              </a:rPr>
              <a:t>code-red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"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42" name="object 4"/>
          <p:cNvSpPr/>
          <p:nvPr/>
        </p:nvSpPr>
        <p:spPr>
          <a:xfrm>
            <a:off x="499680" y="1424160"/>
            <a:ext cx="2017080" cy="9475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8680" bIns="0" anchor="t">
            <a:spAutoFit/>
          </a:bodyPr>
          <a:p>
            <a:pPr marL="208440">
              <a:lnSpc>
                <a:spcPct val="101000"/>
              </a:lnSpc>
              <a:spcBef>
                <a:spcPts val="1171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543" name="object 5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17BA5F7-F046-4A77-B2F5-87A65D567FF2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356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Deleting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89" strike="noStrike">
                <a:solidFill>
                  <a:srgbClr val="000000"/>
                </a:solidFill>
                <a:latin typeface="Tahoma"/>
              </a:rPr>
              <a:t>Namespace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Cascade-deletes</a:t>
            </a:r>
            <a:r>
              <a:rPr b="0" lang="fr-FR" sz="1600" spc="-114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containing</a:t>
            </a:r>
            <a:r>
              <a:rPr b="0" lang="fr-FR" sz="1600" spc="-111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45" name="object 4"/>
          <p:cNvSpPr/>
          <p:nvPr/>
        </p:nvSpPr>
        <p:spPr>
          <a:xfrm>
            <a:off x="499680" y="1424160"/>
            <a:ext cx="4732200" cy="12121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176040">
              <a:lnSpc>
                <a:spcPts val="1664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"code-red"</a:t>
            </a:r>
            <a:r>
              <a:rPr b="0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No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resources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found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in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namespace.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546" name="object 5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C74684E-FDB6-43C7-AC9E-2BA1B0C93F00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object 2"/>
          <p:cNvSpPr/>
          <p:nvPr/>
        </p:nvSpPr>
        <p:spPr>
          <a:xfrm>
            <a:off x="494280" y="371880"/>
            <a:ext cx="148356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02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548" name="object 3"/>
          <p:cNvSpPr/>
          <p:nvPr/>
        </p:nvSpPr>
        <p:spPr>
          <a:xfrm>
            <a:off x="494280" y="1323360"/>
            <a:ext cx="526356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Creating, inspecting, and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interacting</a:t>
            </a:r>
            <a:r>
              <a:rPr b="0" lang="fr-FR" sz="29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29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29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9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550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551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6703560" cy="138204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128" strike="noStrike">
                <a:solidFill>
                  <a:srgbClr val="ffffff"/>
                </a:solidFill>
                <a:latin typeface="Tahoma"/>
              </a:rPr>
              <a:t>Jobs</a:t>
            </a:r>
            <a:r>
              <a:rPr b="1" lang="fr-FR" sz="3600" spc="-216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9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600" spc="-216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9" strike="noStrike">
                <a:solidFill>
                  <a:srgbClr val="ffffff"/>
                </a:solidFill>
                <a:latin typeface="Tahoma"/>
              </a:rPr>
              <a:t>CronJobs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12" strike="noStrike">
                <a:solidFill>
                  <a:srgbClr val="ffffff"/>
                </a:solidFill>
                <a:latin typeface="Lucida Sans Unicode"/>
              </a:rPr>
              <a:t>One-time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8" strike="noStrike">
                <a:solidFill>
                  <a:srgbClr val="ffffff"/>
                </a:solidFill>
                <a:latin typeface="Lucida Sans Unicode"/>
              </a:rPr>
              <a:t>operations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9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38" strike="noStrike">
                <a:solidFill>
                  <a:srgbClr val="ffffff"/>
                </a:solidFill>
                <a:latin typeface="Lucida Sans Unicode"/>
              </a:rPr>
              <a:t>scheduled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8" strike="noStrike">
                <a:solidFill>
                  <a:srgbClr val="ffffff"/>
                </a:solidFill>
                <a:latin typeface="Lucida Sans Unicode"/>
              </a:rPr>
              <a:t>operations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Job?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primitive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executing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one-time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operation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54" name="object 4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6498909-CBD8-482E-B365-23CD12948C18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555" name="object 3"/>
          <p:cNvSpPr/>
          <p:nvPr/>
        </p:nvSpPr>
        <p:spPr>
          <a:xfrm>
            <a:off x="600120" y="1392840"/>
            <a:ext cx="8397720" cy="27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functionality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until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specified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number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completions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has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been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reached.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actual work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managed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Job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still running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inside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Pod. Therefore,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think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Job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higher-level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coordination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instance for Pods executing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workload.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Upon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completion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Job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its Pods, Kubernetes does not automatically delete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-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they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will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stay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until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they’re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explicitly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deleted.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Keeping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those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helps with debugging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 run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inside of the Pod and gives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a chance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inspect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logs.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54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3" strike="noStrike">
                <a:solidFill>
                  <a:srgbClr val="000000"/>
                </a:solidFill>
                <a:latin typeface="Tahoma"/>
              </a:rPr>
              <a:t>Job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Hierarchy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34" strike="noStrike">
                <a:solidFill>
                  <a:srgbClr val="666666"/>
                </a:solidFill>
                <a:latin typeface="Lucida Sans Unicode"/>
              </a:rPr>
              <a:t>Job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manages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557" name="object 3" descr=""/>
          <p:cNvPicPr/>
          <p:nvPr/>
        </p:nvPicPr>
        <p:blipFill>
          <a:blip r:embed="rId1"/>
          <a:stretch/>
        </p:blipFill>
        <p:spPr>
          <a:xfrm>
            <a:off x="3031200" y="1707120"/>
            <a:ext cx="2991600" cy="2514960"/>
          </a:xfrm>
          <a:prstGeom prst="rect">
            <a:avLst/>
          </a:prstGeom>
          <a:ln w="0">
            <a:noFill/>
          </a:ln>
        </p:spPr>
      </p:pic>
      <p:sp>
        <p:nvSpPr>
          <p:cNvPr id="558" name="object 4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92BBFAD-874A-46A0-A52C-476713A29BBA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83" strike="noStrike">
                <a:solidFill>
                  <a:srgbClr val="000000"/>
                </a:solidFill>
                <a:latin typeface="Tahoma"/>
              </a:rPr>
              <a:t>Job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7" strike="noStrike">
                <a:solidFill>
                  <a:srgbClr val="000000"/>
                </a:solidFill>
                <a:latin typeface="Tahoma"/>
              </a:rPr>
              <a:t>Command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"Increment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counter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render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terminal"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60" name="object 4"/>
          <p:cNvSpPr/>
          <p:nvPr/>
        </p:nvSpPr>
        <p:spPr>
          <a:xfrm>
            <a:off x="536400" y="1419480"/>
            <a:ext cx="7008840" cy="14684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040" bIns="0" anchor="t">
            <a:spAutoFit/>
          </a:bodyPr>
          <a:p>
            <a:pPr>
              <a:lnSpc>
                <a:spcPct val="100000"/>
              </a:lnSpc>
              <a:spcBef>
                <a:spcPts val="40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job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650"/>
              </a:lnSpc>
              <a:buNone/>
              <a:tabLst>
                <a:tab algn="l" pos="0"/>
              </a:tabLst>
            </a:pP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585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--image=nginx:1.24.0</a:t>
            </a:r>
            <a:endParaRPr b="0" lang="fr-FR" sz="1400" spc="-1" strike="noStrike">
              <a:latin typeface="Arial"/>
            </a:endParaRPr>
          </a:p>
          <a:p>
            <a:pPr marL="770760" indent="-320040">
              <a:lnSpc>
                <a:spcPts val="1650"/>
              </a:lnSpc>
              <a:spcBef>
                <a:spcPts val="65"/>
              </a:spcBef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 /bin/sh -c 'counter=0; while 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[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$counter -lt 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3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]; </a:t>
            </a:r>
            <a:r>
              <a:rPr b="1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do</a:t>
            </a:r>
            <a:r>
              <a:rPr b="0" lang="fr-FR" sz="1400" spc="-12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counter=$((counter+1));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"$counter";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sleep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3;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done;'</a:t>
            </a:r>
            <a:endParaRPr b="0" lang="fr-FR" sz="1400" spc="-1" strike="noStrike">
              <a:latin typeface="Arial"/>
            </a:endParaRPr>
          </a:p>
          <a:p>
            <a:pPr marL="237600" indent="-320040">
              <a:lnSpc>
                <a:spcPts val="1599"/>
              </a:lnSpc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job.batch/counter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561" name="object 5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DC53B4C-42A5-4293-9441-D36637269FEE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3" strike="noStrike">
                <a:solidFill>
                  <a:srgbClr val="000000"/>
                </a:solidFill>
                <a:latin typeface="Tahoma"/>
              </a:rPr>
              <a:t>Job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"Increment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counter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render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terminal"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563" name="object 3"/>
          <p:cNvGrpSpPr/>
          <p:nvPr/>
        </p:nvGrpSpPr>
        <p:grpSpPr>
          <a:xfrm>
            <a:off x="460440" y="1212840"/>
            <a:ext cx="3783960" cy="3750840"/>
            <a:chOff x="460440" y="1212840"/>
            <a:chExt cx="3783960" cy="3750840"/>
          </a:xfrm>
        </p:grpSpPr>
        <p:pic>
          <p:nvPicPr>
            <p:cNvPr id="564" name="object 4" descr=""/>
            <p:cNvPicPr/>
            <p:nvPr/>
          </p:nvPicPr>
          <p:blipFill>
            <a:blip r:embed="rId1"/>
            <a:stretch/>
          </p:blipFill>
          <p:spPr>
            <a:xfrm>
              <a:off x="460440" y="1212840"/>
              <a:ext cx="3783960" cy="3750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65" name="object 5"/>
            <p:cNvSpPr/>
            <p:nvPr/>
          </p:nvSpPr>
          <p:spPr>
            <a:xfrm>
              <a:off x="514080" y="1261080"/>
              <a:ext cx="3669840" cy="3637080"/>
            </a:xfrm>
            <a:custGeom>
              <a:avLst/>
              <a:gdLst/>
              <a:ahLst/>
              <a:rect l="l" t="t" r="r" b="b"/>
              <a:pathLst>
                <a:path w="3672840" h="3639820">
                  <a:moveTo>
                    <a:pt x="3672599" y="3639299"/>
                  </a:moveTo>
                  <a:lnTo>
                    <a:pt x="0" y="3639299"/>
                  </a:lnTo>
                  <a:lnTo>
                    <a:pt x="0" y="0"/>
                  </a:lnTo>
                  <a:lnTo>
                    <a:pt x="3672599" y="0"/>
                  </a:lnTo>
                  <a:lnTo>
                    <a:pt x="3672599" y="36392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66" name="object 6"/>
          <p:cNvSpPr/>
          <p:nvPr/>
        </p:nvSpPr>
        <p:spPr>
          <a:xfrm>
            <a:off x="705240" y="1419480"/>
            <a:ext cx="1851840" cy="91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200" spc="-7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batch/v1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Job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67" name="object 7"/>
          <p:cNvSpPr/>
          <p:nvPr/>
        </p:nvSpPr>
        <p:spPr>
          <a:xfrm>
            <a:off x="841320" y="2345400"/>
            <a:ext cx="1514880" cy="5364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59040">
              <a:lnSpc>
                <a:spcPts val="136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completions:</a:t>
            </a:r>
            <a:r>
              <a:rPr b="1" lang="fr-FR" sz="12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200" spc="-1" strike="noStrike">
              <a:latin typeface="Arial"/>
            </a:endParaRPr>
          </a:p>
          <a:p>
            <a:pPr marL="5904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parallelism:</a:t>
            </a:r>
            <a:r>
              <a:rPr b="1" lang="fr-FR" sz="12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200" spc="-1" strike="noStrike">
              <a:latin typeface="Arial"/>
            </a:endParaRPr>
          </a:p>
          <a:p>
            <a:pPr marL="59040">
              <a:lnSpc>
                <a:spcPts val="1434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backoffLimit: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6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68" name="object 8"/>
          <p:cNvSpPr/>
          <p:nvPr/>
        </p:nvSpPr>
        <p:spPr>
          <a:xfrm>
            <a:off x="888120" y="2867040"/>
            <a:ext cx="84564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9800" bIns="0" anchor="t">
            <a:spAutoFit/>
          </a:bodyPr>
          <a:p>
            <a:pPr marL="195480" indent="-183600">
              <a:lnSpc>
                <a:spcPts val="1429"/>
              </a:lnSpc>
              <a:spcBef>
                <a:spcPts val="156"/>
              </a:spcBef>
              <a:buNone/>
              <a:tabLst>
                <a:tab algn="l" pos="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template:  spec: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69" name="object 9"/>
          <p:cNvSpPr/>
          <p:nvPr/>
        </p:nvSpPr>
        <p:spPr>
          <a:xfrm>
            <a:off x="1190880" y="3225240"/>
            <a:ext cx="2340360" cy="1987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6560" bIns="0" anchor="t">
            <a:spAutoFit/>
          </a:bodyPr>
          <a:p>
            <a:pPr marL="75600">
              <a:lnSpc>
                <a:spcPct val="100000"/>
              </a:lnSpc>
              <a:spcBef>
                <a:spcPts val="130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restartPolicy: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OnFailure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70" name="object 10"/>
          <p:cNvSpPr/>
          <p:nvPr/>
        </p:nvSpPr>
        <p:spPr>
          <a:xfrm>
            <a:off x="1253880" y="3409920"/>
            <a:ext cx="10285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71" name="object 11"/>
          <p:cNvSpPr/>
          <p:nvPr/>
        </p:nvSpPr>
        <p:spPr>
          <a:xfrm>
            <a:off x="1253880" y="3591000"/>
            <a:ext cx="1943280" cy="11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95480" indent="-183600">
              <a:lnSpc>
                <a:spcPts val="1434"/>
              </a:lnSpc>
              <a:spcBef>
                <a:spcPts val="99"/>
              </a:spcBef>
              <a:buClr>
                <a:srgbClr val="000000"/>
              </a:buClr>
              <a:buFont typeface="Courier New"/>
              <a:buChar char="-"/>
              <a:tabLst>
                <a:tab algn="l" pos="19620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args:</a:t>
            </a:r>
            <a:endParaRPr b="0" lang="fr-FR" sz="1200" spc="-1" strike="noStrike">
              <a:latin typeface="Arial"/>
            </a:endParaRPr>
          </a:p>
          <a:p>
            <a:pPr lvl="1" marL="378000" indent="-182880">
              <a:lnSpc>
                <a:spcPts val="1426"/>
              </a:lnSpc>
              <a:buClr>
                <a:srgbClr val="000000"/>
              </a:buClr>
              <a:buFont typeface="StarSymbol"/>
              <a:buChar char="-"/>
              <a:tabLst>
                <a:tab algn="l" pos="37836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200" spc="-1" strike="noStrike">
              <a:latin typeface="Arial"/>
            </a:endParaRPr>
          </a:p>
          <a:p>
            <a:pPr lvl="1" marL="378000" indent="-182880">
              <a:lnSpc>
                <a:spcPts val="1426"/>
              </a:lnSpc>
              <a:buClr>
                <a:srgbClr val="000000"/>
              </a:buClr>
              <a:buFont typeface="StarSymbol"/>
              <a:buChar char="-"/>
              <a:tabLst>
                <a:tab algn="l" pos="37836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-c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  <a:tabLst>
                <a:tab algn="l" pos="37836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  <a:tabLst>
                <a:tab algn="l" pos="37836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2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nginx:1.24.0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9"/>
              </a:lnSpc>
              <a:buNone/>
              <a:tabLst>
                <a:tab algn="l" pos="37836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572" name="object 12"/>
          <p:cNvGrpSpPr/>
          <p:nvPr/>
        </p:nvGrpSpPr>
        <p:grpSpPr>
          <a:xfrm>
            <a:off x="2428920" y="1837080"/>
            <a:ext cx="2584800" cy="1559880"/>
            <a:chOff x="2428920" y="1837080"/>
            <a:chExt cx="2584800" cy="1559880"/>
          </a:xfrm>
        </p:grpSpPr>
        <p:sp>
          <p:nvSpPr>
            <p:cNvPr id="573" name="object 13"/>
            <p:cNvSpPr/>
            <p:nvPr/>
          </p:nvSpPr>
          <p:spPr>
            <a:xfrm>
              <a:off x="2522160" y="1837080"/>
              <a:ext cx="2385360" cy="629640"/>
            </a:xfrm>
            <a:custGeom>
              <a:avLst/>
              <a:gdLst/>
              <a:ahLst/>
              <a:rect l="l" t="t" r="r" b="b"/>
              <a:pathLst>
                <a:path w="2388235" h="632460">
                  <a:moveTo>
                    <a:pt x="2387607" y="0"/>
                  </a:moveTo>
                  <a:lnTo>
                    <a:pt x="0" y="632241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74" name="object 14" descr=""/>
            <p:cNvPicPr/>
            <p:nvPr/>
          </p:nvPicPr>
          <p:blipFill>
            <a:blip r:embed="rId2"/>
            <a:stretch/>
          </p:blipFill>
          <p:spPr>
            <a:xfrm>
              <a:off x="2428920" y="2429280"/>
              <a:ext cx="107640" cy="77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75" name="object 15"/>
            <p:cNvSpPr/>
            <p:nvPr/>
          </p:nvSpPr>
          <p:spPr>
            <a:xfrm>
              <a:off x="3741480" y="3358800"/>
              <a:ext cx="1272240" cy="360"/>
            </a:xfrm>
            <a:custGeom>
              <a:avLst/>
              <a:gdLst/>
              <a:ahLst/>
              <a:rect l="l" t="t" r="r" b="b"/>
              <a:pathLst>
                <a:path w="1275079" h="0">
                  <a:moveTo>
                    <a:pt x="12749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76" name="object 16" descr=""/>
            <p:cNvPicPr/>
            <p:nvPr/>
          </p:nvPicPr>
          <p:blipFill>
            <a:blip r:embed="rId3"/>
            <a:stretch/>
          </p:blipFill>
          <p:spPr>
            <a:xfrm>
              <a:off x="3645720" y="331776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77" name="object 17"/>
            <p:cNvSpPr/>
            <p:nvPr/>
          </p:nvSpPr>
          <p:spPr>
            <a:xfrm>
              <a:off x="2525760" y="2802960"/>
              <a:ext cx="2461680" cy="360"/>
            </a:xfrm>
            <a:custGeom>
              <a:avLst/>
              <a:gdLst/>
              <a:ahLst/>
              <a:rect l="l" t="t" r="r" b="b"/>
              <a:pathLst>
                <a:path w="2464435" h="0">
                  <a:moveTo>
                    <a:pt x="24638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78" name="object 18" descr=""/>
            <p:cNvPicPr/>
            <p:nvPr/>
          </p:nvPicPr>
          <p:blipFill>
            <a:blip r:embed="rId4"/>
            <a:stretch/>
          </p:blipFill>
          <p:spPr>
            <a:xfrm>
              <a:off x="2430000" y="276228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579" name="object 19"/>
          <p:cNvSpPr/>
          <p:nvPr/>
        </p:nvSpPr>
        <p:spPr>
          <a:xfrm>
            <a:off x="5153040" y="1474560"/>
            <a:ext cx="3124800" cy="21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 indent="1440" algn="ctr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Define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#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  completions</a:t>
            </a:r>
            <a:r>
              <a:rPr b="0" lang="fr-FR" sz="15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5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whether</a:t>
            </a:r>
            <a:r>
              <a:rPr b="0" lang="fr-FR" sz="15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task </a:t>
            </a:r>
            <a:r>
              <a:rPr b="0" lang="fr-FR" sz="1500" spc="-40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should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5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run</a:t>
            </a:r>
            <a:r>
              <a:rPr b="0" lang="fr-FR" sz="15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parallel</a:t>
            </a:r>
            <a:endParaRPr b="0" lang="fr-FR" sz="1500" spc="-1" strike="noStrike">
              <a:latin typeface="Arial"/>
            </a:endParaRPr>
          </a:p>
          <a:p>
            <a:pPr marL="12600" indent="1440">
              <a:lnSpc>
                <a:spcPct val="100000"/>
              </a:lnSpc>
              <a:buNone/>
              <a:tabLst>
                <a:tab algn="l" pos="0"/>
              </a:tabLst>
            </a:pPr>
            <a:endParaRPr b="0" lang="fr-FR" sz="1700" spc="-1" strike="noStrike">
              <a:latin typeface="Arial"/>
            </a:endParaRPr>
          </a:p>
          <a:p>
            <a:pPr marL="176040" indent="79200">
              <a:lnSpc>
                <a:spcPct val="100000"/>
              </a:lnSpc>
              <a:spcBef>
                <a:spcPts val="1066"/>
              </a:spcBef>
              <a:buNone/>
              <a:tabLst>
                <a:tab algn="l" pos="0"/>
              </a:tabLst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How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many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times do we try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before</a:t>
            </a:r>
            <a:r>
              <a:rPr b="0" lang="fr-FR" sz="15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Job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marked</a:t>
            </a:r>
            <a:r>
              <a:rPr b="0" lang="fr-FR" sz="15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failed?</a:t>
            </a:r>
            <a:endParaRPr b="0" lang="fr-FR" sz="1500" spc="-1" strike="noStrike">
              <a:latin typeface="Arial"/>
            </a:endParaRPr>
          </a:p>
          <a:p>
            <a:pPr marL="644040" indent="-477000">
              <a:lnSpc>
                <a:spcPct val="100000"/>
              </a:lnSpc>
              <a:spcBef>
                <a:spcPts val="1236"/>
              </a:spcBef>
              <a:buNone/>
              <a:tabLst>
                <a:tab algn="l" pos="0"/>
              </a:tabLst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Restart Pod upon failure or </a:t>
            </a:r>
            <a:r>
              <a:rPr b="0" lang="fr-FR" sz="1500" spc="-40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start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5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580" name="object 20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40F1131-86E8-443C-B211-4187F0C12AD9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83" strike="noStrike">
                <a:solidFill>
                  <a:srgbClr val="000000"/>
                </a:solidFill>
                <a:latin typeface="Tahoma"/>
              </a:rPr>
              <a:t>Job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34" strike="noStrike">
                <a:solidFill>
                  <a:srgbClr val="666666"/>
                </a:solidFill>
                <a:latin typeface="Lucida Sans Unicode"/>
              </a:rPr>
              <a:t>Job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completed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when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configured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07" strike="noStrike">
                <a:solidFill>
                  <a:srgbClr val="666666"/>
                </a:solidFill>
                <a:latin typeface="Lucida Sans Unicode"/>
              </a:rPr>
              <a:t>#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has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been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reached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82" name="object 6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42EA32A-561D-4C32-A27A-48AEE18F51CB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583" name="" descr=""/>
          <p:cNvPicPr/>
          <p:nvPr/>
        </p:nvPicPr>
        <p:blipFill>
          <a:blip r:embed="rId1"/>
          <a:stretch/>
        </p:blipFill>
        <p:spPr>
          <a:xfrm>
            <a:off x="494280" y="1256040"/>
            <a:ext cx="5230800" cy="2571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Logs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inspected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during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after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85" name="object 4"/>
          <p:cNvSpPr/>
          <p:nvPr/>
        </p:nvSpPr>
        <p:spPr>
          <a:xfrm>
            <a:off x="489240" y="1495800"/>
            <a:ext cx="3473640" cy="10494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520" bIns="0" anchor="t">
            <a:spAutoFit/>
          </a:bodyPr>
          <a:p>
            <a:pPr>
              <a:lnSpc>
                <a:spcPct val="100000"/>
              </a:lnSpc>
              <a:spcBef>
                <a:spcPts val="20"/>
              </a:spcBef>
              <a:buNone/>
            </a:pPr>
            <a:endParaRPr b="0" lang="fr-FR" sz="1350" spc="-1" strike="noStrike">
              <a:latin typeface="Arial"/>
            </a:endParaRPr>
          </a:p>
          <a:p>
            <a:pPr marL="237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logs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counter-z6kdj</a:t>
            </a:r>
            <a:endParaRPr b="0" lang="fr-FR" sz="1400" spc="-1" strike="noStrike">
              <a:latin typeface="Arial"/>
            </a:endParaRPr>
          </a:p>
          <a:p>
            <a:pPr marL="237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400" spc="-1" strike="noStrike">
              <a:latin typeface="Arial"/>
            </a:endParaRPr>
          </a:p>
          <a:p>
            <a:pPr marL="237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2</a:t>
            </a:r>
            <a:endParaRPr b="0" lang="fr-FR" sz="1400" spc="-1" strike="noStrike">
              <a:latin typeface="Arial"/>
            </a:endParaRPr>
          </a:p>
          <a:p>
            <a:pPr marL="237600">
              <a:lnSpc>
                <a:spcPts val="1664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3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586" name="object 5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073327E-D1C3-4104-AB57-FD011135FCC9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3" strike="noStrike">
                <a:solidFill>
                  <a:srgbClr val="000000"/>
                </a:solidFill>
                <a:latin typeface="Tahoma"/>
              </a:rPr>
              <a:t>Job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Operation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Types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behavior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fine-tuned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88" name="object 4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E6711D4-9EC5-4220-AE2A-C0C926426401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589" name="object 3"/>
          <p:cNvSpPr/>
          <p:nvPr/>
        </p:nvSpPr>
        <p:spPr>
          <a:xfrm>
            <a:off x="600120" y="1360440"/>
            <a:ext cx="8217720" cy="22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default behavior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Job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workload 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single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and expect one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completion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(non-parallel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Job).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attribut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spec.completion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600" spc="-75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numbe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  completion.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attribut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spec.parallelis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m</a:t>
            </a:r>
            <a:r>
              <a:rPr b="0" lang="fr-FR" sz="1600" spc="-75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allow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executin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workloa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multiple 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parallel.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3" strike="noStrike">
                <a:solidFill>
                  <a:srgbClr val="000000"/>
                </a:solidFill>
                <a:latin typeface="Tahoma"/>
              </a:rPr>
              <a:t>Job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Operation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Types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Pick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combination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completions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parallelism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based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case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91" name="object 5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3C572DB-73C1-4EB8-8E67-9DFED02022C8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592" name="" descr=""/>
          <p:cNvPicPr/>
          <p:nvPr/>
        </p:nvPicPr>
        <p:blipFill>
          <a:blip r:embed="rId1"/>
          <a:stretch/>
        </p:blipFill>
        <p:spPr>
          <a:xfrm>
            <a:off x="540000" y="1390680"/>
            <a:ext cx="8189640" cy="2387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Restart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Behavior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Re-running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if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unsuccessful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94" name="object 4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19C17CB-831D-4015-8720-F7C42491DE47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595" name="object 3"/>
          <p:cNvSpPr/>
          <p:nvPr/>
        </p:nvSpPr>
        <p:spPr>
          <a:xfrm>
            <a:off x="600120" y="1360440"/>
            <a:ext cx="8397720" cy="19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attribut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spec.backoffLimi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6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determine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numbe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retries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 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attempts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successfully complete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workload until the executed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finishes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code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0.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default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6,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which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means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will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execute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workload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6 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times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before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considered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unsuccessful.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attribute</a:t>
            </a:r>
            <a:r>
              <a:rPr b="0" lang="fr-FR" sz="1600" spc="4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000000"/>
                </a:solidFill>
                <a:latin typeface="Courier New"/>
                <a:ea typeface="DejaVu Sans"/>
              </a:rPr>
              <a:t>spec.template.spec.restartPolicy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needs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declared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explicitl</a:t>
            </a:r>
            <a:r>
              <a:rPr b="0" lang="fr-FR" sz="1600" spc="-120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restart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polic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onl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OnFailur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600" spc="-65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Neve</a:t>
            </a:r>
            <a:r>
              <a:rPr b="0" lang="fr-FR" sz="1600" spc="-75" strike="noStrike">
                <a:solidFill>
                  <a:srgbClr val="000000"/>
                </a:solidFill>
                <a:latin typeface="Courier New"/>
                <a:ea typeface="DejaVu Sans"/>
              </a:rPr>
              <a:t>r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6" name="object 2" descr=""/>
          <p:cNvPicPr/>
          <p:nvPr/>
        </p:nvPicPr>
        <p:blipFill>
          <a:blip r:embed="rId1"/>
          <a:stretch/>
        </p:blipFill>
        <p:spPr>
          <a:xfrm>
            <a:off x="8714160" y="146160"/>
            <a:ext cx="284760" cy="230040"/>
          </a:xfrm>
          <a:prstGeom prst="rect">
            <a:avLst/>
          </a:prstGeom>
          <a:ln w="0">
            <a:noFill/>
          </a:ln>
        </p:spPr>
      </p:pic>
      <p:pic>
        <p:nvPicPr>
          <p:cNvPr id="597" name="object 3" descr=""/>
          <p:cNvPicPr/>
          <p:nvPr/>
        </p:nvPicPr>
        <p:blipFill>
          <a:blip r:embed="rId2"/>
          <a:stretch/>
        </p:blipFill>
        <p:spPr>
          <a:xfrm>
            <a:off x="511200" y="227520"/>
            <a:ext cx="1270080" cy="112680"/>
          </a:xfrm>
          <a:prstGeom prst="rect">
            <a:avLst/>
          </a:prstGeom>
          <a:ln w="0">
            <a:noFill/>
          </a:ln>
        </p:spPr>
      </p:pic>
      <p:sp>
        <p:nvSpPr>
          <p:cNvPr id="598" name="object 4"/>
          <p:cNvSpPr/>
          <p:nvPr/>
        </p:nvSpPr>
        <p:spPr>
          <a:xfrm>
            <a:off x="494280" y="342720"/>
            <a:ext cx="598356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1760" bIns="0" anchor="t">
            <a:sp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  <a:ea typeface="DejaVu Sans"/>
              </a:rPr>
              <a:t>Restarting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  <a:ea typeface="DejaVu Sans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  <a:ea typeface="DejaVu Sans"/>
              </a:rPr>
              <a:t>Container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  <a:ea typeface="DejaVu Sans"/>
              </a:rPr>
              <a:t>on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  <a:ea typeface="DejaVu Sans"/>
              </a:rPr>
              <a:t>Failure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  <a:ea typeface="DejaVu Sans"/>
              </a:rPr>
              <a:t>Restart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  <a:ea typeface="DejaVu Sans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  <a:ea typeface="DejaVu Sans"/>
              </a:rPr>
              <a:t>if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  <a:ea typeface="DejaVu Sans"/>
              </a:rPr>
              <a:t>it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  <a:ea typeface="DejaVu Sans"/>
              </a:rPr>
              <a:t>exits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  <a:ea typeface="DejaVu Sans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  <a:ea typeface="DejaVu Sans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  <a:ea typeface="DejaVu Sans"/>
              </a:rPr>
              <a:t>non-zero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52" strike="noStrike">
                <a:solidFill>
                  <a:srgbClr val="666666"/>
                </a:solidFill>
                <a:latin typeface="Lucida Sans Unicode"/>
                <a:ea typeface="DejaVu Sans"/>
              </a:rPr>
              <a:t>exit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  <a:ea typeface="DejaVu Sans"/>
              </a:rPr>
              <a:t>code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599" name="object 5" descr=""/>
          <p:cNvPicPr/>
          <p:nvPr/>
        </p:nvPicPr>
        <p:blipFill>
          <a:blip r:embed="rId3"/>
          <a:stretch/>
        </p:blipFill>
        <p:spPr>
          <a:xfrm>
            <a:off x="1044720" y="2541960"/>
            <a:ext cx="7052040" cy="1368720"/>
          </a:xfrm>
          <a:prstGeom prst="rect">
            <a:avLst/>
          </a:prstGeom>
          <a:ln w="0">
            <a:noFill/>
          </a:ln>
        </p:spPr>
      </p:pic>
      <p:sp>
        <p:nvSpPr>
          <p:cNvPr id="600" name="object 6"/>
          <p:cNvSpPr/>
          <p:nvPr/>
        </p:nvSpPr>
        <p:spPr>
          <a:xfrm>
            <a:off x="1837440" y="1735560"/>
            <a:ext cx="5264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spec.template.spec.restartPolicy:</a:t>
            </a:r>
            <a:r>
              <a:rPr b="1" lang="fr-FR" sz="16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OnFailure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01" name="object 7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7DA9BBA-799D-4B59-8E94-38D9ECB79E7B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2" name="object 2" descr=""/>
          <p:cNvPicPr/>
          <p:nvPr/>
        </p:nvPicPr>
        <p:blipFill>
          <a:blip r:embed="rId1"/>
          <a:stretch/>
        </p:blipFill>
        <p:spPr>
          <a:xfrm>
            <a:off x="8714160" y="146160"/>
            <a:ext cx="284760" cy="230040"/>
          </a:xfrm>
          <a:prstGeom prst="rect">
            <a:avLst/>
          </a:prstGeom>
          <a:ln w="0">
            <a:noFill/>
          </a:ln>
        </p:spPr>
      </p:pic>
      <p:pic>
        <p:nvPicPr>
          <p:cNvPr id="603" name="object 3" descr=""/>
          <p:cNvPicPr/>
          <p:nvPr/>
        </p:nvPicPr>
        <p:blipFill>
          <a:blip r:embed="rId2"/>
          <a:stretch/>
        </p:blipFill>
        <p:spPr>
          <a:xfrm>
            <a:off x="511200" y="227520"/>
            <a:ext cx="1270080" cy="112680"/>
          </a:xfrm>
          <a:prstGeom prst="rect">
            <a:avLst/>
          </a:prstGeom>
          <a:ln w="0">
            <a:noFill/>
          </a:ln>
        </p:spPr>
      </p:pic>
      <p:sp>
        <p:nvSpPr>
          <p:cNvPr id="604" name="object 4"/>
          <p:cNvSpPr/>
          <p:nvPr/>
        </p:nvSpPr>
        <p:spPr>
          <a:xfrm>
            <a:off x="511200" y="342720"/>
            <a:ext cx="794664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1760" bIns="0" anchor="t">
            <a:sp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  <a:ea typeface="DejaVu Sans"/>
              </a:rPr>
              <a:t>Starting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  <a:ea typeface="DejaVu Sans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  <a:ea typeface="DejaVu Sans"/>
              </a:rPr>
              <a:t>New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  <a:ea typeface="DejaVu Sans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  <a:ea typeface="DejaVu Sans"/>
              </a:rPr>
              <a:t>on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  <a:ea typeface="DejaVu Sans"/>
              </a:rPr>
              <a:t>Failure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  <a:ea typeface="DejaVu Sans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  <a:ea typeface="DejaVu Sans"/>
              </a:rPr>
              <a:t>policy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  <a:ea typeface="DejaVu Sans"/>
              </a:rPr>
              <a:t>does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  <a:ea typeface="DejaVu Sans"/>
              </a:rPr>
              <a:t>not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  <a:ea typeface="DejaVu Sans"/>
              </a:rPr>
              <a:t>restart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  <a:ea typeface="DejaVu Sans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  <a:ea typeface="DejaVu Sans"/>
              </a:rPr>
              <a:t>container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  <a:ea typeface="DejaVu Sans"/>
              </a:rPr>
              <a:t>upon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  <a:ea typeface="DejaVu Sans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  <a:ea typeface="DejaVu Sans"/>
              </a:rPr>
              <a:t>failure,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  <a:ea typeface="DejaVu Sans"/>
              </a:rPr>
              <a:t>it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  <a:ea typeface="DejaVu Sans"/>
              </a:rPr>
              <a:t>starts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  <a:ea typeface="DejaVu Sans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  <a:ea typeface="DejaVu Sans"/>
              </a:rPr>
              <a:t>new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  <a:ea typeface="DejaVu Sans"/>
              </a:rPr>
              <a:t>Pod.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05" name="object 5"/>
          <p:cNvSpPr/>
          <p:nvPr/>
        </p:nvSpPr>
        <p:spPr>
          <a:xfrm>
            <a:off x="1837440" y="1735560"/>
            <a:ext cx="477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spec.template.spec.restartPolicy:</a:t>
            </a:r>
            <a:r>
              <a:rPr b="1" lang="fr-FR" sz="16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Never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606" name="object 6" descr=""/>
          <p:cNvPicPr/>
          <p:nvPr/>
        </p:nvPicPr>
        <p:blipFill>
          <a:blip r:embed="rId3"/>
          <a:stretch/>
        </p:blipFill>
        <p:spPr>
          <a:xfrm>
            <a:off x="1008360" y="2563560"/>
            <a:ext cx="7124760" cy="1382760"/>
          </a:xfrm>
          <a:prstGeom prst="rect">
            <a:avLst/>
          </a:prstGeom>
          <a:ln w="0">
            <a:noFill/>
          </a:ln>
        </p:spPr>
      </p:pic>
      <p:sp>
        <p:nvSpPr>
          <p:cNvPr id="607" name="object 7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3F91DB0-C73C-446E-9388-0685252963D4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CronJob?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primitive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executing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periodically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based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schedule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09" name="object 3"/>
          <p:cNvSpPr/>
          <p:nvPr/>
        </p:nvSpPr>
        <p:spPr>
          <a:xfrm>
            <a:off x="600120" y="1392840"/>
            <a:ext cx="8037720" cy="10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CronJob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essentially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similar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characteristics.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schedule 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defined 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cron-expression you may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already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know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from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Unix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cron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jobs.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610" name="object 4" descr=""/>
          <p:cNvPicPr/>
          <p:nvPr/>
        </p:nvPicPr>
        <p:blipFill>
          <a:blip r:embed="rId1"/>
          <a:stretch/>
        </p:blipFill>
        <p:spPr>
          <a:xfrm>
            <a:off x="1557360" y="3007800"/>
            <a:ext cx="6128640" cy="1499760"/>
          </a:xfrm>
          <a:prstGeom prst="rect">
            <a:avLst/>
          </a:prstGeom>
          <a:ln w="0">
            <a:noFill/>
          </a:ln>
        </p:spPr>
      </p:pic>
      <p:sp>
        <p:nvSpPr>
          <p:cNvPr id="611" name="object 5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B695D85-F44A-4E8F-A909-5B270D1ADEC9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CronJob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Hierarchy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CronJob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manages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Jobs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which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delegate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Pods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613" name="object 3" descr=""/>
          <p:cNvPicPr/>
          <p:nvPr/>
        </p:nvPicPr>
        <p:blipFill>
          <a:blip r:embed="rId1"/>
          <a:stretch/>
        </p:blipFill>
        <p:spPr>
          <a:xfrm>
            <a:off x="3468240" y="1656720"/>
            <a:ext cx="2204280" cy="2912040"/>
          </a:xfrm>
          <a:prstGeom prst="rect">
            <a:avLst/>
          </a:prstGeom>
          <a:ln w="0">
            <a:noFill/>
          </a:ln>
        </p:spPr>
      </p:pic>
      <p:sp>
        <p:nvSpPr>
          <p:cNvPr id="614" name="object 4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65DCE3D-5561-4F51-9C12-696C1C270D0C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356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CronJob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7" strike="noStrike">
                <a:solidFill>
                  <a:srgbClr val="000000"/>
                </a:solidFill>
                <a:latin typeface="Tahoma"/>
              </a:rPr>
              <a:t>Command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"Render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current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date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standard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output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every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hour"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16" name="object 4"/>
          <p:cNvSpPr/>
          <p:nvPr/>
        </p:nvSpPr>
        <p:spPr>
          <a:xfrm>
            <a:off x="536400" y="1419480"/>
            <a:ext cx="7008840" cy="14684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040" bIns="0" anchor="t">
            <a:spAutoFit/>
          </a:bodyPr>
          <a:p>
            <a:pPr>
              <a:lnSpc>
                <a:spcPct val="100000"/>
              </a:lnSpc>
              <a:spcBef>
                <a:spcPts val="40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 create cronjob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650"/>
              </a:lnSpc>
              <a:buNone/>
              <a:tabLst>
                <a:tab algn="l" pos="0"/>
              </a:tabLst>
            </a:pP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current-date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585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--schedule="*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*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*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*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*"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--image=nginx:1.24.0</a:t>
            </a: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-c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'echo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"Current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date: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$(date)"'</a:t>
            </a:r>
            <a:endParaRPr b="0" lang="fr-FR" sz="1400" spc="-1" strike="noStrike">
              <a:latin typeface="Arial"/>
            </a:endParaRPr>
          </a:p>
          <a:p>
            <a:pPr marL="237600" indent="-213480">
              <a:lnSpc>
                <a:spcPts val="1664"/>
              </a:lnSpc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cronjob.batch/current-date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17" name="object 5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9E03680-E9DF-42A8-8A77-C2A45E111828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CronJob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"Increment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counter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render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terminal"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619" name="object 3"/>
          <p:cNvGrpSpPr/>
          <p:nvPr/>
        </p:nvGrpSpPr>
        <p:grpSpPr>
          <a:xfrm>
            <a:off x="373680" y="1212840"/>
            <a:ext cx="3783960" cy="3801240"/>
            <a:chOff x="373680" y="1212840"/>
            <a:chExt cx="3783960" cy="3801240"/>
          </a:xfrm>
        </p:grpSpPr>
        <p:pic>
          <p:nvPicPr>
            <p:cNvPr id="620" name="object 4" descr=""/>
            <p:cNvPicPr/>
            <p:nvPr/>
          </p:nvPicPr>
          <p:blipFill>
            <a:blip r:embed="rId1"/>
            <a:stretch/>
          </p:blipFill>
          <p:spPr>
            <a:xfrm>
              <a:off x="373680" y="1212840"/>
              <a:ext cx="3783960" cy="3801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21" name="object 5"/>
            <p:cNvSpPr/>
            <p:nvPr/>
          </p:nvSpPr>
          <p:spPr>
            <a:xfrm>
              <a:off x="427320" y="1261080"/>
              <a:ext cx="3669840" cy="3687120"/>
            </a:xfrm>
            <a:custGeom>
              <a:avLst/>
              <a:gdLst/>
              <a:ahLst/>
              <a:rect l="l" t="t" r="r" b="b"/>
              <a:pathLst>
                <a:path w="3672840" h="3689985">
                  <a:moveTo>
                    <a:pt x="3672599" y="3689699"/>
                  </a:moveTo>
                  <a:lnTo>
                    <a:pt x="0" y="3689699"/>
                  </a:lnTo>
                  <a:lnTo>
                    <a:pt x="0" y="0"/>
                  </a:lnTo>
                  <a:lnTo>
                    <a:pt x="3672599" y="0"/>
                  </a:lnTo>
                  <a:lnTo>
                    <a:pt x="3672599" y="3689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622" name="object 6"/>
          <p:cNvSpPr/>
          <p:nvPr/>
        </p:nvSpPr>
        <p:spPr>
          <a:xfrm>
            <a:off x="618480" y="1419480"/>
            <a:ext cx="1851840" cy="91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9800" bIns="0" anchor="t">
            <a:spAutoFit/>
          </a:bodyPr>
          <a:p>
            <a:pPr marL="12600">
              <a:lnSpc>
                <a:spcPts val="1429"/>
              </a:lnSpc>
              <a:spcBef>
                <a:spcPts val="156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batch/v1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CronJob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361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23" name="object 7"/>
          <p:cNvSpPr/>
          <p:nvPr/>
        </p:nvSpPr>
        <p:spPr>
          <a:xfrm>
            <a:off x="756720" y="2311560"/>
            <a:ext cx="2233440" cy="2077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25560" bIns="0" anchor="t">
            <a:spAutoFit/>
          </a:bodyPr>
          <a:p>
            <a:pPr marL="57240">
              <a:lnSpc>
                <a:spcPct val="100000"/>
              </a:lnSpc>
              <a:spcBef>
                <a:spcPts val="201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schedule:</a:t>
            </a:r>
            <a:r>
              <a:rPr b="1" lang="fr-FR" sz="1200" spc="-2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d15e35"/>
                </a:solidFill>
                <a:latin typeface="Courier New"/>
                <a:ea typeface="DejaVu Sans"/>
              </a:rPr>
              <a:t>"*/1</a:t>
            </a:r>
            <a:r>
              <a:rPr b="1" lang="fr-FR" sz="1200" spc="-21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200" spc="-1" strike="noStrike">
                <a:solidFill>
                  <a:srgbClr val="d15e35"/>
                </a:solidFill>
                <a:latin typeface="Courier New"/>
                <a:ea typeface="DejaVu Sans"/>
              </a:rPr>
              <a:t>*</a:t>
            </a:r>
            <a:r>
              <a:rPr b="1" lang="fr-FR" sz="1200" spc="-21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200" spc="-1" strike="noStrike">
                <a:solidFill>
                  <a:srgbClr val="d15e35"/>
                </a:solidFill>
                <a:latin typeface="Courier New"/>
                <a:ea typeface="DejaVu Sans"/>
              </a:rPr>
              <a:t>*</a:t>
            </a:r>
            <a:r>
              <a:rPr b="1" lang="fr-FR" sz="1200" spc="-21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200" spc="-1" strike="noStrike">
                <a:solidFill>
                  <a:srgbClr val="d15e35"/>
                </a:solidFill>
                <a:latin typeface="Courier New"/>
                <a:ea typeface="DejaVu Sans"/>
              </a:rPr>
              <a:t>*</a:t>
            </a:r>
            <a:r>
              <a:rPr b="1" lang="fr-FR" sz="1200" spc="-26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d15e35"/>
                </a:solidFill>
                <a:latin typeface="Courier New"/>
                <a:ea typeface="DejaVu Sans"/>
              </a:rPr>
              <a:t>*"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24" name="object 8"/>
          <p:cNvSpPr/>
          <p:nvPr/>
        </p:nvSpPr>
        <p:spPr>
          <a:xfrm>
            <a:off x="801360" y="2505240"/>
            <a:ext cx="111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jobTemplate: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25" name="object 9"/>
          <p:cNvSpPr/>
          <p:nvPr/>
        </p:nvSpPr>
        <p:spPr>
          <a:xfrm>
            <a:off x="984240" y="2686320"/>
            <a:ext cx="1028880" cy="5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200" spc="-1" strike="noStrike">
              <a:latin typeface="Arial"/>
            </a:endParaRPr>
          </a:p>
          <a:p>
            <a:pPr marL="378360" indent="-183600">
              <a:lnSpc>
                <a:spcPts val="1429"/>
              </a:lnSpc>
              <a:spcBef>
                <a:spcPts val="45"/>
              </a:spcBef>
              <a:buNone/>
              <a:tabLst>
                <a:tab algn="l" pos="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template:  spec: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26" name="object 10"/>
          <p:cNvSpPr/>
          <p:nvPr/>
        </p:nvSpPr>
        <p:spPr>
          <a:xfrm>
            <a:off x="1483560" y="3225240"/>
            <a:ext cx="2005560" cy="1987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6560" bIns="0" anchor="t">
            <a:spAutoFit/>
          </a:bodyPr>
          <a:p>
            <a:pPr marL="61560">
              <a:lnSpc>
                <a:spcPct val="100000"/>
              </a:lnSpc>
              <a:spcBef>
                <a:spcPts val="130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restartPolicy: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Never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27" name="object 11"/>
          <p:cNvSpPr/>
          <p:nvPr/>
        </p:nvSpPr>
        <p:spPr>
          <a:xfrm>
            <a:off x="1532880" y="3409920"/>
            <a:ext cx="10285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28" name="object 12"/>
          <p:cNvSpPr/>
          <p:nvPr/>
        </p:nvSpPr>
        <p:spPr>
          <a:xfrm>
            <a:off x="1532880" y="3591000"/>
            <a:ext cx="1943280" cy="11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95480" indent="-183600">
              <a:lnSpc>
                <a:spcPts val="1434"/>
              </a:lnSpc>
              <a:spcBef>
                <a:spcPts val="99"/>
              </a:spcBef>
              <a:buClr>
                <a:srgbClr val="000000"/>
              </a:buClr>
              <a:buFont typeface="Courier New"/>
              <a:buChar char="-"/>
              <a:tabLst>
                <a:tab algn="l" pos="19620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args:</a:t>
            </a:r>
            <a:endParaRPr b="0" lang="fr-FR" sz="1200" spc="-1" strike="noStrike">
              <a:latin typeface="Arial"/>
            </a:endParaRPr>
          </a:p>
          <a:p>
            <a:pPr lvl="1" marL="378000" indent="-182880">
              <a:lnSpc>
                <a:spcPts val="1426"/>
              </a:lnSpc>
              <a:buClr>
                <a:srgbClr val="000000"/>
              </a:buClr>
              <a:buFont typeface="StarSymbol"/>
              <a:buChar char="-"/>
              <a:tabLst>
                <a:tab algn="l" pos="37836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200" spc="-1" strike="noStrike">
              <a:latin typeface="Arial"/>
            </a:endParaRPr>
          </a:p>
          <a:p>
            <a:pPr lvl="1" marL="378000" indent="-182880">
              <a:lnSpc>
                <a:spcPts val="1426"/>
              </a:lnSpc>
              <a:buClr>
                <a:srgbClr val="000000"/>
              </a:buClr>
              <a:buFont typeface="StarSymbol"/>
              <a:buChar char="-"/>
              <a:tabLst>
                <a:tab algn="l" pos="37836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-c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  <a:tabLst>
                <a:tab algn="l" pos="37836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  <a:tabLst>
                <a:tab algn="l" pos="37836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2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nginx:1.24.0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9"/>
              </a:lnSpc>
              <a:buNone/>
              <a:tabLst>
                <a:tab algn="l" pos="37836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629" name="object 13"/>
          <p:cNvGrpSpPr/>
          <p:nvPr/>
        </p:nvGrpSpPr>
        <p:grpSpPr>
          <a:xfrm>
            <a:off x="3104280" y="2404080"/>
            <a:ext cx="1903320" cy="992880"/>
            <a:chOff x="3104280" y="2404080"/>
            <a:chExt cx="1903320" cy="992880"/>
          </a:xfrm>
        </p:grpSpPr>
        <p:sp>
          <p:nvSpPr>
            <p:cNvPr id="630" name="object 14"/>
            <p:cNvSpPr/>
            <p:nvPr/>
          </p:nvSpPr>
          <p:spPr>
            <a:xfrm>
              <a:off x="3200400" y="2444760"/>
              <a:ext cx="1806840" cy="360"/>
            </a:xfrm>
            <a:custGeom>
              <a:avLst/>
              <a:gdLst/>
              <a:ahLst/>
              <a:rect l="l" t="t" r="r" b="b"/>
              <a:pathLst>
                <a:path w="1809750" h="0">
                  <a:moveTo>
                    <a:pt x="18095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631" name="object 15" descr=""/>
            <p:cNvPicPr/>
            <p:nvPr/>
          </p:nvPicPr>
          <p:blipFill>
            <a:blip r:embed="rId2"/>
            <a:stretch/>
          </p:blipFill>
          <p:spPr>
            <a:xfrm>
              <a:off x="3104280" y="240408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32" name="object 16"/>
            <p:cNvSpPr/>
            <p:nvPr/>
          </p:nvSpPr>
          <p:spPr>
            <a:xfrm>
              <a:off x="3767760" y="3358800"/>
              <a:ext cx="1239840" cy="360"/>
            </a:xfrm>
            <a:custGeom>
              <a:avLst/>
              <a:gdLst/>
              <a:ahLst/>
              <a:rect l="l" t="t" r="r" b="b"/>
              <a:pathLst>
                <a:path w="1242695" h="0">
                  <a:moveTo>
                    <a:pt x="12422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633" name="object 17" descr=""/>
            <p:cNvPicPr/>
            <p:nvPr/>
          </p:nvPicPr>
          <p:blipFill>
            <a:blip r:embed="rId3"/>
            <a:stretch/>
          </p:blipFill>
          <p:spPr>
            <a:xfrm>
              <a:off x="3671640" y="331776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634" name="object 18"/>
          <p:cNvSpPr/>
          <p:nvPr/>
        </p:nvSpPr>
        <p:spPr>
          <a:xfrm>
            <a:off x="5198400" y="2169360"/>
            <a:ext cx="289944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08000" indent="-9576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5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crontab</a:t>
            </a:r>
            <a:r>
              <a:rPr b="0" lang="fr-FR" sz="15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expression</a:t>
            </a:r>
            <a:r>
              <a:rPr b="0" lang="fr-FR" sz="15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used </a:t>
            </a:r>
            <a:r>
              <a:rPr b="0" lang="fr-FR" sz="1500" spc="-40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run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CronJob</a:t>
            </a:r>
            <a:r>
              <a:rPr b="0" lang="fr-FR" sz="15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periodically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635" name="object 20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9F53A44-E808-4E40-9F04-3DB7B1EA3924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636" name="object 19"/>
          <p:cNvSpPr/>
          <p:nvPr/>
        </p:nvSpPr>
        <p:spPr>
          <a:xfrm>
            <a:off x="5276520" y="3233160"/>
            <a:ext cx="192132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Run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endParaRPr b="0" lang="fr-FR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CronJob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Keeps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history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failed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successful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Pods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38" name="object 9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F185CB3-A024-4368-80E0-3A0FA78E7AFE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639" name="" descr=""/>
          <p:cNvPicPr/>
          <p:nvPr/>
        </p:nvPicPr>
        <p:blipFill>
          <a:blip r:embed="rId1"/>
          <a:stretch/>
        </p:blipFill>
        <p:spPr>
          <a:xfrm>
            <a:off x="434880" y="1152360"/>
            <a:ext cx="8055720" cy="2826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356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Configuring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Retained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History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Being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know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what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happened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during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retroactively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41" name="object 4"/>
          <p:cNvSpPr/>
          <p:nvPr/>
        </p:nvSpPr>
        <p:spPr>
          <a:xfrm>
            <a:off x="8701560" y="4908600"/>
            <a:ext cx="202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5D06B77-C215-4796-AB62-16397CB92CA2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642" name="object 3"/>
          <p:cNvSpPr/>
          <p:nvPr/>
        </p:nvSpPr>
        <p:spPr>
          <a:xfrm>
            <a:off x="600120" y="1360440"/>
            <a:ext cx="8399160" cy="25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Even after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completing 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task 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CronJob, it will not be deleted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automatically.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Keeping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historical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record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Pods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tremendously helpful 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troubleshooting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failed workloads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inspecting the logs.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attribute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spec.successfulJobsHistoryLimit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configures the number of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executions. Defaults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3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attribute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spec.failedJobsHistoryLimit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configures 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number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failed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executions.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Defaults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1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failed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object 2"/>
          <p:cNvSpPr/>
          <p:nvPr/>
        </p:nvSpPr>
        <p:spPr>
          <a:xfrm>
            <a:off x="494280" y="371880"/>
            <a:ext cx="130356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03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644" name="object 3"/>
          <p:cNvSpPr/>
          <p:nvPr/>
        </p:nvSpPr>
        <p:spPr>
          <a:xfrm>
            <a:off x="494280" y="1323360"/>
            <a:ext cx="472356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Creating and inspecting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2900" spc="-79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periodic operation using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2900" spc="-8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CronJob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5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646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647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5443560" cy="138204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77" strike="noStrike">
                <a:solidFill>
                  <a:srgbClr val="ffffff"/>
                </a:solidFill>
                <a:latin typeface="Tahoma"/>
              </a:rPr>
              <a:t>Volumes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38" strike="noStrike">
                <a:solidFill>
                  <a:srgbClr val="ffffff"/>
                </a:solidFill>
                <a:latin typeface="Lucida Sans Unicode"/>
              </a:rPr>
              <a:t>Ephemeral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9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persistent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32" strike="noStrike">
                <a:solidFill>
                  <a:srgbClr val="ffffff"/>
                </a:solidFill>
                <a:latin typeface="Lucida Sans Unicode"/>
              </a:rPr>
              <a:t>storage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32" strike="noStrike">
                <a:solidFill>
                  <a:srgbClr val="ffffff"/>
                </a:solidFill>
                <a:latin typeface="Lucida Sans Unicode"/>
              </a:rPr>
              <a:t>for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4" strike="noStrike">
                <a:solidFill>
                  <a:srgbClr val="ffffff"/>
                </a:solidFill>
                <a:latin typeface="Lucida Sans Unicode"/>
              </a:rPr>
              <a:t>Pods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Volume?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directory,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possibly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some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data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it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accessible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containers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50" name="object 4"/>
          <p:cNvSpPr/>
          <p:nvPr/>
        </p:nvSpPr>
        <p:spPr>
          <a:xfrm>
            <a:off x="8701560" y="4908600"/>
            <a:ext cx="201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3DE46C9-22E9-4189-94BF-0208DA2C4037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651" name="object 3"/>
          <p:cNvSpPr/>
          <p:nvPr/>
        </p:nvSpPr>
        <p:spPr>
          <a:xfrm>
            <a:off x="600120" y="1360440"/>
            <a:ext cx="8218080" cy="362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Each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 manages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files 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temporary file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system.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 written to the file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system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lost when 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restarted.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Ephemeral </a:t>
            </a:r>
            <a:r>
              <a:rPr b="0" i="1" lang="fr-FR" sz="1600" spc="-15" strike="noStrike">
                <a:solidFill>
                  <a:srgbClr val="000000"/>
                </a:solidFill>
                <a:latin typeface="Arial"/>
                <a:ea typeface="DejaVu Sans"/>
              </a:rPr>
              <a:t>Volumes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exist for the lifespan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Pod. They are useful if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want 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share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between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multiple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running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Pod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caching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data.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Persistent </a:t>
            </a:r>
            <a:r>
              <a:rPr b="0" i="1" lang="fr-FR" sz="1600" spc="-15" strike="noStrike">
                <a:solidFill>
                  <a:srgbClr val="000000"/>
                </a:solidFill>
                <a:latin typeface="Arial"/>
                <a:ea typeface="DejaVu Sans"/>
              </a:rPr>
              <a:t>Volumes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preserve data beyond the lifespan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Pod. They are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good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option for applications 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 to exist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longer,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e.g. in the form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storage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database-driven application.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V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olum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typ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h</a:t>
            </a:r>
            <a:r>
              <a:rPr b="0" lang="fr-FR" sz="1600" spc="4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spec.volumes[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r>
              <a:rPr b="0" lang="fr-FR" sz="1600" spc="-72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reference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 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</a:t>
            </a: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spec.containers[].volume.volumeMounts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Volume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Types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Determines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medium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backs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Volume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its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behavior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653" name="object 3"/>
          <p:cNvGraphicFramePr/>
          <p:nvPr/>
        </p:nvGraphicFramePr>
        <p:xfrm>
          <a:off x="502200" y="1408680"/>
          <a:ext cx="8317440" cy="3296520"/>
        </p:xfrm>
        <a:graphic>
          <a:graphicData uri="http://schemas.openxmlformats.org/drawingml/2006/table">
            <a:tbl>
              <a:tblPr/>
              <a:tblGrid>
                <a:gridCol w="2409480"/>
                <a:gridCol w="5908320"/>
              </a:tblGrid>
              <a:tr h="553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21" strike="noStrike">
                          <a:solidFill>
                            <a:srgbClr val="ffffff"/>
                          </a:solidFill>
                          <a:latin typeface="Arial MT"/>
                        </a:rPr>
                        <a:t>Type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Description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54396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emptyDir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38160">
                      <a:solidFill>
                        <a:srgbClr val="660000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ts val="1429"/>
                        </a:lnSpc>
                        <a:spcBef>
                          <a:spcPts val="68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Empty directory in Pod with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read/write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access. Only persisted for the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lifespan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of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Pod.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38160">
                      <a:solidFill>
                        <a:srgbClr val="660000"/>
                      </a:solidFill>
                    </a:lnB>
                    <a:noFill/>
                  </a:tcPr>
                </a:tc>
              </a:tr>
              <a:tr h="46476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6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hostPath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fffff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6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File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or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directory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from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host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node’s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filesystem.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endParaRPr b="0" lang="fr-FR" sz="115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configMap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,</a:t>
                      </a:r>
                      <a:r>
                        <a:rPr b="0" lang="fr-FR" sz="1200" spc="-46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secret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endParaRPr b="0" lang="fr-FR" sz="115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Provides</a:t>
                      </a:r>
                      <a:r>
                        <a:rPr b="0" lang="fr-FR" sz="1200" spc="-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way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inject</a:t>
                      </a:r>
                      <a:r>
                        <a:rPr b="0" lang="fr-FR" sz="1200" spc="-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configuration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data.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321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endParaRPr b="0" lang="fr-FR" sz="115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nfs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54"/>
                        </a:spcBef>
                        <a:buNone/>
                      </a:pPr>
                      <a:endParaRPr b="0" lang="fr-FR" sz="115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 existing NFS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(Network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File System)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share.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Preserves data after Pod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restart.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5404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6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persistentVolumeClaim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6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Claims</a:t>
                      </a:r>
                      <a:r>
                        <a:rPr b="0" lang="fr-FR" sz="12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26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Persistent</a:t>
                      </a:r>
                      <a:r>
                        <a:rPr b="0" lang="fr-FR" sz="1200" spc="-26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Volume.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54" name="object 6"/>
          <p:cNvSpPr/>
          <p:nvPr/>
        </p:nvSpPr>
        <p:spPr>
          <a:xfrm>
            <a:off x="8701560" y="4908600"/>
            <a:ext cx="201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8C109CB-060B-4F45-814F-12D1E80BB2E6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Ephemeral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Useful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sharing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data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between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containers,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caching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data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656" name="object 3" descr=""/>
          <p:cNvPicPr/>
          <p:nvPr/>
        </p:nvPicPr>
        <p:blipFill>
          <a:blip r:embed="rId1"/>
          <a:stretch/>
        </p:blipFill>
        <p:spPr>
          <a:xfrm>
            <a:off x="636120" y="2280600"/>
            <a:ext cx="7712640" cy="1643040"/>
          </a:xfrm>
          <a:prstGeom prst="rect">
            <a:avLst/>
          </a:prstGeom>
          <a:ln w="0">
            <a:noFill/>
          </a:ln>
        </p:spPr>
      </p:pic>
      <p:sp>
        <p:nvSpPr>
          <p:cNvPr id="657" name="object 4"/>
          <p:cNvSpPr/>
          <p:nvPr/>
        </p:nvSpPr>
        <p:spPr>
          <a:xfrm>
            <a:off x="8701560" y="4908600"/>
            <a:ext cx="201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90998FE-0887-4CEE-B08B-33B30371F7F2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Ephemeral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assign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mount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path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659" name="object 3"/>
          <p:cNvGrpSpPr/>
          <p:nvPr/>
        </p:nvGrpSpPr>
        <p:grpSpPr>
          <a:xfrm>
            <a:off x="446040" y="1375560"/>
            <a:ext cx="2724840" cy="2859120"/>
            <a:chOff x="446040" y="1375560"/>
            <a:chExt cx="2724840" cy="2859120"/>
          </a:xfrm>
        </p:grpSpPr>
        <p:pic>
          <p:nvPicPr>
            <p:cNvPr id="660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2724840" cy="2859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61" name="object 5"/>
            <p:cNvSpPr/>
            <p:nvPr/>
          </p:nvSpPr>
          <p:spPr>
            <a:xfrm>
              <a:off x="499680" y="1424160"/>
              <a:ext cx="2610720" cy="2745360"/>
            </a:xfrm>
            <a:custGeom>
              <a:avLst/>
              <a:gdLst/>
              <a:ahLst/>
              <a:rect l="l" t="t" r="r" b="b"/>
              <a:pathLst>
                <a:path w="2613660" h="2748279">
                  <a:moveTo>
                    <a:pt x="2613299" y="2747699"/>
                  </a:moveTo>
                  <a:lnTo>
                    <a:pt x="0" y="2747699"/>
                  </a:lnTo>
                  <a:lnTo>
                    <a:pt x="0" y="0"/>
                  </a:lnTo>
                  <a:lnTo>
                    <a:pt x="2613299" y="0"/>
                  </a:lnTo>
                  <a:lnTo>
                    <a:pt x="2613299" y="2747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662" name="object 6"/>
          <p:cNvSpPr/>
          <p:nvPr/>
        </p:nvSpPr>
        <p:spPr>
          <a:xfrm>
            <a:off x="695520" y="1563120"/>
            <a:ext cx="1702800" cy="87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12600">
              <a:lnSpc>
                <a:spcPct val="102000"/>
              </a:lnSpc>
              <a:spcBef>
                <a:spcPts val="7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1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100" spc="-64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2000"/>
              </a:lnSpc>
              <a:spcBef>
                <a:spcPts val="7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100" spc="-1" strike="noStrike">
              <a:latin typeface="Arial"/>
            </a:endParaRPr>
          </a:p>
          <a:p>
            <a:pPr marL="18432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1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my-container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63" name="object 7"/>
          <p:cNvSpPr/>
          <p:nvPr/>
        </p:nvSpPr>
        <p:spPr>
          <a:xfrm>
            <a:off x="811080" y="2440440"/>
            <a:ext cx="1762920" cy="5025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68760">
              <a:lnSpc>
                <a:spcPts val="1261"/>
              </a:lnSpc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volumes:</a:t>
            </a:r>
            <a:endParaRPr b="0" lang="fr-FR" sz="1100" spc="-1" strike="noStrike">
              <a:latin typeface="Arial"/>
            </a:endParaRPr>
          </a:p>
          <a:p>
            <a:pPr marL="6480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- </a:t>
            </a: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100" spc="-4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logs-volume</a:t>
            </a:r>
            <a:endParaRPr b="0" lang="fr-FR" sz="1100" spc="-1" strike="noStrike">
              <a:latin typeface="Arial"/>
            </a:endParaRPr>
          </a:p>
          <a:p>
            <a:pPr marL="24012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emptyDir:</a:t>
            </a:r>
            <a:r>
              <a:rPr b="1" lang="fr-FR" sz="11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{}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64" name="object 8"/>
          <p:cNvSpPr/>
          <p:nvPr/>
        </p:nvSpPr>
        <p:spPr>
          <a:xfrm>
            <a:off x="863280" y="2934720"/>
            <a:ext cx="17064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656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- </a:t>
            </a: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100" spc="-4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endParaRPr b="0" lang="fr-FR" sz="1100" spc="-1" strike="noStrike">
              <a:latin typeface="Arial"/>
            </a:endParaRPr>
          </a:p>
          <a:p>
            <a:pPr marL="18792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1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my-container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65" name="object 9"/>
          <p:cNvSpPr/>
          <p:nvPr/>
        </p:nvSpPr>
        <p:spPr>
          <a:xfrm>
            <a:off x="998280" y="3446280"/>
            <a:ext cx="1966320" cy="5248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5120" bIns="0" anchor="t">
            <a:spAutoFit/>
          </a:bodyPr>
          <a:p>
            <a:pPr marL="52560">
              <a:lnSpc>
                <a:spcPct val="100000"/>
              </a:lnSpc>
              <a:spcBef>
                <a:spcPts val="119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volumeMounts:</a:t>
            </a:r>
            <a:endParaRPr b="0" lang="fr-FR" sz="1100" spc="-1" strike="noStrike">
              <a:latin typeface="Arial"/>
            </a:endParaRPr>
          </a:p>
          <a:p>
            <a:pPr marL="4500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100" spc="24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mountPath:</a:t>
            </a:r>
            <a:r>
              <a:rPr b="1" lang="fr-FR" sz="1100" spc="-4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/var/logs</a:t>
            </a:r>
            <a:endParaRPr b="0" lang="fr-FR" sz="1100" spc="-1" strike="noStrike">
              <a:latin typeface="Arial"/>
            </a:endParaRPr>
          </a:p>
          <a:p>
            <a:pPr marL="22428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1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logs-volume</a:t>
            </a:r>
            <a:endParaRPr b="0" lang="fr-FR" sz="1100" spc="-1" strike="noStrike">
              <a:latin typeface="Arial"/>
            </a:endParaRPr>
          </a:p>
        </p:txBody>
      </p:sp>
      <p:grpSp>
        <p:nvGrpSpPr>
          <p:cNvPr id="666" name="object 10"/>
          <p:cNvGrpSpPr/>
          <p:nvPr/>
        </p:nvGrpSpPr>
        <p:grpSpPr>
          <a:xfrm>
            <a:off x="2782080" y="2675880"/>
            <a:ext cx="1320120" cy="1114560"/>
            <a:chOff x="2782080" y="2675880"/>
            <a:chExt cx="1320120" cy="1114560"/>
          </a:xfrm>
        </p:grpSpPr>
        <p:sp>
          <p:nvSpPr>
            <p:cNvPr id="667" name="object 11"/>
            <p:cNvSpPr/>
            <p:nvPr/>
          </p:nvSpPr>
          <p:spPr>
            <a:xfrm>
              <a:off x="2877840" y="2716560"/>
              <a:ext cx="1216440" cy="360"/>
            </a:xfrm>
            <a:custGeom>
              <a:avLst/>
              <a:gdLst/>
              <a:ahLst/>
              <a:rect l="l" t="t" r="r" b="b"/>
              <a:pathLst>
                <a:path w="1219200" h="0">
                  <a:moveTo>
                    <a:pt x="12185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668" name="object 12" descr=""/>
            <p:cNvPicPr/>
            <p:nvPr/>
          </p:nvPicPr>
          <p:blipFill>
            <a:blip r:embed="rId2"/>
            <a:stretch/>
          </p:blipFill>
          <p:spPr>
            <a:xfrm>
              <a:off x="2782080" y="267588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69" name="object 13"/>
            <p:cNvSpPr/>
            <p:nvPr/>
          </p:nvSpPr>
          <p:spPr>
            <a:xfrm>
              <a:off x="3170520" y="3752280"/>
              <a:ext cx="931680" cy="360"/>
            </a:xfrm>
            <a:custGeom>
              <a:avLst/>
              <a:gdLst/>
              <a:ahLst/>
              <a:rect l="l" t="t" r="r" b="b"/>
              <a:pathLst>
                <a:path w="934720" h="0">
                  <a:moveTo>
                    <a:pt x="9341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670" name="object 14" descr=""/>
            <p:cNvPicPr/>
            <p:nvPr/>
          </p:nvPicPr>
          <p:blipFill>
            <a:blip r:embed="rId3"/>
            <a:stretch/>
          </p:blipFill>
          <p:spPr>
            <a:xfrm>
              <a:off x="3074400" y="371124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671" name="object 15"/>
          <p:cNvSpPr/>
          <p:nvPr/>
        </p:nvSpPr>
        <p:spPr>
          <a:xfrm>
            <a:off x="4208040" y="2583000"/>
            <a:ext cx="29901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Define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Volume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type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72" name="object 17"/>
          <p:cNvSpPr/>
          <p:nvPr/>
        </p:nvSpPr>
        <p:spPr>
          <a:xfrm>
            <a:off x="8701560" y="4908600"/>
            <a:ext cx="201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974CB1F-7BEA-45BB-ACC1-37229536E539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673" name="object 16"/>
          <p:cNvSpPr/>
          <p:nvPr/>
        </p:nvSpPr>
        <p:spPr>
          <a:xfrm>
            <a:off x="4200840" y="3610080"/>
            <a:ext cx="29973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Specify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mount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path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Using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shell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into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navigate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mount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path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675" name="object 3"/>
          <p:cNvGrpSpPr/>
          <p:nvPr/>
        </p:nvGrpSpPr>
        <p:grpSpPr>
          <a:xfrm>
            <a:off x="446040" y="1375560"/>
            <a:ext cx="4960080" cy="2590920"/>
            <a:chOff x="446040" y="1375560"/>
            <a:chExt cx="4960080" cy="2590920"/>
          </a:xfrm>
        </p:grpSpPr>
        <p:pic>
          <p:nvPicPr>
            <p:cNvPr id="676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4960080" cy="25909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77" name="object 5"/>
            <p:cNvSpPr/>
            <p:nvPr/>
          </p:nvSpPr>
          <p:spPr>
            <a:xfrm>
              <a:off x="499680" y="1424160"/>
              <a:ext cx="4845960" cy="2476800"/>
            </a:xfrm>
            <a:custGeom>
              <a:avLst/>
              <a:gdLst/>
              <a:ahLst/>
              <a:rect l="l" t="t" r="r" b="b"/>
              <a:pathLst>
                <a:path w="4848860" h="2479675">
                  <a:moveTo>
                    <a:pt x="4848599" y="2479499"/>
                  </a:moveTo>
                  <a:lnTo>
                    <a:pt x="0" y="2479499"/>
                  </a:lnTo>
                  <a:lnTo>
                    <a:pt x="0" y="0"/>
                  </a:lnTo>
                  <a:lnTo>
                    <a:pt x="4848599" y="0"/>
                  </a:lnTo>
                  <a:lnTo>
                    <a:pt x="4848599" y="2479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678" name="object 6"/>
          <p:cNvSpPr/>
          <p:nvPr/>
        </p:nvSpPr>
        <p:spPr>
          <a:xfrm>
            <a:off x="663120" y="1561320"/>
            <a:ext cx="450324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pod-with-vol.yaml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pod/my-container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my-container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79" name="object 7"/>
          <p:cNvSpPr/>
          <p:nvPr/>
        </p:nvSpPr>
        <p:spPr>
          <a:xfrm>
            <a:off x="663120" y="2399760"/>
            <a:ext cx="4492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80" name="object 8"/>
          <p:cNvSpPr/>
          <p:nvPr/>
        </p:nvSpPr>
        <p:spPr>
          <a:xfrm>
            <a:off x="1160640" y="2422080"/>
            <a:ext cx="1096200" cy="2034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8240">
              <a:lnSpc>
                <a:spcPts val="160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/var/logs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81" name="object 9"/>
          <p:cNvSpPr/>
          <p:nvPr/>
        </p:nvSpPr>
        <p:spPr>
          <a:xfrm>
            <a:off x="663120" y="2609280"/>
            <a:ext cx="98280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pwd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/var/logs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82" name="object 10"/>
          <p:cNvSpPr/>
          <p:nvPr/>
        </p:nvSpPr>
        <p:spPr>
          <a:xfrm>
            <a:off x="663120" y="3028320"/>
            <a:ext cx="215604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touch</a:t>
            </a:r>
            <a:r>
              <a:rPr b="0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app-logs.txt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ls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599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app-logs.txt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83" name="object 13"/>
          <p:cNvSpPr/>
          <p:nvPr/>
        </p:nvSpPr>
        <p:spPr>
          <a:xfrm>
            <a:off x="8701560" y="4908600"/>
            <a:ext cx="201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260AA43-5088-4E6C-AD9C-00B5F512D3F1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Persistent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Persist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data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outlives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Pod,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node,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restart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685" name="object 3" descr=""/>
          <p:cNvPicPr/>
          <p:nvPr/>
        </p:nvPicPr>
        <p:blipFill>
          <a:blip r:embed="rId1"/>
          <a:stretch/>
        </p:blipFill>
        <p:spPr>
          <a:xfrm>
            <a:off x="1246680" y="2601000"/>
            <a:ext cx="6627960" cy="1262520"/>
          </a:xfrm>
          <a:prstGeom prst="rect">
            <a:avLst/>
          </a:prstGeom>
          <a:ln w="0">
            <a:noFill/>
          </a:ln>
        </p:spPr>
      </p:pic>
      <p:sp>
        <p:nvSpPr>
          <p:cNvPr id="686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47318B9-75AC-4236-9475-241D761E3A19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Static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vs.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Dynamic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Provisioning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PersistentVolume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created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manually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automatically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88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B025112-5892-467A-99DE-DCD0E77A3BB5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689" name="object 3"/>
          <p:cNvSpPr/>
          <p:nvPr/>
        </p:nvSpPr>
        <p:spPr>
          <a:xfrm>
            <a:off x="600120" y="1360440"/>
            <a:ext cx="8399160" cy="25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Static Provisioning:</a:t>
            </a:r>
            <a:r>
              <a:rPr b="0" i="1" lang="fr-FR" sz="1600" spc="9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Storage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device needs to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first.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PersistentVolume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references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storage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device 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needs to 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manually.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Dynamic Provisioning: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PersistentVolumeClaim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references a storage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class.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PersistentVolume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object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automatically.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Storage Class: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knows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how to provision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storage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device 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specific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performance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requirements.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PersistentVolume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storage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capacity,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3" strike="noStrike">
                <a:solidFill>
                  <a:srgbClr val="666666"/>
                </a:solidFill>
                <a:latin typeface="Lucida Sans Unicode"/>
              </a:rPr>
              <a:t>access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mode,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host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path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91" name="object 4"/>
          <p:cNvSpPr/>
          <p:nvPr/>
        </p:nvSpPr>
        <p:spPr>
          <a:xfrm>
            <a:off x="499680" y="1424160"/>
            <a:ext cx="2610720" cy="23461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0480" bIns="0" anchor="t">
            <a:spAutoFit/>
          </a:bodyPr>
          <a:p>
            <a:pPr marL="208440">
              <a:lnSpc>
                <a:spcPct val="100000"/>
              </a:lnSpc>
              <a:spcBef>
                <a:spcPts val="11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PersistentVolume</a:t>
            </a:r>
            <a:endParaRPr b="0" lang="fr-FR" sz="1300" spc="-1" strike="noStrike">
              <a:latin typeface="Arial"/>
            </a:endParaRPr>
          </a:p>
          <a:p>
            <a:pPr marL="40248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40248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db-pv</a:t>
            </a:r>
            <a:endParaRPr b="0" lang="fr-FR" sz="1300" spc="-1" strike="noStrike">
              <a:latin typeface="Arial"/>
            </a:endParaRPr>
          </a:p>
          <a:p>
            <a:pPr marL="20844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  <a:p>
            <a:pPr marL="59688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capacity:</a:t>
            </a:r>
            <a:endParaRPr b="0" lang="fr-FR" sz="1300" spc="-1" strike="noStrike">
              <a:latin typeface="Arial"/>
            </a:endParaRPr>
          </a:p>
          <a:p>
            <a:pPr marL="59688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storage: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1Gi</a:t>
            </a:r>
            <a:endParaRPr b="0" lang="fr-FR" sz="1300" spc="-1" strike="noStrike">
              <a:latin typeface="Arial"/>
            </a:endParaRPr>
          </a:p>
          <a:p>
            <a:pPr marL="40248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accessModes:</a:t>
            </a:r>
            <a:endParaRPr b="0" lang="fr-FR" sz="1300" spc="-1" strike="noStrike">
              <a:latin typeface="Arial"/>
            </a:endParaRPr>
          </a:p>
          <a:p>
            <a:pPr marL="60444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ReadWriteOnce</a:t>
            </a:r>
            <a:endParaRPr b="0" lang="fr-FR" sz="1300" spc="-1" strike="noStrike">
              <a:latin typeface="Arial"/>
            </a:endParaRPr>
          </a:p>
          <a:p>
            <a:pPr marL="40248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hostPath:</a:t>
            </a:r>
            <a:endParaRPr b="0" lang="fr-FR" sz="1300" spc="-1" strike="noStrike">
              <a:latin typeface="Arial"/>
            </a:endParaRPr>
          </a:p>
          <a:p>
            <a:pPr marL="59688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path: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/data/db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692" name="object 5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B434D59-05A6-48D0-B27E-6135CFDF30C5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3" strike="noStrike">
                <a:solidFill>
                  <a:srgbClr val="000000"/>
                </a:solidFill>
                <a:latin typeface="Tahoma"/>
              </a:rPr>
              <a:t>Access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Mode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read/write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capabilities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Volume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94" name="object 6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C09F906-AC7A-4490-8BB9-616ABC696534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695" name="" descr=""/>
          <p:cNvPicPr/>
          <p:nvPr/>
        </p:nvPicPr>
        <p:blipFill>
          <a:blip r:embed="rId1"/>
          <a:stretch/>
        </p:blipFill>
        <p:spPr>
          <a:xfrm>
            <a:off x="540000" y="1393200"/>
            <a:ext cx="8098200" cy="2925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Reclaim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What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should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happen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PersistentVolume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when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Claim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deleted?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97" name="object 5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68BD355-B8F1-49DE-894B-35C0748232E9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698" name="" descr=""/>
          <p:cNvPicPr/>
          <p:nvPr/>
        </p:nvPicPr>
        <p:blipFill>
          <a:blip r:embed="rId1"/>
          <a:stretch/>
        </p:blipFill>
        <p:spPr>
          <a:xfrm>
            <a:off x="504000" y="1391400"/>
            <a:ext cx="8278200" cy="2386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PersistentVolume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Summarized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most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important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status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700" name="object 3"/>
          <p:cNvGrpSpPr/>
          <p:nvPr/>
        </p:nvGrpSpPr>
        <p:grpSpPr>
          <a:xfrm>
            <a:off x="446040" y="1375560"/>
            <a:ext cx="8012160" cy="1731600"/>
            <a:chOff x="446040" y="1375560"/>
            <a:chExt cx="8012160" cy="1731600"/>
          </a:xfrm>
        </p:grpSpPr>
        <p:pic>
          <p:nvPicPr>
            <p:cNvPr id="701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8012160" cy="1731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02" name="object 5"/>
            <p:cNvSpPr/>
            <p:nvPr/>
          </p:nvSpPr>
          <p:spPr>
            <a:xfrm>
              <a:off x="504000" y="1424160"/>
              <a:ext cx="7889040" cy="1617480"/>
            </a:xfrm>
            <a:custGeom>
              <a:avLst/>
              <a:gdLst/>
              <a:ahLst/>
              <a:rect l="l" t="t" r="r" b="b"/>
              <a:pathLst>
                <a:path w="7292340" h="1620520">
                  <a:moveTo>
                    <a:pt x="7291799" y="1619999"/>
                  </a:moveTo>
                  <a:lnTo>
                    <a:pt x="0" y="1619999"/>
                  </a:lnTo>
                  <a:lnTo>
                    <a:pt x="0" y="0"/>
                  </a:lnTo>
                  <a:lnTo>
                    <a:pt x="7291799" y="0"/>
                  </a:lnTo>
                  <a:lnTo>
                    <a:pt x="7291799" y="16199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03" name="object 6"/>
          <p:cNvSpPr/>
          <p:nvPr/>
        </p:nvSpPr>
        <p:spPr>
          <a:xfrm>
            <a:off x="663120" y="1561320"/>
            <a:ext cx="322308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db-pv.yaml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persistentvolume/db-pv</a:t>
            </a:r>
            <a:r>
              <a:rPr b="0" lang="fr-FR" sz="1400" spc="-10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graphicFrame>
        <p:nvGraphicFramePr>
          <p:cNvPr id="704" name="object 7"/>
          <p:cNvGraphicFramePr/>
          <p:nvPr/>
        </p:nvGraphicFramePr>
        <p:xfrm>
          <a:off x="644040" y="2232720"/>
          <a:ext cx="7873920" cy="659880"/>
        </p:xfrm>
        <a:graphic>
          <a:graphicData uri="http://schemas.openxmlformats.org/drawingml/2006/table">
            <a:tbl>
              <a:tblPr/>
              <a:tblGrid>
                <a:gridCol w="2020320"/>
                <a:gridCol w="1046520"/>
                <a:gridCol w="799200"/>
                <a:gridCol w="1935720"/>
                <a:gridCol w="1255320"/>
                <a:gridCol w="817200"/>
              </a:tblGrid>
              <a:tr h="20268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$</a:t>
                      </a:r>
                      <a:r>
                        <a:rPr b="1" lang="fr-FR" sz="1400" spc="-35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kubectl</a:t>
                      </a:r>
                      <a:r>
                        <a:rPr b="1" lang="fr-FR" sz="1400" spc="-3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get</a:t>
                      </a:r>
                      <a:r>
                        <a:rPr b="1" lang="fr-FR" sz="1400" spc="-3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pv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532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db-pv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4"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5756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85"/>
                        </a:lnSpc>
                        <a:buNone/>
                        <a:tabLst>
                          <a:tab algn="l" pos="777960"/>
                        </a:tabLst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NAME</a:t>
                      </a: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	</a:t>
                      </a: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CAPACITY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31680">
                        <a:lnSpc>
                          <a:spcPts val="1664"/>
                        </a:lnSpc>
                        <a:buNone/>
                        <a:tabLst>
                          <a:tab algn="l" pos="777960"/>
                        </a:tabLst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db-pv</a:t>
                      </a: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	</a:t>
                      </a: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1Gi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160200">
                        <a:lnSpc>
                          <a:spcPts val="1485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ACCESS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16020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RWO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53280">
                        <a:lnSpc>
                          <a:spcPts val="150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MODES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160200">
                        <a:lnSpc>
                          <a:spcPts val="1485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RECLAIM</a:t>
                      </a:r>
                      <a:r>
                        <a:rPr b="0" lang="fr-FR" sz="1400" spc="-7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POLICY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16020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Retain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18720">
                      <a:solidFill>
                        <a:srgbClr val="ff0000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93960">
                        <a:lnSpc>
                          <a:spcPts val="1485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STATUS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9396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Available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18720">
                      <a:solidFill>
                        <a:srgbClr val="ff0000"/>
                      </a:solidFill>
                    </a:lnL>
                    <a:lnR w="18720">
                      <a:solidFill>
                        <a:srgbClr val="ff0000"/>
                      </a:solidFill>
                    </a:lnR>
                    <a:lnT w="18720">
                      <a:solidFill>
                        <a:srgbClr val="ff0000"/>
                      </a:solidFill>
                    </a:lnT>
                    <a:lnB w="18720">
                      <a:solidFill>
                        <a:srgbClr val="ff0000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242640">
                        <a:lnSpc>
                          <a:spcPts val="1485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...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24264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...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18720">
                      <a:solidFill>
                        <a:srgbClr val="ff0000"/>
                      </a:solidFill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705" name="object 8" descr=""/>
          <p:cNvPicPr/>
          <p:nvPr/>
        </p:nvPicPr>
        <p:blipFill>
          <a:blip r:embed="rId2"/>
          <a:stretch/>
        </p:blipFill>
        <p:spPr>
          <a:xfrm>
            <a:off x="7052040" y="3170160"/>
            <a:ext cx="79200" cy="302040"/>
          </a:xfrm>
          <a:prstGeom prst="rect">
            <a:avLst/>
          </a:prstGeom>
          <a:ln w="0">
            <a:noFill/>
          </a:ln>
        </p:spPr>
      </p:pic>
      <p:sp>
        <p:nvSpPr>
          <p:cNvPr id="706" name="object 9"/>
          <p:cNvSpPr/>
          <p:nvPr/>
        </p:nvSpPr>
        <p:spPr>
          <a:xfrm>
            <a:off x="6039360" y="3549600"/>
            <a:ext cx="238284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7884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 object hasn’t been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consumed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claim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yet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07" name="object 10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C386E27-979A-47D2-9EC3-CFE0AA985960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PersistentVolumeClaim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Will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bind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PersistentVolume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based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request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709" name="object 3"/>
          <p:cNvGrpSpPr/>
          <p:nvPr/>
        </p:nvGrpSpPr>
        <p:grpSpPr>
          <a:xfrm>
            <a:off x="446040" y="1375560"/>
            <a:ext cx="3196080" cy="2673720"/>
            <a:chOff x="446040" y="1375560"/>
            <a:chExt cx="3196080" cy="2673720"/>
          </a:xfrm>
        </p:grpSpPr>
        <p:pic>
          <p:nvPicPr>
            <p:cNvPr id="710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3196080" cy="26737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11" name="object 5"/>
            <p:cNvSpPr/>
            <p:nvPr/>
          </p:nvSpPr>
          <p:spPr>
            <a:xfrm>
              <a:off x="499680" y="1424160"/>
              <a:ext cx="3081960" cy="2559960"/>
            </a:xfrm>
            <a:custGeom>
              <a:avLst/>
              <a:gdLst/>
              <a:ahLst/>
              <a:rect l="l" t="t" r="r" b="b"/>
              <a:pathLst>
                <a:path w="3084829" h="2562860">
                  <a:moveTo>
                    <a:pt x="3084599" y="2562299"/>
                  </a:moveTo>
                  <a:lnTo>
                    <a:pt x="0" y="2562299"/>
                  </a:lnTo>
                  <a:lnTo>
                    <a:pt x="0" y="0"/>
                  </a:lnTo>
                  <a:lnTo>
                    <a:pt x="3084599" y="0"/>
                  </a:lnTo>
                  <a:lnTo>
                    <a:pt x="3084599" y="25622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12" name="object 6"/>
          <p:cNvSpPr/>
          <p:nvPr/>
        </p:nvSpPr>
        <p:spPr>
          <a:xfrm>
            <a:off x="695520" y="1562040"/>
            <a:ext cx="2697120" cy="20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PersistentVolumeClaim</a:t>
            </a:r>
            <a:endParaRPr b="0" lang="fr-FR" sz="1300" spc="-1" strike="noStrike">
              <a:latin typeface="Arial"/>
            </a:endParaRPr>
          </a:p>
          <a:p>
            <a:pPr marL="20700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0700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db-pvc</a:t>
            </a:r>
            <a:endParaRPr b="0" lang="fr-FR" sz="1300" spc="-1" strike="noStrike">
              <a:latin typeface="Arial"/>
            </a:endParaRPr>
          </a:p>
          <a:p>
            <a:pPr marL="1260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  <a:p>
            <a:pPr marL="20700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accessModes:</a:t>
            </a:r>
            <a:endParaRPr b="0" lang="fr-FR" sz="1300" spc="-1" strike="noStrike">
              <a:latin typeface="Arial"/>
            </a:endParaRPr>
          </a:p>
          <a:p>
            <a:pPr marL="40896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ReadWriteOnce</a:t>
            </a:r>
            <a:endParaRPr b="0" lang="fr-FR" sz="1300" spc="-1" strike="noStrike">
              <a:latin typeface="Arial"/>
            </a:endParaRPr>
          </a:p>
          <a:p>
            <a:pPr marL="408960" indent="-20196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resources:</a:t>
            </a:r>
            <a:endParaRPr b="0" lang="fr-FR" sz="1300" spc="-1" strike="noStrike">
              <a:latin typeface="Arial"/>
            </a:endParaRPr>
          </a:p>
          <a:p>
            <a:pPr marL="408960" indent="-20196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requests:</a:t>
            </a:r>
            <a:endParaRPr b="0" lang="fr-FR" sz="1300" spc="-1" strike="noStrike">
              <a:latin typeface="Arial"/>
            </a:endParaRPr>
          </a:p>
          <a:p>
            <a:pPr marL="606960" indent="-201960">
              <a:lnSpc>
                <a:spcPct val="100000"/>
              </a:lnSpc>
              <a:spcBef>
                <a:spcPts val="11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storage: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256Mi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13" name="object 7"/>
          <p:cNvSpPr/>
          <p:nvPr/>
        </p:nvSpPr>
        <p:spPr>
          <a:xfrm>
            <a:off x="853560" y="3566520"/>
            <a:ext cx="2126880" cy="2059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8280" bIns="0" anchor="t">
            <a:spAutoFit/>
          </a:bodyPr>
          <a:p>
            <a:pPr marL="48960">
              <a:lnSpc>
                <a:spcPct val="100000"/>
              </a:lnSpc>
              <a:spcBef>
                <a:spcPts val="6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storageClassName:</a:t>
            </a:r>
            <a:r>
              <a:rPr b="1" lang="fr-FR" sz="13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""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14" name="object 10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AD4F8A5-A0C1-46A9-A397-445C003F933B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PersistentVolumeClaim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Binds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PersistentVolume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if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requirements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fulfilled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716" name="object 10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DF9B794-BF0B-49B5-A05F-136DEA1D72F3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717" name="" descr=""/>
          <p:cNvPicPr/>
          <p:nvPr/>
        </p:nvPicPr>
        <p:blipFill>
          <a:blip r:embed="rId1"/>
          <a:stretch/>
        </p:blipFill>
        <p:spPr>
          <a:xfrm>
            <a:off x="540000" y="1309680"/>
            <a:ext cx="7918200" cy="2648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Mounting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PersistentVolumeCl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aim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10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Volume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10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persistentVolumeClaim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719" name="object 3"/>
          <p:cNvGrpSpPr/>
          <p:nvPr/>
        </p:nvGrpSpPr>
        <p:grpSpPr>
          <a:xfrm>
            <a:off x="446040" y="1375560"/>
            <a:ext cx="3196080" cy="2745000"/>
            <a:chOff x="446040" y="1375560"/>
            <a:chExt cx="3196080" cy="2745000"/>
          </a:xfrm>
        </p:grpSpPr>
        <p:pic>
          <p:nvPicPr>
            <p:cNvPr id="720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3196080" cy="27450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21" name="object 5"/>
            <p:cNvSpPr/>
            <p:nvPr/>
          </p:nvSpPr>
          <p:spPr>
            <a:xfrm>
              <a:off x="499680" y="1424160"/>
              <a:ext cx="3081960" cy="2631240"/>
            </a:xfrm>
            <a:custGeom>
              <a:avLst/>
              <a:gdLst/>
              <a:ahLst/>
              <a:rect l="l" t="t" r="r" b="b"/>
              <a:pathLst>
                <a:path w="3084829" h="2633979">
                  <a:moveTo>
                    <a:pt x="3084599" y="2633699"/>
                  </a:moveTo>
                  <a:lnTo>
                    <a:pt x="0" y="2633699"/>
                  </a:lnTo>
                  <a:lnTo>
                    <a:pt x="0" y="0"/>
                  </a:lnTo>
                  <a:lnTo>
                    <a:pt x="3084599" y="0"/>
                  </a:lnTo>
                  <a:lnTo>
                    <a:pt x="3084599" y="2633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22" name="object 6"/>
          <p:cNvSpPr/>
          <p:nvPr/>
        </p:nvSpPr>
        <p:spPr>
          <a:xfrm>
            <a:off x="695520" y="1563480"/>
            <a:ext cx="1923840" cy="11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000" spc="-9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000" spc="-58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0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0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0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000" spc="-1" strike="noStrike">
              <a:latin typeface="Arial"/>
            </a:endParaRPr>
          </a:p>
          <a:p>
            <a:pPr marL="161280">
              <a:lnSpc>
                <a:spcPct val="100000"/>
              </a:lnSpc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0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app-consuming-pvc</a:t>
            </a:r>
            <a:endParaRPr b="0" lang="fr-FR" sz="100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000" spc="-1" strike="noStrike">
              <a:latin typeface="Arial"/>
            </a:endParaRPr>
          </a:p>
          <a:p>
            <a:pPr marL="161280">
              <a:lnSpc>
                <a:spcPct val="100000"/>
              </a:lnSpc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volumes:</a:t>
            </a:r>
            <a:endParaRPr b="0" lang="fr-FR" sz="1000" spc="-1" strike="noStrike">
              <a:latin typeface="Arial"/>
            </a:endParaRPr>
          </a:p>
          <a:p>
            <a:pPr marL="317520">
              <a:lnSpc>
                <a:spcPct val="100000"/>
              </a:lnSpc>
              <a:buNone/>
            </a:pPr>
            <a:r>
              <a:rPr b="0" lang="fr-FR" sz="10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000" spc="-1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0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app-storage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723" name="object 7"/>
          <p:cNvSpPr/>
          <p:nvPr/>
        </p:nvSpPr>
        <p:spPr>
          <a:xfrm>
            <a:off x="1104840" y="2641680"/>
            <a:ext cx="1810080" cy="3056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440" bIns="0" anchor="t">
            <a:spAutoFit/>
          </a:bodyPr>
          <a:p>
            <a:pPr marL="197640" indent="-149400">
              <a:lnSpc>
                <a:spcPct val="100000"/>
              </a:lnSpc>
              <a:spcBef>
                <a:spcPts val="11"/>
              </a:spcBef>
              <a:buNone/>
              <a:tabLst>
                <a:tab algn="l" pos="0"/>
              </a:tabLst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persistentVolumeClaim:  claimName:</a:t>
            </a:r>
            <a:r>
              <a:rPr b="1" lang="fr-FR" sz="1000" spc="-3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db-pvc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724" name="object 8"/>
          <p:cNvSpPr/>
          <p:nvPr/>
        </p:nvSpPr>
        <p:spPr>
          <a:xfrm>
            <a:off x="844200" y="2935080"/>
            <a:ext cx="2142720" cy="92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000" spc="-1" strike="noStrike">
              <a:latin typeface="Arial"/>
            </a:endParaRPr>
          </a:p>
          <a:p>
            <a:pPr marL="15840">
              <a:lnSpc>
                <a:spcPct val="100000"/>
              </a:lnSpc>
              <a:buNone/>
            </a:pPr>
            <a:r>
              <a:rPr b="0" lang="fr-FR" sz="10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0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0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alpine</a:t>
            </a:r>
            <a:endParaRPr b="0" lang="fr-FR" sz="1000" spc="-1" strike="noStrike">
              <a:latin typeface="Arial"/>
            </a:endParaRPr>
          </a:p>
          <a:p>
            <a:pPr marL="168120">
              <a:lnSpc>
                <a:spcPct val="100000"/>
              </a:lnSpc>
              <a:buNone/>
            </a:pP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000" spc="-1" strike="noStrike">
              <a:latin typeface="Arial"/>
            </a:endParaRPr>
          </a:p>
          <a:p>
            <a:pPr marL="161280">
              <a:lnSpc>
                <a:spcPct val="100000"/>
              </a:lnSpc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volumeMounts:</a:t>
            </a:r>
            <a:endParaRPr b="0" lang="fr-FR" sz="1000" spc="-1" strike="noStrike">
              <a:latin typeface="Arial"/>
            </a:endParaRPr>
          </a:p>
          <a:p>
            <a:pPr marL="458640" indent="-1378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000" spc="-12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mountPath</a:t>
            </a:r>
            <a:r>
              <a:rPr b="1" lang="fr-FR" sz="1000" spc="-1" strike="noStrike">
                <a:solidFill>
                  <a:srgbClr val="4618a2"/>
                </a:solidFill>
                <a:latin typeface="Courier New"/>
                <a:ea typeface="DejaVu Sans"/>
              </a:rPr>
              <a:t>:</a:t>
            </a:r>
            <a:r>
              <a:rPr b="1" lang="fr-FR" sz="1000" spc="-2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000" spc="-7" strike="noStrike">
                <a:solidFill>
                  <a:srgbClr val="d15e35"/>
                </a:solidFill>
                <a:latin typeface="Courier New"/>
                <a:ea typeface="DejaVu Sans"/>
              </a:rPr>
              <a:t>"/mnt/data" </a:t>
            </a: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000" spc="-2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app-storage</a:t>
            </a:r>
            <a:endParaRPr b="0" lang="fr-FR" sz="1000" spc="-1" strike="noStrike">
              <a:latin typeface="Arial"/>
            </a:endParaRPr>
          </a:p>
        </p:txBody>
      </p:sp>
      <p:grpSp>
        <p:nvGrpSpPr>
          <p:cNvPr id="725" name="object 9"/>
          <p:cNvGrpSpPr/>
          <p:nvPr/>
        </p:nvGrpSpPr>
        <p:grpSpPr>
          <a:xfrm>
            <a:off x="3099240" y="2774880"/>
            <a:ext cx="1306080" cy="79200"/>
            <a:chOff x="3099240" y="2774880"/>
            <a:chExt cx="1306080" cy="79200"/>
          </a:xfrm>
        </p:grpSpPr>
        <p:sp>
          <p:nvSpPr>
            <p:cNvPr id="726" name="object 10"/>
            <p:cNvSpPr/>
            <p:nvPr/>
          </p:nvSpPr>
          <p:spPr>
            <a:xfrm>
              <a:off x="3195360" y="2815920"/>
              <a:ext cx="1209960" cy="360"/>
            </a:xfrm>
            <a:custGeom>
              <a:avLst/>
              <a:gdLst/>
              <a:ahLst/>
              <a:rect l="l" t="t" r="r" b="b"/>
              <a:pathLst>
                <a:path w="1212850" h="0">
                  <a:moveTo>
                    <a:pt x="12122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727" name="object 11" descr=""/>
            <p:cNvPicPr/>
            <p:nvPr/>
          </p:nvPicPr>
          <p:blipFill>
            <a:blip r:embed="rId2"/>
            <a:stretch/>
          </p:blipFill>
          <p:spPr>
            <a:xfrm>
              <a:off x="3099240" y="277488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728" name="object 12"/>
          <p:cNvSpPr/>
          <p:nvPr/>
        </p:nvSpPr>
        <p:spPr>
          <a:xfrm>
            <a:off x="4514400" y="2673720"/>
            <a:ext cx="35838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Reference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Volume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claim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29" name="object 13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286CFB3-1B91-4FD3-A579-C2A30743E4EA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904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Assigning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StorageClass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Dynamic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Provisioning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Creates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PersistentVolume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automatically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via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storage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class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731" name="object 3"/>
          <p:cNvGrpSpPr/>
          <p:nvPr/>
        </p:nvGrpSpPr>
        <p:grpSpPr>
          <a:xfrm>
            <a:off x="466200" y="1977840"/>
            <a:ext cx="3952800" cy="1526760"/>
            <a:chOff x="466200" y="1977840"/>
            <a:chExt cx="3952800" cy="1526760"/>
          </a:xfrm>
        </p:grpSpPr>
        <p:pic>
          <p:nvPicPr>
            <p:cNvPr id="732" name="object 4" descr=""/>
            <p:cNvPicPr/>
            <p:nvPr/>
          </p:nvPicPr>
          <p:blipFill>
            <a:blip r:embed="rId1"/>
            <a:stretch/>
          </p:blipFill>
          <p:spPr>
            <a:xfrm>
              <a:off x="466200" y="1977840"/>
              <a:ext cx="3952800" cy="1526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33" name="object 5"/>
            <p:cNvSpPr/>
            <p:nvPr/>
          </p:nvSpPr>
          <p:spPr>
            <a:xfrm>
              <a:off x="519840" y="2026080"/>
              <a:ext cx="3839040" cy="1412640"/>
            </a:xfrm>
            <a:custGeom>
              <a:avLst/>
              <a:gdLst/>
              <a:ahLst/>
              <a:rect l="l" t="t" r="r" b="b"/>
              <a:pathLst>
                <a:path w="3841750" h="1415414">
                  <a:moveTo>
                    <a:pt x="3841200" y="1415399"/>
                  </a:moveTo>
                  <a:lnTo>
                    <a:pt x="0" y="1415399"/>
                  </a:lnTo>
                  <a:lnTo>
                    <a:pt x="0" y="0"/>
                  </a:lnTo>
                  <a:lnTo>
                    <a:pt x="3841200" y="0"/>
                  </a:lnTo>
                  <a:lnTo>
                    <a:pt x="3841200" y="1415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34" name="object 6"/>
          <p:cNvSpPr/>
          <p:nvPr/>
        </p:nvSpPr>
        <p:spPr>
          <a:xfrm>
            <a:off x="711000" y="2164680"/>
            <a:ext cx="289512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storage.k8s.io/v1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StorageClass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35" name="object 7"/>
          <p:cNvSpPr/>
          <p:nvPr/>
        </p:nvSpPr>
        <p:spPr>
          <a:xfrm>
            <a:off x="905400" y="2764440"/>
            <a:ext cx="5176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36" name="object 8"/>
          <p:cNvSpPr/>
          <p:nvPr/>
        </p:nvSpPr>
        <p:spPr>
          <a:xfrm>
            <a:off x="1464840" y="2809800"/>
            <a:ext cx="846000" cy="1652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7160">
              <a:lnSpc>
                <a:spcPts val="1304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aws-ebs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37" name="object 9"/>
          <p:cNvSpPr/>
          <p:nvPr/>
        </p:nvSpPr>
        <p:spPr>
          <a:xfrm>
            <a:off x="711000" y="2964600"/>
            <a:ext cx="33904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provisioner:</a:t>
            </a:r>
            <a:r>
              <a:rPr b="1" lang="fr-FR" sz="13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kubernetes.io/aws-ebs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738" name="object 10"/>
          <p:cNvGrpSpPr/>
          <p:nvPr/>
        </p:nvGrpSpPr>
        <p:grpSpPr>
          <a:xfrm>
            <a:off x="4762800" y="1395720"/>
            <a:ext cx="3375000" cy="2763000"/>
            <a:chOff x="4762800" y="1395720"/>
            <a:chExt cx="3375000" cy="2763000"/>
          </a:xfrm>
        </p:grpSpPr>
        <p:pic>
          <p:nvPicPr>
            <p:cNvPr id="739" name="object 11" descr=""/>
            <p:cNvPicPr/>
            <p:nvPr/>
          </p:nvPicPr>
          <p:blipFill>
            <a:blip r:embed="rId2"/>
            <a:stretch/>
          </p:blipFill>
          <p:spPr>
            <a:xfrm>
              <a:off x="4762800" y="1395720"/>
              <a:ext cx="3375000" cy="27630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40" name="object 12"/>
            <p:cNvSpPr/>
            <p:nvPr/>
          </p:nvSpPr>
          <p:spPr>
            <a:xfrm>
              <a:off x="4816080" y="1443960"/>
              <a:ext cx="3260880" cy="2648880"/>
            </a:xfrm>
            <a:custGeom>
              <a:avLst/>
              <a:gdLst/>
              <a:ahLst/>
              <a:rect l="l" t="t" r="r" b="b"/>
              <a:pathLst>
                <a:path w="3263900" h="2651760">
                  <a:moveTo>
                    <a:pt x="3263399" y="2651699"/>
                  </a:moveTo>
                  <a:lnTo>
                    <a:pt x="0" y="2651699"/>
                  </a:lnTo>
                  <a:lnTo>
                    <a:pt x="0" y="0"/>
                  </a:lnTo>
                  <a:lnTo>
                    <a:pt x="3263399" y="0"/>
                  </a:lnTo>
                  <a:lnTo>
                    <a:pt x="3263399" y="2651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41" name="object 13"/>
          <p:cNvSpPr/>
          <p:nvPr/>
        </p:nvSpPr>
        <p:spPr>
          <a:xfrm>
            <a:off x="5007240" y="1582560"/>
            <a:ext cx="2697120" cy="20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PersistentVolumeClaim</a:t>
            </a:r>
            <a:endParaRPr b="0" lang="fr-FR" sz="1300" spc="-1" strike="noStrike">
              <a:latin typeface="Arial"/>
            </a:endParaRPr>
          </a:p>
          <a:p>
            <a:pPr marL="20700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0700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pvc</a:t>
            </a:r>
            <a:endParaRPr b="0" lang="fr-FR" sz="1300" spc="-1" strike="noStrike">
              <a:latin typeface="Arial"/>
            </a:endParaRPr>
          </a:p>
          <a:p>
            <a:pPr marL="1260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  <a:p>
            <a:pPr marL="20700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accessModes:</a:t>
            </a:r>
            <a:endParaRPr b="0" lang="fr-FR" sz="1300" spc="-1" strike="noStrike">
              <a:latin typeface="Arial"/>
            </a:endParaRPr>
          </a:p>
          <a:p>
            <a:pPr marL="40896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ReadWriteMany</a:t>
            </a:r>
            <a:endParaRPr b="0" lang="fr-FR" sz="1300" spc="-1" strike="noStrike">
              <a:latin typeface="Arial"/>
            </a:endParaRPr>
          </a:p>
          <a:p>
            <a:pPr marL="40140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resources:</a:t>
            </a:r>
            <a:endParaRPr b="0" lang="fr-FR" sz="1300" spc="-1" strike="noStrike">
              <a:latin typeface="Arial"/>
            </a:endParaRPr>
          </a:p>
          <a:p>
            <a:pPr marL="40140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requests:</a:t>
            </a:r>
            <a:endParaRPr b="0" lang="fr-FR" sz="1300" spc="-1" strike="noStrike">
              <a:latin typeface="Arial"/>
            </a:endParaRPr>
          </a:p>
          <a:p>
            <a:pPr marL="595800" indent="-195120">
              <a:lnSpc>
                <a:spcPct val="100000"/>
              </a:lnSpc>
              <a:spcBef>
                <a:spcPts val="11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storage: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256Mi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42" name="object 14"/>
          <p:cNvSpPr/>
          <p:nvPr/>
        </p:nvSpPr>
        <p:spPr>
          <a:xfrm>
            <a:off x="5201640" y="3582720"/>
            <a:ext cx="17064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storageClassName: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43" name="object 15"/>
          <p:cNvSpPr/>
          <p:nvPr/>
        </p:nvSpPr>
        <p:spPr>
          <a:xfrm>
            <a:off x="6953760" y="3632760"/>
            <a:ext cx="805320" cy="1602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3200">
              <a:lnSpc>
                <a:spcPts val="1264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aws-ebs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44" name="object 16"/>
          <p:cNvSpPr/>
          <p:nvPr/>
        </p:nvSpPr>
        <p:spPr>
          <a:xfrm>
            <a:off x="2414880" y="2886480"/>
            <a:ext cx="2694600" cy="845640"/>
          </a:xfrm>
          <a:custGeom>
            <a:avLst/>
            <a:gdLst/>
            <a:ahLst/>
            <a:rect l="l" t="t" r="r" b="b"/>
            <a:pathLst>
              <a:path w="2697479" h="848360">
                <a:moveTo>
                  <a:pt x="0" y="0"/>
                </a:moveTo>
                <a:lnTo>
                  <a:pt x="1348499" y="0"/>
                </a:lnTo>
                <a:lnTo>
                  <a:pt x="1348499" y="848100"/>
                </a:lnTo>
                <a:lnTo>
                  <a:pt x="2696999" y="848100"/>
                </a:lnTo>
              </a:path>
            </a:pathLst>
          </a:custGeom>
          <a:noFill/>
          <a:ln w="19049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5" name="object 17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FB99DA9-6D42-4B16-BD6B-438A7144D171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Dynamic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Creation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of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PersistentVolume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Adds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hash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747" name="object 3"/>
          <p:cNvGrpSpPr/>
          <p:nvPr/>
        </p:nvGrpSpPr>
        <p:grpSpPr>
          <a:xfrm>
            <a:off x="446040" y="1375560"/>
            <a:ext cx="8368920" cy="1779480"/>
            <a:chOff x="446040" y="1375560"/>
            <a:chExt cx="8368920" cy="1779480"/>
          </a:xfrm>
        </p:grpSpPr>
        <p:pic>
          <p:nvPicPr>
            <p:cNvPr id="748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8368920" cy="1779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49" name="object 5"/>
            <p:cNvSpPr/>
            <p:nvPr/>
          </p:nvSpPr>
          <p:spPr>
            <a:xfrm>
              <a:off x="499680" y="1424160"/>
              <a:ext cx="8254800" cy="1665360"/>
            </a:xfrm>
            <a:custGeom>
              <a:avLst/>
              <a:gdLst/>
              <a:ahLst/>
              <a:rect l="l" t="t" r="r" b="b"/>
              <a:pathLst>
                <a:path w="8257540" h="1668145">
                  <a:moveTo>
                    <a:pt x="8257499" y="1667999"/>
                  </a:moveTo>
                  <a:lnTo>
                    <a:pt x="0" y="1667999"/>
                  </a:lnTo>
                  <a:lnTo>
                    <a:pt x="0" y="0"/>
                  </a:lnTo>
                  <a:lnTo>
                    <a:pt x="8257499" y="0"/>
                  </a:lnTo>
                  <a:lnTo>
                    <a:pt x="8257499" y="16679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50" name="object 6"/>
          <p:cNvSpPr/>
          <p:nvPr/>
        </p:nvSpPr>
        <p:spPr>
          <a:xfrm>
            <a:off x="663120" y="1561320"/>
            <a:ext cx="21560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pv,pvc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51" name="object 7"/>
          <p:cNvSpPr/>
          <p:nvPr/>
        </p:nvSpPr>
        <p:spPr>
          <a:xfrm>
            <a:off x="663120" y="1771200"/>
            <a:ext cx="9828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  <a:tabLst>
                <a:tab algn="l" pos="65232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52" name="object 8"/>
          <p:cNvSpPr/>
          <p:nvPr/>
        </p:nvSpPr>
        <p:spPr>
          <a:xfrm>
            <a:off x="663120" y="1980720"/>
            <a:ext cx="6422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persistentvolume/db-pvc-b820b919-f7f7-4c74-9212-ef259d421734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53" name="object 9"/>
          <p:cNvSpPr/>
          <p:nvPr/>
        </p:nvSpPr>
        <p:spPr>
          <a:xfrm>
            <a:off x="7276320" y="1771200"/>
            <a:ext cx="13039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332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STORAGECLASS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aws-ebs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54" name="object 10"/>
          <p:cNvSpPr/>
          <p:nvPr/>
        </p:nvSpPr>
        <p:spPr>
          <a:xfrm>
            <a:off x="663120" y="2399760"/>
            <a:ext cx="300960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  <a:tabLst>
                <a:tab algn="l" pos="65232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65232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persistentvolumeclaim/db-pvc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55" name="object 11"/>
          <p:cNvSpPr/>
          <p:nvPr/>
        </p:nvSpPr>
        <p:spPr>
          <a:xfrm>
            <a:off x="7276680" y="2399760"/>
            <a:ext cx="130320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STORAGECLASS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aws-ebs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756" name="object 12"/>
          <p:cNvGrpSpPr/>
          <p:nvPr/>
        </p:nvGrpSpPr>
        <p:grpSpPr>
          <a:xfrm>
            <a:off x="2437920" y="1977120"/>
            <a:ext cx="4727880" cy="1395000"/>
            <a:chOff x="2437920" y="1977120"/>
            <a:chExt cx="4727880" cy="1395000"/>
          </a:xfrm>
        </p:grpSpPr>
        <p:sp>
          <p:nvSpPr>
            <p:cNvPr id="757" name="object 13"/>
            <p:cNvSpPr/>
            <p:nvPr/>
          </p:nvSpPr>
          <p:spPr>
            <a:xfrm>
              <a:off x="2437920" y="1977120"/>
              <a:ext cx="4727880" cy="271440"/>
            </a:xfrm>
            <a:custGeom>
              <a:avLst/>
              <a:gdLst/>
              <a:ahLst/>
              <a:rect l="l" t="t" r="r" b="b"/>
              <a:pathLst>
                <a:path w="4730750" h="274319">
                  <a:moveTo>
                    <a:pt x="0" y="0"/>
                  </a:moveTo>
                  <a:lnTo>
                    <a:pt x="4730699" y="0"/>
                  </a:lnTo>
                  <a:lnTo>
                    <a:pt x="4730699" y="274199"/>
                  </a:lnTo>
                  <a:lnTo>
                    <a:pt x="0" y="2741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58" name="object 14"/>
            <p:cNvSpPr/>
            <p:nvPr/>
          </p:nvSpPr>
          <p:spPr>
            <a:xfrm>
              <a:off x="4645440" y="2524680"/>
              <a:ext cx="360" cy="847440"/>
            </a:xfrm>
            <a:custGeom>
              <a:avLst/>
              <a:gdLst/>
              <a:ahLst/>
              <a:rect l="l" t="t" r="r" b="b"/>
              <a:pathLst>
                <a:path w="0" h="850264">
                  <a:moveTo>
                    <a:pt x="0" y="8498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759" name="object 15" descr=""/>
            <p:cNvPicPr/>
            <p:nvPr/>
          </p:nvPicPr>
          <p:blipFill>
            <a:blip r:embed="rId2"/>
            <a:stretch/>
          </p:blipFill>
          <p:spPr>
            <a:xfrm>
              <a:off x="4604400" y="242856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760" name="object 16"/>
          <p:cNvSpPr/>
          <p:nvPr/>
        </p:nvSpPr>
        <p:spPr>
          <a:xfrm>
            <a:off x="3876840" y="3504960"/>
            <a:ext cx="188136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06200" indent="-9396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Created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storage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class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provisioner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61" name="object 17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67E8097-7AA9-4DE6-8B3C-6691DABEE4EC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04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763" name="object 3"/>
          <p:cNvSpPr/>
          <p:nvPr/>
        </p:nvSpPr>
        <p:spPr>
          <a:xfrm>
            <a:off x="494280" y="1323360"/>
            <a:ext cx="454392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Creating and using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 </a:t>
            </a:r>
            <a:r>
              <a:rPr b="0" lang="fr-FR" sz="2900" spc="-15" strike="noStrike">
                <a:solidFill>
                  <a:srgbClr val="000000"/>
                </a:solidFill>
                <a:latin typeface="Arial MT"/>
                <a:ea typeface="DejaVu Sans"/>
              </a:rPr>
              <a:t>PersistentVolume</a:t>
            </a:r>
            <a:r>
              <a:rPr b="0" lang="fr-FR" sz="29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using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static</a:t>
            </a:r>
            <a:r>
              <a:rPr b="0" lang="fr-FR" sz="29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provisioning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4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765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766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767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7963920" cy="138204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18" strike="noStrike">
                <a:solidFill>
                  <a:srgbClr val="ffffff"/>
                </a:solidFill>
                <a:latin typeface="Tahoma"/>
              </a:rPr>
              <a:t>Multi-Container</a:t>
            </a:r>
            <a:r>
              <a:rPr b="1" lang="fr-FR" sz="3600" spc="-225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24" strike="noStrike">
                <a:solidFill>
                  <a:srgbClr val="ffffff"/>
                </a:solidFill>
                <a:latin typeface="Tahoma"/>
              </a:rPr>
              <a:t>Pods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7" strike="noStrike">
                <a:solidFill>
                  <a:srgbClr val="ffffff"/>
                </a:solidFill>
                <a:latin typeface="Lucida Sans Unicode"/>
              </a:rPr>
              <a:t>Defining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9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8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2" strike="noStrike">
                <a:solidFill>
                  <a:srgbClr val="ffffff"/>
                </a:solidFill>
                <a:latin typeface="Lucida Sans Unicode"/>
              </a:rPr>
              <a:t>interacting</a:t>
            </a:r>
            <a:r>
              <a:rPr b="0" lang="fr-FR" sz="1800" spc="-8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with</a:t>
            </a:r>
            <a:r>
              <a:rPr b="0" lang="fr-FR" sz="1800" spc="-8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multiple</a:t>
            </a:r>
            <a:r>
              <a:rPr b="0" lang="fr-FR" sz="1800" spc="-8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containers,</a:t>
            </a:r>
            <a:r>
              <a:rPr b="0" lang="fr-FR" sz="1800" spc="-8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4" strike="noStrike">
                <a:solidFill>
                  <a:srgbClr val="ffffff"/>
                </a:solidFill>
                <a:latin typeface="Lucida Sans Unicode"/>
              </a:rPr>
              <a:t>design</a:t>
            </a:r>
            <a:r>
              <a:rPr b="0" lang="fr-FR" sz="1800" spc="-8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4" strike="noStrike">
                <a:solidFill>
                  <a:srgbClr val="ffffff"/>
                </a:solidFill>
                <a:latin typeface="Lucida Sans Unicode"/>
              </a:rPr>
              <a:t>patterns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Multiple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Containers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There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warranted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cases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wanting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more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than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single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769" name="object 4"/>
          <p:cNvSpPr/>
          <p:nvPr/>
        </p:nvSpPr>
        <p:spPr>
          <a:xfrm>
            <a:off x="8701560" y="4908600"/>
            <a:ext cx="2030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9CDCA1B-D486-41CA-8EF0-6641BFE39AA2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770" name="object 3"/>
          <p:cNvSpPr/>
          <p:nvPr/>
        </p:nvSpPr>
        <p:spPr>
          <a:xfrm>
            <a:off x="600120" y="1360440"/>
            <a:ext cx="8399160" cy="22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general guideline is to operate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microservice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single container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 Pod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which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promotes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decentralized,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decoupled, 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distributed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architecture.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Specific use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cases call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running multiple containers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 Pod. For example,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 may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want to provide helper functionality 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alongside the application. In other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cases, you may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want to initialize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by executing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setup scripts, commands,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any other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kind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preconfiguration procedure before the application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 should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start.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9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Design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Patterns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Emerged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requirements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772" name="object 3" descr=""/>
          <p:cNvPicPr/>
          <p:nvPr/>
        </p:nvPicPr>
        <p:blipFill>
          <a:blip r:embed="rId1"/>
          <a:stretch/>
        </p:blipFill>
        <p:spPr>
          <a:xfrm>
            <a:off x="506880" y="3209760"/>
            <a:ext cx="146520" cy="344160"/>
          </a:xfrm>
          <a:prstGeom prst="rect">
            <a:avLst/>
          </a:prstGeom>
          <a:ln w="0">
            <a:noFill/>
          </a:ln>
        </p:spPr>
      </p:pic>
      <p:pic>
        <p:nvPicPr>
          <p:cNvPr id="773" name="object 4" descr=""/>
          <p:cNvPicPr/>
          <p:nvPr/>
        </p:nvPicPr>
        <p:blipFill>
          <a:blip r:embed="rId2"/>
          <a:stretch/>
        </p:blipFill>
        <p:spPr>
          <a:xfrm>
            <a:off x="4615560" y="1436040"/>
            <a:ext cx="146520" cy="344160"/>
          </a:xfrm>
          <a:prstGeom prst="rect">
            <a:avLst/>
          </a:prstGeom>
          <a:ln w="0">
            <a:noFill/>
          </a:ln>
        </p:spPr>
      </p:pic>
      <p:pic>
        <p:nvPicPr>
          <p:cNvPr id="774" name="object 5" descr=""/>
          <p:cNvPicPr/>
          <p:nvPr/>
        </p:nvPicPr>
        <p:blipFill>
          <a:blip r:embed="rId3"/>
          <a:stretch/>
        </p:blipFill>
        <p:spPr>
          <a:xfrm>
            <a:off x="506880" y="1434600"/>
            <a:ext cx="146520" cy="344160"/>
          </a:xfrm>
          <a:prstGeom prst="rect">
            <a:avLst/>
          </a:prstGeom>
          <a:ln w="0">
            <a:noFill/>
          </a:ln>
        </p:spPr>
      </p:pic>
      <p:sp>
        <p:nvSpPr>
          <p:cNvPr id="775" name="object 6"/>
          <p:cNvSpPr/>
          <p:nvPr/>
        </p:nvSpPr>
        <p:spPr>
          <a:xfrm>
            <a:off x="760680" y="1383840"/>
            <a:ext cx="3917520" cy="36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Init</a:t>
            </a:r>
            <a:r>
              <a:rPr b="1" lang="fr-FR" sz="1600" spc="-5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Provide initialization logic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concerns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 be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run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before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main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even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starts.</a:t>
            </a:r>
            <a:endParaRPr b="0" lang="fr-FR" sz="14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Example: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Downloading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files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required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332640"/>
              </a:tabLst>
            </a:pPr>
            <a:endParaRPr b="0" lang="fr-FR" sz="15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32640"/>
              </a:tabLst>
            </a:pPr>
            <a:endParaRPr b="0" lang="fr-FR" sz="125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  <a:tabLst>
                <a:tab algn="l" pos="332640"/>
              </a:tabLst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Adapter</a:t>
            </a:r>
            <a:endParaRPr b="0" lang="fr-FR" sz="1600" spc="-1" strike="noStrike">
              <a:latin typeface="Arial"/>
            </a:endParaRPr>
          </a:p>
          <a:p>
            <a:pPr marL="355680" indent="-222120">
              <a:lnSpc>
                <a:spcPct val="116000"/>
              </a:lnSpc>
              <a:spcBef>
                <a:spcPts val="1046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Transforms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 output produced by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 to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make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it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consumable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 the </a:t>
            </a:r>
            <a:r>
              <a:rPr b="0" lang="fr-FR" sz="1400" spc="-38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format needed by another part of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system.</a:t>
            </a:r>
            <a:endParaRPr b="0" lang="fr-FR" sz="1400" spc="-1" strike="noStrike">
              <a:latin typeface="Arial"/>
            </a:endParaRPr>
          </a:p>
          <a:p>
            <a:pPr marL="355680" indent="-22212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Example: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Massaging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log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data.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76" name="PlaceHolder 2"/>
          <p:cNvSpPr>
            <a:spLocks noGrp="1"/>
          </p:cNvSpPr>
          <p:nvPr>
            <p:ph/>
          </p:nvPr>
        </p:nvSpPr>
        <p:spPr>
          <a:xfrm>
            <a:off x="4869360" y="1371240"/>
            <a:ext cx="4128840" cy="415908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</a:rPr>
              <a:t>Sidecar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sidecars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are not part of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main 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</a:rPr>
              <a:t>traffic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or API of the primary application and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operate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</a:rPr>
              <a:t>asynchronously.</a:t>
            </a:r>
            <a:endParaRPr b="0" lang="fr-FR" sz="1400" spc="-1" strike="noStrike">
              <a:latin typeface="Arial"/>
            </a:endParaRPr>
          </a:p>
          <a:p>
            <a:pPr marL="332640" indent="-19944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Example: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</a:rPr>
              <a:t>Watcher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capabilities.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332640"/>
              </a:tabLst>
            </a:pPr>
            <a:endParaRPr b="0" lang="fr-FR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332640"/>
              </a:tabLst>
            </a:pPr>
            <a:endParaRPr b="0" lang="fr-FR" sz="135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  <a:tabLst>
                <a:tab algn="l" pos="332640"/>
              </a:tabLst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</a:rPr>
              <a:t>Ambassador</a:t>
            </a:r>
            <a:endParaRPr b="0" lang="fr-FR" sz="1600" spc="-1" strike="noStrike">
              <a:latin typeface="Arial"/>
            </a:endParaRPr>
          </a:p>
          <a:p>
            <a:pPr marL="355680" indent="-222120" algn="just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Provides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a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proxy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for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communicating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with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external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services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to hide and/or abstract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the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</a:rPr>
              <a:t> complexity.</a:t>
            </a:r>
            <a:endParaRPr b="0" lang="fr-FR" sz="1400" spc="-1" strike="noStrike">
              <a:latin typeface="Arial"/>
            </a:endParaRPr>
          </a:p>
          <a:p>
            <a:pPr marL="355680" indent="-222120" algn="just">
              <a:lnSpc>
                <a:spcPct val="116000"/>
              </a:lnSpc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Example: Rate-limiting functionality for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HTTP(S)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calls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to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an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external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service.</a:t>
            </a:r>
            <a:endParaRPr b="0" lang="fr-FR" sz="1400" spc="-1" strike="noStrike">
              <a:latin typeface="Arial"/>
            </a:endParaRPr>
          </a:p>
        </p:txBody>
      </p:sp>
      <p:pic>
        <p:nvPicPr>
          <p:cNvPr id="777" name="object 8" descr=""/>
          <p:cNvPicPr/>
          <p:nvPr/>
        </p:nvPicPr>
        <p:blipFill>
          <a:blip r:embed="rId4"/>
          <a:stretch/>
        </p:blipFill>
        <p:spPr>
          <a:xfrm>
            <a:off x="4615560" y="3209760"/>
            <a:ext cx="146520" cy="344160"/>
          </a:xfrm>
          <a:prstGeom prst="rect">
            <a:avLst/>
          </a:prstGeom>
          <a:ln w="0">
            <a:noFill/>
          </a:ln>
        </p:spPr>
      </p:pic>
      <p:sp>
        <p:nvSpPr>
          <p:cNvPr id="778" name="object 9"/>
          <p:cNvSpPr/>
          <p:nvPr/>
        </p:nvSpPr>
        <p:spPr>
          <a:xfrm>
            <a:off x="8701560" y="4908600"/>
            <a:ext cx="2030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3B7DBE6-ADB0-4B5C-9054-C8E872CC5FE9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Init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97" strike="noStrike">
                <a:solidFill>
                  <a:srgbClr val="000000"/>
                </a:solidFill>
                <a:latin typeface="Tahoma"/>
              </a:rPr>
              <a:t>Life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5" strike="noStrike">
                <a:solidFill>
                  <a:srgbClr val="000000"/>
                </a:solidFill>
                <a:latin typeface="Tahoma"/>
              </a:rPr>
              <a:t>Cycle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Initialization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logic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before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main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containers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780" name="object 3" descr=""/>
          <p:cNvPicPr/>
          <p:nvPr/>
        </p:nvPicPr>
        <p:blipFill>
          <a:blip r:embed="rId1"/>
          <a:stretch/>
        </p:blipFill>
        <p:spPr>
          <a:xfrm>
            <a:off x="1309680" y="1781640"/>
            <a:ext cx="6521760" cy="2013480"/>
          </a:xfrm>
          <a:prstGeom prst="rect">
            <a:avLst/>
          </a:prstGeom>
          <a:ln w="0">
            <a:noFill/>
          </a:ln>
        </p:spPr>
      </p:pic>
      <p:sp>
        <p:nvSpPr>
          <p:cNvPr id="781" name="object 4"/>
          <p:cNvSpPr/>
          <p:nvPr/>
        </p:nvSpPr>
        <p:spPr>
          <a:xfrm>
            <a:off x="8701560" y="4908600"/>
            <a:ext cx="2030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AED13D7-7640-4D2E-936F-A91BD26B0875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14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Init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Declared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adjacent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main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containers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spec.initContainers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783" name="object 10"/>
          <p:cNvSpPr/>
          <p:nvPr/>
        </p:nvSpPr>
        <p:spPr>
          <a:xfrm>
            <a:off x="8701560" y="4908600"/>
            <a:ext cx="2030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9554C32-C560-4A4D-85BC-8B4C028E337E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784" name="" descr=""/>
          <p:cNvPicPr/>
          <p:nvPr/>
        </p:nvPicPr>
        <p:blipFill>
          <a:blip r:embed="rId1"/>
          <a:stretch/>
        </p:blipFill>
        <p:spPr>
          <a:xfrm>
            <a:off x="499680" y="1255680"/>
            <a:ext cx="7346160" cy="2876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Init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Init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execution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renders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status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column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786" name="object 3"/>
          <p:cNvGrpSpPr/>
          <p:nvPr/>
        </p:nvGrpSpPr>
        <p:grpSpPr>
          <a:xfrm>
            <a:off x="476640" y="1447560"/>
            <a:ext cx="5636880" cy="2539440"/>
            <a:chOff x="476640" y="1447560"/>
            <a:chExt cx="5636880" cy="2539440"/>
          </a:xfrm>
        </p:grpSpPr>
        <p:pic>
          <p:nvPicPr>
            <p:cNvPr id="787" name="object 4" descr=""/>
            <p:cNvPicPr/>
            <p:nvPr/>
          </p:nvPicPr>
          <p:blipFill>
            <a:blip r:embed="rId1"/>
            <a:stretch/>
          </p:blipFill>
          <p:spPr>
            <a:xfrm>
              <a:off x="476640" y="1447560"/>
              <a:ext cx="5636880" cy="2539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88" name="object 5"/>
            <p:cNvSpPr/>
            <p:nvPr/>
          </p:nvSpPr>
          <p:spPr>
            <a:xfrm>
              <a:off x="530280" y="1496160"/>
              <a:ext cx="5522760" cy="2425320"/>
            </a:xfrm>
            <a:custGeom>
              <a:avLst/>
              <a:gdLst/>
              <a:ahLst/>
              <a:rect l="l" t="t" r="r" b="b"/>
              <a:pathLst>
                <a:path w="5525770" h="2428240">
                  <a:moveTo>
                    <a:pt x="5525399" y="2427899"/>
                  </a:moveTo>
                  <a:lnTo>
                    <a:pt x="0" y="2427899"/>
                  </a:lnTo>
                  <a:lnTo>
                    <a:pt x="0" y="0"/>
                  </a:lnTo>
                  <a:lnTo>
                    <a:pt x="5525399" y="0"/>
                  </a:lnTo>
                  <a:lnTo>
                    <a:pt x="5525399" y="2427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89" name="object 6"/>
          <p:cNvSpPr/>
          <p:nvPr/>
        </p:nvSpPr>
        <p:spPr>
          <a:xfrm>
            <a:off x="693360" y="1561320"/>
            <a:ext cx="322308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init.yaml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pod/business-app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business-app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90" name="object 7"/>
          <p:cNvSpPr/>
          <p:nvPr/>
        </p:nvSpPr>
        <p:spPr>
          <a:xfrm>
            <a:off x="2293560" y="2399760"/>
            <a:ext cx="1515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  <a:tabLst>
                <a:tab algn="l" pos="8654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91" name="object 8"/>
          <p:cNvSpPr/>
          <p:nvPr/>
        </p:nvSpPr>
        <p:spPr>
          <a:xfrm>
            <a:off x="4320360" y="2399760"/>
            <a:ext cx="8758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92" name="object 9"/>
          <p:cNvSpPr/>
          <p:nvPr/>
        </p:nvSpPr>
        <p:spPr>
          <a:xfrm>
            <a:off x="693360" y="2399760"/>
            <a:ext cx="1302840" cy="66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 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599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business-app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93" name="object 10"/>
          <p:cNvSpPr/>
          <p:nvPr/>
        </p:nvSpPr>
        <p:spPr>
          <a:xfrm>
            <a:off x="2293560" y="2818800"/>
            <a:ext cx="23857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  <a:tabLst>
                <a:tab algn="l" pos="865440"/>
                <a:tab algn="l" pos="20390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0/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Init:0/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94" name="object 11"/>
          <p:cNvSpPr/>
          <p:nvPr/>
        </p:nvSpPr>
        <p:spPr>
          <a:xfrm>
            <a:off x="5493600" y="2818800"/>
            <a:ext cx="2358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2s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95" name="object 12"/>
          <p:cNvSpPr/>
          <p:nvPr/>
        </p:nvSpPr>
        <p:spPr>
          <a:xfrm>
            <a:off x="693360" y="3237840"/>
            <a:ext cx="32230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business-app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96" name="object 13"/>
          <p:cNvSpPr/>
          <p:nvPr/>
        </p:nvSpPr>
        <p:spPr>
          <a:xfrm>
            <a:off x="693360" y="3447360"/>
            <a:ext cx="130284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business-app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97" name="object 14"/>
          <p:cNvSpPr/>
          <p:nvPr/>
        </p:nvSpPr>
        <p:spPr>
          <a:xfrm>
            <a:off x="2293560" y="3447360"/>
            <a:ext cx="5565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1/1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98" name="object 15"/>
          <p:cNvSpPr/>
          <p:nvPr/>
        </p:nvSpPr>
        <p:spPr>
          <a:xfrm>
            <a:off x="3146760" y="3447360"/>
            <a:ext cx="7693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99" name="object 16"/>
          <p:cNvSpPr/>
          <p:nvPr/>
        </p:nvSpPr>
        <p:spPr>
          <a:xfrm>
            <a:off x="4213440" y="3447360"/>
            <a:ext cx="151596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  <a:tabLst>
                <a:tab algn="l" pos="11854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118548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8s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800" name="object 17"/>
          <p:cNvSpPr/>
          <p:nvPr/>
        </p:nvSpPr>
        <p:spPr>
          <a:xfrm>
            <a:off x="3114720" y="2417760"/>
            <a:ext cx="944640" cy="455040"/>
          </a:xfrm>
          <a:custGeom>
            <a:avLst/>
            <a:gdLst/>
            <a:ahLst/>
            <a:rect l="l" t="t" r="r" b="b"/>
            <a:pathLst>
              <a:path w="947420" h="457835">
                <a:moveTo>
                  <a:pt x="0" y="0"/>
                </a:moveTo>
                <a:lnTo>
                  <a:pt x="947099" y="0"/>
                </a:lnTo>
                <a:lnTo>
                  <a:pt x="947099" y="457799"/>
                </a:lnTo>
                <a:lnTo>
                  <a:pt x="0" y="457799"/>
                </a:lnTo>
                <a:lnTo>
                  <a:pt x="0" y="0"/>
                </a:lnTo>
                <a:close/>
              </a:path>
            </a:pathLst>
          </a:custGeom>
          <a:noFill/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1" name="object 18"/>
          <p:cNvSpPr/>
          <p:nvPr/>
        </p:nvSpPr>
        <p:spPr>
          <a:xfrm>
            <a:off x="8701560" y="4908600"/>
            <a:ext cx="2030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8F20DF1-A4BB-42EF-9FB4-EEDFD4889FF3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Interacting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kubectl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--containe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r</a:t>
            </a:r>
            <a:r>
              <a:rPr b="0" lang="fr-FR" sz="1600" spc="-701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-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c</a:t>
            </a:r>
            <a:r>
              <a:rPr b="0" lang="fr-FR" sz="1600" spc="-565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CLI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803" name="object 3" descr=""/>
          <p:cNvPicPr/>
          <p:nvPr/>
        </p:nvPicPr>
        <p:blipFill>
          <a:blip r:embed="rId1"/>
          <a:stretch/>
        </p:blipFill>
        <p:spPr>
          <a:xfrm>
            <a:off x="629640" y="2045160"/>
            <a:ext cx="7695000" cy="1475280"/>
          </a:xfrm>
          <a:prstGeom prst="rect">
            <a:avLst/>
          </a:prstGeom>
          <a:ln w="0">
            <a:noFill/>
          </a:ln>
        </p:spPr>
      </p:pic>
      <p:sp>
        <p:nvSpPr>
          <p:cNvPr id="804" name="object 4"/>
          <p:cNvSpPr/>
          <p:nvPr/>
        </p:nvSpPr>
        <p:spPr>
          <a:xfrm>
            <a:off x="8701560" y="4908600"/>
            <a:ext cx="2030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5077DD9-97C0-4814-9916-65B35FB6F810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Shelling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into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Defaults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main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explicit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806" name="object 3"/>
          <p:cNvGrpSpPr/>
          <p:nvPr/>
        </p:nvGrpSpPr>
        <p:grpSpPr>
          <a:xfrm>
            <a:off x="446040" y="1375560"/>
            <a:ext cx="6496200" cy="2000520"/>
            <a:chOff x="446040" y="1375560"/>
            <a:chExt cx="6496200" cy="2000520"/>
          </a:xfrm>
        </p:grpSpPr>
        <p:pic>
          <p:nvPicPr>
            <p:cNvPr id="807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6496200" cy="20005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08" name="object 5"/>
            <p:cNvSpPr/>
            <p:nvPr/>
          </p:nvSpPr>
          <p:spPr>
            <a:xfrm>
              <a:off x="499680" y="1424160"/>
              <a:ext cx="6382080" cy="1886400"/>
            </a:xfrm>
            <a:custGeom>
              <a:avLst/>
              <a:gdLst/>
              <a:ahLst/>
              <a:rect l="l" t="t" r="r" b="b"/>
              <a:pathLst>
                <a:path w="6384925" h="1889125">
                  <a:moveTo>
                    <a:pt x="6384899" y="1889099"/>
                  </a:moveTo>
                  <a:lnTo>
                    <a:pt x="0" y="1889099"/>
                  </a:lnTo>
                  <a:lnTo>
                    <a:pt x="0" y="0"/>
                  </a:lnTo>
                  <a:lnTo>
                    <a:pt x="6384899" y="0"/>
                  </a:lnTo>
                  <a:lnTo>
                    <a:pt x="6384899" y="18890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09" name="object 6"/>
          <p:cNvSpPr/>
          <p:nvPr/>
        </p:nvSpPr>
        <p:spPr>
          <a:xfrm>
            <a:off x="2663280" y="1566720"/>
            <a:ext cx="1485720" cy="2196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6840" bIns="0" anchor="t">
            <a:spAutoFit/>
          </a:bodyPr>
          <a:p>
            <a:pPr marL="38880">
              <a:lnSpc>
                <a:spcPct val="100000"/>
              </a:lnSpc>
              <a:spcBef>
                <a:spcPts val="54"/>
              </a:spcBef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-c</a:t>
            </a:r>
            <a:r>
              <a:rPr b="1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web-server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810" name="object 10"/>
          <p:cNvSpPr/>
          <p:nvPr/>
        </p:nvSpPr>
        <p:spPr>
          <a:xfrm>
            <a:off x="8701560" y="4908600"/>
            <a:ext cx="2030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61BDF34-72F0-454A-AFB9-23597E344B1A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811" name="object 7"/>
          <p:cNvSpPr/>
          <p:nvPr/>
        </p:nvSpPr>
        <p:spPr>
          <a:xfrm>
            <a:off x="4195800" y="1561320"/>
            <a:ext cx="24634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business-app</a:t>
            </a:r>
            <a:r>
              <a:rPr b="1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812" name="object 8"/>
          <p:cNvSpPr/>
          <p:nvPr/>
        </p:nvSpPr>
        <p:spPr>
          <a:xfrm>
            <a:off x="675720" y="1561320"/>
            <a:ext cx="19299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813" name="object 9"/>
          <p:cNvSpPr/>
          <p:nvPr/>
        </p:nvSpPr>
        <p:spPr>
          <a:xfrm>
            <a:off x="675720" y="2190240"/>
            <a:ext cx="5802480" cy="86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business-app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Defaulted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container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"web-server"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out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of: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web-server,</a:t>
            </a:r>
            <a:r>
              <a:rPr b="0" lang="fr-FR" sz="1400" spc="-6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app-initializer (init) </a:t>
            </a:r>
            <a:r>
              <a:rPr b="0" lang="fr-FR" sz="1400" spc="-83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922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More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One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Application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Add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another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under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spec.containers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815" name="object 10"/>
          <p:cNvSpPr/>
          <p:nvPr/>
        </p:nvSpPr>
        <p:spPr>
          <a:xfrm>
            <a:off x="8701560" y="4908600"/>
            <a:ext cx="228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7414CDE-8710-48B2-B068-E28D1F300947}" type="slidenum">
              <a:rPr b="0" lang="fr-FR" sz="800" spc="-100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816" name="" descr=""/>
          <p:cNvPicPr/>
          <p:nvPr/>
        </p:nvPicPr>
        <p:blipFill>
          <a:blip r:embed="rId1"/>
          <a:stretch/>
        </p:blipFill>
        <p:spPr>
          <a:xfrm>
            <a:off x="494280" y="1467000"/>
            <a:ext cx="7091280" cy="2491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922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Multiple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Application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Containers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ready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column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indicates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number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started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containers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818" name="object 7"/>
          <p:cNvSpPr/>
          <p:nvPr/>
        </p:nvSpPr>
        <p:spPr>
          <a:xfrm>
            <a:off x="8701560" y="4908600"/>
            <a:ext cx="228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F5830F3-3A63-4C8A-8519-22B07EEEC4DA}" type="slidenum">
              <a:rPr b="0" lang="fr-FR" sz="800" spc="-100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819" name="" descr=""/>
          <p:cNvPicPr/>
          <p:nvPr/>
        </p:nvPicPr>
        <p:blipFill>
          <a:blip r:embed="rId1"/>
          <a:stretch/>
        </p:blipFill>
        <p:spPr>
          <a:xfrm>
            <a:off x="540000" y="1378080"/>
            <a:ext cx="6941520" cy="20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Sidecar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Pattern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"Send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notification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error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log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entries"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821" name="object 3" descr=""/>
          <p:cNvPicPr/>
          <p:nvPr/>
        </p:nvPicPr>
        <p:blipFill>
          <a:blip r:embed="rId1"/>
          <a:stretch/>
        </p:blipFill>
        <p:spPr>
          <a:xfrm>
            <a:off x="686880" y="1781640"/>
            <a:ext cx="7680240" cy="2340000"/>
          </a:xfrm>
          <a:prstGeom prst="rect">
            <a:avLst/>
          </a:prstGeom>
          <a:ln w="0">
            <a:noFill/>
          </a:ln>
        </p:spPr>
      </p:pic>
      <p:sp>
        <p:nvSpPr>
          <p:cNvPr id="822" name="object 4"/>
          <p:cNvSpPr/>
          <p:nvPr/>
        </p:nvSpPr>
        <p:spPr>
          <a:xfrm>
            <a:off x="8701560" y="4908600"/>
            <a:ext cx="228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CED6D5C-A047-4F33-B910-5934BF3AE220}" type="slidenum">
              <a:rPr b="0" lang="fr-FR" sz="800" spc="-100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Adapter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Pattern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"Transform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log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data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JSON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make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it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consumable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external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system"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824" name="object 3" descr=""/>
          <p:cNvPicPr/>
          <p:nvPr/>
        </p:nvPicPr>
        <p:blipFill>
          <a:blip r:embed="rId1"/>
          <a:stretch/>
        </p:blipFill>
        <p:spPr>
          <a:xfrm>
            <a:off x="1019880" y="1733760"/>
            <a:ext cx="7014240" cy="2423520"/>
          </a:xfrm>
          <a:prstGeom prst="rect">
            <a:avLst/>
          </a:prstGeom>
          <a:ln w="0">
            <a:noFill/>
          </a:ln>
        </p:spPr>
      </p:pic>
      <p:sp>
        <p:nvSpPr>
          <p:cNvPr id="825" name="object 4"/>
          <p:cNvSpPr/>
          <p:nvPr/>
        </p:nvSpPr>
        <p:spPr>
          <a:xfrm>
            <a:off x="8701560" y="4908600"/>
            <a:ext cx="228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9A36876-1392-42BF-93DD-C4CA76AA93B9}" type="slidenum">
              <a:rPr b="0" lang="fr-FR" sz="800" spc="-100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77" strike="noStrike">
                <a:solidFill>
                  <a:srgbClr val="000000"/>
                </a:solidFill>
                <a:latin typeface="Tahoma"/>
              </a:rPr>
              <a:t>Ambassador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Pattern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"OAuth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authentication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handled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network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communication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proxy"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827" name="object 3"/>
          <p:cNvSpPr/>
          <p:nvPr/>
        </p:nvSpPr>
        <p:spPr>
          <a:xfrm>
            <a:off x="8726760" y="4913640"/>
            <a:ext cx="173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800" spc="-114" strike="noStrike">
                <a:solidFill>
                  <a:srgbClr val="000000"/>
                </a:solidFill>
                <a:latin typeface="Lucida Sans Unicode"/>
                <a:ea typeface="DejaVu Sans"/>
              </a:rPr>
              <a:t>123</a:t>
            </a:r>
            <a:endParaRPr b="0" lang="fr-FR" sz="800" spc="-1" strike="noStrike">
              <a:latin typeface="Arial"/>
            </a:endParaRPr>
          </a:p>
        </p:txBody>
      </p:sp>
      <p:pic>
        <p:nvPicPr>
          <p:cNvPr id="828" name="object 4" descr=""/>
          <p:cNvPicPr/>
          <p:nvPr/>
        </p:nvPicPr>
        <p:blipFill>
          <a:blip r:embed="rId1"/>
          <a:stretch/>
        </p:blipFill>
        <p:spPr>
          <a:xfrm>
            <a:off x="666720" y="2115360"/>
            <a:ext cx="7720560" cy="134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05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830" name="object 3"/>
          <p:cNvSpPr/>
          <p:nvPr/>
        </p:nvSpPr>
        <p:spPr>
          <a:xfrm>
            <a:off x="494280" y="1323360"/>
            <a:ext cx="400392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Implementing a mutli-container pod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1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832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33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34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8503920" cy="138204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4" strike="noStrike">
                <a:solidFill>
                  <a:srgbClr val="ffffff"/>
                </a:solidFill>
                <a:latin typeface="Tahoma"/>
              </a:rPr>
              <a:t>Labels</a:t>
            </a:r>
            <a:r>
              <a:rPr b="1" lang="fr-FR" sz="3600" spc="-21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9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600" spc="-21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Annotations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9" strike="noStrike">
                <a:solidFill>
                  <a:srgbClr val="ffffff"/>
                </a:solidFill>
                <a:latin typeface="Lucida Sans Unicode"/>
              </a:rPr>
              <a:t>Label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38" strike="noStrike">
                <a:solidFill>
                  <a:srgbClr val="ffffff"/>
                </a:solidFill>
                <a:latin typeface="Lucida Sans Unicode"/>
              </a:rPr>
              <a:t>assignment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9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selection,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providing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7" strike="noStrike">
                <a:solidFill>
                  <a:srgbClr val="ffffff"/>
                </a:solidFill>
                <a:latin typeface="Lucida Sans Unicode"/>
              </a:rPr>
              <a:t>meta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information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to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4" strike="noStrike">
                <a:solidFill>
                  <a:srgbClr val="ffffff"/>
                </a:solidFill>
                <a:latin typeface="Lucida Sans Unicode"/>
              </a:rPr>
              <a:t>objects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Label?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Essential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querying,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filtering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sorting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836" name="object 4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876DA68-D68E-4D24-9FAB-5DDEBD29CCA8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837" name="object 3"/>
          <p:cNvSpPr/>
          <p:nvPr/>
        </p:nvSpPr>
        <p:spPr>
          <a:xfrm>
            <a:off x="600120" y="1360440"/>
            <a:ext cx="8038080" cy="19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50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354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Key-value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pairs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assigned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imperative</a:t>
            </a:r>
            <a:r>
              <a:rPr b="0" lang="fr-FR" sz="1600" spc="58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255"/>
              </a:spcBef>
              <a:buNone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usin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metadata.labels[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r>
              <a:rPr b="0" lang="fr-FR" sz="16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attribute.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meant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elaborate,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multi-word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descriptions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its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functionality.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 limits the length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label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maximum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63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characters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range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allowed alphanumeric 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separator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characters.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Example</a:t>
            </a:r>
            <a:r>
              <a:rPr b="1" lang="fr-FR" sz="2400" spc="-17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Three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different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each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three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pairs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839" name="object 3" descr=""/>
          <p:cNvPicPr/>
          <p:nvPr/>
        </p:nvPicPr>
        <p:blipFill>
          <a:blip r:embed="rId1"/>
          <a:stretch/>
        </p:blipFill>
        <p:spPr>
          <a:xfrm>
            <a:off x="811800" y="1878840"/>
            <a:ext cx="7430760" cy="2130480"/>
          </a:xfrm>
          <a:prstGeom prst="rect">
            <a:avLst/>
          </a:prstGeom>
          <a:ln w="0">
            <a:noFill/>
          </a:ln>
        </p:spPr>
      </p:pic>
      <p:sp>
        <p:nvSpPr>
          <p:cNvPr id="840" name="object 4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3DA4763-EFFA-4A65-A2F4-C016EFB51106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Assigning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3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labe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l</a:t>
            </a:r>
            <a:r>
              <a:rPr b="0" lang="fr-FR" sz="1600" spc="-610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command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lets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add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remove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one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many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labels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842" name="object 3"/>
          <p:cNvGrpSpPr/>
          <p:nvPr/>
        </p:nvGrpSpPr>
        <p:grpSpPr>
          <a:xfrm>
            <a:off x="474480" y="1366200"/>
            <a:ext cx="5906520" cy="2804400"/>
            <a:chOff x="474480" y="1366200"/>
            <a:chExt cx="5906520" cy="2804400"/>
          </a:xfrm>
        </p:grpSpPr>
        <p:pic>
          <p:nvPicPr>
            <p:cNvPr id="843" name="object 4" descr=""/>
            <p:cNvPicPr/>
            <p:nvPr/>
          </p:nvPicPr>
          <p:blipFill>
            <a:blip r:embed="rId1"/>
            <a:stretch/>
          </p:blipFill>
          <p:spPr>
            <a:xfrm>
              <a:off x="474480" y="1366200"/>
              <a:ext cx="5906520" cy="2804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44" name="object 5"/>
            <p:cNvSpPr/>
            <p:nvPr/>
          </p:nvSpPr>
          <p:spPr>
            <a:xfrm>
              <a:off x="528120" y="1414440"/>
              <a:ext cx="5792760" cy="2690640"/>
            </a:xfrm>
            <a:custGeom>
              <a:avLst/>
              <a:gdLst/>
              <a:ahLst/>
              <a:rect l="l" t="t" r="r" b="b"/>
              <a:pathLst>
                <a:path w="5795645" h="2693670">
                  <a:moveTo>
                    <a:pt x="5795100" y="2693099"/>
                  </a:moveTo>
                  <a:lnTo>
                    <a:pt x="0" y="2693099"/>
                  </a:lnTo>
                  <a:lnTo>
                    <a:pt x="0" y="0"/>
                  </a:lnTo>
                  <a:lnTo>
                    <a:pt x="5795100" y="0"/>
                  </a:lnTo>
                  <a:lnTo>
                    <a:pt x="5795100" y="26930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45" name="object 6"/>
          <p:cNvSpPr/>
          <p:nvPr/>
        </p:nvSpPr>
        <p:spPr>
          <a:xfrm>
            <a:off x="3085560" y="1540080"/>
            <a:ext cx="3100320" cy="2127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0600" bIns="0" anchor="t">
            <a:spAutoFit/>
          </a:bodyPr>
          <a:p>
            <a:pPr marL="22320">
              <a:lnSpc>
                <a:spcPct val="100000"/>
              </a:lnSpc>
              <a:spcBef>
                <a:spcPts val="241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tier=backend</a:t>
            </a:r>
            <a:r>
              <a:rPr b="1" lang="fr-FR" sz="12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env=prod</a:t>
            </a:r>
            <a:r>
              <a:rPr b="1" lang="fr-FR" sz="12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app=miracle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46" name="object 7"/>
          <p:cNvSpPr/>
          <p:nvPr/>
        </p:nvSpPr>
        <p:spPr>
          <a:xfrm>
            <a:off x="717840" y="1558440"/>
            <a:ext cx="230868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labeled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47" name="object 8"/>
          <p:cNvSpPr/>
          <p:nvPr/>
        </p:nvSpPr>
        <p:spPr>
          <a:xfrm>
            <a:off x="717840" y="2101320"/>
            <a:ext cx="29487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--show-labels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48" name="object 9"/>
          <p:cNvSpPr/>
          <p:nvPr/>
        </p:nvSpPr>
        <p:spPr>
          <a:xfrm>
            <a:off x="717840" y="2282040"/>
            <a:ext cx="3884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pod1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49" name="object 10"/>
          <p:cNvSpPr/>
          <p:nvPr/>
        </p:nvSpPr>
        <p:spPr>
          <a:xfrm>
            <a:off x="1266480" y="2282040"/>
            <a:ext cx="340596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7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tier=backend,env=prod,app=miracle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50" name="object 11"/>
          <p:cNvSpPr/>
          <p:nvPr/>
        </p:nvSpPr>
        <p:spPr>
          <a:xfrm>
            <a:off x="717840" y="2825280"/>
            <a:ext cx="230868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51" name="object 12"/>
          <p:cNvSpPr/>
          <p:nvPr/>
        </p:nvSpPr>
        <p:spPr>
          <a:xfrm>
            <a:off x="3085560" y="2796480"/>
            <a:ext cx="533520" cy="2235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41400" bIns="0" anchor="t">
            <a:spAutoFit/>
          </a:bodyPr>
          <a:p>
            <a:pPr marL="22320">
              <a:lnSpc>
                <a:spcPct val="100000"/>
              </a:lnSpc>
              <a:spcBef>
                <a:spcPts val="326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tier-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52" name="object 13"/>
          <p:cNvSpPr/>
          <p:nvPr/>
        </p:nvSpPr>
        <p:spPr>
          <a:xfrm>
            <a:off x="717840" y="3006000"/>
            <a:ext cx="15771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labeled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53" name="object 14"/>
          <p:cNvSpPr/>
          <p:nvPr/>
        </p:nvSpPr>
        <p:spPr>
          <a:xfrm>
            <a:off x="717840" y="3368160"/>
            <a:ext cx="29487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--show-labels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54" name="object 15"/>
          <p:cNvSpPr/>
          <p:nvPr/>
        </p:nvSpPr>
        <p:spPr>
          <a:xfrm>
            <a:off x="717840" y="3548880"/>
            <a:ext cx="38844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34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pod1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55" name="object 16"/>
          <p:cNvSpPr/>
          <p:nvPr/>
        </p:nvSpPr>
        <p:spPr>
          <a:xfrm>
            <a:off x="1266480" y="3548880"/>
            <a:ext cx="221724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34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env=prod,app=miracle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856" name="object 17"/>
          <p:cNvGrpSpPr/>
          <p:nvPr/>
        </p:nvGrpSpPr>
        <p:grpSpPr>
          <a:xfrm>
            <a:off x="6492960" y="1642680"/>
            <a:ext cx="662760" cy="79200"/>
            <a:chOff x="6492960" y="1642680"/>
            <a:chExt cx="662760" cy="79200"/>
          </a:xfrm>
        </p:grpSpPr>
        <p:sp>
          <p:nvSpPr>
            <p:cNvPr id="857" name="object 18"/>
            <p:cNvSpPr/>
            <p:nvPr/>
          </p:nvSpPr>
          <p:spPr>
            <a:xfrm>
              <a:off x="6589080" y="1683720"/>
              <a:ext cx="566640" cy="360"/>
            </a:xfrm>
            <a:custGeom>
              <a:avLst/>
              <a:gdLst/>
              <a:ahLst/>
              <a:rect l="l" t="t" r="r" b="b"/>
              <a:pathLst>
                <a:path w="569595" h="0">
                  <a:moveTo>
                    <a:pt x="5690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858" name="object 19" descr=""/>
            <p:cNvPicPr/>
            <p:nvPr/>
          </p:nvPicPr>
          <p:blipFill>
            <a:blip r:embed="rId2"/>
            <a:stretch/>
          </p:blipFill>
          <p:spPr>
            <a:xfrm>
              <a:off x="6492960" y="164268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59" name="object 20"/>
          <p:cNvSpPr/>
          <p:nvPr/>
        </p:nvSpPr>
        <p:spPr>
          <a:xfrm>
            <a:off x="7164000" y="1442160"/>
            <a:ext cx="18529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205200" indent="-19296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Declares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three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label </a:t>
            </a:r>
            <a:r>
              <a:rPr b="0" lang="fr-FR" sz="1400" spc="-3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key-value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pairs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860" name="object 21"/>
          <p:cNvGrpSpPr/>
          <p:nvPr/>
        </p:nvGrpSpPr>
        <p:grpSpPr>
          <a:xfrm>
            <a:off x="3836880" y="2899440"/>
            <a:ext cx="3354480" cy="79200"/>
            <a:chOff x="3836880" y="2899440"/>
            <a:chExt cx="3354480" cy="79200"/>
          </a:xfrm>
        </p:grpSpPr>
        <p:sp>
          <p:nvSpPr>
            <p:cNvPr id="861" name="object 22"/>
            <p:cNvSpPr/>
            <p:nvPr/>
          </p:nvSpPr>
          <p:spPr>
            <a:xfrm>
              <a:off x="3933000" y="2940480"/>
              <a:ext cx="3258360" cy="360"/>
            </a:xfrm>
            <a:custGeom>
              <a:avLst/>
              <a:gdLst/>
              <a:ahLst/>
              <a:rect l="l" t="t" r="r" b="b"/>
              <a:pathLst>
                <a:path w="3261359" h="0">
                  <a:moveTo>
                    <a:pt x="32609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862" name="object 23" descr=""/>
            <p:cNvPicPr/>
            <p:nvPr/>
          </p:nvPicPr>
          <p:blipFill>
            <a:blip r:embed="rId3"/>
            <a:stretch/>
          </p:blipFill>
          <p:spPr>
            <a:xfrm>
              <a:off x="3836880" y="289944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63" name="object 24"/>
          <p:cNvSpPr/>
          <p:nvPr/>
        </p:nvSpPr>
        <p:spPr>
          <a:xfrm>
            <a:off x="7253640" y="2698920"/>
            <a:ext cx="167256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85400" indent="-17352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Removes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label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key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tier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864" name="object 25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BD916D7-E735-459A-A3A0-EEBB61CE94BD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Assigning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provided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new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modified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866" name="object 8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8608179-4486-43B0-8578-61A97111319B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867" name="" descr=""/>
          <p:cNvPicPr/>
          <p:nvPr/>
        </p:nvPicPr>
        <p:blipFill>
          <a:blip r:embed="rId1"/>
          <a:stretch/>
        </p:blipFill>
        <p:spPr>
          <a:xfrm>
            <a:off x="493200" y="1620000"/>
            <a:ext cx="5337000" cy="2584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Recommended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1"/>
              </a:rPr>
              <a:t>Naming</a:t>
            </a:r>
            <a:r>
              <a:rPr b="0" lang="fr-FR" sz="1600" spc="-9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2"/>
              </a:rPr>
              <a:t> </a:t>
            </a:r>
            <a:r>
              <a:rPr b="0" lang="fr-FR" sz="1600" spc="18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3"/>
              </a:rPr>
              <a:t>convention</a:t>
            </a:r>
            <a:r>
              <a:rPr b="0" lang="fr-FR" sz="1600" spc="-97" strike="noStrike" u="sng">
                <a:solidFill>
                  <a:srgbClr val="0000ff"/>
                </a:solidFill>
                <a:uFillTx/>
                <a:latin typeface="Lucida Sans Unicode"/>
                <a:hlinkClick r:id="rId4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starts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app.kubernetes.io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869" name="object 5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553E4CC-7493-41D3-9861-EFD29E88F96C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870" name="" descr=""/>
          <p:cNvPicPr/>
          <p:nvPr/>
        </p:nvPicPr>
        <p:blipFill>
          <a:blip r:embed="rId5"/>
          <a:stretch/>
        </p:blipFill>
        <p:spPr>
          <a:xfrm>
            <a:off x="487080" y="1260000"/>
            <a:ext cx="6351120" cy="3102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Selectin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g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Label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selector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uses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criteria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query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872" name="object 3" descr=""/>
          <p:cNvPicPr/>
          <p:nvPr/>
        </p:nvPicPr>
        <p:blipFill>
          <a:blip r:embed="rId1"/>
          <a:stretch/>
        </p:blipFill>
        <p:spPr>
          <a:xfrm>
            <a:off x="824760" y="1878840"/>
            <a:ext cx="7404120" cy="2122560"/>
          </a:xfrm>
          <a:prstGeom prst="rect">
            <a:avLst/>
          </a:prstGeom>
          <a:ln w="0">
            <a:noFill/>
          </a:ln>
        </p:spPr>
      </p:pic>
      <p:sp>
        <p:nvSpPr>
          <p:cNvPr id="873" name="object 4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805CDA1-8532-4435-B0EF-EBD67EA1F982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Selection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77" strike="noStrike">
                <a:solidFill>
                  <a:srgbClr val="000000"/>
                </a:solidFill>
                <a:latin typeface="Tahoma"/>
              </a:rPr>
              <a:t>CLI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specify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equality-based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set-based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requirements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875" name="object 3"/>
          <p:cNvGrpSpPr/>
          <p:nvPr/>
        </p:nvGrpSpPr>
        <p:grpSpPr>
          <a:xfrm>
            <a:off x="470880" y="1373760"/>
            <a:ext cx="7098480" cy="2410560"/>
            <a:chOff x="470880" y="1373760"/>
            <a:chExt cx="7098480" cy="2410560"/>
          </a:xfrm>
        </p:grpSpPr>
        <p:pic>
          <p:nvPicPr>
            <p:cNvPr id="876" name="object 4" descr=""/>
            <p:cNvPicPr/>
            <p:nvPr/>
          </p:nvPicPr>
          <p:blipFill>
            <a:blip r:embed="rId1"/>
            <a:stretch/>
          </p:blipFill>
          <p:spPr>
            <a:xfrm>
              <a:off x="470880" y="1373760"/>
              <a:ext cx="7098480" cy="24105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77" name="object 5"/>
            <p:cNvSpPr/>
            <p:nvPr/>
          </p:nvSpPr>
          <p:spPr>
            <a:xfrm>
              <a:off x="524520" y="1422000"/>
              <a:ext cx="6984720" cy="2296440"/>
            </a:xfrm>
            <a:custGeom>
              <a:avLst/>
              <a:gdLst/>
              <a:ahLst/>
              <a:rect l="l" t="t" r="r" b="b"/>
              <a:pathLst>
                <a:path w="6987540" h="2299335">
                  <a:moveTo>
                    <a:pt x="6987000" y="2299199"/>
                  </a:moveTo>
                  <a:lnTo>
                    <a:pt x="0" y="2299199"/>
                  </a:lnTo>
                  <a:lnTo>
                    <a:pt x="0" y="0"/>
                  </a:lnTo>
                  <a:lnTo>
                    <a:pt x="6987000" y="0"/>
                  </a:lnTo>
                  <a:lnTo>
                    <a:pt x="6987000" y="2299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78" name="object 6"/>
          <p:cNvSpPr/>
          <p:nvPr/>
        </p:nvSpPr>
        <p:spPr>
          <a:xfrm>
            <a:off x="734400" y="1528560"/>
            <a:ext cx="16686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79" name="object 7"/>
          <p:cNvSpPr/>
          <p:nvPr/>
        </p:nvSpPr>
        <p:spPr>
          <a:xfrm>
            <a:off x="2442240" y="1504080"/>
            <a:ext cx="2293200" cy="2188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6720" bIns="0" anchor="t">
            <a:spAutoFit/>
          </a:bodyPr>
          <a:p>
            <a:pPr marL="41400">
              <a:lnSpc>
                <a:spcPct val="100000"/>
              </a:lnSpc>
              <a:spcBef>
                <a:spcPts val="289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-l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tier=frontend,env=dev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80" name="object 8"/>
          <p:cNvSpPr/>
          <p:nvPr/>
        </p:nvSpPr>
        <p:spPr>
          <a:xfrm>
            <a:off x="4757040" y="1528560"/>
            <a:ext cx="12114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--show-labels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81" name="object 9"/>
          <p:cNvSpPr/>
          <p:nvPr/>
        </p:nvSpPr>
        <p:spPr>
          <a:xfrm>
            <a:off x="734400" y="1709640"/>
            <a:ext cx="148572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34"/>
              </a:lnSpc>
              <a:spcBef>
                <a:spcPts val="99"/>
              </a:spcBef>
              <a:buNone/>
              <a:tabLst>
                <a:tab algn="l" pos="560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  <a:tabLst>
                <a:tab algn="l" pos="560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pod2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82" name="object 10"/>
          <p:cNvSpPr/>
          <p:nvPr/>
        </p:nvSpPr>
        <p:spPr>
          <a:xfrm>
            <a:off x="1283040" y="1890720"/>
            <a:ext cx="3405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7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app=crawler,env=dev,tier=frontend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83" name="object 11"/>
          <p:cNvSpPr/>
          <p:nvPr/>
        </p:nvSpPr>
        <p:spPr>
          <a:xfrm>
            <a:off x="734400" y="2252520"/>
            <a:ext cx="16686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84" name="object 12"/>
          <p:cNvSpPr/>
          <p:nvPr/>
        </p:nvSpPr>
        <p:spPr>
          <a:xfrm>
            <a:off x="2442240" y="2240280"/>
            <a:ext cx="1009440" cy="2070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24840" bIns="0" anchor="t">
            <a:spAutoFit/>
          </a:bodyPr>
          <a:p>
            <a:pPr marL="41400">
              <a:lnSpc>
                <a:spcPct val="100000"/>
              </a:lnSpc>
              <a:spcBef>
                <a:spcPts val="196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-l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version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85" name="object 13"/>
          <p:cNvSpPr/>
          <p:nvPr/>
        </p:nvSpPr>
        <p:spPr>
          <a:xfrm>
            <a:off x="3477240" y="2252520"/>
            <a:ext cx="12114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--show-labels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86" name="object 14"/>
          <p:cNvSpPr/>
          <p:nvPr/>
        </p:nvSpPr>
        <p:spPr>
          <a:xfrm>
            <a:off x="734400" y="2433600"/>
            <a:ext cx="148572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  <a:tabLst>
                <a:tab algn="l" pos="560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  <a:tabLst>
                <a:tab algn="l" pos="560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pod3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87" name="object 15"/>
          <p:cNvSpPr/>
          <p:nvPr/>
        </p:nvSpPr>
        <p:spPr>
          <a:xfrm>
            <a:off x="1283040" y="2614320"/>
            <a:ext cx="368028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7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app=crawler,env=staging,version=v2.1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88" name="object 16"/>
          <p:cNvSpPr/>
          <p:nvPr/>
        </p:nvSpPr>
        <p:spPr>
          <a:xfrm>
            <a:off x="734400" y="2976480"/>
            <a:ext cx="16686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89" name="object 17"/>
          <p:cNvSpPr/>
          <p:nvPr/>
        </p:nvSpPr>
        <p:spPr>
          <a:xfrm>
            <a:off x="2451240" y="2958120"/>
            <a:ext cx="3630600" cy="2131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0960" bIns="0" anchor="t">
            <a:spAutoFit/>
          </a:bodyPr>
          <a:p>
            <a:pPr marL="32400">
              <a:lnSpc>
                <a:spcPct val="100000"/>
              </a:lnSpc>
              <a:spcBef>
                <a:spcPts val="244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-l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'tier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in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(frontend,backend),env=dev'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90" name="object 18"/>
          <p:cNvSpPr/>
          <p:nvPr/>
        </p:nvSpPr>
        <p:spPr>
          <a:xfrm>
            <a:off x="6128640" y="2976480"/>
            <a:ext cx="12114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--show-labels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91" name="object 19"/>
          <p:cNvSpPr/>
          <p:nvPr/>
        </p:nvSpPr>
        <p:spPr>
          <a:xfrm>
            <a:off x="734400" y="3157200"/>
            <a:ext cx="148572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  <a:tabLst>
                <a:tab algn="l" pos="560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  <a:tabLst>
                <a:tab algn="l" pos="560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pod2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92" name="object 20"/>
          <p:cNvSpPr/>
          <p:nvPr/>
        </p:nvSpPr>
        <p:spPr>
          <a:xfrm>
            <a:off x="1283040" y="3338280"/>
            <a:ext cx="3405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7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app=crawler,env=dev,tier=frontend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893" name="object 21"/>
          <p:cNvGrpSpPr/>
          <p:nvPr/>
        </p:nvGrpSpPr>
        <p:grpSpPr>
          <a:xfrm>
            <a:off x="4889160" y="1615680"/>
            <a:ext cx="2799360" cy="2507400"/>
            <a:chOff x="4889160" y="1615680"/>
            <a:chExt cx="2799360" cy="2507400"/>
          </a:xfrm>
        </p:grpSpPr>
        <p:sp>
          <p:nvSpPr>
            <p:cNvPr id="894" name="object 22"/>
            <p:cNvSpPr/>
            <p:nvPr/>
          </p:nvSpPr>
          <p:spPr>
            <a:xfrm>
              <a:off x="6233040" y="1656720"/>
              <a:ext cx="1446120" cy="360"/>
            </a:xfrm>
            <a:custGeom>
              <a:avLst/>
              <a:gdLst/>
              <a:ahLst/>
              <a:rect l="l" t="t" r="r" b="b"/>
              <a:pathLst>
                <a:path w="1449070" h="0">
                  <a:moveTo>
                    <a:pt x="1449000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895" name="object 23" descr=""/>
            <p:cNvPicPr/>
            <p:nvPr/>
          </p:nvPicPr>
          <p:blipFill>
            <a:blip r:embed="rId2"/>
            <a:stretch/>
          </p:blipFill>
          <p:spPr>
            <a:xfrm>
              <a:off x="6136920" y="161568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96" name="object 24"/>
            <p:cNvSpPr/>
            <p:nvPr/>
          </p:nvSpPr>
          <p:spPr>
            <a:xfrm>
              <a:off x="4984920" y="2383560"/>
              <a:ext cx="2703600" cy="360"/>
            </a:xfrm>
            <a:custGeom>
              <a:avLst/>
              <a:gdLst/>
              <a:ahLst/>
              <a:rect l="l" t="t" r="r" b="b"/>
              <a:pathLst>
                <a:path w="2706370" h="0">
                  <a:moveTo>
                    <a:pt x="2706000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897" name="object 25" descr=""/>
            <p:cNvPicPr/>
            <p:nvPr/>
          </p:nvPicPr>
          <p:blipFill>
            <a:blip r:embed="rId3"/>
            <a:stretch/>
          </p:blipFill>
          <p:spPr>
            <a:xfrm>
              <a:off x="4889160" y="234252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98" name="object 26"/>
            <p:cNvSpPr/>
            <p:nvPr/>
          </p:nvSpPr>
          <p:spPr>
            <a:xfrm>
              <a:off x="5078880" y="3476880"/>
              <a:ext cx="545040" cy="646200"/>
            </a:xfrm>
            <a:custGeom>
              <a:avLst/>
              <a:gdLst/>
              <a:ahLst/>
              <a:rect l="l" t="t" r="r" b="b"/>
              <a:pathLst>
                <a:path w="548004" h="648970">
                  <a:moveTo>
                    <a:pt x="547499" y="648599"/>
                  </a:moveTo>
                  <a:lnTo>
                    <a:pt x="547499" y="639628"/>
                  </a:lnTo>
                  <a:lnTo>
                    <a:pt x="0" y="639628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899" name="object 27" descr=""/>
            <p:cNvPicPr/>
            <p:nvPr/>
          </p:nvPicPr>
          <p:blipFill>
            <a:blip r:embed="rId4"/>
            <a:stretch/>
          </p:blipFill>
          <p:spPr>
            <a:xfrm>
              <a:off x="5037840" y="338076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00" name="object 28"/>
          <p:cNvSpPr/>
          <p:nvPr/>
        </p:nvSpPr>
        <p:spPr>
          <a:xfrm>
            <a:off x="7773120" y="1415160"/>
            <a:ext cx="122508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16280" indent="-10404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Boolea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400" spc="-8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AND  expression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01" name="object 31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9CB1AB0-99D6-47AE-9D08-59D21A59B463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902" name="object 29"/>
          <p:cNvSpPr/>
          <p:nvPr/>
        </p:nvSpPr>
        <p:spPr>
          <a:xfrm>
            <a:off x="7849800" y="2142360"/>
            <a:ext cx="11484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838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Key-only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expression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03" name="object 30"/>
          <p:cNvSpPr/>
          <p:nvPr/>
        </p:nvSpPr>
        <p:spPr>
          <a:xfrm>
            <a:off x="5697000" y="3867480"/>
            <a:ext cx="20412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91440" indent="-7920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Set-based</a:t>
            </a:r>
            <a:r>
              <a:rPr b="0" lang="fr-FR" sz="1400" spc="-8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expression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follows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Boolean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Selection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Certain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label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selection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via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their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905" name="object 3"/>
          <p:cNvGrpSpPr/>
          <p:nvPr/>
        </p:nvGrpSpPr>
        <p:grpSpPr>
          <a:xfrm>
            <a:off x="463320" y="1323360"/>
            <a:ext cx="3615840" cy="2205720"/>
            <a:chOff x="463320" y="1323360"/>
            <a:chExt cx="3615840" cy="2205720"/>
          </a:xfrm>
        </p:grpSpPr>
        <p:pic>
          <p:nvPicPr>
            <p:cNvPr id="906" name="object 4" descr=""/>
            <p:cNvPicPr/>
            <p:nvPr/>
          </p:nvPicPr>
          <p:blipFill>
            <a:blip r:embed="rId1"/>
            <a:stretch/>
          </p:blipFill>
          <p:spPr>
            <a:xfrm>
              <a:off x="463320" y="1323360"/>
              <a:ext cx="3615840" cy="22057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07" name="object 5"/>
            <p:cNvSpPr/>
            <p:nvPr/>
          </p:nvSpPr>
          <p:spPr>
            <a:xfrm>
              <a:off x="516960" y="1371600"/>
              <a:ext cx="3501720" cy="2091960"/>
            </a:xfrm>
            <a:custGeom>
              <a:avLst/>
              <a:gdLst/>
              <a:ahLst/>
              <a:rect l="l" t="t" r="r" b="b"/>
              <a:pathLst>
                <a:path w="3504565" h="2094864">
                  <a:moveTo>
                    <a:pt x="3504300" y="2094300"/>
                  </a:moveTo>
                  <a:lnTo>
                    <a:pt x="0" y="2094300"/>
                  </a:lnTo>
                  <a:lnTo>
                    <a:pt x="0" y="0"/>
                  </a:lnTo>
                  <a:lnTo>
                    <a:pt x="3504300" y="0"/>
                  </a:lnTo>
                  <a:lnTo>
                    <a:pt x="3504300" y="2094300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08" name="object 6"/>
          <p:cNvSpPr/>
          <p:nvPr/>
        </p:nvSpPr>
        <p:spPr>
          <a:xfrm>
            <a:off x="681840" y="1477440"/>
            <a:ext cx="3192480" cy="10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networking.k8s.io/v1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NetworkPolicy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frontend-network-policy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09" name="object 7"/>
          <p:cNvSpPr/>
          <p:nvPr/>
        </p:nvSpPr>
        <p:spPr>
          <a:xfrm>
            <a:off x="854640" y="2496600"/>
            <a:ext cx="1915920" cy="5911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3480">
              <a:lnSpc>
                <a:spcPts val="1511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podSelector:</a:t>
            </a:r>
            <a:endParaRPr b="0" lang="fr-FR" sz="1300" spc="-1" strike="noStrike">
              <a:latin typeface="Arial"/>
            </a:endParaRPr>
          </a:p>
          <a:p>
            <a:pPr marL="42228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matchLabels: </a:t>
            </a: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tier: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frontend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10" name="object 8"/>
          <p:cNvSpPr/>
          <p:nvPr/>
        </p:nvSpPr>
        <p:spPr>
          <a:xfrm>
            <a:off x="681840" y="3077640"/>
            <a:ext cx="3196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11" name="object 12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697A058-0434-4F4D-9D7C-7D9EC3386C97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Annotation?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Descriptive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metadata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without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ability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queryable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913" name="object 4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6BE1A8B-9E41-4EFE-9024-9C5C5ACC56C5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914" name="object 3"/>
          <p:cNvSpPr/>
          <p:nvPr/>
        </p:nvSpPr>
        <p:spPr>
          <a:xfrm>
            <a:off x="600120" y="1360440"/>
            <a:ext cx="8038080" cy="22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Key-value pairs for providing descriptive, human-readable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metadata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assigned 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object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h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imperativ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24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annotatio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fr-FR" sz="1600" spc="-67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usin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 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metadata.annotations[]</a:t>
            </a:r>
            <a:r>
              <a:rPr b="0" lang="fr-FR" sz="1600" spc="-85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attribute.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Cannot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used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querying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selecting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Make sure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put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value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an annotation into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single-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double-quotes if it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special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characters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spaces.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90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Example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Annotations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three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pairs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916" name="object 3" descr=""/>
          <p:cNvPicPr/>
          <p:nvPr/>
        </p:nvPicPr>
        <p:blipFill>
          <a:blip r:embed="rId1"/>
          <a:stretch/>
        </p:blipFill>
        <p:spPr>
          <a:xfrm>
            <a:off x="3112920" y="1749960"/>
            <a:ext cx="2828520" cy="2469240"/>
          </a:xfrm>
          <a:prstGeom prst="rect">
            <a:avLst/>
          </a:prstGeom>
          <a:ln w="0">
            <a:noFill/>
          </a:ln>
        </p:spPr>
      </p:pic>
      <p:sp>
        <p:nvSpPr>
          <p:cNvPr id="917" name="object 4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19AD53C-CBE9-45F7-80EE-0D85AE23CD7D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647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Assigning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Annotations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3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annotation</a:t>
            </a:r>
            <a:r>
              <a:rPr b="0" lang="fr-FR" sz="1600" spc="-687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command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lets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add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remove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one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many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annotations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919" name="object 3"/>
          <p:cNvGrpSpPr/>
          <p:nvPr/>
        </p:nvGrpSpPr>
        <p:grpSpPr>
          <a:xfrm>
            <a:off x="482040" y="1366200"/>
            <a:ext cx="6337440" cy="2615760"/>
            <a:chOff x="482040" y="1366200"/>
            <a:chExt cx="6337440" cy="2615760"/>
          </a:xfrm>
        </p:grpSpPr>
        <p:pic>
          <p:nvPicPr>
            <p:cNvPr id="920" name="object 4" descr=""/>
            <p:cNvPicPr/>
            <p:nvPr/>
          </p:nvPicPr>
          <p:blipFill>
            <a:blip r:embed="rId1"/>
            <a:stretch/>
          </p:blipFill>
          <p:spPr>
            <a:xfrm>
              <a:off x="482040" y="1366200"/>
              <a:ext cx="6337440" cy="2615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21" name="object 5"/>
            <p:cNvSpPr/>
            <p:nvPr/>
          </p:nvSpPr>
          <p:spPr>
            <a:xfrm>
              <a:off x="535680" y="1414440"/>
              <a:ext cx="6223320" cy="2501640"/>
            </a:xfrm>
            <a:custGeom>
              <a:avLst/>
              <a:gdLst/>
              <a:ahLst/>
              <a:rect l="l" t="t" r="r" b="b"/>
              <a:pathLst>
                <a:path w="6226175" h="2504440">
                  <a:moveTo>
                    <a:pt x="6225900" y="2504399"/>
                  </a:moveTo>
                  <a:lnTo>
                    <a:pt x="0" y="2504399"/>
                  </a:lnTo>
                  <a:lnTo>
                    <a:pt x="0" y="0"/>
                  </a:lnTo>
                  <a:lnTo>
                    <a:pt x="6225900" y="0"/>
                  </a:lnTo>
                  <a:lnTo>
                    <a:pt x="6225900" y="2504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22" name="object 6"/>
          <p:cNvSpPr/>
          <p:nvPr/>
        </p:nvSpPr>
        <p:spPr>
          <a:xfrm>
            <a:off x="3350880" y="1540080"/>
            <a:ext cx="3291480" cy="2127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0600" bIns="0" anchor="t">
            <a:spAutoFit/>
          </a:bodyPr>
          <a:p>
            <a:pPr marL="38880">
              <a:lnSpc>
                <a:spcPct val="100000"/>
              </a:lnSpc>
              <a:spcBef>
                <a:spcPts val="241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commit='866a8dc'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branch='bm/bugfix'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23" name="object 7"/>
          <p:cNvSpPr/>
          <p:nvPr/>
        </p:nvSpPr>
        <p:spPr>
          <a:xfrm>
            <a:off x="725400" y="1558440"/>
            <a:ext cx="258300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annotated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24" name="object 8"/>
          <p:cNvSpPr/>
          <p:nvPr/>
        </p:nvSpPr>
        <p:spPr>
          <a:xfrm>
            <a:off x="725400" y="2101320"/>
            <a:ext cx="276588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my-pod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25" name="object 9"/>
          <p:cNvSpPr/>
          <p:nvPr/>
        </p:nvSpPr>
        <p:spPr>
          <a:xfrm>
            <a:off x="725400" y="2282040"/>
            <a:ext cx="111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Annotations: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26" name="object 10"/>
          <p:cNvSpPr/>
          <p:nvPr/>
        </p:nvSpPr>
        <p:spPr>
          <a:xfrm>
            <a:off x="2005560" y="2282040"/>
            <a:ext cx="157716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9800" bIns="0" anchor="t">
            <a:spAutoFit/>
          </a:bodyPr>
          <a:p>
            <a:pPr marL="12600" indent="-720">
              <a:lnSpc>
                <a:spcPts val="1429"/>
              </a:lnSpc>
              <a:spcBef>
                <a:spcPts val="156"/>
              </a:spcBef>
              <a:buNone/>
              <a:tabLst>
                <a:tab algn="l" pos="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branch:</a:t>
            </a:r>
            <a:r>
              <a:rPr b="0" lang="fr-FR" sz="1200" spc="-9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bm/bugfix </a:t>
            </a:r>
            <a:r>
              <a:rPr b="0" lang="fr-FR" sz="1200" spc="-70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commit:</a:t>
            </a:r>
            <a:r>
              <a:rPr b="0" lang="fr-FR" sz="12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866a8dc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27" name="object 11"/>
          <p:cNvSpPr/>
          <p:nvPr/>
        </p:nvSpPr>
        <p:spPr>
          <a:xfrm>
            <a:off x="725400" y="2825280"/>
            <a:ext cx="25830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28" name="object 12"/>
          <p:cNvSpPr/>
          <p:nvPr/>
        </p:nvSpPr>
        <p:spPr>
          <a:xfrm>
            <a:off x="3350880" y="2796840"/>
            <a:ext cx="751680" cy="2228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40680" bIns="0" anchor="t">
            <a:spAutoFit/>
          </a:bodyPr>
          <a:p>
            <a:pPr marL="38880">
              <a:lnSpc>
                <a:spcPct val="100000"/>
              </a:lnSpc>
              <a:spcBef>
                <a:spcPts val="320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commit-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29" name="object 13"/>
          <p:cNvSpPr/>
          <p:nvPr/>
        </p:nvSpPr>
        <p:spPr>
          <a:xfrm>
            <a:off x="725400" y="3006000"/>
            <a:ext cx="176004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annotated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30" name="object 14"/>
          <p:cNvSpPr/>
          <p:nvPr/>
        </p:nvSpPr>
        <p:spPr>
          <a:xfrm>
            <a:off x="725400" y="3368160"/>
            <a:ext cx="285732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34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my-pod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  <a:tabLst>
                <a:tab algn="l" pos="129240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Annotations: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branch: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bm/bugfix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931" name="object 15"/>
          <p:cNvGrpSpPr/>
          <p:nvPr/>
        </p:nvGrpSpPr>
        <p:grpSpPr>
          <a:xfrm>
            <a:off x="4284720" y="1648440"/>
            <a:ext cx="3019680" cy="1321560"/>
            <a:chOff x="4284720" y="1648440"/>
            <a:chExt cx="3019680" cy="1321560"/>
          </a:xfrm>
        </p:grpSpPr>
        <p:sp>
          <p:nvSpPr>
            <p:cNvPr id="932" name="object 16"/>
            <p:cNvSpPr/>
            <p:nvPr/>
          </p:nvSpPr>
          <p:spPr>
            <a:xfrm>
              <a:off x="6918480" y="1685880"/>
              <a:ext cx="385920" cy="1080"/>
            </a:xfrm>
            <a:custGeom>
              <a:avLst/>
              <a:gdLst/>
              <a:ahLst/>
              <a:rect l="l" t="t" r="r" b="b"/>
              <a:pathLst>
                <a:path w="388620" h="3810">
                  <a:moveTo>
                    <a:pt x="388204" y="0"/>
                  </a:moveTo>
                  <a:lnTo>
                    <a:pt x="0" y="3476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933" name="object 17" descr=""/>
            <p:cNvPicPr/>
            <p:nvPr/>
          </p:nvPicPr>
          <p:blipFill>
            <a:blip r:embed="rId2"/>
            <a:stretch/>
          </p:blipFill>
          <p:spPr>
            <a:xfrm>
              <a:off x="6822360" y="1648440"/>
              <a:ext cx="10296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34" name="object 18"/>
            <p:cNvSpPr/>
            <p:nvPr/>
          </p:nvSpPr>
          <p:spPr>
            <a:xfrm>
              <a:off x="4380840" y="2931840"/>
              <a:ext cx="2818440" cy="6120"/>
            </a:xfrm>
            <a:custGeom>
              <a:avLst/>
              <a:gdLst/>
              <a:ahLst/>
              <a:rect l="l" t="t" r="r" b="b"/>
              <a:pathLst>
                <a:path w="2821304" h="8889">
                  <a:moveTo>
                    <a:pt x="2820900" y="864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935" name="object 19" descr=""/>
            <p:cNvPicPr/>
            <p:nvPr/>
          </p:nvPicPr>
          <p:blipFill>
            <a:blip r:embed="rId3"/>
            <a:stretch/>
          </p:blipFill>
          <p:spPr>
            <a:xfrm>
              <a:off x="4284720" y="289080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36" name="object 20"/>
          <p:cNvSpPr/>
          <p:nvPr/>
        </p:nvSpPr>
        <p:spPr>
          <a:xfrm>
            <a:off x="7406280" y="1444680"/>
            <a:ext cx="141192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95120" indent="-1630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Declares</a:t>
            </a:r>
            <a:r>
              <a:rPr b="0" lang="fr-FR" sz="1400" spc="-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three </a:t>
            </a:r>
            <a:r>
              <a:rPr b="0" lang="fr-FR" sz="1400" spc="-3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annotation</a:t>
            </a:r>
            <a:endParaRPr b="0" lang="fr-FR" sz="1400" spc="-1" strike="noStrike">
              <a:latin typeface="Arial"/>
            </a:endParaRPr>
          </a:p>
          <a:p>
            <a:pPr marL="12600" indent="-163080">
              <a:lnSpc>
                <a:spcPts val="1599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key-value</a:t>
            </a:r>
            <a:r>
              <a:rPr b="0" lang="fr-FR" sz="1400" spc="-8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pairs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37" name="object 22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03A4065-8D91-4BC4-AA79-3FE197255009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938" name="object 21"/>
          <p:cNvSpPr/>
          <p:nvPr/>
        </p:nvSpPr>
        <p:spPr>
          <a:xfrm>
            <a:off x="7201080" y="2573280"/>
            <a:ext cx="179712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240" indent="-1440" algn="ctr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Removes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annotation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key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commit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Assigning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Annotations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provided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new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modified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live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940" name="object 8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0B25819-2B6F-4EB8-A4DA-BC541EA127C7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504000" y="1432800"/>
            <a:ext cx="7071480" cy="2525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Well-Known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Annotations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1"/>
              </a:rPr>
              <a:t>Reserved</a:t>
            </a:r>
            <a:r>
              <a:rPr b="0" lang="fr-FR" sz="1600" spc="-7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2"/>
              </a:rPr>
              <a:t> </a:t>
            </a:r>
            <a:r>
              <a:rPr b="0" lang="fr-FR" sz="1600" spc="18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3"/>
              </a:rPr>
              <a:t>annotations</a:t>
            </a:r>
            <a:r>
              <a:rPr b="0" lang="fr-FR" sz="1600" spc="-75" strike="noStrike" u="sng">
                <a:solidFill>
                  <a:srgbClr val="0000ff"/>
                </a:solidFill>
                <a:uFillTx/>
                <a:latin typeface="Lucida Sans Unicode"/>
                <a:hlinkClick r:id="rId4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14" strike="noStrike">
                <a:solidFill>
                  <a:srgbClr val="666666"/>
                </a:solidFill>
                <a:latin typeface="Lucida Sans Unicode"/>
              </a:rPr>
              <a:t>may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influence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treatment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943" name="object 10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95EB99B-8E77-4767-B18C-2EE33FAD8585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944" name="" descr=""/>
          <p:cNvPicPr/>
          <p:nvPr/>
        </p:nvPicPr>
        <p:blipFill>
          <a:blip r:embed="rId5"/>
          <a:stretch/>
        </p:blipFill>
        <p:spPr>
          <a:xfrm>
            <a:off x="494280" y="1260000"/>
            <a:ext cx="7366680" cy="3481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06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946" name="object 3"/>
          <p:cNvSpPr/>
          <p:nvPr/>
        </p:nvSpPr>
        <p:spPr>
          <a:xfrm>
            <a:off x="494280" y="1323360"/>
            <a:ext cx="328392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Using</a:t>
            </a:r>
            <a:r>
              <a:rPr b="0" lang="fr-FR" sz="29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Labels</a:t>
            </a:r>
            <a:r>
              <a:rPr b="0" lang="fr-FR" sz="29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Annotations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7" name="object 2" descr=""/>
          <p:cNvPicPr/>
          <p:nvPr/>
        </p:nvPicPr>
        <p:blipFill>
          <a:blip r:embed="rId1"/>
          <a:stretch/>
        </p:blipFill>
        <p:spPr>
          <a:xfrm>
            <a:off x="0" y="0"/>
            <a:ext cx="9141120" cy="5140440"/>
          </a:xfrm>
          <a:prstGeom prst="rect">
            <a:avLst/>
          </a:prstGeom>
          <a:ln w="0">
            <a:noFill/>
          </a:ln>
        </p:spPr>
      </p:pic>
      <p:sp>
        <p:nvSpPr>
          <p:cNvPr id="948" name="PlaceHolder 1"/>
          <p:cNvSpPr>
            <a:spLocks noGrp="1"/>
          </p:cNvSpPr>
          <p:nvPr>
            <p:ph type="title"/>
          </p:nvPr>
        </p:nvSpPr>
        <p:spPr>
          <a:xfrm>
            <a:off x="494280" y="1767960"/>
            <a:ext cx="3643920" cy="251172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1" lang="fr-FR" sz="3600" spc="29" strike="noStrike">
                <a:solidFill>
                  <a:srgbClr val="ffffff"/>
                </a:solidFill>
                <a:latin typeface="Tahoma"/>
              </a:rPr>
              <a:t>Application</a:t>
            </a:r>
            <a:r>
              <a:rPr b="1" lang="fr-FR" sz="3600" spc="3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18" strike="noStrike">
                <a:solidFill>
                  <a:srgbClr val="ffffff"/>
                </a:solidFill>
                <a:latin typeface="Tahoma"/>
              </a:rPr>
              <a:t>Deployment</a:t>
            </a:r>
            <a:endParaRPr b="0" lang="fr-FR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Deployment?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Scaling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replication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features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Pods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950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CAAA049-AD34-487F-A8AB-332AF79E86B2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951" name="object 3"/>
          <p:cNvSpPr/>
          <p:nvPr/>
        </p:nvSpPr>
        <p:spPr>
          <a:xfrm>
            <a:off x="600120" y="1360440"/>
            <a:ext cx="8218080" cy="19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50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354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Controls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predefined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number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same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so-called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255"/>
              </a:spcBef>
              <a:buNone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replicas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number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replicas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scaled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up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down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fulfill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load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requirements.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Updates to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replica configuration 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updated easily and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rolled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out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automatically.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08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Example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Deployment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three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replicas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953" name="object 3" descr=""/>
          <p:cNvPicPr/>
          <p:nvPr/>
        </p:nvPicPr>
        <p:blipFill>
          <a:blip r:embed="rId1"/>
          <a:stretch/>
        </p:blipFill>
        <p:spPr>
          <a:xfrm>
            <a:off x="2568600" y="1735920"/>
            <a:ext cx="4003560" cy="2654280"/>
          </a:xfrm>
          <a:prstGeom prst="rect">
            <a:avLst/>
          </a:prstGeom>
          <a:ln w="0">
            <a:noFill/>
          </a:ln>
        </p:spPr>
      </p:pic>
      <p:sp>
        <p:nvSpPr>
          <p:cNvPr id="954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E290EEC-A7BC-41CA-B382-4DF8ABB216D2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86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3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Creates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Deployment,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ReplicaSet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Pod(s)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956" name="object 3"/>
          <p:cNvGrpSpPr/>
          <p:nvPr/>
        </p:nvGrpSpPr>
        <p:grpSpPr>
          <a:xfrm>
            <a:off x="483840" y="1368360"/>
            <a:ext cx="4062240" cy="1519560"/>
            <a:chOff x="483840" y="1368360"/>
            <a:chExt cx="4062240" cy="1519560"/>
          </a:xfrm>
        </p:grpSpPr>
        <p:pic>
          <p:nvPicPr>
            <p:cNvPr id="957" name="object 4" descr=""/>
            <p:cNvPicPr/>
            <p:nvPr/>
          </p:nvPicPr>
          <p:blipFill>
            <a:blip r:embed="rId1"/>
            <a:stretch/>
          </p:blipFill>
          <p:spPr>
            <a:xfrm>
              <a:off x="483840" y="1368360"/>
              <a:ext cx="4062240" cy="15195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58" name="object 5"/>
            <p:cNvSpPr/>
            <p:nvPr/>
          </p:nvSpPr>
          <p:spPr>
            <a:xfrm>
              <a:off x="537480" y="1416600"/>
              <a:ext cx="3948120" cy="1405440"/>
            </a:xfrm>
            <a:custGeom>
              <a:avLst/>
              <a:gdLst/>
              <a:ahLst/>
              <a:rect l="l" t="t" r="r" b="b"/>
              <a:pathLst>
                <a:path w="3950970" h="1408430">
                  <a:moveTo>
                    <a:pt x="3950699" y="1408199"/>
                  </a:moveTo>
                  <a:lnTo>
                    <a:pt x="0" y="1408199"/>
                  </a:lnTo>
                  <a:lnTo>
                    <a:pt x="0" y="0"/>
                  </a:lnTo>
                  <a:lnTo>
                    <a:pt x="3950699" y="0"/>
                  </a:lnTo>
                  <a:lnTo>
                    <a:pt x="3950699" y="1408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59" name="object 6"/>
          <p:cNvSpPr/>
          <p:nvPr/>
        </p:nvSpPr>
        <p:spPr>
          <a:xfrm>
            <a:off x="699840" y="1576800"/>
            <a:ext cx="307836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226080" indent="-2134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 create deployment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226080" indent="-213480">
              <a:lnSpc>
                <a:spcPts val="1599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--image=nginx:1.14.2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60" name="object 7"/>
          <p:cNvSpPr/>
          <p:nvPr/>
        </p:nvSpPr>
        <p:spPr>
          <a:xfrm>
            <a:off x="893520" y="2222280"/>
            <a:ext cx="1383480" cy="2091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168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--replicas=3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61" name="object 8"/>
          <p:cNvSpPr/>
          <p:nvPr/>
        </p:nvSpPr>
        <p:spPr>
          <a:xfrm>
            <a:off x="699840" y="2414880"/>
            <a:ext cx="35431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</a:t>
            </a:r>
            <a:r>
              <a:rPr b="0" lang="fr-FR" sz="14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962" name="object 9"/>
          <p:cNvGrpSpPr/>
          <p:nvPr/>
        </p:nvGrpSpPr>
        <p:grpSpPr>
          <a:xfrm>
            <a:off x="2405160" y="2298960"/>
            <a:ext cx="2736720" cy="79200"/>
            <a:chOff x="2405160" y="2298960"/>
            <a:chExt cx="2736720" cy="79200"/>
          </a:xfrm>
        </p:grpSpPr>
        <p:sp>
          <p:nvSpPr>
            <p:cNvPr id="963" name="object 10"/>
            <p:cNvSpPr/>
            <p:nvPr/>
          </p:nvSpPr>
          <p:spPr>
            <a:xfrm>
              <a:off x="2501280" y="2339640"/>
              <a:ext cx="2640600" cy="360"/>
            </a:xfrm>
            <a:custGeom>
              <a:avLst/>
              <a:gdLst/>
              <a:ahLst/>
              <a:rect l="l" t="t" r="r" b="b"/>
              <a:pathLst>
                <a:path w="2643504" h="635">
                  <a:moveTo>
                    <a:pt x="2642999" y="0"/>
                  </a:moveTo>
                  <a:lnTo>
                    <a:pt x="1264349" y="0"/>
                  </a:lnTo>
                  <a:lnTo>
                    <a:pt x="1264349" y="599"/>
                  </a:lnTo>
                  <a:lnTo>
                    <a:pt x="0" y="5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964" name="object 11" descr=""/>
            <p:cNvPicPr/>
            <p:nvPr/>
          </p:nvPicPr>
          <p:blipFill>
            <a:blip r:embed="rId2"/>
            <a:stretch/>
          </p:blipFill>
          <p:spPr>
            <a:xfrm>
              <a:off x="2405160" y="229896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65" name="object 12"/>
          <p:cNvSpPr/>
          <p:nvPr/>
        </p:nvSpPr>
        <p:spPr>
          <a:xfrm>
            <a:off x="5281560" y="1939320"/>
            <a:ext cx="263772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algn="ctr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default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number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replicas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1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if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parameter wasn’t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provided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66" name="object 13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6E78363-3EF7-4E0B-B5BB-715D56654F8B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Template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Attributes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Replica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defined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under</a:t>
            </a:r>
            <a:r>
              <a:rPr b="0" lang="fr-FR" sz="1600" spc="-10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spec.template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968" name="object 15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10030A2-0E56-417B-A7C8-1F7F3A68F171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969" name="" descr=""/>
          <p:cNvPicPr/>
          <p:nvPr/>
        </p:nvPicPr>
        <p:blipFill>
          <a:blip r:embed="rId1"/>
          <a:stretch/>
        </p:blipFill>
        <p:spPr>
          <a:xfrm>
            <a:off x="407880" y="1145880"/>
            <a:ext cx="8050320" cy="3532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Creates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error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label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selector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template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labels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do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match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971" name="object 19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590C3FC-D719-4219-98EC-77F6F5A78884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972" name="" descr=""/>
          <p:cNvPicPr/>
          <p:nvPr/>
        </p:nvPicPr>
        <p:blipFill>
          <a:blip r:embed="rId1"/>
          <a:stretch/>
        </p:blipFill>
        <p:spPr>
          <a:xfrm>
            <a:off x="540000" y="1260000"/>
            <a:ext cx="5708520" cy="3474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Deployments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ReplicaSet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identified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prefix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974" name="object 3"/>
          <p:cNvGrpSpPr/>
          <p:nvPr/>
        </p:nvGrpSpPr>
        <p:grpSpPr>
          <a:xfrm>
            <a:off x="435600" y="1337400"/>
            <a:ext cx="8188560" cy="2469600"/>
            <a:chOff x="435600" y="1337400"/>
            <a:chExt cx="8188560" cy="2469600"/>
          </a:xfrm>
        </p:grpSpPr>
        <p:pic>
          <p:nvPicPr>
            <p:cNvPr id="975" name="object 4" descr=""/>
            <p:cNvPicPr/>
            <p:nvPr/>
          </p:nvPicPr>
          <p:blipFill>
            <a:blip r:embed="rId1"/>
            <a:stretch/>
          </p:blipFill>
          <p:spPr>
            <a:xfrm>
              <a:off x="435600" y="1337400"/>
              <a:ext cx="8188560" cy="2469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76" name="object 5"/>
            <p:cNvSpPr/>
            <p:nvPr/>
          </p:nvSpPr>
          <p:spPr>
            <a:xfrm>
              <a:off x="489240" y="1386000"/>
              <a:ext cx="8074440" cy="2355480"/>
            </a:xfrm>
            <a:custGeom>
              <a:avLst/>
              <a:gdLst/>
              <a:ahLst/>
              <a:rect l="l" t="t" r="r" b="b"/>
              <a:pathLst>
                <a:path w="8077200" h="2358390">
                  <a:moveTo>
                    <a:pt x="8077199" y="2358299"/>
                  </a:moveTo>
                  <a:lnTo>
                    <a:pt x="0" y="2358299"/>
                  </a:lnTo>
                  <a:lnTo>
                    <a:pt x="0" y="0"/>
                  </a:lnTo>
                  <a:lnTo>
                    <a:pt x="8077199" y="0"/>
                  </a:lnTo>
                  <a:lnTo>
                    <a:pt x="8077199" y="23582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77" name="object 6"/>
          <p:cNvSpPr/>
          <p:nvPr/>
        </p:nvSpPr>
        <p:spPr>
          <a:xfrm>
            <a:off x="664200" y="1545840"/>
            <a:ext cx="4917240" cy="64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deployments,pods,replicasets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  <a:tabLst>
                <a:tab algn="l" pos="2986560"/>
                <a:tab algn="l" pos="383976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UP-TO-DATE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  <a:tabLst>
                <a:tab algn="l" pos="2986560"/>
                <a:tab algn="l" pos="383976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1/1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78" name="object 7"/>
          <p:cNvSpPr/>
          <p:nvPr/>
        </p:nvSpPr>
        <p:spPr>
          <a:xfrm>
            <a:off x="5891040" y="1755360"/>
            <a:ext cx="97056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AVAILABLE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79" name="object 8"/>
          <p:cNvSpPr/>
          <p:nvPr/>
        </p:nvSpPr>
        <p:spPr>
          <a:xfrm>
            <a:off x="7171200" y="1755360"/>
            <a:ext cx="54324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7m56s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80" name="object 9"/>
          <p:cNvSpPr/>
          <p:nvPr/>
        </p:nvSpPr>
        <p:spPr>
          <a:xfrm>
            <a:off x="664200" y="2384280"/>
            <a:ext cx="32101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pod/my-deploy-8448c488b5-mzx5g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81" name="object 10"/>
          <p:cNvSpPr/>
          <p:nvPr/>
        </p:nvSpPr>
        <p:spPr>
          <a:xfrm>
            <a:off x="4183920" y="2384280"/>
            <a:ext cx="5439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1/1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82" name="object 11"/>
          <p:cNvSpPr/>
          <p:nvPr/>
        </p:nvSpPr>
        <p:spPr>
          <a:xfrm>
            <a:off x="5037480" y="2384280"/>
            <a:ext cx="7567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83" name="object 12"/>
          <p:cNvSpPr/>
          <p:nvPr/>
        </p:nvSpPr>
        <p:spPr>
          <a:xfrm>
            <a:off x="6104160" y="2384280"/>
            <a:ext cx="8640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RESTARTS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84" name="object 13"/>
          <p:cNvSpPr/>
          <p:nvPr/>
        </p:nvSpPr>
        <p:spPr>
          <a:xfrm>
            <a:off x="7277760" y="2384280"/>
            <a:ext cx="54324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7m56s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85" name="object 14"/>
          <p:cNvSpPr/>
          <p:nvPr/>
        </p:nvSpPr>
        <p:spPr>
          <a:xfrm>
            <a:off x="4824000" y="3012840"/>
            <a:ext cx="75708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DESIRED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86" name="object 15"/>
          <p:cNvSpPr/>
          <p:nvPr/>
        </p:nvSpPr>
        <p:spPr>
          <a:xfrm>
            <a:off x="5890680" y="3012840"/>
            <a:ext cx="256860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>
              <a:lnSpc>
                <a:spcPts val="1650"/>
              </a:lnSpc>
              <a:spcBef>
                <a:spcPts val="65"/>
              </a:spcBef>
              <a:buNone/>
              <a:tabLst>
                <a:tab algn="l" pos="1066320"/>
                <a:tab algn="l" pos="19202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CURREN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  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spcBef>
                <a:spcPts val="65"/>
              </a:spcBef>
              <a:buNone/>
              <a:tabLst>
                <a:tab algn="l" pos="1066320"/>
                <a:tab algn="l" pos="192024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7m56s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87" name="object 16"/>
          <p:cNvSpPr/>
          <p:nvPr/>
        </p:nvSpPr>
        <p:spPr>
          <a:xfrm>
            <a:off x="664200" y="3012840"/>
            <a:ext cx="38502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replicaset.apps/my-deploy-8448c488b5 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88" name="object 17"/>
          <p:cNvSpPr/>
          <p:nvPr/>
        </p:nvSpPr>
        <p:spPr>
          <a:xfrm>
            <a:off x="1053000" y="1964880"/>
            <a:ext cx="2409480" cy="1548360"/>
          </a:xfrm>
          <a:custGeom>
            <a:avLst/>
            <a:gdLst/>
            <a:ahLst/>
            <a:rect l="l" t="t" r="r" b="b"/>
            <a:pathLst>
              <a:path w="2412365" h="1551304">
                <a:moveTo>
                  <a:pt x="0" y="619549"/>
                </a:moveTo>
                <a:lnTo>
                  <a:pt x="1137299" y="619549"/>
                </a:lnTo>
                <a:lnTo>
                  <a:pt x="1137299" y="931849"/>
                </a:lnTo>
                <a:lnTo>
                  <a:pt x="0" y="931849"/>
                </a:lnTo>
                <a:lnTo>
                  <a:pt x="0" y="619549"/>
                </a:lnTo>
                <a:close/>
              </a:path>
              <a:path w="2412365" h="1551304">
                <a:moveTo>
                  <a:pt x="1274473" y="1238724"/>
                </a:moveTo>
                <a:lnTo>
                  <a:pt x="2411773" y="1238724"/>
                </a:lnTo>
                <a:lnTo>
                  <a:pt x="2411773" y="1551024"/>
                </a:lnTo>
                <a:lnTo>
                  <a:pt x="1274473" y="1551024"/>
                </a:lnTo>
                <a:lnTo>
                  <a:pt x="1274473" y="1238724"/>
                </a:lnTo>
                <a:close/>
              </a:path>
              <a:path w="2412365" h="1551304">
                <a:moveTo>
                  <a:pt x="1274473" y="0"/>
                </a:moveTo>
                <a:lnTo>
                  <a:pt x="2349073" y="0"/>
                </a:lnTo>
                <a:lnTo>
                  <a:pt x="2349073" y="312299"/>
                </a:lnTo>
                <a:lnTo>
                  <a:pt x="1274473" y="312299"/>
                </a:lnTo>
                <a:lnTo>
                  <a:pt x="1274473" y="0"/>
                </a:lnTo>
                <a:close/>
              </a:path>
            </a:pathLst>
          </a:custGeom>
          <a:noFill/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9" name="object 18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F893AB3-08BF-4F32-9D3B-82EF8FE9C11D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Rendering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Details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details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show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relationship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between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parent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child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991" name="object 3"/>
          <p:cNvGrpSpPr/>
          <p:nvPr/>
        </p:nvGrpSpPr>
        <p:grpSpPr>
          <a:xfrm>
            <a:off x="458280" y="1319400"/>
            <a:ext cx="7539840" cy="2507400"/>
            <a:chOff x="458280" y="1319400"/>
            <a:chExt cx="7539840" cy="2507400"/>
          </a:xfrm>
        </p:grpSpPr>
        <p:pic>
          <p:nvPicPr>
            <p:cNvPr id="992" name="object 4" descr=""/>
            <p:cNvPicPr/>
            <p:nvPr/>
          </p:nvPicPr>
          <p:blipFill>
            <a:blip r:embed="rId1"/>
            <a:stretch/>
          </p:blipFill>
          <p:spPr>
            <a:xfrm>
              <a:off x="458280" y="1319400"/>
              <a:ext cx="7539840" cy="2507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93" name="object 5"/>
            <p:cNvSpPr/>
            <p:nvPr/>
          </p:nvSpPr>
          <p:spPr>
            <a:xfrm>
              <a:off x="511560" y="1367640"/>
              <a:ext cx="7426080" cy="2393640"/>
            </a:xfrm>
            <a:custGeom>
              <a:avLst/>
              <a:gdLst/>
              <a:ahLst/>
              <a:rect l="l" t="t" r="r" b="b"/>
              <a:pathLst>
                <a:path w="7428865" h="2396490">
                  <a:moveTo>
                    <a:pt x="7428299" y="2396100"/>
                  </a:moveTo>
                  <a:lnTo>
                    <a:pt x="0" y="2396100"/>
                  </a:lnTo>
                  <a:lnTo>
                    <a:pt x="0" y="0"/>
                  </a:lnTo>
                  <a:lnTo>
                    <a:pt x="7428299" y="0"/>
                  </a:lnTo>
                  <a:lnTo>
                    <a:pt x="7428299" y="2396100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94" name="object 6"/>
          <p:cNvSpPr/>
          <p:nvPr/>
        </p:nvSpPr>
        <p:spPr>
          <a:xfrm>
            <a:off x="665280" y="1510200"/>
            <a:ext cx="43812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95" name="object 11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786E013-F64C-4C98-96FF-D5BEDAAC6FC2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996" name="object 7"/>
          <p:cNvSpPr/>
          <p:nvPr/>
        </p:nvSpPr>
        <p:spPr>
          <a:xfrm>
            <a:off x="665280" y="1710360"/>
            <a:ext cx="9140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Replicas: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97" name="object 8"/>
          <p:cNvSpPr/>
          <p:nvPr/>
        </p:nvSpPr>
        <p:spPr>
          <a:xfrm>
            <a:off x="665280" y="2110320"/>
            <a:ext cx="14094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NewReplicaSet: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98" name="object 9"/>
          <p:cNvSpPr/>
          <p:nvPr/>
        </p:nvSpPr>
        <p:spPr>
          <a:xfrm>
            <a:off x="2349000" y="1710360"/>
            <a:ext cx="538920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70596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desired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|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updated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|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total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|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available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|</a:t>
            </a:r>
            <a:endParaRPr b="0" lang="fr-FR" sz="1300" spc="-1" strike="noStrike">
              <a:latin typeface="Arial"/>
            </a:endParaRPr>
          </a:p>
          <a:p>
            <a:pPr marL="70596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unavailable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my-deploy-8448c488b5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(1/1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replicas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created)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99" name="object 10"/>
          <p:cNvSpPr/>
          <p:nvPr/>
        </p:nvSpPr>
        <p:spPr>
          <a:xfrm>
            <a:off x="665280" y="2510280"/>
            <a:ext cx="5470920" cy="10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replicaset.apps/my-deploy-8448c488b5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  <a:tabLst>
                <a:tab algn="l" pos="15969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Controlled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By: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Deployment/my-deploy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  <a:tabLst>
                <a:tab algn="l" pos="1596960"/>
              </a:tabLst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  <a:tabLst>
                <a:tab algn="l" pos="1596960"/>
              </a:tabLst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pod/my-deploy-8448c488b5-mzx5g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  <a:tabLst>
                <a:tab algn="l" pos="15969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Controlled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By: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ReplicaSet/my-deploy-8448c488b5</a:t>
            </a:r>
            <a:endParaRPr b="0" lang="fr-FR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Roll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Out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Roll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Back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Feature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"Look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ma,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shiny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new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features.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Let’s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deploy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them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production!"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01" name="object 3" descr=""/>
          <p:cNvPicPr/>
          <p:nvPr/>
        </p:nvPicPr>
        <p:blipFill>
          <a:blip r:embed="rId1"/>
          <a:stretch/>
        </p:blipFill>
        <p:spPr>
          <a:xfrm>
            <a:off x="900360" y="1733400"/>
            <a:ext cx="7253280" cy="2759400"/>
          </a:xfrm>
          <a:prstGeom prst="rect">
            <a:avLst/>
          </a:prstGeom>
          <a:ln w="0">
            <a:noFill/>
          </a:ln>
        </p:spPr>
      </p:pic>
      <p:sp>
        <p:nvSpPr>
          <p:cNvPr id="1002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90AD5BF-8159-43B7-ACFB-E5D8E3B55B5A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Rolling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Out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New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Revision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rollout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history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keeps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track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changes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004" name="object 3"/>
          <p:cNvGrpSpPr/>
          <p:nvPr/>
        </p:nvGrpSpPr>
        <p:grpSpPr>
          <a:xfrm>
            <a:off x="448560" y="1338480"/>
            <a:ext cx="6327720" cy="3020400"/>
            <a:chOff x="448560" y="1338480"/>
            <a:chExt cx="6327720" cy="3020400"/>
          </a:xfrm>
        </p:grpSpPr>
        <p:pic>
          <p:nvPicPr>
            <p:cNvPr id="1005" name="object 4" descr=""/>
            <p:cNvPicPr/>
            <p:nvPr/>
          </p:nvPicPr>
          <p:blipFill>
            <a:blip r:embed="rId1"/>
            <a:stretch/>
          </p:blipFill>
          <p:spPr>
            <a:xfrm>
              <a:off x="448560" y="1338480"/>
              <a:ext cx="6327720" cy="3020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006" name="object 5"/>
            <p:cNvSpPr/>
            <p:nvPr/>
          </p:nvSpPr>
          <p:spPr>
            <a:xfrm>
              <a:off x="502200" y="1386720"/>
              <a:ext cx="6213600" cy="2906640"/>
            </a:xfrm>
            <a:custGeom>
              <a:avLst/>
              <a:gdLst/>
              <a:ahLst/>
              <a:rect l="l" t="t" r="r" b="b"/>
              <a:pathLst>
                <a:path w="6216650" h="2909570">
                  <a:moveTo>
                    <a:pt x="6216300" y="2909099"/>
                  </a:moveTo>
                  <a:lnTo>
                    <a:pt x="0" y="2909099"/>
                  </a:lnTo>
                  <a:lnTo>
                    <a:pt x="0" y="0"/>
                  </a:lnTo>
                  <a:lnTo>
                    <a:pt x="6216300" y="0"/>
                  </a:lnTo>
                  <a:lnTo>
                    <a:pt x="6216300" y="29090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007" name="object 6"/>
          <p:cNvSpPr/>
          <p:nvPr/>
        </p:nvSpPr>
        <p:spPr>
          <a:xfrm>
            <a:off x="668160" y="1529640"/>
            <a:ext cx="4566600" cy="8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rollout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history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1000"/>
              </a:lnSpc>
              <a:buNone/>
              <a:tabLst>
                <a:tab algn="l" pos="99000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  REVISION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CHANGE-CAUSE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99000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008" name="object 7"/>
          <p:cNvSpPr/>
          <p:nvPr/>
        </p:nvSpPr>
        <p:spPr>
          <a:xfrm>
            <a:off x="668160" y="2529720"/>
            <a:ext cx="9014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9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009" name="object 8"/>
          <p:cNvSpPr/>
          <p:nvPr/>
        </p:nvSpPr>
        <p:spPr>
          <a:xfrm>
            <a:off x="1613160" y="2527560"/>
            <a:ext cx="991440" cy="2124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4760" bIns="0" anchor="t">
            <a:spAutoFit/>
          </a:bodyPr>
          <a:p>
            <a:pPr marL="45000">
              <a:lnSpc>
                <a:spcPct val="100000"/>
              </a:lnSpc>
              <a:spcBef>
                <a:spcPts val="113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set</a:t>
            </a:r>
            <a:r>
              <a:rPr b="1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010" name="object 9"/>
          <p:cNvSpPr/>
          <p:nvPr/>
        </p:nvSpPr>
        <p:spPr>
          <a:xfrm>
            <a:off x="2649240" y="2529720"/>
            <a:ext cx="38732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r>
              <a:rPr b="1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nginx=nginx:1.19.2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011" name="object 10"/>
          <p:cNvSpPr/>
          <p:nvPr/>
        </p:nvSpPr>
        <p:spPr>
          <a:xfrm>
            <a:off x="668160" y="2729880"/>
            <a:ext cx="4566600" cy="14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updated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rollout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history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1000"/>
              </a:lnSpc>
              <a:buNone/>
              <a:tabLst>
                <a:tab algn="l" pos="99000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  REVISION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CHANGE-CAUSE</a:t>
            </a:r>
            <a:endParaRPr b="0" lang="fr-FR" sz="1300" spc="-1" strike="noStrike">
              <a:latin typeface="Arial"/>
            </a:endParaRPr>
          </a:p>
          <a:p>
            <a:pPr marL="990000" indent="-990720">
              <a:lnSpc>
                <a:spcPct val="100000"/>
              </a:lnSpc>
              <a:spcBef>
                <a:spcPts val="11"/>
              </a:spcBef>
              <a:buClr>
                <a:srgbClr val="000000"/>
              </a:buClr>
              <a:buFont typeface="StarSymbol"/>
              <a:buAutoNum type="arabicPlain"/>
              <a:tabLst>
                <a:tab algn="l" pos="990000"/>
                <a:tab algn="l" pos="9907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  <a:p>
            <a:pPr marL="990000" indent="-9907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/>
              <a:tabLst>
                <a:tab algn="l" pos="990000"/>
                <a:tab algn="l" pos="9907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012" name="object 11"/>
          <p:cNvGrpSpPr/>
          <p:nvPr/>
        </p:nvGrpSpPr>
        <p:grpSpPr>
          <a:xfrm>
            <a:off x="6844320" y="2608560"/>
            <a:ext cx="482040" cy="79200"/>
            <a:chOff x="6844320" y="2608560"/>
            <a:chExt cx="482040" cy="79200"/>
          </a:xfrm>
        </p:grpSpPr>
        <p:sp>
          <p:nvSpPr>
            <p:cNvPr id="1013" name="object 12"/>
            <p:cNvSpPr/>
            <p:nvPr/>
          </p:nvSpPr>
          <p:spPr>
            <a:xfrm>
              <a:off x="6940440" y="2649600"/>
              <a:ext cx="385920" cy="360"/>
            </a:xfrm>
            <a:custGeom>
              <a:avLst/>
              <a:gdLst/>
              <a:ahLst/>
              <a:rect l="l" t="t" r="r" b="b"/>
              <a:pathLst>
                <a:path w="388620" h="0">
                  <a:moveTo>
                    <a:pt x="3884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014" name="object 13" descr=""/>
            <p:cNvPicPr/>
            <p:nvPr/>
          </p:nvPicPr>
          <p:blipFill>
            <a:blip r:embed="rId2"/>
            <a:stretch/>
          </p:blipFill>
          <p:spPr>
            <a:xfrm>
              <a:off x="6844320" y="260856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015" name="object 14"/>
          <p:cNvSpPr/>
          <p:nvPr/>
        </p:nvSpPr>
        <p:spPr>
          <a:xfrm>
            <a:off x="7427160" y="2291400"/>
            <a:ext cx="157104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1440" algn="ctr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Changes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assigned image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template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016" name="object 15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C706926-7DD1-4BD3-8C8D-6C2C868FAF49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Rolling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Back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to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Previous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Revision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revert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revision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available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history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018" name="object 3"/>
          <p:cNvGrpSpPr/>
          <p:nvPr/>
        </p:nvGrpSpPr>
        <p:grpSpPr>
          <a:xfrm>
            <a:off x="458280" y="1338480"/>
            <a:ext cx="6327720" cy="2032920"/>
            <a:chOff x="458280" y="1338480"/>
            <a:chExt cx="6327720" cy="2032920"/>
          </a:xfrm>
        </p:grpSpPr>
        <p:pic>
          <p:nvPicPr>
            <p:cNvPr id="1019" name="object 4" descr=""/>
            <p:cNvPicPr/>
            <p:nvPr/>
          </p:nvPicPr>
          <p:blipFill>
            <a:blip r:embed="rId1"/>
            <a:stretch/>
          </p:blipFill>
          <p:spPr>
            <a:xfrm>
              <a:off x="458280" y="1338480"/>
              <a:ext cx="6327720" cy="20329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020" name="object 5"/>
            <p:cNvSpPr/>
            <p:nvPr/>
          </p:nvSpPr>
          <p:spPr>
            <a:xfrm>
              <a:off x="511560" y="1386720"/>
              <a:ext cx="6213600" cy="1918800"/>
            </a:xfrm>
            <a:custGeom>
              <a:avLst/>
              <a:gdLst/>
              <a:ahLst/>
              <a:rect l="l" t="t" r="r" b="b"/>
              <a:pathLst>
                <a:path w="6216650" h="1921510">
                  <a:moveTo>
                    <a:pt x="6216299" y="1921499"/>
                  </a:moveTo>
                  <a:lnTo>
                    <a:pt x="0" y="1921499"/>
                  </a:lnTo>
                  <a:lnTo>
                    <a:pt x="0" y="0"/>
                  </a:lnTo>
                  <a:lnTo>
                    <a:pt x="6216299" y="0"/>
                  </a:lnTo>
                  <a:lnTo>
                    <a:pt x="6216299" y="1921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021" name="object 6"/>
          <p:cNvSpPr/>
          <p:nvPr/>
        </p:nvSpPr>
        <p:spPr>
          <a:xfrm>
            <a:off x="511560" y="1567080"/>
            <a:ext cx="6213600" cy="156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>
              <a:lnSpc>
                <a:spcPct val="100000"/>
              </a:lnSpc>
              <a:spcBef>
                <a:spcPts val="121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rollout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undo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--to-revision=1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rolled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6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65600">
              <a:lnSpc>
                <a:spcPct val="100000"/>
              </a:lnSpc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rollout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history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1000"/>
              </a:lnSpc>
              <a:buNone/>
              <a:tabLst>
                <a:tab algn="l" pos="11563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  REVISION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CHANGE-CAUSE</a:t>
            </a:r>
            <a:endParaRPr b="0" lang="fr-FR" sz="1300" spc="-1" strike="noStrike">
              <a:latin typeface="Arial"/>
            </a:endParaRPr>
          </a:p>
          <a:p>
            <a:pPr marL="1156320" indent="-99108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 startAt="2"/>
              <a:tabLst>
                <a:tab algn="l" pos="1156320"/>
                <a:tab algn="l" pos="11570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  <a:p>
            <a:pPr marL="1156320" indent="-99108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 startAt="2"/>
              <a:tabLst>
                <a:tab algn="l" pos="1156320"/>
                <a:tab algn="l" pos="11570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022" name="object 7"/>
          <p:cNvGrpSpPr/>
          <p:nvPr/>
        </p:nvGrpSpPr>
        <p:grpSpPr>
          <a:xfrm>
            <a:off x="615240" y="2940480"/>
            <a:ext cx="760680" cy="939960"/>
            <a:chOff x="615240" y="2940480"/>
            <a:chExt cx="760680" cy="939960"/>
          </a:xfrm>
        </p:grpSpPr>
        <p:sp>
          <p:nvSpPr>
            <p:cNvPr id="1023" name="object 8"/>
            <p:cNvSpPr/>
            <p:nvPr/>
          </p:nvSpPr>
          <p:spPr>
            <a:xfrm>
              <a:off x="713880" y="3503520"/>
              <a:ext cx="662040" cy="376920"/>
            </a:xfrm>
            <a:custGeom>
              <a:avLst/>
              <a:gdLst/>
              <a:ahLst/>
              <a:rect l="l" t="t" r="r" b="b"/>
              <a:pathLst>
                <a:path w="664844" h="379729">
                  <a:moveTo>
                    <a:pt x="664274" y="379500"/>
                  </a:moveTo>
                  <a:lnTo>
                    <a:pt x="0" y="379500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024" name="object 9" descr=""/>
            <p:cNvPicPr/>
            <p:nvPr/>
          </p:nvPicPr>
          <p:blipFill>
            <a:blip r:embed="rId2"/>
            <a:stretch/>
          </p:blipFill>
          <p:spPr>
            <a:xfrm>
              <a:off x="672840" y="3407400"/>
              <a:ext cx="7920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025" name="object 10"/>
            <p:cNvSpPr/>
            <p:nvPr/>
          </p:nvSpPr>
          <p:spPr>
            <a:xfrm>
              <a:off x="615240" y="2940480"/>
              <a:ext cx="239760" cy="239760"/>
            </a:xfrm>
            <a:custGeom>
              <a:avLst/>
              <a:gdLst/>
              <a:ahLst/>
              <a:rect l="l" t="t" r="r" b="b"/>
              <a:pathLst>
                <a:path w="242569" h="242569">
                  <a:moveTo>
                    <a:pt x="0" y="0"/>
                  </a:moveTo>
                  <a:lnTo>
                    <a:pt x="242099" y="0"/>
                  </a:lnTo>
                  <a:lnTo>
                    <a:pt x="242099" y="242399"/>
                  </a:lnTo>
                  <a:lnTo>
                    <a:pt x="0" y="2423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026" name="object 11"/>
          <p:cNvSpPr/>
          <p:nvPr/>
        </p:nvSpPr>
        <p:spPr>
          <a:xfrm>
            <a:off x="1508400" y="3656160"/>
            <a:ext cx="31698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70640" indent="-15876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deduplicates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revision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if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it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points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same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changes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027" name="object 12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544DA04-FF06-4F17-9F29-FD803EB369FC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Setting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3" strike="noStrike">
                <a:solidFill>
                  <a:srgbClr val="000000"/>
                </a:solidFill>
                <a:latin typeface="Tahoma"/>
              </a:rPr>
              <a:t>Change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7" strike="noStrike">
                <a:solidFill>
                  <a:srgbClr val="000000"/>
                </a:solidFill>
                <a:latin typeface="Tahoma"/>
              </a:rPr>
              <a:t>Cause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Revision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Tracked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annotation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key</a:t>
            </a:r>
            <a:r>
              <a:rPr b="0" lang="fr-FR" sz="1600" spc="-10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kubernetes.io/change-cause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029" name="object 3"/>
          <p:cNvGrpSpPr/>
          <p:nvPr/>
        </p:nvGrpSpPr>
        <p:grpSpPr>
          <a:xfrm>
            <a:off x="458280" y="1338480"/>
            <a:ext cx="5621400" cy="3434400"/>
            <a:chOff x="458280" y="1338480"/>
            <a:chExt cx="5621400" cy="3434400"/>
          </a:xfrm>
        </p:grpSpPr>
        <p:pic>
          <p:nvPicPr>
            <p:cNvPr id="1030" name="object 4" descr=""/>
            <p:cNvPicPr/>
            <p:nvPr/>
          </p:nvPicPr>
          <p:blipFill>
            <a:blip r:embed="rId1"/>
            <a:stretch/>
          </p:blipFill>
          <p:spPr>
            <a:xfrm>
              <a:off x="458280" y="1338480"/>
              <a:ext cx="5621400" cy="3434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031" name="object 5"/>
            <p:cNvSpPr/>
            <p:nvPr/>
          </p:nvSpPr>
          <p:spPr>
            <a:xfrm>
              <a:off x="511560" y="1386720"/>
              <a:ext cx="5507640" cy="3320640"/>
            </a:xfrm>
            <a:custGeom>
              <a:avLst/>
              <a:gdLst/>
              <a:ahLst/>
              <a:rect l="l" t="t" r="r" b="b"/>
              <a:pathLst>
                <a:path w="5510530" h="3323590">
                  <a:moveTo>
                    <a:pt x="5510099" y="3323099"/>
                  </a:moveTo>
                  <a:lnTo>
                    <a:pt x="0" y="3323099"/>
                  </a:lnTo>
                  <a:lnTo>
                    <a:pt x="0" y="0"/>
                  </a:lnTo>
                  <a:lnTo>
                    <a:pt x="5510099" y="0"/>
                  </a:lnTo>
                  <a:lnTo>
                    <a:pt x="5510099" y="33230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032" name="object 6"/>
          <p:cNvSpPr/>
          <p:nvPr/>
        </p:nvSpPr>
        <p:spPr>
          <a:xfrm>
            <a:off x="665280" y="1529640"/>
            <a:ext cx="4579200" cy="10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rollout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history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  <a:tabLst>
                <a:tab algn="l" pos="100260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  REVISION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CHANGE-CAUSE</a:t>
            </a:r>
            <a:endParaRPr b="0" lang="fr-FR" sz="1300" spc="-1" strike="noStrike">
              <a:latin typeface="Arial"/>
            </a:endParaRPr>
          </a:p>
          <a:p>
            <a:pPr marL="1002600" indent="-9907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 startAt="2"/>
              <a:tabLst>
                <a:tab algn="l" pos="1002600"/>
                <a:tab algn="l" pos="10033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  <a:p>
            <a:pPr marL="1002600" indent="-9907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 startAt="2"/>
              <a:tabLst>
                <a:tab algn="l" pos="1002600"/>
                <a:tab algn="l" pos="10033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033" name="object 7"/>
          <p:cNvSpPr/>
          <p:nvPr/>
        </p:nvSpPr>
        <p:spPr>
          <a:xfrm>
            <a:off x="665280" y="2729160"/>
            <a:ext cx="43729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annotate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034" name="object 8"/>
          <p:cNvSpPr/>
          <p:nvPr/>
        </p:nvSpPr>
        <p:spPr>
          <a:xfrm>
            <a:off x="665280" y="2939400"/>
            <a:ext cx="5172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kubernetes.io/change-cause="image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updated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1.16.1"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300" spc="-4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annotated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035" name="object 9"/>
          <p:cNvSpPr/>
          <p:nvPr/>
        </p:nvSpPr>
        <p:spPr>
          <a:xfrm>
            <a:off x="665280" y="3520440"/>
            <a:ext cx="4579200" cy="10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rollout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history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  <a:tabLst>
                <a:tab algn="l" pos="100260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  REVISION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CHANGE-CAUSE</a:t>
            </a:r>
            <a:endParaRPr b="0" lang="fr-FR" sz="1300" spc="-1" strike="noStrike">
              <a:latin typeface="Arial"/>
            </a:endParaRPr>
          </a:p>
          <a:p>
            <a:pPr marL="1002600" indent="-9907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 startAt="2"/>
              <a:tabLst>
                <a:tab algn="l" pos="1002600"/>
                <a:tab algn="l" pos="10033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  <a:p>
            <a:pPr marL="1002600" indent="-9907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 startAt="2"/>
              <a:tabLst>
                <a:tab algn="l" pos="1002600"/>
                <a:tab algn="l" pos="10033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updated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1.16.1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036" name="object 10"/>
          <p:cNvSpPr/>
          <p:nvPr/>
        </p:nvSpPr>
        <p:spPr>
          <a:xfrm>
            <a:off x="3301200" y="2942640"/>
            <a:ext cx="2594160" cy="239760"/>
          </a:xfrm>
          <a:custGeom>
            <a:avLst/>
            <a:gdLst/>
            <a:ahLst/>
            <a:rect l="l" t="t" r="r" b="b"/>
            <a:pathLst>
              <a:path w="2597150" h="242569">
                <a:moveTo>
                  <a:pt x="0" y="0"/>
                </a:moveTo>
                <a:lnTo>
                  <a:pt x="2596799" y="0"/>
                </a:lnTo>
                <a:lnTo>
                  <a:pt x="2596799" y="242399"/>
                </a:lnTo>
                <a:lnTo>
                  <a:pt x="0" y="242399"/>
                </a:lnTo>
                <a:lnTo>
                  <a:pt x="0" y="0"/>
                </a:lnTo>
                <a:close/>
              </a:path>
            </a:pathLst>
          </a:custGeom>
          <a:noFill/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037" name="object 11"/>
          <p:cNvGrpSpPr/>
          <p:nvPr/>
        </p:nvGrpSpPr>
        <p:grpSpPr>
          <a:xfrm>
            <a:off x="6180480" y="3022560"/>
            <a:ext cx="481680" cy="79200"/>
            <a:chOff x="6180480" y="3022560"/>
            <a:chExt cx="481680" cy="79200"/>
          </a:xfrm>
        </p:grpSpPr>
        <p:sp>
          <p:nvSpPr>
            <p:cNvPr id="1038" name="object 12"/>
            <p:cNvSpPr/>
            <p:nvPr/>
          </p:nvSpPr>
          <p:spPr>
            <a:xfrm>
              <a:off x="6276240" y="3063600"/>
              <a:ext cx="385920" cy="360"/>
            </a:xfrm>
            <a:custGeom>
              <a:avLst/>
              <a:gdLst/>
              <a:ahLst/>
              <a:rect l="l" t="t" r="r" b="b"/>
              <a:pathLst>
                <a:path w="388620" h="0">
                  <a:moveTo>
                    <a:pt x="3884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039" name="object 13" descr=""/>
            <p:cNvPicPr/>
            <p:nvPr/>
          </p:nvPicPr>
          <p:blipFill>
            <a:blip r:embed="rId2"/>
            <a:stretch/>
          </p:blipFill>
          <p:spPr>
            <a:xfrm>
              <a:off x="6180480" y="302256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040" name="object 14"/>
          <p:cNvSpPr/>
          <p:nvPr/>
        </p:nvSpPr>
        <p:spPr>
          <a:xfrm>
            <a:off x="6833160" y="2806920"/>
            <a:ext cx="162504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12780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What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changed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this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revision?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041" name="object 15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6133041-9C74-4F16-8998-3FC0EA98F8EE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Manually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Scaling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"We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measured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performance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under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load.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Scale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up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exactly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i="1" lang="fr-FR" sz="1600" spc="-185" strike="noStrike">
                <a:solidFill>
                  <a:srgbClr val="666666"/>
                </a:solidFill>
                <a:latin typeface="Verdana"/>
              </a:rPr>
              <a:t>x</a:t>
            </a:r>
            <a:r>
              <a:rPr b="0" i="1" lang="fr-FR" sz="1600" spc="-137" strike="noStrike">
                <a:solidFill>
                  <a:srgbClr val="666666"/>
                </a:solidFill>
                <a:latin typeface="Verdana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number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Pods."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43" name="object 3" descr=""/>
          <p:cNvPicPr/>
          <p:nvPr/>
        </p:nvPicPr>
        <p:blipFill>
          <a:blip r:embed="rId1"/>
          <a:stretch/>
        </p:blipFill>
        <p:spPr>
          <a:xfrm>
            <a:off x="865800" y="1873080"/>
            <a:ext cx="7322040" cy="2224440"/>
          </a:xfrm>
          <a:prstGeom prst="rect">
            <a:avLst/>
          </a:prstGeom>
          <a:ln w="0">
            <a:noFill/>
          </a:ln>
        </p:spPr>
      </p:pic>
      <p:sp>
        <p:nvSpPr>
          <p:cNvPr id="1044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A77F9A7-661E-47D7-B8C3-C410018FB0D0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Changing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Number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of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Replicas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scale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command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change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spec.replica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s</a:t>
            </a:r>
            <a:r>
              <a:rPr b="0" lang="fr-FR" sz="1600" spc="-732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attribute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46" name="object 11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C49998D-7516-42A7-9947-E135E5FFE339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047" name="" descr=""/>
          <p:cNvPicPr/>
          <p:nvPr/>
        </p:nvPicPr>
        <p:blipFill>
          <a:blip r:embed="rId1"/>
          <a:stretch/>
        </p:blipFill>
        <p:spPr>
          <a:xfrm>
            <a:off x="567000" y="1260000"/>
            <a:ext cx="8008200" cy="2941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07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049" name="object 3"/>
          <p:cNvSpPr/>
          <p:nvPr/>
        </p:nvSpPr>
        <p:spPr>
          <a:xfrm>
            <a:off x="494280" y="1323360"/>
            <a:ext cx="526392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Performing</a:t>
            </a:r>
            <a:r>
              <a:rPr b="0" lang="fr-FR" sz="2900" spc="-5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rolling</a:t>
            </a:r>
            <a:r>
              <a:rPr b="0" lang="fr-FR" sz="29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updates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manually scaling a 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Deployment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Types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of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Autoscalers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Scaling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decisions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9" strike="noStrike">
                <a:solidFill>
                  <a:srgbClr val="666666"/>
                </a:solidFill>
                <a:latin typeface="Lucida Sans Unicode"/>
              </a:rPr>
              <a:t>made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based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metrics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51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D249508-A710-493C-88EB-4A533371C8A8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052" name="object 3"/>
          <p:cNvSpPr/>
          <p:nvPr/>
        </p:nvSpPr>
        <p:spPr>
          <a:xfrm>
            <a:off x="600120" y="1360440"/>
            <a:ext cx="8218080" cy="25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Horizontal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Pod</a:t>
            </a:r>
            <a:r>
              <a:rPr b="0" i="1" lang="fr-FR" sz="1600" spc="-7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Autoscaler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i="1" lang="fr-FR" sz="1600" spc="-26" strike="noStrike">
                <a:solidFill>
                  <a:srgbClr val="000000"/>
                </a:solidFill>
                <a:latin typeface="Arial"/>
                <a:ea typeface="DejaVu Sans"/>
              </a:rPr>
              <a:t>(HPA):</a:t>
            </a:r>
            <a:r>
              <a:rPr b="0" i="1" lang="fr-FR" sz="1600" spc="-5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standard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feature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scales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number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Pod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replicas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based on CPU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memory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thresholds.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15" strike="noStrike">
                <a:solidFill>
                  <a:srgbClr val="000000"/>
                </a:solidFill>
                <a:latin typeface="Arial"/>
                <a:ea typeface="DejaVu Sans"/>
              </a:rPr>
              <a:t>Vertical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Pod</a:t>
            </a:r>
            <a:r>
              <a:rPr b="0" i="1" lang="fr-FR" sz="1600" spc="-66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Autoscaler </a:t>
            </a:r>
            <a:r>
              <a:rPr b="0" i="1" lang="fr-FR" sz="1600" spc="-26" strike="noStrike">
                <a:solidFill>
                  <a:srgbClr val="000000"/>
                </a:solidFill>
                <a:latin typeface="Arial"/>
                <a:ea typeface="DejaVu Sans"/>
              </a:rPr>
              <a:t>(VPA):</a:t>
            </a:r>
            <a:r>
              <a:rPr b="0" i="1" lang="fr-FR" sz="1600" spc="18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Scales the CPU 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memory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allocation for existing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Pods based on historic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metrics.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Supported by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cloud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provider as an add-on 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be installed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manually.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Both autoscalers use the</a:t>
            </a:r>
            <a:r>
              <a:rPr b="0" lang="fr-FR" sz="1600" spc="-7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metrics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server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 </a:t>
            </a: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 to install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component. 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</a:t>
            </a:r>
            <a:r>
              <a:rPr b="0" lang="fr-FR" sz="1600" spc="-4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should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also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and limits.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Horizontal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Autoscaler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(HPA)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primitive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reaches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into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metrics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server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54" name="object 3" descr=""/>
          <p:cNvPicPr/>
          <p:nvPr/>
        </p:nvPicPr>
        <p:blipFill>
          <a:blip r:embed="rId1"/>
          <a:stretch/>
        </p:blipFill>
        <p:spPr>
          <a:xfrm>
            <a:off x="1729800" y="1537920"/>
            <a:ext cx="5594760" cy="3009600"/>
          </a:xfrm>
          <a:prstGeom prst="rect">
            <a:avLst/>
          </a:prstGeom>
          <a:ln w="0">
            <a:noFill/>
          </a:ln>
        </p:spPr>
      </p:pic>
      <p:sp>
        <p:nvSpPr>
          <p:cNvPr id="1055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B0805A5-0FB3-41E9-9E28-8931D85BF4ED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Autoscaling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9" strike="noStrike">
                <a:solidFill>
                  <a:srgbClr val="000000"/>
                </a:solidFill>
                <a:latin typeface="Tahoma"/>
              </a:rPr>
              <a:t>by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CPU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"Auto-scale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based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average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CPU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utilization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across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replicas."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57" name="object 3" descr=""/>
          <p:cNvPicPr/>
          <p:nvPr/>
        </p:nvPicPr>
        <p:blipFill>
          <a:blip r:embed="rId1"/>
          <a:stretch/>
        </p:blipFill>
        <p:spPr>
          <a:xfrm>
            <a:off x="448200" y="1687680"/>
            <a:ext cx="8157600" cy="2874240"/>
          </a:xfrm>
          <a:prstGeom prst="rect">
            <a:avLst/>
          </a:prstGeom>
          <a:ln w="0">
            <a:noFill/>
          </a:ln>
        </p:spPr>
      </p:pic>
      <p:sp>
        <p:nvSpPr>
          <p:cNvPr id="1058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18B2082-4489-4872-9BCC-2DA32FC5520C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Horizontal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Autoscaler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Creates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error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label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selector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template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labels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do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match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60" name="object 1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7B079B2-68AC-483A-9F23-01EFA902FD1C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061" name="" descr=""/>
          <p:cNvPicPr/>
          <p:nvPr/>
        </p:nvPicPr>
        <p:blipFill>
          <a:blip r:embed="rId1"/>
          <a:stretch/>
        </p:blipFill>
        <p:spPr>
          <a:xfrm>
            <a:off x="489600" y="1207080"/>
            <a:ext cx="7428600" cy="3651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title"/>
          </p:nvPr>
        </p:nvSpPr>
        <p:spPr>
          <a:xfrm>
            <a:off x="511560" y="342720"/>
            <a:ext cx="7946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Horizontal</a:t>
            </a:r>
            <a:r>
              <a:rPr b="1" lang="fr-FR" sz="2400" spc="-126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Autoscaler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scale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command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change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spec.replica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s</a:t>
            </a:r>
            <a:r>
              <a:rPr b="0" lang="fr-FR" sz="1600" spc="-732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attribute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063" name="object 3"/>
          <p:cNvGrpSpPr/>
          <p:nvPr/>
        </p:nvGrpSpPr>
        <p:grpSpPr>
          <a:xfrm>
            <a:off x="458280" y="1338480"/>
            <a:ext cx="7187400" cy="1041120"/>
            <a:chOff x="458280" y="1338480"/>
            <a:chExt cx="7187400" cy="1041120"/>
          </a:xfrm>
        </p:grpSpPr>
        <p:pic>
          <p:nvPicPr>
            <p:cNvPr id="1064" name="object 4" descr=""/>
            <p:cNvPicPr/>
            <p:nvPr/>
          </p:nvPicPr>
          <p:blipFill>
            <a:blip r:embed="rId1"/>
            <a:stretch/>
          </p:blipFill>
          <p:spPr>
            <a:xfrm>
              <a:off x="458280" y="1338480"/>
              <a:ext cx="7187400" cy="1041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065" name="object 5"/>
            <p:cNvSpPr/>
            <p:nvPr/>
          </p:nvSpPr>
          <p:spPr>
            <a:xfrm>
              <a:off x="511560" y="1387080"/>
              <a:ext cx="7073640" cy="927360"/>
            </a:xfrm>
            <a:custGeom>
              <a:avLst/>
              <a:gdLst/>
              <a:ahLst/>
              <a:rect l="l" t="t" r="r" b="b"/>
              <a:pathLst>
                <a:path w="7076440" h="930275">
                  <a:moveTo>
                    <a:pt x="7076099" y="929699"/>
                  </a:moveTo>
                  <a:lnTo>
                    <a:pt x="0" y="929699"/>
                  </a:lnTo>
                  <a:lnTo>
                    <a:pt x="0" y="0"/>
                  </a:lnTo>
                  <a:lnTo>
                    <a:pt x="7076099" y="0"/>
                  </a:lnTo>
                  <a:lnTo>
                    <a:pt x="7076099" y="929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066" name="object 6"/>
          <p:cNvSpPr/>
          <p:nvPr/>
        </p:nvSpPr>
        <p:spPr>
          <a:xfrm>
            <a:off x="665280" y="1530720"/>
            <a:ext cx="144756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1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hpa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067" name="object 7"/>
          <p:cNvSpPr/>
          <p:nvPr/>
        </p:nvSpPr>
        <p:spPr>
          <a:xfrm>
            <a:off x="1670760" y="1702080"/>
            <a:ext cx="169884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REFERENCE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Deployment/app-cache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068" name="object 8"/>
          <p:cNvSpPr/>
          <p:nvPr/>
        </p:nvSpPr>
        <p:spPr>
          <a:xfrm>
            <a:off x="3598560" y="1702080"/>
            <a:ext cx="68328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12600">
              <a:lnSpc>
                <a:spcPct val="102000"/>
              </a:lnSpc>
              <a:spcBef>
                <a:spcPts val="7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TARGETS  15%/80%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069" name="object 9"/>
          <p:cNvSpPr/>
          <p:nvPr/>
        </p:nvSpPr>
        <p:spPr>
          <a:xfrm>
            <a:off x="4436640" y="1702080"/>
            <a:ext cx="60984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12600">
              <a:lnSpc>
                <a:spcPct val="102000"/>
              </a:lnSpc>
              <a:spcBef>
                <a:spcPts val="7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MINPODS  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3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070" name="object 10"/>
          <p:cNvSpPr/>
          <p:nvPr/>
        </p:nvSpPr>
        <p:spPr>
          <a:xfrm>
            <a:off x="5274720" y="1702080"/>
            <a:ext cx="60984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12600">
              <a:lnSpc>
                <a:spcPct val="102000"/>
              </a:lnSpc>
              <a:spcBef>
                <a:spcPts val="7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MAXPODS  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5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071" name="object 11"/>
          <p:cNvSpPr/>
          <p:nvPr/>
        </p:nvSpPr>
        <p:spPr>
          <a:xfrm>
            <a:off x="6028920" y="1702080"/>
            <a:ext cx="119592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12600">
              <a:lnSpc>
                <a:spcPct val="102000"/>
              </a:lnSpc>
              <a:spcBef>
                <a:spcPts val="71"/>
              </a:spcBef>
              <a:buNone/>
              <a:tabLst>
                <a:tab algn="l" pos="93420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REPLICA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AGE  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3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072" name="object 12"/>
          <p:cNvSpPr/>
          <p:nvPr/>
        </p:nvSpPr>
        <p:spPr>
          <a:xfrm>
            <a:off x="665280" y="1702080"/>
            <a:ext cx="77688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2000"/>
              </a:lnSpc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app-cache  2m14s</a:t>
            </a:r>
            <a:endParaRPr b="0" lang="fr-FR" sz="1100" spc="-1" strike="noStrike">
              <a:latin typeface="Arial"/>
            </a:endParaRPr>
          </a:p>
        </p:txBody>
      </p:sp>
      <p:grpSp>
        <p:nvGrpSpPr>
          <p:cNvPr id="1073" name="object 13"/>
          <p:cNvGrpSpPr/>
          <p:nvPr/>
        </p:nvGrpSpPr>
        <p:grpSpPr>
          <a:xfrm>
            <a:off x="3519720" y="1677960"/>
            <a:ext cx="762120" cy="1340280"/>
            <a:chOff x="3519720" y="1677960"/>
            <a:chExt cx="762120" cy="1340280"/>
          </a:xfrm>
        </p:grpSpPr>
        <p:sp>
          <p:nvSpPr>
            <p:cNvPr id="1074" name="object 14"/>
            <p:cNvSpPr/>
            <p:nvPr/>
          </p:nvSpPr>
          <p:spPr>
            <a:xfrm>
              <a:off x="3519720" y="1677960"/>
              <a:ext cx="762120" cy="459360"/>
            </a:xfrm>
            <a:custGeom>
              <a:avLst/>
              <a:gdLst/>
              <a:ahLst/>
              <a:rect l="l" t="t" r="r" b="b"/>
              <a:pathLst>
                <a:path w="765175" h="462280">
                  <a:moveTo>
                    <a:pt x="0" y="0"/>
                  </a:moveTo>
                  <a:lnTo>
                    <a:pt x="764699" y="0"/>
                  </a:lnTo>
                  <a:lnTo>
                    <a:pt x="764699" y="461699"/>
                  </a:lnTo>
                  <a:lnTo>
                    <a:pt x="0" y="4616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75" name="object 15"/>
            <p:cNvSpPr/>
            <p:nvPr/>
          </p:nvSpPr>
          <p:spPr>
            <a:xfrm>
              <a:off x="3917880" y="2350440"/>
              <a:ext cx="360" cy="667800"/>
            </a:xfrm>
            <a:custGeom>
              <a:avLst/>
              <a:gdLst/>
              <a:ahLst/>
              <a:rect l="l" t="t" r="r" b="b"/>
              <a:pathLst>
                <a:path w="1270" h="670560">
                  <a:moveTo>
                    <a:pt x="768" y="6704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076" name="object 16" descr=""/>
            <p:cNvPicPr/>
            <p:nvPr/>
          </p:nvPicPr>
          <p:blipFill>
            <a:blip r:embed="rId2"/>
            <a:stretch/>
          </p:blipFill>
          <p:spPr>
            <a:xfrm>
              <a:off x="3876840" y="225432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077" name="object 17"/>
          <p:cNvSpPr/>
          <p:nvPr/>
        </p:nvSpPr>
        <p:spPr>
          <a:xfrm>
            <a:off x="2502360" y="3110760"/>
            <a:ext cx="325584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Renders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current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utilization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compares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them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thresholds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078" name="object 18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B0B9796-F376-436B-BF1C-78C8C4FC611C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08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080" name="object 3"/>
          <p:cNvSpPr/>
          <p:nvPr/>
        </p:nvSpPr>
        <p:spPr>
          <a:xfrm>
            <a:off x="494280" y="1323360"/>
            <a:ext cx="544392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Creating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Horizontal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Pod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Autoscaler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for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Deployment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3" strike="noStrike">
                <a:solidFill>
                  <a:srgbClr val="000000"/>
                </a:solidFill>
                <a:latin typeface="Tahoma"/>
              </a:rPr>
              <a:t>Common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Strategies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Choosing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right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deployment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procedure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depends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needs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82" name="object 4"/>
          <p:cNvSpPr/>
          <p:nvPr/>
        </p:nvSpPr>
        <p:spPr>
          <a:xfrm>
            <a:off x="8701560" y="4908600"/>
            <a:ext cx="2350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E72F5FA-7A4C-429A-9695-5F7ABCAAD985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083" name="object 3"/>
          <p:cNvSpPr/>
          <p:nvPr/>
        </p:nvSpPr>
        <p:spPr>
          <a:xfrm>
            <a:off x="600120" y="1360440"/>
            <a:ext cx="8038080" cy="274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Rolling Update: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Release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rolling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update fashion, one after 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other.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Recreate:</a:t>
            </a:r>
            <a:r>
              <a:rPr b="0" i="1" lang="fr-FR" sz="1600" spc="-4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Terminate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old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release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Blue/green:</a:t>
            </a:r>
            <a:r>
              <a:rPr b="0" i="1" lang="fr-FR" sz="16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Release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alongside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old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switch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traffic.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Canary: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Release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new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subset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users,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proceed 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full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rollout.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Rolling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Update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Secondary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ReplicaSet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created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new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version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application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85" name="object 3" descr=""/>
          <p:cNvPicPr/>
          <p:nvPr/>
        </p:nvPicPr>
        <p:blipFill>
          <a:blip r:embed="rId1"/>
          <a:stretch/>
        </p:blipFill>
        <p:spPr>
          <a:xfrm>
            <a:off x="1251000" y="1690920"/>
            <a:ext cx="6552360" cy="2896200"/>
          </a:xfrm>
          <a:prstGeom prst="rect">
            <a:avLst/>
          </a:prstGeom>
          <a:ln w="0">
            <a:noFill/>
          </a:ln>
        </p:spPr>
      </p:pic>
      <p:sp>
        <p:nvSpPr>
          <p:cNvPr id="1086" name="object 4"/>
          <p:cNvSpPr/>
          <p:nvPr/>
        </p:nvSpPr>
        <p:spPr>
          <a:xfrm>
            <a:off x="8701560" y="4908600"/>
            <a:ext cx="2350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CABAD30-1363-4357-8BD8-B11B904C1C2F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Rolling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Update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behavior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fine-tuned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88" name="object 3"/>
          <p:cNvSpPr/>
          <p:nvPr/>
        </p:nvSpPr>
        <p:spPr>
          <a:xfrm>
            <a:off x="600120" y="3565080"/>
            <a:ext cx="7858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Pros: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slowly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distributed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over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time,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downtime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Cons:</a:t>
            </a:r>
            <a:r>
              <a:rPr b="0" i="1" lang="fr-FR" sz="1600" spc="-2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Breaking</a:t>
            </a:r>
            <a:r>
              <a:rPr b="0" lang="fr-FR" sz="1600" spc="-10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changes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make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consumers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incompatible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89" name="object 9"/>
          <p:cNvSpPr/>
          <p:nvPr/>
        </p:nvSpPr>
        <p:spPr>
          <a:xfrm>
            <a:off x="8701560" y="4908600"/>
            <a:ext cx="2350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3D36B32-5D7B-4C7F-B994-D42F0A95169B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090" name="" descr=""/>
          <p:cNvPicPr/>
          <p:nvPr/>
        </p:nvPicPr>
        <p:blipFill>
          <a:blip r:embed="rId1"/>
          <a:stretch/>
        </p:blipFill>
        <p:spPr>
          <a:xfrm>
            <a:off x="497880" y="1260000"/>
            <a:ext cx="6448320" cy="1914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Recreate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Terminates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running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instances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recreate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them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92" name="object 3" descr=""/>
          <p:cNvPicPr/>
          <p:nvPr/>
        </p:nvPicPr>
        <p:blipFill>
          <a:blip r:embed="rId1"/>
          <a:stretch/>
        </p:blipFill>
        <p:spPr>
          <a:xfrm>
            <a:off x="1742760" y="1434240"/>
            <a:ext cx="5568480" cy="3305520"/>
          </a:xfrm>
          <a:prstGeom prst="rect">
            <a:avLst/>
          </a:prstGeom>
          <a:ln w="0">
            <a:noFill/>
          </a:ln>
        </p:spPr>
      </p:pic>
      <p:sp>
        <p:nvSpPr>
          <p:cNvPr id="1093" name="object 4"/>
          <p:cNvSpPr/>
          <p:nvPr/>
        </p:nvSpPr>
        <p:spPr>
          <a:xfrm>
            <a:off x="8701560" y="4908600"/>
            <a:ext cx="2350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FCB0D9B-E1EC-4666-AF38-5AE14DA32077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Recreate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No</a:t>
            </a:r>
            <a:r>
              <a:rPr b="0" lang="fr-FR" sz="1600" spc="-10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options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available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95" name="object 3"/>
          <p:cNvSpPr/>
          <p:nvPr/>
        </p:nvSpPr>
        <p:spPr>
          <a:xfrm>
            <a:off x="528120" y="3139560"/>
            <a:ext cx="8470080" cy="10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Pros: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Good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development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environments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 everything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renewed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once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Cons:</a:t>
            </a:r>
            <a:r>
              <a:rPr b="0" i="1" lang="fr-FR" sz="1600" spc="-15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cause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downtime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while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starting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up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96" name="object 10"/>
          <p:cNvSpPr/>
          <p:nvPr/>
        </p:nvSpPr>
        <p:spPr>
          <a:xfrm>
            <a:off x="8701560" y="4908600"/>
            <a:ext cx="2350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C548A33-99D7-48E2-A8C0-C768A8C0DA8D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097" name="" descr=""/>
          <p:cNvPicPr/>
          <p:nvPr/>
        </p:nvPicPr>
        <p:blipFill>
          <a:blip r:embed="rId1"/>
          <a:stretch/>
        </p:blipFill>
        <p:spPr>
          <a:xfrm>
            <a:off x="509400" y="1319400"/>
            <a:ext cx="5716800" cy="1224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Blue/Green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Deployment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new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version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created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alongside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99" name="object 3" descr=""/>
          <p:cNvPicPr/>
          <p:nvPr/>
        </p:nvPicPr>
        <p:blipFill>
          <a:blip r:embed="rId1"/>
          <a:stretch/>
        </p:blipFill>
        <p:spPr>
          <a:xfrm>
            <a:off x="1743840" y="1424880"/>
            <a:ext cx="5566680" cy="3304800"/>
          </a:xfrm>
          <a:prstGeom prst="rect">
            <a:avLst/>
          </a:prstGeom>
          <a:ln w="0">
            <a:noFill/>
          </a:ln>
        </p:spPr>
      </p:pic>
      <p:sp>
        <p:nvSpPr>
          <p:cNvPr id="1100" name="object 4"/>
          <p:cNvSpPr/>
          <p:nvPr/>
        </p:nvSpPr>
        <p:spPr>
          <a:xfrm>
            <a:off x="8701560" y="4908600"/>
            <a:ext cx="2350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628CDE5-6611-4763-AB01-E3E0561DFA2F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Blue/Green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Requires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duplicate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02" name="object 3"/>
          <p:cNvSpPr/>
          <p:nvPr/>
        </p:nvSpPr>
        <p:spPr>
          <a:xfrm>
            <a:off x="600120" y="3565080"/>
            <a:ext cx="6778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Pros: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downtime,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traffic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routed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when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ready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Cons:</a:t>
            </a:r>
            <a:r>
              <a:rPr b="0" i="1" lang="fr-FR" sz="1600" spc="-2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duplication,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routing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03" name="object 10"/>
          <p:cNvSpPr/>
          <p:nvPr/>
        </p:nvSpPr>
        <p:spPr>
          <a:xfrm>
            <a:off x="8701560" y="4908600"/>
            <a:ext cx="2350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144DD04-7253-42BF-AF86-6346F1EE3013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104" name="" descr=""/>
          <p:cNvPicPr/>
          <p:nvPr/>
        </p:nvPicPr>
        <p:blipFill>
          <a:blip r:embed="rId1"/>
          <a:stretch/>
        </p:blipFill>
        <p:spPr>
          <a:xfrm>
            <a:off x="540000" y="1355040"/>
            <a:ext cx="6762600" cy="1883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58" strike="noStrike">
                <a:solidFill>
                  <a:srgbClr val="000000"/>
                </a:solidFill>
                <a:latin typeface="Tahoma"/>
              </a:rPr>
              <a:t>Canary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Two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Deployment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different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traffic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distribution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106" name="object 3" descr=""/>
          <p:cNvPicPr/>
          <p:nvPr/>
        </p:nvPicPr>
        <p:blipFill>
          <a:blip r:embed="rId1"/>
          <a:stretch/>
        </p:blipFill>
        <p:spPr>
          <a:xfrm>
            <a:off x="1194480" y="1533600"/>
            <a:ext cx="6665400" cy="2952000"/>
          </a:xfrm>
          <a:prstGeom prst="rect">
            <a:avLst/>
          </a:prstGeom>
          <a:ln w="0">
            <a:noFill/>
          </a:ln>
        </p:spPr>
      </p:pic>
      <p:sp>
        <p:nvSpPr>
          <p:cNvPr id="1107" name="object 4"/>
          <p:cNvSpPr/>
          <p:nvPr/>
        </p:nvSpPr>
        <p:spPr>
          <a:xfrm>
            <a:off x="8701560" y="4908600"/>
            <a:ext cx="2350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062CE82-FBB4-492D-AFAA-AEA24F9A8FBC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58" strike="noStrike">
                <a:solidFill>
                  <a:srgbClr val="000000"/>
                </a:solidFill>
                <a:latin typeface="Tahoma"/>
              </a:rPr>
              <a:t>Canary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new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Deployment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initially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starts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smaller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number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replicas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09" name="object 3"/>
          <p:cNvSpPr/>
          <p:nvPr/>
        </p:nvSpPr>
        <p:spPr>
          <a:xfrm>
            <a:off x="600120" y="2618280"/>
            <a:ext cx="7678080" cy="11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Pros: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released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subset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users,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A/B testing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features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performance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Cons:</a:t>
            </a:r>
            <a:r>
              <a:rPr b="0" i="1" lang="fr-FR" sz="1600" spc="-15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May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load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balancer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fine-grained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distribution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10" name="object 8"/>
          <p:cNvSpPr/>
          <p:nvPr/>
        </p:nvSpPr>
        <p:spPr>
          <a:xfrm>
            <a:off x="8701560" y="4908600"/>
            <a:ext cx="2350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DC9E7AF-9B83-46E1-8A5B-27E2F0AC44B1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111" name="" descr=""/>
          <p:cNvPicPr/>
          <p:nvPr/>
        </p:nvPicPr>
        <p:blipFill>
          <a:blip r:embed="rId1"/>
          <a:stretch/>
        </p:blipFill>
        <p:spPr>
          <a:xfrm>
            <a:off x="540000" y="1372320"/>
            <a:ext cx="4416120" cy="785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2" name="object 2"/>
          <p:cNvGrpSpPr/>
          <p:nvPr/>
        </p:nvGrpSpPr>
        <p:grpSpPr>
          <a:xfrm>
            <a:off x="0" y="0"/>
            <a:ext cx="9141840" cy="5140800"/>
            <a:chOff x="0" y="0"/>
            <a:chExt cx="9141840" cy="5140800"/>
          </a:xfrm>
        </p:grpSpPr>
        <p:pic>
          <p:nvPicPr>
            <p:cNvPr id="1113" name="object 3" descr=""/>
            <p:cNvPicPr/>
            <p:nvPr/>
          </p:nvPicPr>
          <p:blipFill>
            <a:blip r:embed="rId1"/>
            <a:stretch/>
          </p:blipFill>
          <p:spPr>
            <a:xfrm>
              <a:off x="5753160" y="1972440"/>
              <a:ext cx="3387960" cy="31683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14" name="object 4"/>
            <p:cNvSpPr/>
            <p:nvPr/>
          </p:nvSpPr>
          <p:spPr>
            <a:xfrm>
              <a:off x="0" y="0"/>
              <a:ext cx="9141840" cy="5140800"/>
            </a:xfrm>
            <a:custGeom>
              <a:avLst/>
              <a:gdLst/>
              <a:ahLst/>
              <a:rect l="l" t="t" r="r" b="b"/>
              <a:pathLst>
                <a:path w="9144635" h="5143500">
                  <a:moveTo>
                    <a:pt x="6089924" y="5143501"/>
                  </a:moveTo>
                  <a:lnTo>
                    <a:pt x="0" y="5143501"/>
                  </a:lnTo>
                  <a:lnTo>
                    <a:pt x="0" y="0"/>
                  </a:lnTo>
                  <a:lnTo>
                    <a:pt x="9144053" y="0"/>
                  </a:lnTo>
                  <a:lnTo>
                    <a:pt x="9144053" y="3297182"/>
                  </a:lnTo>
                  <a:lnTo>
                    <a:pt x="9113763" y="3257530"/>
                  </a:lnTo>
                  <a:lnTo>
                    <a:pt x="9082482" y="3218858"/>
                  </a:lnTo>
                  <a:lnTo>
                    <a:pt x="9050233" y="3181181"/>
                  </a:lnTo>
                  <a:lnTo>
                    <a:pt x="9017043" y="3144510"/>
                  </a:lnTo>
                  <a:lnTo>
                    <a:pt x="8982935" y="3108858"/>
                  </a:lnTo>
                  <a:lnTo>
                    <a:pt x="8947935" y="3074236"/>
                  </a:lnTo>
                  <a:lnTo>
                    <a:pt x="8912067" y="3040659"/>
                  </a:lnTo>
                  <a:lnTo>
                    <a:pt x="8875356" y="3008137"/>
                  </a:lnTo>
                  <a:lnTo>
                    <a:pt x="8837826" y="2976684"/>
                  </a:lnTo>
                  <a:lnTo>
                    <a:pt x="8799504" y="2946312"/>
                  </a:lnTo>
                  <a:lnTo>
                    <a:pt x="8760412" y="2917033"/>
                  </a:lnTo>
                  <a:lnTo>
                    <a:pt x="8720577" y="2888860"/>
                  </a:lnTo>
                  <a:lnTo>
                    <a:pt x="8680023" y="2861806"/>
                  </a:lnTo>
                  <a:lnTo>
                    <a:pt x="8638774" y="2835882"/>
                  </a:lnTo>
                  <a:lnTo>
                    <a:pt x="8596856" y="2811101"/>
                  </a:lnTo>
                  <a:lnTo>
                    <a:pt x="8554293" y="2787476"/>
                  </a:lnTo>
                  <a:lnTo>
                    <a:pt x="8511110" y="2765019"/>
                  </a:lnTo>
                  <a:lnTo>
                    <a:pt x="8467332" y="2743743"/>
                  </a:lnTo>
                  <a:lnTo>
                    <a:pt x="8422984" y="2723660"/>
                  </a:lnTo>
                  <a:lnTo>
                    <a:pt x="8378090" y="2704782"/>
                  </a:lnTo>
                  <a:lnTo>
                    <a:pt x="8332674" y="2687122"/>
                  </a:lnTo>
                  <a:lnTo>
                    <a:pt x="8286763" y="2670693"/>
                  </a:lnTo>
                  <a:lnTo>
                    <a:pt x="8240381" y="2655506"/>
                  </a:lnTo>
                  <a:lnTo>
                    <a:pt x="8193552" y="2641574"/>
                  </a:lnTo>
                  <a:lnTo>
                    <a:pt x="8146301" y="2628911"/>
                  </a:lnTo>
                  <a:lnTo>
                    <a:pt x="8098653" y="2617527"/>
                  </a:lnTo>
                  <a:lnTo>
                    <a:pt x="8050633" y="2607436"/>
                  </a:lnTo>
                  <a:lnTo>
                    <a:pt x="8002265" y="2598650"/>
                  </a:lnTo>
                  <a:lnTo>
                    <a:pt x="7953575" y="2591182"/>
                  </a:lnTo>
                  <a:lnTo>
                    <a:pt x="7904586" y="2585043"/>
                  </a:lnTo>
                  <a:lnTo>
                    <a:pt x="7855325" y="2580247"/>
                  </a:lnTo>
                  <a:lnTo>
                    <a:pt x="7805815" y="2576806"/>
                  </a:lnTo>
                  <a:lnTo>
                    <a:pt x="7756082" y="2574732"/>
                  </a:lnTo>
                  <a:lnTo>
                    <a:pt x="7706149" y="2574038"/>
                  </a:lnTo>
                  <a:lnTo>
                    <a:pt x="7657585" y="2574683"/>
                  </a:lnTo>
                  <a:lnTo>
                    <a:pt x="7609341" y="2576604"/>
                  </a:lnTo>
                  <a:lnTo>
                    <a:pt x="7561432" y="2579787"/>
                  </a:lnTo>
                  <a:lnTo>
                    <a:pt x="7513876" y="2584215"/>
                  </a:lnTo>
                  <a:lnTo>
                    <a:pt x="7466688" y="2589872"/>
                  </a:lnTo>
                  <a:lnTo>
                    <a:pt x="7419885" y="2596742"/>
                  </a:lnTo>
                  <a:lnTo>
                    <a:pt x="7373483" y="2604807"/>
                  </a:lnTo>
                  <a:lnTo>
                    <a:pt x="7327498" y="2614053"/>
                  </a:lnTo>
                  <a:lnTo>
                    <a:pt x="7281946" y="2624462"/>
                  </a:lnTo>
                  <a:lnTo>
                    <a:pt x="7236844" y="2636019"/>
                  </a:lnTo>
                  <a:lnTo>
                    <a:pt x="7192207" y="2648707"/>
                  </a:lnTo>
                  <a:lnTo>
                    <a:pt x="7148053" y="2662511"/>
                  </a:lnTo>
                  <a:lnTo>
                    <a:pt x="7104397" y="2677412"/>
                  </a:lnTo>
                  <a:lnTo>
                    <a:pt x="7061256" y="2693397"/>
                  </a:lnTo>
                  <a:lnTo>
                    <a:pt x="7018645" y="2710448"/>
                  </a:lnTo>
                  <a:lnTo>
                    <a:pt x="6976582" y="2728548"/>
                  </a:lnTo>
                  <a:lnTo>
                    <a:pt x="6935081" y="2747683"/>
                  </a:lnTo>
                  <a:lnTo>
                    <a:pt x="6894160" y="2767834"/>
                  </a:lnTo>
                  <a:lnTo>
                    <a:pt x="6853835" y="2788987"/>
                  </a:lnTo>
                  <a:lnTo>
                    <a:pt x="6814122" y="2811125"/>
                  </a:lnTo>
                  <a:lnTo>
                    <a:pt x="6775037" y="2834232"/>
                  </a:lnTo>
                  <a:lnTo>
                    <a:pt x="6736596" y="2858291"/>
                  </a:lnTo>
                  <a:lnTo>
                    <a:pt x="6698816" y="2883287"/>
                  </a:lnTo>
                  <a:lnTo>
                    <a:pt x="6661713" y="2909202"/>
                  </a:lnTo>
                  <a:lnTo>
                    <a:pt x="6625303" y="2936021"/>
                  </a:lnTo>
                  <a:lnTo>
                    <a:pt x="6589603" y="2963728"/>
                  </a:lnTo>
                  <a:lnTo>
                    <a:pt x="6554628" y="2992305"/>
                  </a:lnTo>
                  <a:lnTo>
                    <a:pt x="6520395" y="3021738"/>
                  </a:lnTo>
                  <a:lnTo>
                    <a:pt x="6486920" y="3052009"/>
                  </a:lnTo>
                  <a:lnTo>
                    <a:pt x="6454219" y="3083103"/>
                  </a:lnTo>
                  <a:lnTo>
                    <a:pt x="6422309" y="3115003"/>
                  </a:lnTo>
                  <a:lnTo>
                    <a:pt x="6391206" y="3147693"/>
                  </a:lnTo>
                  <a:lnTo>
                    <a:pt x="6360925" y="3181156"/>
                  </a:lnTo>
                  <a:lnTo>
                    <a:pt x="6331484" y="3215377"/>
                  </a:lnTo>
                  <a:lnTo>
                    <a:pt x="6302899" y="3250339"/>
                  </a:lnTo>
                  <a:lnTo>
                    <a:pt x="6275185" y="3286026"/>
                  </a:lnTo>
                  <a:lnTo>
                    <a:pt x="6248359" y="3322422"/>
                  </a:lnTo>
                  <a:lnTo>
                    <a:pt x="6222437" y="3359510"/>
                  </a:lnTo>
                  <a:lnTo>
                    <a:pt x="6197436" y="3397274"/>
                  </a:lnTo>
                  <a:lnTo>
                    <a:pt x="6173371" y="3435698"/>
                  </a:lnTo>
                  <a:lnTo>
                    <a:pt x="6150260" y="3474766"/>
                  </a:lnTo>
                  <a:lnTo>
                    <a:pt x="6128117" y="3514461"/>
                  </a:lnTo>
                  <a:lnTo>
                    <a:pt x="6106960" y="3554767"/>
                  </a:lnTo>
                  <a:lnTo>
                    <a:pt x="6086804" y="3595668"/>
                  </a:lnTo>
                  <a:lnTo>
                    <a:pt x="6067667" y="3637148"/>
                  </a:lnTo>
                  <a:lnTo>
                    <a:pt x="6049563" y="3679190"/>
                  </a:lnTo>
                  <a:lnTo>
                    <a:pt x="6032509" y="3721778"/>
                  </a:lnTo>
                  <a:lnTo>
                    <a:pt x="6016523" y="3764896"/>
                  </a:lnTo>
                  <a:lnTo>
                    <a:pt x="6001619" y="3808527"/>
                  </a:lnTo>
                  <a:lnTo>
                    <a:pt x="5987814" y="3852656"/>
                  </a:lnTo>
                  <a:lnTo>
                    <a:pt x="5975124" y="3897266"/>
                  </a:lnTo>
                  <a:lnTo>
                    <a:pt x="5963566" y="3942341"/>
                  </a:lnTo>
                  <a:lnTo>
                    <a:pt x="5953155" y="3987864"/>
                  </a:lnTo>
                  <a:lnTo>
                    <a:pt x="5943909" y="4033820"/>
                  </a:lnTo>
                  <a:lnTo>
                    <a:pt x="5935842" y="4080192"/>
                  </a:lnTo>
                  <a:lnTo>
                    <a:pt x="5928972" y="4126964"/>
                  </a:lnTo>
                  <a:lnTo>
                    <a:pt x="5923315" y="4174119"/>
                  </a:lnTo>
                  <a:lnTo>
                    <a:pt x="5918887" y="4221641"/>
                  </a:lnTo>
                  <a:lnTo>
                    <a:pt x="5915704" y="4269515"/>
                  </a:lnTo>
                  <a:lnTo>
                    <a:pt x="5913782" y="4317723"/>
                  </a:lnTo>
                  <a:lnTo>
                    <a:pt x="5913137" y="4366250"/>
                  </a:lnTo>
                  <a:lnTo>
                    <a:pt x="5913713" y="4416647"/>
                  </a:lnTo>
                  <a:lnTo>
                    <a:pt x="5915710" y="4466942"/>
                  </a:lnTo>
                  <a:lnTo>
                    <a:pt x="5919124" y="4517105"/>
                  </a:lnTo>
                  <a:lnTo>
                    <a:pt x="5923950" y="4567106"/>
                  </a:lnTo>
                  <a:lnTo>
                    <a:pt x="5930181" y="4616914"/>
                  </a:lnTo>
                  <a:lnTo>
                    <a:pt x="5937812" y="4666500"/>
                  </a:lnTo>
                  <a:lnTo>
                    <a:pt x="5946839" y="4715833"/>
                  </a:lnTo>
                  <a:lnTo>
                    <a:pt x="5957254" y="4764883"/>
                  </a:lnTo>
                  <a:lnTo>
                    <a:pt x="5969053" y="4813621"/>
                  </a:lnTo>
                  <a:lnTo>
                    <a:pt x="5982230" y="4862016"/>
                  </a:lnTo>
                  <a:lnTo>
                    <a:pt x="5996780" y="4910038"/>
                  </a:lnTo>
                  <a:lnTo>
                    <a:pt x="6012697" y="4957657"/>
                  </a:lnTo>
                  <a:lnTo>
                    <a:pt x="6029975" y="5004843"/>
                  </a:lnTo>
                  <a:lnTo>
                    <a:pt x="6048609" y="5051566"/>
                  </a:lnTo>
                  <a:lnTo>
                    <a:pt x="6068594" y="5097795"/>
                  </a:lnTo>
                  <a:lnTo>
                    <a:pt x="6089924" y="514350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115" name="object 5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116" name="object 6" descr=""/>
            <p:cNvPicPr/>
            <p:nvPr/>
          </p:nvPicPr>
          <p:blipFill>
            <a:blip r:embed="rId3"/>
            <a:stretch/>
          </p:blipFill>
          <p:spPr>
            <a:xfrm>
              <a:off x="511200" y="227520"/>
              <a:ext cx="1270080" cy="112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117" name="PlaceHolder 1"/>
          <p:cNvSpPr>
            <a:spLocks noGrp="1"/>
          </p:cNvSpPr>
          <p:nvPr>
            <p:ph type="title"/>
          </p:nvPr>
        </p:nvSpPr>
        <p:spPr>
          <a:xfrm>
            <a:off x="494280" y="371880"/>
            <a:ext cx="1283040" cy="86904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Lab 09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118" name="object 8"/>
          <p:cNvSpPr/>
          <p:nvPr/>
        </p:nvSpPr>
        <p:spPr>
          <a:xfrm>
            <a:off x="494280" y="1323360"/>
            <a:ext cx="5263920" cy="15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75600" bIns="0" anchor="t">
            <a:spAutoFit/>
          </a:bodyPr>
          <a:p>
            <a:pPr marL="12600">
              <a:lnSpc>
                <a:spcPct val="100000"/>
              </a:lnSpc>
              <a:spcBef>
                <a:spcPts val="595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Implementing</a:t>
            </a:r>
            <a:r>
              <a:rPr b="0" lang="fr-FR" sz="2900" spc="-5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endParaRPr b="0" lang="fr-FR" sz="2900" spc="-1" strike="noStrike">
              <a:latin typeface="Arial"/>
            </a:endParaRPr>
          </a:p>
          <a:p>
            <a:pPr marL="12600">
              <a:lnSpc>
                <a:spcPct val="114000"/>
              </a:lnSpc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blue-green</a:t>
            </a:r>
            <a:r>
              <a:rPr b="0" lang="fr-FR" sz="29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deployment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strategy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9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1120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121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122" name="PlaceHolder 1"/>
          <p:cNvSpPr>
            <a:spLocks noGrp="1"/>
          </p:cNvSpPr>
          <p:nvPr>
            <p:ph type="title"/>
          </p:nvPr>
        </p:nvSpPr>
        <p:spPr>
          <a:xfrm>
            <a:off x="494280" y="1676160"/>
            <a:ext cx="7423920" cy="138204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18" strike="noStrike">
                <a:solidFill>
                  <a:srgbClr val="ffffff"/>
                </a:solidFill>
                <a:latin typeface="Tahoma"/>
              </a:rPr>
              <a:t>Helm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Deploying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03" strike="noStrike">
                <a:solidFill>
                  <a:srgbClr val="ffffff"/>
                </a:solidFill>
                <a:latin typeface="Lucida Sans Unicode"/>
              </a:rPr>
              <a:t>an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32" strike="noStrike">
                <a:solidFill>
                  <a:srgbClr val="ffffff"/>
                </a:solidFill>
                <a:latin typeface="Lucida Sans Unicode"/>
              </a:rPr>
              <a:t>application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8" strike="noStrike">
                <a:solidFill>
                  <a:srgbClr val="ffffff"/>
                </a:solidFill>
                <a:latin typeface="Lucida Sans Unicode"/>
              </a:rPr>
              <a:t>defined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52" strike="noStrike">
                <a:solidFill>
                  <a:srgbClr val="ffffff"/>
                </a:solidFill>
                <a:latin typeface="Lucida Sans Unicode"/>
              </a:rPr>
              <a:t>by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99" strike="noStrike">
                <a:solidFill>
                  <a:srgbClr val="ffffff"/>
                </a:solidFill>
                <a:latin typeface="Lucida Sans Unicode"/>
              </a:rPr>
              <a:t>a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2" strike="noStrike">
                <a:solidFill>
                  <a:srgbClr val="ffffff"/>
                </a:solidFill>
                <a:latin typeface="Lucida Sans Unicode"/>
              </a:rPr>
              <a:t>set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5" strike="noStrike">
                <a:solidFill>
                  <a:srgbClr val="ffffff"/>
                </a:solidFill>
                <a:latin typeface="Lucida Sans Unicode"/>
              </a:rPr>
              <a:t>of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75" strike="noStrike">
                <a:solidFill>
                  <a:srgbClr val="ffffff"/>
                </a:solidFill>
                <a:latin typeface="Lucida Sans Unicode"/>
              </a:rPr>
              <a:t>YAML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4" strike="noStrike">
                <a:solidFill>
                  <a:srgbClr val="ffffff"/>
                </a:solidFill>
                <a:latin typeface="Lucida Sans Unicode"/>
              </a:rPr>
              <a:t>manifests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Helm?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Package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manager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templating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engine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manifests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24" name="object 3"/>
          <p:cNvSpPr/>
          <p:nvPr/>
        </p:nvSpPr>
        <p:spPr>
          <a:xfrm>
            <a:off x="600120" y="1360440"/>
            <a:ext cx="8218080" cy="25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artifact produced by the Helm executable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so-called </a:t>
            </a:r>
            <a:r>
              <a:rPr b="0" i="1" lang="fr-FR" sz="1600" spc="-1" strike="noStrike">
                <a:solidFill>
                  <a:srgbClr val="000000"/>
                </a:solidFill>
                <a:latin typeface="Arial"/>
                <a:ea typeface="DejaVu Sans"/>
              </a:rPr>
              <a:t>chart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file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bundling 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manifests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comprise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an application.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Chart files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distributed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chart repository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e.g.</a:t>
            </a:r>
            <a:r>
              <a:rPr b="0" lang="fr-FR" sz="1600" spc="-7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central chart repository</a:t>
            </a:r>
            <a:r>
              <a:rPr b="0" lang="fr-FR" sz="1600" spc="-1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2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from there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(e.g.,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running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Grafana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PostgreSQL).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replaces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placeholders in 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YAML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template files with actual, end-user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values.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125" name="object 4" descr=""/>
          <p:cNvPicPr/>
          <p:nvPr/>
        </p:nvPicPr>
        <p:blipFill>
          <a:blip r:embed="rId3"/>
          <a:stretch/>
        </p:blipFill>
        <p:spPr>
          <a:xfrm>
            <a:off x="7502760" y="3864600"/>
            <a:ext cx="886680" cy="886680"/>
          </a:xfrm>
          <a:prstGeom prst="rect">
            <a:avLst/>
          </a:prstGeom>
          <a:ln w="0">
            <a:noFill/>
          </a:ln>
        </p:spPr>
      </p:pic>
      <p:sp>
        <p:nvSpPr>
          <p:cNvPr id="1126" name="object 5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408812E-3581-4B74-BF81-E7CA85F99646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Finding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Chart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Searches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Artifact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Hub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chart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matching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name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128" name="object 3"/>
          <p:cNvGrpSpPr/>
          <p:nvPr/>
        </p:nvGrpSpPr>
        <p:grpSpPr>
          <a:xfrm>
            <a:off x="467640" y="1357920"/>
            <a:ext cx="7889760" cy="1261080"/>
            <a:chOff x="467640" y="1357920"/>
            <a:chExt cx="7889760" cy="1261080"/>
          </a:xfrm>
        </p:grpSpPr>
        <p:pic>
          <p:nvPicPr>
            <p:cNvPr id="1129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57920"/>
              <a:ext cx="7889760" cy="12610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30" name="object 5"/>
            <p:cNvSpPr/>
            <p:nvPr/>
          </p:nvSpPr>
          <p:spPr>
            <a:xfrm>
              <a:off x="521280" y="1406160"/>
              <a:ext cx="7776000" cy="1146960"/>
            </a:xfrm>
            <a:custGeom>
              <a:avLst/>
              <a:gdLst/>
              <a:ahLst/>
              <a:rect l="l" t="t" r="r" b="b"/>
              <a:pathLst>
                <a:path w="7778750" h="1149985">
                  <a:moveTo>
                    <a:pt x="7778400" y="1149600"/>
                  </a:moveTo>
                  <a:lnTo>
                    <a:pt x="0" y="1149600"/>
                  </a:lnTo>
                  <a:lnTo>
                    <a:pt x="0" y="0"/>
                  </a:lnTo>
                  <a:lnTo>
                    <a:pt x="7778400" y="0"/>
                  </a:lnTo>
                  <a:lnTo>
                    <a:pt x="7778400" y="1149600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31" name="object 6"/>
          <p:cNvSpPr/>
          <p:nvPr/>
        </p:nvSpPr>
        <p:spPr>
          <a:xfrm>
            <a:off x="674640" y="1548720"/>
            <a:ext cx="51728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search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hub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jenkins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URL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https://artifacthub.io/packages/helm/bitnami/jenkins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32" name="object 7"/>
          <p:cNvSpPr/>
          <p:nvPr/>
        </p:nvSpPr>
        <p:spPr>
          <a:xfrm>
            <a:off x="6122160" y="1748880"/>
            <a:ext cx="2336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 indent="720">
              <a:lnSpc>
                <a:spcPct val="101000"/>
              </a:lnSpc>
              <a:spcBef>
                <a:spcPts val="85"/>
              </a:spcBef>
              <a:buNone/>
              <a:tabLst>
                <a:tab algn="l" pos="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CHART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VERSION</a:t>
            </a:r>
            <a:r>
              <a:rPr b="0" lang="fr-FR" sz="13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11.0.6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2.361.2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33" name="object 8"/>
          <p:cNvSpPr/>
          <p:nvPr/>
        </p:nvSpPr>
        <p:spPr>
          <a:xfrm>
            <a:off x="674640" y="2148840"/>
            <a:ext cx="3196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</p:txBody>
      </p:sp>
      <p:pic>
        <p:nvPicPr>
          <p:cNvPr id="1134" name="object 9" descr=""/>
          <p:cNvPicPr/>
          <p:nvPr/>
        </p:nvPicPr>
        <p:blipFill>
          <a:blip r:embed="rId2"/>
          <a:stretch/>
        </p:blipFill>
        <p:spPr>
          <a:xfrm>
            <a:off x="5590800" y="2718000"/>
            <a:ext cx="2468160" cy="1686240"/>
          </a:xfrm>
          <a:prstGeom prst="rect">
            <a:avLst/>
          </a:prstGeom>
          <a:ln w="0">
            <a:noFill/>
          </a:ln>
        </p:spPr>
      </p:pic>
      <p:grpSp>
        <p:nvGrpSpPr>
          <p:cNvPr id="1135" name="object 10"/>
          <p:cNvGrpSpPr/>
          <p:nvPr/>
        </p:nvGrpSpPr>
        <p:grpSpPr>
          <a:xfrm>
            <a:off x="4465800" y="2347560"/>
            <a:ext cx="1010880" cy="1110960"/>
            <a:chOff x="4465800" y="2347560"/>
            <a:chExt cx="1010880" cy="1110960"/>
          </a:xfrm>
        </p:grpSpPr>
        <p:sp>
          <p:nvSpPr>
            <p:cNvPr id="1136" name="object 11"/>
            <p:cNvSpPr/>
            <p:nvPr/>
          </p:nvSpPr>
          <p:spPr>
            <a:xfrm>
              <a:off x="4465800" y="2347560"/>
              <a:ext cx="915480" cy="1070280"/>
            </a:xfrm>
            <a:custGeom>
              <a:avLst/>
              <a:gdLst/>
              <a:ahLst/>
              <a:rect l="l" t="t" r="r" b="b"/>
              <a:pathLst>
                <a:path w="918210" h="1073150">
                  <a:moveTo>
                    <a:pt x="917999" y="1072799"/>
                  </a:moveTo>
                  <a:lnTo>
                    <a:pt x="0" y="1072799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137" name="object 12" descr=""/>
            <p:cNvPicPr/>
            <p:nvPr/>
          </p:nvPicPr>
          <p:blipFill>
            <a:blip r:embed="rId3"/>
            <a:stretch/>
          </p:blipFill>
          <p:spPr>
            <a:xfrm>
              <a:off x="5374080" y="337932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138" name="object 13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D714441-DACA-41A7-84D2-32058996B6A3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Installing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Chart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14" strike="noStrike">
                <a:solidFill>
                  <a:srgbClr val="666666"/>
                </a:solidFill>
                <a:latin typeface="Lucida Sans Unicode"/>
              </a:rPr>
              <a:t>may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have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add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external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repository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hosts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chart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40" name="object 4"/>
          <p:cNvSpPr/>
          <p:nvPr/>
        </p:nvSpPr>
        <p:spPr>
          <a:xfrm>
            <a:off x="521280" y="1406160"/>
            <a:ext cx="6132960" cy="21751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>
              <a:lnSpc>
                <a:spcPct val="100000"/>
              </a:lnSpc>
              <a:spcBef>
                <a:spcPts val="121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repo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add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bitnami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https://charts.bitnami.com/bitnami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"bitnami"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has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been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added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your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repositories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6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65600">
              <a:lnSpc>
                <a:spcPct val="100000"/>
              </a:lnSpc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install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jenkins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bitnami/jenkins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CHART NAME: jenkins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CHART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VERSION: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11.0.6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VERSION: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2.361.2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6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65600">
              <a:lnSpc>
                <a:spcPct val="100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**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Please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patient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while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the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chart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is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being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deployed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**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41" name="object 5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F46F8F4-F1D4-4FD4-A32B-63F11D0889E1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Installed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Charts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Information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about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chart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details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143" name="object 3"/>
          <p:cNvGrpSpPr/>
          <p:nvPr/>
        </p:nvGrpSpPr>
        <p:grpSpPr>
          <a:xfrm>
            <a:off x="467640" y="1357920"/>
            <a:ext cx="8114040" cy="2131560"/>
            <a:chOff x="467640" y="1357920"/>
            <a:chExt cx="8114040" cy="2131560"/>
          </a:xfrm>
        </p:grpSpPr>
        <p:pic>
          <p:nvPicPr>
            <p:cNvPr id="1144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57920"/>
              <a:ext cx="8114040" cy="21315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45" name="object 5"/>
            <p:cNvSpPr/>
            <p:nvPr/>
          </p:nvSpPr>
          <p:spPr>
            <a:xfrm>
              <a:off x="521280" y="1406160"/>
              <a:ext cx="7999920" cy="2017800"/>
            </a:xfrm>
            <a:custGeom>
              <a:avLst/>
              <a:gdLst/>
              <a:ahLst/>
              <a:rect l="l" t="t" r="r" b="b"/>
              <a:pathLst>
                <a:path w="8002905" h="2020570">
                  <a:moveTo>
                    <a:pt x="8002500" y="2020199"/>
                  </a:moveTo>
                  <a:lnTo>
                    <a:pt x="0" y="2020199"/>
                  </a:lnTo>
                  <a:lnTo>
                    <a:pt x="0" y="0"/>
                  </a:lnTo>
                  <a:lnTo>
                    <a:pt x="8002500" y="0"/>
                  </a:lnTo>
                  <a:lnTo>
                    <a:pt x="8002500" y="2020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46" name="object 6"/>
          <p:cNvSpPr/>
          <p:nvPr/>
        </p:nvSpPr>
        <p:spPr>
          <a:xfrm>
            <a:off x="687600" y="1548720"/>
            <a:ext cx="19148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list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01268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99000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jenkins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47" name="object 16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E960B1F-1BC5-4066-88D3-1C10AACCA43F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148" name="object 7"/>
          <p:cNvSpPr/>
          <p:nvPr/>
        </p:nvSpPr>
        <p:spPr>
          <a:xfrm>
            <a:off x="2889360" y="1748880"/>
            <a:ext cx="13057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83880" indent="-84600">
              <a:lnSpc>
                <a:spcPct val="101000"/>
              </a:lnSpc>
              <a:spcBef>
                <a:spcPts val="85"/>
              </a:spcBef>
              <a:buNone/>
              <a:tabLst>
                <a:tab algn="l" pos="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REVISIO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49" name="object 8"/>
          <p:cNvSpPr/>
          <p:nvPr/>
        </p:nvSpPr>
        <p:spPr>
          <a:xfrm>
            <a:off x="4482000" y="1748880"/>
            <a:ext cx="8024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deployed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50" name="object 9"/>
          <p:cNvSpPr/>
          <p:nvPr/>
        </p:nvSpPr>
        <p:spPr>
          <a:xfrm>
            <a:off x="5571720" y="1748880"/>
            <a:ext cx="1396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CHART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jenkins-11.0.6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51" name="object 10"/>
          <p:cNvSpPr/>
          <p:nvPr/>
        </p:nvSpPr>
        <p:spPr>
          <a:xfrm>
            <a:off x="7255440" y="1748880"/>
            <a:ext cx="1100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</a:t>
            </a:r>
            <a:r>
              <a:rPr b="0" lang="fr-FR" sz="13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VERSION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2.361.2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52" name="object 11"/>
          <p:cNvSpPr/>
          <p:nvPr/>
        </p:nvSpPr>
        <p:spPr>
          <a:xfrm>
            <a:off x="4550040" y="2549160"/>
            <a:ext cx="505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1/1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53" name="object 12"/>
          <p:cNvSpPr/>
          <p:nvPr/>
        </p:nvSpPr>
        <p:spPr>
          <a:xfrm>
            <a:off x="5342760" y="2549160"/>
            <a:ext cx="7030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54" name="object 13"/>
          <p:cNvSpPr/>
          <p:nvPr/>
        </p:nvSpPr>
        <p:spPr>
          <a:xfrm>
            <a:off x="6333120" y="2549160"/>
            <a:ext cx="802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RESTARTS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55" name="object 14"/>
          <p:cNvSpPr/>
          <p:nvPr/>
        </p:nvSpPr>
        <p:spPr>
          <a:xfrm>
            <a:off x="7422840" y="2549160"/>
            <a:ext cx="5050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7m34s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56" name="object 15"/>
          <p:cNvSpPr/>
          <p:nvPr/>
        </p:nvSpPr>
        <p:spPr>
          <a:xfrm>
            <a:off x="687600" y="2349000"/>
            <a:ext cx="3575880" cy="8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pod/bitnami-jenkins-764b44cc99-twf6f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Uninstalling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Chart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Deletes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controlled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chart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58" name="object 4"/>
          <p:cNvSpPr/>
          <p:nvPr/>
        </p:nvSpPr>
        <p:spPr>
          <a:xfrm>
            <a:off x="520560" y="1406160"/>
            <a:ext cx="4301640" cy="11638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>
              <a:lnSpc>
                <a:spcPct val="100000"/>
              </a:lnSpc>
              <a:spcBef>
                <a:spcPts val="121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uninstall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jenkins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release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"jenkins"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uninstalled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6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65600">
              <a:lnSpc>
                <a:spcPct val="100000"/>
              </a:lnSpc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No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resources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found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in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59" name="object 5"/>
          <p:cNvSpPr/>
          <p:nvPr/>
        </p:nvSpPr>
        <p:spPr>
          <a:xfrm>
            <a:off x="8701560" y="4908600"/>
            <a:ext cx="234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0C13DC7-5964-42E6-AC47-705391591976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Standard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Chart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Structure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Predefined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directory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structure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mandatory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Chart.yam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l</a:t>
            </a:r>
            <a:r>
              <a:rPr b="0" lang="fr-FR" sz="1600" spc="-687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values.yaml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61" name="object 7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821CECA-E0D6-4BA5-AE82-26AFF11B59AC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162" name="" descr=""/>
          <p:cNvPicPr/>
          <p:nvPr/>
        </p:nvPicPr>
        <p:blipFill>
          <a:blip r:embed="rId1"/>
          <a:stretch/>
        </p:blipFill>
        <p:spPr>
          <a:xfrm>
            <a:off x="489960" y="1391400"/>
            <a:ext cx="4368240" cy="2026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Chart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File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Describes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3" strike="noStrike">
                <a:solidFill>
                  <a:srgbClr val="666666"/>
                </a:solidFill>
                <a:latin typeface="Lucida Sans Unicode"/>
              </a:rPr>
              <a:t>meta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information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chart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(e.g.,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version)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64" name="object 4"/>
          <p:cNvSpPr/>
          <p:nvPr/>
        </p:nvSpPr>
        <p:spPr>
          <a:xfrm>
            <a:off x="537480" y="1837080"/>
            <a:ext cx="2152440" cy="7146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15560" bIns="0" anchor="t">
            <a:spAutoFit/>
          </a:bodyPr>
          <a:p>
            <a:pPr marL="222120">
              <a:lnSpc>
                <a:spcPct val="101000"/>
              </a:lnSpc>
              <a:spcBef>
                <a:spcPts val="910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9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1.0.0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web-app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version:</a:t>
            </a:r>
            <a:r>
              <a:rPr b="1" lang="fr-FR" sz="1300" spc="-3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2.5.4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65" name="object 6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2303D80-CE99-4022-BB2D-8BDCD68987FE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166" name="object 5"/>
          <p:cNvSpPr/>
          <p:nvPr/>
        </p:nvSpPr>
        <p:spPr>
          <a:xfrm>
            <a:off x="569160" y="1389600"/>
            <a:ext cx="8823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Chart.yaml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Values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File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pairs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used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at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replace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placeholders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YAML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manifests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68" name="object 4"/>
          <p:cNvSpPr/>
          <p:nvPr/>
        </p:nvSpPr>
        <p:spPr>
          <a:xfrm>
            <a:off x="537480" y="1837080"/>
            <a:ext cx="2619000" cy="92376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4920" bIns="0" anchor="t">
            <a:spAutoFit/>
          </a:bodyPr>
          <a:p>
            <a:pPr marL="222120">
              <a:lnSpc>
                <a:spcPct val="101000"/>
              </a:lnSpc>
              <a:spcBef>
                <a:spcPts val="98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db_host: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mysql-service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db_user: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root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db_password: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password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service_port:</a:t>
            </a:r>
            <a:r>
              <a:rPr b="1" lang="fr-FR" sz="1300" spc="-2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3000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69" name="object 7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B57AAD7-408B-4CBE-B4D7-AB92FC2ED74C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170" name="object 5"/>
          <p:cNvSpPr/>
          <p:nvPr/>
        </p:nvSpPr>
        <p:spPr>
          <a:xfrm>
            <a:off x="542880" y="1389600"/>
            <a:ext cx="9615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i="1" lang="fr-FR" sz="1400" spc="-1" strike="noStrike">
                <a:solidFill>
                  <a:srgbClr val="000000"/>
                </a:solidFill>
                <a:latin typeface="Arial"/>
                <a:ea typeface="DejaVu Sans"/>
              </a:rPr>
              <a:t>values.yaml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171" name="object 6"/>
          <p:cNvSpPr/>
          <p:nvPr/>
        </p:nvSpPr>
        <p:spPr>
          <a:xfrm>
            <a:off x="532440" y="3388320"/>
            <a:ext cx="486576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Additional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built-in</a:t>
            </a:r>
            <a:r>
              <a:rPr b="0" lang="fr-FR" sz="1500" spc="-15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 </a:t>
            </a:r>
            <a:r>
              <a:rPr b="0" lang="fr-FR" sz="15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3"/>
              </a:rPr>
              <a:t>objects</a:t>
            </a:r>
            <a:r>
              <a:rPr b="0" lang="fr-FR" sz="1500" spc="-7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4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are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available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use.</a:t>
            </a:r>
            <a:endParaRPr b="0" lang="fr-FR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Template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File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YAML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manifest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define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placeholders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using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double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curly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braces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73" name="object 9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9B9C4B3-4158-4864-A870-596C6AC5C48B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174" name="object 8"/>
          <p:cNvSpPr/>
          <p:nvPr/>
        </p:nvSpPr>
        <p:spPr>
          <a:xfrm>
            <a:off x="542880" y="1389600"/>
            <a:ext cx="22258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web-app-pod-template.yaml</a:t>
            </a:r>
            <a:endParaRPr b="0" lang="fr-FR" sz="1400" spc="-1" strike="noStrike">
              <a:latin typeface="Arial"/>
            </a:endParaRPr>
          </a:p>
        </p:txBody>
      </p:sp>
      <p:pic>
        <p:nvPicPr>
          <p:cNvPr id="1175" name="" descr=""/>
          <p:cNvPicPr/>
          <p:nvPr/>
        </p:nvPicPr>
        <p:blipFill>
          <a:blip r:embed="rId1"/>
          <a:stretch/>
        </p:blipFill>
        <p:spPr>
          <a:xfrm>
            <a:off x="540000" y="1800000"/>
            <a:ext cx="3633120" cy="3022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Previewing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Final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Templates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Replaces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placeholders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actual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values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values.yaml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77" name="object 6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130A2F1-AE79-4DA6-A326-9431F66AEA92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178" name="" descr=""/>
          <p:cNvPicPr/>
          <p:nvPr/>
        </p:nvPicPr>
        <p:blipFill>
          <a:blip r:embed="rId1"/>
          <a:stretch/>
        </p:blipFill>
        <p:spPr>
          <a:xfrm>
            <a:off x="494280" y="1080000"/>
            <a:ext cx="5750280" cy="3786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Installing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Chart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Local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Files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Helpful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trying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out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deployment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before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publishing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chart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80" name="object 9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C708009-7415-4BD8-A15B-72ED5EB6A215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181" name="" descr=""/>
          <p:cNvPicPr/>
          <p:nvPr/>
        </p:nvPicPr>
        <p:blipFill>
          <a:blip r:embed="rId1"/>
          <a:stretch/>
        </p:blipFill>
        <p:spPr>
          <a:xfrm>
            <a:off x="468000" y="1260000"/>
            <a:ext cx="8458200" cy="3061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Overriding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Values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user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tweak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behavior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personal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requirements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183" name="object 3"/>
          <p:cNvGrpSpPr/>
          <p:nvPr/>
        </p:nvGrpSpPr>
        <p:grpSpPr>
          <a:xfrm>
            <a:off x="466920" y="1357920"/>
            <a:ext cx="7669800" cy="1689840"/>
            <a:chOff x="466920" y="1357920"/>
            <a:chExt cx="7669800" cy="1689840"/>
          </a:xfrm>
        </p:grpSpPr>
        <p:pic>
          <p:nvPicPr>
            <p:cNvPr id="1184" name="object 4" descr=""/>
            <p:cNvPicPr/>
            <p:nvPr/>
          </p:nvPicPr>
          <p:blipFill>
            <a:blip r:embed="rId1"/>
            <a:stretch/>
          </p:blipFill>
          <p:spPr>
            <a:xfrm>
              <a:off x="466920" y="1357920"/>
              <a:ext cx="7669800" cy="1689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85" name="object 5"/>
            <p:cNvSpPr/>
            <p:nvPr/>
          </p:nvSpPr>
          <p:spPr>
            <a:xfrm>
              <a:off x="520560" y="1406160"/>
              <a:ext cx="7556040" cy="1575720"/>
            </a:xfrm>
            <a:custGeom>
              <a:avLst/>
              <a:gdLst/>
              <a:ahLst/>
              <a:rect l="l" t="t" r="r" b="b"/>
              <a:pathLst>
                <a:path w="7559040" h="1578610">
                  <a:moveTo>
                    <a:pt x="7558499" y="1578299"/>
                  </a:moveTo>
                  <a:lnTo>
                    <a:pt x="0" y="1578299"/>
                  </a:lnTo>
                  <a:lnTo>
                    <a:pt x="0" y="0"/>
                  </a:lnTo>
                  <a:lnTo>
                    <a:pt x="7558499" y="0"/>
                  </a:lnTo>
                  <a:lnTo>
                    <a:pt x="7558499" y="15782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86" name="object 6"/>
          <p:cNvSpPr/>
          <p:nvPr/>
        </p:nvSpPr>
        <p:spPr>
          <a:xfrm>
            <a:off x="1928880" y="1558440"/>
            <a:ext cx="3161880" cy="1710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960" bIns="0" anchor="t">
            <a:spAutoFit/>
          </a:bodyPr>
          <a:p>
            <a:pPr marL="1476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--namespace</a:t>
            </a:r>
            <a:r>
              <a:rPr b="1" lang="fr-FR" sz="11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custom</a:t>
            </a:r>
            <a:r>
              <a:rPr b="1" lang="fr-FR" sz="11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--create-namespace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187" name="object 7"/>
          <p:cNvSpPr/>
          <p:nvPr/>
        </p:nvSpPr>
        <p:spPr>
          <a:xfrm>
            <a:off x="5112720" y="1558440"/>
            <a:ext cx="1970640" cy="1710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960" bIns="0" anchor="t">
            <a:spAutoFit/>
          </a:bodyPr>
          <a:p>
            <a:pPr marL="1512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--set</a:t>
            </a:r>
            <a:r>
              <a:rPr b="1" lang="fr-FR" sz="11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service_port=9090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188" name="object 8"/>
          <p:cNvSpPr/>
          <p:nvPr/>
        </p:nvSpPr>
        <p:spPr>
          <a:xfrm>
            <a:off x="7126920" y="1549800"/>
            <a:ext cx="77688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web-app</a:t>
            </a:r>
            <a:r>
              <a:rPr b="1" lang="fr-FR" sz="11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189" name="object 9"/>
          <p:cNvSpPr/>
          <p:nvPr/>
        </p:nvSpPr>
        <p:spPr>
          <a:xfrm>
            <a:off x="673920" y="1549800"/>
            <a:ext cx="119592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1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install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NAME:</a:t>
            </a:r>
            <a:r>
              <a:rPr b="0" lang="fr-FR" sz="11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web-app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190" name="object 10"/>
          <p:cNvSpPr/>
          <p:nvPr/>
        </p:nvSpPr>
        <p:spPr>
          <a:xfrm>
            <a:off x="673920" y="1892880"/>
            <a:ext cx="3291480" cy="69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LAST</a:t>
            </a:r>
            <a:r>
              <a:rPr b="0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DEPLOYED:</a:t>
            </a:r>
            <a:r>
              <a:rPr b="0" lang="fr-FR" sz="11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Wed</a:t>
            </a:r>
            <a:r>
              <a:rPr b="0" lang="fr-FR" sz="11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Apr</a:t>
            </a:r>
            <a:r>
              <a:rPr b="0" lang="fr-FR" sz="11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19</a:t>
            </a:r>
            <a:r>
              <a:rPr b="0" lang="fr-FR" sz="11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11:58:34</a:t>
            </a:r>
            <a:r>
              <a:rPr b="0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2023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2000"/>
              </a:lnSpc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NAMESPACE:</a:t>
            </a:r>
            <a:r>
              <a:rPr b="0" lang="fr-FR" sz="1100" spc="-9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custom </a:t>
            </a:r>
            <a:r>
              <a:rPr b="0" lang="fr-FR" sz="1100" spc="-64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STATUS: deployed </a:t>
            </a:r>
            <a:r>
              <a:rPr b="0" lang="fr-FR" sz="1100" spc="-65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REVISION:</a:t>
            </a:r>
            <a:r>
              <a:rPr b="0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TEST</a:t>
            </a:r>
            <a:r>
              <a:rPr b="0" lang="fr-FR" sz="11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SUITE:</a:t>
            </a:r>
            <a:r>
              <a:rPr b="0" lang="fr-FR" sz="11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None</a:t>
            </a:r>
            <a:endParaRPr b="0" lang="fr-FR" sz="1100" spc="-1" strike="noStrike">
              <a:latin typeface="Arial"/>
            </a:endParaRPr>
          </a:p>
        </p:txBody>
      </p:sp>
      <p:grpSp>
        <p:nvGrpSpPr>
          <p:cNvPr id="1191" name="object 11"/>
          <p:cNvGrpSpPr/>
          <p:nvPr/>
        </p:nvGrpSpPr>
        <p:grpSpPr>
          <a:xfrm>
            <a:off x="1919520" y="1548720"/>
            <a:ext cx="5173200" cy="1954440"/>
            <a:chOff x="1919520" y="1548720"/>
            <a:chExt cx="5173200" cy="1954440"/>
          </a:xfrm>
        </p:grpSpPr>
        <p:sp>
          <p:nvSpPr>
            <p:cNvPr id="1192" name="object 12"/>
            <p:cNvSpPr/>
            <p:nvPr/>
          </p:nvSpPr>
          <p:spPr>
            <a:xfrm>
              <a:off x="1919520" y="1548720"/>
              <a:ext cx="3165840" cy="230040"/>
            </a:xfrm>
            <a:custGeom>
              <a:avLst/>
              <a:gdLst/>
              <a:ahLst/>
              <a:rect l="l" t="t" r="r" b="b"/>
              <a:pathLst>
                <a:path w="3168650" h="233044">
                  <a:moveTo>
                    <a:pt x="0" y="0"/>
                  </a:moveTo>
                  <a:lnTo>
                    <a:pt x="3168599" y="0"/>
                  </a:lnTo>
                  <a:lnTo>
                    <a:pt x="3168599" y="232799"/>
                  </a:lnTo>
                  <a:lnTo>
                    <a:pt x="0" y="2327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93" name="object 13"/>
            <p:cNvSpPr/>
            <p:nvPr/>
          </p:nvSpPr>
          <p:spPr>
            <a:xfrm>
              <a:off x="3612600" y="1878840"/>
              <a:ext cx="819360" cy="1519920"/>
            </a:xfrm>
            <a:custGeom>
              <a:avLst/>
              <a:gdLst/>
              <a:ahLst/>
              <a:rect l="l" t="t" r="r" b="b"/>
              <a:pathLst>
                <a:path w="822325" h="1522729">
                  <a:moveTo>
                    <a:pt x="0" y="1522499"/>
                  </a:moveTo>
                  <a:lnTo>
                    <a:pt x="0" y="818399"/>
                  </a:lnTo>
                  <a:lnTo>
                    <a:pt x="822299" y="818399"/>
                  </a:lnTo>
                  <a:lnTo>
                    <a:pt x="822299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194" name="object 14" descr=""/>
            <p:cNvPicPr/>
            <p:nvPr/>
          </p:nvPicPr>
          <p:blipFill>
            <a:blip r:embed="rId2"/>
            <a:stretch/>
          </p:blipFill>
          <p:spPr>
            <a:xfrm>
              <a:off x="3571560" y="3391920"/>
              <a:ext cx="7920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95" name="object 15"/>
            <p:cNvSpPr/>
            <p:nvPr/>
          </p:nvSpPr>
          <p:spPr>
            <a:xfrm>
              <a:off x="5118120" y="1548720"/>
              <a:ext cx="1974600" cy="230040"/>
            </a:xfrm>
            <a:custGeom>
              <a:avLst/>
              <a:gdLst/>
              <a:ahLst/>
              <a:rect l="l" t="t" r="r" b="b"/>
              <a:pathLst>
                <a:path w="1977390" h="233044">
                  <a:moveTo>
                    <a:pt x="0" y="0"/>
                  </a:moveTo>
                  <a:lnTo>
                    <a:pt x="1976999" y="0"/>
                  </a:lnTo>
                  <a:lnTo>
                    <a:pt x="1976999" y="232799"/>
                  </a:lnTo>
                  <a:lnTo>
                    <a:pt x="0" y="2327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96" name="object 16"/>
            <p:cNvSpPr/>
            <p:nvPr/>
          </p:nvSpPr>
          <p:spPr>
            <a:xfrm>
              <a:off x="6143760" y="1887840"/>
              <a:ext cx="360" cy="1519920"/>
            </a:xfrm>
            <a:custGeom>
              <a:avLst/>
              <a:gdLst/>
              <a:ahLst/>
              <a:rect l="l" t="t" r="r" b="b"/>
              <a:pathLst>
                <a:path w="0" h="1522729">
                  <a:moveTo>
                    <a:pt x="0" y="0"/>
                  </a:moveTo>
                  <a:lnTo>
                    <a:pt x="0" y="152220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197" name="object 17" descr=""/>
            <p:cNvPicPr/>
            <p:nvPr/>
          </p:nvPicPr>
          <p:blipFill>
            <a:blip r:embed="rId3"/>
            <a:stretch/>
          </p:blipFill>
          <p:spPr>
            <a:xfrm>
              <a:off x="6103080" y="340056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198" name="object 18"/>
          <p:cNvSpPr/>
          <p:nvPr/>
        </p:nvSpPr>
        <p:spPr>
          <a:xfrm>
            <a:off x="2672280" y="3575520"/>
            <a:ext cx="218592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240" indent="-2520" algn="ctr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Providing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custom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(defaults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400" spc="-35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namespace)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199" name="object 20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D116F4B-B1F5-484D-8C52-EAEF433F2BF6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200" name="object 19"/>
          <p:cNvSpPr/>
          <p:nvPr/>
        </p:nvSpPr>
        <p:spPr>
          <a:xfrm>
            <a:off x="5415120" y="3575520"/>
            <a:ext cx="196308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algn="ctr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Override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values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endParaRPr b="0" lang="fr-FR" sz="1400" spc="-1" strike="noStrike">
              <a:latin typeface="Arial"/>
            </a:endParaRPr>
          </a:p>
          <a:p>
            <a:pPr algn="ctr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values.yaml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647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Bufidlifig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Template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Files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ifito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Chart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Archive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File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Archive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usually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published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chart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repository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consumption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02" name="object 4"/>
          <p:cNvSpPr/>
          <p:nvPr/>
        </p:nvSpPr>
        <p:spPr>
          <a:xfrm>
            <a:off x="520560" y="1586160"/>
            <a:ext cx="4802040" cy="13636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>
              <a:lnSpc>
                <a:spcPct val="100000"/>
              </a:lnSpc>
              <a:spcBef>
                <a:spcPts val="121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package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Successfully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packaged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chart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and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saved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it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to: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/Users/bmuschko/helm/web-app-2.5.4.tgz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6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65600">
              <a:lnSpc>
                <a:spcPct val="100000"/>
              </a:lnSpc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ls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web-app-2.5.4.tgz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203" name="object 5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8ED9C32-C329-4B9C-A9C9-396CA32ACECD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10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205" name="object 3"/>
          <p:cNvSpPr/>
          <p:nvPr/>
        </p:nvSpPr>
        <p:spPr>
          <a:xfrm>
            <a:off x="494280" y="1323360"/>
            <a:ext cx="580392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Implementing,</a:t>
            </a:r>
            <a:r>
              <a:rPr b="0" lang="fr-FR" sz="29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packaging,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 installing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custom 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Helm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chart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6" name="object 2" descr=""/>
          <p:cNvPicPr/>
          <p:nvPr/>
        </p:nvPicPr>
        <p:blipFill>
          <a:blip r:embed="rId1"/>
          <a:stretch/>
        </p:blipFill>
        <p:spPr>
          <a:xfrm>
            <a:off x="0" y="0"/>
            <a:ext cx="9141120" cy="5140440"/>
          </a:xfrm>
          <a:prstGeom prst="rect">
            <a:avLst/>
          </a:prstGeom>
          <a:ln w="0">
            <a:noFill/>
          </a:ln>
        </p:spPr>
      </p:pic>
      <p:sp>
        <p:nvSpPr>
          <p:cNvPr id="1207" name="PlaceHolder 1"/>
          <p:cNvSpPr>
            <a:spLocks noGrp="1"/>
          </p:cNvSpPr>
          <p:nvPr>
            <p:ph type="title"/>
          </p:nvPr>
        </p:nvSpPr>
        <p:spPr>
          <a:xfrm>
            <a:off x="494280" y="1767960"/>
            <a:ext cx="4183920" cy="251172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1" lang="fr-FR" sz="3600" spc="29" strike="noStrike">
                <a:solidFill>
                  <a:srgbClr val="ffffff"/>
                </a:solidFill>
                <a:latin typeface="Tahoma"/>
              </a:rPr>
              <a:t>Application</a:t>
            </a:r>
            <a:r>
              <a:rPr b="1" lang="fr-FR" sz="3600" spc="3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18" strike="noStrike">
                <a:solidFill>
                  <a:srgbClr val="ffffff"/>
                </a:solidFill>
                <a:latin typeface="Tahoma"/>
              </a:rPr>
              <a:t>Observability</a:t>
            </a:r>
            <a:r>
              <a:rPr b="1" lang="fr-FR" sz="3600" spc="-236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5" strike="noStrike">
                <a:solidFill>
                  <a:srgbClr val="ffffff"/>
                </a:solidFill>
                <a:latin typeface="Tahoma"/>
              </a:rPr>
              <a:t>&amp; </a:t>
            </a:r>
            <a:r>
              <a:rPr b="1" lang="fr-FR" sz="3600" spc="-1047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18" strike="noStrike">
                <a:solidFill>
                  <a:srgbClr val="ffffff"/>
                </a:solidFill>
                <a:latin typeface="Tahoma"/>
              </a:rPr>
              <a:t>Maintenance</a:t>
            </a:r>
            <a:endParaRPr b="0" lang="fr-FR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8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1209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10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211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7243920" cy="138204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-270" strike="noStrike">
                <a:solidFill>
                  <a:srgbClr val="ffffff"/>
                </a:solidFill>
                <a:latin typeface="Tahoma"/>
              </a:rPr>
              <a:t>API</a:t>
            </a:r>
            <a:r>
              <a:rPr b="1" lang="fr-FR" sz="3600" spc="-20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18" strike="noStrike">
                <a:solidFill>
                  <a:srgbClr val="ffffff"/>
                </a:solidFill>
                <a:latin typeface="Tahoma"/>
              </a:rPr>
              <a:t>Deprecations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9" strike="noStrike">
                <a:solidFill>
                  <a:srgbClr val="ffffff"/>
                </a:solidFill>
                <a:latin typeface="Lucida Sans Unicode"/>
              </a:rPr>
              <a:t>Kubernetes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38" strike="noStrike">
                <a:solidFill>
                  <a:srgbClr val="ffffff"/>
                </a:solidFill>
                <a:latin typeface="Lucida Sans Unicode"/>
              </a:rPr>
              <a:t>release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2" strike="noStrike">
                <a:solidFill>
                  <a:srgbClr val="ffffff"/>
                </a:solidFill>
                <a:latin typeface="Lucida Sans Unicode"/>
              </a:rPr>
              <a:t>cycle,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21" strike="noStrike">
                <a:solidFill>
                  <a:srgbClr val="ffffff"/>
                </a:solidFill>
                <a:latin typeface="Lucida Sans Unicode"/>
              </a:rPr>
              <a:t>API</a:t>
            </a:r>
            <a:r>
              <a:rPr b="0" lang="fr-FR" sz="1800" spc="-8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38" strike="noStrike">
                <a:solidFill>
                  <a:srgbClr val="ffffff"/>
                </a:solidFill>
                <a:latin typeface="Lucida Sans Unicode"/>
              </a:rPr>
              <a:t>deprecations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9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38" strike="noStrike">
                <a:solidFill>
                  <a:srgbClr val="ffffff"/>
                </a:solidFill>
                <a:latin typeface="Lucida Sans Unicode"/>
              </a:rPr>
              <a:t>removals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Deprecation</a:t>
            </a:r>
            <a:r>
              <a:rPr b="1" lang="fr-FR" sz="2400" spc="-17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Some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APIs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will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deprecated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eventually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removed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13" name="object 4"/>
          <p:cNvSpPr/>
          <p:nvPr/>
        </p:nvSpPr>
        <p:spPr>
          <a:xfrm>
            <a:off x="8701560" y="4908600"/>
            <a:ext cx="2592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6DFFD8D-1A1B-4845-ACC0-0BC6FD77B21E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214" name="object 3"/>
          <p:cNvSpPr/>
          <p:nvPr/>
        </p:nvSpPr>
        <p:spPr>
          <a:xfrm>
            <a:off x="600120" y="1392840"/>
            <a:ext cx="8218080" cy="30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project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releases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3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year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(see</a:t>
            </a:r>
            <a:r>
              <a:rPr b="0" lang="fr-FR" sz="1600" spc="18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release</a:t>
            </a:r>
            <a:r>
              <a:rPr b="0" lang="fr-FR" sz="1600" spc="-1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3"/>
              </a:rPr>
              <a:t>cadence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).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each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release,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 API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become deprecated which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means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that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scheduled </a:t>
            </a:r>
            <a:r>
              <a:rPr b="0" lang="fr-FR" sz="1600" spc="-4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removal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replacement. </a:t>
            </a: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find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more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information about the details in the </a:t>
            </a:r>
            <a:r>
              <a:rPr b="0" lang="fr-FR" sz="1600" spc="-1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4"/>
              </a:rPr>
              <a:t>Kubernetes</a:t>
            </a:r>
            <a:r>
              <a:rPr b="0" lang="fr-FR" sz="1600" spc="-1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5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6"/>
              </a:rPr>
              <a:t>Deprecation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7"/>
              </a:rPr>
              <a:t>Policy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deprecated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renders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warning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message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when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that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uses it.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7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8"/>
              </a:rPr>
              <a:t>Deprecated</a:t>
            </a:r>
            <a:r>
              <a:rPr b="0" lang="fr-FR" sz="1600" spc="-9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9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0"/>
              </a:rPr>
              <a:t>API</a:t>
            </a:r>
            <a:r>
              <a:rPr b="0" lang="fr-FR" sz="1600" spc="-1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1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2"/>
              </a:rPr>
              <a:t>Migration</a:t>
            </a:r>
            <a:r>
              <a:rPr b="0" lang="fr-FR" sz="1600" spc="-1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3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4"/>
              </a:rPr>
              <a:t>Guide</a:t>
            </a:r>
            <a:r>
              <a:rPr b="0" lang="fr-FR" sz="1600" spc="-1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15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shows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list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deprecated</a:t>
            </a: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scheduled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releases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that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will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remove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support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the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Available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API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version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kubect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l</a:t>
            </a:r>
            <a:r>
              <a:rPr b="0" lang="fr-FR" sz="1600" spc="-642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discover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version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useable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manifests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16" name="object 4"/>
          <p:cNvSpPr/>
          <p:nvPr/>
        </p:nvSpPr>
        <p:spPr>
          <a:xfrm>
            <a:off x="499680" y="1500120"/>
            <a:ext cx="3703680" cy="224856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60200" bIns="0" anchor="t">
            <a:spAutoFit/>
          </a:bodyPr>
          <a:p>
            <a:pPr marL="208440">
              <a:lnSpc>
                <a:spcPts val="1650"/>
              </a:lnSpc>
              <a:spcBef>
                <a:spcPts val="1261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 api-versions 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admissionregistration.k8s.io/v1 </a:t>
            </a:r>
            <a:r>
              <a:rPr b="0" lang="fr-FR" sz="1400" spc="-83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apiextensions.k8s.io/v1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apiregistration.k8s.io/v1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apps/v1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authentication.k8s.io/v1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authorization.k8s.io/v1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autoscaling/v1</a:t>
            </a:r>
            <a:endParaRPr b="0" lang="fr-FR" sz="1400" spc="-1" strike="noStrike">
              <a:latin typeface="Arial"/>
            </a:endParaRPr>
          </a:p>
          <a:p>
            <a:pPr marL="208440">
              <a:lnSpc>
                <a:spcPts val="1585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autoscaling/v2</a:t>
            </a:r>
            <a:endParaRPr b="0" lang="fr-FR" sz="1400" spc="-1" strike="noStrike">
              <a:latin typeface="Arial"/>
            </a:endParaRPr>
          </a:p>
          <a:p>
            <a:pPr marL="2084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17" name="object 5"/>
          <p:cNvSpPr/>
          <p:nvPr/>
        </p:nvSpPr>
        <p:spPr>
          <a:xfrm>
            <a:off x="8701560" y="4908600"/>
            <a:ext cx="2592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7E9C561-8FF0-4ECA-8460-F7402A73E131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Deprecated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5" strike="noStrike">
                <a:solidFill>
                  <a:srgbClr val="000000"/>
                </a:solidFill>
                <a:latin typeface="Tahoma"/>
              </a:rPr>
              <a:t>HPA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API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was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deprecated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02" strike="noStrike">
                <a:solidFill>
                  <a:srgbClr val="666666"/>
                </a:solidFill>
                <a:latin typeface="Lucida Sans Unicode"/>
              </a:rPr>
              <a:t>1.23+,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1"/>
              </a:rPr>
              <a:t>removed</a:t>
            </a:r>
            <a:r>
              <a:rPr b="0" lang="fr-FR" sz="1600" spc="-86" strike="noStrike" u="sng">
                <a:solidFill>
                  <a:srgbClr val="0000ff"/>
                </a:solidFill>
                <a:uFillTx/>
                <a:latin typeface="Lucida Sans Unicode"/>
                <a:hlinkClick r:id="rId2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91" strike="noStrike">
                <a:solidFill>
                  <a:srgbClr val="666666"/>
                </a:solidFill>
                <a:latin typeface="Lucida Sans Unicode"/>
              </a:rPr>
              <a:t>1.26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219" name="object 3"/>
          <p:cNvGrpSpPr/>
          <p:nvPr/>
        </p:nvGrpSpPr>
        <p:grpSpPr>
          <a:xfrm>
            <a:off x="463320" y="1323360"/>
            <a:ext cx="3627360" cy="2744640"/>
            <a:chOff x="463320" y="1323360"/>
            <a:chExt cx="3627360" cy="2744640"/>
          </a:xfrm>
        </p:grpSpPr>
        <p:pic>
          <p:nvPicPr>
            <p:cNvPr id="1220" name="object 4" descr=""/>
            <p:cNvPicPr/>
            <p:nvPr/>
          </p:nvPicPr>
          <p:blipFill>
            <a:blip r:embed="rId3"/>
            <a:stretch/>
          </p:blipFill>
          <p:spPr>
            <a:xfrm>
              <a:off x="463320" y="1323360"/>
              <a:ext cx="3627360" cy="2744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21" name="object 5"/>
            <p:cNvSpPr/>
            <p:nvPr/>
          </p:nvSpPr>
          <p:spPr>
            <a:xfrm>
              <a:off x="516960" y="1371600"/>
              <a:ext cx="3513240" cy="2630520"/>
            </a:xfrm>
            <a:custGeom>
              <a:avLst/>
              <a:gdLst/>
              <a:ahLst/>
              <a:rect l="l" t="t" r="r" b="b"/>
              <a:pathLst>
                <a:path w="3515995" h="2633345">
                  <a:moveTo>
                    <a:pt x="3515999" y="2633099"/>
                  </a:moveTo>
                  <a:lnTo>
                    <a:pt x="0" y="2633099"/>
                  </a:lnTo>
                  <a:lnTo>
                    <a:pt x="0" y="0"/>
                  </a:lnTo>
                  <a:lnTo>
                    <a:pt x="3515999" y="0"/>
                  </a:lnTo>
                  <a:lnTo>
                    <a:pt x="3515999" y="26330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222" name="object 6"/>
          <p:cNvSpPr/>
          <p:nvPr/>
        </p:nvSpPr>
        <p:spPr>
          <a:xfrm>
            <a:off x="1824120" y="1488960"/>
            <a:ext cx="2022840" cy="1990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440" bIns="0" anchor="t">
            <a:spAutoFit/>
          </a:bodyPr>
          <a:p>
            <a:pPr marL="59040">
              <a:lnSpc>
                <a:spcPct val="100000"/>
              </a:lnSpc>
              <a:spcBef>
                <a:spcPts val="11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autoscaling/v2beta2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223" name="object 7"/>
          <p:cNvSpPr/>
          <p:nvPr/>
        </p:nvSpPr>
        <p:spPr>
          <a:xfrm>
            <a:off x="681840" y="1477440"/>
            <a:ext cx="289512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HorizontalPodAutoscaler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224" name="object 8"/>
          <p:cNvSpPr/>
          <p:nvPr/>
        </p:nvSpPr>
        <p:spPr>
          <a:xfrm>
            <a:off x="681840" y="2077560"/>
            <a:ext cx="2300760" cy="160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21096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php-apache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  <a:p>
            <a:pPr marL="408960" indent="-19800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scaleTargetRef: </a:t>
            </a: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9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apps/v1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3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php-apache</a:t>
            </a:r>
            <a:endParaRPr b="0" lang="fr-FR" sz="1300" spc="-1" strike="noStrike">
              <a:latin typeface="Arial"/>
            </a:endParaRPr>
          </a:p>
          <a:p>
            <a:pPr marL="210960" indent="-19800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minReplicas: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300" spc="-1" strike="noStrike">
              <a:latin typeface="Arial"/>
            </a:endParaRPr>
          </a:p>
          <a:p>
            <a:pPr marL="210960" indent="-19800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maxReplicas: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10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225" name="object 9"/>
          <p:cNvGrpSpPr/>
          <p:nvPr/>
        </p:nvGrpSpPr>
        <p:grpSpPr>
          <a:xfrm>
            <a:off x="3046680" y="3391920"/>
            <a:ext cx="5699880" cy="1361160"/>
            <a:chOff x="3046680" y="3391920"/>
            <a:chExt cx="5699880" cy="1361160"/>
          </a:xfrm>
        </p:grpSpPr>
        <p:pic>
          <p:nvPicPr>
            <p:cNvPr id="1226" name="object 10" descr=""/>
            <p:cNvPicPr/>
            <p:nvPr/>
          </p:nvPicPr>
          <p:blipFill>
            <a:blip r:embed="rId4"/>
            <a:stretch/>
          </p:blipFill>
          <p:spPr>
            <a:xfrm>
              <a:off x="3046680" y="3391920"/>
              <a:ext cx="5699880" cy="13611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27" name="object 11" descr=""/>
            <p:cNvPicPr/>
            <p:nvPr/>
          </p:nvPicPr>
          <p:blipFill>
            <a:blip r:embed="rId5"/>
            <a:stretch/>
          </p:blipFill>
          <p:spPr>
            <a:xfrm>
              <a:off x="3103920" y="3430080"/>
              <a:ext cx="5585760" cy="1246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228" name="object 12"/>
          <p:cNvSpPr/>
          <p:nvPr/>
        </p:nvSpPr>
        <p:spPr>
          <a:xfrm>
            <a:off x="8701560" y="4908600"/>
            <a:ext cx="2592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C5DE50D-3071-4AA5-9DBD-6097545BBE0C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Deprecated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5" strike="noStrike">
                <a:solidFill>
                  <a:srgbClr val="000000"/>
                </a:solidFill>
                <a:latin typeface="Tahoma"/>
              </a:rPr>
              <a:t>HPA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API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Warning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58" strike="noStrike">
                <a:solidFill>
                  <a:srgbClr val="000000"/>
                </a:solidFill>
                <a:latin typeface="Tahoma"/>
              </a:rPr>
              <a:t>Message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kubect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l</a:t>
            </a:r>
            <a:r>
              <a:rPr b="0" lang="fr-FR" sz="1600" spc="-642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renders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warning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message,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but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creates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30" name="object 4"/>
          <p:cNvSpPr/>
          <p:nvPr/>
        </p:nvSpPr>
        <p:spPr>
          <a:xfrm>
            <a:off x="499680" y="1500120"/>
            <a:ext cx="7694640" cy="99756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208440">
              <a:lnSpc>
                <a:spcPts val="1664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hpa.yaml</a:t>
            </a:r>
            <a:endParaRPr b="0" lang="fr-FR" sz="1400" spc="-1" strike="noStrike">
              <a:latin typeface="Arial"/>
            </a:endParaRPr>
          </a:p>
          <a:p>
            <a:pPr marL="208440">
              <a:lnSpc>
                <a:spcPts val="1650"/>
              </a:lnSpc>
              <a:spcBef>
                <a:spcPts val="65"/>
              </a:spcBef>
              <a:buNone/>
              <a:tabLst>
                <a:tab algn="l" pos="596376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Warning: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autoscaling/v2beta2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HorizontalPodAutoscaler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is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deprecated</a:t>
            </a:r>
            <a:r>
              <a:rPr b="0" lang="fr-FR" sz="1400" spc="123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in v1.23+,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unavailable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in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v1.26+;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use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autoscaling/v2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HorizontalPodAutoscaler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31" name="object 5"/>
          <p:cNvSpPr/>
          <p:nvPr/>
        </p:nvSpPr>
        <p:spPr>
          <a:xfrm>
            <a:off x="8701560" y="4908600"/>
            <a:ext cx="2592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023A8E0-5551-4A44-BE9B-0B53CFE97159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Removed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ClusterRole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API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Uses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1"/>
              </a:rPr>
              <a:t>removed</a:t>
            </a:r>
            <a:r>
              <a:rPr b="0" lang="fr-FR" sz="1600" spc="-75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2"/>
              </a:rPr>
              <a:t> </a:t>
            </a:r>
            <a:r>
              <a:rPr b="0" lang="fr-FR" sz="1600" spc="-2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3"/>
              </a:rPr>
              <a:t>API</a:t>
            </a:r>
            <a:r>
              <a:rPr b="0" lang="fr-FR" sz="1600" spc="-80" strike="noStrike" u="sng">
                <a:solidFill>
                  <a:srgbClr val="0000ff"/>
                </a:solidFill>
                <a:uFillTx/>
                <a:latin typeface="Lucida Sans Unicode"/>
                <a:hlinkClick r:id="rId4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version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6" strike="noStrike">
                <a:solidFill>
                  <a:srgbClr val="666666"/>
                </a:solidFill>
                <a:latin typeface="Lucida Sans Unicode"/>
              </a:rPr>
              <a:t>1.22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33" name="object 4"/>
          <p:cNvSpPr/>
          <p:nvPr/>
        </p:nvSpPr>
        <p:spPr>
          <a:xfrm>
            <a:off x="1824120" y="1488960"/>
            <a:ext cx="3386160" cy="1990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440" bIns="0" anchor="t">
            <a:spAutoFit/>
          </a:bodyPr>
          <a:p>
            <a:pPr marL="59040">
              <a:lnSpc>
                <a:spcPct val="100000"/>
              </a:lnSpc>
              <a:spcBef>
                <a:spcPts val="11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rbac.authorization.k8s.io/v1beta1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234" name="object 5"/>
          <p:cNvSpPr/>
          <p:nvPr/>
        </p:nvSpPr>
        <p:spPr>
          <a:xfrm>
            <a:off x="516960" y="1371600"/>
            <a:ext cx="4830840" cy="17150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18800" bIns="0" anchor="t">
            <a:spAutoFit/>
          </a:bodyPr>
          <a:p>
            <a:pPr marL="177120">
              <a:lnSpc>
                <a:spcPct val="100000"/>
              </a:lnSpc>
              <a:spcBef>
                <a:spcPts val="93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endParaRPr b="0" lang="fr-FR" sz="1300" spc="-1" strike="noStrike">
              <a:latin typeface="Arial"/>
            </a:endParaRPr>
          </a:p>
          <a:p>
            <a:pPr marL="17712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ClusterRole</a:t>
            </a:r>
            <a:endParaRPr b="0" lang="fr-FR" sz="1300" spc="-1" strike="noStrike">
              <a:latin typeface="Arial"/>
            </a:endParaRPr>
          </a:p>
          <a:p>
            <a:pPr marL="17712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37512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pod-reader</a:t>
            </a:r>
            <a:endParaRPr b="0" lang="fr-FR" sz="1300" spc="-1" strike="noStrike">
              <a:latin typeface="Arial"/>
            </a:endParaRPr>
          </a:p>
          <a:p>
            <a:pPr marL="17712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rules:</a:t>
            </a:r>
            <a:endParaRPr b="0" lang="fr-FR" sz="1300" spc="-1" strike="noStrike">
              <a:latin typeface="Arial"/>
            </a:endParaRPr>
          </a:p>
          <a:p>
            <a:pPr marL="17712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-</a:t>
            </a:r>
            <a:r>
              <a:rPr b="1" lang="fr-FR" sz="13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apiGroups:</a:t>
            </a:r>
            <a:r>
              <a:rPr b="1" lang="fr-FR" sz="1300" spc="-4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  <a:p>
            <a:pPr marL="37512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resources:</a:t>
            </a:r>
            <a:r>
              <a:rPr b="1" lang="fr-FR" sz="1300" spc="-5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"pods"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  <a:p>
            <a:pPr marL="37512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verbs:</a:t>
            </a:r>
            <a:r>
              <a:rPr b="1" lang="fr-FR" sz="1300" spc="-2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"get"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"watch"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"list"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235" name="object 6"/>
          <p:cNvGrpSpPr/>
          <p:nvPr/>
        </p:nvGrpSpPr>
        <p:grpSpPr>
          <a:xfrm>
            <a:off x="449640" y="3670200"/>
            <a:ext cx="7919280" cy="756720"/>
            <a:chOff x="449640" y="3670200"/>
            <a:chExt cx="7919280" cy="756720"/>
          </a:xfrm>
        </p:grpSpPr>
        <p:pic>
          <p:nvPicPr>
            <p:cNvPr id="1236" name="object 7" descr=""/>
            <p:cNvPicPr/>
            <p:nvPr/>
          </p:nvPicPr>
          <p:blipFill>
            <a:blip r:embed="rId5"/>
            <a:stretch/>
          </p:blipFill>
          <p:spPr>
            <a:xfrm>
              <a:off x="449640" y="3670200"/>
              <a:ext cx="7919280" cy="7567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37" name="object 8" descr=""/>
            <p:cNvPicPr/>
            <p:nvPr/>
          </p:nvPicPr>
          <p:blipFill>
            <a:blip r:embed="rId6"/>
            <a:stretch/>
          </p:blipFill>
          <p:spPr>
            <a:xfrm>
              <a:off x="506880" y="3708360"/>
              <a:ext cx="7804800" cy="64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238" name="object 9"/>
          <p:cNvSpPr/>
          <p:nvPr/>
        </p:nvSpPr>
        <p:spPr>
          <a:xfrm>
            <a:off x="8701560" y="4908600"/>
            <a:ext cx="2592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97E6C54-0F8D-461E-A938-7D51AF92ED02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Removed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ClusterRole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API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5" strike="noStrike">
                <a:solidFill>
                  <a:srgbClr val="000000"/>
                </a:solidFill>
                <a:latin typeface="Tahoma"/>
              </a:rPr>
              <a:t>Error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58" strike="noStrike">
                <a:solidFill>
                  <a:srgbClr val="000000"/>
                </a:solidFill>
                <a:latin typeface="Tahoma"/>
              </a:rPr>
              <a:t>Message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kubectl</a:t>
            </a:r>
            <a:r>
              <a:rPr b="0" lang="fr-FR" sz="1600" spc="-642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renders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error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message,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3" strike="noStrike">
                <a:solidFill>
                  <a:srgbClr val="666666"/>
                </a:solidFill>
                <a:latin typeface="Lucida Sans Unicode"/>
              </a:rPr>
              <a:t>as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does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exist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anymore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40" name="object 4"/>
          <p:cNvSpPr/>
          <p:nvPr/>
        </p:nvSpPr>
        <p:spPr>
          <a:xfrm>
            <a:off x="499680" y="1500120"/>
            <a:ext cx="7694640" cy="99756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208440">
              <a:lnSpc>
                <a:spcPts val="1664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clusterrole.yaml</a:t>
            </a:r>
            <a:endParaRPr b="0" lang="fr-FR" sz="1400" spc="-1" strike="noStrike">
              <a:latin typeface="Arial"/>
            </a:endParaRPr>
          </a:p>
          <a:p>
            <a:pPr marL="208440">
              <a:lnSpc>
                <a:spcPts val="1650"/>
              </a:lnSpc>
              <a:spcBef>
                <a:spcPts val="65"/>
              </a:spcBef>
              <a:buNone/>
              <a:tabLst>
                <a:tab algn="l" pos="7267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error: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resource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mapping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not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found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for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name: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"pod-reader"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namespace:</a:t>
            </a:r>
            <a:r>
              <a:rPr b="0" lang="fr-FR" sz="1400" spc="154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"" from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"clusterrole.yaml":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no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matches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for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kind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"ClusterRole"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in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version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"rbac.authorization.k8s.io/v1beta1"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41" name="object 5"/>
          <p:cNvSpPr/>
          <p:nvPr/>
        </p:nvSpPr>
        <p:spPr>
          <a:xfrm>
            <a:off x="8701560" y="4908600"/>
            <a:ext cx="2592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096C916-85FE-410C-B70A-61A5F3B17AD1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Using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ClusterRole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API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Replacement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Usage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replacement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243" name="object 6"/>
          <p:cNvGrpSpPr/>
          <p:nvPr/>
        </p:nvGrpSpPr>
        <p:grpSpPr>
          <a:xfrm>
            <a:off x="459720" y="3573000"/>
            <a:ext cx="6009480" cy="1225080"/>
            <a:chOff x="459720" y="3573000"/>
            <a:chExt cx="6009480" cy="1225080"/>
          </a:xfrm>
        </p:grpSpPr>
        <p:pic>
          <p:nvPicPr>
            <p:cNvPr id="1244" name="object 7" descr=""/>
            <p:cNvPicPr/>
            <p:nvPr/>
          </p:nvPicPr>
          <p:blipFill>
            <a:blip r:embed="rId1"/>
            <a:stretch/>
          </p:blipFill>
          <p:spPr>
            <a:xfrm>
              <a:off x="459720" y="3573000"/>
              <a:ext cx="6009480" cy="1225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45" name="object 8" descr=""/>
            <p:cNvPicPr/>
            <p:nvPr/>
          </p:nvPicPr>
          <p:blipFill>
            <a:blip r:embed="rId2"/>
            <a:stretch/>
          </p:blipFill>
          <p:spPr>
            <a:xfrm>
              <a:off x="516960" y="3611160"/>
              <a:ext cx="5895000" cy="1110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246" name="object 9"/>
          <p:cNvSpPr/>
          <p:nvPr/>
        </p:nvSpPr>
        <p:spPr>
          <a:xfrm>
            <a:off x="8701560" y="4908600"/>
            <a:ext cx="2592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5B6E712-E7E1-44F5-AF3C-FB1451F42E0A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247" name="" descr=""/>
          <p:cNvPicPr/>
          <p:nvPr/>
        </p:nvPicPr>
        <p:blipFill>
          <a:blip r:embed="rId3"/>
          <a:stretch/>
        </p:blipFill>
        <p:spPr>
          <a:xfrm>
            <a:off x="494280" y="1241640"/>
            <a:ext cx="5199840" cy="2176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8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1249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50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251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5623920" cy="138204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4" strike="noStrike">
                <a:solidFill>
                  <a:srgbClr val="ffffff"/>
                </a:solidFill>
                <a:latin typeface="Tahoma"/>
              </a:rPr>
              <a:t>Probes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4" strike="noStrike">
                <a:solidFill>
                  <a:srgbClr val="ffffff"/>
                </a:solidFill>
                <a:latin typeface="Lucida Sans Unicode"/>
              </a:rPr>
              <a:t>Readiness,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liveness,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9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2" strike="noStrike">
                <a:solidFill>
                  <a:srgbClr val="ffffff"/>
                </a:solidFill>
                <a:latin typeface="Lucida Sans Unicode"/>
              </a:rPr>
              <a:t>startup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4" strike="noStrike">
                <a:solidFill>
                  <a:srgbClr val="ffffff"/>
                </a:solidFill>
                <a:latin typeface="Lucida Sans Unicode"/>
              </a:rPr>
              <a:t>probes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Probe?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Detection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potential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correction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issues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53" name="object 4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2284CF9-EB10-4087-A372-609405E8DF9E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254" name="object 3"/>
          <p:cNvSpPr/>
          <p:nvPr/>
        </p:nvSpPr>
        <p:spPr>
          <a:xfrm>
            <a:off x="600120" y="1360440"/>
            <a:ext cx="8398080" cy="22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configure a container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health probes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execute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periodic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mini-process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that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checks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certain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conditions.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Verification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methods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include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running a custom command, sending 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HTTP GET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request,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opening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TCP</a:t>
            </a:r>
            <a:r>
              <a:rPr b="0" lang="fr-FR" sz="16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socket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connection.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Pick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method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most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conducive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verification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method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executed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kubelet.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9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Readiness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Probe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"Is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ready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serve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requests?"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256" name="object 3" descr=""/>
          <p:cNvPicPr/>
          <p:nvPr/>
        </p:nvPicPr>
        <p:blipFill>
          <a:blip r:embed="rId1"/>
          <a:stretch/>
        </p:blipFill>
        <p:spPr>
          <a:xfrm>
            <a:off x="794520" y="1979280"/>
            <a:ext cx="7639560" cy="2069640"/>
          </a:xfrm>
          <a:prstGeom prst="rect">
            <a:avLst/>
          </a:prstGeom>
          <a:ln w="0">
            <a:noFill/>
          </a:ln>
        </p:spPr>
      </p:pic>
      <p:sp>
        <p:nvSpPr>
          <p:cNvPr id="1257" name="object 4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72473CA-3DEF-4FFC-94E0-B8D9A4C93466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Liveness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Probe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"Does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still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function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without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errors?"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259" name="object 3" descr=""/>
          <p:cNvPicPr/>
          <p:nvPr/>
        </p:nvPicPr>
        <p:blipFill>
          <a:blip r:embed="rId1"/>
          <a:stretch/>
        </p:blipFill>
        <p:spPr>
          <a:xfrm>
            <a:off x="1447920" y="1781640"/>
            <a:ext cx="6238080" cy="2638080"/>
          </a:xfrm>
          <a:prstGeom prst="rect">
            <a:avLst/>
          </a:prstGeom>
          <a:ln w="0">
            <a:noFill/>
          </a:ln>
        </p:spPr>
      </p:pic>
      <p:sp>
        <p:nvSpPr>
          <p:cNvPr id="1260" name="object 4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450F217-92F2-4EF7-815C-2DD5F1E1A835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Startup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Probe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"Legacy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14" strike="noStrike">
                <a:solidFill>
                  <a:srgbClr val="666666"/>
                </a:solidFill>
                <a:latin typeface="Lucida Sans Unicode"/>
              </a:rPr>
              <a:t>may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need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longer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start.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Hold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off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liveness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probing."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262" name="object 3" descr=""/>
          <p:cNvPicPr/>
          <p:nvPr/>
        </p:nvPicPr>
        <p:blipFill>
          <a:blip r:embed="rId1"/>
          <a:stretch/>
        </p:blipFill>
        <p:spPr>
          <a:xfrm>
            <a:off x="782280" y="2042640"/>
            <a:ext cx="7489800" cy="1841040"/>
          </a:xfrm>
          <a:prstGeom prst="rect">
            <a:avLst/>
          </a:prstGeom>
          <a:ln w="0">
            <a:noFill/>
          </a:ln>
        </p:spPr>
      </p:pic>
      <p:sp>
        <p:nvSpPr>
          <p:cNvPr id="1263" name="object 4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4B7EFF8-AB6E-4913-9E2C-618F85F3FD6B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Health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Verification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Methods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verification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method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used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probe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types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1265" name="object 3"/>
          <p:cNvGraphicFramePr/>
          <p:nvPr/>
        </p:nvGraphicFramePr>
        <p:xfrm>
          <a:off x="286200" y="1408680"/>
          <a:ext cx="8641440" cy="3823200"/>
        </p:xfrm>
        <a:graphic>
          <a:graphicData uri="http://schemas.openxmlformats.org/drawingml/2006/table">
            <a:tbl>
              <a:tblPr/>
              <a:tblGrid>
                <a:gridCol w="2030040"/>
                <a:gridCol w="1385640"/>
                <a:gridCol w="5226120"/>
              </a:tblGrid>
              <a:tr h="553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1" strike="noStrike">
                          <a:solidFill>
                            <a:srgbClr val="ffffff"/>
                          </a:solidFill>
                          <a:latin typeface="Arial MT"/>
                        </a:rPr>
                        <a:t>Method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Option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Description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26395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Custom</a:t>
                      </a:r>
                      <a:r>
                        <a:rPr b="0" lang="fr-FR" sz="1200" spc="-5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Command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20"/>
                        </a:spcBef>
                        <a:buNone/>
                      </a:pPr>
                      <a:endParaRPr b="0" lang="fr-FR" sz="11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HTTP</a:t>
                      </a:r>
                      <a:r>
                        <a:rPr b="0" lang="fr-FR" sz="1200" spc="-5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GET</a:t>
                      </a:r>
                      <a:r>
                        <a:rPr b="0" lang="fr-FR" sz="1200" spc="-5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Request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6"/>
                        </a:spcBef>
                        <a:buNone/>
                      </a:pPr>
                      <a:endParaRPr b="0" lang="fr-FR" sz="105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TCP</a:t>
                      </a:r>
                      <a:r>
                        <a:rPr b="0" lang="fr-FR" sz="1200" spc="-5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socket</a:t>
                      </a:r>
                      <a:r>
                        <a:rPr b="0" lang="fr-FR" sz="1200" spc="-3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connection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exec.command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20"/>
                        </a:spcBef>
                        <a:buNone/>
                      </a:pPr>
                      <a:endParaRPr b="0" lang="fr-FR" sz="11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httpGet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6"/>
                        </a:spcBef>
                        <a:buNone/>
                      </a:pPr>
                      <a:endParaRPr b="0" lang="fr-FR" sz="105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tcpSocket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 algn="just">
                        <a:lnSpc>
                          <a:spcPts val="1429"/>
                        </a:lnSpc>
                        <a:spcBef>
                          <a:spcPts val="68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Executes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 command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inside of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container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e.g.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 cat command </a:t>
                      </a:r>
                      <a:r>
                        <a:rPr b="0" lang="fr-FR" sz="1200" spc="-327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and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checks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its exit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code.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Kubernetes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considers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zero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exit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code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be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successful.</a:t>
                      </a:r>
                      <a:r>
                        <a:rPr b="0" lang="fr-FR" sz="1200" spc="-7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7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non-zero exit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code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indicates an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error.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45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Sends an HTTP GET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request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 an endpoint exposed by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application.</a:t>
                      </a:r>
                      <a:r>
                        <a:rPr b="0" lang="fr-FR" sz="1200" spc="-7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7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HTTP</a:t>
                      </a:r>
                      <a:r>
                        <a:rPr b="0" lang="fr-FR" sz="12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response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code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range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of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200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and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399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indicates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success.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Any other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response code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regarded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as an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error.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Tries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open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TCP</a:t>
                      </a:r>
                      <a:r>
                        <a:rPr b="0" lang="fr-FR" sz="12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socket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connection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port.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If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connection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could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be established, the probing attempt was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successful.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inability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connect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is accounted for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as an 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error.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</a:tr>
              <a:tr h="6307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gRPC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 w="9360">
                      <a:solidFill>
                        <a:srgbClr val="f3f3f3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grpc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9360">
                      <a:solidFill>
                        <a:srgbClr val="f3f3f3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ts val="1429"/>
                        </a:lnSpc>
                        <a:spcBef>
                          <a:spcPts val="68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 application implements the </a:t>
                      </a:r>
                      <a:r>
                        <a:rPr b="0" lang="fr-FR" sz="1200" spc="-7" strike="noStrike" u="heavy">
                          <a:solidFill>
                            <a:srgbClr val="0000ff"/>
                          </a:solidFill>
                          <a:uFill>
                            <a:solidFill>
                              <a:srgbClr val="d30020"/>
                            </a:solidFill>
                          </a:uFill>
                          <a:latin typeface="Arial MT"/>
                          <a:hlinkClick r:id="rId1"/>
                        </a:rPr>
                        <a:t>GRPC Health Checking Protocol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.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Verifies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whether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server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is able to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handle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rpcs.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9360">
                      <a:solidFill>
                        <a:srgbClr val="f3f3f3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66" name="object 5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09F9BAB-5CAF-461D-A4E3-D42E9AC7181A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Health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5" strike="noStrike">
                <a:solidFill>
                  <a:srgbClr val="000000"/>
                </a:solidFill>
                <a:latin typeface="Tahoma"/>
              </a:rPr>
              <a:t>Check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Attributes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verification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method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used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probe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types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1268" name="object 3"/>
          <p:cNvGraphicFramePr/>
          <p:nvPr/>
        </p:nvGraphicFramePr>
        <p:xfrm>
          <a:off x="394200" y="1408680"/>
          <a:ext cx="8611200" cy="3576240"/>
        </p:xfrm>
        <a:graphic>
          <a:graphicData uri="http://schemas.openxmlformats.org/drawingml/2006/table">
            <a:tbl>
              <a:tblPr/>
              <a:tblGrid>
                <a:gridCol w="2311560"/>
                <a:gridCol w="941760"/>
                <a:gridCol w="5358240"/>
              </a:tblGrid>
              <a:tr h="727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31"/>
                        </a:spcBef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Attribute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ts val="1650"/>
                        </a:lnSpc>
                        <a:spcBef>
                          <a:spcPts val="780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Default  </a:t>
                      </a:r>
                      <a:r>
                        <a:rPr b="0" lang="fr-FR" sz="1400" spc="-26" strike="noStrike">
                          <a:solidFill>
                            <a:srgbClr val="ffffff"/>
                          </a:solidFill>
                          <a:latin typeface="Arial MT"/>
                        </a:rPr>
                        <a:t>Value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31"/>
                        </a:spcBef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Description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36756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initialDelaySeconds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38160">
                      <a:solidFill>
                        <a:srgbClr val="660000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38160">
                      <a:solidFill>
                        <a:srgbClr val="660000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Delay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seconds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until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first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check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is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executed.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38160">
                      <a:solidFill>
                        <a:srgbClr val="660000"/>
                      </a:solidFill>
                    </a:lnB>
                    <a:noFill/>
                  </a:tcPr>
                </a:tc>
              </a:tr>
              <a:tr h="36360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595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periodSeconds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fffff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595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595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Interval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for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executing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check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(e.g.,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every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20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seconds).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4064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595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timeoutSeconds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595"/>
                        </a:spcBef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1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595"/>
                        </a:spcBef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Maximum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number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of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seconds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until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check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operation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times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out.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80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9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successThreshold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924"/>
                        </a:spcBef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1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ts val="1429"/>
                        </a:lnSpc>
                        <a:spcBef>
                          <a:spcPts val="98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Number of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successful check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attempts until probe is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considered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successful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after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failure.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4468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4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failureThreshold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46"/>
                        </a:spcBef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3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ts val="1429"/>
                        </a:lnSpc>
                        <a:spcBef>
                          <a:spcPts val="70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Number of failures for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check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attempts before probe is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marked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failed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and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takes action.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8440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4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terminationGracePeriod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4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30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4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Grace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period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before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forcing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container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stop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upon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failure.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6748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ts val="127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Seconds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69" name="object 7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01268B5-C281-4F75-8DD4-485581E85AF1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Readiness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Probe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HTTP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probes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very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helpful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web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applications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71" name="object 10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EB4FD51-1A7D-4D09-B92F-4D806E2AA539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272" name="" descr=""/>
          <p:cNvPicPr/>
          <p:nvPr/>
        </p:nvPicPr>
        <p:blipFill>
          <a:blip r:embed="rId1"/>
          <a:stretch/>
        </p:blipFill>
        <p:spPr>
          <a:xfrm>
            <a:off x="540000" y="1365480"/>
            <a:ext cx="710964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Liveness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Probe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Querying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event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log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custom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command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74" name="object 10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9ED5D3C-9E00-40D7-85A7-28B85D76EF7A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275" name="" descr=""/>
          <p:cNvPicPr/>
          <p:nvPr/>
        </p:nvPicPr>
        <p:blipFill>
          <a:blip r:embed="rId1"/>
          <a:stretch/>
        </p:blipFill>
        <p:spPr>
          <a:xfrm>
            <a:off x="504000" y="1199160"/>
            <a:ext cx="8494200" cy="2959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Startup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Probe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Opening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TCP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socket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connection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exposed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application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77" name="object 10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64059F0-767D-4869-8112-05F9AADF2579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278" name="" descr=""/>
          <p:cNvPicPr/>
          <p:nvPr/>
        </p:nvPicPr>
        <p:blipFill>
          <a:blip r:embed="rId1"/>
          <a:stretch/>
        </p:blipFill>
        <p:spPr>
          <a:xfrm>
            <a:off x="540000" y="1260000"/>
            <a:ext cx="6848640" cy="3300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Using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7" strike="noStrike">
                <a:solidFill>
                  <a:srgbClr val="000000"/>
                </a:solidFill>
                <a:latin typeface="Tahoma"/>
              </a:rPr>
              <a:t>Named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5" strike="noStrike">
                <a:solidFill>
                  <a:srgbClr val="000000"/>
                </a:solidFill>
                <a:latin typeface="Tahoma"/>
              </a:rPr>
              <a:t>Port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Referencing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assigned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multiple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probes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80" name="object 14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FC0C412-0C95-4396-983B-49AA060717FE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281" name="" descr=""/>
          <p:cNvPicPr/>
          <p:nvPr/>
        </p:nvPicPr>
        <p:blipFill>
          <a:blip r:embed="rId1"/>
          <a:stretch/>
        </p:blipFill>
        <p:spPr>
          <a:xfrm>
            <a:off x="543960" y="1422360"/>
            <a:ext cx="2694240" cy="3075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11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283" name="object 3"/>
          <p:cNvSpPr/>
          <p:nvPr/>
        </p:nvSpPr>
        <p:spPr>
          <a:xfrm>
            <a:off x="494280" y="1323360"/>
            <a:ext cx="400392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Defining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probes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4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1285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86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287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6703920" cy="138204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4" strike="noStrike">
                <a:solidFill>
                  <a:srgbClr val="ffffff"/>
                </a:solidFill>
                <a:latin typeface="Tahoma"/>
              </a:rPr>
              <a:t>Metrics</a:t>
            </a:r>
            <a:r>
              <a:rPr b="1" lang="fr-FR" sz="3600" spc="-236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2" strike="noStrike">
                <a:solidFill>
                  <a:srgbClr val="ffffff"/>
                </a:solidFill>
                <a:latin typeface="Tahoma"/>
              </a:rPr>
              <a:t>Server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2" strike="noStrike">
                <a:solidFill>
                  <a:srgbClr val="ffffff"/>
                </a:solidFill>
                <a:latin typeface="Lucida Sans Unicode"/>
              </a:rPr>
              <a:t>Retrieving,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inspecting,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9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using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4" strike="noStrike">
                <a:solidFill>
                  <a:srgbClr val="ffffff"/>
                </a:solidFill>
                <a:latin typeface="Lucida Sans Unicode"/>
              </a:rPr>
              <a:t>resource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4" strike="noStrike">
                <a:solidFill>
                  <a:srgbClr val="ffffff"/>
                </a:solidFill>
                <a:latin typeface="Lucida Sans Unicode"/>
              </a:rPr>
              <a:t>metrics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Metrics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Server?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Cluster-wide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metrics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aggregator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89" name="object 3"/>
          <p:cNvSpPr/>
          <p:nvPr/>
        </p:nvSpPr>
        <p:spPr>
          <a:xfrm>
            <a:off x="600120" y="1360440"/>
            <a:ext cx="785808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Gathers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consumption metrics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 nodes, e.g. CPU and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memory.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kubelet sends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those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metrics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the Kubernetes API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exposes them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through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Metrics</a:t>
            </a:r>
            <a:r>
              <a:rPr b="0" lang="fr-FR" sz="1600" spc="-9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3"/>
              </a:rPr>
              <a:t>API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metrics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memory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persist data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over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time.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290" name="object 4" descr=""/>
          <p:cNvPicPr/>
          <p:nvPr/>
        </p:nvPicPr>
        <p:blipFill>
          <a:blip r:embed="rId4"/>
          <a:stretch/>
        </p:blipFill>
        <p:spPr>
          <a:xfrm>
            <a:off x="3032280" y="3120480"/>
            <a:ext cx="2989800" cy="1677240"/>
          </a:xfrm>
          <a:prstGeom prst="rect">
            <a:avLst/>
          </a:prstGeom>
          <a:ln w="0">
            <a:noFill/>
          </a:ln>
        </p:spPr>
      </p:pic>
      <p:sp>
        <p:nvSpPr>
          <p:cNvPr id="1291" name="object 5"/>
          <p:cNvSpPr/>
          <p:nvPr/>
        </p:nvSpPr>
        <p:spPr>
          <a:xfrm>
            <a:off x="8701560" y="4908600"/>
            <a:ext cx="2541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B617BD2-AEAF-4D6B-83F1-54C4E9B85B48}" type="slidenum">
              <a:rPr b="0" lang="fr-FR" sz="800" spc="-3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Installing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Metrics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Server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does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come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metrics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server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default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293" name="object 3" descr=""/>
          <p:cNvPicPr/>
          <p:nvPr/>
        </p:nvPicPr>
        <p:blipFill>
          <a:blip r:embed="rId1"/>
          <a:stretch/>
        </p:blipFill>
        <p:spPr>
          <a:xfrm>
            <a:off x="495360" y="1756080"/>
            <a:ext cx="883440" cy="857160"/>
          </a:xfrm>
          <a:prstGeom prst="rect">
            <a:avLst/>
          </a:prstGeom>
          <a:ln w="0">
            <a:noFill/>
          </a:ln>
        </p:spPr>
      </p:pic>
      <p:sp>
        <p:nvSpPr>
          <p:cNvPr id="1294" name="object 5"/>
          <p:cNvSpPr/>
          <p:nvPr/>
        </p:nvSpPr>
        <p:spPr>
          <a:xfrm>
            <a:off x="1972080" y="1795680"/>
            <a:ext cx="4672080" cy="5716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400" bIns="0" anchor="t">
            <a:spAutoFit/>
          </a:bodyPr>
          <a:p>
            <a:pPr marL="237960">
              <a:lnSpc>
                <a:spcPts val="1664"/>
              </a:lnSpc>
              <a:spcBef>
                <a:spcPts val="117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minikube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addons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enable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metrics-server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The</a:t>
            </a:r>
            <a:r>
              <a:rPr b="0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'metrics-server'</a:t>
            </a:r>
            <a:r>
              <a:rPr b="0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addon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is</a:t>
            </a:r>
            <a:r>
              <a:rPr b="0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enabled</a:t>
            </a:r>
            <a:endParaRPr b="0" lang="fr-FR" sz="1400" spc="-1" strike="noStrike">
              <a:latin typeface="Arial"/>
            </a:endParaRPr>
          </a:p>
        </p:txBody>
      </p:sp>
      <p:pic>
        <p:nvPicPr>
          <p:cNvPr id="1295" name="object 6" descr=""/>
          <p:cNvPicPr/>
          <p:nvPr/>
        </p:nvPicPr>
        <p:blipFill>
          <a:blip r:embed="rId2"/>
          <a:stretch/>
        </p:blipFill>
        <p:spPr>
          <a:xfrm>
            <a:off x="0" y="2980080"/>
            <a:ext cx="1886040" cy="1264320"/>
          </a:xfrm>
          <a:prstGeom prst="rect">
            <a:avLst/>
          </a:prstGeom>
          <a:ln w="0">
            <a:noFill/>
          </a:ln>
        </p:spPr>
      </p:pic>
      <p:sp>
        <p:nvSpPr>
          <p:cNvPr id="1296" name="object 8"/>
          <p:cNvSpPr/>
          <p:nvPr/>
        </p:nvSpPr>
        <p:spPr>
          <a:xfrm>
            <a:off x="1987920" y="3178440"/>
            <a:ext cx="5835960" cy="7876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400" bIns="0" anchor="t">
            <a:spAutoFit/>
          </a:bodyPr>
          <a:p>
            <a:pPr marL="237960">
              <a:lnSpc>
                <a:spcPts val="1664"/>
              </a:lnSpc>
              <a:spcBef>
                <a:spcPts val="117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apply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spcBef>
                <a:spcPts val="65"/>
              </a:spcBef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https://github.com/kubernetes-sigs/metrics-server/r </a:t>
            </a:r>
            <a:r>
              <a:rPr b="1" lang="fr-FR" sz="1400" spc="-83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eleases/latest/download/components.yaml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97" name="object 9"/>
          <p:cNvSpPr/>
          <p:nvPr/>
        </p:nvSpPr>
        <p:spPr>
          <a:xfrm>
            <a:off x="8701560" y="4908600"/>
            <a:ext cx="2541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75F8DC7-6610-4B5E-AE51-67B9D524B471}" type="slidenum">
              <a:rPr b="0" lang="fr-FR" sz="800" spc="-3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Querying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Metrics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Metrics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nodes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rendered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top</a:t>
            </a:r>
            <a:r>
              <a:rPr b="0" lang="fr-FR" sz="1600" spc="-576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command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99" name="object 11"/>
          <p:cNvSpPr/>
          <p:nvPr/>
        </p:nvSpPr>
        <p:spPr>
          <a:xfrm>
            <a:off x="8701560" y="4908600"/>
            <a:ext cx="2541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A2C0403-20B6-421A-BFF3-C1CACDD5989F}" type="slidenum">
              <a:rPr b="0" lang="fr-FR" sz="800" spc="-3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300" name="" descr=""/>
          <p:cNvPicPr/>
          <p:nvPr/>
        </p:nvPicPr>
        <p:blipFill>
          <a:blip r:embed="rId1"/>
          <a:stretch/>
        </p:blipFill>
        <p:spPr>
          <a:xfrm>
            <a:off x="523800" y="1358640"/>
            <a:ext cx="7394400" cy="2599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Kubernetes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Features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that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9" strike="noStrike">
                <a:solidFill>
                  <a:srgbClr val="000000"/>
                </a:solidFill>
                <a:latin typeface="Tahoma"/>
              </a:rPr>
              <a:t>Tap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into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Metrics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Where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else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does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metrics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server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come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into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play?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(</a:t>
            </a:r>
            <a:r>
              <a:rPr b="0" lang="fr-FR" sz="1600" spc="89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1"/>
              </a:rPr>
              <a:t>docs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)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02" name="object 4"/>
          <p:cNvSpPr/>
          <p:nvPr/>
        </p:nvSpPr>
        <p:spPr>
          <a:xfrm>
            <a:off x="8701560" y="4908600"/>
            <a:ext cx="2541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275FEE1-D60D-4F40-B795-3222AA9910A8}" type="slidenum">
              <a:rPr b="0" lang="fr-FR" sz="800" spc="-3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03" name="object 3"/>
          <p:cNvSpPr/>
          <p:nvPr/>
        </p:nvSpPr>
        <p:spPr>
          <a:xfrm>
            <a:off x="600120" y="1360440"/>
            <a:ext cx="8218080" cy="27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Horizontal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Autoscaler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(HPA)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determine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Deployment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replicas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scaled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up or down based on available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consumption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determined by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metrics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server.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current resource consumption cannot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determined, it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indicate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&lt;unknown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&gt;</a:t>
            </a:r>
            <a:r>
              <a:rPr b="0" lang="fr-FR" sz="1600" spc="-65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TARGET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600" spc="-62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column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H</a:t>
            </a:r>
            <a:r>
              <a:rPr b="0" lang="fr-FR" sz="1600" spc="-120" strike="noStrike">
                <a:solidFill>
                  <a:srgbClr val="000000"/>
                </a:solidFill>
                <a:latin typeface="Arial MT"/>
                <a:ea typeface="DejaVu Sans"/>
              </a:rPr>
              <a:t>P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scheduling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cluster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nodes is based on the definition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requests.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scheduler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looks at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 capacity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available 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cluster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node 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decides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workload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scheduled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Pod’s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4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1305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306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307" name="PlaceHolder 1"/>
          <p:cNvSpPr>
            <a:spLocks noGrp="1"/>
          </p:cNvSpPr>
          <p:nvPr>
            <p:ph type="title"/>
          </p:nvPr>
        </p:nvSpPr>
        <p:spPr>
          <a:xfrm>
            <a:off x="386280" y="1685160"/>
            <a:ext cx="8865720" cy="1483920"/>
          </a:xfrm>
          <a:prstGeom prst="rect">
            <a:avLst/>
          </a:prstGeom>
          <a:noFill/>
          <a:ln w="0">
            <a:noFill/>
          </a:ln>
        </p:spPr>
        <p:txBody>
          <a:bodyPr lIns="0" rIns="0" tIns="182160" bIns="0" anchor="t">
            <a:noAutofit/>
          </a:bodyPr>
          <a:p>
            <a:pPr marL="12600">
              <a:lnSpc>
                <a:spcPct val="100000"/>
              </a:lnSpc>
              <a:spcBef>
                <a:spcPts val="1434"/>
              </a:spcBef>
              <a:buNone/>
            </a:pPr>
            <a:r>
              <a:rPr b="1" lang="fr-FR" sz="3200" spc="12" strike="noStrike">
                <a:solidFill>
                  <a:srgbClr val="ffffff"/>
                </a:solidFill>
                <a:latin typeface="Tahoma"/>
              </a:rPr>
              <a:t>Troubleshooting</a:t>
            </a:r>
            <a:r>
              <a:rPr b="1" lang="fr-FR" sz="3200" spc="-17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43" strike="noStrike">
                <a:solidFill>
                  <a:srgbClr val="ffffff"/>
                </a:solidFill>
                <a:latin typeface="Tahoma"/>
              </a:rPr>
              <a:t>Pods</a:t>
            </a:r>
            <a:r>
              <a:rPr b="1" lang="fr-FR" sz="3200" spc="-165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77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200" spc="-17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29" strike="noStrike">
                <a:solidFill>
                  <a:srgbClr val="ffffff"/>
                </a:solidFill>
                <a:latin typeface="Tahoma"/>
              </a:rPr>
              <a:t>Containers</a:t>
            </a:r>
            <a:endParaRPr b="0" lang="fr-FR" sz="32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75"/>
              </a:spcBef>
              <a:buNone/>
            </a:pPr>
            <a:r>
              <a:rPr b="0" lang="fr-FR" sz="1600" spc="18" strike="noStrike">
                <a:solidFill>
                  <a:srgbClr val="ffffff"/>
                </a:solidFill>
                <a:latin typeface="Lucida Sans Unicode"/>
              </a:rPr>
              <a:t>Techniques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ffffff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ffffff"/>
                </a:solidFill>
                <a:latin typeface="Lucida Sans Unicode"/>
              </a:rPr>
              <a:t>identifying</a:t>
            </a:r>
            <a:r>
              <a:rPr b="0" lang="fr-FR" sz="1600" spc="-6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ffffff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ffffff"/>
                </a:solidFill>
                <a:latin typeface="Lucida Sans Unicode"/>
              </a:rPr>
              <a:t>root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ffffff"/>
                </a:solidFill>
                <a:latin typeface="Lucida Sans Unicode"/>
              </a:rPr>
              <a:t>cause</a:t>
            </a:r>
            <a:r>
              <a:rPr b="0" lang="fr-FR" sz="1600" spc="-6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ffffff"/>
                </a:solidFill>
                <a:latin typeface="Lucida Sans Unicode"/>
              </a:rPr>
              <a:t>of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188" strike="noStrike">
                <a:solidFill>
                  <a:srgbClr val="ffffff"/>
                </a:solidFill>
                <a:latin typeface="Lucida Sans Unicode"/>
              </a:rPr>
              <a:t>a</a:t>
            </a:r>
            <a:r>
              <a:rPr b="0" lang="fr-FR" sz="1600" spc="-6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ffffff"/>
                </a:solidFill>
                <a:latin typeface="Lucida Sans Unicode"/>
              </a:rPr>
              <a:t>failure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Retrieving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High-Level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Information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Check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status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first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309" name="object 3"/>
          <p:cNvGrpSpPr/>
          <p:nvPr/>
        </p:nvGrpSpPr>
        <p:grpSpPr>
          <a:xfrm>
            <a:off x="467640" y="1447560"/>
            <a:ext cx="6442560" cy="2051280"/>
            <a:chOff x="467640" y="1447560"/>
            <a:chExt cx="6442560" cy="2051280"/>
          </a:xfrm>
        </p:grpSpPr>
        <p:pic>
          <p:nvPicPr>
            <p:cNvPr id="1310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447560"/>
              <a:ext cx="6442560" cy="20512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11" name="object 5"/>
            <p:cNvSpPr/>
            <p:nvPr/>
          </p:nvSpPr>
          <p:spPr>
            <a:xfrm>
              <a:off x="521280" y="1495800"/>
              <a:ext cx="6328800" cy="1937160"/>
            </a:xfrm>
            <a:custGeom>
              <a:avLst/>
              <a:gdLst/>
              <a:ahLst/>
              <a:rect l="l" t="t" r="r" b="b"/>
              <a:pathLst>
                <a:path w="6331584" h="1939925">
                  <a:moveTo>
                    <a:pt x="6331199" y="1939799"/>
                  </a:moveTo>
                  <a:lnTo>
                    <a:pt x="0" y="1939799"/>
                  </a:lnTo>
                  <a:lnTo>
                    <a:pt x="0" y="0"/>
                  </a:lnTo>
                  <a:lnTo>
                    <a:pt x="6331199" y="0"/>
                  </a:lnTo>
                  <a:lnTo>
                    <a:pt x="6331199" y="1939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12" name="object 6"/>
          <p:cNvSpPr/>
          <p:nvPr/>
        </p:nvSpPr>
        <p:spPr>
          <a:xfrm>
            <a:off x="746640" y="1683000"/>
            <a:ext cx="26895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t67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13" name="object 7"/>
          <p:cNvSpPr/>
          <p:nvPr/>
        </p:nvSpPr>
        <p:spPr>
          <a:xfrm>
            <a:off x="3520080" y="1892520"/>
            <a:ext cx="662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14" name="object 8"/>
          <p:cNvSpPr/>
          <p:nvPr/>
        </p:nvSpPr>
        <p:spPr>
          <a:xfrm>
            <a:off x="746640" y="1892520"/>
            <a:ext cx="162288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misbehaving-pod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15" name="object 9"/>
          <p:cNvSpPr/>
          <p:nvPr/>
        </p:nvSpPr>
        <p:spPr>
          <a:xfrm>
            <a:off x="2666520" y="1892520"/>
            <a:ext cx="5565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0/1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16" name="object 10"/>
          <p:cNvSpPr/>
          <p:nvPr/>
        </p:nvSpPr>
        <p:spPr>
          <a:xfrm>
            <a:off x="3519720" y="2102040"/>
            <a:ext cx="13028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ErrImagePull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17" name="object 11"/>
          <p:cNvSpPr/>
          <p:nvPr/>
        </p:nvSpPr>
        <p:spPr>
          <a:xfrm>
            <a:off x="5119920" y="1892520"/>
            <a:ext cx="151668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  <a:tabLst>
                <a:tab algn="l" pos="11862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118548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2s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18" name="object 12"/>
          <p:cNvSpPr/>
          <p:nvPr/>
        </p:nvSpPr>
        <p:spPr>
          <a:xfrm>
            <a:off x="746640" y="2521080"/>
            <a:ext cx="26895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k31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19" name="object 13"/>
          <p:cNvSpPr/>
          <p:nvPr/>
        </p:nvSpPr>
        <p:spPr>
          <a:xfrm>
            <a:off x="3413520" y="2730600"/>
            <a:ext cx="662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20" name="object 14"/>
          <p:cNvSpPr/>
          <p:nvPr/>
        </p:nvSpPr>
        <p:spPr>
          <a:xfrm>
            <a:off x="746640" y="2730600"/>
            <a:ext cx="15159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successful-pod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21" name="object 15"/>
          <p:cNvSpPr/>
          <p:nvPr/>
        </p:nvSpPr>
        <p:spPr>
          <a:xfrm>
            <a:off x="2559960" y="2730600"/>
            <a:ext cx="5565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1/1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22" name="object 16"/>
          <p:cNvSpPr/>
          <p:nvPr/>
        </p:nvSpPr>
        <p:spPr>
          <a:xfrm>
            <a:off x="3345120" y="2955240"/>
            <a:ext cx="910080" cy="2106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80640">
              <a:lnSpc>
                <a:spcPts val="1661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23" name="object 17"/>
          <p:cNvSpPr/>
          <p:nvPr/>
        </p:nvSpPr>
        <p:spPr>
          <a:xfrm>
            <a:off x="4479840" y="2730600"/>
            <a:ext cx="151668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  <a:tabLst>
                <a:tab algn="l" pos="11854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118548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5s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324" name="object 18"/>
          <p:cNvGrpSpPr/>
          <p:nvPr/>
        </p:nvGrpSpPr>
        <p:grpSpPr>
          <a:xfrm>
            <a:off x="3458880" y="2119320"/>
            <a:ext cx="4542840" cy="1644120"/>
            <a:chOff x="3458880" y="2119320"/>
            <a:chExt cx="4542840" cy="1644120"/>
          </a:xfrm>
        </p:grpSpPr>
        <p:sp>
          <p:nvSpPr>
            <p:cNvPr id="1325" name="object 19"/>
            <p:cNvSpPr/>
            <p:nvPr/>
          </p:nvSpPr>
          <p:spPr>
            <a:xfrm>
              <a:off x="3801600" y="3378960"/>
              <a:ext cx="360" cy="384480"/>
            </a:xfrm>
            <a:custGeom>
              <a:avLst/>
              <a:gdLst/>
              <a:ahLst/>
              <a:rect l="l" t="t" r="r" b="b"/>
              <a:pathLst>
                <a:path w="0" h="387350">
                  <a:moveTo>
                    <a:pt x="0" y="3869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326" name="object 20" descr=""/>
            <p:cNvPicPr/>
            <p:nvPr/>
          </p:nvPicPr>
          <p:blipFill>
            <a:blip r:embed="rId2"/>
            <a:stretch/>
          </p:blipFill>
          <p:spPr>
            <a:xfrm>
              <a:off x="3760560" y="3282840"/>
              <a:ext cx="7920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27" name="object 21"/>
            <p:cNvSpPr/>
            <p:nvPr/>
          </p:nvSpPr>
          <p:spPr>
            <a:xfrm>
              <a:off x="3458880" y="2119320"/>
              <a:ext cx="1404360" cy="264600"/>
            </a:xfrm>
            <a:custGeom>
              <a:avLst/>
              <a:gdLst/>
              <a:ahLst/>
              <a:rect l="l" t="t" r="r" b="b"/>
              <a:pathLst>
                <a:path w="1407160" h="267335">
                  <a:moveTo>
                    <a:pt x="0" y="0"/>
                  </a:moveTo>
                  <a:lnTo>
                    <a:pt x="1406699" y="0"/>
                  </a:lnTo>
                  <a:lnTo>
                    <a:pt x="1406699" y="266999"/>
                  </a:lnTo>
                  <a:lnTo>
                    <a:pt x="0" y="266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28" name="object 22"/>
            <p:cNvSpPr/>
            <p:nvPr/>
          </p:nvSpPr>
          <p:spPr>
            <a:xfrm>
              <a:off x="4162320" y="2500920"/>
              <a:ext cx="3839400" cy="304560"/>
            </a:xfrm>
            <a:custGeom>
              <a:avLst/>
              <a:gdLst/>
              <a:ahLst/>
              <a:rect l="l" t="t" r="r" b="b"/>
              <a:pathLst>
                <a:path w="3842384" h="307339">
                  <a:moveTo>
                    <a:pt x="3841799" y="307199"/>
                  </a:moveTo>
                  <a:lnTo>
                    <a:pt x="3841799" y="96412"/>
                  </a:lnTo>
                  <a:lnTo>
                    <a:pt x="0" y="96412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329" name="object 23" descr=""/>
            <p:cNvPicPr/>
            <p:nvPr/>
          </p:nvPicPr>
          <p:blipFill>
            <a:blip r:embed="rId3"/>
            <a:stretch/>
          </p:blipFill>
          <p:spPr>
            <a:xfrm>
              <a:off x="4121280" y="240480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330" name="object 24"/>
          <p:cNvSpPr/>
          <p:nvPr/>
        </p:nvSpPr>
        <p:spPr>
          <a:xfrm>
            <a:off x="2930400" y="3885480"/>
            <a:ext cx="228780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71360" indent="-15948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Looks</a:t>
            </a:r>
            <a:r>
              <a:rPr b="0" lang="fr-FR" sz="15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</a:t>
            </a:r>
            <a:r>
              <a:rPr b="0" lang="fr-FR" sz="15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on </a:t>
            </a:r>
            <a:r>
              <a:rPr b="0" lang="fr-FR" sz="1500" spc="-40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5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surface-level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1331" name="object 26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0157F8F-D7CF-4DEA-B832-09B76F04C470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32" name="object 25"/>
          <p:cNvSpPr/>
          <p:nvPr/>
        </p:nvSpPr>
        <p:spPr>
          <a:xfrm>
            <a:off x="7200000" y="2873520"/>
            <a:ext cx="161820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 indent="13716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Failed to pull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 container</a:t>
            </a:r>
            <a:r>
              <a:rPr b="0" lang="fr-FR" sz="15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image</a:t>
            </a:r>
            <a:endParaRPr b="0" lang="fr-FR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3" strike="noStrike">
                <a:solidFill>
                  <a:srgbClr val="000000"/>
                </a:solidFill>
                <a:latin typeface="Tahoma"/>
              </a:rPr>
              <a:t>Common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5" strike="noStrike">
                <a:solidFill>
                  <a:srgbClr val="000000"/>
                </a:solidFill>
                <a:latin typeface="Tahoma"/>
              </a:rPr>
              <a:t>Error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Statuses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Poorly-documented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docs,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encountered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often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practice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34" name="object 5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1340CD6-0E56-4CAD-9251-BD88F8148CC9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335" name="" descr=""/>
          <p:cNvPicPr/>
          <p:nvPr/>
        </p:nvPicPr>
        <p:blipFill>
          <a:blip r:embed="rId1"/>
          <a:stretch/>
        </p:blipFill>
        <p:spPr>
          <a:xfrm>
            <a:off x="540000" y="1260000"/>
            <a:ext cx="8224560" cy="287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Events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of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Specific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Detailed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event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information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found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Event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s</a:t>
            </a:r>
            <a:r>
              <a:rPr b="0" lang="fr-FR" sz="1600" spc="-625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section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337" name="object 3"/>
          <p:cNvGrpSpPr/>
          <p:nvPr/>
        </p:nvGrpSpPr>
        <p:grpSpPr>
          <a:xfrm>
            <a:off x="477360" y="1409040"/>
            <a:ext cx="7914960" cy="2804760"/>
            <a:chOff x="477360" y="1409040"/>
            <a:chExt cx="7914960" cy="2804760"/>
          </a:xfrm>
        </p:grpSpPr>
        <p:pic>
          <p:nvPicPr>
            <p:cNvPr id="1338" name="object 4" descr=""/>
            <p:cNvPicPr/>
            <p:nvPr/>
          </p:nvPicPr>
          <p:blipFill>
            <a:blip r:embed="rId1"/>
            <a:stretch/>
          </p:blipFill>
          <p:spPr>
            <a:xfrm>
              <a:off x="477360" y="1409040"/>
              <a:ext cx="7914960" cy="2804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39" name="object 5"/>
            <p:cNvSpPr/>
            <p:nvPr/>
          </p:nvSpPr>
          <p:spPr>
            <a:xfrm>
              <a:off x="531000" y="1457280"/>
              <a:ext cx="7801200" cy="2690640"/>
            </a:xfrm>
            <a:custGeom>
              <a:avLst/>
              <a:gdLst/>
              <a:ahLst/>
              <a:rect l="l" t="t" r="r" b="b"/>
              <a:pathLst>
                <a:path w="7804150" h="2693670">
                  <a:moveTo>
                    <a:pt x="7803600" y="2693399"/>
                  </a:moveTo>
                  <a:lnTo>
                    <a:pt x="0" y="2693399"/>
                  </a:lnTo>
                  <a:lnTo>
                    <a:pt x="0" y="0"/>
                  </a:lnTo>
                  <a:lnTo>
                    <a:pt x="7803600" y="0"/>
                  </a:lnTo>
                  <a:lnTo>
                    <a:pt x="7803600" y="2693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40" name="object 6"/>
          <p:cNvSpPr/>
          <p:nvPr/>
        </p:nvSpPr>
        <p:spPr>
          <a:xfrm>
            <a:off x="756720" y="1595160"/>
            <a:ext cx="258300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myapp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Events: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341" name="object 13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F4E00E0-8DE9-4FAE-948A-09B7C1886293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42" name="object 7"/>
          <p:cNvSpPr/>
          <p:nvPr/>
        </p:nvSpPr>
        <p:spPr>
          <a:xfrm>
            <a:off x="939600" y="2138040"/>
            <a:ext cx="57132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Type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Normal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343" name="object 8"/>
          <p:cNvSpPr/>
          <p:nvPr/>
        </p:nvSpPr>
        <p:spPr>
          <a:xfrm>
            <a:off x="1762560" y="2138040"/>
            <a:ext cx="84564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Reason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------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Scheduled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344" name="object 9"/>
          <p:cNvSpPr/>
          <p:nvPr/>
        </p:nvSpPr>
        <p:spPr>
          <a:xfrm>
            <a:off x="2951280" y="2138040"/>
            <a:ext cx="84564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&lt;unknown&gt;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345" name="object 10"/>
          <p:cNvSpPr/>
          <p:nvPr/>
        </p:nvSpPr>
        <p:spPr>
          <a:xfrm>
            <a:off x="4962600" y="2138040"/>
            <a:ext cx="157716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From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default-scheduler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346" name="object 11"/>
          <p:cNvSpPr/>
          <p:nvPr/>
        </p:nvSpPr>
        <p:spPr>
          <a:xfrm>
            <a:off x="6699960" y="2138040"/>
            <a:ext cx="139824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Message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-------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Successfully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347" name="object 12"/>
          <p:cNvSpPr/>
          <p:nvPr/>
        </p:nvSpPr>
        <p:spPr>
          <a:xfrm>
            <a:off x="939600" y="2680920"/>
            <a:ext cx="697140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assigned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default/secret-pod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minikube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9"/>
              </a:lnSpc>
              <a:spcBef>
                <a:spcPts val="45"/>
              </a:spcBef>
              <a:buNone/>
              <a:tabLst>
                <a:tab algn="l" pos="835200"/>
                <a:tab algn="l" pos="2023920"/>
                <a:tab algn="l" pos="4035600"/>
                <a:tab algn="l" pos="577224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Warning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FailedMount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3m15s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kubelet, minikube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Unable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attach or mount volumes: unmounted volumes=[mysecret], unattached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volumes=[default-token-bf8rh mysecret]: timed out waiting for the condition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Warning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FailedMount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68s (x10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over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5m18s)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kubelet,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minikube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MountVolume.SetUp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for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volume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"mysecret"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"mysecret"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not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found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361"/>
              </a:lnSpc>
              <a:buNone/>
              <a:tabLst>
                <a:tab algn="l" pos="835200"/>
                <a:tab algn="l" pos="2023920"/>
                <a:tab algn="l" pos="4035600"/>
                <a:tab algn="l" pos="577224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Events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Across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all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Pods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Lists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events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given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namespace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349" name="object 3"/>
          <p:cNvGrpSpPr/>
          <p:nvPr/>
        </p:nvGrpSpPr>
        <p:grpSpPr>
          <a:xfrm>
            <a:off x="477360" y="1409040"/>
            <a:ext cx="8108280" cy="2803680"/>
            <a:chOff x="477360" y="1409040"/>
            <a:chExt cx="8108280" cy="2803680"/>
          </a:xfrm>
        </p:grpSpPr>
        <p:pic>
          <p:nvPicPr>
            <p:cNvPr id="1350" name="object 4" descr=""/>
            <p:cNvPicPr/>
            <p:nvPr/>
          </p:nvPicPr>
          <p:blipFill>
            <a:blip r:embed="rId1"/>
            <a:stretch/>
          </p:blipFill>
          <p:spPr>
            <a:xfrm>
              <a:off x="477360" y="1409040"/>
              <a:ext cx="8108280" cy="28036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51" name="object 5"/>
            <p:cNvSpPr/>
            <p:nvPr/>
          </p:nvSpPr>
          <p:spPr>
            <a:xfrm>
              <a:off x="531000" y="1457280"/>
              <a:ext cx="7994160" cy="2689560"/>
            </a:xfrm>
            <a:custGeom>
              <a:avLst/>
              <a:gdLst/>
              <a:ahLst/>
              <a:rect l="l" t="t" r="r" b="b"/>
              <a:pathLst>
                <a:path w="7997190" h="2692400">
                  <a:moveTo>
                    <a:pt x="7996799" y="2692199"/>
                  </a:moveTo>
                  <a:lnTo>
                    <a:pt x="0" y="2692199"/>
                  </a:lnTo>
                  <a:lnTo>
                    <a:pt x="0" y="0"/>
                  </a:lnTo>
                  <a:lnTo>
                    <a:pt x="7996799" y="0"/>
                  </a:lnTo>
                  <a:lnTo>
                    <a:pt x="7996799" y="2692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52" name="object 6"/>
          <p:cNvSpPr/>
          <p:nvPr/>
        </p:nvSpPr>
        <p:spPr>
          <a:xfrm>
            <a:off x="769680" y="1595160"/>
            <a:ext cx="266148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events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26"/>
              </a:lnSpc>
              <a:buNone/>
              <a:tabLst>
                <a:tab algn="l" pos="1096560"/>
                <a:tab algn="l" pos="201096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LAST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SEEN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TYPE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REASON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  <a:tabLst>
                <a:tab algn="l" pos="1096560"/>
                <a:tab algn="l" pos="201096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3m14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Warnin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g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BackOff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353" name="object 10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893027D-80BB-4A35-89FB-5B7638AA5136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54" name="object 7"/>
          <p:cNvSpPr/>
          <p:nvPr/>
        </p:nvSpPr>
        <p:spPr>
          <a:xfrm>
            <a:off x="4426920" y="1775880"/>
            <a:ext cx="128988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OBJECT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pod/custom-cmd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355" name="object 8"/>
          <p:cNvSpPr/>
          <p:nvPr/>
        </p:nvSpPr>
        <p:spPr>
          <a:xfrm>
            <a:off x="769680" y="2319120"/>
            <a:ext cx="54043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  <a:tabLst>
                <a:tab algn="l" pos="1096560"/>
                <a:tab algn="l" pos="2010960"/>
                <a:tab algn="l" pos="3656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2s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Warning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FailedNeedsStart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cronjob/google-ping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356" name="object 9"/>
          <p:cNvSpPr/>
          <p:nvPr/>
        </p:nvSpPr>
        <p:spPr>
          <a:xfrm>
            <a:off x="6346800" y="1775880"/>
            <a:ext cx="2111400" cy="21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MESSAGE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29"/>
              </a:lnSpc>
              <a:spcBef>
                <a:spcPts val="45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Back-off restarting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585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 container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Cannot determine if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585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job needs to be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started: too many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missed</a:t>
            </a:r>
            <a:r>
              <a:rPr b="0" lang="fr-FR" sz="1200" spc="9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start</a:t>
            </a:r>
            <a:r>
              <a:rPr b="0" lang="fr-FR" sz="1200" spc="9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time</a:t>
            </a:r>
            <a:r>
              <a:rPr b="0" lang="fr-FR" sz="1200" spc="24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(&gt; 100). Set or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decrease .spec.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startingDeadline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Seconds or check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clock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skew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Logs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failure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14" strike="noStrike">
                <a:solidFill>
                  <a:srgbClr val="666666"/>
                </a:solidFill>
                <a:latin typeface="Lucida Sans Unicode"/>
              </a:rPr>
              <a:t>may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necessarily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surface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Kubernetes-level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58" name="object 9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7302122-72AA-4E2D-ABE0-2882C3E9F5B9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359" name="" descr=""/>
          <p:cNvPicPr/>
          <p:nvPr/>
        </p:nvPicPr>
        <p:blipFill>
          <a:blip r:embed="rId1"/>
          <a:stretch/>
        </p:blipFill>
        <p:spPr>
          <a:xfrm>
            <a:off x="473760" y="1385280"/>
            <a:ext cx="8092440" cy="2572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Opening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afi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Interactive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Shell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to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Allows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exploring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system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processes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61" name="object 4"/>
          <p:cNvSpPr/>
          <p:nvPr/>
        </p:nvSpPr>
        <p:spPr>
          <a:xfrm>
            <a:off x="531000" y="1457280"/>
            <a:ext cx="7792920" cy="22741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400" bIns="0" anchor="t">
            <a:spAutoFit/>
          </a:bodyPr>
          <a:p>
            <a:pPr marL="237960">
              <a:lnSpc>
                <a:spcPts val="1664"/>
              </a:lnSpc>
              <a:spcBef>
                <a:spcPts val="117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logs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failing-pod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/bin/sh: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can't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/root/tmp/curr-date.txt: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nonexistent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directory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failing-pod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mkdir</a:t>
            </a:r>
            <a:r>
              <a:rPr b="0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-p</a:t>
            </a:r>
            <a:r>
              <a:rPr b="0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~/tmp </a:t>
            </a:r>
            <a:r>
              <a:rPr b="0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cd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~/tmp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5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ls</a:t>
            </a:r>
            <a:r>
              <a:rPr b="0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-l </a:t>
            </a:r>
            <a:r>
              <a:rPr b="0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total</a:t>
            </a:r>
            <a:r>
              <a:rPr b="0" lang="fr-FR" sz="1400" spc="-10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4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-rw-r--r--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root root 112 May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9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23:52 curr-date.txt </a:t>
            </a:r>
            <a:r>
              <a:rPr b="0" lang="fr-FR" sz="1400" spc="-83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62" name="object 5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1E6A700-29E7-46AB-8063-93C7C87A1913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92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Distroless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Containers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Some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images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do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shell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364" name="object 3"/>
          <p:cNvGrpSpPr/>
          <p:nvPr/>
        </p:nvGrpSpPr>
        <p:grpSpPr>
          <a:xfrm>
            <a:off x="477360" y="1409040"/>
            <a:ext cx="7336800" cy="2224800"/>
            <a:chOff x="477360" y="1409040"/>
            <a:chExt cx="7336800" cy="2224800"/>
          </a:xfrm>
        </p:grpSpPr>
        <p:pic>
          <p:nvPicPr>
            <p:cNvPr id="1365" name="object 4" descr=""/>
            <p:cNvPicPr/>
            <p:nvPr/>
          </p:nvPicPr>
          <p:blipFill>
            <a:blip r:embed="rId1"/>
            <a:stretch/>
          </p:blipFill>
          <p:spPr>
            <a:xfrm>
              <a:off x="477360" y="1409040"/>
              <a:ext cx="7336800" cy="2224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66" name="object 5"/>
            <p:cNvSpPr/>
            <p:nvPr/>
          </p:nvSpPr>
          <p:spPr>
            <a:xfrm>
              <a:off x="531000" y="1457280"/>
              <a:ext cx="7222680" cy="2111040"/>
            </a:xfrm>
            <a:custGeom>
              <a:avLst/>
              <a:gdLst/>
              <a:ahLst/>
              <a:rect l="l" t="t" r="r" b="b"/>
              <a:pathLst>
                <a:path w="7225665" h="2113915">
                  <a:moveTo>
                    <a:pt x="7225199" y="2113499"/>
                  </a:moveTo>
                  <a:lnTo>
                    <a:pt x="0" y="2113499"/>
                  </a:lnTo>
                  <a:lnTo>
                    <a:pt x="0" y="0"/>
                  </a:lnTo>
                  <a:lnTo>
                    <a:pt x="7225199" y="0"/>
                  </a:lnTo>
                  <a:lnTo>
                    <a:pt x="7225199" y="2113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67" name="object 6"/>
          <p:cNvSpPr/>
          <p:nvPr/>
        </p:nvSpPr>
        <p:spPr>
          <a:xfrm>
            <a:off x="756720" y="1594080"/>
            <a:ext cx="662148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minimal-pod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--image=k8s.gcr.io/pause:3.1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pod/minimal-pod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minimal-pod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OCI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runtime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failed: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failed: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container_linux.go:349: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  <a:tabLst>
                <a:tab algn="l" pos="64198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Starting container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process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caused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"exec: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\"/bin/sh\":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65"/>
              </a:spcBef>
              <a:buNone/>
              <a:tabLst>
                <a:tab algn="l" pos="64198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/bin/sh: no such file or directory": unknown </a:t>
            </a:r>
            <a:r>
              <a:rPr b="0" lang="fr-FR" sz="1400" spc="-83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command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terminated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with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126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68" name="object 7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D527ECA-B93B-4FB6-8A18-370478A32FDF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39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Debugging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Using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Ephemeral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disposable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troubleshooting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distroless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containers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370" name="object 3"/>
          <p:cNvGrpSpPr/>
          <p:nvPr/>
        </p:nvGrpSpPr>
        <p:grpSpPr>
          <a:xfrm>
            <a:off x="477360" y="1409040"/>
            <a:ext cx="7056720" cy="2224800"/>
            <a:chOff x="477360" y="1409040"/>
            <a:chExt cx="7056720" cy="2224800"/>
          </a:xfrm>
        </p:grpSpPr>
        <p:pic>
          <p:nvPicPr>
            <p:cNvPr id="1371" name="object 4" descr=""/>
            <p:cNvPicPr/>
            <p:nvPr/>
          </p:nvPicPr>
          <p:blipFill>
            <a:blip r:embed="rId1"/>
            <a:stretch/>
          </p:blipFill>
          <p:spPr>
            <a:xfrm>
              <a:off x="477360" y="1409040"/>
              <a:ext cx="7056720" cy="2224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72" name="object 5"/>
            <p:cNvSpPr/>
            <p:nvPr/>
          </p:nvSpPr>
          <p:spPr>
            <a:xfrm>
              <a:off x="531000" y="1457280"/>
              <a:ext cx="6942600" cy="2111040"/>
            </a:xfrm>
            <a:custGeom>
              <a:avLst/>
              <a:gdLst/>
              <a:ahLst/>
              <a:rect l="l" t="t" r="r" b="b"/>
              <a:pathLst>
                <a:path w="6945630" h="2113915">
                  <a:moveTo>
                    <a:pt x="6945299" y="2113499"/>
                  </a:moveTo>
                  <a:lnTo>
                    <a:pt x="0" y="2113499"/>
                  </a:lnTo>
                  <a:lnTo>
                    <a:pt x="0" y="0"/>
                  </a:lnTo>
                  <a:lnTo>
                    <a:pt x="6945299" y="0"/>
                  </a:lnTo>
                  <a:lnTo>
                    <a:pt x="6945299" y="2113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73" name="object 6"/>
          <p:cNvSpPr/>
          <p:nvPr/>
        </p:nvSpPr>
        <p:spPr>
          <a:xfrm>
            <a:off x="756720" y="1594080"/>
            <a:ext cx="6621480" cy="16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debug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minimal-pod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--image=busybox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Defaulting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debug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container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debugger-jf98g.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If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you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don't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see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a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command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prompt,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try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pressing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enter.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pwd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  <a:tabLst>
                <a:tab algn="l" pos="64198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Sessio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ended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resum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usin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g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'kubect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l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attac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h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minimal-po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d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-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c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64198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debugger-jf98g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-t'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command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when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the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is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74" name="object 8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0280057-5244-4682-86B6-03B0FA09AB12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75" name="object 7"/>
          <p:cNvSpPr/>
          <p:nvPr/>
        </p:nvSpPr>
        <p:spPr>
          <a:xfrm>
            <a:off x="532080" y="4050720"/>
            <a:ext cx="828612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500" spc="-140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u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create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copy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ne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w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Po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wit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h</a:t>
            </a:r>
            <a:r>
              <a:rPr b="0" lang="fr-FR" sz="1500" spc="9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--copy-t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DejaVu Sans"/>
              </a:rPr>
              <a:t>o</a:t>
            </a:r>
            <a:r>
              <a:rPr b="0" lang="fr-FR" sz="1500" spc="-4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fo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more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complex 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debugging</a:t>
            </a:r>
            <a:r>
              <a:rPr b="0" lang="fr-FR" sz="15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scenarios.</a:t>
            </a:r>
            <a:endParaRPr b="0" lang="fr-FR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92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Copying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File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ta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r</a:t>
            </a:r>
            <a:r>
              <a:rPr b="0" lang="fr-FR" sz="1600" spc="-582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binary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needs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exist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377" name="object 3"/>
          <p:cNvGrpSpPr/>
          <p:nvPr/>
        </p:nvGrpSpPr>
        <p:grpSpPr>
          <a:xfrm>
            <a:off x="477360" y="1409040"/>
            <a:ext cx="6442200" cy="3016800"/>
            <a:chOff x="477360" y="1409040"/>
            <a:chExt cx="6442200" cy="3016800"/>
          </a:xfrm>
        </p:grpSpPr>
        <p:pic>
          <p:nvPicPr>
            <p:cNvPr id="1378" name="object 4" descr=""/>
            <p:cNvPicPr/>
            <p:nvPr/>
          </p:nvPicPr>
          <p:blipFill>
            <a:blip r:embed="rId1"/>
            <a:stretch/>
          </p:blipFill>
          <p:spPr>
            <a:xfrm>
              <a:off x="477360" y="1409040"/>
              <a:ext cx="6442200" cy="2157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79" name="object 5"/>
            <p:cNvSpPr/>
            <p:nvPr/>
          </p:nvSpPr>
          <p:spPr>
            <a:xfrm>
              <a:off x="531000" y="1457280"/>
              <a:ext cx="6328080" cy="2043720"/>
            </a:xfrm>
            <a:custGeom>
              <a:avLst/>
              <a:gdLst/>
              <a:ahLst/>
              <a:rect l="l" t="t" r="r" b="b"/>
              <a:pathLst>
                <a:path w="6330950" h="2046604">
                  <a:moveTo>
                    <a:pt x="6330599" y="2045999"/>
                  </a:moveTo>
                  <a:lnTo>
                    <a:pt x="0" y="2045999"/>
                  </a:lnTo>
                  <a:lnTo>
                    <a:pt x="0" y="0"/>
                  </a:lnTo>
                  <a:lnTo>
                    <a:pt x="6330599" y="0"/>
                  </a:lnTo>
                  <a:lnTo>
                    <a:pt x="6330599" y="20459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80" name="object 6"/>
            <p:cNvSpPr/>
            <p:nvPr/>
          </p:nvSpPr>
          <p:spPr>
            <a:xfrm>
              <a:off x="2596680" y="2824560"/>
              <a:ext cx="360" cy="1164960"/>
            </a:xfrm>
            <a:custGeom>
              <a:avLst/>
              <a:gdLst/>
              <a:ahLst/>
              <a:rect l="l" t="t" r="r" b="b"/>
              <a:pathLst>
                <a:path w="0" h="1167764">
                  <a:moveTo>
                    <a:pt x="0" y="11675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381" name="object 7" descr=""/>
            <p:cNvPicPr/>
            <p:nvPr/>
          </p:nvPicPr>
          <p:blipFill>
            <a:blip r:embed="rId2"/>
            <a:stretch/>
          </p:blipFill>
          <p:spPr>
            <a:xfrm>
              <a:off x="2555640" y="2728440"/>
              <a:ext cx="7920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82" name="object 8"/>
            <p:cNvSpPr/>
            <p:nvPr/>
          </p:nvSpPr>
          <p:spPr>
            <a:xfrm>
              <a:off x="3403080" y="2824560"/>
              <a:ext cx="221760" cy="1601280"/>
            </a:xfrm>
            <a:custGeom>
              <a:avLst/>
              <a:gdLst/>
              <a:ahLst/>
              <a:rect l="l" t="t" r="r" b="b"/>
              <a:pathLst>
                <a:path w="224789" h="1604010">
                  <a:moveTo>
                    <a:pt x="224399" y="1603800"/>
                  </a:moveTo>
                  <a:lnTo>
                    <a:pt x="0" y="1603800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383" name="object 9" descr=""/>
            <p:cNvPicPr/>
            <p:nvPr/>
          </p:nvPicPr>
          <p:blipFill>
            <a:blip r:embed="rId3"/>
            <a:stretch/>
          </p:blipFill>
          <p:spPr>
            <a:xfrm>
              <a:off x="3362040" y="2728440"/>
              <a:ext cx="7920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84" name="object 10"/>
            <p:cNvSpPr/>
            <p:nvPr/>
          </p:nvSpPr>
          <p:spPr>
            <a:xfrm>
              <a:off x="4474440" y="2824560"/>
              <a:ext cx="360" cy="907200"/>
            </a:xfrm>
            <a:custGeom>
              <a:avLst/>
              <a:gdLst/>
              <a:ahLst/>
              <a:rect l="l" t="t" r="r" b="b"/>
              <a:pathLst>
                <a:path w="0" h="909954">
                  <a:moveTo>
                    <a:pt x="0" y="9095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385" name="object 11" descr=""/>
            <p:cNvPicPr/>
            <p:nvPr/>
          </p:nvPicPr>
          <p:blipFill>
            <a:blip r:embed="rId4"/>
            <a:stretch/>
          </p:blipFill>
          <p:spPr>
            <a:xfrm>
              <a:off x="4433400" y="272880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386" name="object 12"/>
          <p:cNvSpPr/>
          <p:nvPr/>
        </p:nvSpPr>
        <p:spPr>
          <a:xfrm>
            <a:off x="756720" y="1594080"/>
            <a:ext cx="5901480" cy="30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4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4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4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r>
              <a:rPr b="1" lang="fr-FR" sz="1400" spc="4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4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4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 </a:t>
            </a:r>
            <a:r>
              <a:rPr b="1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tar cvf error-log.tar /var/log/nginx/error.log </a:t>
            </a:r>
            <a:r>
              <a:rPr b="0" lang="fr-FR" sz="1400" spc="-83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40"/>
              </a:spcBef>
              <a:buNone/>
            </a:pPr>
            <a:endParaRPr b="0" lang="fr-FR" sz="135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cp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code-red/nginx:error-log.tar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error-log.tar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ls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error-log.tar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</a:pPr>
            <a:endParaRPr b="0" lang="fr-FR" sz="1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</a:pPr>
            <a:endParaRPr b="0" lang="fr-FR" sz="2050" spc="-1" strike="noStrike">
              <a:latin typeface="Arial"/>
            </a:endParaRPr>
          </a:p>
          <a:p>
            <a:pPr marL="3065040">
              <a:lnSpc>
                <a:spcPts val="1681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File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copied</a:t>
            </a:r>
            <a:endParaRPr b="0" lang="fr-FR" sz="1400" spc="-1" strike="noStrike">
              <a:latin typeface="Arial"/>
            </a:endParaRPr>
          </a:p>
          <a:p>
            <a:pPr marL="1365120">
              <a:lnSpc>
                <a:spcPts val="1681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endParaRPr b="0" lang="fr-FR" sz="1400" spc="-1" strike="noStrike">
              <a:latin typeface="Arial"/>
            </a:endParaRPr>
          </a:p>
          <a:p>
            <a:pPr marL="2975040">
              <a:lnSpc>
                <a:spcPct val="100000"/>
              </a:lnSpc>
              <a:spcBef>
                <a:spcPts val="47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87" name="object 13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7AD0FB9-6884-4230-8B15-162764EFFA0E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12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389" name="object 3"/>
          <p:cNvSpPr/>
          <p:nvPr/>
        </p:nvSpPr>
        <p:spPr>
          <a:xfrm>
            <a:off x="494280" y="1386360"/>
            <a:ext cx="43639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Troubleshooting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0" name="object 2" descr=""/>
          <p:cNvPicPr/>
          <p:nvPr/>
        </p:nvPicPr>
        <p:blipFill>
          <a:blip r:embed="rId1"/>
          <a:stretch/>
        </p:blipFill>
        <p:spPr>
          <a:xfrm>
            <a:off x="0" y="0"/>
            <a:ext cx="9141120" cy="5140440"/>
          </a:xfrm>
          <a:prstGeom prst="rect">
            <a:avLst/>
          </a:prstGeom>
          <a:ln w="0">
            <a:noFill/>
          </a:ln>
        </p:spPr>
      </p:pic>
      <p:sp>
        <p:nvSpPr>
          <p:cNvPr id="1391" name="PlaceHolder 1"/>
          <p:cNvSpPr>
            <a:spLocks noGrp="1"/>
          </p:cNvSpPr>
          <p:nvPr>
            <p:ph type="title"/>
          </p:nvPr>
        </p:nvSpPr>
        <p:spPr>
          <a:xfrm>
            <a:off x="494280" y="1691640"/>
            <a:ext cx="4363920" cy="251172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1" lang="fr-FR" sz="3600" spc="29" strike="noStrike">
                <a:solidFill>
                  <a:srgbClr val="ffffff"/>
                </a:solidFill>
                <a:latin typeface="Tahoma"/>
              </a:rPr>
              <a:t>Application</a:t>
            </a:r>
            <a:r>
              <a:rPr b="1" lang="fr-FR" sz="3600" spc="3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35" strike="noStrike">
                <a:solidFill>
                  <a:srgbClr val="ffffff"/>
                </a:solidFill>
                <a:latin typeface="Tahoma"/>
              </a:rPr>
              <a:t>Environment, </a:t>
            </a:r>
            <a:r>
              <a:rPr b="1" lang="fr-FR" sz="3600" spc="-3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Configuration</a:t>
            </a:r>
            <a:r>
              <a:rPr b="1" lang="fr-FR" sz="3600" spc="-23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5" strike="noStrike">
                <a:solidFill>
                  <a:srgbClr val="ffffff"/>
                </a:solidFill>
                <a:latin typeface="Tahoma"/>
              </a:rPr>
              <a:t>&amp; </a:t>
            </a:r>
            <a:r>
              <a:rPr b="1" lang="fr-FR" sz="3600" spc="-104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Security</a:t>
            </a:r>
            <a:endParaRPr b="0" lang="fr-FR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2" name="object 2"/>
          <p:cNvGrpSpPr/>
          <p:nvPr/>
        </p:nvGrpSpPr>
        <p:grpSpPr>
          <a:xfrm>
            <a:off x="1080" y="1440"/>
            <a:ext cx="9141120" cy="5140440"/>
            <a:chOff x="1080" y="1440"/>
            <a:chExt cx="9141120" cy="5140440"/>
          </a:xfrm>
        </p:grpSpPr>
        <p:pic>
          <p:nvPicPr>
            <p:cNvPr id="1393" name="object 3" descr=""/>
            <p:cNvPicPr/>
            <p:nvPr/>
          </p:nvPicPr>
          <p:blipFill>
            <a:blip r:embed="rId1"/>
            <a:stretch/>
          </p:blipFill>
          <p:spPr>
            <a:xfrm>
              <a:off x="1080" y="144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394" name="object 4" descr=""/>
            <p:cNvPicPr/>
            <p:nvPr/>
          </p:nvPicPr>
          <p:blipFill>
            <a:blip r:embed="rId2"/>
            <a:stretch/>
          </p:blipFill>
          <p:spPr>
            <a:xfrm>
              <a:off x="8715240" y="14760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395" name="PlaceHolder 1"/>
          <p:cNvSpPr>
            <a:spLocks noGrp="1"/>
          </p:cNvSpPr>
          <p:nvPr>
            <p:ph type="title"/>
          </p:nvPr>
        </p:nvSpPr>
        <p:spPr>
          <a:xfrm>
            <a:off x="494280" y="1685160"/>
            <a:ext cx="8683920" cy="1483920"/>
          </a:xfrm>
          <a:prstGeom prst="rect">
            <a:avLst/>
          </a:prstGeom>
          <a:noFill/>
          <a:ln w="0">
            <a:noFill/>
          </a:ln>
        </p:spPr>
        <p:txBody>
          <a:bodyPr lIns="0" rIns="0" tIns="182160" bIns="0" anchor="t">
            <a:noAutofit/>
          </a:bodyPr>
          <a:p>
            <a:pPr marL="12600">
              <a:lnSpc>
                <a:spcPct val="100000"/>
              </a:lnSpc>
              <a:spcBef>
                <a:spcPts val="1434"/>
              </a:spcBef>
              <a:buNone/>
            </a:pPr>
            <a:r>
              <a:rPr b="1" lang="fr-FR" sz="3200" spc="128" strike="noStrike">
                <a:solidFill>
                  <a:srgbClr val="ffffff"/>
                </a:solidFill>
                <a:latin typeface="Tahoma"/>
              </a:rPr>
              <a:t>Custom</a:t>
            </a:r>
            <a:r>
              <a:rPr b="1" lang="fr-FR" sz="3200" spc="-197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32" strike="noStrike">
                <a:solidFill>
                  <a:srgbClr val="ffffff"/>
                </a:solidFill>
                <a:latin typeface="Tahoma"/>
              </a:rPr>
              <a:t>Resource</a:t>
            </a:r>
            <a:r>
              <a:rPr b="1" lang="fr-FR" sz="3200" spc="-19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-21" strike="noStrike">
                <a:solidFill>
                  <a:srgbClr val="ffffff"/>
                </a:solidFill>
                <a:latin typeface="Tahoma"/>
              </a:rPr>
              <a:t>Definitions</a:t>
            </a:r>
            <a:r>
              <a:rPr b="1" lang="fr-FR" sz="3200" spc="-197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38" strike="noStrike">
                <a:solidFill>
                  <a:srgbClr val="ffffff"/>
                </a:solidFill>
                <a:latin typeface="Tahoma"/>
              </a:rPr>
              <a:t>(CRDs)</a:t>
            </a:r>
            <a:endParaRPr b="0" lang="fr-FR" sz="32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75"/>
              </a:spcBef>
              <a:buNone/>
            </a:pPr>
            <a:r>
              <a:rPr b="0" lang="fr-FR" sz="1600" spc="-1" strike="noStrike">
                <a:solidFill>
                  <a:srgbClr val="ffffff"/>
                </a:solidFill>
                <a:latin typeface="Lucida Sans Unicode"/>
              </a:rPr>
              <a:t>Extending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ffffff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ffffff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ffffff"/>
                </a:solidFill>
                <a:latin typeface="Lucida Sans Unicode"/>
              </a:rPr>
              <a:t>API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ffffff"/>
                </a:solidFill>
                <a:latin typeface="Lucida Sans Unicode"/>
              </a:rPr>
              <a:t>by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ffffff"/>
                </a:solidFill>
                <a:latin typeface="Lucida Sans Unicode"/>
              </a:rPr>
              <a:t>custom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ffffff"/>
                </a:solidFill>
                <a:latin typeface="Lucida Sans Unicode"/>
              </a:rPr>
              <a:t>primitives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5" strike="noStrike">
                <a:solidFill>
                  <a:srgbClr val="000000"/>
                </a:solidFill>
                <a:latin typeface="Tahoma"/>
              </a:rPr>
              <a:t>Custom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Definition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(CRD)?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Extension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point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introducing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custom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primitives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97" name="object 4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4838B60-FC35-4DB5-93C5-8842FC769C06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98" name="object 3"/>
          <p:cNvSpPr/>
          <p:nvPr/>
        </p:nvSpPr>
        <p:spPr>
          <a:xfrm>
            <a:off x="600120" y="1360440"/>
            <a:ext cx="8038800" cy="25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Some use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cases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custom requirements cannot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fulfilled with the built-in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primitives and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functionality.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CRD allows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define,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persist objects for one 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many custom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primitives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expose them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the Kubernetes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CRDs are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combined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</a:t>
            </a:r>
            <a:r>
              <a:rPr b="0" i="1" lang="fr-FR" sz="1600" spc="-1" strike="noStrike">
                <a:solidFill>
                  <a:srgbClr val="000000"/>
                </a:solidFill>
                <a:latin typeface="Arial"/>
                <a:ea typeface="DejaVu Sans"/>
              </a:rPr>
              <a:t>controllers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make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them actually useful. Controllers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interact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implement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custom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logic.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combination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CRDs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called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Operator pattern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26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Operator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Pattern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Consists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CRDs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Controllers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400" name="object 3" descr=""/>
          <p:cNvPicPr/>
          <p:nvPr/>
        </p:nvPicPr>
        <p:blipFill>
          <a:blip r:embed="rId1"/>
          <a:stretch/>
        </p:blipFill>
        <p:spPr>
          <a:xfrm>
            <a:off x="1888200" y="1515960"/>
            <a:ext cx="5277600" cy="3016440"/>
          </a:xfrm>
          <a:prstGeom prst="rect">
            <a:avLst/>
          </a:prstGeom>
          <a:ln w="0">
            <a:noFill/>
          </a:ln>
        </p:spPr>
      </p:pic>
      <p:sp>
        <p:nvSpPr>
          <p:cNvPr id="1401" name="object 4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8D35F5A-EF6A-47C2-87F7-6076F9194E20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Example</a:t>
            </a: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CRD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Smoke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testing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against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after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deployment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403" name="object 4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E8486ED-76D1-4C04-A5FB-214532203DF9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04" name="object 3"/>
          <p:cNvSpPr/>
          <p:nvPr/>
        </p:nvSpPr>
        <p:spPr>
          <a:xfrm>
            <a:off x="600120" y="1360440"/>
            <a:ext cx="8218800" cy="27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Requirement: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 web-based application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stack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deployed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via 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Deployment 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more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replica.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Service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routes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traffic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Pods.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Desired functionality: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After the deployment happened, we want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 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quick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smoke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test against the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Service’s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DNS name to ensure that application is operational.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result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smoke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test will 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sent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an external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service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the purpose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rendering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 on the UI dashboard.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Goal: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Implement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Operator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pattern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(CRD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controller)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use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case.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CRD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3" strike="noStrike">
                <a:solidFill>
                  <a:srgbClr val="666666"/>
                </a:solidFill>
                <a:latin typeface="Lucida Sans Unicode"/>
              </a:rPr>
              <a:t>schema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custom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406" name="object 24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B5484DA-1E3E-4FFD-95C0-E3C5CF56DC48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407" name="" descr=""/>
          <p:cNvPicPr/>
          <p:nvPr/>
        </p:nvPicPr>
        <p:blipFill>
          <a:blip r:embed="rId1"/>
          <a:stretch/>
        </p:blipFill>
        <p:spPr>
          <a:xfrm>
            <a:off x="527040" y="1080000"/>
            <a:ext cx="6579720" cy="37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75" strike="noStrike">
                <a:solidFill>
                  <a:srgbClr val="000000"/>
                </a:solidFill>
                <a:latin typeface="Tahoma"/>
              </a:rPr>
              <a:t>Custom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Instantiation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CRD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kind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409" name="object 21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B02D5AE-8135-497B-AF45-F88CE840A285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410" name="" descr=""/>
          <p:cNvPicPr/>
          <p:nvPr/>
        </p:nvPicPr>
        <p:blipFill>
          <a:blip r:embed="rId1"/>
          <a:stretch/>
        </p:blipFill>
        <p:spPr>
          <a:xfrm>
            <a:off x="494280" y="1377360"/>
            <a:ext cx="8278920" cy="2530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CRD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5" strike="noStrike">
                <a:solidFill>
                  <a:srgbClr val="000000"/>
                </a:solidFill>
                <a:latin typeface="Tahoma"/>
              </a:rPr>
              <a:t>Custom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CRD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needs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created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before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custom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412" name="object 4"/>
          <p:cNvSpPr/>
          <p:nvPr/>
        </p:nvSpPr>
        <p:spPr>
          <a:xfrm>
            <a:off x="521280" y="1425600"/>
            <a:ext cx="8127720" cy="13636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3000" bIns="0" anchor="t">
            <a:spAutoFit/>
          </a:bodyPr>
          <a:p>
            <a:pPr marL="165600">
              <a:lnSpc>
                <a:spcPct val="101000"/>
              </a:lnSpc>
              <a:spcBef>
                <a:spcPts val="1205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 apply -f loadtest-resource.yaml </a:t>
            </a: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customresourcedefinition.apiextensions.k8s.io/smoketests.stable.bmuschko.com</a:t>
            </a:r>
            <a:r>
              <a:rPr b="0" lang="fr-FR" sz="1300" spc="-12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300" spc="-636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6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65600">
              <a:lnSpc>
                <a:spcPct val="100000"/>
              </a:lnSpc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apply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loadtest.yaml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smoketest.stable.bmuschko.com/backend-smoke-test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13" name="object 5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981E337-5E50-48D5-9D8D-2F95E3BD05AF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Discovering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CRDs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Once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installed,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list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available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CRDs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415" name="object 3"/>
          <p:cNvGrpSpPr/>
          <p:nvPr/>
        </p:nvGrpSpPr>
        <p:grpSpPr>
          <a:xfrm>
            <a:off x="467640" y="1377000"/>
            <a:ext cx="7738200" cy="1910160"/>
            <a:chOff x="467640" y="1377000"/>
            <a:chExt cx="7738200" cy="1910160"/>
          </a:xfrm>
        </p:grpSpPr>
        <p:pic>
          <p:nvPicPr>
            <p:cNvPr id="1416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7738200" cy="19101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17" name="object 5"/>
            <p:cNvSpPr/>
            <p:nvPr/>
          </p:nvSpPr>
          <p:spPr>
            <a:xfrm>
              <a:off x="521280" y="1425600"/>
              <a:ext cx="7624080" cy="1796040"/>
            </a:xfrm>
            <a:custGeom>
              <a:avLst/>
              <a:gdLst/>
              <a:ahLst/>
              <a:rect l="l" t="t" r="r" b="b"/>
              <a:pathLst>
                <a:path w="7626984" h="1798955">
                  <a:moveTo>
                    <a:pt x="7626599" y="1798799"/>
                  </a:moveTo>
                  <a:lnTo>
                    <a:pt x="0" y="1798799"/>
                  </a:lnTo>
                  <a:lnTo>
                    <a:pt x="0" y="0"/>
                  </a:lnTo>
                  <a:lnTo>
                    <a:pt x="7626599" y="0"/>
                  </a:lnTo>
                  <a:lnTo>
                    <a:pt x="7626599" y="1798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18" name="object 6"/>
          <p:cNvSpPr/>
          <p:nvPr/>
        </p:nvSpPr>
        <p:spPr>
          <a:xfrm>
            <a:off x="687600" y="1568160"/>
            <a:ext cx="605232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api-resources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--api-group=stable.bmuschko.com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287000"/>
                <a:tab algn="l" pos="2575080"/>
                <a:tab algn="l" pos="50515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SHORTNAMES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APIVERSION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NAMESPACED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287000"/>
                <a:tab algn="l" pos="2575080"/>
                <a:tab algn="l" pos="50515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smoketests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stable.bmuschko.com/v1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true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19" name="object 10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386789B-69EC-4A7D-AD9B-FA0A78A0143E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20" name="object 7"/>
          <p:cNvSpPr/>
          <p:nvPr/>
        </p:nvSpPr>
        <p:spPr>
          <a:xfrm>
            <a:off x="7026840" y="1768320"/>
            <a:ext cx="9014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KIND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SmokeTest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21" name="object 8"/>
          <p:cNvSpPr/>
          <p:nvPr/>
        </p:nvSpPr>
        <p:spPr>
          <a:xfrm>
            <a:off x="687600" y="2368080"/>
            <a:ext cx="298152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crds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smoketests.stable.bmuschko.com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22" name="object 9"/>
          <p:cNvSpPr/>
          <p:nvPr/>
        </p:nvSpPr>
        <p:spPr>
          <a:xfrm>
            <a:off x="3956040" y="2568240"/>
            <a:ext cx="1991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AT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2023-05-04T14:49:40Z</a:t>
            </a:r>
            <a:endParaRPr b="0" lang="fr-FR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Controller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Implementation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actual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logic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smoke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tests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lives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controller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424" name="object 4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4808A75-AE04-4DB1-868C-3FB8FD7B11FF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25" name="object 3"/>
          <p:cNvSpPr/>
          <p:nvPr/>
        </p:nvSpPr>
        <p:spPr>
          <a:xfrm>
            <a:off x="600120" y="1360440"/>
            <a:ext cx="8398800" cy="27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interact 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custom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using CRUD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(create/read/update/delete)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operations;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however,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smoke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test logic will actually be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initiated.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reconciliation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process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inspecting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state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through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serve</a:t>
            </a: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poll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w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SmokeTes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600" spc="-65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sends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result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  external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service.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Controllers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use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 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Kubernetes</a:t>
            </a:r>
            <a:r>
              <a:rPr b="0" lang="fr-FR" sz="1600" spc="18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client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 libraries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written 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Go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Python, 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access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custom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6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13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427" name="object 3"/>
          <p:cNvSpPr/>
          <p:nvPr/>
        </p:nvSpPr>
        <p:spPr>
          <a:xfrm>
            <a:off x="494280" y="1323360"/>
            <a:ext cx="508464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Defining</a:t>
            </a:r>
            <a:r>
              <a:rPr b="0" lang="fr-FR" sz="29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29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interacting </a:t>
            </a:r>
            <a:r>
              <a:rPr b="0" lang="fr-FR" sz="2900" spc="-79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CRD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8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1429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430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431" name="PlaceHolder 1"/>
          <p:cNvSpPr>
            <a:spLocks noGrp="1"/>
          </p:cNvSpPr>
          <p:nvPr>
            <p:ph type="title"/>
          </p:nvPr>
        </p:nvSpPr>
        <p:spPr>
          <a:xfrm>
            <a:off x="386280" y="1665000"/>
            <a:ext cx="8864640" cy="165636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Authent</a:t>
            </a: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ication</a:t>
            </a:r>
            <a:r>
              <a:rPr b="1" lang="fr-FR" sz="3600" spc="-205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9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600" spc="-20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7" strike="noStrike">
                <a:solidFill>
                  <a:srgbClr val="ffffff"/>
                </a:solidFill>
                <a:latin typeface="Tahoma"/>
              </a:rPr>
              <a:t>Authori</a:t>
            </a:r>
            <a:r>
              <a:rPr b="1" lang="fr-FR" sz="3600" spc="-7" strike="noStrike">
                <a:solidFill>
                  <a:srgbClr val="ffffff"/>
                </a:solidFill>
                <a:latin typeface="Tahoma"/>
              </a:rPr>
              <a:t>zation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52" strike="noStrike">
                <a:solidFill>
                  <a:srgbClr val="ffffff"/>
                </a:solidFill>
                <a:latin typeface="Lucida Sans Unicode"/>
              </a:rPr>
              <a:t>Access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control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32" strike="noStrike">
                <a:solidFill>
                  <a:srgbClr val="ffffff"/>
                </a:solidFill>
                <a:latin typeface="Lucida Sans Unicode"/>
              </a:rPr>
              <a:t>for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8" strike="noStrike">
                <a:solidFill>
                  <a:srgbClr val="ffffff"/>
                </a:solidFill>
                <a:latin typeface="Lucida Sans Unicode"/>
              </a:rPr>
              <a:t>the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" strike="noStrike">
                <a:solidFill>
                  <a:srgbClr val="ffffff"/>
                </a:solidFill>
                <a:latin typeface="Lucida Sans Unicode"/>
              </a:rPr>
              <a:t>Kubernetes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21" strike="noStrike">
                <a:solidFill>
                  <a:srgbClr val="ffffff"/>
                </a:solidFill>
                <a:latin typeface="Lucida Sans Unicode"/>
              </a:rPr>
              <a:t>API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Processing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Request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to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API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Server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client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request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server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needs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pass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four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phases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433" name="object 3" descr=""/>
          <p:cNvPicPr/>
          <p:nvPr/>
        </p:nvPicPr>
        <p:blipFill>
          <a:blip r:embed="rId1"/>
          <a:stretch/>
        </p:blipFill>
        <p:spPr>
          <a:xfrm>
            <a:off x="825480" y="1683720"/>
            <a:ext cx="7403040" cy="2716560"/>
          </a:xfrm>
          <a:prstGeom prst="rect">
            <a:avLst/>
          </a:prstGeom>
          <a:ln w="0">
            <a:noFill/>
          </a:ln>
        </p:spPr>
      </p:pic>
      <p:sp>
        <p:nvSpPr>
          <p:cNvPr id="1434" name="object 4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56344C1-83A1-4EBC-9501-851ED93173D5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API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Request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Processing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Phases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Every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request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has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pass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those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phases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following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order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436" name="object 4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8E53F9D-1607-492E-AFC3-7BED9CE33644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37" name="object 3"/>
          <p:cNvSpPr/>
          <p:nvPr/>
        </p:nvSpPr>
        <p:spPr>
          <a:xfrm>
            <a:off x="600120" y="1360440"/>
            <a:ext cx="8038800" cy="30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 algn="just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Authentication: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Validates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identity of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caller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using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supported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authentication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strategy,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e.g.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client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certificates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bearer tokens.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 algn="just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Authorization: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Determines if the identity provided in the first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stage 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access 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verb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HTTP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This is usually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implemented 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RBAC.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 algn="just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Admission Controller: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Verifies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well-formed and potentially needs 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modified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before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processed. Ensures that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included in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valid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(could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also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implemented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 part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admission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control).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Authefitication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via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Credentials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Kubeconfig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kubeconfig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at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$HOME/.kube/confi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g</a:t>
            </a:r>
            <a:r>
              <a:rPr b="0" lang="fr-FR" sz="1600" spc="-806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evaluated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kubectl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439" name="object 24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26BD709-20DF-4671-883D-C0FBC8A485A1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440" name="" descr=""/>
          <p:cNvPicPr/>
          <p:nvPr/>
        </p:nvPicPr>
        <p:blipFill>
          <a:blip r:embed="rId1"/>
          <a:stretch/>
        </p:blipFill>
        <p:spPr>
          <a:xfrm>
            <a:off x="494280" y="1164600"/>
            <a:ext cx="7562520" cy="3514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Managing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Kubeconfig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Current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Context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Interaction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kubeconfi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g</a:t>
            </a:r>
            <a:r>
              <a:rPr b="0" lang="fr-FR" sz="1600" spc="-687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442" name="object 3"/>
          <p:cNvGrpSpPr/>
          <p:nvPr/>
        </p:nvGrpSpPr>
        <p:grpSpPr>
          <a:xfrm>
            <a:off x="475920" y="1377000"/>
            <a:ext cx="4314960" cy="3486600"/>
            <a:chOff x="475920" y="1377000"/>
            <a:chExt cx="4314960" cy="3486600"/>
          </a:xfrm>
        </p:grpSpPr>
        <p:pic>
          <p:nvPicPr>
            <p:cNvPr id="1443" name="object 4" descr=""/>
            <p:cNvPicPr/>
            <p:nvPr/>
          </p:nvPicPr>
          <p:blipFill>
            <a:blip r:embed="rId1"/>
            <a:stretch/>
          </p:blipFill>
          <p:spPr>
            <a:xfrm>
              <a:off x="475920" y="1377000"/>
              <a:ext cx="4314960" cy="3486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44" name="object 5"/>
            <p:cNvSpPr/>
            <p:nvPr/>
          </p:nvSpPr>
          <p:spPr>
            <a:xfrm>
              <a:off x="529560" y="1425600"/>
              <a:ext cx="4200840" cy="3372120"/>
            </a:xfrm>
            <a:custGeom>
              <a:avLst/>
              <a:gdLst/>
              <a:ahLst/>
              <a:rect l="l" t="t" r="r" b="b"/>
              <a:pathLst>
                <a:path w="4203700" h="3375025">
                  <a:moveTo>
                    <a:pt x="4203599" y="3374999"/>
                  </a:moveTo>
                  <a:lnTo>
                    <a:pt x="0" y="3374999"/>
                  </a:lnTo>
                  <a:lnTo>
                    <a:pt x="0" y="0"/>
                  </a:lnTo>
                  <a:lnTo>
                    <a:pt x="4203599" y="0"/>
                  </a:lnTo>
                  <a:lnTo>
                    <a:pt x="4203599" y="33749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45" name="object 6"/>
          <p:cNvSpPr/>
          <p:nvPr/>
        </p:nvSpPr>
        <p:spPr>
          <a:xfrm>
            <a:off x="682920" y="1567800"/>
            <a:ext cx="3863160" cy="277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view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apiVersion:</a:t>
            </a:r>
            <a:r>
              <a:rPr b="0" lang="fr-FR" sz="14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kind:</a:t>
            </a:r>
            <a:r>
              <a:rPr b="0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585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current-context: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bmuschko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current-context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bmuschko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use-context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johndoe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Switched</a:t>
            </a:r>
            <a:r>
              <a:rPr b="0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context</a:t>
            </a:r>
            <a:r>
              <a:rPr b="0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"johndoe".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current-context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johndoe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446" name="object 7"/>
          <p:cNvGrpSpPr/>
          <p:nvPr/>
        </p:nvGrpSpPr>
        <p:grpSpPr>
          <a:xfrm>
            <a:off x="3050280" y="1644840"/>
            <a:ext cx="2623680" cy="1959480"/>
            <a:chOff x="3050280" y="1644840"/>
            <a:chExt cx="2623680" cy="1959480"/>
          </a:xfrm>
        </p:grpSpPr>
        <p:sp>
          <p:nvSpPr>
            <p:cNvPr id="1447" name="object 8"/>
            <p:cNvSpPr/>
            <p:nvPr/>
          </p:nvSpPr>
          <p:spPr>
            <a:xfrm>
              <a:off x="3146400" y="1679400"/>
              <a:ext cx="2421720" cy="3600"/>
            </a:xfrm>
            <a:custGeom>
              <a:avLst/>
              <a:gdLst/>
              <a:ahLst/>
              <a:rect l="l" t="t" r="r" b="b"/>
              <a:pathLst>
                <a:path w="2424429" h="6350">
                  <a:moveTo>
                    <a:pt x="2424300" y="0"/>
                  </a:moveTo>
                  <a:lnTo>
                    <a:pt x="0" y="6302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448" name="object 9" descr=""/>
            <p:cNvPicPr/>
            <p:nvPr/>
          </p:nvPicPr>
          <p:blipFill>
            <a:blip r:embed="rId2"/>
            <a:stretch/>
          </p:blipFill>
          <p:spPr>
            <a:xfrm>
              <a:off x="3050280" y="164484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49" name="object 10"/>
            <p:cNvSpPr/>
            <p:nvPr/>
          </p:nvSpPr>
          <p:spPr>
            <a:xfrm>
              <a:off x="4314600" y="2946240"/>
              <a:ext cx="1335240" cy="360"/>
            </a:xfrm>
            <a:custGeom>
              <a:avLst/>
              <a:gdLst/>
              <a:ahLst/>
              <a:rect l="l" t="t" r="r" b="b"/>
              <a:pathLst>
                <a:path w="1337945" h="0">
                  <a:moveTo>
                    <a:pt x="13376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450" name="object 11" descr=""/>
            <p:cNvPicPr/>
            <p:nvPr/>
          </p:nvPicPr>
          <p:blipFill>
            <a:blip r:embed="rId3"/>
            <a:stretch/>
          </p:blipFill>
          <p:spPr>
            <a:xfrm>
              <a:off x="4218480" y="290520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51" name="object 12"/>
            <p:cNvSpPr/>
            <p:nvPr/>
          </p:nvSpPr>
          <p:spPr>
            <a:xfrm>
              <a:off x="4939560" y="3566160"/>
              <a:ext cx="734400" cy="360"/>
            </a:xfrm>
            <a:custGeom>
              <a:avLst/>
              <a:gdLst/>
              <a:ahLst/>
              <a:rect l="l" t="t" r="r" b="b"/>
              <a:pathLst>
                <a:path w="737235" h="0">
                  <a:moveTo>
                    <a:pt x="7367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452" name="object 13" descr=""/>
            <p:cNvPicPr/>
            <p:nvPr/>
          </p:nvPicPr>
          <p:blipFill>
            <a:blip r:embed="rId4"/>
            <a:stretch/>
          </p:blipFill>
          <p:spPr>
            <a:xfrm>
              <a:off x="4843440" y="352512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453" name="object 14"/>
          <p:cNvSpPr/>
          <p:nvPr/>
        </p:nvSpPr>
        <p:spPr>
          <a:xfrm>
            <a:off x="5667840" y="1470960"/>
            <a:ext cx="225108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239400" indent="-22716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Renders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contents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kubeconfig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file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54" name="object 16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F4029B2-9CBC-47BB-A7B4-EEDC96EF30BC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55" name="object 15"/>
          <p:cNvSpPr/>
          <p:nvPr/>
        </p:nvSpPr>
        <p:spPr>
          <a:xfrm>
            <a:off x="5755680" y="2611800"/>
            <a:ext cx="2523240" cy="12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5968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Shows the 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currently-selected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context</a:t>
            </a:r>
            <a:endParaRPr b="0" lang="fr-FR" sz="1400" spc="-1" strike="noStrike">
              <a:latin typeface="Arial"/>
            </a:endParaRPr>
          </a:p>
          <a:p>
            <a:pPr marL="12600" indent="596880">
              <a:lnSpc>
                <a:spcPct val="100000"/>
              </a:lnSpc>
              <a:buNone/>
              <a:tabLst>
                <a:tab algn="l" pos="0"/>
              </a:tabLst>
            </a:pPr>
            <a:endParaRPr b="0" lang="fr-FR" sz="1500" spc="-1" strike="noStrike">
              <a:latin typeface="Arial"/>
            </a:endParaRPr>
          </a:p>
          <a:p>
            <a:pPr marL="58320" indent="74160">
              <a:lnSpc>
                <a:spcPts val="1650"/>
              </a:lnSpc>
              <a:spcBef>
                <a:spcPts val="955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Switches to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context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defined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kubeconfig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RBAC?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Restricting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3" strike="noStrike">
                <a:solidFill>
                  <a:srgbClr val="666666"/>
                </a:solidFill>
                <a:latin typeface="Lucida Sans Unicode"/>
              </a:rPr>
              <a:t>access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clients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interacting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server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457" name="object 4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280921C-2A4D-4BCD-9019-F4681E73CB57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58" name="object 3"/>
          <p:cNvSpPr/>
          <p:nvPr/>
        </p:nvSpPr>
        <p:spPr>
          <a:xfrm>
            <a:off x="600120" y="1360440"/>
            <a:ext cx="8038800" cy="22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Defines policies for users, groups, and processes by allowing or disallowing access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manage</a:t>
            </a: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Enabling 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RBAC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mandatory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any organization 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strong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emphasis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security.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Example: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“The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human user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John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only allowed to list 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Pods and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Deployments,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but nothing else.”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RBAC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High-Level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Overview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Three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key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elements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understanding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concept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460" name="object 3" descr=""/>
          <p:cNvPicPr/>
          <p:nvPr/>
        </p:nvPicPr>
        <p:blipFill>
          <a:blip r:embed="rId1"/>
          <a:stretch/>
        </p:blipFill>
        <p:spPr>
          <a:xfrm>
            <a:off x="1019520" y="1821960"/>
            <a:ext cx="7014600" cy="2221560"/>
          </a:xfrm>
          <a:prstGeom prst="rect">
            <a:avLst/>
          </a:prstGeom>
          <a:ln w="0">
            <a:noFill/>
          </a:ln>
        </p:spPr>
      </p:pic>
      <p:sp>
        <p:nvSpPr>
          <p:cNvPr id="1461" name="object 4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4229C61-BF25-426D-AC69-FC1C315530BB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Involved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RBAC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Primitives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Restrict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3" strike="noStrike">
                <a:solidFill>
                  <a:srgbClr val="666666"/>
                </a:solidFill>
                <a:latin typeface="Lucida Sans Unicode"/>
              </a:rPr>
              <a:t>access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certain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operations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resources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subjects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463" name="object 3" descr=""/>
          <p:cNvPicPr/>
          <p:nvPr/>
        </p:nvPicPr>
        <p:blipFill>
          <a:blip r:embed="rId1"/>
          <a:stretch/>
        </p:blipFill>
        <p:spPr>
          <a:xfrm>
            <a:off x="843840" y="1718640"/>
            <a:ext cx="7366320" cy="2457360"/>
          </a:xfrm>
          <a:prstGeom prst="rect">
            <a:avLst/>
          </a:prstGeom>
          <a:ln w="0">
            <a:noFill/>
          </a:ln>
        </p:spPr>
      </p:pic>
      <p:sp>
        <p:nvSpPr>
          <p:cNvPr id="1464" name="object 4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30BDB89-E9BD-4B12-B0C7-292C0DCC363F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9" strike="noStrike">
                <a:solidFill>
                  <a:srgbClr val="000000"/>
                </a:solidFill>
                <a:latin typeface="Tahoma"/>
              </a:rPr>
              <a:t>Namespace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Cluster-Wide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Permissions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Defining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permission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scopes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466" name="object 4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8A63796-EB40-4175-97C3-A0BEEE210F58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67" name="object 3"/>
          <p:cNvSpPr/>
          <p:nvPr/>
        </p:nvSpPr>
        <p:spPr>
          <a:xfrm>
            <a:off x="600120" y="1392840"/>
            <a:ext cx="8038800" cy="22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Role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maps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verbs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single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RoleBinding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maps a reference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Role to one 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many subjects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single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permissions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across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cluster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cluster-wide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resources,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use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corresponding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 primitives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ClusterRole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ClusterRoleBinding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configuration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options of 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manifests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are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same.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Role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3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verbs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resources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comma-separated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list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469" name="object 3"/>
          <p:cNvGrpSpPr/>
          <p:nvPr/>
        </p:nvGrpSpPr>
        <p:grpSpPr>
          <a:xfrm>
            <a:off x="475920" y="1377000"/>
            <a:ext cx="6379200" cy="1148760"/>
            <a:chOff x="475920" y="1377000"/>
            <a:chExt cx="6379200" cy="1148760"/>
          </a:xfrm>
        </p:grpSpPr>
        <p:pic>
          <p:nvPicPr>
            <p:cNvPr id="1470" name="object 4" descr=""/>
            <p:cNvPicPr/>
            <p:nvPr/>
          </p:nvPicPr>
          <p:blipFill>
            <a:blip r:embed="rId1"/>
            <a:stretch/>
          </p:blipFill>
          <p:spPr>
            <a:xfrm>
              <a:off x="475920" y="1377000"/>
              <a:ext cx="6379200" cy="1148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71" name="object 5"/>
            <p:cNvSpPr/>
            <p:nvPr/>
          </p:nvSpPr>
          <p:spPr>
            <a:xfrm>
              <a:off x="529560" y="1425600"/>
              <a:ext cx="6265080" cy="1034640"/>
            </a:xfrm>
            <a:custGeom>
              <a:avLst/>
              <a:gdLst/>
              <a:ahLst/>
              <a:rect l="l" t="t" r="r" b="b"/>
              <a:pathLst>
                <a:path w="6268084" h="1037589">
                  <a:moveTo>
                    <a:pt x="6267599" y="1037399"/>
                  </a:moveTo>
                  <a:lnTo>
                    <a:pt x="0" y="1037399"/>
                  </a:lnTo>
                  <a:lnTo>
                    <a:pt x="0" y="0"/>
                  </a:lnTo>
                  <a:lnTo>
                    <a:pt x="6267599" y="0"/>
                  </a:lnTo>
                  <a:lnTo>
                    <a:pt x="6267599" y="1037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72" name="object 6"/>
          <p:cNvSpPr/>
          <p:nvPr/>
        </p:nvSpPr>
        <p:spPr>
          <a:xfrm>
            <a:off x="682920" y="1567080"/>
            <a:ext cx="597600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--verb=list,get,watch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500" spc="-1" strike="noStrike">
              <a:latin typeface="Arial"/>
            </a:endParaRPr>
          </a:p>
          <a:p>
            <a:pPr marL="22608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--resource=pods,deployments,services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role.rbac.authorization.k8s.io/read-only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473" name="object 7"/>
          <p:cNvGrpSpPr/>
          <p:nvPr/>
        </p:nvGrpSpPr>
        <p:grpSpPr>
          <a:xfrm>
            <a:off x="894600" y="1609200"/>
            <a:ext cx="5344200" cy="1321920"/>
            <a:chOff x="894600" y="1609200"/>
            <a:chExt cx="5344200" cy="1321920"/>
          </a:xfrm>
        </p:grpSpPr>
        <p:sp>
          <p:nvSpPr>
            <p:cNvPr id="1474" name="object 8"/>
            <p:cNvSpPr/>
            <p:nvPr/>
          </p:nvSpPr>
          <p:spPr>
            <a:xfrm>
              <a:off x="6200640" y="2010600"/>
              <a:ext cx="360" cy="920520"/>
            </a:xfrm>
            <a:custGeom>
              <a:avLst/>
              <a:gdLst/>
              <a:ahLst/>
              <a:rect l="l" t="t" r="r" b="b"/>
              <a:pathLst>
                <a:path w="1904" h="923289">
                  <a:moveTo>
                    <a:pt x="1601" y="92310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475" name="object 9" descr=""/>
            <p:cNvPicPr/>
            <p:nvPr/>
          </p:nvPicPr>
          <p:blipFill>
            <a:blip r:embed="rId2"/>
            <a:stretch/>
          </p:blipFill>
          <p:spPr>
            <a:xfrm>
              <a:off x="6159600" y="1914480"/>
              <a:ext cx="7920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76" name="object 10"/>
            <p:cNvSpPr/>
            <p:nvPr/>
          </p:nvSpPr>
          <p:spPr>
            <a:xfrm>
              <a:off x="1591200" y="2194920"/>
              <a:ext cx="360" cy="736200"/>
            </a:xfrm>
            <a:custGeom>
              <a:avLst/>
              <a:gdLst/>
              <a:ahLst/>
              <a:rect l="l" t="t" r="r" b="b"/>
              <a:pathLst>
                <a:path w="2540" h="739139">
                  <a:moveTo>
                    <a:pt x="2078" y="73860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477" name="object 11" descr=""/>
            <p:cNvPicPr/>
            <p:nvPr/>
          </p:nvPicPr>
          <p:blipFill>
            <a:blip r:embed="rId3"/>
            <a:stretch/>
          </p:blipFill>
          <p:spPr>
            <a:xfrm>
              <a:off x="1550160" y="2099160"/>
              <a:ext cx="7920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78" name="object 12"/>
            <p:cNvSpPr/>
            <p:nvPr/>
          </p:nvSpPr>
          <p:spPr>
            <a:xfrm>
              <a:off x="894600" y="1609200"/>
              <a:ext cx="3992400" cy="431640"/>
            </a:xfrm>
            <a:custGeom>
              <a:avLst/>
              <a:gdLst/>
              <a:ahLst/>
              <a:rect l="l" t="t" r="r" b="b"/>
              <a:pathLst>
                <a:path w="3995420" h="434339">
                  <a:moveTo>
                    <a:pt x="0" y="221061"/>
                  </a:moveTo>
                  <a:lnTo>
                    <a:pt x="1226700" y="221061"/>
                  </a:lnTo>
                  <a:lnTo>
                    <a:pt x="1226700" y="434061"/>
                  </a:lnTo>
                  <a:lnTo>
                    <a:pt x="0" y="434061"/>
                  </a:lnTo>
                  <a:lnTo>
                    <a:pt x="0" y="221061"/>
                  </a:lnTo>
                  <a:close/>
                </a:path>
                <a:path w="3995420" h="434339">
                  <a:moveTo>
                    <a:pt x="3215913" y="0"/>
                  </a:moveTo>
                  <a:lnTo>
                    <a:pt x="3995013" y="0"/>
                  </a:lnTo>
                  <a:lnTo>
                    <a:pt x="3995013" y="212999"/>
                  </a:lnTo>
                  <a:lnTo>
                    <a:pt x="3215913" y="212999"/>
                  </a:lnTo>
                  <a:lnTo>
                    <a:pt x="3215913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79" name="object 13"/>
          <p:cNvSpPr/>
          <p:nvPr/>
        </p:nvSpPr>
        <p:spPr>
          <a:xfrm>
            <a:off x="5019120" y="2999520"/>
            <a:ext cx="27198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516240" indent="-50364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Operations: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Only allow listing,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getting,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watching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80" name="object 15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4A41592-6181-452A-9286-05C672D5000E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81" name="object 14"/>
          <p:cNvSpPr/>
          <p:nvPr/>
        </p:nvSpPr>
        <p:spPr>
          <a:xfrm>
            <a:off x="543240" y="2999520"/>
            <a:ext cx="251568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298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Resources: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Primitives the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operations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should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apply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7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Role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define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list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array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483" name="object 3"/>
          <p:cNvGrpSpPr/>
          <p:nvPr/>
        </p:nvGrpSpPr>
        <p:grpSpPr>
          <a:xfrm>
            <a:off x="474120" y="1375560"/>
            <a:ext cx="4503600" cy="2656080"/>
            <a:chOff x="474120" y="1375560"/>
            <a:chExt cx="4503600" cy="2656080"/>
          </a:xfrm>
        </p:grpSpPr>
        <p:pic>
          <p:nvPicPr>
            <p:cNvPr id="1484" name="object 4" descr=""/>
            <p:cNvPicPr/>
            <p:nvPr/>
          </p:nvPicPr>
          <p:blipFill>
            <a:blip r:embed="rId1"/>
            <a:stretch/>
          </p:blipFill>
          <p:spPr>
            <a:xfrm>
              <a:off x="474120" y="1375560"/>
              <a:ext cx="4503600" cy="26560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85" name="object 5"/>
            <p:cNvSpPr/>
            <p:nvPr/>
          </p:nvSpPr>
          <p:spPr>
            <a:xfrm>
              <a:off x="527400" y="1424160"/>
              <a:ext cx="4389480" cy="2542320"/>
            </a:xfrm>
            <a:custGeom>
              <a:avLst/>
              <a:gdLst/>
              <a:ahLst/>
              <a:rect l="l" t="t" r="r" b="b"/>
              <a:pathLst>
                <a:path w="4392295" h="2545079">
                  <a:moveTo>
                    <a:pt x="4392299" y="2544599"/>
                  </a:moveTo>
                  <a:lnTo>
                    <a:pt x="0" y="2544599"/>
                  </a:lnTo>
                  <a:lnTo>
                    <a:pt x="0" y="0"/>
                  </a:lnTo>
                  <a:lnTo>
                    <a:pt x="4392299" y="0"/>
                  </a:lnTo>
                  <a:lnTo>
                    <a:pt x="4392299" y="25445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86" name="object 6"/>
          <p:cNvSpPr/>
          <p:nvPr/>
        </p:nvSpPr>
        <p:spPr>
          <a:xfrm>
            <a:off x="527400" y="1424160"/>
            <a:ext cx="4389480" cy="23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0480" bIns="0" anchor="t">
            <a:spAutoFit/>
          </a:bodyPr>
          <a:p>
            <a:pPr marL="208440">
              <a:lnSpc>
                <a:spcPct val="100000"/>
              </a:lnSpc>
              <a:spcBef>
                <a:spcPts val="11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rbac.authorization.k8s.io/v1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rules:</a:t>
            </a:r>
            <a:endParaRPr b="0" lang="fr-FR" sz="1300" spc="-1" strike="noStrike">
              <a:latin typeface="Arial"/>
            </a:endParaRPr>
          </a:p>
          <a:p>
            <a:pPr marL="402480" indent="-1951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Courier New"/>
              <a:buChar char="-"/>
              <a:tabLst>
                <a:tab algn="l" pos="40320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apiGroups: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1000"/>
              </a:lnSpc>
              <a:buNone/>
              <a:tabLst>
                <a:tab algn="l" pos="40320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resources: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"pods"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,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"services"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]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1000"/>
              </a:lnSpc>
              <a:buNone/>
              <a:tabLst>
                <a:tab algn="l" pos="40320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verbs:</a:t>
            </a:r>
            <a:r>
              <a:rPr b="1" lang="fr-FR" sz="1300" spc="-3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"list"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"get"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"watch"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  <a:p>
            <a:pPr marL="402480" indent="-1951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Courier New"/>
              <a:buChar char="-"/>
              <a:tabLst>
                <a:tab algn="l" pos="40320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apiGroups:</a:t>
            </a:r>
            <a:r>
              <a:rPr b="1" lang="fr-FR" sz="1300" spc="-5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"apps"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0000"/>
              </a:lnSpc>
              <a:spcBef>
                <a:spcPts val="14"/>
              </a:spcBef>
              <a:buNone/>
              <a:tabLst>
                <a:tab algn="l" pos="40320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resources:</a:t>
            </a:r>
            <a:r>
              <a:rPr b="1" lang="fr-FR" sz="1300" spc="-3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"deployments"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0000"/>
              </a:lnSpc>
              <a:spcBef>
                <a:spcPts val="14"/>
              </a:spcBef>
              <a:buNone/>
              <a:tabLst>
                <a:tab algn="l" pos="40320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verbs:</a:t>
            </a:r>
            <a:r>
              <a:rPr b="1" lang="fr-FR" sz="1300" spc="-2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"list"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"get"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"watch"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487" name="object 7"/>
          <p:cNvGrpSpPr/>
          <p:nvPr/>
        </p:nvGrpSpPr>
        <p:grpSpPr>
          <a:xfrm>
            <a:off x="2988360" y="3256920"/>
            <a:ext cx="2458440" cy="79200"/>
            <a:chOff x="2988360" y="3256920"/>
            <a:chExt cx="2458440" cy="79200"/>
          </a:xfrm>
        </p:grpSpPr>
        <p:sp>
          <p:nvSpPr>
            <p:cNvPr id="1488" name="object 8"/>
            <p:cNvSpPr/>
            <p:nvPr/>
          </p:nvSpPr>
          <p:spPr>
            <a:xfrm>
              <a:off x="3084480" y="3297600"/>
              <a:ext cx="2362320" cy="360"/>
            </a:xfrm>
            <a:custGeom>
              <a:avLst/>
              <a:gdLst/>
              <a:ahLst/>
              <a:rect l="l" t="t" r="r" b="b"/>
              <a:pathLst>
                <a:path w="2365375" h="0">
                  <a:moveTo>
                    <a:pt x="23651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489" name="object 9" descr=""/>
            <p:cNvPicPr/>
            <p:nvPr/>
          </p:nvPicPr>
          <p:blipFill>
            <a:blip r:embed="rId2"/>
            <a:stretch/>
          </p:blipFill>
          <p:spPr>
            <a:xfrm>
              <a:off x="2988360" y="325692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490" name="object 10"/>
          <p:cNvSpPr/>
          <p:nvPr/>
        </p:nvSpPr>
        <p:spPr>
          <a:xfrm>
            <a:off x="5541480" y="2952720"/>
            <a:ext cx="273744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93240" algn="just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Resources with groups need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 be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spelled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out explicitly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(in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thi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case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apps/Deploymen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400" spc="-61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)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91" name="object 11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DD24F1D-4B82-4682-9E0C-B0729A25A8BA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Getting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Role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Details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Maps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primitive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verbs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493" name="object 3"/>
          <p:cNvGrpSpPr/>
          <p:nvPr/>
        </p:nvGrpSpPr>
        <p:grpSpPr>
          <a:xfrm>
            <a:off x="470520" y="1375560"/>
            <a:ext cx="7502040" cy="2512440"/>
            <a:chOff x="470520" y="1375560"/>
            <a:chExt cx="7502040" cy="2512440"/>
          </a:xfrm>
        </p:grpSpPr>
        <p:pic>
          <p:nvPicPr>
            <p:cNvPr id="1494" name="object 4" descr=""/>
            <p:cNvPicPr/>
            <p:nvPr/>
          </p:nvPicPr>
          <p:blipFill>
            <a:blip r:embed="rId1"/>
            <a:stretch/>
          </p:blipFill>
          <p:spPr>
            <a:xfrm>
              <a:off x="470520" y="1375560"/>
              <a:ext cx="7502040" cy="2512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95" name="object 5"/>
            <p:cNvSpPr/>
            <p:nvPr/>
          </p:nvSpPr>
          <p:spPr>
            <a:xfrm>
              <a:off x="523800" y="1424160"/>
              <a:ext cx="7387920" cy="2397960"/>
            </a:xfrm>
            <a:custGeom>
              <a:avLst/>
              <a:gdLst/>
              <a:ahLst/>
              <a:rect l="l" t="t" r="r" b="b"/>
              <a:pathLst>
                <a:path w="7390765" h="2400935">
                  <a:moveTo>
                    <a:pt x="7390500" y="2400899"/>
                  </a:moveTo>
                  <a:lnTo>
                    <a:pt x="0" y="2400899"/>
                  </a:lnTo>
                  <a:lnTo>
                    <a:pt x="0" y="0"/>
                  </a:lnTo>
                  <a:lnTo>
                    <a:pt x="7390500" y="0"/>
                  </a:lnTo>
                  <a:lnTo>
                    <a:pt x="7390500" y="2400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96" name="object 6"/>
          <p:cNvSpPr/>
          <p:nvPr/>
        </p:nvSpPr>
        <p:spPr>
          <a:xfrm>
            <a:off x="699840" y="1562040"/>
            <a:ext cx="32788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97" name="object 7"/>
          <p:cNvSpPr/>
          <p:nvPr/>
        </p:nvSpPr>
        <p:spPr>
          <a:xfrm>
            <a:off x="2086560" y="1762200"/>
            <a:ext cx="90216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98" name="object 8"/>
          <p:cNvSpPr/>
          <p:nvPr/>
        </p:nvSpPr>
        <p:spPr>
          <a:xfrm>
            <a:off x="699840" y="1762200"/>
            <a:ext cx="1198440" cy="10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Name: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Labels: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Annotations: PolicyRule:</a:t>
            </a:r>
            <a:endParaRPr b="0" lang="fr-FR" sz="1300" spc="-1" strike="noStrike">
              <a:latin typeface="Arial"/>
            </a:endParaRPr>
          </a:p>
          <a:p>
            <a:pPr marL="1980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Resources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99" name="object 9"/>
          <p:cNvSpPr/>
          <p:nvPr/>
        </p:nvSpPr>
        <p:spPr>
          <a:xfrm>
            <a:off x="2680920" y="2562120"/>
            <a:ext cx="39722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  <a:tabLst>
                <a:tab algn="l" pos="1881360"/>
                <a:tab algn="l" pos="34664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Non-Resourc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URL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Resourc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Name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Verbs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500" name="object 10"/>
          <p:cNvGrpSpPr/>
          <p:nvPr/>
        </p:nvGrpSpPr>
        <p:grpSpPr>
          <a:xfrm>
            <a:off x="898200" y="2893320"/>
            <a:ext cx="5742000" cy="360"/>
            <a:chOff x="898200" y="2893320"/>
            <a:chExt cx="5742000" cy="360"/>
          </a:xfrm>
        </p:grpSpPr>
        <p:sp>
          <p:nvSpPr>
            <p:cNvPr id="1501" name="object 11"/>
            <p:cNvSpPr/>
            <p:nvPr/>
          </p:nvSpPr>
          <p:spPr>
            <a:xfrm>
              <a:off x="898200" y="2893320"/>
              <a:ext cx="888840" cy="360"/>
            </a:xfrm>
            <a:custGeom>
              <a:avLst/>
              <a:gdLst/>
              <a:ahLst/>
              <a:rect l="l" t="t" r="r" b="b"/>
              <a:pathLst>
                <a:path w="891539" h="0">
                  <a:moveTo>
                    <a:pt x="0" y="0"/>
                  </a:moveTo>
                  <a:lnTo>
                    <a:pt x="891394" y="0"/>
                  </a:lnTo>
                </a:path>
              </a:pathLst>
            </a:custGeom>
            <a:noFill/>
            <a:ln w="9740">
              <a:solidFill>
                <a:srgbClr val="0000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2" name="object 12"/>
            <p:cNvSpPr/>
            <p:nvPr/>
          </p:nvSpPr>
          <p:spPr>
            <a:xfrm>
              <a:off x="2680920" y="2893320"/>
              <a:ext cx="1681200" cy="360"/>
            </a:xfrm>
            <a:custGeom>
              <a:avLst/>
              <a:gdLst/>
              <a:ahLst/>
              <a:rect l="l" t="t" r="r" b="b"/>
              <a:pathLst>
                <a:path w="1684020" h="0">
                  <a:moveTo>
                    <a:pt x="0" y="0"/>
                  </a:moveTo>
                  <a:lnTo>
                    <a:pt x="1683746" y="0"/>
                  </a:lnTo>
                </a:path>
              </a:pathLst>
            </a:custGeom>
            <a:noFill/>
            <a:ln w="9740">
              <a:solidFill>
                <a:srgbClr val="0000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3" name="object 13"/>
            <p:cNvSpPr/>
            <p:nvPr/>
          </p:nvSpPr>
          <p:spPr>
            <a:xfrm>
              <a:off x="4563000" y="2893320"/>
              <a:ext cx="1383840" cy="360"/>
            </a:xfrm>
            <a:custGeom>
              <a:avLst/>
              <a:gdLst/>
              <a:ahLst/>
              <a:rect l="l" t="t" r="r" b="b"/>
              <a:pathLst>
                <a:path w="1386839" h="0">
                  <a:moveTo>
                    <a:pt x="0" y="0"/>
                  </a:moveTo>
                  <a:lnTo>
                    <a:pt x="1386614" y="0"/>
                  </a:lnTo>
                </a:path>
              </a:pathLst>
            </a:custGeom>
            <a:noFill/>
            <a:ln w="9740">
              <a:solidFill>
                <a:srgbClr val="0000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4" name="object 14"/>
            <p:cNvSpPr/>
            <p:nvPr/>
          </p:nvSpPr>
          <p:spPr>
            <a:xfrm>
              <a:off x="6147720" y="2893320"/>
              <a:ext cx="492480" cy="360"/>
            </a:xfrm>
            <a:custGeom>
              <a:avLst/>
              <a:gdLst/>
              <a:ahLst/>
              <a:rect l="l" t="t" r="r" b="b"/>
              <a:pathLst>
                <a:path w="495300" h="0">
                  <a:moveTo>
                    <a:pt x="0" y="0"/>
                  </a:moveTo>
                  <a:lnTo>
                    <a:pt x="495300" y="0"/>
                  </a:lnTo>
                </a:path>
              </a:pathLst>
            </a:custGeom>
            <a:noFill/>
            <a:ln w="9740">
              <a:solidFill>
                <a:srgbClr val="0000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05" name="object 15"/>
          <p:cNvSpPr/>
          <p:nvPr/>
        </p:nvSpPr>
        <p:spPr>
          <a:xfrm>
            <a:off x="898200" y="2962080"/>
            <a:ext cx="199116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  <a:tabLst>
                <a:tab algn="l" pos="1782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[]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782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[]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782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deployments.app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[]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06" name="object 18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65D9A09-8D09-4D7D-9BBD-4E4CE3E532F2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507" name="object 16"/>
          <p:cNvSpPr/>
          <p:nvPr/>
        </p:nvSpPr>
        <p:spPr>
          <a:xfrm>
            <a:off x="4563000" y="2962080"/>
            <a:ext cx="2084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[]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[]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[]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08" name="object 17"/>
          <p:cNvSpPr/>
          <p:nvPr/>
        </p:nvSpPr>
        <p:spPr>
          <a:xfrm>
            <a:off x="6148080" y="2962080"/>
            <a:ext cx="17708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algn="just"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[list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watch]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[list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watch]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[list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watch]</a:t>
            </a:r>
            <a:endParaRPr b="0" lang="fr-FR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648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RoleBinding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3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Maps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subject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Role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510" name="object 3"/>
          <p:cNvGrpSpPr/>
          <p:nvPr/>
        </p:nvGrpSpPr>
        <p:grpSpPr>
          <a:xfrm>
            <a:off x="478440" y="1375560"/>
            <a:ext cx="7464600" cy="1134000"/>
            <a:chOff x="478440" y="1375560"/>
            <a:chExt cx="7464600" cy="1134000"/>
          </a:xfrm>
        </p:grpSpPr>
        <p:pic>
          <p:nvPicPr>
            <p:cNvPr id="1511" name="object 4" descr=""/>
            <p:cNvPicPr/>
            <p:nvPr/>
          </p:nvPicPr>
          <p:blipFill>
            <a:blip r:embed="rId1"/>
            <a:stretch/>
          </p:blipFill>
          <p:spPr>
            <a:xfrm>
              <a:off x="478440" y="1375560"/>
              <a:ext cx="7464600" cy="11340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12" name="object 5"/>
            <p:cNvSpPr/>
            <p:nvPr/>
          </p:nvSpPr>
          <p:spPr>
            <a:xfrm>
              <a:off x="532080" y="1424160"/>
              <a:ext cx="7350480" cy="1020240"/>
            </a:xfrm>
            <a:custGeom>
              <a:avLst/>
              <a:gdLst/>
              <a:ahLst/>
              <a:rect l="l" t="t" r="r" b="b"/>
              <a:pathLst>
                <a:path w="7353300" h="1022985">
                  <a:moveTo>
                    <a:pt x="7353299" y="1022399"/>
                  </a:moveTo>
                  <a:lnTo>
                    <a:pt x="0" y="1022399"/>
                  </a:lnTo>
                  <a:lnTo>
                    <a:pt x="0" y="0"/>
                  </a:lnTo>
                  <a:lnTo>
                    <a:pt x="7353299" y="0"/>
                  </a:lnTo>
                  <a:lnTo>
                    <a:pt x="7353299" y="1022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13" name="object 6"/>
          <p:cNvSpPr/>
          <p:nvPr/>
        </p:nvSpPr>
        <p:spPr>
          <a:xfrm>
            <a:off x="695520" y="1560960"/>
            <a:ext cx="70434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rolebinding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read-only-binding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--role=read-only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500" spc="-1" strike="noStrike">
              <a:latin typeface="Arial"/>
            </a:endParaRPr>
          </a:p>
          <a:p>
            <a:pPr marL="226080">
              <a:lnSpc>
                <a:spcPts val="1664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--user=johndoe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rolebinding.rbac.authorization.k8s.io/read-only-binding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514" name="object 7"/>
          <p:cNvGrpSpPr/>
          <p:nvPr/>
        </p:nvGrpSpPr>
        <p:grpSpPr>
          <a:xfrm>
            <a:off x="902520" y="1609200"/>
            <a:ext cx="5600880" cy="1315800"/>
            <a:chOff x="902520" y="1609200"/>
            <a:chExt cx="5600880" cy="1315800"/>
          </a:xfrm>
        </p:grpSpPr>
        <p:sp>
          <p:nvSpPr>
            <p:cNvPr id="1515" name="object 8"/>
            <p:cNvSpPr/>
            <p:nvPr/>
          </p:nvSpPr>
          <p:spPr>
            <a:xfrm>
              <a:off x="6218280" y="2027160"/>
              <a:ext cx="5400" cy="845640"/>
            </a:xfrm>
            <a:custGeom>
              <a:avLst/>
              <a:gdLst/>
              <a:ahLst/>
              <a:rect l="l" t="t" r="r" b="b"/>
              <a:pathLst>
                <a:path w="8254" h="848360">
                  <a:moveTo>
                    <a:pt x="8195" y="848105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516" name="object 9" descr=""/>
            <p:cNvPicPr/>
            <p:nvPr/>
          </p:nvPicPr>
          <p:blipFill>
            <a:blip r:embed="rId2"/>
            <a:stretch/>
          </p:blipFill>
          <p:spPr>
            <a:xfrm>
              <a:off x="6177240" y="1931400"/>
              <a:ext cx="79200" cy="1029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17" name="object 10"/>
            <p:cNvSpPr/>
            <p:nvPr/>
          </p:nvSpPr>
          <p:spPr>
            <a:xfrm>
              <a:off x="1362240" y="2188800"/>
              <a:ext cx="360" cy="736200"/>
            </a:xfrm>
            <a:custGeom>
              <a:avLst/>
              <a:gdLst/>
              <a:ahLst/>
              <a:rect l="l" t="t" r="r" b="b"/>
              <a:pathLst>
                <a:path w="2540" h="739139">
                  <a:moveTo>
                    <a:pt x="2078" y="73860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518" name="object 11" descr=""/>
            <p:cNvPicPr/>
            <p:nvPr/>
          </p:nvPicPr>
          <p:blipFill>
            <a:blip r:embed="rId3"/>
            <a:stretch/>
          </p:blipFill>
          <p:spPr>
            <a:xfrm>
              <a:off x="1321200" y="2092680"/>
              <a:ext cx="7920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19" name="object 12"/>
            <p:cNvSpPr/>
            <p:nvPr/>
          </p:nvSpPr>
          <p:spPr>
            <a:xfrm>
              <a:off x="902520" y="1609200"/>
              <a:ext cx="5600880" cy="431640"/>
            </a:xfrm>
            <a:custGeom>
              <a:avLst/>
              <a:gdLst/>
              <a:ahLst/>
              <a:rect l="l" t="t" r="r" b="b"/>
              <a:pathLst>
                <a:path w="5603875" h="434339">
                  <a:moveTo>
                    <a:pt x="0" y="221061"/>
                  </a:moveTo>
                  <a:lnTo>
                    <a:pt x="807299" y="221061"/>
                  </a:lnTo>
                  <a:lnTo>
                    <a:pt x="807299" y="434061"/>
                  </a:lnTo>
                  <a:lnTo>
                    <a:pt x="0" y="434061"/>
                  </a:lnTo>
                  <a:lnTo>
                    <a:pt x="0" y="221061"/>
                  </a:lnTo>
                  <a:close/>
                </a:path>
                <a:path w="5603875" h="434339">
                  <a:moveTo>
                    <a:pt x="4796063" y="0"/>
                  </a:moveTo>
                  <a:lnTo>
                    <a:pt x="5603363" y="0"/>
                  </a:lnTo>
                  <a:lnTo>
                    <a:pt x="5603363" y="212999"/>
                  </a:lnTo>
                  <a:lnTo>
                    <a:pt x="4796063" y="212999"/>
                  </a:lnTo>
                  <a:lnTo>
                    <a:pt x="4796063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20" name="object 13"/>
          <p:cNvSpPr/>
          <p:nvPr/>
        </p:nvSpPr>
        <p:spPr>
          <a:xfrm>
            <a:off x="5077800" y="2941200"/>
            <a:ext cx="26611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763200" indent="-75132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Role: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Reference the name of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21" name="object 15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D055D58-8511-4F44-82F0-32D7280CDA1A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522" name="object 14"/>
          <p:cNvSpPr/>
          <p:nvPr/>
        </p:nvSpPr>
        <p:spPr>
          <a:xfrm>
            <a:off x="413280" y="2993040"/>
            <a:ext cx="228564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619920" indent="-6076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Subject:</a:t>
            </a:r>
            <a:r>
              <a:rPr b="0" i="1" lang="fr-FR" sz="1400" spc="-2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Binds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user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400" spc="-3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Role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RoleBinding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Roles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mapped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multiple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subjects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needed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524" name="object 3"/>
          <p:cNvGrpSpPr/>
          <p:nvPr/>
        </p:nvGrpSpPr>
        <p:grpSpPr>
          <a:xfrm>
            <a:off x="478440" y="1375560"/>
            <a:ext cx="4189680" cy="2656080"/>
            <a:chOff x="478440" y="1375560"/>
            <a:chExt cx="4189680" cy="2656080"/>
          </a:xfrm>
        </p:grpSpPr>
        <p:pic>
          <p:nvPicPr>
            <p:cNvPr id="1525" name="object 4" descr=""/>
            <p:cNvPicPr/>
            <p:nvPr/>
          </p:nvPicPr>
          <p:blipFill>
            <a:blip r:embed="rId1"/>
            <a:stretch/>
          </p:blipFill>
          <p:spPr>
            <a:xfrm>
              <a:off x="478440" y="1375560"/>
              <a:ext cx="4189680" cy="26560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26" name="object 5"/>
            <p:cNvSpPr/>
            <p:nvPr/>
          </p:nvSpPr>
          <p:spPr>
            <a:xfrm>
              <a:off x="532080" y="1424160"/>
              <a:ext cx="4075560" cy="2542320"/>
            </a:xfrm>
            <a:custGeom>
              <a:avLst/>
              <a:gdLst/>
              <a:ahLst/>
              <a:rect l="l" t="t" r="r" b="b"/>
              <a:pathLst>
                <a:path w="4078604" h="2545079">
                  <a:moveTo>
                    <a:pt x="4078199" y="2544599"/>
                  </a:moveTo>
                  <a:lnTo>
                    <a:pt x="0" y="2544599"/>
                  </a:lnTo>
                  <a:lnTo>
                    <a:pt x="0" y="0"/>
                  </a:lnTo>
                  <a:lnTo>
                    <a:pt x="4078199" y="0"/>
                  </a:lnTo>
                  <a:lnTo>
                    <a:pt x="4078199" y="25445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27" name="object 6"/>
          <p:cNvSpPr/>
          <p:nvPr/>
        </p:nvSpPr>
        <p:spPr>
          <a:xfrm>
            <a:off x="727920" y="1562400"/>
            <a:ext cx="3680640" cy="21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2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rbac.authorization.k8s.io/v1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RoleBinding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read-only-binding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roleRef: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apiGroup: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subjects: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apiGroup:</a:t>
            </a:r>
            <a:r>
              <a:rPr b="1" lang="fr-FR" sz="1200" spc="-3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User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34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johndoe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1528" name="object 7"/>
          <p:cNvGrpSpPr/>
          <p:nvPr/>
        </p:nvGrpSpPr>
        <p:grpSpPr>
          <a:xfrm>
            <a:off x="4411080" y="2727360"/>
            <a:ext cx="1049400" cy="922680"/>
            <a:chOff x="4411080" y="2727360"/>
            <a:chExt cx="1049400" cy="922680"/>
          </a:xfrm>
        </p:grpSpPr>
        <p:sp>
          <p:nvSpPr>
            <p:cNvPr id="1529" name="object 8"/>
            <p:cNvSpPr/>
            <p:nvPr/>
          </p:nvSpPr>
          <p:spPr>
            <a:xfrm>
              <a:off x="4507200" y="2768040"/>
              <a:ext cx="953280" cy="360"/>
            </a:xfrm>
            <a:custGeom>
              <a:avLst/>
              <a:gdLst/>
              <a:ahLst/>
              <a:rect l="l" t="t" r="r" b="b"/>
              <a:pathLst>
                <a:path w="956310" h="0">
                  <a:moveTo>
                    <a:pt x="9557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530" name="object 9" descr=""/>
            <p:cNvPicPr/>
            <p:nvPr/>
          </p:nvPicPr>
          <p:blipFill>
            <a:blip r:embed="rId2"/>
            <a:stretch/>
          </p:blipFill>
          <p:spPr>
            <a:xfrm>
              <a:off x="4411080" y="272736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31" name="object 10"/>
            <p:cNvSpPr/>
            <p:nvPr/>
          </p:nvSpPr>
          <p:spPr>
            <a:xfrm>
              <a:off x="4507200" y="3611880"/>
              <a:ext cx="953280" cy="360"/>
            </a:xfrm>
            <a:custGeom>
              <a:avLst/>
              <a:gdLst/>
              <a:ahLst/>
              <a:rect l="l" t="t" r="r" b="b"/>
              <a:pathLst>
                <a:path w="956310" h="0">
                  <a:moveTo>
                    <a:pt x="9557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532" name="object 11" descr=""/>
            <p:cNvPicPr/>
            <p:nvPr/>
          </p:nvPicPr>
          <p:blipFill>
            <a:blip r:embed="rId3"/>
            <a:stretch/>
          </p:blipFill>
          <p:spPr>
            <a:xfrm>
              <a:off x="4411080" y="357084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533" name="object 12"/>
          <p:cNvSpPr/>
          <p:nvPr/>
        </p:nvSpPr>
        <p:spPr>
          <a:xfrm>
            <a:off x="5604840" y="2632320"/>
            <a:ext cx="23140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Reference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Role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34" name="object 14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7D9EE3C-D88B-409C-A9AA-4CFA3C80D959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535" name="object 13"/>
          <p:cNvSpPr/>
          <p:nvPr/>
        </p:nvSpPr>
        <p:spPr>
          <a:xfrm>
            <a:off x="5608800" y="3475800"/>
            <a:ext cx="17701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Reference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User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Getting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RoleBinding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Details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Only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shows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mapping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between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subjects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537" name="object 3"/>
          <p:cNvGrpSpPr/>
          <p:nvPr/>
        </p:nvGrpSpPr>
        <p:grpSpPr>
          <a:xfrm>
            <a:off x="478440" y="1375560"/>
            <a:ext cx="4916880" cy="2476440"/>
            <a:chOff x="478440" y="1375560"/>
            <a:chExt cx="4916880" cy="2476440"/>
          </a:xfrm>
        </p:grpSpPr>
        <p:pic>
          <p:nvPicPr>
            <p:cNvPr id="1538" name="object 4" descr=""/>
            <p:cNvPicPr/>
            <p:nvPr/>
          </p:nvPicPr>
          <p:blipFill>
            <a:blip r:embed="rId1"/>
            <a:stretch/>
          </p:blipFill>
          <p:spPr>
            <a:xfrm>
              <a:off x="478440" y="1375560"/>
              <a:ext cx="4916880" cy="2476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39" name="object 5"/>
            <p:cNvSpPr/>
            <p:nvPr/>
          </p:nvSpPr>
          <p:spPr>
            <a:xfrm>
              <a:off x="532080" y="1424160"/>
              <a:ext cx="4802760" cy="2362320"/>
            </a:xfrm>
            <a:custGeom>
              <a:avLst/>
              <a:gdLst/>
              <a:ahLst/>
              <a:rect l="l" t="t" r="r" b="b"/>
              <a:pathLst>
                <a:path w="4805680" h="2365375">
                  <a:moveTo>
                    <a:pt x="4805399" y="2364899"/>
                  </a:moveTo>
                  <a:lnTo>
                    <a:pt x="0" y="2364899"/>
                  </a:lnTo>
                  <a:lnTo>
                    <a:pt x="0" y="0"/>
                  </a:lnTo>
                  <a:lnTo>
                    <a:pt x="4805399" y="0"/>
                  </a:lnTo>
                  <a:lnTo>
                    <a:pt x="4805399" y="2364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40" name="object 6"/>
            <p:cNvSpPr/>
            <p:nvPr/>
          </p:nvSpPr>
          <p:spPr>
            <a:xfrm>
              <a:off x="891000" y="3313440"/>
              <a:ext cx="911520" cy="360"/>
            </a:xfrm>
            <a:custGeom>
              <a:avLst/>
              <a:gdLst/>
              <a:ahLst/>
              <a:rect l="l" t="t" r="r" b="b"/>
              <a:pathLst>
                <a:path w="914400" h="0">
                  <a:moveTo>
                    <a:pt x="0" y="0"/>
                  </a:moveTo>
                  <a:lnTo>
                    <a:pt x="365700" y="0"/>
                  </a:lnTo>
                </a:path>
                <a:path w="914400" h="0">
                  <a:moveTo>
                    <a:pt x="548580" y="0"/>
                  </a:moveTo>
                  <a:lnTo>
                    <a:pt x="914280" y="0"/>
                  </a:lnTo>
                </a:path>
              </a:pathLst>
            </a:custGeom>
            <a:noFill/>
            <a:ln w="8991">
              <a:solidFill>
                <a:srgbClr val="0000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41" name="object 7"/>
            <p:cNvSpPr/>
            <p:nvPr/>
          </p:nvSpPr>
          <p:spPr>
            <a:xfrm>
              <a:off x="2262240" y="3313440"/>
              <a:ext cx="820080" cy="360"/>
            </a:xfrm>
            <a:custGeom>
              <a:avLst/>
              <a:gdLst/>
              <a:ahLst/>
              <a:rect l="l" t="t" r="r" b="b"/>
              <a:pathLst>
                <a:path w="822960" h="0">
                  <a:moveTo>
                    <a:pt x="0" y="0"/>
                  </a:moveTo>
                  <a:lnTo>
                    <a:pt x="822960" y="0"/>
                  </a:lnTo>
                </a:path>
              </a:pathLst>
            </a:custGeom>
            <a:noFill/>
            <a:ln w="8991">
              <a:solidFill>
                <a:srgbClr val="0000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42" name="object 8"/>
          <p:cNvSpPr/>
          <p:nvPr/>
        </p:nvSpPr>
        <p:spPr>
          <a:xfrm>
            <a:off x="532080" y="1424160"/>
            <a:ext cx="4802760" cy="21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040" bIns="0" anchor="t">
            <a:spAutoFit/>
          </a:bodyPr>
          <a:p>
            <a:pPr>
              <a:lnSpc>
                <a:spcPct val="100000"/>
              </a:lnSpc>
              <a:spcBef>
                <a:spcPts val="40"/>
              </a:spcBef>
              <a:buNone/>
            </a:pPr>
            <a:endParaRPr b="0" lang="fr-FR" sz="1000" spc="-1" strike="noStrike">
              <a:latin typeface="Arial"/>
            </a:endParaRPr>
          </a:p>
          <a:p>
            <a:pPr marL="176040" algn="just">
              <a:lnSpc>
                <a:spcPts val="1429"/>
              </a:lnSpc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rolebinding</a:t>
            </a:r>
            <a:r>
              <a:rPr b="1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read-only-binding</a:t>
            </a:r>
            <a:endParaRPr b="0" lang="fr-FR" sz="1200" spc="-1" strike="noStrike">
              <a:latin typeface="Arial"/>
            </a:endParaRPr>
          </a:p>
          <a:p>
            <a:pPr marL="176040" algn="just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Name:</a:t>
            </a:r>
            <a:r>
              <a:rPr b="0" lang="fr-FR" sz="1200" spc="854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read-only-binding</a:t>
            </a:r>
            <a:endParaRPr b="0" lang="fr-FR" sz="1200" spc="-1" strike="noStrike">
              <a:latin typeface="Arial"/>
            </a:endParaRPr>
          </a:p>
          <a:p>
            <a:pPr marL="176040" algn="just">
              <a:lnSpc>
                <a:spcPts val="1429"/>
              </a:lnSpc>
              <a:spcBef>
                <a:spcPts val="45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Labels: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200" spc="-1" strike="noStrike">
              <a:latin typeface="Arial"/>
            </a:endParaRPr>
          </a:p>
          <a:p>
            <a:pPr marL="176040" algn="just">
              <a:lnSpc>
                <a:spcPts val="1429"/>
              </a:lnSpc>
              <a:spcBef>
                <a:spcPts val="45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Annotations: &lt;none&gt;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200" spc="-1" strike="noStrike">
              <a:latin typeface="Arial"/>
            </a:endParaRPr>
          </a:p>
          <a:p>
            <a:pPr marL="176040" algn="just">
              <a:lnSpc>
                <a:spcPts val="1429"/>
              </a:lnSpc>
              <a:spcBef>
                <a:spcPts val="45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Role:</a:t>
            </a:r>
            <a:endParaRPr b="0" lang="fr-FR" sz="1200" spc="-1" strike="noStrike">
              <a:latin typeface="Arial"/>
            </a:endParaRPr>
          </a:p>
          <a:p>
            <a:pPr marL="358920">
              <a:lnSpc>
                <a:spcPts val="1361"/>
              </a:lnSpc>
              <a:buNone/>
              <a:tabLst>
                <a:tab algn="l" pos="99900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Kind: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</a:t>
            </a:r>
            <a:endParaRPr b="0" lang="fr-FR" sz="1200" spc="-1" strike="noStrike">
              <a:latin typeface="Arial"/>
            </a:endParaRPr>
          </a:p>
          <a:p>
            <a:pPr marL="176040" indent="182880">
              <a:lnSpc>
                <a:spcPts val="1429"/>
              </a:lnSpc>
              <a:spcBef>
                <a:spcPts val="51"/>
              </a:spcBef>
              <a:buNone/>
              <a:tabLst>
                <a:tab algn="l" pos="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  </a:t>
            </a:r>
            <a:endParaRPr b="0" lang="fr-FR" sz="1200" spc="-1" strike="noStrike">
              <a:latin typeface="Arial"/>
            </a:endParaRPr>
          </a:p>
          <a:p>
            <a:pPr marL="176040" indent="182880">
              <a:lnSpc>
                <a:spcPts val="1429"/>
              </a:lnSpc>
              <a:spcBef>
                <a:spcPts val="51"/>
              </a:spcBef>
              <a:buNone/>
              <a:tabLst>
                <a:tab algn="l" pos="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Subjects:</a:t>
            </a:r>
            <a:endParaRPr b="0" lang="fr-FR" sz="1200" spc="-1" strike="noStrike">
              <a:latin typeface="Arial"/>
            </a:endParaRPr>
          </a:p>
          <a:p>
            <a:pPr marL="358920" indent="182880">
              <a:lnSpc>
                <a:spcPts val="1375"/>
              </a:lnSpc>
              <a:buNone/>
              <a:tabLst>
                <a:tab algn="l" pos="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Kind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endParaRPr b="0" lang="fr-FR" sz="1200" spc="-1" strike="noStrike">
              <a:latin typeface="Arial"/>
            </a:endParaRPr>
          </a:p>
          <a:p>
            <a:pPr marL="358920" indent="182880">
              <a:lnSpc>
                <a:spcPct val="100000"/>
              </a:lnSpc>
              <a:spcBef>
                <a:spcPts val="51"/>
              </a:spcBef>
              <a:buNone/>
              <a:tabLst>
                <a:tab algn="l" pos="0"/>
              </a:tabLst>
            </a:pPr>
            <a:endParaRPr b="0" lang="fr-FR" sz="1200" spc="-1" strike="noStrike">
              <a:latin typeface="Arial"/>
            </a:endParaRPr>
          </a:p>
          <a:p>
            <a:pPr marL="358920" indent="1828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User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johndoe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543" name="object 9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8C55F95-70B4-47AB-9947-62ECF02C6015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Account?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Non-human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request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process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45" name="object 4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DFF1572-1127-4C2B-8E76-007CB584332C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546" name="object 3"/>
          <p:cNvSpPr/>
          <p:nvPr/>
        </p:nvSpPr>
        <p:spPr>
          <a:xfrm>
            <a:off x="600120" y="1360440"/>
            <a:ext cx="8398800" cy="332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Processes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running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outside of Kubernetes or processes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running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inside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container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 to interact with the Kubernetes API.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 Account allows 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authenticating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the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server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through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 authentication token.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Authorization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through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RBAC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assigned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Account.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assigne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explicitl</a:t>
            </a:r>
            <a:r>
              <a:rPr b="0" lang="fr-FR" sz="1600" spc="-120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use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600" spc="-62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Account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29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255"/>
              </a:spcBef>
              <a:buNone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Account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has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same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permissions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unauthenticated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user.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Example: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“I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have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CI/CD process 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retrieves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information by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making calls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API.”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Account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09" strike="noStrike">
                <a:solidFill>
                  <a:srgbClr val="000000"/>
                </a:solidFill>
                <a:latin typeface="Tahoma"/>
              </a:rPr>
              <a:t>as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Subject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assign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Account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name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548" name="object 3" descr=""/>
          <p:cNvPicPr/>
          <p:nvPr/>
        </p:nvPicPr>
        <p:blipFill>
          <a:blip r:embed="rId1"/>
          <a:stretch/>
        </p:blipFill>
        <p:spPr>
          <a:xfrm>
            <a:off x="479520" y="2743560"/>
            <a:ext cx="8025840" cy="869040"/>
          </a:xfrm>
          <a:prstGeom prst="rect">
            <a:avLst/>
          </a:prstGeom>
          <a:ln w="0">
            <a:noFill/>
          </a:ln>
        </p:spPr>
      </p:pic>
      <p:sp>
        <p:nvSpPr>
          <p:cNvPr id="1549" name="object 4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FB023FA-6728-4E2A-B77C-FF45BB8D92E7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Using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kubernetes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Convenient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way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get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server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endpoint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within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551" name="object 3"/>
          <p:cNvGrpSpPr/>
          <p:nvPr/>
        </p:nvGrpSpPr>
        <p:grpSpPr>
          <a:xfrm>
            <a:off x="478440" y="1375560"/>
            <a:ext cx="7698600" cy="2235960"/>
            <a:chOff x="478440" y="1375560"/>
            <a:chExt cx="7698600" cy="2235960"/>
          </a:xfrm>
        </p:grpSpPr>
        <p:pic>
          <p:nvPicPr>
            <p:cNvPr id="1552" name="object 4" descr=""/>
            <p:cNvPicPr/>
            <p:nvPr/>
          </p:nvPicPr>
          <p:blipFill>
            <a:blip r:embed="rId1"/>
            <a:stretch/>
          </p:blipFill>
          <p:spPr>
            <a:xfrm>
              <a:off x="478440" y="1375560"/>
              <a:ext cx="7698600" cy="22359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53" name="object 5"/>
            <p:cNvSpPr/>
            <p:nvPr/>
          </p:nvSpPr>
          <p:spPr>
            <a:xfrm>
              <a:off x="532080" y="1424160"/>
              <a:ext cx="7584840" cy="2121840"/>
            </a:xfrm>
            <a:custGeom>
              <a:avLst/>
              <a:gdLst/>
              <a:ahLst/>
              <a:rect l="l" t="t" r="r" b="b"/>
              <a:pathLst>
                <a:path w="7587615" h="2124710">
                  <a:moveTo>
                    <a:pt x="7586999" y="2124599"/>
                  </a:moveTo>
                  <a:lnTo>
                    <a:pt x="0" y="2124599"/>
                  </a:lnTo>
                  <a:lnTo>
                    <a:pt x="0" y="0"/>
                  </a:lnTo>
                  <a:lnTo>
                    <a:pt x="7586999" y="0"/>
                  </a:lnTo>
                  <a:lnTo>
                    <a:pt x="7586999" y="21245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54" name="object 6"/>
          <p:cNvSpPr/>
          <p:nvPr/>
        </p:nvSpPr>
        <p:spPr>
          <a:xfrm>
            <a:off x="695520" y="1561320"/>
            <a:ext cx="34362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kubernetes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55" name="object 7"/>
          <p:cNvSpPr/>
          <p:nvPr/>
        </p:nvSpPr>
        <p:spPr>
          <a:xfrm>
            <a:off x="695520" y="1771200"/>
            <a:ext cx="10893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kubernetes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56" name="object 8"/>
          <p:cNvSpPr/>
          <p:nvPr/>
        </p:nvSpPr>
        <p:spPr>
          <a:xfrm>
            <a:off x="2081880" y="1771200"/>
            <a:ext cx="23695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  <a:tabLst>
                <a:tab algn="l" pos="12924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TYPE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CLUSTER-IP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12924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ClusterIP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10.96.0.1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57" name="object 9"/>
          <p:cNvSpPr/>
          <p:nvPr/>
        </p:nvSpPr>
        <p:spPr>
          <a:xfrm>
            <a:off x="4748760" y="1771200"/>
            <a:ext cx="2903040" cy="85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  <a:tabLst>
                <a:tab algn="l" pos="1505520"/>
                <a:tab algn="l" pos="257256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EXTERNAL-I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P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PORT(S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)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1505520"/>
                <a:tab algn="l" pos="257256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&gt;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443/TC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P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13h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58" name="object 10"/>
          <p:cNvSpPr/>
          <p:nvPr/>
        </p:nvSpPr>
        <p:spPr>
          <a:xfrm>
            <a:off x="695520" y="2608560"/>
            <a:ext cx="715608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api-call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--image=alpine:3.16.2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--rm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500" spc="-1" strike="noStrike">
              <a:latin typeface="Arial"/>
            </a:endParaRPr>
          </a:p>
          <a:p>
            <a:pPr marL="226080">
              <a:lnSpc>
                <a:spcPct val="10000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--restart=Never</a:t>
            </a:r>
            <a:r>
              <a:rPr b="1" lang="fr-FR" sz="1400" spc="24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29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https://kubernetes.default.svc.cluster.local/</a:t>
            </a:r>
            <a:r>
              <a:rPr b="0" lang="fr-FR" sz="1500" spc="-12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1559" name="object 11"/>
          <p:cNvSpPr/>
          <p:nvPr/>
        </p:nvSpPr>
        <p:spPr>
          <a:xfrm>
            <a:off x="911880" y="3107160"/>
            <a:ext cx="2826720" cy="1850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9360">
              <a:lnSpc>
                <a:spcPts val="146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api/v1/namespaces/k97/pods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560" name="object 12"/>
          <p:cNvGrpSpPr/>
          <p:nvPr/>
        </p:nvGrpSpPr>
        <p:grpSpPr>
          <a:xfrm>
            <a:off x="653400" y="2017080"/>
            <a:ext cx="7027920" cy="1972800"/>
            <a:chOff x="653400" y="2017080"/>
            <a:chExt cx="7027920" cy="1972800"/>
          </a:xfrm>
        </p:grpSpPr>
        <p:sp>
          <p:nvSpPr>
            <p:cNvPr id="1561" name="object 13"/>
            <p:cNvSpPr/>
            <p:nvPr/>
          </p:nvSpPr>
          <p:spPr>
            <a:xfrm>
              <a:off x="653400" y="2017080"/>
              <a:ext cx="7027920" cy="1085040"/>
            </a:xfrm>
            <a:custGeom>
              <a:avLst/>
              <a:gdLst/>
              <a:ahLst/>
              <a:rect l="l" t="t" r="r" b="b"/>
              <a:pathLst>
                <a:path w="7030720" h="1087755">
                  <a:moveTo>
                    <a:pt x="3111602" y="874351"/>
                  </a:moveTo>
                  <a:lnTo>
                    <a:pt x="7030202" y="874351"/>
                  </a:lnTo>
                  <a:lnTo>
                    <a:pt x="7030202" y="1087351"/>
                  </a:lnTo>
                  <a:lnTo>
                    <a:pt x="3111602" y="1087351"/>
                  </a:lnTo>
                  <a:lnTo>
                    <a:pt x="3111602" y="874351"/>
                  </a:lnTo>
                  <a:close/>
                </a:path>
                <a:path w="7030720" h="1087755">
                  <a:moveTo>
                    <a:pt x="0" y="0"/>
                  </a:moveTo>
                  <a:lnTo>
                    <a:pt x="1185299" y="0"/>
                  </a:lnTo>
                  <a:lnTo>
                    <a:pt x="1185299" y="212999"/>
                  </a:lnTo>
                  <a:lnTo>
                    <a:pt x="0" y="212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62" name="object 14"/>
            <p:cNvSpPr/>
            <p:nvPr/>
          </p:nvSpPr>
          <p:spPr>
            <a:xfrm>
              <a:off x="1245960" y="2344320"/>
              <a:ext cx="4475880" cy="544320"/>
            </a:xfrm>
            <a:custGeom>
              <a:avLst/>
              <a:gdLst/>
              <a:ahLst/>
              <a:rect l="l" t="t" r="r" b="b"/>
              <a:pathLst>
                <a:path w="4478655" h="547369">
                  <a:moveTo>
                    <a:pt x="4478399" y="547199"/>
                  </a:moveTo>
                  <a:lnTo>
                    <a:pt x="4478399" y="140198"/>
                  </a:lnTo>
                  <a:lnTo>
                    <a:pt x="0" y="140198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563" name="object 15" descr=""/>
            <p:cNvPicPr/>
            <p:nvPr/>
          </p:nvPicPr>
          <p:blipFill>
            <a:blip r:embed="rId2"/>
            <a:stretch/>
          </p:blipFill>
          <p:spPr>
            <a:xfrm>
              <a:off x="1204920" y="2248560"/>
              <a:ext cx="7920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64" name="object 16"/>
            <p:cNvSpPr/>
            <p:nvPr/>
          </p:nvSpPr>
          <p:spPr>
            <a:xfrm>
              <a:off x="2314440" y="3509640"/>
              <a:ext cx="360" cy="480240"/>
            </a:xfrm>
            <a:custGeom>
              <a:avLst/>
              <a:gdLst/>
              <a:ahLst/>
              <a:rect l="l" t="t" r="r" b="b"/>
              <a:pathLst>
                <a:path w="0" h="483235">
                  <a:moveTo>
                    <a:pt x="0" y="4826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565" name="object 17" descr=""/>
            <p:cNvPicPr/>
            <p:nvPr/>
          </p:nvPicPr>
          <p:blipFill>
            <a:blip r:embed="rId3"/>
            <a:stretch/>
          </p:blipFill>
          <p:spPr>
            <a:xfrm>
              <a:off x="2273400" y="341352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566" name="object 18"/>
          <p:cNvSpPr/>
          <p:nvPr/>
        </p:nvSpPr>
        <p:spPr>
          <a:xfrm>
            <a:off x="1640160" y="4020840"/>
            <a:ext cx="195876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24120" algn="just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API endpoint for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listing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all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Pods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400" spc="-38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r>
              <a:rPr b="0" lang="fr-FR" sz="1400" spc="-6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k97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67" name="object 19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70A187B-F927-48CE-9BA7-9496D828C5C5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Account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manifest,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refer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Account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name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569" name="object 3"/>
          <p:cNvGrpSpPr/>
          <p:nvPr/>
        </p:nvGrpSpPr>
        <p:grpSpPr>
          <a:xfrm>
            <a:off x="478440" y="1375560"/>
            <a:ext cx="2538000" cy="1515960"/>
            <a:chOff x="478440" y="1375560"/>
            <a:chExt cx="2538000" cy="1515960"/>
          </a:xfrm>
        </p:grpSpPr>
        <p:pic>
          <p:nvPicPr>
            <p:cNvPr id="1570" name="object 4" descr=""/>
            <p:cNvPicPr/>
            <p:nvPr/>
          </p:nvPicPr>
          <p:blipFill>
            <a:blip r:embed="rId1"/>
            <a:stretch/>
          </p:blipFill>
          <p:spPr>
            <a:xfrm>
              <a:off x="478440" y="1375560"/>
              <a:ext cx="2538000" cy="15159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71" name="object 5"/>
            <p:cNvSpPr/>
            <p:nvPr/>
          </p:nvSpPr>
          <p:spPr>
            <a:xfrm>
              <a:off x="532080" y="1424160"/>
              <a:ext cx="2424240" cy="1401840"/>
            </a:xfrm>
            <a:custGeom>
              <a:avLst/>
              <a:gdLst/>
              <a:ahLst/>
              <a:rect l="l" t="t" r="r" b="b"/>
              <a:pathLst>
                <a:path w="2426970" h="1404620">
                  <a:moveTo>
                    <a:pt x="2426700" y="1404599"/>
                  </a:moveTo>
                  <a:lnTo>
                    <a:pt x="0" y="1404599"/>
                  </a:lnTo>
                  <a:lnTo>
                    <a:pt x="0" y="0"/>
                  </a:lnTo>
                  <a:lnTo>
                    <a:pt x="2426700" y="0"/>
                  </a:lnTo>
                  <a:lnTo>
                    <a:pt x="2426700" y="14045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72" name="object 6"/>
          <p:cNvSpPr/>
          <p:nvPr/>
        </p:nvSpPr>
        <p:spPr>
          <a:xfrm>
            <a:off x="727920" y="1562040"/>
            <a:ext cx="200376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ServiceAccount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73" name="object 7"/>
          <p:cNvSpPr/>
          <p:nvPr/>
        </p:nvSpPr>
        <p:spPr>
          <a:xfrm>
            <a:off x="887040" y="2187360"/>
            <a:ext cx="1296360" cy="1850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51480">
              <a:lnSpc>
                <a:spcPts val="1460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sa-api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74" name="object 8"/>
          <p:cNvSpPr/>
          <p:nvPr/>
        </p:nvSpPr>
        <p:spPr>
          <a:xfrm>
            <a:off x="925920" y="2361960"/>
            <a:ext cx="140940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namespace:</a:t>
            </a:r>
            <a:r>
              <a:rPr b="1" lang="fr-FR" sz="13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k97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575" name="object 9"/>
          <p:cNvGrpSpPr/>
          <p:nvPr/>
        </p:nvGrpSpPr>
        <p:grpSpPr>
          <a:xfrm>
            <a:off x="4159440" y="1375560"/>
            <a:ext cx="3256200" cy="1994400"/>
            <a:chOff x="4159440" y="1375560"/>
            <a:chExt cx="3256200" cy="1994400"/>
          </a:xfrm>
        </p:grpSpPr>
        <p:pic>
          <p:nvPicPr>
            <p:cNvPr id="1576" name="object 10" descr=""/>
            <p:cNvPicPr/>
            <p:nvPr/>
          </p:nvPicPr>
          <p:blipFill>
            <a:blip r:embed="rId2"/>
            <a:stretch/>
          </p:blipFill>
          <p:spPr>
            <a:xfrm>
              <a:off x="4159440" y="1375560"/>
              <a:ext cx="3256200" cy="1994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77" name="object 11"/>
            <p:cNvSpPr/>
            <p:nvPr/>
          </p:nvSpPr>
          <p:spPr>
            <a:xfrm>
              <a:off x="4213080" y="1424160"/>
              <a:ext cx="3142440" cy="1880640"/>
            </a:xfrm>
            <a:custGeom>
              <a:avLst/>
              <a:gdLst/>
              <a:ahLst/>
              <a:rect l="l" t="t" r="r" b="b"/>
              <a:pathLst>
                <a:path w="3145154" h="1883410">
                  <a:moveTo>
                    <a:pt x="3144899" y="1882799"/>
                  </a:moveTo>
                  <a:lnTo>
                    <a:pt x="0" y="1882799"/>
                  </a:lnTo>
                  <a:lnTo>
                    <a:pt x="0" y="0"/>
                  </a:lnTo>
                  <a:lnTo>
                    <a:pt x="3144899" y="0"/>
                  </a:lnTo>
                  <a:lnTo>
                    <a:pt x="3144899" y="1882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78" name="object 12"/>
          <p:cNvSpPr/>
          <p:nvPr/>
        </p:nvSpPr>
        <p:spPr>
          <a:xfrm>
            <a:off x="4364280" y="1508040"/>
            <a:ext cx="1702800" cy="12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list-pods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namespace: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k97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79" name="object 13"/>
          <p:cNvSpPr/>
          <p:nvPr/>
        </p:nvSpPr>
        <p:spPr>
          <a:xfrm>
            <a:off x="4528440" y="2743920"/>
            <a:ext cx="2669040" cy="1749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2480">
              <a:lnSpc>
                <a:spcPts val="1380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serviceAccountName: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sa-api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80" name="object 14"/>
          <p:cNvSpPr/>
          <p:nvPr/>
        </p:nvSpPr>
        <p:spPr>
          <a:xfrm>
            <a:off x="4562280" y="2908440"/>
            <a:ext cx="3196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581" name="object 15"/>
          <p:cNvGrpSpPr/>
          <p:nvPr/>
        </p:nvGrpSpPr>
        <p:grpSpPr>
          <a:xfrm>
            <a:off x="2322720" y="2283120"/>
            <a:ext cx="2058480" cy="610560"/>
            <a:chOff x="2322720" y="2283120"/>
            <a:chExt cx="2058480" cy="610560"/>
          </a:xfrm>
        </p:grpSpPr>
        <p:sp>
          <p:nvSpPr>
            <p:cNvPr id="1582" name="object 16"/>
            <p:cNvSpPr/>
            <p:nvPr/>
          </p:nvSpPr>
          <p:spPr>
            <a:xfrm>
              <a:off x="2322720" y="2283120"/>
              <a:ext cx="1963080" cy="569880"/>
            </a:xfrm>
            <a:custGeom>
              <a:avLst/>
              <a:gdLst/>
              <a:ahLst/>
              <a:rect l="l" t="t" r="r" b="b"/>
              <a:pathLst>
                <a:path w="1965960" h="572769">
                  <a:moveTo>
                    <a:pt x="0" y="0"/>
                  </a:moveTo>
                  <a:lnTo>
                    <a:pt x="1039949" y="0"/>
                  </a:lnTo>
                  <a:lnTo>
                    <a:pt x="1039949" y="572399"/>
                  </a:lnTo>
                  <a:lnTo>
                    <a:pt x="1965599" y="5723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583" name="object 17" descr=""/>
            <p:cNvPicPr/>
            <p:nvPr/>
          </p:nvPicPr>
          <p:blipFill>
            <a:blip r:embed="rId3"/>
            <a:stretch/>
          </p:blipFill>
          <p:spPr>
            <a:xfrm>
              <a:off x="4278600" y="281448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584" name="object 18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59EBFCF-D8A6-4C90-A409-DEB37BE908A0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648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Accessing</a:t>
            </a:r>
            <a:r>
              <a:rPr b="1" lang="fr-FR" sz="2400" spc="-126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26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Account</a:t>
            </a:r>
            <a:r>
              <a:rPr b="1" lang="fr-FR" sz="2400" spc="-126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Authentication</a:t>
            </a:r>
            <a:r>
              <a:rPr b="1" lang="fr-FR" sz="2400" spc="-126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Token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Automounted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at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specific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Volume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mount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path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86" name="object 6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E524909-6CCF-4350-B0C0-6E16AB7730AB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587" name="" descr=""/>
          <p:cNvPicPr/>
          <p:nvPr/>
        </p:nvPicPr>
        <p:blipFill>
          <a:blip r:embed="rId1"/>
          <a:stretch/>
        </p:blipFill>
        <p:spPr>
          <a:xfrm>
            <a:off x="494280" y="1249560"/>
            <a:ext cx="6987240" cy="3609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Using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Account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Enables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authentication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token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auto-mounting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default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89" name="object 17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B4FB3B5-FC86-45E3-A906-4403CA07C314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590" name="" descr=""/>
          <p:cNvPicPr/>
          <p:nvPr/>
        </p:nvPicPr>
        <p:blipFill>
          <a:blip r:embed="rId1"/>
          <a:stretch/>
        </p:blipFill>
        <p:spPr>
          <a:xfrm>
            <a:off x="540000" y="1440000"/>
            <a:ext cx="8278920" cy="2679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RoleBinding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Default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RBAC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policies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don’t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span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beyond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kube-system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592" name="object 3"/>
          <p:cNvGrpSpPr/>
          <p:nvPr/>
        </p:nvGrpSpPr>
        <p:grpSpPr>
          <a:xfrm>
            <a:off x="478440" y="1330920"/>
            <a:ext cx="4189680" cy="2826360"/>
            <a:chOff x="478440" y="1330920"/>
            <a:chExt cx="4189680" cy="2826360"/>
          </a:xfrm>
        </p:grpSpPr>
        <p:pic>
          <p:nvPicPr>
            <p:cNvPr id="1593" name="object 4" descr=""/>
            <p:cNvPicPr/>
            <p:nvPr/>
          </p:nvPicPr>
          <p:blipFill>
            <a:blip r:embed="rId1"/>
            <a:stretch/>
          </p:blipFill>
          <p:spPr>
            <a:xfrm>
              <a:off x="478440" y="1330920"/>
              <a:ext cx="4189680" cy="28263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94" name="object 5"/>
            <p:cNvSpPr/>
            <p:nvPr/>
          </p:nvSpPr>
          <p:spPr>
            <a:xfrm>
              <a:off x="532080" y="1379160"/>
              <a:ext cx="4075560" cy="2712240"/>
            </a:xfrm>
            <a:custGeom>
              <a:avLst/>
              <a:gdLst/>
              <a:ahLst/>
              <a:rect l="l" t="t" r="r" b="b"/>
              <a:pathLst>
                <a:path w="4078604" h="2715260">
                  <a:moveTo>
                    <a:pt x="4078199" y="2715000"/>
                  </a:moveTo>
                  <a:lnTo>
                    <a:pt x="0" y="2715000"/>
                  </a:lnTo>
                  <a:lnTo>
                    <a:pt x="0" y="0"/>
                  </a:lnTo>
                  <a:lnTo>
                    <a:pt x="4078199" y="0"/>
                  </a:lnTo>
                  <a:lnTo>
                    <a:pt x="4078199" y="2715000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95" name="object 6"/>
          <p:cNvSpPr/>
          <p:nvPr/>
        </p:nvSpPr>
        <p:spPr>
          <a:xfrm>
            <a:off x="727920" y="1517760"/>
            <a:ext cx="3680640" cy="20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2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rbac.authorization.k8s.io/v1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RoleBinding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serviceaccount-pod-rolebinding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namespace: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k97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roleRef: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apiGroup: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ClusterRole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list-pods-clusterrole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subjects: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apiGroup:</a:t>
            </a:r>
            <a:r>
              <a:rPr b="1" lang="fr-FR" sz="1200" spc="-3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596" name="object 7"/>
          <p:cNvSpPr/>
          <p:nvPr/>
        </p:nvSpPr>
        <p:spPr>
          <a:xfrm>
            <a:off x="894240" y="3531240"/>
            <a:ext cx="1901520" cy="1724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8440">
              <a:lnSpc>
                <a:spcPts val="1361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ServiceAccount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597" name="object 8"/>
          <p:cNvSpPr/>
          <p:nvPr/>
        </p:nvSpPr>
        <p:spPr>
          <a:xfrm>
            <a:off x="910800" y="3689280"/>
            <a:ext cx="11203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sa-api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1598" name="object 9"/>
          <p:cNvGrpSpPr/>
          <p:nvPr/>
        </p:nvGrpSpPr>
        <p:grpSpPr>
          <a:xfrm>
            <a:off x="2961720" y="3128040"/>
            <a:ext cx="3297600" cy="563760"/>
            <a:chOff x="2961720" y="3128040"/>
            <a:chExt cx="3297600" cy="563760"/>
          </a:xfrm>
        </p:grpSpPr>
        <p:sp>
          <p:nvSpPr>
            <p:cNvPr id="1599" name="object 10"/>
            <p:cNvSpPr/>
            <p:nvPr/>
          </p:nvSpPr>
          <p:spPr>
            <a:xfrm>
              <a:off x="3057840" y="3128040"/>
              <a:ext cx="3201480" cy="523080"/>
            </a:xfrm>
            <a:custGeom>
              <a:avLst/>
              <a:gdLst/>
              <a:ahLst/>
              <a:rect l="l" t="t" r="r" b="b"/>
              <a:pathLst>
                <a:path w="3204210" h="525779">
                  <a:moveTo>
                    <a:pt x="3203699" y="0"/>
                  </a:moveTo>
                  <a:lnTo>
                    <a:pt x="3203699" y="525299"/>
                  </a:lnTo>
                  <a:lnTo>
                    <a:pt x="0" y="5252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600" name="object 11" descr=""/>
            <p:cNvPicPr/>
            <p:nvPr/>
          </p:nvPicPr>
          <p:blipFill>
            <a:blip r:embed="rId2"/>
            <a:stretch/>
          </p:blipFill>
          <p:spPr>
            <a:xfrm>
              <a:off x="2961720" y="361260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601" name="object 12"/>
          <p:cNvSpPr/>
          <p:nvPr/>
        </p:nvSpPr>
        <p:spPr>
          <a:xfrm>
            <a:off x="5562360" y="2410920"/>
            <a:ext cx="163656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algn="ctr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Maps</a:t>
            </a:r>
            <a:r>
              <a:rPr b="0" lang="fr-FR" sz="1400" spc="-5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 </a:t>
            </a:r>
            <a:r>
              <a:rPr b="0" lang="fr-FR" sz="1400" spc="-3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Account as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 subject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602" name="object 13"/>
          <p:cNvSpPr/>
          <p:nvPr/>
        </p:nvSpPr>
        <p:spPr>
          <a:xfrm>
            <a:off x="8701560" y="4908600"/>
            <a:ext cx="261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DB55B81-3EB6-436A-B2C6-AF9B84E19336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3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14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604" name="object 3"/>
          <p:cNvSpPr/>
          <p:nvPr/>
        </p:nvSpPr>
        <p:spPr>
          <a:xfrm>
            <a:off x="494280" y="1323360"/>
            <a:ext cx="454464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Regulating</a:t>
            </a:r>
            <a:r>
              <a:rPr b="0" lang="fr-FR" sz="2900" spc="-19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Access</a:t>
            </a:r>
            <a:r>
              <a:rPr b="0" lang="fr-FR" sz="29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2900" spc="-1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API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Resources</a:t>
            </a:r>
            <a:r>
              <a:rPr b="0" lang="fr-FR" sz="29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29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RBAC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5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1606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607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608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7784640" cy="138204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12" strike="noStrike">
                <a:solidFill>
                  <a:srgbClr val="ffffff"/>
                </a:solidFill>
                <a:latin typeface="Tahoma"/>
              </a:rPr>
              <a:t>Resource</a:t>
            </a:r>
            <a:r>
              <a:rPr b="1" lang="fr-FR" sz="3600" spc="-22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58" strike="noStrike">
                <a:solidFill>
                  <a:srgbClr val="ffffff"/>
                </a:solidFill>
                <a:latin typeface="Tahoma"/>
              </a:rPr>
              <a:t>Management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24" strike="noStrike">
                <a:solidFill>
                  <a:srgbClr val="ffffff"/>
                </a:solidFill>
                <a:latin typeface="Lucida Sans Unicode"/>
              </a:rPr>
              <a:t>Resource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2" strike="noStrike">
                <a:solidFill>
                  <a:srgbClr val="ffffff"/>
                </a:solidFill>
                <a:latin typeface="Lucida Sans Unicode"/>
              </a:rPr>
              <a:t>requests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9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41" strike="noStrike">
                <a:solidFill>
                  <a:srgbClr val="ffffff"/>
                </a:solidFill>
                <a:latin typeface="Lucida Sans Unicode"/>
              </a:rPr>
              <a:t>limits,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4" strike="noStrike">
                <a:solidFill>
                  <a:srgbClr val="ffffff"/>
                </a:solidFill>
                <a:latin typeface="Lucida Sans Unicode"/>
              </a:rPr>
              <a:t>resource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4" strike="noStrike">
                <a:solidFill>
                  <a:srgbClr val="ffffff"/>
                </a:solidFill>
                <a:latin typeface="Lucida Sans Unicode"/>
              </a:rPr>
              <a:t>quotas,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21" strike="noStrike">
                <a:solidFill>
                  <a:srgbClr val="ffffff"/>
                </a:solidFill>
                <a:latin typeface="Lucida Sans Unicode"/>
              </a:rPr>
              <a:t>limit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49" strike="noStrike">
                <a:solidFill>
                  <a:srgbClr val="ffffff"/>
                </a:solidFill>
                <a:latin typeface="Lucida Sans Unicode"/>
              </a:rPr>
              <a:t>ranges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PlaceHolder 1"/>
          <p:cNvSpPr>
            <a:spLocks noGrp="1"/>
          </p:cNvSpPr>
          <p:nvPr>
            <p:ph type="title"/>
          </p:nvPr>
        </p:nvSpPr>
        <p:spPr>
          <a:xfrm>
            <a:off x="386280" y="342720"/>
            <a:ext cx="886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Managnig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Resources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Objects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83" strike="noStrike">
                <a:solidFill>
                  <a:srgbClr val="000000"/>
                </a:solidFill>
                <a:latin typeface="Tahoma"/>
              </a:rPr>
              <a:t>Namespaces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55" strike="noStrike">
                <a:solidFill>
                  <a:srgbClr val="666666"/>
                </a:solidFill>
                <a:latin typeface="Lucida Sans Unicode"/>
              </a:rPr>
              <a:t>It’s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best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practice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make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statement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about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consumption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10" name="object 4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1129055-579A-417D-A739-C37A0C73E36A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611" name="object 3"/>
          <p:cNvSpPr/>
          <p:nvPr/>
        </p:nvSpPr>
        <p:spPr>
          <a:xfrm>
            <a:off x="600120" y="1360440"/>
            <a:ext cx="8398800" cy="33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minimum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amount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needed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application, as well as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maximum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amount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application is allowed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 developers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should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determine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right-sizing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load tests or 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monitoring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consumption.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Enforcement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constrained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namespace-level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255"/>
              </a:spcBef>
              <a:buNone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ResourceQuota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LimitRange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policy 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constrains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defaults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allocations 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single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(e.g.,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or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PersistentVolumeClaim).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Units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Kubernetes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CPU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units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memory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3" strike="noStrike">
                <a:solidFill>
                  <a:srgbClr val="666666"/>
                </a:solidFill>
                <a:latin typeface="Lucida Sans Unicode"/>
              </a:rPr>
              <a:t>as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fixed-point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number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power-of-two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equivalents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13" name="object 4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816EFF8-5809-42AE-AA3C-30A7E784B10B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614" name="object 3"/>
          <p:cNvSpPr/>
          <p:nvPr/>
        </p:nvSpPr>
        <p:spPr>
          <a:xfrm>
            <a:off x="600120" y="1360440"/>
            <a:ext cx="8038800" cy="13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measures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CPU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millicores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memory 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bytes. </a:t>
            </a:r>
            <a:r>
              <a:rPr b="0" lang="fr-FR" sz="1600" spc="-4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That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’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might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define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600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m</a:t>
            </a:r>
            <a:r>
              <a:rPr b="0" lang="fr-FR" sz="1600" spc="-58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100Mi</a:t>
            </a:r>
            <a:r>
              <a:rPr b="0" lang="fr-FR" sz="1600" spc="-92" strike="noStrike">
                <a:solidFill>
                  <a:srgbClr val="000000"/>
                </a:solidFill>
                <a:latin typeface="Courier New"/>
                <a:ea typeface="DejaVu Sans"/>
              </a:rPr>
              <a:t>b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deep dive on those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units,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it’s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worth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cross-referencing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section </a:t>
            </a:r>
            <a:r>
              <a:rPr b="0" lang="fr-FR" sz="1600" spc="-432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“Resource</a:t>
            </a:r>
            <a:r>
              <a:rPr b="0" lang="fr-FR" sz="1600" spc="-1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3"/>
              </a:rPr>
              <a:t>units in Kubernetes”</a:t>
            </a:r>
            <a:r>
              <a:rPr b="0" lang="fr-FR" sz="1600" spc="-1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4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the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official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documentation.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Requests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effects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16" name="object 4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7F0528D-9AEF-4444-BE8F-A5FF38E9CB24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617" name="object 3"/>
          <p:cNvSpPr/>
          <p:nvPr/>
        </p:nvSpPr>
        <p:spPr>
          <a:xfrm>
            <a:off x="600120" y="1360440"/>
            <a:ext cx="8218800" cy="22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minimum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amount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needed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via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spec.containers[].resources.requests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types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include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CPU,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memory,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huge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page,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ephemeral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storage.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 Pod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cannot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scheduled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 any node due to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insufficient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availability,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PodExceedsFreeCP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U</a:t>
            </a:r>
            <a:r>
              <a:rPr b="0" lang="fr-FR" sz="16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PodExceedsFreeMemor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600" spc="-81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status.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Example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Scheduling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Scenario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Node’s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capacity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needs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55" strike="noStrike">
                <a:solidFill>
                  <a:srgbClr val="666666"/>
                </a:solidFill>
                <a:latin typeface="Lucida Sans Unicode"/>
              </a:rPr>
              <a:t>fulfill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it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619" name="object 3" descr=""/>
          <p:cNvPicPr/>
          <p:nvPr/>
        </p:nvPicPr>
        <p:blipFill>
          <a:blip r:embed="rId1"/>
          <a:stretch/>
        </p:blipFill>
        <p:spPr>
          <a:xfrm>
            <a:off x="2143800" y="1573920"/>
            <a:ext cx="4766040" cy="3054600"/>
          </a:xfrm>
          <a:prstGeom prst="rect">
            <a:avLst/>
          </a:prstGeom>
          <a:ln w="0">
            <a:noFill/>
          </a:ln>
        </p:spPr>
      </p:pic>
      <p:sp>
        <p:nvSpPr>
          <p:cNvPr id="1620" name="object 4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5AB4FD6-AA78-4F69-A589-393750EE9A5C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Requests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Options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example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values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22" name="object 6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49E2408-7F63-4336-B33D-63AF12BA93AB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623" name="" descr=""/>
          <p:cNvPicPr/>
          <p:nvPr/>
        </p:nvPicPr>
        <p:blipFill>
          <a:blip r:embed="rId1"/>
          <a:stretch/>
        </p:blipFill>
        <p:spPr>
          <a:xfrm>
            <a:off x="494280" y="1293120"/>
            <a:ext cx="8098920" cy="2845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Requests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Minimum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amount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resources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defined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25" name="object 6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93F7146-EAF9-42DC-924F-F20FD1724AEA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626" name="" descr=""/>
          <p:cNvPicPr/>
          <p:nvPr/>
        </p:nvPicPr>
        <p:blipFill>
          <a:blip r:embed="rId1"/>
          <a:stretch/>
        </p:blipFill>
        <p:spPr>
          <a:xfrm>
            <a:off x="540000" y="1309680"/>
            <a:ext cx="5398920" cy="3430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Limits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effects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28" name="object 4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6708068-54B2-4E8A-A0B6-88EC482ACAE3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629" name="object 3"/>
          <p:cNvSpPr/>
          <p:nvPr/>
        </p:nvSpPr>
        <p:spPr>
          <a:xfrm>
            <a:off x="600120" y="1360440"/>
            <a:ext cx="8218800" cy="19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maximum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amount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allowed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via </a:t>
            </a: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spec.containers[].resources.limits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types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include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CPU,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memory,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huge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page,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ephemeral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storage.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decides how to handle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situation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where application exceeds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allocated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capacity,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e.g. termination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application process.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Limits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Options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example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values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31" name="object 6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489BC7C-E526-4C07-9EDC-32E550CC2B14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632" name="" descr=""/>
          <p:cNvPicPr/>
          <p:nvPr/>
        </p:nvPicPr>
        <p:blipFill>
          <a:blip r:embed="rId1"/>
          <a:stretch/>
        </p:blipFill>
        <p:spPr>
          <a:xfrm>
            <a:off x="494280" y="1315080"/>
            <a:ext cx="8098920" cy="28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Limits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Do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allow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more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than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allotted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amounts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34" name="object 6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524A210-9424-4E59-B899-4961376F9875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635" name="" descr=""/>
          <p:cNvPicPr/>
          <p:nvPr/>
        </p:nvPicPr>
        <p:blipFill>
          <a:blip r:embed="rId1"/>
          <a:stretch/>
        </p:blipFill>
        <p:spPr>
          <a:xfrm>
            <a:off x="540000" y="1255680"/>
            <a:ext cx="5287320" cy="3351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Scheduling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Details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After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scheduling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Pod,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check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information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37" name="object 4"/>
          <p:cNvSpPr/>
          <p:nvPr/>
        </p:nvSpPr>
        <p:spPr>
          <a:xfrm>
            <a:off x="521280" y="1425600"/>
            <a:ext cx="7937640" cy="18032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520" bIns="0" anchor="t">
            <a:spAutoFit/>
          </a:bodyPr>
          <a:p>
            <a:pPr>
              <a:lnSpc>
                <a:spcPct val="100000"/>
              </a:lnSpc>
              <a:spcBef>
                <a:spcPts val="20"/>
              </a:spcBef>
              <a:buNone/>
            </a:pPr>
            <a:endParaRPr b="0" lang="fr-FR" sz="1050" spc="-1" strike="noStrike">
              <a:latin typeface="Arial"/>
            </a:endParaRPr>
          </a:p>
          <a:p>
            <a:pPr marL="165600">
              <a:lnSpc>
                <a:spcPts val="1434"/>
              </a:lnSpc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rate-limiter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-o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yaml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|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grep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nodeName:</a:t>
            </a:r>
            <a:endParaRPr b="0" lang="fr-FR" sz="1200" spc="-1" strike="noStrike">
              <a:latin typeface="Arial"/>
            </a:endParaRPr>
          </a:p>
          <a:p>
            <a:pPr marL="34848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nodeName: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worker-3</a:t>
            </a:r>
            <a:endParaRPr b="0" lang="fr-FR" sz="1200" spc="-1" strike="noStrike">
              <a:latin typeface="Arial"/>
            </a:endParaRPr>
          </a:p>
          <a:p>
            <a:pPr marL="348480">
              <a:lnSpc>
                <a:spcPct val="100000"/>
              </a:lnSpc>
              <a:spcBef>
                <a:spcPts val="51"/>
              </a:spcBef>
              <a:buNone/>
            </a:pPr>
            <a:endParaRPr b="0" lang="fr-FR" sz="1200" spc="-1" strike="noStrike">
              <a:latin typeface="Arial"/>
            </a:endParaRPr>
          </a:p>
          <a:p>
            <a:pPr marL="165600">
              <a:lnSpc>
                <a:spcPts val="1429"/>
              </a:lnSpc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node</a:t>
            </a:r>
            <a:r>
              <a:rPr b="1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worker-3</a:t>
            </a:r>
            <a:endParaRPr b="0" lang="fr-FR" sz="1200" spc="-1" strike="noStrike">
              <a:latin typeface="Arial"/>
            </a:endParaRPr>
          </a:p>
          <a:p>
            <a:pPr marL="165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  <a:p>
            <a:pPr marL="165600">
              <a:lnSpc>
                <a:spcPts val="1426"/>
              </a:lnSpc>
              <a:buNone/>
              <a:tabLst>
                <a:tab algn="l" pos="290844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Non-terminated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Pods: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(3</a:t>
            </a:r>
            <a:r>
              <a:rPr b="0" lang="fr-FR" sz="12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in</a:t>
            </a:r>
            <a:r>
              <a:rPr b="0" lang="fr-FR" sz="12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total)</a:t>
            </a:r>
            <a:endParaRPr b="0" lang="fr-FR" sz="1200" spc="-1" strike="noStrike">
              <a:latin typeface="Arial"/>
            </a:endParaRPr>
          </a:p>
          <a:p>
            <a:pPr marL="348480">
              <a:lnSpc>
                <a:spcPts val="1426"/>
              </a:lnSpc>
              <a:buNone/>
              <a:tabLst>
                <a:tab algn="l" pos="2908800"/>
                <a:tab algn="l" pos="4737600"/>
                <a:tab algn="l" pos="6017400"/>
                <a:tab algn="l" pos="71146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CPU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CPU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Limits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  <a:p>
            <a:pPr marL="348480">
              <a:lnSpc>
                <a:spcPts val="1426"/>
              </a:lnSpc>
              <a:buNone/>
              <a:tabLst>
                <a:tab algn="l" pos="2908800"/>
                <a:tab algn="l" pos="4737600"/>
                <a:tab algn="l" pos="6017400"/>
                <a:tab algn="l" pos="71146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---------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------------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----------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  <a:p>
            <a:pPr marL="348480">
              <a:lnSpc>
                <a:spcPts val="1434"/>
              </a:lnSpc>
              <a:buNone/>
              <a:tabLst>
                <a:tab algn="l" pos="2908800"/>
                <a:tab algn="l" pos="4737240"/>
                <a:tab algn="l" pos="6017400"/>
                <a:tab algn="l" pos="71146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rate-limiter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1250m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(62%)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 (0%)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638" name="object 5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15624E3-3249-47D4-BA27-8F014DDD310B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PlaceHolder 1"/>
          <p:cNvSpPr>
            <a:spLocks noGrp="1"/>
          </p:cNvSpPr>
          <p:nvPr>
            <p:ph type="title"/>
          </p:nvPr>
        </p:nvSpPr>
        <p:spPr>
          <a:xfrm>
            <a:off x="314280" y="342720"/>
            <a:ext cx="904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Requests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/Limits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It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considered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best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practice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define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requests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i="1" lang="fr-FR" sz="1600" spc="49" strike="noStrike">
                <a:solidFill>
                  <a:srgbClr val="666666"/>
                </a:solidFill>
                <a:latin typeface="Verdana"/>
              </a:rPr>
              <a:t>and</a:t>
            </a:r>
            <a:r>
              <a:rPr b="0" i="1" lang="fr-FR" sz="1600" spc="-137" strike="noStrike">
                <a:solidFill>
                  <a:srgbClr val="666666"/>
                </a:solidFill>
                <a:latin typeface="Verdana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limits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every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40" name="object 6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FDB9E4C-A14E-4B87-A9FE-4FE5410CF455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641" name="" descr=""/>
          <p:cNvPicPr/>
          <p:nvPr/>
        </p:nvPicPr>
        <p:blipFill>
          <a:blip r:embed="rId1"/>
          <a:stretch/>
        </p:blipFill>
        <p:spPr>
          <a:xfrm>
            <a:off x="469800" y="1260000"/>
            <a:ext cx="2949120" cy="2749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ResourceQuota?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constraints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namespace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43" name="object 4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E2B9BD7-CA0C-4C4E-A5C0-829CFB90B534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644" name="object 3"/>
          <p:cNvSpPr/>
          <p:nvPr/>
        </p:nvSpPr>
        <p:spPr>
          <a:xfrm>
            <a:off x="600120" y="1360440"/>
            <a:ext cx="8038800" cy="22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Constraints that limit aggregate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consumption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limit the quantity of objects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(e.g.,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number of Pods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Secrets) 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requests.cp</a:t>
            </a:r>
            <a:r>
              <a:rPr b="0" lang="fr-FR" sz="1600" spc="-182" strike="noStrike">
                <a:solidFill>
                  <a:srgbClr val="000000"/>
                </a:solidFill>
                <a:latin typeface="Courier New"/>
                <a:ea typeface="DejaVu Sans"/>
              </a:rPr>
              <a:t>u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/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requests.memor</a:t>
            </a:r>
            <a:r>
              <a:rPr b="0" lang="fr-FR" sz="1600" spc="-225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: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Acros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pod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non-termina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state,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 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sum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CPU/memory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cannot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exceed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value.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limits.cp</a:t>
            </a:r>
            <a:r>
              <a:rPr b="0" lang="fr-FR" sz="1600" spc="-151" strike="noStrike">
                <a:solidFill>
                  <a:srgbClr val="000000"/>
                </a:solidFill>
                <a:latin typeface="Courier New"/>
                <a:ea typeface="DejaVu Sans"/>
              </a:rPr>
              <a:t>u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/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limits.memor</a:t>
            </a:r>
            <a:r>
              <a:rPr b="0" lang="fr-FR" sz="1600" spc="-197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: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Acros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pod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non-termina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state,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sum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of  CPU/memory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limits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cannot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exceed this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value.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ResourceQ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uota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Limits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07" strike="noStrike">
                <a:solidFill>
                  <a:srgbClr val="666666"/>
                </a:solidFill>
                <a:latin typeface="Lucida Sans Unicode"/>
              </a:rPr>
              <a:t>#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aggregate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consumption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46" name="object 6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2218F94-054B-4687-AFCF-18FCBDAE342F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647" name="" descr=""/>
          <p:cNvPicPr/>
          <p:nvPr/>
        </p:nvPicPr>
        <p:blipFill>
          <a:blip r:embed="rId1"/>
          <a:stretch/>
        </p:blipFill>
        <p:spPr>
          <a:xfrm>
            <a:off x="540000" y="1440000"/>
            <a:ext cx="3628080" cy="3129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No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Requests/Limits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Definition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Scheduler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rejects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creation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49" name="object 4"/>
          <p:cNvSpPr/>
          <p:nvPr/>
        </p:nvSpPr>
        <p:spPr>
          <a:xfrm>
            <a:off x="521280" y="1425600"/>
            <a:ext cx="7772040" cy="10026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 algn="just">
              <a:lnSpc>
                <a:spcPts val="1664"/>
              </a:lnSpc>
              <a:spcBef>
                <a:spcPts val="121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nginx-pod.yaml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team-awesome</a:t>
            </a:r>
            <a:endParaRPr b="0" lang="fr-FR" sz="1400" spc="-1" strike="noStrike">
              <a:latin typeface="Arial"/>
            </a:endParaRPr>
          </a:p>
          <a:p>
            <a:pPr marL="165600" algn="just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 from server (Forbidden): error when creating "nginx-pod.yaml":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 "nginx" is forbidden: failed quota: awesome-quota: must specify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limits.cpu,limits.memory,requests.cpu,requests.memory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650" name="object 5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840E0AD-4DA4-4109-8EBC-D64EB28652B8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Exceeds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Requests/Limits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Definition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Scheduler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rejects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creation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52" name="object 4"/>
          <p:cNvSpPr/>
          <p:nvPr/>
        </p:nvSpPr>
        <p:spPr>
          <a:xfrm>
            <a:off x="521280" y="1425600"/>
            <a:ext cx="7772040" cy="14216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>
              <a:lnSpc>
                <a:spcPts val="1664"/>
              </a:lnSpc>
              <a:spcBef>
                <a:spcPts val="121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nginx-pod.yaml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team-awesome</a:t>
            </a:r>
            <a:endParaRPr b="0" lang="fr-FR" sz="1400" spc="-1" strike="noStrike">
              <a:latin typeface="Arial"/>
            </a:endParaRPr>
          </a:p>
          <a:p>
            <a:pPr marL="165600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from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server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(Forbidden):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when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creating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"nginx-pod.yaml":</a:t>
            </a:r>
            <a:r>
              <a:rPr b="0" lang="fr-FR" sz="1400" spc="1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"nginx"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is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forbidden: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exceeded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quota: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awesome-quota,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requested:</a:t>
            </a:r>
            <a:r>
              <a:rPr b="0" lang="fr-FR" sz="1400" spc="1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pods=1,requests.cpu=500m,requests.memory=512Mi,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used: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pods=2,</a:t>
            </a:r>
            <a:r>
              <a:rPr b="0" lang="fr-FR" sz="1400" spc="63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requests.cpu=1,requests.memory=1024Mi, limited: pods=2,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requests.cpu=1,requests.memory=1024Mi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653" name="object 5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A8FA2FD-E9AB-4E6F-B538-9FE69B692DB5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ResourceQuota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Renders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consumed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resources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defined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hard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limits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655" name="object 3"/>
          <p:cNvGrpSpPr/>
          <p:nvPr/>
        </p:nvGrpSpPr>
        <p:grpSpPr>
          <a:xfrm>
            <a:off x="467640" y="1377000"/>
            <a:ext cx="7172640" cy="2652120"/>
            <a:chOff x="467640" y="1377000"/>
            <a:chExt cx="7172640" cy="2652120"/>
          </a:xfrm>
        </p:grpSpPr>
        <p:pic>
          <p:nvPicPr>
            <p:cNvPr id="1656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7172640" cy="2652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57" name="object 5"/>
            <p:cNvSpPr/>
            <p:nvPr/>
          </p:nvSpPr>
          <p:spPr>
            <a:xfrm>
              <a:off x="521280" y="1425600"/>
              <a:ext cx="7058160" cy="2538360"/>
            </a:xfrm>
            <a:custGeom>
              <a:avLst/>
              <a:gdLst/>
              <a:ahLst/>
              <a:rect l="l" t="t" r="r" b="b"/>
              <a:pathLst>
                <a:path w="7061200" h="2541270">
                  <a:moveTo>
                    <a:pt x="7061099" y="2540699"/>
                  </a:moveTo>
                  <a:lnTo>
                    <a:pt x="0" y="2540699"/>
                  </a:lnTo>
                  <a:lnTo>
                    <a:pt x="0" y="0"/>
                  </a:lnTo>
                  <a:lnTo>
                    <a:pt x="7061099" y="0"/>
                  </a:lnTo>
                  <a:lnTo>
                    <a:pt x="7061099" y="2540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658" name="object 6"/>
          <p:cNvSpPr/>
          <p:nvPr/>
        </p:nvSpPr>
        <p:spPr>
          <a:xfrm>
            <a:off x="687600" y="1567800"/>
            <a:ext cx="66232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resourcequota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awesome-quota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team-awesome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659" name="object 9"/>
          <p:cNvSpPr/>
          <p:nvPr/>
        </p:nvSpPr>
        <p:spPr>
          <a:xfrm>
            <a:off x="8701560" y="4908600"/>
            <a:ext cx="259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2AAA94F-CB34-4087-969C-926ED16C93EE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660" name="object 7"/>
          <p:cNvSpPr/>
          <p:nvPr/>
        </p:nvSpPr>
        <p:spPr>
          <a:xfrm>
            <a:off x="2500920" y="1777320"/>
            <a:ext cx="139716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awesome-quota  team-awesome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661" name="object 8"/>
          <p:cNvSpPr/>
          <p:nvPr/>
        </p:nvSpPr>
        <p:spPr>
          <a:xfrm>
            <a:off x="687600" y="1777320"/>
            <a:ext cx="3103560" cy="19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Name: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Namespace: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  <a:tabLst>
                <a:tab algn="l" pos="1812960"/>
                <a:tab algn="l" pos="25596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Resource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Used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Hard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  <a:tabLst>
                <a:tab algn="l" pos="1812960"/>
                <a:tab algn="l" pos="25596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--------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spcBef>
                <a:spcPts val="65"/>
              </a:spcBef>
              <a:buNone/>
              <a:tabLst>
                <a:tab algn="l" pos="1812960"/>
                <a:tab algn="l" pos="25596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limits.cpu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2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4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limits.memor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2048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m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4096m pods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2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2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  <a:tabLst>
                <a:tab algn="l" pos="1812960"/>
                <a:tab algn="l" pos="25596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requests.cpu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requests.memor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1024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m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1024m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LimitRange?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Constraints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defaults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allocations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type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63" name="object 4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C8F846B-7CF0-486B-9F4B-B1018ADF286F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664" name="object 3"/>
          <p:cNvSpPr/>
          <p:nvPr/>
        </p:nvSpPr>
        <p:spPr>
          <a:xfrm>
            <a:off x="600120" y="1360440"/>
            <a:ext cx="8218800" cy="28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Enforces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minimum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maximum compute 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usage per Pod 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Enforces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minimum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maximum storage request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PersistentVolumeClaim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Enforces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ratio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between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limit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Set default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requests/limits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compute 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 and automatically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injects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them into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LimitRange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Sets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defaults,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minimum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maximum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CPU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allocation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containers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66" name="object 20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ECC9636-41FB-4266-98A1-5CF5F8CACB70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667" name="" descr=""/>
          <p:cNvPicPr/>
          <p:nvPr/>
        </p:nvPicPr>
        <p:blipFill>
          <a:blip r:embed="rId1"/>
          <a:stretch/>
        </p:blipFill>
        <p:spPr>
          <a:xfrm>
            <a:off x="494280" y="1114560"/>
            <a:ext cx="6982560" cy="3744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Automatically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Uses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Defaults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doesn’t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requests/limits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69" name="object 6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FFA3A87-08C3-47D2-9AB1-E99B763FB21D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670" name="" descr=""/>
          <p:cNvPicPr/>
          <p:nvPr/>
        </p:nvPicPr>
        <p:blipFill>
          <a:blip r:embed="rId1"/>
          <a:stretch/>
        </p:blipFill>
        <p:spPr>
          <a:xfrm>
            <a:off x="480960" y="1260000"/>
            <a:ext cx="4089960" cy="3055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1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Rejected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Creation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Exceeded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Limits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Requests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higher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maximum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CPU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resources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than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defined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LimitRange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72" name="object 4"/>
          <p:cNvSpPr/>
          <p:nvPr/>
        </p:nvSpPr>
        <p:spPr>
          <a:xfrm>
            <a:off x="521280" y="1425600"/>
            <a:ext cx="7772040" cy="10026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 algn="just">
              <a:lnSpc>
                <a:spcPts val="1664"/>
              </a:lnSpc>
              <a:spcBef>
                <a:spcPts val="121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pod.yaml</a:t>
            </a:r>
            <a:endParaRPr b="0" lang="fr-FR" sz="1400" spc="-1" strike="noStrike">
              <a:latin typeface="Arial"/>
            </a:endParaRPr>
          </a:p>
          <a:p>
            <a:pPr marL="165600" algn="just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 from server (Forbidden): error when creating "pod.yaml": pods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"rate-limiter" is forbidden: maximum cpu usage per Container is 1,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but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 is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2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673" name="object 5"/>
          <p:cNvSpPr/>
          <p:nvPr/>
        </p:nvSpPr>
        <p:spPr>
          <a:xfrm>
            <a:off x="8701560" y="4908600"/>
            <a:ext cx="260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F82C93B-DAEA-4B5C-83C9-46F1D54431ED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4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15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675" name="object 3"/>
          <p:cNvSpPr/>
          <p:nvPr/>
        </p:nvSpPr>
        <p:spPr>
          <a:xfrm>
            <a:off x="494280" y="1323360"/>
            <a:ext cx="58046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Resources requirements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6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1677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678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679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6704640" cy="165636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58" strike="noStrike">
                <a:solidFill>
                  <a:srgbClr val="ffffff"/>
                </a:solidFill>
                <a:latin typeface="Tahoma"/>
              </a:rPr>
              <a:t>ConfigMaps</a:t>
            </a:r>
            <a:r>
              <a:rPr b="1" lang="fr-FR" sz="3600" spc="-23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9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600" spc="-225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12" strike="noStrike">
                <a:solidFill>
                  <a:srgbClr val="ffffff"/>
                </a:solidFill>
                <a:latin typeface="Tahoma"/>
              </a:rPr>
              <a:t>Secrets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7" strike="noStrike">
                <a:solidFill>
                  <a:srgbClr val="ffffff"/>
                </a:solidFill>
                <a:latin typeface="Lucida Sans Unicode"/>
              </a:rPr>
              <a:t>Defining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9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32" strike="noStrike">
                <a:solidFill>
                  <a:srgbClr val="ffffff"/>
                </a:solidFill>
                <a:latin typeface="Lucida Sans Unicode"/>
              </a:rPr>
              <a:t>consuming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4" strike="noStrike">
                <a:solidFill>
                  <a:srgbClr val="ffffff"/>
                </a:solidFill>
                <a:latin typeface="Lucida Sans Unicode"/>
              </a:rPr>
              <a:t>configuration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03" strike="noStrike">
                <a:solidFill>
                  <a:srgbClr val="ffffff"/>
                </a:solidFill>
                <a:latin typeface="Lucida Sans Unicode"/>
              </a:rPr>
              <a:t>data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Configuration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Data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behavior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centralized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information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81" name="PlaceHolder 2"/>
          <p:cNvSpPr>
            <a:spLocks noGrp="1"/>
          </p:cNvSpPr>
          <p:nvPr>
            <p:ph type="sldNum" idx="16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2702530-05E3-4F58-81E8-7C99C3314C43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682" name="object 3"/>
          <p:cNvSpPr/>
          <p:nvPr/>
        </p:nvSpPr>
        <p:spPr>
          <a:xfrm>
            <a:off x="600120" y="1360440"/>
            <a:ext cx="8218800" cy="30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Stored as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key-value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pairs in dedicated Kubernetes primitives 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lifecycle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decoupled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from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consuming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ConfigMap:</a:t>
            </a:r>
            <a:r>
              <a:rPr b="0" i="1" lang="fr-FR" sz="1600" spc="-15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Plain-text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values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suited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e.g.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flags,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URLs.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Secret: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Base64-encoded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values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suited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storing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sensitive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like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passwords,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keys,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SSL</a:t>
            </a:r>
            <a:r>
              <a:rPr b="0" lang="fr-FR" sz="1600" spc="-6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certificates. </a:t>
            </a:r>
            <a:r>
              <a:rPr b="1" lang="fr-FR" sz="1600" spc="-21" strike="noStrike">
                <a:solidFill>
                  <a:srgbClr val="000000"/>
                </a:solidFill>
                <a:latin typeface="Arial"/>
                <a:ea typeface="DejaVu Sans"/>
              </a:rPr>
              <a:t>Values</a:t>
            </a:r>
            <a:r>
              <a:rPr b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are not encrypted!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ConfigMap and Secret objects are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etcd in unencrypted form by default.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Encryption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data in etcd is</a:t>
            </a:r>
            <a:r>
              <a:rPr b="0" lang="fr-FR" sz="1600" spc="18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configurable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Consuming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Configuration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Data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Applicable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ConfigMap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Secret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684" name="object 3" descr=""/>
          <p:cNvPicPr/>
          <p:nvPr/>
        </p:nvPicPr>
        <p:blipFill>
          <a:blip r:embed="rId1"/>
          <a:stretch/>
        </p:blipFill>
        <p:spPr>
          <a:xfrm>
            <a:off x="2247840" y="1557360"/>
            <a:ext cx="4732560" cy="3206520"/>
          </a:xfrm>
          <a:prstGeom prst="rect">
            <a:avLst/>
          </a:prstGeom>
          <a:ln w="0">
            <a:noFill/>
          </a:ln>
        </p:spPr>
      </p:pic>
      <p:sp>
        <p:nvSpPr>
          <p:cNvPr id="1685" name="PlaceHolder 2"/>
          <p:cNvSpPr>
            <a:spLocks noGrp="1"/>
          </p:cNvSpPr>
          <p:nvPr>
            <p:ph type="sldNum" idx="17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9ACF8B6-A623-4A62-9AEF-AA6B90E7E2F3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3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pairs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parsed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different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sources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687" name="object 3"/>
          <p:cNvGrpSpPr/>
          <p:nvPr/>
        </p:nvGrpSpPr>
        <p:grpSpPr>
          <a:xfrm>
            <a:off x="467640" y="1377000"/>
            <a:ext cx="7237440" cy="2877120"/>
            <a:chOff x="467640" y="1377000"/>
            <a:chExt cx="7237440" cy="2877120"/>
          </a:xfrm>
        </p:grpSpPr>
        <p:pic>
          <p:nvPicPr>
            <p:cNvPr id="1688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7237440" cy="2877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89" name="object 5"/>
            <p:cNvSpPr/>
            <p:nvPr/>
          </p:nvSpPr>
          <p:spPr>
            <a:xfrm>
              <a:off x="521280" y="1425600"/>
              <a:ext cx="7122960" cy="2763360"/>
            </a:xfrm>
            <a:custGeom>
              <a:avLst/>
              <a:gdLst/>
              <a:ahLst/>
              <a:rect l="l" t="t" r="r" b="b"/>
              <a:pathLst>
                <a:path w="7125970" h="2766060">
                  <a:moveTo>
                    <a:pt x="7125899" y="2765699"/>
                  </a:moveTo>
                  <a:lnTo>
                    <a:pt x="0" y="2765699"/>
                  </a:lnTo>
                  <a:lnTo>
                    <a:pt x="0" y="0"/>
                  </a:lnTo>
                  <a:lnTo>
                    <a:pt x="7125899" y="0"/>
                  </a:lnTo>
                  <a:lnTo>
                    <a:pt x="7125899" y="2765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690" name="object 6"/>
          <p:cNvSpPr/>
          <p:nvPr/>
        </p:nvSpPr>
        <p:spPr>
          <a:xfrm>
            <a:off x="674640" y="1567800"/>
            <a:ext cx="6743520" cy="23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db-config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--from-literal=db=staging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configmap/db-config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db-config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--from-env-file=config.env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configmap/db-config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db-config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--from-file=config.txt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configmap/db-config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db-config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--from-file=app-config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configmap/db-config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691" name="PlaceHolder 2"/>
          <p:cNvSpPr>
            <a:spLocks noGrp="1"/>
          </p:cNvSpPr>
          <p:nvPr>
            <p:ph type="sldNum" idx="18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73D2279-B0E7-4A8C-8038-45B6803F6EF1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Options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Data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Parsed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9" strike="noStrike">
                <a:solidFill>
                  <a:srgbClr val="000000"/>
                </a:solidFill>
                <a:latin typeface="Tahoma"/>
              </a:rPr>
              <a:t>by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ConfigMap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example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values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93" name="PlaceHolder 2"/>
          <p:cNvSpPr>
            <a:spLocks noGrp="1"/>
          </p:cNvSpPr>
          <p:nvPr>
            <p:ph type="sldNum" idx="19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B46731B-756C-4800-ABE9-3B3F559F0294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694" name="" descr=""/>
          <p:cNvPicPr/>
          <p:nvPr/>
        </p:nvPicPr>
        <p:blipFill>
          <a:blip r:embed="rId1"/>
          <a:stretch/>
        </p:blipFill>
        <p:spPr>
          <a:xfrm>
            <a:off x="494280" y="1275840"/>
            <a:ext cx="8406000" cy="286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Literal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Values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Imperative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creation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pointing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plain-text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pairs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96" name="PlaceHolder 2"/>
          <p:cNvSpPr>
            <a:spLocks noGrp="1"/>
          </p:cNvSpPr>
          <p:nvPr>
            <p:ph type="sldNum" idx="20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4DCD338-96D6-4ABF-A955-6F157D65ED50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697" name="" descr=""/>
          <p:cNvPicPr/>
          <p:nvPr/>
        </p:nvPicPr>
        <p:blipFill>
          <a:blip r:embed="rId1"/>
          <a:stretch/>
        </p:blipFill>
        <p:spPr>
          <a:xfrm>
            <a:off x="504000" y="1494720"/>
            <a:ext cx="6740640" cy="1492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pair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under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dat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a</a:t>
            </a:r>
            <a:r>
              <a:rPr b="0" lang="fr-FR" sz="1600" spc="-596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attribute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99" name="PlaceHolder 2"/>
          <p:cNvSpPr>
            <a:spLocks noGrp="1"/>
          </p:cNvSpPr>
          <p:nvPr>
            <p:ph type="sldNum" idx="21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7473676-FABD-4E83-8ECA-1E6CE2266593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700" name="" descr=""/>
          <p:cNvPicPr/>
          <p:nvPr/>
        </p:nvPicPr>
        <p:blipFill>
          <a:blip r:embed="rId1"/>
          <a:stretch/>
        </p:blipFill>
        <p:spPr>
          <a:xfrm>
            <a:off x="504000" y="1392120"/>
            <a:ext cx="5719680" cy="2026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648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Consuming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09" strike="noStrike">
                <a:solidFill>
                  <a:srgbClr val="000000"/>
                </a:solidFill>
                <a:latin typeface="Tahoma"/>
              </a:rPr>
              <a:t>as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Environment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Variables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Controlling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behavior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help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simple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values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702" name="object 3"/>
          <p:cNvGrpSpPr/>
          <p:nvPr/>
        </p:nvGrpSpPr>
        <p:grpSpPr>
          <a:xfrm>
            <a:off x="483840" y="1418040"/>
            <a:ext cx="4041000" cy="2842560"/>
            <a:chOff x="483840" y="1418040"/>
            <a:chExt cx="4041000" cy="2842560"/>
          </a:xfrm>
        </p:grpSpPr>
        <p:pic>
          <p:nvPicPr>
            <p:cNvPr id="1703" name="object 4" descr=""/>
            <p:cNvPicPr/>
            <p:nvPr/>
          </p:nvPicPr>
          <p:blipFill>
            <a:blip r:embed="rId1"/>
            <a:stretch/>
          </p:blipFill>
          <p:spPr>
            <a:xfrm>
              <a:off x="483840" y="1418040"/>
              <a:ext cx="4041000" cy="28425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04" name="object 5"/>
            <p:cNvSpPr/>
            <p:nvPr/>
          </p:nvSpPr>
          <p:spPr>
            <a:xfrm>
              <a:off x="537480" y="1466280"/>
              <a:ext cx="3927240" cy="2728800"/>
            </a:xfrm>
            <a:custGeom>
              <a:avLst/>
              <a:gdLst/>
              <a:ahLst/>
              <a:rect l="l" t="t" r="r" b="b"/>
              <a:pathLst>
                <a:path w="3930015" h="2731770">
                  <a:moveTo>
                    <a:pt x="3929399" y="2731199"/>
                  </a:moveTo>
                  <a:lnTo>
                    <a:pt x="0" y="2731199"/>
                  </a:lnTo>
                  <a:lnTo>
                    <a:pt x="0" y="0"/>
                  </a:lnTo>
                  <a:lnTo>
                    <a:pt x="3929399" y="0"/>
                  </a:lnTo>
                  <a:lnTo>
                    <a:pt x="3929399" y="2731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05" name="object 6"/>
          <p:cNvSpPr/>
          <p:nvPr/>
        </p:nvSpPr>
        <p:spPr>
          <a:xfrm>
            <a:off x="711360" y="1614240"/>
            <a:ext cx="3543120" cy="23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4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585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-</a:t>
            </a:r>
            <a:r>
              <a:rPr b="1" lang="fr-FR" sz="1400" spc="-5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4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bmuschko/web-app:1.0.1</a:t>
            </a:r>
            <a:endParaRPr b="0" lang="fr-FR" sz="1400" spc="-1" strike="noStrike">
              <a:latin typeface="Arial"/>
            </a:endParaRPr>
          </a:p>
          <a:p>
            <a:pPr marL="43956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endParaRPr b="0" lang="fr-FR" sz="1400" spc="-1" strike="noStrike">
              <a:latin typeface="Arial"/>
            </a:endParaRPr>
          </a:p>
          <a:p>
            <a:pPr marL="43956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envFrom:</a:t>
            </a:r>
            <a:endParaRPr b="0" lang="fr-FR" sz="1400" spc="-1" strike="noStrike">
              <a:latin typeface="Arial"/>
            </a:endParaRPr>
          </a:p>
          <a:p>
            <a:pPr marL="866160" indent="-426600">
              <a:lnSpc>
                <a:spcPts val="1650"/>
              </a:lnSpc>
              <a:spcBef>
                <a:spcPts val="65"/>
              </a:spcBef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-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configMapRef:</a:t>
            </a:r>
            <a:endParaRPr b="0" lang="fr-FR" sz="1400" spc="-1" strike="noStrike">
              <a:latin typeface="Arial"/>
            </a:endParaRPr>
          </a:p>
          <a:p>
            <a:pPr marL="866160" indent="-426600">
              <a:lnSpc>
                <a:spcPts val="1650"/>
              </a:lnSpc>
              <a:spcBef>
                <a:spcPts val="65"/>
              </a:spcBef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db-config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706" name="object 8"/>
          <p:cNvSpPr/>
          <p:nvPr/>
        </p:nvSpPr>
        <p:spPr>
          <a:xfrm>
            <a:off x="5069520" y="1466280"/>
            <a:ext cx="3689640" cy="3222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4560" bIns="0" anchor="t">
            <a:spAutoFit/>
          </a:bodyPr>
          <a:p>
            <a:pPr marL="226800">
              <a:lnSpc>
                <a:spcPct val="100000"/>
              </a:lnSpc>
              <a:spcBef>
                <a:spcPts val="981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env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07" name="object 9"/>
          <p:cNvSpPr/>
          <p:nvPr/>
        </p:nvSpPr>
        <p:spPr>
          <a:xfrm>
            <a:off x="5211000" y="1801080"/>
            <a:ext cx="2247480" cy="3873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85680">
              <a:lnSpc>
                <a:spcPts val="148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DB_HOST=mysql-service</a:t>
            </a:r>
            <a:endParaRPr b="0" lang="fr-FR" sz="1300" spc="-1" strike="noStrike">
              <a:latin typeface="Arial"/>
            </a:endParaRPr>
          </a:p>
          <a:p>
            <a:pPr marL="8568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DB_USER=backend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708" name="object 10"/>
          <p:cNvGrpSpPr/>
          <p:nvPr/>
        </p:nvGrpSpPr>
        <p:grpSpPr>
          <a:xfrm>
            <a:off x="1069200" y="2411640"/>
            <a:ext cx="5104440" cy="1600560"/>
            <a:chOff x="1069200" y="2411640"/>
            <a:chExt cx="5104440" cy="1600560"/>
          </a:xfrm>
        </p:grpSpPr>
        <p:sp>
          <p:nvSpPr>
            <p:cNvPr id="1709" name="object 11"/>
            <p:cNvSpPr/>
            <p:nvPr/>
          </p:nvSpPr>
          <p:spPr>
            <a:xfrm>
              <a:off x="3444480" y="2507760"/>
              <a:ext cx="2688120" cy="1349640"/>
            </a:xfrm>
            <a:custGeom>
              <a:avLst/>
              <a:gdLst/>
              <a:ahLst/>
              <a:rect l="l" t="t" r="r" b="b"/>
              <a:pathLst>
                <a:path w="2691129" h="1352550">
                  <a:moveTo>
                    <a:pt x="0" y="1352408"/>
                  </a:moveTo>
                  <a:lnTo>
                    <a:pt x="2691126" y="1352408"/>
                  </a:lnTo>
                  <a:lnTo>
                    <a:pt x="2691126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710" name="object 12" descr=""/>
            <p:cNvPicPr/>
            <p:nvPr/>
          </p:nvPicPr>
          <p:blipFill>
            <a:blip r:embed="rId2"/>
            <a:stretch/>
          </p:blipFill>
          <p:spPr>
            <a:xfrm>
              <a:off x="6094440" y="2411640"/>
              <a:ext cx="79200" cy="1029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11" name="object 13"/>
            <p:cNvSpPr/>
            <p:nvPr/>
          </p:nvSpPr>
          <p:spPr>
            <a:xfrm>
              <a:off x="1069200" y="3303720"/>
              <a:ext cx="2174040" cy="708480"/>
            </a:xfrm>
            <a:custGeom>
              <a:avLst/>
              <a:gdLst/>
              <a:ahLst/>
              <a:rect l="l" t="t" r="r" b="b"/>
              <a:pathLst>
                <a:path w="2176780" h="711200">
                  <a:moveTo>
                    <a:pt x="0" y="0"/>
                  </a:moveTo>
                  <a:lnTo>
                    <a:pt x="2176499" y="0"/>
                  </a:lnTo>
                  <a:lnTo>
                    <a:pt x="2176499" y="710699"/>
                  </a:lnTo>
                  <a:lnTo>
                    <a:pt x="0" y="7106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12" name="PlaceHolder 2"/>
          <p:cNvSpPr>
            <a:spLocks noGrp="1"/>
          </p:cNvSpPr>
          <p:nvPr>
            <p:ph type="sldNum" idx="22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703291C-1B55-473D-A4B9-A06121A02145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1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Reassigning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Environment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Variable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Keys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Keys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renamed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reformatted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make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them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suitable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consumption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714" name="object 3"/>
          <p:cNvGrpSpPr/>
          <p:nvPr/>
        </p:nvGrpSpPr>
        <p:grpSpPr>
          <a:xfrm>
            <a:off x="483840" y="1418040"/>
            <a:ext cx="4041000" cy="3400920"/>
            <a:chOff x="483840" y="1418040"/>
            <a:chExt cx="4041000" cy="3400920"/>
          </a:xfrm>
        </p:grpSpPr>
        <p:pic>
          <p:nvPicPr>
            <p:cNvPr id="1715" name="object 4" descr=""/>
            <p:cNvPicPr/>
            <p:nvPr/>
          </p:nvPicPr>
          <p:blipFill>
            <a:blip r:embed="rId1"/>
            <a:stretch/>
          </p:blipFill>
          <p:spPr>
            <a:xfrm>
              <a:off x="483840" y="1418040"/>
              <a:ext cx="4041000" cy="34009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16" name="object 5"/>
            <p:cNvSpPr/>
            <p:nvPr/>
          </p:nvSpPr>
          <p:spPr>
            <a:xfrm>
              <a:off x="537480" y="1466280"/>
              <a:ext cx="3927240" cy="3287160"/>
            </a:xfrm>
            <a:custGeom>
              <a:avLst/>
              <a:gdLst/>
              <a:ahLst/>
              <a:rect l="l" t="t" r="r" b="b"/>
              <a:pathLst>
                <a:path w="3930015" h="3289935">
                  <a:moveTo>
                    <a:pt x="3929399" y="3289499"/>
                  </a:moveTo>
                  <a:lnTo>
                    <a:pt x="0" y="3289499"/>
                  </a:lnTo>
                  <a:lnTo>
                    <a:pt x="0" y="0"/>
                  </a:lnTo>
                  <a:lnTo>
                    <a:pt x="3929399" y="0"/>
                  </a:lnTo>
                  <a:lnTo>
                    <a:pt x="3929399" y="3289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17" name="object 6"/>
          <p:cNvSpPr/>
          <p:nvPr/>
        </p:nvSpPr>
        <p:spPr>
          <a:xfrm>
            <a:off x="711360" y="1614240"/>
            <a:ext cx="3543120" cy="12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4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585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-</a:t>
            </a:r>
            <a:r>
              <a:rPr b="1" lang="fr-FR" sz="1400" spc="-5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4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bmuschko/web-app:1.0.1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718" name="object 7"/>
          <p:cNvSpPr/>
          <p:nvPr/>
        </p:nvSpPr>
        <p:spPr>
          <a:xfrm>
            <a:off x="1138320" y="3081240"/>
            <a:ext cx="2795400" cy="148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env: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-</a:t>
            </a:r>
            <a:r>
              <a:rPr b="1" lang="fr-FR" sz="1400" spc="-5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5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DATABASE_URL</a:t>
            </a:r>
            <a:endParaRPr b="0" lang="fr-FR" sz="1400" spc="-1" strike="noStrike">
              <a:latin typeface="Arial"/>
            </a:endParaRPr>
          </a:p>
          <a:p>
            <a:pPr marL="439560" indent="-213480">
              <a:lnSpc>
                <a:spcPts val="1650"/>
              </a:lnSpc>
              <a:spcBef>
                <a:spcPts val="65"/>
              </a:spcBef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valueFrom: </a:t>
            </a: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configMapKeyRef:</a:t>
            </a:r>
            <a:endParaRPr b="0" lang="fr-FR" sz="1400" spc="-1" strike="noStrike">
              <a:latin typeface="Arial"/>
            </a:endParaRPr>
          </a:p>
          <a:p>
            <a:pPr marL="652680" indent="-213480">
              <a:lnSpc>
                <a:spcPts val="1585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9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backend-config</a:t>
            </a:r>
            <a:endParaRPr b="0" lang="fr-FR" sz="1400" spc="-1" strike="noStrike">
              <a:latin typeface="Arial"/>
            </a:endParaRPr>
          </a:p>
          <a:p>
            <a:pPr marL="652680" indent="-213480">
              <a:lnSpc>
                <a:spcPts val="1664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key: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database_url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719" name="object 8"/>
          <p:cNvGrpSpPr/>
          <p:nvPr/>
        </p:nvGrpSpPr>
        <p:grpSpPr>
          <a:xfrm>
            <a:off x="5015880" y="1418040"/>
            <a:ext cx="3810960" cy="1077480"/>
            <a:chOff x="5015880" y="1418040"/>
            <a:chExt cx="3810960" cy="1077480"/>
          </a:xfrm>
        </p:grpSpPr>
        <p:pic>
          <p:nvPicPr>
            <p:cNvPr id="1720" name="object 9" descr=""/>
            <p:cNvPicPr/>
            <p:nvPr/>
          </p:nvPicPr>
          <p:blipFill>
            <a:blip r:embed="rId2"/>
            <a:stretch/>
          </p:blipFill>
          <p:spPr>
            <a:xfrm>
              <a:off x="5015880" y="1418040"/>
              <a:ext cx="3810960" cy="1077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21" name="object 10"/>
            <p:cNvSpPr/>
            <p:nvPr/>
          </p:nvSpPr>
          <p:spPr>
            <a:xfrm>
              <a:off x="5069520" y="1466280"/>
              <a:ext cx="3697200" cy="963720"/>
            </a:xfrm>
            <a:custGeom>
              <a:avLst/>
              <a:gdLst/>
              <a:ahLst/>
              <a:rect l="l" t="t" r="r" b="b"/>
              <a:pathLst>
                <a:path w="3700145" h="966469">
                  <a:moveTo>
                    <a:pt x="3699599" y="965999"/>
                  </a:moveTo>
                  <a:lnTo>
                    <a:pt x="0" y="965999"/>
                  </a:lnTo>
                  <a:lnTo>
                    <a:pt x="0" y="0"/>
                  </a:lnTo>
                  <a:lnTo>
                    <a:pt x="3699599" y="0"/>
                  </a:lnTo>
                  <a:lnTo>
                    <a:pt x="3699599" y="9659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22" name="object 11"/>
          <p:cNvSpPr/>
          <p:nvPr/>
        </p:nvSpPr>
        <p:spPr>
          <a:xfrm>
            <a:off x="5069520" y="1466280"/>
            <a:ext cx="369720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4560" bIns="0" anchor="t">
            <a:spAutoFit/>
          </a:bodyPr>
          <a:p>
            <a:pPr marL="226800">
              <a:lnSpc>
                <a:spcPct val="100000"/>
              </a:lnSpc>
              <a:spcBef>
                <a:spcPts val="981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env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23" name="object 12"/>
          <p:cNvSpPr/>
          <p:nvPr/>
        </p:nvSpPr>
        <p:spPr>
          <a:xfrm>
            <a:off x="5256720" y="1812960"/>
            <a:ext cx="3105360" cy="3754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9240">
              <a:lnSpc>
                <a:spcPts val="1386"/>
              </a:lnSpc>
              <a:buNone/>
            </a:pP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DATABASE_URL=jdbc:postgresql:</a:t>
            </a:r>
            <a:r>
              <a:rPr b="0" lang="fr-FR" sz="1300" spc="-2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3924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//localhost/test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724" name="object 13"/>
          <p:cNvGrpSpPr/>
          <p:nvPr/>
        </p:nvGrpSpPr>
        <p:grpSpPr>
          <a:xfrm>
            <a:off x="1107360" y="2396160"/>
            <a:ext cx="5767560" cy="2242800"/>
            <a:chOff x="1107360" y="2396160"/>
            <a:chExt cx="5767560" cy="2242800"/>
          </a:xfrm>
        </p:grpSpPr>
        <p:sp>
          <p:nvSpPr>
            <p:cNvPr id="1725" name="object 14"/>
            <p:cNvSpPr/>
            <p:nvPr/>
          </p:nvSpPr>
          <p:spPr>
            <a:xfrm>
              <a:off x="4145760" y="2491920"/>
              <a:ext cx="2688120" cy="1349640"/>
            </a:xfrm>
            <a:custGeom>
              <a:avLst/>
              <a:gdLst/>
              <a:ahLst/>
              <a:rect l="l" t="t" r="r" b="b"/>
              <a:pathLst>
                <a:path w="2691129" h="1352550">
                  <a:moveTo>
                    <a:pt x="0" y="1352408"/>
                  </a:moveTo>
                  <a:lnTo>
                    <a:pt x="2691126" y="1352408"/>
                  </a:lnTo>
                  <a:lnTo>
                    <a:pt x="2691126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726" name="object 15" descr=""/>
            <p:cNvPicPr/>
            <p:nvPr/>
          </p:nvPicPr>
          <p:blipFill>
            <a:blip r:embed="rId3"/>
            <a:stretch/>
          </p:blipFill>
          <p:spPr>
            <a:xfrm>
              <a:off x="6795720" y="2396160"/>
              <a:ext cx="79200" cy="1029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27" name="object 16"/>
            <p:cNvSpPr/>
            <p:nvPr/>
          </p:nvSpPr>
          <p:spPr>
            <a:xfrm>
              <a:off x="1107360" y="3321720"/>
              <a:ext cx="2897280" cy="1317240"/>
            </a:xfrm>
            <a:custGeom>
              <a:avLst/>
              <a:gdLst/>
              <a:ahLst/>
              <a:rect l="l" t="t" r="r" b="b"/>
              <a:pathLst>
                <a:path w="2900045" h="1320164">
                  <a:moveTo>
                    <a:pt x="0" y="0"/>
                  </a:moveTo>
                  <a:lnTo>
                    <a:pt x="2899499" y="0"/>
                  </a:lnTo>
                  <a:lnTo>
                    <a:pt x="2899499" y="1319699"/>
                  </a:lnTo>
                  <a:lnTo>
                    <a:pt x="0" y="13196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28" name="PlaceHolder 2"/>
          <p:cNvSpPr>
            <a:spLocks noGrp="1"/>
          </p:cNvSpPr>
          <p:nvPr>
            <p:ph type="sldNum" idx="23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63A753E-14E2-4FFE-BDBA-368351E03DE8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JSON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file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Imperative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creation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pointing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730" name="object 3"/>
          <p:cNvGrpSpPr/>
          <p:nvPr/>
        </p:nvGrpSpPr>
        <p:grpSpPr>
          <a:xfrm>
            <a:off x="467640" y="1377000"/>
            <a:ext cx="6008400" cy="908280"/>
            <a:chOff x="467640" y="1377000"/>
            <a:chExt cx="6008400" cy="908280"/>
          </a:xfrm>
        </p:grpSpPr>
        <p:pic>
          <p:nvPicPr>
            <p:cNvPr id="1731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6008400" cy="9082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32" name="object 5"/>
            <p:cNvSpPr/>
            <p:nvPr/>
          </p:nvSpPr>
          <p:spPr>
            <a:xfrm>
              <a:off x="521280" y="1425600"/>
              <a:ext cx="5894280" cy="794160"/>
            </a:xfrm>
            <a:custGeom>
              <a:avLst/>
              <a:gdLst/>
              <a:ahLst/>
              <a:rect l="l" t="t" r="r" b="b"/>
              <a:pathLst>
                <a:path w="5897245" h="796925">
                  <a:moveTo>
                    <a:pt x="5897099" y="796799"/>
                  </a:moveTo>
                  <a:lnTo>
                    <a:pt x="0" y="796799"/>
                  </a:lnTo>
                  <a:lnTo>
                    <a:pt x="0" y="0"/>
                  </a:lnTo>
                  <a:lnTo>
                    <a:pt x="5897099" y="0"/>
                  </a:lnTo>
                  <a:lnTo>
                    <a:pt x="5897099" y="796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33" name="object 6"/>
          <p:cNvSpPr/>
          <p:nvPr/>
        </p:nvSpPr>
        <p:spPr>
          <a:xfrm>
            <a:off x="4335480" y="1548360"/>
            <a:ext cx="1966320" cy="2300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2400" bIns="0" anchor="t">
            <a:spAutoFit/>
          </a:bodyPr>
          <a:p>
            <a:pPr marL="16560">
              <a:lnSpc>
                <a:spcPct val="100000"/>
              </a:lnSpc>
              <a:spcBef>
                <a:spcPts val="255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--from-file=db.json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34" name="object 7"/>
          <p:cNvSpPr/>
          <p:nvPr/>
        </p:nvSpPr>
        <p:spPr>
          <a:xfrm>
            <a:off x="674640" y="1568160"/>
            <a:ext cx="358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db-config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configmap/db-config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35" name="object 9"/>
          <p:cNvSpPr/>
          <p:nvPr/>
        </p:nvSpPr>
        <p:spPr>
          <a:xfrm>
            <a:off x="4192560" y="2958840"/>
            <a:ext cx="3306600" cy="13514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>
              <a:lnSpc>
                <a:spcPct val="100000"/>
              </a:lnSpc>
              <a:spcBef>
                <a:spcPts val="1219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{</a:t>
            </a:r>
            <a:endParaRPr b="0" lang="fr-FR" sz="1300" spc="-1" strike="noStrike"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"db"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{</a:t>
            </a:r>
            <a:endParaRPr b="0" lang="fr-FR" sz="1300" spc="-1" strike="noStrike">
              <a:latin typeface="Arial"/>
            </a:endParaRPr>
          </a:p>
          <a:p>
            <a:pPr marL="7488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"host"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300" spc="-9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"mysql-service"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endParaRPr b="0" lang="fr-FR" sz="1300" spc="-1" strike="noStrike">
              <a:latin typeface="Arial"/>
            </a:endParaRPr>
          </a:p>
          <a:p>
            <a:pPr marL="7488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"user"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3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"backend"</a:t>
            </a:r>
            <a:endParaRPr b="0" lang="fr-FR" sz="1300" spc="-1" strike="noStrike">
              <a:latin typeface="Arial"/>
            </a:endParaRPr>
          </a:p>
          <a:p>
            <a:pPr marL="46296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736" name="object 10"/>
          <p:cNvGrpSpPr/>
          <p:nvPr/>
        </p:nvGrpSpPr>
        <p:grpSpPr>
          <a:xfrm>
            <a:off x="5835960" y="1939680"/>
            <a:ext cx="79200" cy="856440"/>
            <a:chOff x="5835960" y="1939680"/>
            <a:chExt cx="79200" cy="856440"/>
          </a:xfrm>
        </p:grpSpPr>
        <p:sp>
          <p:nvSpPr>
            <p:cNvPr id="1737" name="object 11"/>
            <p:cNvSpPr/>
            <p:nvPr/>
          </p:nvSpPr>
          <p:spPr>
            <a:xfrm>
              <a:off x="5876640" y="1939680"/>
              <a:ext cx="360" cy="760320"/>
            </a:xfrm>
            <a:custGeom>
              <a:avLst/>
              <a:gdLst/>
              <a:ahLst/>
              <a:rect l="l" t="t" r="r" b="b"/>
              <a:pathLst>
                <a:path w="0" h="763269">
                  <a:moveTo>
                    <a:pt x="0" y="0"/>
                  </a:moveTo>
                  <a:lnTo>
                    <a:pt x="0" y="7631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738" name="object 12" descr=""/>
            <p:cNvPicPr/>
            <p:nvPr/>
          </p:nvPicPr>
          <p:blipFill>
            <a:blip r:embed="rId2"/>
            <a:stretch/>
          </p:blipFill>
          <p:spPr>
            <a:xfrm>
              <a:off x="5835960" y="269352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739" name="object 13"/>
          <p:cNvSpPr/>
          <p:nvPr/>
        </p:nvSpPr>
        <p:spPr>
          <a:xfrm>
            <a:off x="4183560" y="2570760"/>
            <a:ext cx="5958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db.json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740" name="PlaceHolder 2"/>
          <p:cNvSpPr>
            <a:spLocks noGrp="1"/>
          </p:cNvSpPr>
          <p:nvPr>
            <p:ph type="sldNum" idx="24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6B94C8C-C73D-47B0-9925-0B6251B2A952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pair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under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dat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a</a:t>
            </a:r>
            <a:r>
              <a:rPr b="0" lang="fr-FR" sz="1600" spc="-596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attribute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42" name="PlaceHolder 2"/>
          <p:cNvSpPr>
            <a:spLocks noGrp="1"/>
          </p:cNvSpPr>
          <p:nvPr>
            <p:ph type="sldNum" idx="25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1FF5E59-5181-4DE1-8F4B-AA004B937D3E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743" name="" descr=""/>
          <p:cNvPicPr/>
          <p:nvPr/>
        </p:nvPicPr>
        <p:blipFill>
          <a:blip r:embed="rId1"/>
          <a:stretch/>
        </p:blipFill>
        <p:spPr>
          <a:xfrm>
            <a:off x="457200" y="1176840"/>
            <a:ext cx="7281720" cy="3193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Consuming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09" strike="noStrike">
                <a:solidFill>
                  <a:srgbClr val="000000"/>
                </a:solidFill>
                <a:latin typeface="Tahoma"/>
              </a:rPr>
              <a:t>as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good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choice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processing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machine-readable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45" name="PlaceHolder 2"/>
          <p:cNvSpPr>
            <a:spLocks noGrp="1"/>
          </p:cNvSpPr>
          <p:nvPr>
            <p:ph type="sldNum" idx="26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6175107-8A54-4B69-82AE-D4BCA4D2620A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746" name="" descr=""/>
          <p:cNvPicPr/>
          <p:nvPr/>
        </p:nvPicPr>
        <p:blipFill>
          <a:blip r:embed="rId1"/>
          <a:stretch/>
        </p:blipFill>
        <p:spPr>
          <a:xfrm>
            <a:off x="468000" y="1364400"/>
            <a:ext cx="7918920" cy="2843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7" name="PlaceHolder 1"/>
          <p:cNvSpPr>
            <a:spLocks noGrp="1"/>
          </p:cNvSpPr>
          <p:nvPr>
            <p:ph type="title"/>
          </p:nvPr>
        </p:nvSpPr>
        <p:spPr>
          <a:xfrm>
            <a:off x="494280" y="360000"/>
            <a:ext cx="706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Consuming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3" strike="noStrike">
                <a:solidFill>
                  <a:srgbClr val="000000"/>
                </a:solidFill>
                <a:latin typeface="Tahoma"/>
              </a:rPr>
              <a:t>Changed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26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Data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Containers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will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refresh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consumed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data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upon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change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48" name="PlaceHolder 2"/>
          <p:cNvSpPr>
            <a:spLocks noGrp="1"/>
          </p:cNvSpPr>
          <p:nvPr>
            <p:ph type="sldNum" idx="27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4593E55-7D0D-4BB1-A3A8-F72F6805EECC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749" name="object 3"/>
          <p:cNvSpPr/>
          <p:nvPr/>
        </p:nvSpPr>
        <p:spPr>
          <a:xfrm>
            <a:off x="600120" y="1392840"/>
            <a:ext cx="8398800" cy="19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key-value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pairs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ConfigMap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changed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live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Changed ConfigMap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key-value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pairs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will not 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reloaded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automatically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an already-running Pod.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application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code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needs to implement logic to either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reload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periodically or on-demand.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3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Parsed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values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base64-encoded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automatically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751" name="object 3"/>
          <p:cNvGrpSpPr/>
          <p:nvPr/>
        </p:nvGrpSpPr>
        <p:grpSpPr>
          <a:xfrm>
            <a:off x="467640" y="1377000"/>
            <a:ext cx="7863120" cy="2617200"/>
            <a:chOff x="467640" y="1377000"/>
            <a:chExt cx="7863120" cy="2617200"/>
          </a:xfrm>
        </p:grpSpPr>
        <p:pic>
          <p:nvPicPr>
            <p:cNvPr id="1752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7863120" cy="2617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53" name="object 5"/>
            <p:cNvSpPr/>
            <p:nvPr/>
          </p:nvSpPr>
          <p:spPr>
            <a:xfrm>
              <a:off x="521280" y="1425600"/>
              <a:ext cx="7749360" cy="2503440"/>
            </a:xfrm>
            <a:custGeom>
              <a:avLst/>
              <a:gdLst/>
              <a:ahLst/>
              <a:rect l="l" t="t" r="r" b="b"/>
              <a:pathLst>
                <a:path w="7752080" h="2506345">
                  <a:moveTo>
                    <a:pt x="7751699" y="2505899"/>
                  </a:moveTo>
                  <a:lnTo>
                    <a:pt x="0" y="2505899"/>
                  </a:lnTo>
                  <a:lnTo>
                    <a:pt x="0" y="0"/>
                  </a:lnTo>
                  <a:lnTo>
                    <a:pt x="7751699" y="0"/>
                  </a:lnTo>
                  <a:lnTo>
                    <a:pt x="7751699" y="2505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54" name="object 6"/>
          <p:cNvSpPr/>
          <p:nvPr/>
        </p:nvSpPr>
        <p:spPr>
          <a:xfrm>
            <a:off x="674640" y="1567800"/>
            <a:ext cx="7424280" cy="21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generic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db-creds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--from-literal=pwd=s3cre!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secret/db-creds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docker-registry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my-secret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--from-file=.dockerconfigjson=~/.docker/config.json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secret/my-secret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tls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accounting-secret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--cert=accounting.crt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--key=accounting.key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secret/accounting-secret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755" name="object 7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D033A29-1F8B-43B6-8B62-7EACFDCEA897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77" strike="noStrike">
                <a:solidFill>
                  <a:srgbClr val="000000"/>
                </a:solidFill>
                <a:latin typeface="Tahoma"/>
              </a:rPr>
              <a:t>CLI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Options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will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need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one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57" name="object 5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A1554E0-1A09-4F38-9825-FFDF3CE65442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758" name="" descr=""/>
          <p:cNvPicPr/>
          <p:nvPr/>
        </p:nvPicPr>
        <p:blipFill>
          <a:blip r:embed="rId1"/>
          <a:stretch/>
        </p:blipFill>
        <p:spPr>
          <a:xfrm>
            <a:off x="494280" y="1377360"/>
            <a:ext cx="7537680" cy="2671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648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Options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Data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Parsed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9" strike="noStrike">
                <a:solidFill>
                  <a:srgbClr val="000000"/>
                </a:solidFill>
                <a:latin typeface="Tahoma"/>
              </a:rPr>
              <a:t>by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Generic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example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values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60" name="object 6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8B12911-151D-408A-94CB-E8223C067B26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761" name="" descr=""/>
          <p:cNvPicPr/>
          <p:nvPr/>
        </p:nvPicPr>
        <p:blipFill>
          <a:blip r:embed="rId1"/>
          <a:stretch/>
        </p:blipFill>
        <p:spPr>
          <a:xfrm>
            <a:off x="504000" y="1570320"/>
            <a:ext cx="8278920" cy="2856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Specialized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Types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--type</a:t>
            </a:r>
            <a:r>
              <a:rPr b="0" lang="fr-FR" sz="1600" spc="-622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CLI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option,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type</a:t>
            </a:r>
            <a:r>
              <a:rPr b="0" lang="fr-FR" sz="1600" spc="-591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attribute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manifest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(</a:t>
            </a:r>
            <a:r>
              <a:rPr b="0" lang="fr-FR" sz="1600" spc="89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1"/>
              </a:rPr>
              <a:t>docs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)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63" name="object 6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A17EB9A-8C5D-42E1-B4E8-3CF1ECEFEF5C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764" name="" descr=""/>
          <p:cNvPicPr/>
          <p:nvPr/>
        </p:nvPicPr>
        <p:blipFill>
          <a:blip r:embed="rId2"/>
          <a:stretch/>
        </p:blipFill>
        <p:spPr>
          <a:xfrm>
            <a:off x="540000" y="1328760"/>
            <a:ext cx="6905520" cy="2990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Literal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Values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Imperative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command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will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base64-encode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values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automatically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66" name="object 10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9927670-AC23-4B27-AD77-344F16BF66B9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767" name="" descr=""/>
          <p:cNvPicPr/>
          <p:nvPr/>
        </p:nvPicPr>
        <p:blipFill>
          <a:blip r:embed="rId1"/>
          <a:stretch/>
        </p:blipFill>
        <p:spPr>
          <a:xfrm>
            <a:off x="513000" y="1440000"/>
            <a:ext cx="5533920" cy="1459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Assigned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values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need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provided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base64-encoded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form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69" name="object 4"/>
          <p:cNvSpPr/>
          <p:nvPr/>
        </p:nvSpPr>
        <p:spPr>
          <a:xfrm>
            <a:off x="4607640" y="1425600"/>
            <a:ext cx="2574720" cy="13010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60200" bIns="0" anchor="t">
            <a:spAutoFit/>
          </a:bodyPr>
          <a:p>
            <a:pPr marL="222120">
              <a:lnSpc>
                <a:spcPct val="100000"/>
              </a:lnSpc>
              <a:spcBef>
                <a:spcPts val="1261"/>
              </a:spcBef>
              <a:buNone/>
            </a:pP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500" spc="-9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500" spc="-88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500" spc="-1" strike="noStrike">
              <a:latin typeface="Arial"/>
            </a:endParaRPr>
          </a:p>
          <a:p>
            <a:pPr marL="450720">
              <a:lnSpc>
                <a:spcPct val="100000"/>
              </a:lnSpc>
              <a:buNone/>
            </a:pP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5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mysecret</a:t>
            </a:r>
            <a:endParaRPr b="0" lang="fr-FR" sz="1500" spc="-1" strike="noStrike">
              <a:latin typeface="Arial"/>
            </a:endParaRPr>
          </a:p>
          <a:p>
            <a:pPr marL="222120">
              <a:lnSpc>
                <a:spcPct val="100000"/>
              </a:lnSpc>
              <a:buNone/>
            </a:pP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type:</a:t>
            </a:r>
            <a:r>
              <a:rPr b="1" lang="fr-FR" sz="15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Opaque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1770" name="object 5"/>
          <p:cNvSpPr/>
          <p:nvPr/>
        </p:nvSpPr>
        <p:spPr>
          <a:xfrm>
            <a:off x="4744440" y="2764080"/>
            <a:ext cx="1893240" cy="4208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85680">
              <a:lnSpc>
                <a:spcPts val="1519"/>
              </a:lnSpc>
              <a:buNone/>
            </a:pP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data:</a:t>
            </a:r>
            <a:endParaRPr b="0" lang="fr-FR" sz="1500" spc="-1" strike="noStrike">
              <a:latin typeface="Arial"/>
            </a:endParaRPr>
          </a:p>
          <a:p>
            <a:pPr marL="314280">
              <a:lnSpc>
                <a:spcPct val="100000"/>
              </a:lnSpc>
              <a:buNone/>
            </a:pP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pwd:</a:t>
            </a:r>
            <a:r>
              <a:rPr b="1" lang="fr-FR" sz="15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czNjcmUh</a:t>
            </a:r>
            <a:endParaRPr b="0" lang="fr-FR" sz="1500" spc="-1" strike="noStrike">
              <a:latin typeface="Arial"/>
            </a:endParaRPr>
          </a:p>
        </p:txBody>
      </p:sp>
      <p:grpSp>
        <p:nvGrpSpPr>
          <p:cNvPr id="1771" name="object 6"/>
          <p:cNvGrpSpPr/>
          <p:nvPr/>
        </p:nvGrpSpPr>
        <p:grpSpPr>
          <a:xfrm>
            <a:off x="454320" y="1377360"/>
            <a:ext cx="3600720" cy="980280"/>
            <a:chOff x="454320" y="1377360"/>
            <a:chExt cx="3600720" cy="980280"/>
          </a:xfrm>
        </p:grpSpPr>
        <p:pic>
          <p:nvPicPr>
            <p:cNvPr id="1772" name="object 7" descr=""/>
            <p:cNvPicPr/>
            <p:nvPr/>
          </p:nvPicPr>
          <p:blipFill>
            <a:blip r:embed="rId1"/>
            <a:stretch/>
          </p:blipFill>
          <p:spPr>
            <a:xfrm>
              <a:off x="454320" y="1377360"/>
              <a:ext cx="3600720" cy="9802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73" name="object 8"/>
            <p:cNvSpPr/>
            <p:nvPr/>
          </p:nvSpPr>
          <p:spPr>
            <a:xfrm>
              <a:off x="507960" y="1425600"/>
              <a:ext cx="3486600" cy="866520"/>
            </a:xfrm>
            <a:custGeom>
              <a:avLst/>
              <a:gdLst/>
              <a:ahLst/>
              <a:rect l="l" t="t" r="r" b="b"/>
              <a:pathLst>
                <a:path w="3489325" h="869314">
                  <a:moveTo>
                    <a:pt x="3489299" y="868800"/>
                  </a:moveTo>
                  <a:lnTo>
                    <a:pt x="0" y="868800"/>
                  </a:lnTo>
                  <a:lnTo>
                    <a:pt x="0" y="0"/>
                  </a:lnTo>
                  <a:lnTo>
                    <a:pt x="3489299" y="0"/>
                  </a:lnTo>
                  <a:lnTo>
                    <a:pt x="3489299" y="868800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74" name="object 9"/>
          <p:cNvSpPr/>
          <p:nvPr/>
        </p:nvSpPr>
        <p:spPr>
          <a:xfrm>
            <a:off x="507960" y="1425600"/>
            <a:ext cx="348660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3720" bIns="0" anchor="t">
            <a:spAutoFit/>
          </a:bodyPr>
          <a:p>
            <a:pPr marL="198000">
              <a:lnSpc>
                <a:spcPct val="100000"/>
              </a:lnSpc>
              <a:spcBef>
                <a:spcPts val="1210"/>
              </a:spcBef>
              <a:buNone/>
            </a:pPr>
            <a:r>
              <a:rPr b="1" lang="fr-FR" sz="15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5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</a:t>
            </a:r>
            <a:r>
              <a:rPr b="1" lang="fr-FR" sz="15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5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's3cre!'</a:t>
            </a:r>
            <a:r>
              <a:rPr b="1" lang="fr-FR" sz="15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1" strike="noStrike">
                <a:solidFill>
                  <a:srgbClr val="000000"/>
                </a:solidFill>
                <a:latin typeface="Courier New"/>
                <a:ea typeface="DejaVu Sans"/>
              </a:rPr>
              <a:t>|</a:t>
            </a:r>
            <a:r>
              <a:rPr b="1" lang="fr-FR" sz="15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base64</a:t>
            </a:r>
            <a:endParaRPr b="0" lang="fr-FR" sz="1500" spc="-1" strike="noStrike">
              <a:latin typeface="Arial"/>
            </a:endParaRPr>
          </a:p>
          <a:p>
            <a:pPr marL="198000">
              <a:lnSpc>
                <a:spcPct val="100000"/>
              </a:lnSpc>
              <a:buNone/>
            </a:pP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czNjcmUh</a:t>
            </a:r>
            <a:endParaRPr b="0" lang="fr-FR" sz="1500" spc="-1" strike="noStrike">
              <a:latin typeface="Arial"/>
            </a:endParaRPr>
          </a:p>
        </p:txBody>
      </p:sp>
      <p:grpSp>
        <p:nvGrpSpPr>
          <p:cNvPr id="1775" name="object 10"/>
          <p:cNvGrpSpPr/>
          <p:nvPr/>
        </p:nvGrpSpPr>
        <p:grpSpPr>
          <a:xfrm>
            <a:off x="1065960" y="2219400"/>
            <a:ext cx="3350520" cy="870120"/>
            <a:chOff x="1065960" y="2219400"/>
            <a:chExt cx="3350520" cy="870120"/>
          </a:xfrm>
        </p:grpSpPr>
        <p:sp>
          <p:nvSpPr>
            <p:cNvPr id="1776" name="object 11"/>
            <p:cNvSpPr/>
            <p:nvPr/>
          </p:nvSpPr>
          <p:spPr>
            <a:xfrm>
              <a:off x="1065960" y="2219400"/>
              <a:ext cx="3254760" cy="829440"/>
            </a:xfrm>
            <a:custGeom>
              <a:avLst/>
              <a:gdLst/>
              <a:ahLst/>
              <a:rect l="l" t="t" r="r" b="b"/>
              <a:pathLst>
                <a:path w="3257550" h="832485">
                  <a:moveTo>
                    <a:pt x="0" y="0"/>
                  </a:moveTo>
                  <a:lnTo>
                    <a:pt x="0" y="831899"/>
                  </a:lnTo>
                  <a:lnTo>
                    <a:pt x="3257099" y="8318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777" name="object 12" descr=""/>
            <p:cNvPicPr/>
            <p:nvPr/>
          </p:nvPicPr>
          <p:blipFill>
            <a:blip r:embed="rId2"/>
            <a:stretch/>
          </p:blipFill>
          <p:spPr>
            <a:xfrm>
              <a:off x="4313880" y="301032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778" name="object 13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641650C-0B6D-4BB1-81FF-66501EE745C2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14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Consuming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09" strike="noStrike">
                <a:solidFill>
                  <a:srgbClr val="000000"/>
                </a:solidFill>
                <a:latin typeface="Tahoma"/>
              </a:rPr>
              <a:t>as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Environment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Variables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Accessed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values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base64-decoded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780" name="object 3"/>
          <p:cNvGrpSpPr/>
          <p:nvPr/>
        </p:nvGrpSpPr>
        <p:grpSpPr>
          <a:xfrm>
            <a:off x="483840" y="1418040"/>
            <a:ext cx="4041000" cy="2842560"/>
            <a:chOff x="483840" y="1418040"/>
            <a:chExt cx="4041000" cy="2842560"/>
          </a:xfrm>
        </p:grpSpPr>
        <p:pic>
          <p:nvPicPr>
            <p:cNvPr id="1781" name="object 4" descr=""/>
            <p:cNvPicPr/>
            <p:nvPr/>
          </p:nvPicPr>
          <p:blipFill>
            <a:blip r:embed="rId1"/>
            <a:stretch/>
          </p:blipFill>
          <p:spPr>
            <a:xfrm>
              <a:off x="483840" y="1418040"/>
              <a:ext cx="4041000" cy="28425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82" name="object 5"/>
            <p:cNvSpPr/>
            <p:nvPr/>
          </p:nvSpPr>
          <p:spPr>
            <a:xfrm>
              <a:off x="537480" y="1466280"/>
              <a:ext cx="3927240" cy="2728800"/>
            </a:xfrm>
            <a:custGeom>
              <a:avLst/>
              <a:gdLst/>
              <a:ahLst/>
              <a:rect l="l" t="t" r="r" b="b"/>
              <a:pathLst>
                <a:path w="3930015" h="2731770">
                  <a:moveTo>
                    <a:pt x="3929399" y="2731199"/>
                  </a:moveTo>
                  <a:lnTo>
                    <a:pt x="0" y="2731199"/>
                  </a:lnTo>
                  <a:lnTo>
                    <a:pt x="0" y="0"/>
                  </a:lnTo>
                  <a:lnTo>
                    <a:pt x="3929399" y="0"/>
                  </a:lnTo>
                  <a:lnTo>
                    <a:pt x="3929399" y="2731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83" name="object 6"/>
          <p:cNvSpPr/>
          <p:nvPr/>
        </p:nvSpPr>
        <p:spPr>
          <a:xfrm>
            <a:off x="711360" y="1542240"/>
            <a:ext cx="3543120" cy="173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4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585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-</a:t>
            </a:r>
            <a:r>
              <a:rPr b="1" lang="fr-FR" sz="1400" spc="-5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4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bmuschko/web-app:1.0.1</a:t>
            </a:r>
            <a:endParaRPr b="0" lang="fr-FR" sz="1400" spc="-1" strike="noStrike">
              <a:latin typeface="Arial"/>
            </a:endParaRPr>
          </a:p>
          <a:p>
            <a:pPr marL="439560">
              <a:lnSpc>
                <a:spcPts val="1664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784" name="object 7"/>
          <p:cNvSpPr/>
          <p:nvPr/>
        </p:nvSpPr>
        <p:spPr>
          <a:xfrm>
            <a:off x="1138320" y="3290760"/>
            <a:ext cx="1942920" cy="64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envFrom: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-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secretRef:</a:t>
            </a:r>
            <a:endParaRPr b="0" lang="fr-FR" sz="1400" spc="-1" strike="noStrike">
              <a:latin typeface="Arial"/>
            </a:endParaRPr>
          </a:p>
          <a:p>
            <a:pPr marL="439560">
              <a:lnSpc>
                <a:spcPts val="1664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mysecret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785" name="object 9"/>
          <p:cNvSpPr/>
          <p:nvPr/>
        </p:nvSpPr>
        <p:spPr>
          <a:xfrm>
            <a:off x="5069520" y="1466280"/>
            <a:ext cx="3682080" cy="3222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4560" bIns="0" anchor="t">
            <a:spAutoFit/>
          </a:bodyPr>
          <a:p>
            <a:pPr marL="226800">
              <a:lnSpc>
                <a:spcPct val="100000"/>
              </a:lnSpc>
              <a:spcBef>
                <a:spcPts val="981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env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86" name="object 10"/>
          <p:cNvSpPr/>
          <p:nvPr/>
        </p:nvSpPr>
        <p:spPr>
          <a:xfrm>
            <a:off x="5245560" y="1824840"/>
            <a:ext cx="1086840" cy="1641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50760">
              <a:lnSpc>
                <a:spcPts val="1295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pwd=s3cre!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787" name="object 11"/>
          <p:cNvGrpSpPr/>
          <p:nvPr/>
        </p:nvGrpSpPr>
        <p:grpSpPr>
          <a:xfrm>
            <a:off x="1069560" y="2411640"/>
            <a:ext cx="4929120" cy="1623600"/>
            <a:chOff x="1069560" y="2411640"/>
            <a:chExt cx="4929120" cy="1623600"/>
          </a:xfrm>
        </p:grpSpPr>
        <p:sp>
          <p:nvSpPr>
            <p:cNvPr id="1788" name="object 12"/>
            <p:cNvSpPr/>
            <p:nvPr/>
          </p:nvSpPr>
          <p:spPr>
            <a:xfrm>
              <a:off x="3269160" y="2507760"/>
              <a:ext cx="2688120" cy="1349640"/>
            </a:xfrm>
            <a:custGeom>
              <a:avLst/>
              <a:gdLst/>
              <a:ahLst/>
              <a:rect l="l" t="t" r="r" b="b"/>
              <a:pathLst>
                <a:path w="2691129" h="1352550">
                  <a:moveTo>
                    <a:pt x="0" y="1352408"/>
                  </a:moveTo>
                  <a:lnTo>
                    <a:pt x="2691126" y="1352408"/>
                  </a:lnTo>
                  <a:lnTo>
                    <a:pt x="2691126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789" name="object 13" descr=""/>
            <p:cNvPicPr/>
            <p:nvPr/>
          </p:nvPicPr>
          <p:blipFill>
            <a:blip r:embed="rId2"/>
            <a:stretch/>
          </p:blipFill>
          <p:spPr>
            <a:xfrm>
              <a:off x="5919480" y="2411640"/>
              <a:ext cx="79200" cy="1029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90" name="object 14"/>
            <p:cNvSpPr/>
            <p:nvPr/>
          </p:nvSpPr>
          <p:spPr>
            <a:xfrm>
              <a:off x="1069560" y="3326760"/>
              <a:ext cx="2086920" cy="708480"/>
            </a:xfrm>
            <a:custGeom>
              <a:avLst/>
              <a:gdLst/>
              <a:ahLst/>
              <a:rect l="l" t="t" r="r" b="b"/>
              <a:pathLst>
                <a:path w="2089785" h="711200">
                  <a:moveTo>
                    <a:pt x="0" y="0"/>
                  </a:moveTo>
                  <a:lnTo>
                    <a:pt x="2089499" y="0"/>
                  </a:lnTo>
                  <a:lnTo>
                    <a:pt x="2089499" y="710699"/>
                  </a:lnTo>
                  <a:lnTo>
                    <a:pt x="0" y="7106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91" name="object 15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33B83A9-9828-4877-B0B7-16C4B02C3C2A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80" strike="noStrike">
                <a:solidFill>
                  <a:srgbClr val="000000"/>
                </a:solidFill>
                <a:latin typeface="Tahoma"/>
              </a:rPr>
              <a:t>SSH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Private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Key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File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Imperative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creation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pointing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793" name="object 3"/>
          <p:cNvGrpSpPr/>
          <p:nvPr/>
        </p:nvGrpSpPr>
        <p:grpSpPr>
          <a:xfrm>
            <a:off x="467640" y="1377000"/>
            <a:ext cx="6245280" cy="1094760"/>
            <a:chOff x="467640" y="1377000"/>
            <a:chExt cx="6245280" cy="1094760"/>
          </a:xfrm>
        </p:grpSpPr>
        <p:pic>
          <p:nvPicPr>
            <p:cNvPr id="1794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6245280" cy="1094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95" name="object 5"/>
            <p:cNvSpPr/>
            <p:nvPr/>
          </p:nvSpPr>
          <p:spPr>
            <a:xfrm>
              <a:off x="521280" y="1425600"/>
              <a:ext cx="6131160" cy="980640"/>
            </a:xfrm>
            <a:custGeom>
              <a:avLst/>
              <a:gdLst/>
              <a:ahLst/>
              <a:rect l="l" t="t" r="r" b="b"/>
              <a:pathLst>
                <a:path w="6134100" h="983614">
                  <a:moveTo>
                    <a:pt x="6133799" y="983399"/>
                  </a:moveTo>
                  <a:lnTo>
                    <a:pt x="0" y="983399"/>
                  </a:lnTo>
                  <a:lnTo>
                    <a:pt x="0" y="0"/>
                  </a:lnTo>
                  <a:lnTo>
                    <a:pt x="6133799" y="0"/>
                  </a:lnTo>
                  <a:lnTo>
                    <a:pt x="6133799" y="983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96" name="object 6"/>
          <p:cNvSpPr/>
          <p:nvPr/>
        </p:nvSpPr>
        <p:spPr>
          <a:xfrm>
            <a:off x="674640" y="1568160"/>
            <a:ext cx="46778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generic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secret-ssh-auth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97" name="object 7"/>
          <p:cNvSpPr/>
          <p:nvPr/>
        </p:nvSpPr>
        <p:spPr>
          <a:xfrm>
            <a:off x="3824280" y="1782720"/>
            <a:ext cx="2683080" cy="1958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2400">
              <a:lnSpc>
                <a:spcPts val="1545"/>
              </a:lnSpc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--from-file=ssh-privatekey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98" name="object 8"/>
          <p:cNvSpPr/>
          <p:nvPr/>
        </p:nvSpPr>
        <p:spPr>
          <a:xfrm>
            <a:off x="674640" y="1768320"/>
            <a:ext cx="3093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21096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--type=kubernetes.io/ssh-auth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secret/secret-ssh-auth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99" name="object 10"/>
          <p:cNvSpPr/>
          <p:nvPr/>
        </p:nvSpPr>
        <p:spPr>
          <a:xfrm>
            <a:off x="3488040" y="2958840"/>
            <a:ext cx="4667400" cy="15044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3000" bIns="0" anchor="t">
            <a:spAutoFit/>
          </a:bodyPr>
          <a:p>
            <a:pPr marL="162000">
              <a:lnSpc>
                <a:spcPct val="101000"/>
              </a:lnSpc>
              <a:spcBef>
                <a:spcPts val="120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-----BEGIN RSA PRIVATE KEY-----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62000">
              <a:lnSpc>
                <a:spcPct val="101000"/>
              </a:lnSpc>
              <a:spcBef>
                <a:spcPts val="120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Proc-Type: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4,ENCRYPTED</a:t>
            </a:r>
            <a:endParaRPr b="0" lang="fr-FR" sz="1300" spc="-1" strike="noStrike">
              <a:latin typeface="Arial"/>
            </a:endParaRPr>
          </a:p>
          <a:p>
            <a:pPr marL="1620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DEK-Info:</a:t>
            </a:r>
            <a:endParaRPr b="0" lang="fr-FR" sz="1300" spc="-1" strike="noStrike">
              <a:latin typeface="Arial"/>
            </a:endParaRPr>
          </a:p>
          <a:p>
            <a:pPr marL="1620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AES-128-CBC,8734C9153079F2E8497C8075289EBBF1</a:t>
            </a:r>
            <a:endParaRPr b="0" lang="fr-FR" sz="1300" spc="-1" strike="noStrike">
              <a:latin typeface="Arial"/>
            </a:endParaRPr>
          </a:p>
          <a:p>
            <a:pPr marL="1620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  <a:p>
            <a:pPr marL="1620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-----END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RSA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PRIVATE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KEY-----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800" name="object 11"/>
          <p:cNvGrpSpPr/>
          <p:nvPr/>
        </p:nvGrpSpPr>
        <p:grpSpPr>
          <a:xfrm>
            <a:off x="5835960" y="2199240"/>
            <a:ext cx="79200" cy="596880"/>
            <a:chOff x="5835960" y="2199240"/>
            <a:chExt cx="79200" cy="596880"/>
          </a:xfrm>
        </p:grpSpPr>
        <p:sp>
          <p:nvSpPr>
            <p:cNvPr id="1801" name="object 12"/>
            <p:cNvSpPr/>
            <p:nvPr/>
          </p:nvSpPr>
          <p:spPr>
            <a:xfrm>
              <a:off x="5877000" y="2199240"/>
              <a:ext cx="360" cy="501480"/>
            </a:xfrm>
            <a:custGeom>
              <a:avLst/>
              <a:gdLst/>
              <a:ahLst/>
              <a:rect l="l" t="t" r="r" b="b"/>
              <a:pathLst>
                <a:path w="0" h="504189">
                  <a:moveTo>
                    <a:pt x="0" y="0"/>
                  </a:moveTo>
                  <a:lnTo>
                    <a:pt x="0" y="5036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802" name="object 13" descr=""/>
            <p:cNvPicPr/>
            <p:nvPr/>
          </p:nvPicPr>
          <p:blipFill>
            <a:blip r:embed="rId2"/>
            <a:stretch/>
          </p:blipFill>
          <p:spPr>
            <a:xfrm>
              <a:off x="5835960" y="269352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803" name="object 14"/>
          <p:cNvSpPr/>
          <p:nvPr/>
        </p:nvSpPr>
        <p:spPr>
          <a:xfrm>
            <a:off x="3497760" y="2570760"/>
            <a:ext cx="11692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i="1" lang="fr-FR" sz="1400" spc="-1" strike="noStrike">
                <a:solidFill>
                  <a:srgbClr val="000000"/>
                </a:solidFill>
                <a:latin typeface="Arial"/>
                <a:ea typeface="DejaVu Sans"/>
              </a:rPr>
              <a:t>ssh-privatekey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804" name="object 15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FC3FEA9-0ABA-4E3A-955D-68D7B3A1333D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Consuming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09" strike="noStrike">
                <a:solidFill>
                  <a:srgbClr val="000000"/>
                </a:solidFill>
                <a:latin typeface="Tahoma"/>
              </a:rPr>
              <a:t>as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good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choice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processing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machine-readable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806" name="object 14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F33FD98-B829-459F-81CC-475D45347699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807" name="" descr=""/>
          <p:cNvPicPr/>
          <p:nvPr/>
        </p:nvPicPr>
        <p:blipFill>
          <a:blip r:embed="rId1"/>
          <a:stretch/>
        </p:blipFill>
        <p:spPr>
          <a:xfrm>
            <a:off x="494280" y="1141200"/>
            <a:ext cx="8458920" cy="3357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Plain-Text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Values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stringDat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a</a:t>
            </a:r>
            <a:r>
              <a:rPr b="0" lang="fr-FR" sz="1600" spc="-687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attribute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allows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plain-text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values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809" name="object 12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5A2CAFA-74E0-4316-ACB9-3CA9B41C039A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810" name="" descr=""/>
          <p:cNvPicPr/>
          <p:nvPr/>
        </p:nvPicPr>
        <p:blipFill>
          <a:blip r:embed="rId1"/>
          <a:stretch/>
        </p:blipFill>
        <p:spPr>
          <a:xfrm>
            <a:off x="504000" y="1241640"/>
            <a:ext cx="7918920" cy="3556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Are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Not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Really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Techniques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help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making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Secrets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more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secure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812" name="object 4"/>
          <p:cNvSpPr/>
          <p:nvPr/>
        </p:nvSpPr>
        <p:spPr>
          <a:xfrm>
            <a:off x="8701560" y="4908600"/>
            <a:ext cx="2556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7A267D8-C362-4E61-AF31-F1B119EEFD3F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813" name="object 3"/>
          <p:cNvSpPr/>
          <p:nvPr/>
        </p:nvSpPr>
        <p:spPr>
          <a:xfrm>
            <a:off x="600120" y="1360440"/>
            <a:ext cx="8398800" cy="30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Secret objects are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etcd in unencrypted form by default. Encryption of data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etcd is</a:t>
            </a:r>
            <a:r>
              <a:rPr b="0" lang="fr-FR" sz="1600" spc="-1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configurable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 RBAC permissions to only allow developers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create,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view,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modify 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Secret objects in dedicated namespaces. An even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stricter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policy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could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only allow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administrators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manage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Secrets.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Kubernetes-external,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third-party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Secrets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services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managing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sensitive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data,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13000"/>
              </a:lnSpc>
              <a:buNone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e.g. 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AWS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Secrets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Manager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HashiCorp 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Vault. </a:t>
            </a: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consume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data with 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help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the</a:t>
            </a:r>
            <a:r>
              <a:rPr b="0" lang="fr-FR" sz="1600" spc="-1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External Secrets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3"/>
              </a:rPr>
              <a:t>Operator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16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815" name="object 3"/>
          <p:cNvSpPr/>
          <p:nvPr/>
        </p:nvSpPr>
        <p:spPr>
          <a:xfrm>
            <a:off x="494280" y="1323360"/>
            <a:ext cx="432036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Creating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consuming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ConfigMap and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Secret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6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1817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818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819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6164640" cy="193068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Security</a:t>
            </a:r>
            <a:r>
              <a:rPr b="1" lang="fr-FR" sz="3600" spc="-225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Context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Privilege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9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7" strike="noStrike">
                <a:solidFill>
                  <a:srgbClr val="ffffff"/>
                </a:solidFill>
                <a:latin typeface="Lucida Sans Unicode"/>
              </a:rPr>
              <a:t>access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control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32" strike="noStrike">
                <a:solidFill>
                  <a:srgbClr val="ffffff"/>
                </a:solidFill>
                <a:latin typeface="Lucida Sans Unicode"/>
              </a:rPr>
              <a:t>for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99" strike="noStrike">
                <a:solidFill>
                  <a:srgbClr val="ffffff"/>
                </a:solidFill>
                <a:latin typeface="Lucida Sans Unicode"/>
              </a:rPr>
              <a:t>a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32" strike="noStrike">
                <a:solidFill>
                  <a:srgbClr val="ffffff"/>
                </a:solidFill>
                <a:latin typeface="Lucida Sans Unicode"/>
              </a:rPr>
              <a:t>Pod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572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Security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Context?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security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settings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containers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821" name="object 4"/>
          <p:cNvSpPr/>
          <p:nvPr/>
        </p:nvSpPr>
        <p:spPr>
          <a:xfrm>
            <a:off x="8701560" y="4908600"/>
            <a:ext cx="256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F9C790E-8276-4A17-9B94-0DCC68A02266}" type="slidenum">
              <a:rPr b="0" lang="fr-FR" sz="800" spc="-2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822" name="object 3"/>
          <p:cNvSpPr/>
          <p:nvPr/>
        </p:nvSpPr>
        <p:spPr>
          <a:xfrm>
            <a:off x="600120" y="1360440"/>
            <a:ext cx="7954200" cy="30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Modeled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set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of attributes</a:t>
            </a:r>
            <a:r>
              <a:rPr b="0" lang="fr-FR" sz="1600" spc="-7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3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within the Pod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specification,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e.g. 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Linux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capabilities,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file access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privileges 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parent process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host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system.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applie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h</a:t>
            </a:r>
            <a:r>
              <a:rPr b="0" lang="fr-FR" sz="1600" spc="4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spec.securityContex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600" spc="-81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  individual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spec.containers[].securityContext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Some of the attributes on the Pod- 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container-level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are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same.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Container-level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definition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an attribute takes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precedence.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Example: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“This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non-root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user.”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Security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Context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API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55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attributes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discovered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documentation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version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1824" name="object 3"/>
          <p:cNvGraphicFramePr/>
          <p:nvPr/>
        </p:nvGraphicFramePr>
        <p:xfrm>
          <a:off x="1355400" y="2064600"/>
          <a:ext cx="6744240" cy="1654920"/>
        </p:xfrm>
        <a:graphic>
          <a:graphicData uri="http://schemas.openxmlformats.org/drawingml/2006/table">
            <a:tbl>
              <a:tblPr/>
              <a:tblGrid>
                <a:gridCol w="2400480"/>
                <a:gridCol w="4344120"/>
              </a:tblGrid>
              <a:tr h="553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1114"/>
                        </a:spcBef>
                        <a:buNone/>
                      </a:pPr>
                      <a:r>
                        <a:rPr b="0" lang="fr-FR" sz="17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API</a:t>
                      </a:r>
                      <a:r>
                        <a:rPr b="0" lang="fr-FR" sz="1700" spc="-80" strike="noStrike">
                          <a:solidFill>
                            <a:srgbClr val="ffffff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700" spc="-26" strike="noStrike">
                          <a:solidFill>
                            <a:srgbClr val="ffffff"/>
                          </a:solidFill>
                          <a:latin typeface="Arial MT"/>
                        </a:rPr>
                        <a:t>Type</a:t>
                      </a:r>
                      <a:endParaRPr b="0" lang="fr-FR" sz="17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114"/>
                        </a:spcBef>
                        <a:buNone/>
                      </a:pPr>
                      <a:r>
                        <a:rPr b="0" lang="fr-FR" sz="17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Description</a:t>
                      </a:r>
                      <a:endParaRPr b="0" lang="fr-FR" sz="17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110196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15"/>
                        </a:spcBef>
                        <a:buNone/>
                      </a:pPr>
                      <a:r>
                        <a:rPr b="0" lang="fr-FR" sz="1500" spc="-7" strike="noStrike" u="heavy">
                          <a:solidFill>
                            <a:srgbClr val="0000ff"/>
                          </a:solidFill>
                          <a:uFill>
                            <a:solidFill>
                              <a:srgbClr val="d30020"/>
                            </a:solidFill>
                          </a:uFill>
                          <a:latin typeface="Arial MT"/>
                          <a:hlinkClick r:id="rId1"/>
                        </a:rPr>
                        <a:t>PodSecurityContext</a:t>
                      </a:r>
                      <a:endParaRPr b="0" lang="fr-FR" sz="15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45"/>
                        </a:spcBef>
                        <a:buNone/>
                      </a:pPr>
                      <a:endParaRPr b="0" lang="fr-FR" sz="215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r>
                        <a:rPr b="0" lang="fr-FR" sz="1500" spc="-7" strike="noStrike" u="heavy">
                          <a:solidFill>
                            <a:srgbClr val="0000ff"/>
                          </a:solidFill>
                          <a:uFill>
                            <a:solidFill>
                              <a:srgbClr val="d30020"/>
                            </a:solidFill>
                          </a:uFill>
                          <a:latin typeface="Arial MT"/>
                          <a:hlinkClick r:id="rId2"/>
                        </a:rPr>
                        <a:t>SecurityContext</a:t>
                      </a:r>
                      <a:endParaRPr b="0" lang="fr-FR" sz="15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fffff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15"/>
                        </a:spcBef>
                        <a:buNone/>
                      </a:pPr>
                      <a:r>
                        <a:rPr b="0" lang="fr-FR" sz="15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Defines</a:t>
                      </a:r>
                      <a:r>
                        <a:rPr b="0" lang="fr-FR" sz="15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5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Pod-level</a:t>
                      </a:r>
                      <a:r>
                        <a:rPr b="0" lang="fr-FR" sz="1500" spc="-26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5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security</a:t>
                      </a:r>
                      <a:r>
                        <a:rPr b="0" lang="fr-FR" sz="1500" spc="-26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5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attributes.</a:t>
                      </a:r>
                      <a:endParaRPr b="0" lang="fr-FR" sz="15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45"/>
                        </a:spcBef>
                        <a:buNone/>
                      </a:pPr>
                      <a:endParaRPr b="0" lang="fr-FR" sz="215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r>
                        <a:rPr b="0" lang="fr-FR" sz="15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Defines</a:t>
                      </a:r>
                      <a:r>
                        <a:rPr b="0" lang="fr-FR" sz="15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5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container-level</a:t>
                      </a:r>
                      <a:r>
                        <a:rPr b="0" lang="fr-FR" sz="15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5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security</a:t>
                      </a:r>
                      <a:r>
                        <a:rPr b="0" lang="fr-FR" sz="1500" spc="-26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5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attributes.</a:t>
                      </a:r>
                      <a:endParaRPr b="0" lang="fr-FR" sz="15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25" name="object 5"/>
          <p:cNvSpPr/>
          <p:nvPr/>
        </p:nvSpPr>
        <p:spPr>
          <a:xfrm>
            <a:off x="8701560" y="4908600"/>
            <a:ext cx="256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BB7A209-7988-4EE6-807C-F15E5C6E5034}" type="slidenum">
              <a:rPr b="0" lang="fr-FR" sz="800" spc="-2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Security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Context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Pod-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and/or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container-level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827" name="object 13"/>
          <p:cNvSpPr/>
          <p:nvPr/>
        </p:nvSpPr>
        <p:spPr>
          <a:xfrm>
            <a:off x="8701560" y="4908600"/>
            <a:ext cx="256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98172D1-914F-4C4F-95AC-058EF2455193}" type="slidenum">
              <a:rPr b="0" lang="fr-FR" sz="800" spc="-2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828" name="" descr=""/>
          <p:cNvPicPr/>
          <p:nvPr/>
        </p:nvPicPr>
        <p:blipFill>
          <a:blip r:embed="rId1"/>
          <a:stretch/>
        </p:blipFill>
        <p:spPr>
          <a:xfrm>
            <a:off x="480960" y="1183680"/>
            <a:ext cx="6897960" cy="3396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Runtime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Behavior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Rendering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system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Linux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group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830" name="object 3"/>
          <p:cNvGrpSpPr/>
          <p:nvPr/>
        </p:nvGrpSpPr>
        <p:grpSpPr>
          <a:xfrm>
            <a:off x="467640" y="1377000"/>
            <a:ext cx="5194800" cy="1950480"/>
            <a:chOff x="467640" y="1377000"/>
            <a:chExt cx="5194800" cy="1950480"/>
          </a:xfrm>
        </p:grpSpPr>
        <p:pic>
          <p:nvPicPr>
            <p:cNvPr id="1831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5194800" cy="1950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832" name="object 5"/>
            <p:cNvSpPr/>
            <p:nvPr/>
          </p:nvSpPr>
          <p:spPr>
            <a:xfrm>
              <a:off x="521280" y="1425600"/>
              <a:ext cx="5081040" cy="1836720"/>
            </a:xfrm>
            <a:custGeom>
              <a:avLst/>
              <a:gdLst/>
              <a:ahLst/>
              <a:rect l="l" t="t" r="r" b="b"/>
              <a:pathLst>
                <a:path w="5083810" h="1839595">
                  <a:moveTo>
                    <a:pt x="5083499" y="1838999"/>
                  </a:moveTo>
                  <a:lnTo>
                    <a:pt x="0" y="1838999"/>
                  </a:lnTo>
                  <a:lnTo>
                    <a:pt x="0" y="0"/>
                  </a:lnTo>
                  <a:lnTo>
                    <a:pt x="5083499" y="0"/>
                  </a:lnTo>
                  <a:lnTo>
                    <a:pt x="5083499" y="18389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833" name="object 6"/>
          <p:cNvSpPr/>
          <p:nvPr/>
        </p:nvSpPr>
        <p:spPr>
          <a:xfrm>
            <a:off x="674640" y="1568160"/>
            <a:ext cx="4083840" cy="8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secured-pod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cd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/data/app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touch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hello.txt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ls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-l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834" name="object 7"/>
          <p:cNvSpPr/>
          <p:nvPr/>
        </p:nvSpPr>
        <p:spPr>
          <a:xfrm>
            <a:off x="2440800" y="2571840"/>
            <a:ext cx="460800" cy="2066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29160">
              <a:lnSpc>
                <a:spcPct val="100000"/>
              </a:lnSpc>
              <a:spcBef>
                <a:spcPts val="71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3000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835" name="object 8"/>
          <p:cNvSpPr/>
          <p:nvPr/>
        </p:nvSpPr>
        <p:spPr>
          <a:xfrm>
            <a:off x="2952720" y="2568240"/>
            <a:ext cx="240012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Apr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30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18:27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hello.txt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836" name="object 9"/>
          <p:cNvSpPr/>
          <p:nvPr/>
        </p:nvSpPr>
        <p:spPr>
          <a:xfrm>
            <a:off x="674640" y="2368080"/>
            <a:ext cx="170640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total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-rw-r--r--</a:t>
            </a:r>
            <a:r>
              <a:rPr b="0" lang="fr-FR" sz="1300" spc="-5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root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837" name="object 10"/>
          <p:cNvGrpSpPr/>
          <p:nvPr/>
        </p:nvGrpSpPr>
        <p:grpSpPr>
          <a:xfrm>
            <a:off x="2602800" y="3010320"/>
            <a:ext cx="79200" cy="615600"/>
            <a:chOff x="2602800" y="3010320"/>
            <a:chExt cx="79200" cy="615600"/>
          </a:xfrm>
        </p:grpSpPr>
        <p:sp>
          <p:nvSpPr>
            <p:cNvPr id="1838" name="object 11"/>
            <p:cNvSpPr/>
            <p:nvPr/>
          </p:nvSpPr>
          <p:spPr>
            <a:xfrm>
              <a:off x="2643840" y="3106080"/>
              <a:ext cx="360" cy="519840"/>
            </a:xfrm>
            <a:custGeom>
              <a:avLst/>
              <a:gdLst/>
              <a:ahLst/>
              <a:rect l="l" t="t" r="r" b="b"/>
              <a:pathLst>
                <a:path w="0" h="522604">
                  <a:moveTo>
                    <a:pt x="0" y="5222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839" name="object 12" descr=""/>
            <p:cNvPicPr/>
            <p:nvPr/>
          </p:nvPicPr>
          <p:blipFill>
            <a:blip r:embed="rId2"/>
            <a:stretch/>
          </p:blipFill>
          <p:spPr>
            <a:xfrm>
              <a:off x="2602800" y="301032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840" name="object 13"/>
          <p:cNvSpPr/>
          <p:nvPr/>
        </p:nvSpPr>
        <p:spPr>
          <a:xfrm>
            <a:off x="1656720" y="3761640"/>
            <a:ext cx="248220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File</a:t>
            </a:r>
            <a:r>
              <a:rPr b="0" lang="fr-FR" sz="15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system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group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ID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500" spc="-40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assigned</a:t>
            </a:r>
            <a:r>
              <a:rPr b="0" lang="fr-FR" sz="1500" spc="-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automatically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1841" name="object 14"/>
          <p:cNvSpPr/>
          <p:nvPr/>
        </p:nvSpPr>
        <p:spPr>
          <a:xfrm>
            <a:off x="8701560" y="4908600"/>
            <a:ext cx="256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9EF6332-C697-4CD5-8949-EF3B7DC413E7}" type="slidenum">
              <a:rPr b="0" lang="fr-FR" sz="800" spc="-2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Overriding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3" strike="noStrike">
                <a:solidFill>
                  <a:srgbClr val="000000"/>
                </a:solidFill>
                <a:latin typeface="Tahoma"/>
              </a:rPr>
              <a:t>Value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on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Container-Level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Container-level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wins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843" name="object 3"/>
          <p:cNvGrpSpPr/>
          <p:nvPr/>
        </p:nvGrpSpPr>
        <p:grpSpPr>
          <a:xfrm>
            <a:off x="483840" y="1387440"/>
            <a:ext cx="3674160" cy="2869200"/>
            <a:chOff x="483840" y="1387440"/>
            <a:chExt cx="3674160" cy="2869200"/>
          </a:xfrm>
        </p:grpSpPr>
        <p:pic>
          <p:nvPicPr>
            <p:cNvPr id="1844" name="object 4" descr=""/>
            <p:cNvPicPr/>
            <p:nvPr/>
          </p:nvPicPr>
          <p:blipFill>
            <a:blip r:embed="rId1"/>
            <a:stretch/>
          </p:blipFill>
          <p:spPr>
            <a:xfrm>
              <a:off x="483840" y="1387440"/>
              <a:ext cx="3674160" cy="286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845" name="object 5"/>
            <p:cNvSpPr/>
            <p:nvPr/>
          </p:nvSpPr>
          <p:spPr>
            <a:xfrm>
              <a:off x="537480" y="1435680"/>
              <a:ext cx="3560040" cy="2755440"/>
            </a:xfrm>
            <a:custGeom>
              <a:avLst/>
              <a:gdLst/>
              <a:ahLst/>
              <a:rect l="l" t="t" r="r" b="b"/>
              <a:pathLst>
                <a:path w="3562985" h="2758440">
                  <a:moveTo>
                    <a:pt x="3562799" y="2757899"/>
                  </a:moveTo>
                  <a:lnTo>
                    <a:pt x="0" y="2757899"/>
                  </a:lnTo>
                  <a:lnTo>
                    <a:pt x="0" y="0"/>
                  </a:lnTo>
                  <a:lnTo>
                    <a:pt x="3562799" y="0"/>
                  </a:lnTo>
                  <a:lnTo>
                    <a:pt x="3562799" y="2757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846" name="object 6"/>
          <p:cNvSpPr/>
          <p:nvPr/>
        </p:nvSpPr>
        <p:spPr>
          <a:xfrm>
            <a:off x="747360" y="1566360"/>
            <a:ext cx="239616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non-root-success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847" name="object 7"/>
          <p:cNvSpPr/>
          <p:nvPr/>
        </p:nvSpPr>
        <p:spPr>
          <a:xfrm>
            <a:off x="933840" y="2597040"/>
            <a:ext cx="2193480" cy="3798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3400">
              <a:lnSpc>
                <a:spcPts val="1420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securityContext:</a:t>
            </a:r>
            <a:endParaRPr b="0" lang="fr-FR" sz="1300" spc="-1" strike="noStrike">
              <a:latin typeface="Arial"/>
            </a:endParaRPr>
          </a:p>
          <a:p>
            <a:pPr marL="2145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runAsNonRoot: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false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848" name="object 8"/>
          <p:cNvSpPr/>
          <p:nvPr/>
        </p:nvSpPr>
        <p:spPr>
          <a:xfrm>
            <a:off x="941760" y="2966400"/>
            <a:ext cx="289152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300" spc="-1" strike="noStrike">
              <a:latin typeface="Arial"/>
            </a:endParaRPr>
          </a:p>
          <a:p>
            <a:pPr marL="1584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10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300" spc="-5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bitnami/nginx:1.23.1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849" name="object 9"/>
          <p:cNvSpPr/>
          <p:nvPr/>
        </p:nvSpPr>
        <p:spPr>
          <a:xfrm>
            <a:off x="1074600" y="3597480"/>
            <a:ext cx="2130120" cy="3790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81360">
              <a:lnSpc>
                <a:spcPts val="1414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securityContext:</a:t>
            </a:r>
            <a:endParaRPr b="0" lang="fr-FR" sz="1300" spc="-1" strike="noStrike">
              <a:latin typeface="Arial"/>
            </a:endParaRPr>
          </a:p>
          <a:p>
            <a:pPr marL="2678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runAsNonRoot: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true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850" name="object 10"/>
          <p:cNvGrpSpPr/>
          <p:nvPr/>
        </p:nvGrpSpPr>
        <p:grpSpPr>
          <a:xfrm>
            <a:off x="3343320" y="3782880"/>
            <a:ext cx="1825200" cy="79200"/>
            <a:chOff x="3343320" y="3782880"/>
            <a:chExt cx="1825200" cy="79200"/>
          </a:xfrm>
        </p:grpSpPr>
        <p:sp>
          <p:nvSpPr>
            <p:cNvPr id="1851" name="object 11"/>
            <p:cNvSpPr/>
            <p:nvPr/>
          </p:nvSpPr>
          <p:spPr>
            <a:xfrm>
              <a:off x="3439080" y="3823920"/>
              <a:ext cx="1729440" cy="360"/>
            </a:xfrm>
            <a:custGeom>
              <a:avLst/>
              <a:gdLst/>
              <a:ahLst/>
              <a:rect l="l" t="t" r="r" b="b"/>
              <a:pathLst>
                <a:path w="1732279" h="0">
                  <a:moveTo>
                    <a:pt x="17321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852" name="object 12" descr=""/>
            <p:cNvPicPr/>
            <p:nvPr/>
          </p:nvPicPr>
          <p:blipFill>
            <a:blip r:embed="rId2"/>
            <a:stretch/>
          </p:blipFill>
          <p:spPr>
            <a:xfrm>
              <a:off x="3343320" y="378288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853" name="object 13"/>
          <p:cNvSpPr/>
          <p:nvPr/>
        </p:nvSpPr>
        <p:spPr>
          <a:xfrm>
            <a:off x="5241600" y="3663000"/>
            <a:ext cx="195732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500" spc="-17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ake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precedence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1854" name="object 14"/>
          <p:cNvSpPr/>
          <p:nvPr/>
        </p:nvSpPr>
        <p:spPr>
          <a:xfrm>
            <a:off x="8701560" y="4908600"/>
            <a:ext cx="256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EE82776-C423-4530-B747-9A40457F1181}" type="slidenum">
              <a:rPr b="0" lang="fr-FR" sz="800" spc="-2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Runtime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Behavior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Rendering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current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group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856" name="object 3"/>
          <p:cNvGrpSpPr/>
          <p:nvPr/>
        </p:nvGrpSpPr>
        <p:grpSpPr>
          <a:xfrm>
            <a:off x="467640" y="1377000"/>
            <a:ext cx="5117760" cy="1350000"/>
            <a:chOff x="467640" y="1377000"/>
            <a:chExt cx="5117760" cy="1350000"/>
          </a:xfrm>
        </p:grpSpPr>
        <p:pic>
          <p:nvPicPr>
            <p:cNvPr id="1857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5117760" cy="13500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858" name="object 5"/>
            <p:cNvSpPr/>
            <p:nvPr/>
          </p:nvSpPr>
          <p:spPr>
            <a:xfrm>
              <a:off x="521280" y="1425600"/>
              <a:ext cx="5004000" cy="1235880"/>
            </a:xfrm>
            <a:custGeom>
              <a:avLst/>
              <a:gdLst/>
              <a:ahLst/>
              <a:rect l="l" t="t" r="r" b="b"/>
              <a:pathLst>
                <a:path w="5006975" h="1238885">
                  <a:moveTo>
                    <a:pt x="5006399" y="1238399"/>
                  </a:moveTo>
                  <a:lnTo>
                    <a:pt x="0" y="1238399"/>
                  </a:lnTo>
                  <a:lnTo>
                    <a:pt x="0" y="0"/>
                  </a:lnTo>
                  <a:lnTo>
                    <a:pt x="5006399" y="0"/>
                  </a:lnTo>
                  <a:lnTo>
                    <a:pt x="5006399" y="1238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859" name="object 6"/>
          <p:cNvSpPr/>
          <p:nvPr/>
        </p:nvSpPr>
        <p:spPr>
          <a:xfrm>
            <a:off x="674640" y="1568160"/>
            <a:ext cx="45792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non-root-success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860" name="object 7"/>
          <p:cNvSpPr/>
          <p:nvPr/>
        </p:nvSpPr>
        <p:spPr>
          <a:xfrm>
            <a:off x="656280" y="2008800"/>
            <a:ext cx="846720" cy="1699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0960">
              <a:lnSpc>
                <a:spcPts val="1341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uid=1001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861" name="object 8"/>
          <p:cNvSpPr/>
          <p:nvPr/>
        </p:nvSpPr>
        <p:spPr>
          <a:xfrm>
            <a:off x="1566000" y="1968120"/>
            <a:ext cx="259812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gid=0(root)</a:t>
            </a:r>
            <a:r>
              <a:rPr b="0" lang="fr-FR" sz="13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groups=0(root)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862" name="object 9"/>
          <p:cNvSpPr/>
          <p:nvPr/>
        </p:nvSpPr>
        <p:spPr>
          <a:xfrm>
            <a:off x="674640" y="2168280"/>
            <a:ext cx="6170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0" lang="fr-FR" sz="13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863" name="object 10"/>
          <p:cNvGrpSpPr/>
          <p:nvPr/>
        </p:nvGrpSpPr>
        <p:grpSpPr>
          <a:xfrm>
            <a:off x="1439280" y="2373480"/>
            <a:ext cx="79200" cy="691920"/>
            <a:chOff x="1439280" y="2373480"/>
            <a:chExt cx="79200" cy="691920"/>
          </a:xfrm>
        </p:grpSpPr>
        <p:sp>
          <p:nvSpPr>
            <p:cNvPr id="1864" name="object 11"/>
            <p:cNvSpPr/>
            <p:nvPr/>
          </p:nvSpPr>
          <p:spPr>
            <a:xfrm>
              <a:off x="1479960" y="2469600"/>
              <a:ext cx="360" cy="595800"/>
            </a:xfrm>
            <a:custGeom>
              <a:avLst/>
              <a:gdLst/>
              <a:ahLst/>
              <a:rect l="l" t="t" r="r" b="b"/>
              <a:pathLst>
                <a:path w="0" h="598805">
                  <a:moveTo>
                    <a:pt x="0" y="5981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865" name="object 12" descr=""/>
            <p:cNvPicPr/>
            <p:nvPr/>
          </p:nvPicPr>
          <p:blipFill>
            <a:blip r:embed="rId2"/>
            <a:stretch/>
          </p:blipFill>
          <p:spPr>
            <a:xfrm>
              <a:off x="1439280" y="237348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866" name="object 13"/>
          <p:cNvSpPr/>
          <p:nvPr/>
        </p:nvSpPr>
        <p:spPr>
          <a:xfrm>
            <a:off x="740160" y="3133080"/>
            <a:ext cx="177876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Non-root</a:t>
            </a:r>
            <a:r>
              <a:rPr b="0" lang="fr-FR" sz="15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user</a:t>
            </a:r>
            <a:r>
              <a:rPr b="0" lang="fr-FR" sz="15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ID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1867" name="object 14"/>
          <p:cNvSpPr/>
          <p:nvPr/>
        </p:nvSpPr>
        <p:spPr>
          <a:xfrm>
            <a:off x="8701560" y="4908600"/>
            <a:ext cx="256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8660218-07F0-4FA2-A917-879AEB77EEA0}" type="slidenum">
              <a:rPr b="0" lang="fr-FR" sz="800" spc="-2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8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17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869" name="object 3"/>
          <p:cNvSpPr/>
          <p:nvPr/>
        </p:nvSpPr>
        <p:spPr>
          <a:xfrm>
            <a:off x="494280" y="1323360"/>
            <a:ext cx="382464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Defining</a:t>
            </a:r>
            <a:r>
              <a:rPr b="0" lang="fr-FR" sz="2900" spc="-5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Security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Context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0" name="object 2" descr=""/>
          <p:cNvPicPr/>
          <p:nvPr/>
        </p:nvPicPr>
        <p:blipFill>
          <a:blip r:embed="rId1"/>
          <a:stretch/>
        </p:blipFill>
        <p:spPr>
          <a:xfrm>
            <a:off x="0" y="0"/>
            <a:ext cx="9141120" cy="5140440"/>
          </a:xfrm>
          <a:prstGeom prst="rect">
            <a:avLst/>
          </a:prstGeom>
          <a:ln w="0">
            <a:noFill/>
          </a:ln>
        </p:spPr>
      </p:pic>
      <p:sp>
        <p:nvSpPr>
          <p:cNvPr id="1871" name="PlaceHolder 1"/>
          <p:cNvSpPr>
            <a:spLocks noGrp="1"/>
          </p:cNvSpPr>
          <p:nvPr>
            <p:ph type="title"/>
          </p:nvPr>
        </p:nvSpPr>
        <p:spPr>
          <a:xfrm>
            <a:off x="494280" y="1767960"/>
            <a:ext cx="4004640" cy="251172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1" lang="fr-FR" sz="3600" spc="18" strike="noStrike">
                <a:solidFill>
                  <a:srgbClr val="ffffff"/>
                </a:solidFill>
                <a:latin typeface="Tahoma"/>
              </a:rPr>
              <a:t>Services </a:t>
            </a:r>
            <a:r>
              <a:rPr b="1" lang="fr-FR" sz="3600" spc="-15" strike="noStrike">
                <a:solidFill>
                  <a:srgbClr val="ffffff"/>
                </a:solidFill>
                <a:latin typeface="Tahoma"/>
              </a:rPr>
              <a:t>&amp; </a:t>
            </a:r>
            <a:r>
              <a:rPr b="1" lang="fr-FR" sz="3600" spc="-1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41" strike="noStrike">
                <a:solidFill>
                  <a:srgbClr val="ffffff"/>
                </a:solidFill>
                <a:latin typeface="Tahoma"/>
              </a:rPr>
              <a:t>Networking</a:t>
            </a:r>
            <a:endParaRPr b="0" lang="fr-FR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2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1873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874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875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6524640" cy="138204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18" strike="noStrike">
                <a:solidFill>
                  <a:srgbClr val="ffffff"/>
                </a:solidFill>
                <a:latin typeface="Tahoma"/>
              </a:rPr>
              <a:t>Services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Providing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99" strike="noStrike">
                <a:solidFill>
                  <a:srgbClr val="ffffff"/>
                </a:solidFill>
                <a:latin typeface="Lucida Sans Unicode"/>
              </a:rPr>
              <a:t>a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32" strike="noStrike">
                <a:solidFill>
                  <a:srgbClr val="ffffff"/>
                </a:solidFill>
                <a:latin typeface="Lucida Sans Unicode"/>
              </a:rPr>
              <a:t>stable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network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2" strike="noStrike">
                <a:solidFill>
                  <a:srgbClr val="ffffff"/>
                </a:solidFill>
                <a:latin typeface="Lucida Sans Unicode"/>
              </a:rPr>
              <a:t>endpoint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to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4" strike="noStrike">
                <a:solidFill>
                  <a:srgbClr val="ffffff"/>
                </a:solidFill>
                <a:latin typeface="Lucida Sans Unicode"/>
              </a:rPr>
              <a:t>Pods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Stable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endpoint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routing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traffic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Pods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877" name="PlaceHolder 2"/>
          <p:cNvSpPr>
            <a:spLocks noGrp="1"/>
          </p:cNvSpPr>
          <p:nvPr>
            <p:ph type="sldNum" idx="28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E3F08E7-5F1C-461F-92AA-FD3FE12A0A75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878" name="object 3"/>
          <p:cNvSpPr/>
          <p:nvPr/>
        </p:nvSpPr>
        <p:spPr>
          <a:xfrm>
            <a:off x="600120" y="1360440"/>
            <a:ext cx="8398800" cy="19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Pod’s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virtual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IP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 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considered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stable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over time.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restart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leases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IP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Building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microservices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architecture on Kubernetes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 endpoints that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stable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over time.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provides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discoverable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load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balancing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Pods.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Request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Routing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"How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does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decide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which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forward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request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to?"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880" name="object 3" descr=""/>
          <p:cNvPicPr/>
          <p:nvPr/>
        </p:nvPicPr>
        <p:blipFill>
          <a:blip r:embed="rId1"/>
          <a:stretch/>
        </p:blipFill>
        <p:spPr>
          <a:xfrm>
            <a:off x="2268000" y="1542960"/>
            <a:ext cx="5387400" cy="2984040"/>
          </a:xfrm>
          <a:prstGeom prst="rect">
            <a:avLst/>
          </a:prstGeom>
          <a:ln w="0">
            <a:noFill/>
          </a:ln>
        </p:spPr>
      </p:pic>
      <p:sp>
        <p:nvSpPr>
          <p:cNvPr id="1881" name="PlaceHolder 2"/>
          <p:cNvSpPr>
            <a:spLocks noGrp="1"/>
          </p:cNvSpPr>
          <p:nvPr>
            <p:ph type="sldNum" idx="29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27E0D7A-8973-473F-A914-056020F4C5DD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55" strike="noStrike">
                <a:solidFill>
                  <a:srgbClr val="000000"/>
                </a:solidFill>
                <a:latin typeface="Tahoma"/>
              </a:rPr>
              <a:t>Port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Mapping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"How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17" strike="noStrike">
                <a:solidFill>
                  <a:srgbClr val="666666"/>
                </a:solidFill>
                <a:latin typeface="Lucida Sans Unicode"/>
              </a:rPr>
              <a:t>map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Pod?"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883" name="object 3" descr=""/>
          <p:cNvPicPr/>
          <p:nvPr/>
        </p:nvPicPr>
        <p:blipFill>
          <a:blip r:embed="rId1"/>
          <a:stretch/>
        </p:blipFill>
        <p:spPr>
          <a:xfrm>
            <a:off x="1612080" y="1690200"/>
            <a:ext cx="5829840" cy="3001680"/>
          </a:xfrm>
          <a:prstGeom prst="rect">
            <a:avLst/>
          </a:prstGeom>
          <a:ln w="0">
            <a:noFill/>
          </a:ln>
        </p:spPr>
      </p:pic>
      <p:sp>
        <p:nvSpPr>
          <p:cNvPr id="1884" name="PlaceHolder 2"/>
          <p:cNvSpPr>
            <a:spLocks noGrp="1"/>
          </p:cNvSpPr>
          <p:nvPr>
            <p:ph type="sldNum" idx="30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ADC78DA-D4C3-4A7F-B00B-6AD5B2088097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3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Needs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886" name="object 3"/>
          <p:cNvGrpSpPr/>
          <p:nvPr/>
        </p:nvGrpSpPr>
        <p:grpSpPr>
          <a:xfrm>
            <a:off x="455400" y="1360440"/>
            <a:ext cx="3728160" cy="3503160"/>
            <a:chOff x="455400" y="1360440"/>
            <a:chExt cx="3728160" cy="3503160"/>
          </a:xfrm>
        </p:grpSpPr>
        <p:pic>
          <p:nvPicPr>
            <p:cNvPr id="1887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3728160" cy="35031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888" name="object 5"/>
            <p:cNvSpPr/>
            <p:nvPr/>
          </p:nvSpPr>
          <p:spPr>
            <a:xfrm>
              <a:off x="509040" y="1408680"/>
              <a:ext cx="3614040" cy="3389400"/>
            </a:xfrm>
            <a:custGeom>
              <a:avLst/>
              <a:gdLst/>
              <a:ahLst/>
              <a:rect l="l" t="t" r="r" b="b"/>
              <a:pathLst>
                <a:path w="3616960" h="3392170">
                  <a:moveTo>
                    <a:pt x="3616799" y="3391799"/>
                  </a:moveTo>
                  <a:lnTo>
                    <a:pt x="0" y="3391799"/>
                  </a:lnTo>
                  <a:lnTo>
                    <a:pt x="0" y="0"/>
                  </a:lnTo>
                  <a:lnTo>
                    <a:pt x="3616799" y="0"/>
                  </a:lnTo>
                  <a:lnTo>
                    <a:pt x="3616799" y="3391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889" name="object 6"/>
          <p:cNvSpPr/>
          <p:nvPr/>
        </p:nvSpPr>
        <p:spPr>
          <a:xfrm>
            <a:off x="718920" y="1557720"/>
            <a:ext cx="311508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  <a:p>
            <a:pPr marL="180360">
              <a:lnSpc>
                <a:spcPts val="1434"/>
              </a:lnSpc>
              <a:buNone/>
            </a:pPr>
            <a:r>
              <a:rPr b="1" lang="fr-FR" sz="1100" spc="-12" strike="noStrike">
                <a:solidFill>
                  <a:srgbClr val="000000"/>
                </a:solidFill>
                <a:latin typeface="Courier New"/>
                <a:ea typeface="DejaVu Sans"/>
              </a:rPr>
              <a:t>--image=k8s.gcr.io/echoserver:1.10</a:t>
            </a:r>
            <a:r>
              <a:rPr b="0" lang="fr-FR" sz="1200" spc="-12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90" name="object 7"/>
          <p:cNvSpPr/>
          <p:nvPr/>
        </p:nvSpPr>
        <p:spPr>
          <a:xfrm>
            <a:off x="871560" y="1936800"/>
            <a:ext cx="1004760" cy="1634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7360">
              <a:lnSpc>
                <a:spcPts val="1290"/>
              </a:lnSpc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--port=8080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891" name="object 8"/>
          <p:cNvSpPr/>
          <p:nvPr/>
        </p:nvSpPr>
        <p:spPr>
          <a:xfrm>
            <a:off x="718920" y="2091960"/>
            <a:ext cx="1866600" cy="91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pod/echoserver</a:t>
            </a:r>
            <a:r>
              <a:rPr b="0" lang="fr-FR" sz="11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endParaRPr b="0" lang="fr-FR" sz="1250" spc="-1" strike="noStrike">
              <a:latin typeface="Arial"/>
            </a:endParaRPr>
          </a:p>
          <a:p>
            <a:pPr marL="180360" indent="-167760">
              <a:lnSpc>
                <a:spcPts val="1429"/>
              </a:lnSpc>
              <a:buNone/>
              <a:tabLst>
                <a:tab algn="l" pos="0"/>
              </a:tabLst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 create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</a:t>
            </a:r>
            <a:r>
              <a:rPr b="1" lang="fr-FR" sz="1100" spc="-9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clusterip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585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92" name="object 9"/>
          <p:cNvSpPr/>
          <p:nvPr/>
        </p:nvSpPr>
        <p:spPr>
          <a:xfrm>
            <a:off x="854280" y="3009240"/>
            <a:ext cx="1189080" cy="1483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4280">
              <a:lnSpc>
                <a:spcPts val="1171"/>
              </a:lnSpc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--tcp=80:8080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893" name="object 10"/>
          <p:cNvSpPr/>
          <p:nvPr/>
        </p:nvSpPr>
        <p:spPr>
          <a:xfrm>
            <a:off x="718920" y="3148920"/>
            <a:ext cx="311508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service/echoserver</a:t>
            </a:r>
            <a:r>
              <a:rPr b="0" lang="fr-FR" sz="11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  <a:p>
            <a:pPr marL="180360">
              <a:lnSpc>
                <a:spcPts val="1426"/>
              </a:lnSpc>
              <a:buNone/>
            </a:pPr>
            <a:r>
              <a:rPr b="1" lang="fr-FR" sz="1100" spc="-12" strike="noStrike">
                <a:solidFill>
                  <a:srgbClr val="000000"/>
                </a:solidFill>
                <a:latin typeface="Courier New"/>
                <a:ea typeface="DejaVu Sans"/>
              </a:rPr>
              <a:t>--image=k8s.gcr.io/echoserver:1.10</a:t>
            </a:r>
            <a:r>
              <a:rPr b="0" lang="fr-FR" sz="1200" spc="-12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  <a:p>
            <a:pPr marL="180360">
              <a:lnSpc>
                <a:spcPts val="1434"/>
              </a:lnSpc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--port=8080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94" name="object 11"/>
          <p:cNvSpPr/>
          <p:nvPr/>
        </p:nvSpPr>
        <p:spPr>
          <a:xfrm>
            <a:off x="862920" y="4064400"/>
            <a:ext cx="767880" cy="1508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6360">
              <a:lnSpc>
                <a:spcPts val="1191"/>
              </a:lnSpc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--expose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895" name="object 12"/>
          <p:cNvSpPr/>
          <p:nvPr/>
        </p:nvSpPr>
        <p:spPr>
          <a:xfrm>
            <a:off x="718920" y="4206240"/>
            <a:ext cx="220176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12600">
              <a:lnSpc>
                <a:spcPct val="102000"/>
              </a:lnSpc>
              <a:spcBef>
                <a:spcPts val="7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service/echoserver created pod/echoserver</a:t>
            </a:r>
            <a:r>
              <a:rPr b="0" lang="fr-FR" sz="11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896" name="object 13"/>
          <p:cNvSpPr/>
          <p:nvPr/>
        </p:nvSpPr>
        <p:spPr>
          <a:xfrm>
            <a:off x="4761360" y="4016880"/>
            <a:ext cx="33375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Shortcut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creating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+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897" name="object 14"/>
          <p:cNvGrpSpPr/>
          <p:nvPr/>
        </p:nvGrpSpPr>
        <p:grpSpPr>
          <a:xfrm>
            <a:off x="1800360" y="1991880"/>
            <a:ext cx="2903040" cy="2198520"/>
            <a:chOff x="1800360" y="1991880"/>
            <a:chExt cx="2903040" cy="2198520"/>
          </a:xfrm>
        </p:grpSpPr>
        <p:sp>
          <p:nvSpPr>
            <p:cNvPr id="1898" name="object 15"/>
            <p:cNvSpPr/>
            <p:nvPr/>
          </p:nvSpPr>
          <p:spPr>
            <a:xfrm>
              <a:off x="1896120" y="4152240"/>
              <a:ext cx="2790000" cy="13680"/>
            </a:xfrm>
            <a:custGeom>
              <a:avLst/>
              <a:gdLst/>
              <a:ahLst/>
              <a:rect l="l" t="t" r="r" b="b"/>
              <a:pathLst>
                <a:path w="2792729" h="16510">
                  <a:moveTo>
                    <a:pt x="2792101" y="16427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899" name="object 16" descr=""/>
            <p:cNvPicPr/>
            <p:nvPr/>
          </p:nvPicPr>
          <p:blipFill>
            <a:blip r:embed="rId2"/>
            <a:stretch/>
          </p:blipFill>
          <p:spPr>
            <a:xfrm>
              <a:off x="1800360" y="4111200"/>
              <a:ext cx="10296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00" name="object 17"/>
            <p:cNvSpPr/>
            <p:nvPr/>
          </p:nvSpPr>
          <p:spPr>
            <a:xfrm>
              <a:off x="2297520" y="3096360"/>
              <a:ext cx="2387880" cy="6120"/>
            </a:xfrm>
            <a:custGeom>
              <a:avLst/>
              <a:gdLst/>
              <a:ahLst/>
              <a:rect l="l" t="t" r="r" b="b"/>
              <a:pathLst>
                <a:path w="2390775" h="8889">
                  <a:moveTo>
                    <a:pt x="2390700" y="8303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01" name="object 18" descr=""/>
            <p:cNvPicPr/>
            <p:nvPr/>
          </p:nvPicPr>
          <p:blipFill>
            <a:blip r:embed="rId3"/>
            <a:stretch/>
          </p:blipFill>
          <p:spPr>
            <a:xfrm>
              <a:off x="2201760" y="305532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02" name="object 19"/>
            <p:cNvSpPr/>
            <p:nvPr/>
          </p:nvSpPr>
          <p:spPr>
            <a:xfrm>
              <a:off x="2145960" y="2032920"/>
              <a:ext cx="2557440" cy="6120"/>
            </a:xfrm>
            <a:custGeom>
              <a:avLst/>
              <a:gdLst/>
              <a:ahLst/>
              <a:rect l="l" t="t" r="r" b="b"/>
              <a:pathLst>
                <a:path w="2560320" h="8889">
                  <a:moveTo>
                    <a:pt x="2560200" y="8328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03" name="object 20" descr=""/>
            <p:cNvPicPr/>
            <p:nvPr/>
          </p:nvPicPr>
          <p:blipFill>
            <a:blip r:embed="rId4"/>
            <a:stretch/>
          </p:blipFill>
          <p:spPr>
            <a:xfrm>
              <a:off x="2049840" y="199188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904" name="object 21"/>
          <p:cNvSpPr/>
          <p:nvPr/>
        </p:nvSpPr>
        <p:spPr>
          <a:xfrm>
            <a:off x="4761360" y="2953080"/>
            <a:ext cx="26175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Incoming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outgoing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port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905" name="PlaceHolder 2"/>
          <p:cNvSpPr>
            <a:spLocks noGrp="1"/>
          </p:cNvSpPr>
          <p:nvPr>
            <p:ph type="sldNum" idx="31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34B7A85-BC50-45BB-A108-B6D8D8DA6E81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906" name="object 22"/>
          <p:cNvSpPr/>
          <p:nvPr/>
        </p:nvSpPr>
        <p:spPr>
          <a:xfrm>
            <a:off x="4779000" y="1889280"/>
            <a:ext cx="29599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Exposed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port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Needs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908" name="object 3"/>
          <p:cNvGrpSpPr/>
          <p:nvPr/>
        </p:nvGrpSpPr>
        <p:grpSpPr>
          <a:xfrm>
            <a:off x="480600" y="1375560"/>
            <a:ext cx="2525760" cy="2710800"/>
            <a:chOff x="480600" y="1375560"/>
            <a:chExt cx="2525760" cy="2710800"/>
          </a:xfrm>
        </p:grpSpPr>
        <p:pic>
          <p:nvPicPr>
            <p:cNvPr id="1909" name="object 4" descr=""/>
            <p:cNvPicPr/>
            <p:nvPr/>
          </p:nvPicPr>
          <p:blipFill>
            <a:blip r:embed="rId1"/>
            <a:stretch/>
          </p:blipFill>
          <p:spPr>
            <a:xfrm>
              <a:off x="480600" y="1375560"/>
              <a:ext cx="2525760" cy="2710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10" name="object 5"/>
            <p:cNvSpPr/>
            <p:nvPr/>
          </p:nvSpPr>
          <p:spPr>
            <a:xfrm>
              <a:off x="534240" y="1424160"/>
              <a:ext cx="2412000" cy="2596680"/>
            </a:xfrm>
            <a:custGeom>
              <a:avLst/>
              <a:gdLst/>
              <a:ahLst/>
              <a:rect l="l" t="t" r="r" b="b"/>
              <a:pathLst>
                <a:path w="2414905" h="2599690">
                  <a:moveTo>
                    <a:pt x="2414399" y="2599499"/>
                  </a:moveTo>
                  <a:lnTo>
                    <a:pt x="0" y="2599499"/>
                  </a:lnTo>
                  <a:lnTo>
                    <a:pt x="0" y="0"/>
                  </a:lnTo>
                  <a:lnTo>
                    <a:pt x="2414399" y="0"/>
                  </a:lnTo>
                  <a:lnTo>
                    <a:pt x="2414399" y="2599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911" name="object 6"/>
          <p:cNvSpPr/>
          <p:nvPr/>
        </p:nvSpPr>
        <p:spPr>
          <a:xfrm>
            <a:off x="730080" y="1562040"/>
            <a:ext cx="2003760" cy="22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selector:</a:t>
            </a:r>
            <a:endParaRPr b="0" lang="fr-FR" sz="1300" spc="-1" strike="noStrike">
              <a:latin typeface="Arial"/>
            </a:endParaRPr>
          </a:p>
          <a:p>
            <a:pPr marL="408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app: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ports: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-</a:t>
            </a:r>
            <a:r>
              <a:rPr b="1" lang="fr-FR" sz="13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port:</a:t>
            </a:r>
            <a:r>
              <a:rPr b="1" lang="fr-FR" sz="1300" spc="-4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80</a:t>
            </a:r>
            <a:endParaRPr b="0" lang="fr-FR" sz="1300" spc="-1" strike="noStrike">
              <a:latin typeface="Arial"/>
            </a:endParaRPr>
          </a:p>
          <a:p>
            <a:pPr marL="408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targetPort:</a:t>
            </a:r>
            <a:r>
              <a:rPr b="1" lang="fr-FR" sz="13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8080</a:t>
            </a:r>
            <a:endParaRPr b="0" lang="fr-FR" sz="1300" spc="-1" strike="noStrike">
              <a:latin typeface="Arial"/>
            </a:endParaRPr>
          </a:p>
          <a:p>
            <a:pPr marL="4014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protocol: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TCP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912" name="object 7"/>
          <p:cNvGrpSpPr/>
          <p:nvPr/>
        </p:nvGrpSpPr>
        <p:grpSpPr>
          <a:xfrm>
            <a:off x="2759040" y="2846160"/>
            <a:ext cx="1904760" cy="674280"/>
            <a:chOff x="2759040" y="2846160"/>
            <a:chExt cx="1904760" cy="674280"/>
          </a:xfrm>
        </p:grpSpPr>
        <p:sp>
          <p:nvSpPr>
            <p:cNvPr id="1913" name="object 8"/>
            <p:cNvSpPr/>
            <p:nvPr/>
          </p:nvSpPr>
          <p:spPr>
            <a:xfrm>
              <a:off x="3017520" y="3482280"/>
              <a:ext cx="1646280" cy="360"/>
            </a:xfrm>
            <a:custGeom>
              <a:avLst/>
              <a:gdLst/>
              <a:ahLst/>
              <a:rect l="l" t="t" r="r" b="b"/>
              <a:pathLst>
                <a:path w="1649095" h="0">
                  <a:moveTo>
                    <a:pt x="16487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14" name="object 9" descr=""/>
            <p:cNvPicPr/>
            <p:nvPr/>
          </p:nvPicPr>
          <p:blipFill>
            <a:blip r:embed="rId2"/>
            <a:stretch/>
          </p:blipFill>
          <p:spPr>
            <a:xfrm>
              <a:off x="2921400" y="344124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15" name="object 10"/>
            <p:cNvSpPr/>
            <p:nvPr/>
          </p:nvSpPr>
          <p:spPr>
            <a:xfrm>
              <a:off x="2855160" y="2886840"/>
              <a:ext cx="1799280" cy="360"/>
            </a:xfrm>
            <a:custGeom>
              <a:avLst/>
              <a:gdLst/>
              <a:ahLst/>
              <a:rect l="l" t="t" r="r" b="b"/>
              <a:pathLst>
                <a:path w="1802129" h="0">
                  <a:moveTo>
                    <a:pt x="18020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16" name="object 11" descr=""/>
            <p:cNvPicPr/>
            <p:nvPr/>
          </p:nvPicPr>
          <p:blipFill>
            <a:blip r:embed="rId3"/>
            <a:stretch/>
          </p:blipFill>
          <p:spPr>
            <a:xfrm>
              <a:off x="2759040" y="284616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917" name="object 12"/>
          <p:cNvSpPr/>
          <p:nvPr/>
        </p:nvSpPr>
        <p:spPr>
          <a:xfrm>
            <a:off x="4759560" y="3351960"/>
            <a:ext cx="36993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Mapping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incoming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outgoing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port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918" name="PlaceHolder 2"/>
          <p:cNvSpPr>
            <a:spLocks noGrp="1"/>
          </p:cNvSpPr>
          <p:nvPr>
            <p:ph type="sldNum" idx="32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1CD85D7-1DC4-4211-9531-26107AFC3B9B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919" name="object 13"/>
          <p:cNvSpPr/>
          <p:nvPr/>
        </p:nvSpPr>
        <p:spPr>
          <a:xfrm>
            <a:off x="4764960" y="2751120"/>
            <a:ext cx="2433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Label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selection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Pods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Types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following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table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shows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limited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list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types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1921" name="object 3"/>
          <p:cNvGraphicFramePr/>
          <p:nvPr/>
        </p:nvGraphicFramePr>
        <p:xfrm>
          <a:off x="502200" y="1408680"/>
          <a:ext cx="7237440" cy="2654280"/>
        </p:xfrm>
        <a:graphic>
          <a:graphicData uri="http://schemas.openxmlformats.org/drawingml/2006/table">
            <a:tbl>
              <a:tblPr/>
              <a:tblGrid>
                <a:gridCol w="2492280"/>
                <a:gridCol w="4745520"/>
              </a:tblGrid>
              <a:tr h="553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21" strike="noStrike">
                          <a:solidFill>
                            <a:srgbClr val="ffffff"/>
                          </a:solidFill>
                          <a:latin typeface="Arial MT"/>
                        </a:rPr>
                        <a:t>Type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Description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2101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ClusterIP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14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3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NodePort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3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LoadBalancer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 algn="just">
                        <a:lnSpc>
                          <a:spcPts val="1429"/>
                        </a:lnSpc>
                        <a:spcBef>
                          <a:spcPts val="68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Exposes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service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on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 cluster-internal </a:t>
                      </a:r>
                      <a:r>
                        <a:rPr b="0" lang="fr-FR" sz="1200" spc="-55" strike="noStrike">
                          <a:solidFill>
                            <a:srgbClr val="000000"/>
                          </a:solidFill>
                          <a:latin typeface="Arial MT"/>
                        </a:rPr>
                        <a:t>IP.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Only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reachable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from Pods within the 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cluster.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Default if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value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for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spec.type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has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not been assigned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manifest.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45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Exposes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service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on each node's IP at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 static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port.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Accessible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from outside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of the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cluster.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26"/>
                        </a:spcBef>
                        <a:buNone/>
                      </a:pPr>
                      <a:endParaRPr b="0" lang="fr-FR" sz="125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Exposes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service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externally using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 cloud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provider’s load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balancer.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22" name="PlaceHolder 2"/>
          <p:cNvSpPr>
            <a:spLocks noGrp="1"/>
          </p:cNvSpPr>
          <p:nvPr>
            <p:ph type="sldNum" idx="33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C35EFAF-AE5A-426D-9701-064439E6539B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Type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Inheritance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Services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build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top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each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other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924" name="object 3" descr=""/>
          <p:cNvPicPr/>
          <p:nvPr/>
        </p:nvPicPr>
        <p:blipFill>
          <a:blip r:embed="rId1"/>
          <a:stretch/>
        </p:blipFill>
        <p:spPr>
          <a:xfrm>
            <a:off x="1754280" y="1519920"/>
            <a:ext cx="5545080" cy="3150000"/>
          </a:xfrm>
          <a:prstGeom prst="rect">
            <a:avLst/>
          </a:prstGeom>
          <a:ln w="0">
            <a:noFill/>
          </a:ln>
        </p:spPr>
      </p:pic>
      <p:sp>
        <p:nvSpPr>
          <p:cNvPr id="1925" name="PlaceHolder 2"/>
          <p:cNvSpPr>
            <a:spLocks noGrp="1"/>
          </p:cNvSpPr>
          <p:nvPr>
            <p:ph type="sldNum" idx="34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4BCA5DF-419B-40B8-9794-8433D1E69FEB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6" strike="noStrike">
                <a:solidFill>
                  <a:srgbClr val="000000"/>
                </a:solidFill>
                <a:latin typeface="Tahoma"/>
              </a:rPr>
              <a:t>ClusterIP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Type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Only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reachable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within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cluster,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e.g.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another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927" name="object 3" descr=""/>
          <p:cNvPicPr/>
          <p:nvPr/>
        </p:nvPicPr>
        <p:blipFill>
          <a:blip r:embed="rId1"/>
          <a:stretch/>
        </p:blipFill>
        <p:spPr>
          <a:xfrm>
            <a:off x="2920680" y="1514880"/>
            <a:ext cx="3213000" cy="3153960"/>
          </a:xfrm>
          <a:prstGeom prst="rect">
            <a:avLst/>
          </a:prstGeom>
          <a:ln w="0">
            <a:noFill/>
          </a:ln>
        </p:spPr>
      </p:pic>
      <p:sp>
        <p:nvSpPr>
          <p:cNvPr id="1928" name="PlaceHolder 2"/>
          <p:cNvSpPr>
            <a:spLocks noGrp="1"/>
          </p:cNvSpPr>
          <p:nvPr>
            <p:ph type="sldNum" idx="35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484951D-3704-4B92-AF2A-64D90D196C7A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6" strike="noStrike">
                <a:solidFill>
                  <a:srgbClr val="000000"/>
                </a:solidFill>
                <a:latin typeface="Tahoma"/>
              </a:rPr>
              <a:t>ClusterIP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Runtime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ClusterIP</a:t>
            </a:r>
            <a:r>
              <a:rPr b="0" lang="fr-FR" sz="1600" spc="-670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has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been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assigned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already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provided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930" name="PlaceHolder 2"/>
          <p:cNvSpPr>
            <a:spLocks noGrp="1"/>
          </p:cNvSpPr>
          <p:nvPr>
            <p:ph type="sldNum" idx="36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206AD29-D179-4046-A21F-08BF6885DF65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931" name="" descr=""/>
          <p:cNvPicPr/>
          <p:nvPr/>
        </p:nvPicPr>
        <p:blipFill>
          <a:blip r:embed="rId1"/>
          <a:stretch/>
        </p:blipFill>
        <p:spPr>
          <a:xfrm>
            <a:off x="504000" y="1260000"/>
            <a:ext cx="3011760" cy="3134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Accessing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6" strike="noStrike">
                <a:solidFill>
                  <a:srgbClr val="000000"/>
                </a:solidFill>
                <a:latin typeface="Tahoma"/>
              </a:rPr>
              <a:t>ClusterIP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combination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IP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incoming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933" name="object 3"/>
          <p:cNvGrpSpPr/>
          <p:nvPr/>
        </p:nvGrpSpPr>
        <p:grpSpPr>
          <a:xfrm>
            <a:off x="455400" y="1360440"/>
            <a:ext cx="7589880" cy="2558880"/>
            <a:chOff x="455400" y="1360440"/>
            <a:chExt cx="7589880" cy="2558880"/>
          </a:xfrm>
        </p:grpSpPr>
        <p:pic>
          <p:nvPicPr>
            <p:cNvPr id="1934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7589880" cy="25588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35" name="object 5"/>
            <p:cNvSpPr/>
            <p:nvPr/>
          </p:nvSpPr>
          <p:spPr>
            <a:xfrm>
              <a:off x="509040" y="1408680"/>
              <a:ext cx="7475400" cy="2445120"/>
            </a:xfrm>
            <a:custGeom>
              <a:avLst/>
              <a:gdLst/>
              <a:ahLst/>
              <a:rect l="l" t="t" r="r" b="b"/>
              <a:pathLst>
                <a:path w="7478395" h="2447925">
                  <a:moveTo>
                    <a:pt x="7478399" y="2447399"/>
                  </a:moveTo>
                  <a:lnTo>
                    <a:pt x="0" y="2447399"/>
                  </a:lnTo>
                  <a:lnTo>
                    <a:pt x="0" y="0"/>
                  </a:lnTo>
                  <a:lnTo>
                    <a:pt x="7478399" y="0"/>
                  </a:lnTo>
                  <a:lnTo>
                    <a:pt x="7478399" y="2447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936" name="object 6"/>
          <p:cNvSpPr/>
          <p:nvPr/>
        </p:nvSpPr>
        <p:spPr>
          <a:xfrm>
            <a:off x="731520" y="1557720"/>
            <a:ext cx="293580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pod,service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26"/>
              </a:lnSpc>
              <a:buNone/>
              <a:tabLst>
                <a:tab algn="l" pos="1553760"/>
                <a:tab algn="l" pos="22852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  <a:tabLst>
                <a:tab algn="l" pos="1553760"/>
                <a:tab algn="l" pos="22852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pod/echoserve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r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1/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37" name="object 7"/>
          <p:cNvSpPr/>
          <p:nvPr/>
        </p:nvSpPr>
        <p:spPr>
          <a:xfrm>
            <a:off x="3931560" y="1738800"/>
            <a:ext cx="129060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  <a:tabLst>
                <a:tab algn="l" pos="100512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  <a:tabLst>
                <a:tab algn="l" pos="100512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23s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38" name="object 8"/>
          <p:cNvSpPr/>
          <p:nvPr/>
        </p:nvSpPr>
        <p:spPr>
          <a:xfrm>
            <a:off x="731520" y="2281680"/>
            <a:ext cx="16556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service/echoserver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39" name="object 9"/>
          <p:cNvSpPr/>
          <p:nvPr/>
        </p:nvSpPr>
        <p:spPr>
          <a:xfrm>
            <a:off x="2651400" y="2281680"/>
            <a:ext cx="83268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TYPE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ClusterIP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40" name="object 10"/>
          <p:cNvSpPr/>
          <p:nvPr/>
        </p:nvSpPr>
        <p:spPr>
          <a:xfrm>
            <a:off x="3748680" y="2281680"/>
            <a:ext cx="229572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9800" bIns="0" anchor="t">
            <a:spAutoFit/>
          </a:bodyPr>
          <a:p>
            <a:pPr>
              <a:lnSpc>
                <a:spcPts val="1429"/>
              </a:lnSpc>
              <a:spcBef>
                <a:spcPts val="156"/>
              </a:spcBef>
              <a:buNone/>
              <a:tabLst>
                <a:tab algn="l" pos="127944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CLUSTER-I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P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EXTERNAL-IP  10.96.254.0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41" name="object 11"/>
          <p:cNvSpPr/>
          <p:nvPr/>
        </p:nvSpPr>
        <p:spPr>
          <a:xfrm>
            <a:off x="6308640" y="2281680"/>
            <a:ext cx="129060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  <a:tabLst>
                <a:tab algn="l" pos="100584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PORT(S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)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  <a:tabLst>
                <a:tab algn="l" pos="100512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8080/TCP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8s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42" name="object 12"/>
          <p:cNvSpPr/>
          <p:nvPr/>
        </p:nvSpPr>
        <p:spPr>
          <a:xfrm>
            <a:off x="1604160" y="3049200"/>
            <a:ext cx="1552320" cy="1710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1400">
              <a:lnSpc>
                <a:spcPts val="1349"/>
              </a:lnSpc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10.96.254.0:8080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43" name="object 13"/>
          <p:cNvSpPr/>
          <p:nvPr/>
        </p:nvSpPr>
        <p:spPr>
          <a:xfrm>
            <a:off x="731520" y="2824200"/>
            <a:ext cx="5567400" cy="75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tmp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--image=busybox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--restart=Never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--rm</a:t>
            </a: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182880">
              <a:lnSpc>
                <a:spcPts val="1429"/>
              </a:lnSpc>
              <a:spcBef>
                <a:spcPts val="20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</a:t>
            </a:r>
            <a:endParaRPr b="0" lang="fr-FR" sz="1200" spc="-1" strike="noStrike">
              <a:latin typeface="Arial"/>
            </a:endParaRPr>
          </a:p>
          <a:p>
            <a:pPr marL="18288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10.96.254.0:8080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(10.96.254.0:8080)</a:t>
            </a:r>
            <a:endParaRPr b="0" lang="fr-FR" sz="1200" spc="-1" strike="noStrike">
              <a:latin typeface="Arial"/>
            </a:endParaRPr>
          </a:p>
          <a:p>
            <a:pPr marL="182880">
              <a:lnSpc>
                <a:spcPts val="1429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1944" name="object 14"/>
          <p:cNvGrpSpPr/>
          <p:nvPr/>
        </p:nvGrpSpPr>
        <p:grpSpPr>
          <a:xfrm>
            <a:off x="2381400" y="2472480"/>
            <a:ext cx="4347000" cy="1027440"/>
            <a:chOff x="2381400" y="2472480"/>
            <a:chExt cx="4347000" cy="1027440"/>
          </a:xfrm>
        </p:grpSpPr>
        <p:sp>
          <p:nvSpPr>
            <p:cNvPr id="1945" name="object 15"/>
            <p:cNvSpPr/>
            <p:nvPr/>
          </p:nvSpPr>
          <p:spPr>
            <a:xfrm>
              <a:off x="3668400" y="2482920"/>
              <a:ext cx="1130040" cy="213120"/>
            </a:xfrm>
            <a:custGeom>
              <a:avLst/>
              <a:gdLst/>
              <a:ahLst/>
              <a:rect l="l" t="t" r="r" b="b"/>
              <a:pathLst>
                <a:path w="1132839" h="215900">
                  <a:moveTo>
                    <a:pt x="0" y="0"/>
                  </a:moveTo>
                  <a:lnTo>
                    <a:pt x="1132499" y="0"/>
                  </a:lnTo>
                  <a:lnTo>
                    <a:pt x="1132499" y="215399"/>
                  </a:lnTo>
                  <a:lnTo>
                    <a:pt x="0" y="2153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46" name="object 16"/>
            <p:cNvSpPr/>
            <p:nvPr/>
          </p:nvSpPr>
          <p:spPr>
            <a:xfrm>
              <a:off x="2381400" y="2698200"/>
              <a:ext cx="1850760" cy="801720"/>
            </a:xfrm>
            <a:custGeom>
              <a:avLst/>
              <a:gdLst/>
              <a:ahLst/>
              <a:rect l="l" t="t" r="r" b="b"/>
              <a:pathLst>
                <a:path w="1853564" h="804545">
                  <a:moveTo>
                    <a:pt x="1853099" y="0"/>
                  </a:moveTo>
                  <a:lnTo>
                    <a:pt x="1853099" y="804372"/>
                  </a:lnTo>
                  <a:lnTo>
                    <a:pt x="0" y="804372"/>
                  </a:lnTo>
                  <a:lnTo>
                    <a:pt x="0" y="6806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47" name="object 17"/>
            <p:cNvSpPr/>
            <p:nvPr/>
          </p:nvSpPr>
          <p:spPr>
            <a:xfrm>
              <a:off x="6253920" y="2472480"/>
              <a:ext cx="474480" cy="213120"/>
            </a:xfrm>
            <a:custGeom>
              <a:avLst/>
              <a:gdLst/>
              <a:ahLst/>
              <a:rect l="l" t="t" r="r" b="b"/>
              <a:pathLst>
                <a:path w="477520" h="215900">
                  <a:moveTo>
                    <a:pt x="0" y="0"/>
                  </a:moveTo>
                  <a:lnTo>
                    <a:pt x="477300" y="0"/>
                  </a:lnTo>
                  <a:lnTo>
                    <a:pt x="477300" y="215399"/>
                  </a:lnTo>
                  <a:lnTo>
                    <a:pt x="0" y="2153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48" name="object 18"/>
            <p:cNvSpPr/>
            <p:nvPr/>
          </p:nvSpPr>
          <p:spPr>
            <a:xfrm>
              <a:off x="3273120" y="2688120"/>
              <a:ext cx="3216600" cy="466560"/>
            </a:xfrm>
            <a:custGeom>
              <a:avLst/>
              <a:gdLst/>
              <a:ahLst/>
              <a:rect l="l" t="t" r="r" b="b"/>
              <a:pathLst>
                <a:path w="3219450" h="469264">
                  <a:moveTo>
                    <a:pt x="3219299" y="0"/>
                  </a:moveTo>
                  <a:lnTo>
                    <a:pt x="3219299" y="468899"/>
                  </a:lnTo>
                  <a:lnTo>
                    <a:pt x="0" y="4688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949" name="object 19"/>
          <p:cNvGrpSpPr/>
          <p:nvPr/>
        </p:nvGrpSpPr>
        <p:grpSpPr>
          <a:xfrm>
            <a:off x="2340720" y="3115800"/>
            <a:ext cx="939240" cy="269640"/>
            <a:chOff x="2340720" y="3115800"/>
            <a:chExt cx="939240" cy="269640"/>
          </a:xfrm>
        </p:grpSpPr>
        <p:pic>
          <p:nvPicPr>
            <p:cNvPr id="1950" name="object 20" descr=""/>
            <p:cNvPicPr/>
            <p:nvPr/>
          </p:nvPicPr>
          <p:blipFill>
            <a:blip r:embed="rId2"/>
            <a:stretch/>
          </p:blipFill>
          <p:spPr>
            <a:xfrm>
              <a:off x="2340720" y="3282840"/>
              <a:ext cx="79200" cy="1026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951" name="object 21" descr=""/>
            <p:cNvPicPr/>
            <p:nvPr/>
          </p:nvPicPr>
          <p:blipFill>
            <a:blip r:embed="rId3"/>
            <a:stretch/>
          </p:blipFill>
          <p:spPr>
            <a:xfrm>
              <a:off x="3177360" y="3115800"/>
              <a:ext cx="102600" cy="792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952" name="PlaceHolder 2"/>
          <p:cNvSpPr>
            <a:spLocks noGrp="1"/>
          </p:cNvSpPr>
          <p:nvPr>
            <p:ph type="sldNum" idx="37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525DB8E-D5BF-41DD-9D85-C9DDAFB202ED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86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Discovering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9" strike="noStrike">
                <a:solidFill>
                  <a:srgbClr val="000000"/>
                </a:solidFill>
                <a:latin typeface="Tahoma"/>
              </a:rPr>
              <a:t>by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Environment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2" strike="noStrike">
                <a:solidFill>
                  <a:srgbClr val="000000"/>
                </a:solidFill>
                <a:latin typeface="Tahoma"/>
              </a:rPr>
              <a:t>Variables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code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running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get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3" strike="noStrike">
                <a:solidFill>
                  <a:srgbClr val="666666"/>
                </a:solidFill>
                <a:latin typeface="Lucida Sans Unicode"/>
              </a:rPr>
              <a:t>access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endpoint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954" name="object 4"/>
          <p:cNvSpPr/>
          <p:nvPr/>
        </p:nvSpPr>
        <p:spPr>
          <a:xfrm>
            <a:off x="509040" y="1408680"/>
            <a:ext cx="3742920" cy="8938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720" bIns="0" anchor="t">
            <a:spAutoFit/>
          </a:bodyPr>
          <a:p>
            <a:pPr>
              <a:lnSpc>
                <a:spcPct val="100000"/>
              </a:lnSpc>
              <a:spcBef>
                <a:spcPts val="6"/>
              </a:spcBef>
              <a:buNone/>
            </a:pPr>
            <a:endParaRPr b="0" lang="fr-FR" sz="1150" spc="-1" strike="noStrike">
              <a:latin typeface="Arial"/>
            </a:endParaRPr>
          </a:p>
          <a:p>
            <a:pPr marL="222120">
              <a:lnSpc>
                <a:spcPts val="1429"/>
              </a:lnSpc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 exec -it echoserver -- env </a:t>
            </a:r>
            <a:r>
              <a:rPr b="1" lang="fr-FR" sz="1200" spc="-71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ECHOSERVER_SERVICE_HOST=10.96.254.0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ECHOSERVER_SERVICE_PORT=8080</a:t>
            </a:r>
            <a:endParaRPr b="0" lang="fr-FR" sz="1200" spc="-1" strike="noStrike">
              <a:latin typeface="Arial"/>
            </a:endParaRPr>
          </a:p>
          <a:p>
            <a:pPr marL="222120">
              <a:lnSpc>
                <a:spcPts val="1369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55" name="PlaceHolder 2"/>
          <p:cNvSpPr>
            <a:spLocks noGrp="1"/>
          </p:cNvSpPr>
          <p:nvPr>
            <p:ph type="sldNum" idx="38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35CF062-D724-413D-9806-7E707397963B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Discovering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9" strike="noStrike">
                <a:solidFill>
                  <a:srgbClr val="000000"/>
                </a:solidFill>
                <a:latin typeface="Tahoma"/>
              </a:rPr>
              <a:t>by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86" strike="noStrike">
                <a:solidFill>
                  <a:srgbClr val="000000"/>
                </a:solidFill>
                <a:latin typeface="Tahoma"/>
              </a:rPr>
              <a:t>DNS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Lookup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Kubernetes’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DNS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maps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IP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address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name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957" name="object 3"/>
          <p:cNvGrpSpPr/>
          <p:nvPr/>
        </p:nvGrpSpPr>
        <p:grpSpPr>
          <a:xfrm>
            <a:off x="455400" y="1360440"/>
            <a:ext cx="7346520" cy="1333800"/>
            <a:chOff x="455400" y="1360440"/>
            <a:chExt cx="7346520" cy="1333800"/>
          </a:xfrm>
        </p:grpSpPr>
        <p:pic>
          <p:nvPicPr>
            <p:cNvPr id="1958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7346520" cy="1333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59" name="object 5"/>
            <p:cNvSpPr/>
            <p:nvPr/>
          </p:nvSpPr>
          <p:spPr>
            <a:xfrm>
              <a:off x="509040" y="1408680"/>
              <a:ext cx="7232400" cy="1220040"/>
            </a:xfrm>
            <a:custGeom>
              <a:avLst/>
              <a:gdLst/>
              <a:ahLst/>
              <a:rect l="l" t="t" r="r" b="b"/>
              <a:pathLst>
                <a:path w="7235190" h="1223010">
                  <a:moveTo>
                    <a:pt x="7235099" y="1222499"/>
                  </a:moveTo>
                  <a:lnTo>
                    <a:pt x="0" y="1222499"/>
                  </a:lnTo>
                  <a:lnTo>
                    <a:pt x="0" y="0"/>
                  </a:lnTo>
                  <a:lnTo>
                    <a:pt x="7235099" y="0"/>
                  </a:lnTo>
                  <a:lnTo>
                    <a:pt x="7235099" y="1222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960" name="object 6"/>
          <p:cNvSpPr/>
          <p:nvPr/>
        </p:nvSpPr>
        <p:spPr>
          <a:xfrm>
            <a:off x="718920" y="1557360"/>
            <a:ext cx="558000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tmp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--image=busybox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--restart=Never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--rm</a:t>
            </a: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195480">
              <a:lnSpc>
                <a:spcPct val="100000"/>
              </a:lnSpc>
              <a:spcBef>
                <a:spcPts val="20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61" name="object 7"/>
          <p:cNvSpPr/>
          <p:nvPr/>
        </p:nvSpPr>
        <p:spPr>
          <a:xfrm>
            <a:off x="1604160" y="1771200"/>
            <a:ext cx="3842640" cy="1818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1400">
              <a:lnSpc>
                <a:spcPts val="1434"/>
              </a:lnSpc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echoserver.default.svc.cluster.local:8080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62" name="object 8"/>
          <p:cNvSpPr/>
          <p:nvPr/>
        </p:nvSpPr>
        <p:spPr>
          <a:xfrm>
            <a:off x="718920" y="1938960"/>
            <a:ext cx="678852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34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echoserver.default.svc.cluster.local:8080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(10.96.254.0:8080)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1963" name="object 9"/>
          <p:cNvGrpSpPr/>
          <p:nvPr/>
        </p:nvGrpSpPr>
        <p:grpSpPr>
          <a:xfrm>
            <a:off x="2095560" y="2237040"/>
            <a:ext cx="2049120" cy="1217160"/>
            <a:chOff x="2095560" y="2237040"/>
            <a:chExt cx="2049120" cy="1217160"/>
          </a:xfrm>
        </p:grpSpPr>
        <p:sp>
          <p:nvSpPr>
            <p:cNvPr id="1964" name="object 10"/>
            <p:cNvSpPr/>
            <p:nvPr/>
          </p:nvSpPr>
          <p:spPr>
            <a:xfrm>
              <a:off x="2136600" y="2333160"/>
              <a:ext cx="360" cy="613800"/>
            </a:xfrm>
            <a:custGeom>
              <a:avLst/>
              <a:gdLst/>
              <a:ahLst/>
              <a:rect l="l" t="t" r="r" b="b"/>
              <a:pathLst>
                <a:path w="0" h="616585">
                  <a:moveTo>
                    <a:pt x="0" y="6161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65" name="object 11" descr=""/>
            <p:cNvPicPr/>
            <p:nvPr/>
          </p:nvPicPr>
          <p:blipFill>
            <a:blip r:embed="rId2"/>
            <a:stretch/>
          </p:blipFill>
          <p:spPr>
            <a:xfrm>
              <a:off x="2095560" y="2237040"/>
              <a:ext cx="7920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66" name="object 12"/>
            <p:cNvSpPr/>
            <p:nvPr/>
          </p:nvSpPr>
          <p:spPr>
            <a:xfrm>
              <a:off x="3046680" y="2333160"/>
              <a:ext cx="360" cy="1121040"/>
            </a:xfrm>
            <a:custGeom>
              <a:avLst/>
              <a:gdLst/>
              <a:ahLst/>
              <a:rect l="l" t="t" r="r" b="b"/>
              <a:pathLst>
                <a:path w="0" h="1123950">
                  <a:moveTo>
                    <a:pt x="0" y="11237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67" name="object 13" descr=""/>
            <p:cNvPicPr/>
            <p:nvPr/>
          </p:nvPicPr>
          <p:blipFill>
            <a:blip r:embed="rId3"/>
            <a:stretch/>
          </p:blipFill>
          <p:spPr>
            <a:xfrm>
              <a:off x="3005640" y="2237040"/>
              <a:ext cx="7920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68" name="object 14"/>
            <p:cNvSpPr/>
            <p:nvPr/>
          </p:nvSpPr>
          <p:spPr>
            <a:xfrm>
              <a:off x="3505680" y="2333160"/>
              <a:ext cx="639000" cy="979560"/>
            </a:xfrm>
            <a:custGeom>
              <a:avLst/>
              <a:gdLst/>
              <a:ahLst/>
              <a:rect l="l" t="t" r="r" b="b"/>
              <a:pathLst>
                <a:path w="641985" h="982345">
                  <a:moveTo>
                    <a:pt x="641699" y="981899"/>
                  </a:moveTo>
                  <a:lnTo>
                    <a:pt x="0" y="981899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69" name="object 15" descr=""/>
            <p:cNvPicPr/>
            <p:nvPr/>
          </p:nvPicPr>
          <p:blipFill>
            <a:blip r:embed="rId4"/>
            <a:stretch/>
          </p:blipFill>
          <p:spPr>
            <a:xfrm>
              <a:off x="3464640" y="223740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970" name="object 16"/>
          <p:cNvSpPr/>
          <p:nvPr/>
        </p:nvSpPr>
        <p:spPr>
          <a:xfrm>
            <a:off x="1580760" y="2988000"/>
            <a:ext cx="12981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</a:t>
            </a:r>
            <a:r>
              <a:rPr b="0" lang="fr-FR" sz="1400" spc="-8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971" name="object 17"/>
          <p:cNvSpPr/>
          <p:nvPr/>
        </p:nvSpPr>
        <p:spPr>
          <a:xfrm>
            <a:off x="2559600" y="3066120"/>
            <a:ext cx="3019320" cy="6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5640" bIns="0" anchor="t">
            <a:spAutoFit/>
          </a:bodyPr>
          <a:p>
            <a:pPr marL="1743120">
              <a:lnSpc>
                <a:spcPct val="100000"/>
              </a:lnSpc>
              <a:spcBef>
                <a:spcPts val="98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400" spc="-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type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890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972" name="object 18"/>
          <p:cNvGrpSpPr/>
          <p:nvPr/>
        </p:nvGrpSpPr>
        <p:grpSpPr>
          <a:xfrm>
            <a:off x="4331160" y="2237400"/>
            <a:ext cx="872640" cy="712080"/>
            <a:chOff x="4331160" y="2237400"/>
            <a:chExt cx="872640" cy="712080"/>
          </a:xfrm>
        </p:grpSpPr>
        <p:sp>
          <p:nvSpPr>
            <p:cNvPr id="1973" name="object 19"/>
            <p:cNvSpPr/>
            <p:nvPr/>
          </p:nvSpPr>
          <p:spPr>
            <a:xfrm>
              <a:off x="4372200" y="2333160"/>
              <a:ext cx="831600" cy="616320"/>
            </a:xfrm>
            <a:custGeom>
              <a:avLst/>
              <a:gdLst/>
              <a:ahLst/>
              <a:rect l="l" t="t" r="r" b="b"/>
              <a:pathLst>
                <a:path w="834389" h="619125">
                  <a:moveTo>
                    <a:pt x="834073" y="618602"/>
                  </a:moveTo>
                  <a:lnTo>
                    <a:pt x="0" y="618602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74" name="object 20" descr=""/>
            <p:cNvPicPr/>
            <p:nvPr/>
          </p:nvPicPr>
          <p:blipFill>
            <a:blip r:embed="rId5"/>
            <a:stretch/>
          </p:blipFill>
          <p:spPr>
            <a:xfrm>
              <a:off x="4331160" y="2237400"/>
              <a:ext cx="79200" cy="10296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975" name="object 21"/>
          <p:cNvSpPr/>
          <p:nvPr/>
        </p:nvSpPr>
        <p:spPr>
          <a:xfrm>
            <a:off x="5292360" y="2815920"/>
            <a:ext cx="19065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Cluster-specific</a:t>
            </a:r>
            <a:r>
              <a:rPr b="0" lang="fr-FR" sz="1400" spc="-6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suffix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976" name="PlaceHolder 2"/>
          <p:cNvSpPr>
            <a:spLocks noGrp="1"/>
          </p:cNvSpPr>
          <p:nvPr>
            <p:ph type="sldNum" idx="39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3FB6FF9-8B7C-4200-A6DE-82694B3AA6ED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NodePort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Type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resolved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outside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978" name="object 3" descr=""/>
          <p:cNvPicPr/>
          <p:nvPr/>
        </p:nvPicPr>
        <p:blipFill>
          <a:blip r:embed="rId1"/>
          <a:stretch/>
        </p:blipFill>
        <p:spPr>
          <a:xfrm>
            <a:off x="2833920" y="1523880"/>
            <a:ext cx="3386520" cy="2903760"/>
          </a:xfrm>
          <a:prstGeom prst="rect">
            <a:avLst/>
          </a:prstGeom>
          <a:ln w="0">
            <a:noFill/>
          </a:ln>
        </p:spPr>
      </p:pic>
      <p:sp>
        <p:nvSpPr>
          <p:cNvPr id="1979" name="PlaceHolder 2"/>
          <p:cNvSpPr>
            <a:spLocks noGrp="1"/>
          </p:cNvSpPr>
          <p:nvPr>
            <p:ph type="sldNum" idx="40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6073654-FF36-4FFF-91C3-9D04EC838F36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14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NodePort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Runtime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Courier New"/>
              </a:rPr>
              <a:t>NodePort</a:t>
            </a:r>
            <a:r>
              <a:rPr b="0" lang="fr-FR" sz="1600" spc="-21" strike="noStrike">
                <a:solidFill>
                  <a:srgbClr val="666666"/>
                </a:solidFill>
                <a:latin typeface="Arial MT"/>
              </a:rPr>
              <a:t>,</a:t>
            </a:r>
            <a:r>
              <a:rPr b="0" lang="fr-FR" sz="1600" spc="-12" strike="noStrike">
                <a:solidFill>
                  <a:srgbClr val="666666"/>
                </a:solidFill>
                <a:latin typeface="Arial MT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node port</a:t>
            </a:r>
            <a:r>
              <a:rPr b="0" lang="fr-FR" sz="1600" spc="-12" strike="noStrike">
                <a:solidFill>
                  <a:srgbClr val="666666"/>
                </a:solidFill>
                <a:latin typeface="Arial MT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has</a:t>
            </a:r>
            <a:r>
              <a:rPr b="0" lang="fr-FR" sz="1600" spc="-12" strike="noStrike">
                <a:solidFill>
                  <a:srgbClr val="666666"/>
                </a:solidFill>
                <a:latin typeface="Arial MT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been assigned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981" name="PlaceHolder 2"/>
          <p:cNvSpPr>
            <a:spLocks noGrp="1"/>
          </p:cNvSpPr>
          <p:nvPr>
            <p:ph type="sldNum" idx="41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AB821DC-4A94-4AFD-85DA-928385A0DD4A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982" name="" descr=""/>
          <p:cNvPicPr/>
          <p:nvPr/>
        </p:nvPicPr>
        <p:blipFill>
          <a:blip r:embed="rId1"/>
          <a:stretch/>
        </p:blipFill>
        <p:spPr>
          <a:xfrm>
            <a:off x="468000" y="1232640"/>
            <a:ext cx="3124080" cy="3446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Accessing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NodePort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combination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node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IP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statically-assigned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984" name="object 3"/>
          <p:cNvGrpSpPr/>
          <p:nvPr/>
        </p:nvGrpSpPr>
        <p:grpSpPr>
          <a:xfrm>
            <a:off x="455400" y="1360440"/>
            <a:ext cx="7257600" cy="2864160"/>
            <a:chOff x="455400" y="1360440"/>
            <a:chExt cx="7257600" cy="2864160"/>
          </a:xfrm>
        </p:grpSpPr>
        <p:pic>
          <p:nvPicPr>
            <p:cNvPr id="1985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7257600" cy="28641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86" name="object 5"/>
            <p:cNvSpPr/>
            <p:nvPr/>
          </p:nvSpPr>
          <p:spPr>
            <a:xfrm>
              <a:off x="509040" y="1408680"/>
              <a:ext cx="7144200" cy="2750400"/>
            </a:xfrm>
            <a:custGeom>
              <a:avLst/>
              <a:gdLst/>
              <a:ahLst/>
              <a:rect l="l" t="t" r="r" b="b"/>
              <a:pathLst>
                <a:path w="7146925" h="2753360">
                  <a:moveTo>
                    <a:pt x="7146299" y="2752799"/>
                  </a:moveTo>
                  <a:lnTo>
                    <a:pt x="0" y="2752799"/>
                  </a:lnTo>
                  <a:lnTo>
                    <a:pt x="0" y="0"/>
                  </a:lnTo>
                  <a:lnTo>
                    <a:pt x="7146299" y="0"/>
                  </a:lnTo>
                  <a:lnTo>
                    <a:pt x="7146299" y="2752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987" name="object 6"/>
          <p:cNvSpPr/>
          <p:nvPr/>
        </p:nvSpPr>
        <p:spPr>
          <a:xfrm>
            <a:off x="731520" y="1558440"/>
            <a:ext cx="411696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pod,service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  <a:tabLst>
                <a:tab algn="l" pos="1424160"/>
                <a:tab algn="l" pos="2094840"/>
                <a:tab algn="l" pos="2932920"/>
                <a:tab algn="l" pos="385524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  <a:tabLst>
                <a:tab algn="l" pos="1424160"/>
                <a:tab algn="l" pos="2094840"/>
                <a:tab algn="l" pos="2932920"/>
                <a:tab algn="l" pos="385524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pod/echoserve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r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1/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g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23s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88" name="object 7"/>
          <p:cNvSpPr/>
          <p:nvPr/>
        </p:nvSpPr>
        <p:spPr>
          <a:xfrm>
            <a:off x="731520" y="2244240"/>
            <a:ext cx="15184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>
              <a:lnSpc>
                <a:spcPct val="102000"/>
              </a:lnSpc>
              <a:spcBef>
                <a:spcPts val="7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  AGE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service/echoserver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89" name="object 8"/>
          <p:cNvSpPr/>
          <p:nvPr/>
        </p:nvSpPr>
        <p:spPr>
          <a:xfrm>
            <a:off x="2491560" y="2244240"/>
            <a:ext cx="4871520" cy="53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  <a:tabLst>
                <a:tab algn="l" pos="921960"/>
                <a:tab algn="l" pos="2094840"/>
                <a:tab algn="l" pos="326844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TYPE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CLUSTER-IP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EXTERNAL-IP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PORT(S)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None/>
              <a:tabLst>
                <a:tab algn="l" pos="921960"/>
                <a:tab algn="l" pos="2094840"/>
                <a:tab algn="l" pos="3268440"/>
              </a:tabLst>
            </a:pPr>
            <a:endParaRPr b="0" lang="fr-FR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921240"/>
                <a:tab algn="l" pos="2094840"/>
                <a:tab algn="l" pos="3268440"/>
                <a:tab algn="l" pos="469332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NodePor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10.96.254.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&gt;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8080:30158/TC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P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8s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90" name="object 9"/>
          <p:cNvSpPr/>
          <p:nvPr/>
        </p:nvSpPr>
        <p:spPr>
          <a:xfrm>
            <a:off x="731520" y="2929320"/>
            <a:ext cx="6463440" cy="12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34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nodes</a:t>
            </a:r>
            <a:r>
              <a:rPr b="1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-o</a:t>
            </a:r>
            <a:r>
              <a:rPr b="1" lang="fr-FR" sz="11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  <a:p>
            <a:pPr marL="167760">
              <a:lnSpc>
                <a:spcPts val="1315"/>
              </a:lnSpc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jsonpath='{</a:t>
            </a:r>
            <a:r>
              <a:rPr b="1" lang="fr-FR" sz="11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$.items[*].status.addresses[?(@.type=="InternalIP")].address</a:t>
            </a:r>
            <a:r>
              <a:rPr b="1" lang="fr-FR" sz="11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}'</a:t>
            </a:r>
            <a:endParaRPr b="0" lang="fr-FR" sz="1100" spc="-1" strike="noStrike">
              <a:latin typeface="Arial"/>
            </a:endParaRPr>
          </a:p>
          <a:p>
            <a:pPr marL="16776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192.168.64.15</a:t>
            </a:r>
            <a:endParaRPr b="0" lang="fr-FR" sz="1100" spc="-1" strike="noStrike">
              <a:latin typeface="Arial"/>
            </a:endParaRPr>
          </a:p>
          <a:p>
            <a:pPr marL="167760">
              <a:lnSpc>
                <a:spcPct val="100000"/>
              </a:lnSpc>
              <a:spcBef>
                <a:spcPts val="20"/>
              </a:spcBef>
              <a:buNone/>
            </a:pPr>
            <a:endParaRPr b="0" lang="fr-FR" sz="1200" spc="-1" strike="noStrike">
              <a:latin typeface="Arial"/>
            </a:endParaRPr>
          </a:p>
          <a:p>
            <a:pPr marL="167760">
              <a:lnSpc>
                <a:spcPct val="100000"/>
              </a:lnSpc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</a:t>
            </a:r>
            <a:r>
              <a:rPr b="1" lang="fr-FR" sz="11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192.168.64.15:30158</a:t>
            </a:r>
            <a:endParaRPr b="0" lang="fr-FR" sz="1100" spc="-1" strike="noStrike">
              <a:latin typeface="Arial"/>
            </a:endParaRPr>
          </a:p>
          <a:p>
            <a:pPr marL="16776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</a:t>
            </a:r>
            <a:r>
              <a:rPr b="0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192.168.64.15:30158...</a:t>
            </a:r>
            <a:r>
              <a:rPr b="0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connected.</a:t>
            </a:r>
            <a:endParaRPr b="0" lang="fr-FR" sz="1100" spc="-1" strike="noStrike">
              <a:latin typeface="Arial"/>
            </a:endParaRPr>
          </a:p>
          <a:p>
            <a:pPr marL="16776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100" spc="-1" strike="noStrike">
              <a:latin typeface="Arial"/>
            </a:endParaRPr>
          </a:p>
        </p:txBody>
      </p:sp>
      <p:grpSp>
        <p:nvGrpSpPr>
          <p:cNvPr id="1991" name="object 10"/>
          <p:cNvGrpSpPr/>
          <p:nvPr/>
        </p:nvGrpSpPr>
        <p:grpSpPr>
          <a:xfrm>
            <a:off x="732960" y="2608920"/>
            <a:ext cx="5932440" cy="1235880"/>
            <a:chOff x="732960" y="2608920"/>
            <a:chExt cx="5932440" cy="1235880"/>
          </a:xfrm>
        </p:grpSpPr>
        <p:sp>
          <p:nvSpPr>
            <p:cNvPr id="1992" name="object 11"/>
            <p:cNvSpPr/>
            <p:nvPr/>
          </p:nvSpPr>
          <p:spPr>
            <a:xfrm>
              <a:off x="732960" y="2608920"/>
              <a:ext cx="5932440" cy="1235880"/>
            </a:xfrm>
            <a:custGeom>
              <a:avLst/>
              <a:gdLst/>
              <a:ahLst/>
              <a:rect l="l" t="t" r="r" b="b"/>
              <a:pathLst>
                <a:path w="5935345" h="1238885">
                  <a:moveTo>
                    <a:pt x="5466851" y="0"/>
                  </a:moveTo>
                  <a:lnTo>
                    <a:pt x="5935152" y="0"/>
                  </a:lnTo>
                  <a:lnTo>
                    <a:pt x="5935152" y="215399"/>
                  </a:lnTo>
                  <a:lnTo>
                    <a:pt x="5466851" y="215399"/>
                  </a:lnTo>
                  <a:lnTo>
                    <a:pt x="5466851" y="0"/>
                  </a:lnTo>
                  <a:close/>
                </a:path>
                <a:path w="5935345" h="1238885">
                  <a:moveTo>
                    <a:pt x="0" y="699976"/>
                  </a:moveTo>
                  <a:lnTo>
                    <a:pt x="1168499" y="699976"/>
                  </a:lnTo>
                  <a:lnTo>
                    <a:pt x="1168499" y="915376"/>
                  </a:lnTo>
                  <a:lnTo>
                    <a:pt x="0" y="915376"/>
                  </a:lnTo>
                  <a:lnTo>
                    <a:pt x="0" y="699976"/>
                  </a:lnTo>
                  <a:close/>
                </a:path>
                <a:path w="5935345" h="1238885">
                  <a:moveTo>
                    <a:pt x="583273" y="1022926"/>
                  </a:moveTo>
                  <a:lnTo>
                    <a:pt x="2263573" y="1022926"/>
                  </a:lnTo>
                  <a:lnTo>
                    <a:pt x="2263573" y="1238326"/>
                  </a:lnTo>
                  <a:lnTo>
                    <a:pt x="583273" y="1238326"/>
                  </a:lnTo>
                  <a:lnTo>
                    <a:pt x="583273" y="1022926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93" name="object 12"/>
            <p:cNvSpPr/>
            <p:nvPr/>
          </p:nvSpPr>
          <p:spPr>
            <a:xfrm>
              <a:off x="3110760" y="2824560"/>
              <a:ext cx="3320640" cy="912960"/>
            </a:xfrm>
            <a:custGeom>
              <a:avLst/>
              <a:gdLst/>
              <a:ahLst/>
              <a:rect l="l" t="t" r="r" b="b"/>
              <a:pathLst>
                <a:path w="3323590" h="915670">
                  <a:moveTo>
                    <a:pt x="3323099" y="0"/>
                  </a:moveTo>
                  <a:lnTo>
                    <a:pt x="3323099" y="915299"/>
                  </a:lnTo>
                  <a:lnTo>
                    <a:pt x="0" y="9152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94" name="object 13" descr=""/>
            <p:cNvPicPr/>
            <p:nvPr/>
          </p:nvPicPr>
          <p:blipFill>
            <a:blip r:embed="rId2"/>
            <a:stretch/>
          </p:blipFill>
          <p:spPr>
            <a:xfrm>
              <a:off x="3015000" y="369864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95" name="object 14"/>
            <p:cNvSpPr/>
            <p:nvPr/>
          </p:nvSpPr>
          <p:spPr>
            <a:xfrm>
              <a:off x="1901520" y="3416760"/>
              <a:ext cx="252360" cy="98640"/>
            </a:xfrm>
            <a:custGeom>
              <a:avLst/>
              <a:gdLst/>
              <a:ahLst/>
              <a:rect l="l" t="t" r="r" b="b"/>
              <a:pathLst>
                <a:path w="255269" h="101600">
                  <a:moveTo>
                    <a:pt x="0" y="0"/>
                  </a:moveTo>
                  <a:lnTo>
                    <a:pt x="254999" y="0"/>
                  </a:lnTo>
                  <a:lnTo>
                    <a:pt x="254999" y="1010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96" name="object 15" descr=""/>
            <p:cNvPicPr/>
            <p:nvPr/>
          </p:nvPicPr>
          <p:blipFill>
            <a:blip r:embed="rId3"/>
            <a:stretch/>
          </p:blipFill>
          <p:spPr>
            <a:xfrm>
              <a:off x="2115360" y="350820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997" name="PlaceHolder 2"/>
          <p:cNvSpPr>
            <a:spLocks noGrp="1"/>
          </p:cNvSpPr>
          <p:nvPr>
            <p:ph type="sldNum" idx="42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F7A4020-A25B-45FE-9351-0C61124DD3B9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LoadBalancer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Type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Routes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traffic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existing,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external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load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balancer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Service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999" name="object 3" descr=""/>
          <p:cNvPicPr/>
          <p:nvPr/>
        </p:nvPicPr>
        <p:blipFill>
          <a:blip r:embed="rId1"/>
          <a:stretch/>
        </p:blipFill>
        <p:spPr>
          <a:xfrm>
            <a:off x="3291480" y="1528200"/>
            <a:ext cx="2470680" cy="3157920"/>
          </a:xfrm>
          <a:prstGeom prst="rect">
            <a:avLst/>
          </a:prstGeom>
          <a:ln w="0">
            <a:noFill/>
          </a:ln>
        </p:spPr>
      </p:pic>
      <p:sp>
        <p:nvSpPr>
          <p:cNvPr id="2000" name="PlaceHolder 2"/>
          <p:cNvSpPr>
            <a:spLocks noGrp="1"/>
          </p:cNvSpPr>
          <p:nvPr>
            <p:ph type="sldNum" idx="43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3852D49-F8EA-49EE-8025-A9FBB1AFF040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LoadBalancer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Runtime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Courier New"/>
              </a:rPr>
              <a:t>LoadBalancer</a:t>
            </a:r>
            <a:r>
              <a:rPr b="0" lang="fr-FR" sz="1600" spc="-21" strike="noStrike">
                <a:solidFill>
                  <a:srgbClr val="666666"/>
                </a:solidFill>
                <a:latin typeface="Arial MT"/>
              </a:rPr>
              <a:t>,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 external</a:t>
            </a:r>
            <a:r>
              <a:rPr b="0" lang="fr-FR" sz="1600" spc="-12" strike="noStrike">
                <a:solidFill>
                  <a:srgbClr val="666666"/>
                </a:solidFill>
                <a:latin typeface="Arial MT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IP</a:t>
            </a:r>
            <a:r>
              <a:rPr b="0" lang="fr-FR" sz="1600" spc="-35" strike="noStrike">
                <a:solidFill>
                  <a:srgbClr val="666666"/>
                </a:solidFill>
                <a:latin typeface="Arial MT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address</a:t>
            </a:r>
            <a:r>
              <a:rPr b="0" lang="fr-FR" sz="1600" spc="-12" strike="noStrike">
                <a:solidFill>
                  <a:srgbClr val="666666"/>
                </a:solidFill>
                <a:latin typeface="Arial MT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has been assigned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02" name="PlaceHolder 2"/>
          <p:cNvSpPr>
            <a:spLocks noGrp="1"/>
          </p:cNvSpPr>
          <p:nvPr>
            <p:ph type="sldNum" idx="44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E2BC3DB-B6AF-4880-904B-CFE451B8306A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003" name="" descr=""/>
          <p:cNvPicPr/>
          <p:nvPr/>
        </p:nvPicPr>
        <p:blipFill>
          <a:blip r:embed="rId1"/>
          <a:stretch/>
        </p:blipFill>
        <p:spPr>
          <a:xfrm>
            <a:off x="494280" y="1260000"/>
            <a:ext cx="3716280" cy="3552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Accessing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LoadBalancer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combination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external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IP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statically-assigned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2005" name="object 3"/>
          <p:cNvGrpSpPr/>
          <p:nvPr/>
        </p:nvGrpSpPr>
        <p:grpSpPr>
          <a:xfrm>
            <a:off x="455400" y="1360440"/>
            <a:ext cx="7948800" cy="2425320"/>
            <a:chOff x="455400" y="1360440"/>
            <a:chExt cx="7948800" cy="2425320"/>
          </a:xfrm>
        </p:grpSpPr>
        <p:pic>
          <p:nvPicPr>
            <p:cNvPr id="2006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7948800" cy="24253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007" name="object 5"/>
            <p:cNvSpPr/>
            <p:nvPr/>
          </p:nvSpPr>
          <p:spPr>
            <a:xfrm>
              <a:off x="509040" y="1408680"/>
              <a:ext cx="7835040" cy="2311200"/>
            </a:xfrm>
            <a:custGeom>
              <a:avLst/>
              <a:gdLst/>
              <a:ahLst/>
              <a:rect l="l" t="t" r="r" b="b"/>
              <a:pathLst>
                <a:path w="7837805" h="2313940">
                  <a:moveTo>
                    <a:pt x="7837499" y="2313899"/>
                  </a:moveTo>
                  <a:lnTo>
                    <a:pt x="0" y="2313899"/>
                  </a:lnTo>
                  <a:lnTo>
                    <a:pt x="0" y="0"/>
                  </a:lnTo>
                  <a:lnTo>
                    <a:pt x="7837499" y="0"/>
                  </a:lnTo>
                  <a:lnTo>
                    <a:pt x="7837499" y="2313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008" name="object 6"/>
          <p:cNvSpPr/>
          <p:nvPr/>
        </p:nvSpPr>
        <p:spPr>
          <a:xfrm>
            <a:off x="731520" y="1558440"/>
            <a:ext cx="411696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pod,service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  <a:tabLst>
                <a:tab algn="l" pos="1424160"/>
                <a:tab algn="l" pos="2094840"/>
                <a:tab algn="l" pos="2932920"/>
                <a:tab algn="l" pos="385524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  <a:tabLst>
                <a:tab algn="l" pos="1424160"/>
                <a:tab algn="l" pos="2094840"/>
                <a:tab algn="l" pos="2932920"/>
                <a:tab algn="l" pos="385524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pod/echoserve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r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1/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g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23s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009" name="object 7"/>
          <p:cNvSpPr/>
          <p:nvPr/>
        </p:nvSpPr>
        <p:spPr>
          <a:xfrm>
            <a:off x="5090040" y="2244240"/>
            <a:ext cx="93168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EXTERNAL-IP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010" name="object 8"/>
          <p:cNvSpPr/>
          <p:nvPr/>
        </p:nvSpPr>
        <p:spPr>
          <a:xfrm>
            <a:off x="6431040" y="2244240"/>
            <a:ext cx="59652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PORT(S)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011" name="object 9"/>
          <p:cNvSpPr/>
          <p:nvPr/>
        </p:nvSpPr>
        <p:spPr>
          <a:xfrm>
            <a:off x="731520" y="2244240"/>
            <a:ext cx="1518480" cy="52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>
              <a:lnSpc>
                <a:spcPct val="102000"/>
              </a:lnSpc>
              <a:spcBef>
                <a:spcPts val="7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  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</a:pP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service/echoserver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012" name="object 10"/>
          <p:cNvSpPr/>
          <p:nvPr/>
        </p:nvSpPr>
        <p:spPr>
          <a:xfrm>
            <a:off x="2491560" y="2244240"/>
            <a:ext cx="235692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  <a:tabLst>
                <a:tab algn="l" pos="125748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TYPE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CLUSTER-IP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None/>
              <a:tabLst>
                <a:tab algn="l" pos="1257480"/>
              </a:tabLst>
            </a:pP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125676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LoadBalancer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10.109.76.157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013" name="object 11"/>
          <p:cNvSpPr/>
          <p:nvPr/>
        </p:nvSpPr>
        <p:spPr>
          <a:xfrm>
            <a:off x="5089680" y="2586960"/>
            <a:ext cx="294336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  <a:tabLst>
                <a:tab algn="l" pos="1340640"/>
                <a:tab algn="l" pos="276552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10.109.76.15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7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8080:30158/TC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P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014" name="object 12"/>
          <p:cNvSpPr/>
          <p:nvPr/>
        </p:nvSpPr>
        <p:spPr>
          <a:xfrm>
            <a:off x="731520" y="3101400"/>
            <a:ext cx="386568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</a:t>
            </a:r>
            <a:r>
              <a:rPr b="1" lang="fr-FR" sz="11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10.109.76.157:8080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</a:t>
            </a:r>
            <a:r>
              <a:rPr b="0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10.109.76.157:8080...</a:t>
            </a:r>
            <a:r>
              <a:rPr b="0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connected.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100" spc="-1" strike="noStrike">
              <a:latin typeface="Arial"/>
            </a:endParaRPr>
          </a:p>
        </p:txBody>
      </p:sp>
      <p:grpSp>
        <p:nvGrpSpPr>
          <p:cNvPr id="2015" name="object 13"/>
          <p:cNvGrpSpPr/>
          <p:nvPr/>
        </p:nvGrpSpPr>
        <p:grpSpPr>
          <a:xfrm>
            <a:off x="1280880" y="2572920"/>
            <a:ext cx="5528520" cy="714600"/>
            <a:chOff x="1280880" y="2572920"/>
            <a:chExt cx="5528520" cy="714600"/>
          </a:xfrm>
        </p:grpSpPr>
        <p:sp>
          <p:nvSpPr>
            <p:cNvPr id="2016" name="object 14"/>
            <p:cNvSpPr/>
            <p:nvPr/>
          </p:nvSpPr>
          <p:spPr>
            <a:xfrm>
              <a:off x="1280880" y="2572920"/>
              <a:ext cx="5528520" cy="714600"/>
            </a:xfrm>
            <a:custGeom>
              <a:avLst/>
              <a:gdLst/>
              <a:ahLst/>
              <a:rect l="l" t="t" r="r" b="b"/>
              <a:pathLst>
                <a:path w="5531484" h="717550">
                  <a:moveTo>
                    <a:pt x="3763892" y="0"/>
                  </a:moveTo>
                  <a:lnTo>
                    <a:pt x="4932392" y="0"/>
                  </a:lnTo>
                  <a:lnTo>
                    <a:pt x="4932392" y="215399"/>
                  </a:lnTo>
                  <a:lnTo>
                    <a:pt x="3763892" y="215399"/>
                  </a:lnTo>
                  <a:lnTo>
                    <a:pt x="3763892" y="0"/>
                  </a:lnTo>
                  <a:close/>
                </a:path>
                <a:path w="5531484" h="717550">
                  <a:moveTo>
                    <a:pt x="5089461" y="0"/>
                  </a:moveTo>
                  <a:lnTo>
                    <a:pt x="5531061" y="0"/>
                  </a:lnTo>
                  <a:lnTo>
                    <a:pt x="5531061" y="215399"/>
                  </a:lnTo>
                  <a:lnTo>
                    <a:pt x="5089461" y="215399"/>
                  </a:lnTo>
                  <a:lnTo>
                    <a:pt x="5089461" y="0"/>
                  </a:lnTo>
                  <a:close/>
                </a:path>
                <a:path w="5531484" h="717550">
                  <a:moveTo>
                    <a:pt x="0" y="501562"/>
                  </a:moveTo>
                  <a:lnTo>
                    <a:pt x="1581600" y="501562"/>
                  </a:lnTo>
                  <a:lnTo>
                    <a:pt x="1581600" y="716962"/>
                  </a:lnTo>
                  <a:lnTo>
                    <a:pt x="0" y="716962"/>
                  </a:lnTo>
                  <a:lnTo>
                    <a:pt x="0" y="501562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17" name="object 15"/>
            <p:cNvSpPr/>
            <p:nvPr/>
          </p:nvSpPr>
          <p:spPr>
            <a:xfrm>
              <a:off x="2976840" y="2788560"/>
              <a:ext cx="3611520" cy="391320"/>
            </a:xfrm>
            <a:custGeom>
              <a:avLst/>
              <a:gdLst/>
              <a:ahLst/>
              <a:rect l="l" t="t" r="r" b="b"/>
              <a:pathLst>
                <a:path w="3614420" h="394335">
                  <a:moveTo>
                    <a:pt x="3614400" y="0"/>
                  </a:moveTo>
                  <a:lnTo>
                    <a:pt x="3614400" y="393899"/>
                  </a:lnTo>
                  <a:lnTo>
                    <a:pt x="0" y="3938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2018" name="object 16" descr=""/>
            <p:cNvPicPr/>
            <p:nvPr/>
          </p:nvPicPr>
          <p:blipFill>
            <a:blip r:embed="rId2"/>
            <a:stretch/>
          </p:blipFill>
          <p:spPr>
            <a:xfrm>
              <a:off x="2881080" y="3141360"/>
              <a:ext cx="102600" cy="7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019" name="object 17"/>
            <p:cNvSpPr/>
            <p:nvPr/>
          </p:nvSpPr>
          <p:spPr>
            <a:xfrm>
              <a:off x="2071800" y="2788560"/>
              <a:ext cx="3555000" cy="169200"/>
            </a:xfrm>
            <a:custGeom>
              <a:avLst/>
              <a:gdLst/>
              <a:ahLst/>
              <a:rect l="l" t="t" r="r" b="b"/>
              <a:pathLst>
                <a:path w="3557904" h="172085">
                  <a:moveTo>
                    <a:pt x="3557399" y="0"/>
                  </a:moveTo>
                  <a:lnTo>
                    <a:pt x="3557399" y="143082"/>
                  </a:lnTo>
                  <a:lnTo>
                    <a:pt x="0" y="143082"/>
                  </a:lnTo>
                  <a:lnTo>
                    <a:pt x="0" y="1718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2020" name="object 18" descr=""/>
            <p:cNvPicPr/>
            <p:nvPr/>
          </p:nvPicPr>
          <p:blipFill>
            <a:blip r:embed="rId3"/>
            <a:stretch/>
          </p:blipFill>
          <p:spPr>
            <a:xfrm>
              <a:off x="2030760" y="2950920"/>
              <a:ext cx="7920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2021" name="PlaceHolder 2"/>
          <p:cNvSpPr>
            <a:spLocks noGrp="1"/>
          </p:cNvSpPr>
          <p:nvPr>
            <p:ph type="sldNum" idx="45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E10D19A-8CE7-432D-B8C1-480D7A0748E8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2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18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2023" name="object 3"/>
          <p:cNvSpPr/>
          <p:nvPr/>
        </p:nvSpPr>
        <p:spPr>
          <a:xfrm>
            <a:off x="494280" y="1323360"/>
            <a:ext cx="472464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Routing </a:t>
            </a:r>
            <a:r>
              <a:rPr b="0" lang="fr-FR" sz="2900" spc="-15" strike="noStrike">
                <a:solidFill>
                  <a:srgbClr val="000000"/>
                </a:solidFill>
                <a:latin typeface="Arial MT"/>
                <a:ea typeface="DejaVu Sans"/>
              </a:rPr>
              <a:t>traffic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Pods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 from</a:t>
            </a:r>
            <a:r>
              <a:rPr b="0" lang="fr-FR" sz="29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inside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outside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cluster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4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2025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2026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2027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7964640" cy="138204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-60" strike="noStrike">
                <a:solidFill>
                  <a:srgbClr val="ffffff"/>
                </a:solidFill>
                <a:latin typeface="Tahoma"/>
              </a:rPr>
              <a:t>Ingress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Providing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external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7" strike="noStrike">
                <a:solidFill>
                  <a:srgbClr val="ffffff"/>
                </a:solidFill>
                <a:latin typeface="Lucida Sans Unicode"/>
              </a:rPr>
              <a:t>access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to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32" strike="noStrike">
                <a:solidFill>
                  <a:srgbClr val="ffffff"/>
                </a:solidFill>
                <a:latin typeface="Lucida Sans Unicode"/>
              </a:rPr>
              <a:t>Services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49" strike="noStrike">
                <a:solidFill>
                  <a:srgbClr val="ffffff"/>
                </a:solidFill>
                <a:latin typeface="Lucida Sans Unicode"/>
              </a:rPr>
              <a:t>via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4" strike="noStrike">
                <a:solidFill>
                  <a:srgbClr val="ffffff"/>
                </a:solidFill>
                <a:latin typeface="Lucida Sans Unicode"/>
              </a:rPr>
              <a:t>HTTP(S)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6" strike="noStrike">
                <a:solidFill>
                  <a:srgbClr val="000000"/>
                </a:solidFill>
                <a:latin typeface="Tahoma"/>
              </a:rPr>
              <a:t>Ingress?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Route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HTTP(S)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traffic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outside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Service(s)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29" name="PlaceHolder 2"/>
          <p:cNvSpPr>
            <a:spLocks noGrp="1"/>
          </p:cNvSpPr>
          <p:nvPr>
            <p:ph type="sldNum" idx="46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DC47418-A180-4722-BC1D-BC16C3AA0ABE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2030" name="object 3"/>
          <p:cNvSpPr/>
          <p:nvPr/>
        </p:nvSpPr>
        <p:spPr>
          <a:xfrm>
            <a:off x="600120" y="1360440"/>
            <a:ext cx="8038800" cy="24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50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354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It’s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specific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 type,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should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 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confused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Service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type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255"/>
              </a:spcBef>
              <a:buNone/>
              <a:tabLst>
                <a:tab algn="l" pos="363960"/>
                <a:tab algn="l" pos="364320"/>
              </a:tabLst>
            </a:pP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LoadBalancer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rules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mapping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URL</a:t>
            </a:r>
            <a:r>
              <a:rPr b="0" lang="fr-FR" sz="1600" spc="-6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context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 objects.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TLS termination</a:t>
            </a:r>
            <a:r>
              <a:rPr b="0" lang="fr-FR" sz="1600" spc="-7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2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(support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HTTPS) needs to 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configured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explicitly.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default,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HTTP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supported.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Controller?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Evaluating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Ingress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32" name="PlaceHolder 2"/>
          <p:cNvSpPr>
            <a:spLocks noGrp="1"/>
          </p:cNvSpPr>
          <p:nvPr>
            <p:ph type="sldNum" idx="47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A0E362F-D766-4A35-95B0-325C85721ADF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2033" name="object 3"/>
          <p:cNvSpPr/>
          <p:nvPr/>
        </p:nvSpPr>
        <p:spPr>
          <a:xfrm>
            <a:off x="600120" y="1360440"/>
            <a:ext cx="8218800" cy="16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 Ingress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cannot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work without an</a:t>
            </a:r>
            <a:r>
              <a:rPr b="0" lang="fr-FR" sz="1600" spc="-7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Ingress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controller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Ingress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 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evaluates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collection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rules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 Ingress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that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determine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traffic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routing.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Multiple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Ingres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deploye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cluste</a:t>
            </a: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Ingres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be 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pick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specific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one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via </a:t>
            </a: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spec.ingressClassName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Traffic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Routing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context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path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mapped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backend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(Service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7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port)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35" name="object 3"/>
          <p:cNvSpPr/>
          <p:nvPr/>
        </p:nvSpPr>
        <p:spPr>
          <a:xfrm>
            <a:off x="4046400" y="3627360"/>
            <a:ext cx="555840" cy="1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/health</a:t>
            </a:r>
            <a:endParaRPr b="0" lang="fr-FR" sz="1000" spc="-1" strike="noStrike">
              <a:latin typeface="Arial"/>
            </a:endParaRPr>
          </a:p>
        </p:txBody>
      </p:sp>
      <p:pic>
        <p:nvPicPr>
          <p:cNvPr id="2036" name="object 4" descr=""/>
          <p:cNvPicPr/>
          <p:nvPr/>
        </p:nvPicPr>
        <p:blipFill>
          <a:blip r:embed="rId1"/>
          <a:stretch/>
        </p:blipFill>
        <p:spPr>
          <a:xfrm>
            <a:off x="506880" y="1649520"/>
            <a:ext cx="7986960" cy="2565000"/>
          </a:xfrm>
          <a:prstGeom prst="rect">
            <a:avLst/>
          </a:prstGeom>
          <a:ln w="0">
            <a:noFill/>
          </a:ln>
        </p:spPr>
      </p:pic>
      <p:sp>
        <p:nvSpPr>
          <p:cNvPr id="2037" name="PlaceHolder 2"/>
          <p:cNvSpPr>
            <a:spLocks noGrp="1"/>
          </p:cNvSpPr>
          <p:nvPr>
            <p:ph type="sldNum" idx="48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3A2FF7B-BEE8-45EE-857F-5696269D3350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14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2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3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requires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intricate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knowledge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syntax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39" name="PlaceHolder 2"/>
          <p:cNvSpPr>
            <a:spLocks noGrp="1"/>
          </p:cNvSpPr>
          <p:nvPr>
            <p:ph type="sldNum" idx="49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35ABE7F-4D94-41D3-A39E-2514F90F95BC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040" name="" descr=""/>
          <p:cNvPicPr/>
          <p:nvPr/>
        </p:nvPicPr>
        <p:blipFill>
          <a:blip r:embed="rId1"/>
          <a:stretch/>
        </p:blipFill>
        <p:spPr>
          <a:xfrm>
            <a:off x="497160" y="1542240"/>
            <a:ext cx="6521760" cy="133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Allows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multiple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17" strike="noStrike">
                <a:solidFill>
                  <a:srgbClr val="666666"/>
                </a:solidFill>
                <a:latin typeface="Lucida Sans Unicode"/>
              </a:rPr>
              <a:t>map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backend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42" name="PlaceHolder 2"/>
          <p:cNvSpPr>
            <a:spLocks noGrp="1"/>
          </p:cNvSpPr>
          <p:nvPr>
            <p:ph type="sldNum" idx="50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D0CDDDE-A611-438D-91A9-90ACDDC0E9A6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043" name="" descr=""/>
          <p:cNvPicPr/>
          <p:nvPr/>
        </p:nvPicPr>
        <p:blipFill>
          <a:blip r:embed="rId1"/>
          <a:stretch/>
        </p:blipFill>
        <p:spPr>
          <a:xfrm>
            <a:off x="496800" y="1288440"/>
            <a:ext cx="6450120" cy="3498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Rules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Traffic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routing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controlled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defined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Ingress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resource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2045" name="object 3"/>
          <p:cNvGraphicFramePr/>
          <p:nvPr/>
        </p:nvGraphicFramePr>
        <p:xfrm>
          <a:off x="502200" y="1408680"/>
          <a:ext cx="8317440" cy="2642040"/>
        </p:xfrm>
        <a:graphic>
          <a:graphicData uri="http://schemas.openxmlformats.org/drawingml/2006/table">
            <a:tbl>
              <a:tblPr/>
              <a:tblGrid>
                <a:gridCol w="1785240"/>
                <a:gridCol w="2150280"/>
                <a:gridCol w="4382280"/>
              </a:tblGrid>
              <a:tr h="553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21" strike="noStrike">
                          <a:solidFill>
                            <a:srgbClr val="ffffff"/>
                          </a:solidFill>
                          <a:latin typeface="Arial MT"/>
                        </a:rPr>
                        <a:t>Type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Example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Description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208908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</a:t>
                      </a:r>
                      <a:r>
                        <a:rPr b="0" lang="fr-FR" sz="1200" spc="-3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optional</a:t>
                      </a:r>
                      <a:r>
                        <a:rPr b="0" lang="fr-FR" sz="1200" spc="-3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host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14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300000"/>
                        </a:lnSpc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7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lis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t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o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f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paths  The</a:t>
                      </a:r>
                      <a:r>
                        <a:rPr b="0" lang="fr-FR" sz="1200" spc="-60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backend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mycompany.abc.com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14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3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/corellian/api  corellian:8080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 algn="just">
                        <a:lnSpc>
                          <a:spcPts val="1429"/>
                        </a:lnSpc>
                        <a:spcBef>
                          <a:spcPts val="68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If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host is provided, then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rules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apply to that host.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If no host is defined, then all inbound HTTP(S) 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traffic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is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handled.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45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Incoming 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traffic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must match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 host and path to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correctly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forward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 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traffic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Service.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26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80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combination</a:t>
                      </a:r>
                      <a:r>
                        <a:rPr b="0" lang="fr-FR" sz="1200" spc="-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of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Service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name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and</a:t>
                      </a:r>
                      <a:r>
                        <a:rPr b="0" lang="fr-FR" sz="1200" spc="-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port.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46" name="PlaceHolder 2"/>
          <p:cNvSpPr>
            <a:spLocks noGrp="1"/>
          </p:cNvSpPr>
          <p:nvPr>
            <p:ph type="sldNum" idx="51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8173A63-4E15-41E7-9149-2B5D4435C451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Path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Types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Incoming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requests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match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based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assigned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2048" name="object 3"/>
          <p:cNvGraphicFramePr/>
          <p:nvPr/>
        </p:nvGraphicFramePr>
        <p:xfrm>
          <a:off x="502200" y="1408680"/>
          <a:ext cx="8317440" cy="1654920"/>
        </p:xfrm>
        <a:graphic>
          <a:graphicData uri="http://schemas.openxmlformats.org/drawingml/2006/table">
            <a:tbl>
              <a:tblPr/>
              <a:tblGrid>
                <a:gridCol w="1785240"/>
                <a:gridCol w="2101680"/>
                <a:gridCol w="4430880"/>
              </a:tblGrid>
              <a:tr h="553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Path</a:t>
                      </a:r>
                      <a:r>
                        <a:rPr b="0" lang="fr-FR" sz="1400" spc="-75" strike="noStrike">
                          <a:solidFill>
                            <a:srgbClr val="ffffff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400" spc="-21" strike="noStrike">
                          <a:solidFill>
                            <a:srgbClr val="ffffff"/>
                          </a:solidFill>
                          <a:latin typeface="Arial MT"/>
                        </a:rPr>
                        <a:t>Type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Rule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Incoming</a:t>
                      </a:r>
                      <a:r>
                        <a:rPr b="0" lang="fr-FR" sz="1400" spc="-52" strike="noStrike">
                          <a:solidFill>
                            <a:srgbClr val="ffffff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Request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110196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Exact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6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Prefix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fffff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/corellian/api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6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/corellian/api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ts val="1429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Matches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i</a:t>
                      </a:r>
                      <a:r>
                        <a:rPr b="0" lang="fr-FR" sz="1200" spc="-39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bu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t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doe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no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t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match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34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/corellian/tes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t</a:t>
                      </a:r>
                      <a:r>
                        <a:rPr b="0" lang="fr-FR" sz="1200" spc="-39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/corellian/api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/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14"/>
                        </a:spcBef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Matches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i</a:t>
                      </a:r>
                      <a:r>
                        <a:rPr b="0" lang="fr-FR" sz="1200" spc="-39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d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/corellian/api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/</a:t>
                      </a:r>
                      <a:r>
                        <a:rPr b="0" lang="fr-FR" sz="1200" spc="-39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but  does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not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match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/corellian/test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49" name="PlaceHolder 2"/>
          <p:cNvSpPr>
            <a:spLocks noGrp="1"/>
          </p:cNvSpPr>
          <p:nvPr>
            <p:ph type="sldNum" idx="52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E70FE0C-4D70-4A64-AC44-F178794BC62E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Describing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Ingresses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Renders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hosts,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IP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addresses,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51" name="PlaceHolder 2"/>
          <p:cNvSpPr>
            <a:spLocks noGrp="1"/>
          </p:cNvSpPr>
          <p:nvPr>
            <p:ph type="sldNum" idx="53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E88F09E-7761-4FDD-9539-040123192A4B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052" name="" descr=""/>
          <p:cNvPicPr/>
          <p:nvPr/>
        </p:nvPicPr>
        <p:blipFill>
          <a:blip r:embed="rId1"/>
          <a:stretch/>
        </p:blipFill>
        <p:spPr>
          <a:xfrm>
            <a:off x="500760" y="1212120"/>
            <a:ext cx="6950160" cy="3530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Configuring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86" strike="noStrike">
                <a:solidFill>
                  <a:srgbClr val="000000"/>
                </a:solidFill>
                <a:latin typeface="Tahoma"/>
              </a:rPr>
              <a:t>DNS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Making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Ingress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convenient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end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users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54" name="PlaceHolder 2"/>
          <p:cNvSpPr>
            <a:spLocks noGrp="1"/>
          </p:cNvSpPr>
          <p:nvPr>
            <p:ph type="sldNum" idx="54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FDB9742-E0C2-4F91-A809-5FE17B2982EA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2055" name="object 3"/>
          <p:cNvSpPr/>
          <p:nvPr/>
        </p:nvSpPr>
        <p:spPr>
          <a:xfrm>
            <a:off x="600120" y="1392840"/>
            <a:ext cx="8218800" cy="244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resolve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Ingress,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you’ll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 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entries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external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32" strike="noStrike">
                <a:solidFill>
                  <a:srgbClr val="000000"/>
                </a:solidFill>
                <a:latin typeface="Arial MT"/>
                <a:ea typeface="DejaVu Sans"/>
              </a:rPr>
              <a:t>You’ll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either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</a:t>
            </a: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record,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CNAME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record.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ExternalDNS </a:t>
            </a:r>
            <a:r>
              <a:rPr b="0" lang="fr-FR" sz="1600" spc="-432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cluster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add-on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help 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managing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those DNS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records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have no domain or are using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local Kubernetes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solution, you 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 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mapping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between IP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 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domain name to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/etc/hosts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Accessing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host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2" strike="noStrike">
                <a:solidFill>
                  <a:srgbClr val="666666"/>
                </a:solidFill>
                <a:latin typeface="Lucida Sans Unicode"/>
              </a:rPr>
              <a:t>name,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port,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context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path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2057" name="object 3"/>
          <p:cNvGrpSpPr/>
          <p:nvPr/>
        </p:nvGrpSpPr>
        <p:grpSpPr>
          <a:xfrm>
            <a:off x="455400" y="1360440"/>
            <a:ext cx="7377840" cy="3247560"/>
            <a:chOff x="455400" y="1360440"/>
            <a:chExt cx="7377840" cy="3247560"/>
          </a:xfrm>
        </p:grpSpPr>
        <p:pic>
          <p:nvPicPr>
            <p:cNvPr id="2058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7377840" cy="32475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059" name="object 5"/>
            <p:cNvSpPr/>
            <p:nvPr/>
          </p:nvSpPr>
          <p:spPr>
            <a:xfrm>
              <a:off x="509040" y="1408680"/>
              <a:ext cx="7263360" cy="3133440"/>
            </a:xfrm>
            <a:custGeom>
              <a:avLst/>
              <a:gdLst/>
              <a:ahLst/>
              <a:rect l="l" t="t" r="r" b="b"/>
              <a:pathLst>
                <a:path w="7266305" h="3136265">
                  <a:moveTo>
                    <a:pt x="7266299" y="3136199"/>
                  </a:moveTo>
                  <a:lnTo>
                    <a:pt x="0" y="3136199"/>
                  </a:lnTo>
                  <a:lnTo>
                    <a:pt x="0" y="0"/>
                  </a:lnTo>
                  <a:lnTo>
                    <a:pt x="7266299" y="0"/>
                  </a:lnTo>
                  <a:lnTo>
                    <a:pt x="7266299" y="3136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060" name="object 6"/>
          <p:cNvSpPr/>
          <p:nvPr/>
        </p:nvSpPr>
        <p:spPr>
          <a:xfrm>
            <a:off x="1323720" y="1576080"/>
            <a:ext cx="2918880" cy="1774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7520">
              <a:lnSpc>
                <a:spcPts val="1400"/>
              </a:lnSpc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star-alliance.com/corellian/api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061" name="PlaceHolder 2"/>
          <p:cNvSpPr>
            <a:spLocks noGrp="1"/>
          </p:cNvSpPr>
          <p:nvPr>
            <p:ph type="sldNum" idx="55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CCCDD6B-912C-46DD-BA87-243289BD6F4A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2062" name="object 7"/>
          <p:cNvSpPr/>
          <p:nvPr/>
        </p:nvSpPr>
        <p:spPr>
          <a:xfrm>
            <a:off x="718920" y="1557720"/>
            <a:ext cx="212580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--2021-11-30</a:t>
            </a:r>
            <a:r>
              <a:rPr b="0" lang="fr-FR" sz="12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19:34:57--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063" name="object 8"/>
          <p:cNvSpPr/>
          <p:nvPr/>
        </p:nvSpPr>
        <p:spPr>
          <a:xfrm>
            <a:off x="3004560" y="1557720"/>
            <a:ext cx="349740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924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--timeout=5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--tries=1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 u="sng">
                <a:solidFill>
                  <a:srgbClr val="0000ff"/>
                </a:solidFill>
                <a:uFillTx/>
                <a:latin typeface="Courier New"/>
                <a:ea typeface="DejaVu Sans"/>
                <a:hlinkClick r:id="rId2"/>
              </a:rPr>
              <a:t>http://star-alliance.com/corellian/api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064" name="object 9"/>
          <p:cNvSpPr/>
          <p:nvPr/>
        </p:nvSpPr>
        <p:spPr>
          <a:xfrm>
            <a:off x="718920" y="1919880"/>
            <a:ext cx="6775200" cy="91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9800" bIns="0" anchor="t">
            <a:spAutoFit/>
          </a:bodyPr>
          <a:p>
            <a:pPr marL="12600">
              <a:lnSpc>
                <a:spcPts val="1429"/>
              </a:lnSpc>
              <a:spcBef>
                <a:spcPts val="156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Resolving</a:t>
            </a:r>
            <a:r>
              <a:rPr b="0" lang="fr-FR" sz="1200" spc="58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star-alliance.com</a:t>
            </a:r>
            <a:r>
              <a:rPr b="0" lang="fr-FR" sz="1200" spc="58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(star-alliance.com)...</a:t>
            </a:r>
            <a:r>
              <a:rPr b="0" lang="fr-FR" sz="1200" spc="63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192.168.64.15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 to star-alliance.com (star-alliance.com)|192.168.64.15|:80...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585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connected.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361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HTTP</a:t>
            </a:r>
            <a:r>
              <a:rPr b="0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sent,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awaiting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response...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200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OK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065" name="object 10"/>
          <p:cNvSpPr/>
          <p:nvPr/>
        </p:nvSpPr>
        <p:spPr>
          <a:xfrm>
            <a:off x="1323720" y="3029760"/>
            <a:ext cx="3015360" cy="1710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7520">
              <a:lnSpc>
                <a:spcPts val="1349"/>
              </a:lnSpc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star-alliance.com/corellian/api/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066" name="object 11"/>
          <p:cNvSpPr/>
          <p:nvPr/>
        </p:nvSpPr>
        <p:spPr>
          <a:xfrm>
            <a:off x="718920" y="3005640"/>
            <a:ext cx="212580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--2021-11-30</a:t>
            </a:r>
            <a:r>
              <a:rPr b="0" lang="fr-FR" sz="12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15:36:26--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067" name="object 12"/>
          <p:cNvSpPr/>
          <p:nvPr/>
        </p:nvSpPr>
        <p:spPr>
          <a:xfrm>
            <a:off x="3004560" y="3005640"/>
            <a:ext cx="35888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38384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--timeout=5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--tries=1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 u="sng">
                <a:solidFill>
                  <a:srgbClr val="0000ff"/>
                </a:solidFill>
                <a:uFillTx/>
                <a:latin typeface="Courier New"/>
                <a:ea typeface="DejaVu Sans"/>
                <a:hlinkClick r:id="rId3"/>
              </a:rPr>
              <a:t>http://star-alliance.com/corellian/api/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068" name="object 13"/>
          <p:cNvSpPr/>
          <p:nvPr/>
        </p:nvSpPr>
        <p:spPr>
          <a:xfrm>
            <a:off x="718920" y="3367800"/>
            <a:ext cx="6775200" cy="91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9800" bIns="0" anchor="t">
            <a:spAutoFit/>
          </a:bodyPr>
          <a:p>
            <a:pPr marL="12600">
              <a:lnSpc>
                <a:spcPts val="1429"/>
              </a:lnSpc>
              <a:spcBef>
                <a:spcPts val="156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Resolving</a:t>
            </a:r>
            <a:r>
              <a:rPr b="0" lang="fr-FR" sz="1200" spc="58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star-alliance.com</a:t>
            </a:r>
            <a:r>
              <a:rPr b="0" lang="fr-FR" sz="1200" spc="58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(star-alliance.com)...</a:t>
            </a:r>
            <a:r>
              <a:rPr b="0" lang="fr-FR" sz="1200" spc="63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192.168.64.15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 to star-alliance.com (star-alliance.com)|192.168.64.15|:80...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585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connected.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361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HTTP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sent,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awaiting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response...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404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Not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Found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2021-11-30</a:t>
            </a:r>
            <a:r>
              <a:rPr b="0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15:36:26</a:t>
            </a:r>
            <a:r>
              <a:rPr b="0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</a:t>
            </a:r>
            <a:r>
              <a:rPr b="0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404: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Not</a:t>
            </a:r>
            <a:r>
              <a:rPr b="0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Found.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9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19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2070" name="object 3"/>
          <p:cNvSpPr/>
          <p:nvPr/>
        </p:nvSpPr>
        <p:spPr>
          <a:xfrm>
            <a:off x="494280" y="1323360"/>
            <a:ext cx="358308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Defining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29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using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Ingress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71" name="object 2"/>
          <p:cNvGrpSpPr/>
          <p:nvPr/>
        </p:nvGrpSpPr>
        <p:grpSpPr>
          <a:xfrm>
            <a:off x="0" y="0"/>
            <a:ext cx="9141120" cy="5140440"/>
            <a:chOff x="0" y="0"/>
            <a:chExt cx="9141120" cy="5140440"/>
          </a:xfrm>
        </p:grpSpPr>
        <p:pic>
          <p:nvPicPr>
            <p:cNvPr id="2072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1120" cy="51404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2073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760" cy="230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2074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4526640" cy="138204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-60" strike="noStrike">
                <a:solidFill>
                  <a:srgbClr val="ffffff"/>
                </a:solidFill>
                <a:latin typeface="Tahoma"/>
              </a:rPr>
              <a:t>Network</a:t>
            </a:r>
            <a:r>
              <a:rPr b="1" lang="fr-FR" sz="3600" spc="-20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Policies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Restricting</a:t>
            </a:r>
            <a:r>
              <a:rPr b="0" lang="fr-FR" sz="1800" spc="-10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4" strike="noStrike">
                <a:solidFill>
                  <a:srgbClr val="ffffff"/>
                </a:solidFill>
                <a:latin typeface="Lucida Sans Unicode"/>
              </a:rPr>
              <a:t>Pod-to-Pod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49" strike="noStrike">
                <a:solidFill>
                  <a:srgbClr val="ffffff"/>
                </a:solidFill>
                <a:latin typeface="Lucida Sans Unicode"/>
              </a:rPr>
              <a:t>communication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4640" cy="898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Policy?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Firewall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Pod-to-Pod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communication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76" name="PlaceHolder 2"/>
          <p:cNvSpPr>
            <a:spLocks noGrp="1"/>
          </p:cNvSpPr>
          <p:nvPr>
            <p:ph type="sldNum" idx="56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3236E6F-8A71-45CB-B768-14BDA187BF9F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2077" name="object 3"/>
          <p:cNvSpPr/>
          <p:nvPr/>
        </p:nvSpPr>
        <p:spPr>
          <a:xfrm>
            <a:off x="600120" y="1360440"/>
            <a:ext cx="8398800" cy="30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installed</a:t>
            </a:r>
            <a:r>
              <a:rPr b="0" lang="fr-FR" sz="1600" spc="-7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Container Network Interface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(CNI)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3"/>
              </a:rPr>
              <a:t>plugin</a:t>
            </a:r>
            <a:r>
              <a:rPr b="0" lang="fr-FR" sz="1600" spc="-7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4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leases and assigns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virtual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IP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 to every Pod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when it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Communication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between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same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cluster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unrestricted.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use</a:t>
            </a:r>
            <a:r>
              <a:rPr b="0" lang="fr-FR" sz="1600" spc="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Pod’s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IP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communicate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it.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 policies implement the principle of least privilege. Only allow Pods 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communicate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 it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needed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fulfill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requirements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architecture.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disallow and allow network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communication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coarse-grained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fine-grained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rules.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8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4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Controller?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Evaluating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Network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Policy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79" name="PlaceHolder 2"/>
          <p:cNvSpPr>
            <a:spLocks noGrp="1"/>
          </p:cNvSpPr>
          <p:nvPr>
            <p:ph type="sldNum" idx="57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718F258-C0C4-4AFA-9B96-7CBB5ECB054B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2080" name="object 3"/>
          <p:cNvSpPr/>
          <p:nvPr/>
        </p:nvSpPr>
        <p:spPr>
          <a:xfrm>
            <a:off x="600120" y="1360440"/>
            <a:ext cx="803880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 Policy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cannot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work without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 Policy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controller.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Network </a:t>
            </a:r>
            <a:r>
              <a:rPr b="0" lang="fr-FR" sz="1600" spc="-4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Policy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evaluates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collection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rules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defined 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Network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Policy.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Policy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12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Cilium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wo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icy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nif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Key-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pairs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parse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differ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sourc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82" name="PlaceHolder 2"/>
          <p:cNvSpPr>
            <a:spLocks noGrp="1"/>
          </p:cNvSpPr>
          <p:nvPr>
            <p:ph type="sldNum" idx="58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2403D94-01FA-454B-B4DE-A589CFEF1EE3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083" name="" descr=""/>
          <p:cNvPicPr/>
          <p:nvPr/>
        </p:nvPicPr>
        <p:blipFill>
          <a:blip r:embed="rId1"/>
          <a:stretch/>
        </p:blipFill>
        <p:spPr>
          <a:xfrm>
            <a:off x="494280" y="1254960"/>
            <a:ext cx="7628400" cy="351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Rules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Attributes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form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85" name="PlaceHolder 2"/>
          <p:cNvSpPr>
            <a:spLocks noGrp="1"/>
          </p:cNvSpPr>
          <p:nvPr>
            <p:ph type="sldNum" idx="59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3152DEE-3461-4FD6-8DD1-4400CCAFC277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086" name="" descr=""/>
          <p:cNvPicPr/>
          <p:nvPr/>
        </p:nvPicPr>
        <p:blipFill>
          <a:blip r:embed="rId1"/>
          <a:stretch/>
        </p:blipFill>
        <p:spPr>
          <a:xfrm>
            <a:off x="540000" y="1361880"/>
            <a:ext cx="7266240" cy="295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Behavior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of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0" lang="fr-FR" sz="2400" spc="-7" strike="noStrike">
                <a:solidFill>
                  <a:srgbClr val="000000"/>
                </a:solidFill>
                <a:latin typeface="Courier New"/>
              </a:rPr>
              <a:t>t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o</a:t>
            </a:r>
            <a:r>
              <a:rPr b="0" lang="fr-FR" sz="2400" spc="-871" strike="noStrike">
                <a:solidFill>
                  <a:srgbClr val="000000"/>
                </a:solidFill>
                <a:latin typeface="Courier New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0" lang="fr-FR" sz="2400" spc="-7" strike="noStrike">
                <a:solidFill>
                  <a:srgbClr val="000000"/>
                </a:solidFill>
                <a:latin typeface="Courier New"/>
              </a:rPr>
              <a:t>fro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m</a:t>
            </a:r>
            <a:r>
              <a:rPr b="0" lang="fr-FR" sz="2400" spc="-871" strike="noStrike">
                <a:solidFill>
                  <a:srgbClr val="000000"/>
                </a:solidFill>
                <a:latin typeface="Courier New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Selectors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Ingress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egress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sections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" strike="noStrike">
                <a:solidFill>
                  <a:srgbClr val="666666"/>
                </a:solidFill>
                <a:latin typeface="Lucida Sans Unicode"/>
              </a:rPr>
              <a:t>define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2" strike="noStrike">
                <a:solidFill>
                  <a:srgbClr val="666666"/>
                </a:solidFill>
                <a:latin typeface="Lucida Sans Unicode"/>
              </a:rPr>
              <a:t>same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attributes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88" name="PlaceHolder 2"/>
          <p:cNvSpPr>
            <a:spLocks noGrp="1"/>
          </p:cNvSpPr>
          <p:nvPr>
            <p:ph type="sldNum" idx="60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85AA649-897A-4650-AA22-EF78E279B10F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089" name="" descr=""/>
          <p:cNvPicPr/>
          <p:nvPr/>
        </p:nvPicPr>
        <p:blipFill>
          <a:blip r:embed="rId1"/>
          <a:stretch/>
        </p:blipFill>
        <p:spPr>
          <a:xfrm>
            <a:off x="540000" y="1299960"/>
            <a:ext cx="7086240" cy="2478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Example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Restricting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3" strike="noStrike">
                <a:solidFill>
                  <a:srgbClr val="666666"/>
                </a:solidFill>
                <a:latin typeface="Lucida Sans Unicode"/>
              </a:rPr>
              <a:t>access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payment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processor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other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Pods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2091" name="object 3" descr=""/>
          <p:cNvPicPr/>
          <p:nvPr/>
        </p:nvPicPr>
        <p:blipFill>
          <a:blip r:embed="rId1"/>
          <a:stretch/>
        </p:blipFill>
        <p:spPr>
          <a:xfrm>
            <a:off x="773280" y="2229120"/>
            <a:ext cx="7507440" cy="1216080"/>
          </a:xfrm>
          <a:prstGeom prst="rect">
            <a:avLst/>
          </a:prstGeom>
          <a:ln w="0">
            <a:noFill/>
          </a:ln>
        </p:spPr>
      </p:pic>
      <p:sp>
        <p:nvSpPr>
          <p:cNvPr id="2092" name="PlaceHolder 2"/>
          <p:cNvSpPr>
            <a:spLocks noGrp="1"/>
          </p:cNvSpPr>
          <p:nvPr>
            <p:ph type="sldNum" idx="61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583D82C-1F15-4B0C-90CF-B1F8D67E5CEE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Policies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Doesn’t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9" strike="noStrike">
                <a:solidFill>
                  <a:srgbClr val="666666"/>
                </a:solidFill>
                <a:latin typeface="Lucida Sans Unicode"/>
              </a:rPr>
              <a:t>much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details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apart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selector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labels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2094" name="object 3"/>
          <p:cNvGrpSpPr/>
          <p:nvPr/>
        </p:nvGrpSpPr>
        <p:grpSpPr>
          <a:xfrm>
            <a:off x="455400" y="1360440"/>
            <a:ext cx="5447160" cy="1148760"/>
            <a:chOff x="455400" y="1360440"/>
            <a:chExt cx="5447160" cy="1148760"/>
          </a:xfrm>
        </p:grpSpPr>
        <p:pic>
          <p:nvPicPr>
            <p:cNvPr id="2095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5447160" cy="1148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096" name="object 5"/>
            <p:cNvSpPr/>
            <p:nvPr/>
          </p:nvSpPr>
          <p:spPr>
            <a:xfrm>
              <a:off x="509040" y="1408680"/>
              <a:ext cx="5333040" cy="1034640"/>
            </a:xfrm>
            <a:custGeom>
              <a:avLst/>
              <a:gdLst/>
              <a:ahLst/>
              <a:rect l="l" t="t" r="r" b="b"/>
              <a:pathLst>
                <a:path w="5335905" h="1037589">
                  <a:moveTo>
                    <a:pt x="5335799" y="1037399"/>
                  </a:moveTo>
                  <a:lnTo>
                    <a:pt x="0" y="1037399"/>
                  </a:lnTo>
                  <a:lnTo>
                    <a:pt x="0" y="0"/>
                  </a:lnTo>
                  <a:lnTo>
                    <a:pt x="5335799" y="0"/>
                  </a:lnTo>
                  <a:lnTo>
                    <a:pt x="5335799" y="1037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097" name="object 6"/>
          <p:cNvSpPr/>
          <p:nvPr/>
        </p:nvSpPr>
        <p:spPr>
          <a:xfrm>
            <a:off x="731520" y="1557360"/>
            <a:ext cx="486360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networkpolicy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287000"/>
                <a:tab algn="l" pos="45561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POD-SELECTO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R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287000"/>
                <a:tab algn="l" pos="45554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api-allo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w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app=payment-processor,role=ap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83m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098" name="PlaceHolder 2"/>
          <p:cNvSpPr>
            <a:spLocks noGrp="1"/>
          </p:cNvSpPr>
          <p:nvPr>
            <p:ph type="sldNum" idx="62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8A9392B-467F-4EDD-BFE7-4C2C2BBD1BCC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640" cy="127692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Rendering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Details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Ingress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7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egress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3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inspected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details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100" name="PlaceHolder 2"/>
          <p:cNvSpPr>
            <a:spLocks noGrp="1"/>
          </p:cNvSpPr>
          <p:nvPr>
            <p:ph type="sldNum" idx="63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5884F92-45C8-4153-898C-989C7F744E3F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101" name="" descr=""/>
          <p:cNvPicPr/>
          <p:nvPr/>
        </p:nvPicPr>
        <p:blipFill>
          <a:blip r:embed="rId1"/>
          <a:stretch/>
        </p:blipFill>
        <p:spPr>
          <a:xfrm>
            <a:off x="540000" y="1260000"/>
            <a:ext cx="5491080" cy="3381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Verifying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Runtime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Behavior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Communication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matching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labels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will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3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2" strike="noStrike">
                <a:solidFill>
                  <a:srgbClr val="666666"/>
                </a:solidFill>
                <a:latin typeface="Lucida Sans Unicode"/>
              </a:rPr>
              <a:t>blocked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2103" name="object 3"/>
          <p:cNvGrpSpPr/>
          <p:nvPr/>
        </p:nvGrpSpPr>
        <p:grpSpPr>
          <a:xfrm>
            <a:off x="455400" y="1360440"/>
            <a:ext cx="6701760" cy="3542400"/>
            <a:chOff x="455400" y="1360440"/>
            <a:chExt cx="6701760" cy="3542400"/>
          </a:xfrm>
        </p:grpSpPr>
        <p:pic>
          <p:nvPicPr>
            <p:cNvPr id="2104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6701760" cy="3542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105" name="object 5"/>
            <p:cNvSpPr/>
            <p:nvPr/>
          </p:nvSpPr>
          <p:spPr>
            <a:xfrm>
              <a:off x="509040" y="1408680"/>
              <a:ext cx="6587640" cy="3428640"/>
            </a:xfrm>
            <a:custGeom>
              <a:avLst/>
              <a:gdLst/>
              <a:ahLst/>
              <a:rect l="l" t="t" r="r" b="b"/>
              <a:pathLst>
                <a:path w="6590665" h="3431540">
                  <a:moveTo>
                    <a:pt x="6590399" y="3431099"/>
                  </a:moveTo>
                  <a:lnTo>
                    <a:pt x="0" y="3431099"/>
                  </a:lnTo>
                  <a:lnTo>
                    <a:pt x="0" y="0"/>
                  </a:lnTo>
                  <a:lnTo>
                    <a:pt x="6590399" y="0"/>
                  </a:lnTo>
                  <a:lnTo>
                    <a:pt x="6590399" y="34310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106" name="object 6"/>
          <p:cNvSpPr/>
          <p:nvPr/>
        </p:nvSpPr>
        <p:spPr>
          <a:xfrm>
            <a:off x="718920" y="1557360"/>
            <a:ext cx="5400000" cy="30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grocery-store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--rm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--image=busybox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app=grocery-store,role=backend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/ #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 --spider --timeout=1 10.0.0.51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 to 10.0.0.51 (10.0.0.51:80)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wget: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download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timed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out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"grocery-store"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coffeeshop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--rm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--image=busybox</a:t>
            </a:r>
            <a:r>
              <a:rPr b="1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app=coffeeshop,role=backend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/ #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 --spider --timeout=1 10.0.0.51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 to 10.0.0.51 (10.0.0.51:80)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remote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file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exists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"coffeeshop"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107" name="PlaceHolder 2"/>
          <p:cNvSpPr>
            <a:spLocks noGrp="1"/>
          </p:cNvSpPr>
          <p:nvPr>
            <p:ph type="sldNum" idx="64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3EF7EEC-56D0-41BC-8978-189B2D24F611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26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Default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Deny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Policies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Network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policies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4" strike="noStrike">
                <a:solidFill>
                  <a:srgbClr val="666666"/>
                </a:solidFill>
                <a:latin typeface="Lucida Sans Unicode"/>
              </a:rPr>
              <a:t>additive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109" name="PlaceHolder 2"/>
          <p:cNvSpPr>
            <a:spLocks noGrp="1"/>
          </p:cNvSpPr>
          <p:nvPr>
            <p:ph type="sldNum" idx="65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7756DCF-9194-4281-93B8-F470B4155D2F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110" name="" descr=""/>
          <p:cNvPicPr/>
          <p:nvPr/>
        </p:nvPicPr>
        <p:blipFill>
          <a:blip r:embed="rId1"/>
          <a:stretch/>
        </p:blipFill>
        <p:spPr>
          <a:xfrm>
            <a:off x="545760" y="1260000"/>
            <a:ext cx="5933160" cy="32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90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Restricting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83" strike="noStrike">
                <a:solidFill>
                  <a:srgbClr val="000000"/>
                </a:solidFill>
                <a:latin typeface="Tahoma"/>
              </a:rPr>
              <a:t>Access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to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Ports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8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default,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8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3" strike="noStrike">
                <a:solidFill>
                  <a:srgbClr val="666666"/>
                </a:solidFill>
                <a:latin typeface="Lucida Sans Unicode"/>
              </a:rPr>
              <a:t>accessible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112" name="PlaceHolder 2"/>
          <p:cNvSpPr>
            <a:spLocks noGrp="1"/>
          </p:cNvSpPr>
          <p:nvPr>
            <p:ph type="sldNum" idx="66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BF2B36D-E028-4A7D-9333-0FBEA7846A50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113" name="" descr=""/>
          <p:cNvPicPr/>
          <p:nvPr/>
        </p:nvPicPr>
        <p:blipFill>
          <a:blip r:embed="rId1"/>
          <a:stretch/>
        </p:blipFill>
        <p:spPr>
          <a:xfrm>
            <a:off x="540000" y="1260000"/>
            <a:ext cx="6075720" cy="3364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4640" cy="9111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Scenario-Based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Learning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Exercising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cases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Network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Policies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helpful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" strike="noStrike">
                <a:solidFill>
                  <a:srgbClr val="666666"/>
                </a:solidFill>
                <a:latin typeface="Lucida Sans Unicode"/>
              </a:rPr>
              <a:t>understanding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2" strike="noStrike">
                <a:solidFill>
                  <a:srgbClr val="666666"/>
                </a:solidFill>
                <a:latin typeface="Lucida Sans Unicode"/>
              </a:rPr>
              <a:t>concept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2115" name="object 3" descr=""/>
          <p:cNvPicPr/>
          <p:nvPr/>
        </p:nvPicPr>
        <p:blipFill>
          <a:blip r:embed="rId1"/>
          <a:stretch/>
        </p:blipFill>
        <p:spPr>
          <a:xfrm>
            <a:off x="1133280" y="1813680"/>
            <a:ext cx="6941160" cy="2015280"/>
          </a:xfrm>
          <a:prstGeom prst="rect">
            <a:avLst/>
          </a:prstGeom>
          <a:ln w="0">
            <a:noFill/>
          </a:ln>
        </p:spPr>
      </p:pic>
      <p:sp>
        <p:nvSpPr>
          <p:cNvPr id="2116" name="object 4"/>
          <p:cNvSpPr/>
          <p:nvPr/>
        </p:nvSpPr>
        <p:spPr>
          <a:xfrm>
            <a:off x="2109240" y="4244400"/>
            <a:ext cx="5989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https://github.com/ahmetb/kubernetes-network-policy-recipes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2117" name="PlaceHolder 2"/>
          <p:cNvSpPr>
            <a:spLocks noGrp="1"/>
          </p:cNvSpPr>
          <p:nvPr>
            <p:ph type="sldNum" idx="67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9631691-9938-4548-A24B-3F87AFD63C9E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4640" cy="1033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Visualizing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8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" strike="noStrike">
                <a:solidFill>
                  <a:srgbClr val="000000"/>
                </a:solidFill>
                <a:latin typeface="Tahoma"/>
              </a:rPr>
              <a:t>Analysing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page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1"/>
              </a:rPr>
              <a:t>networkpolicy.io</a:t>
            </a:r>
            <a:r>
              <a:rPr b="0" lang="fr-FR" sz="1600" spc="-80" strike="noStrike" u="sng">
                <a:solidFill>
                  <a:srgbClr val="0000ff"/>
                </a:solidFill>
                <a:uFillTx/>
                <a:latin typeface="Lucida Sans Unicode"/>
                <a:hlinkClick r:id="rId2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provides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policy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editor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2119" name="object 3" descr=""/>
          <p:cNvPicPr/>
          <p:nvPr/>
        </p:nvPicPr>
        <p:blipFill>
          <a:blip r:embed="rId3"/>
          <a:stretch/>
        </p:blipFill>
        <p:spPr>
          <a:xfrm>
            <a:off x="2099520" y="1379160"/>
            <a:ext cx="4941720" cy="3505320"/>
          </a:xfrm>
          <a:prstGeom prst="rect">
            <a:avLst/>
          </a:prstGeom>
          <a:ln w="0">
            <a:noFill/>
          </a:ln>
        </p:spPr>
      </p:pic>
      <p:sp>
        <p:nvSpPr>
          <p:cNvPr id="2120" name="PlaceHolder 2"/>
          <p:cNvSpPr>
            <a:spLocks noGrp="1"/>
          </p:cNvSpPr>
          <p:nvPr>
            <p:ph type="sldNum" idx="68"/>
          </p:nvPr>
        </p:nvSpPr>
        <p:spPr>
          <a:xfrm>
            <a:off x="8701560" y="4908600"/>
            <a:ext cx="262080" cy="299844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11F59AB-1922-45B6-90DB-83BF3FFEDB2F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1" name="object 2"/>
          <p:cNvSpPr/>
          <p:nvPr/>
        </p:nvSpPr>
        <p:spPr>
          <a:xfrm>
            <a:off x="494280" y="371880"/>
            <a:ext cx="12830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20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2122" name="object 3"/>
          <p:cNvSpPr/>
          <p:nvPr/>
        </p:nvSpPr>
        <p:spPr>
          <a:xfrm>
            <a:off x="494280" y="1323360"/>
            <a:ext cx="454464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 algn="just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Restricting access to and </a:t>
            </a:r>
            <a:r>
              <a:rPr b="0" lang="fr-FR" sz="2900" spc="-8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from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Pod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with Network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Policies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487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2024-08-21T21:28:36Z</dcterms:created>
  <dc:creator/>
  <dc:description/>
  <dc:language>fr-FR</dc:language>
  <cp:lastModifiedBy/>
  <dcterms:modified xsi:type="dcterms:W3CDTF">2024-08-25T15:39:38Z</dcterms:modified>
  <cp:revision>215</cp:revision>
  <dc:subject/>
  <dc:title>[v3] Certified Kubernetes Application Developer (CKAD) Crash Course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or">
    <vt:lpwstr>Google</vt:lpwstr>
  </property>
  <property fmtid="{D5CDD505-2E9C-101B-9397-08002B2CF9AE}" pid="3" name="PresentationFormat">
    <vt:lpwstr>On-screen Show (4:3)</vt:lpwstr>
  </property>
</Properties>
</file>