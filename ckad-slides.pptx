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_rels/presentation.xml.rels" ContentType="application/vnd.openxmlformats-package.relationships+xml"/>
  <Override PartName="/ppt/media/image127.png" ContentType="image/png"/>
  <Override PartName="/ppt/media/image30.jpeg" ContentType="image/jpeg"/>
  <Override PartName="/ppt/media/image195.png" ContentType="image/png"/>
  <Override PartName="/ppt/media/image200.jpeg" ContentType="image/jpeg"/>
  <Override PartName="/ppt/media/image126.png" ContentType="image/png"/>
  <Override PartName="/ppt/media/image194.png" ContentType="image/png"/>
  <Override PartName="/ppt/media/image125.png" ContentType="image/png"/>
  <Override PartName="/ppt/media/image193.png" ContentType="image/png"/>
  <Override PartName="/ppt/media/image124.png" ContentType="image/png"/>
  <Override PartName="/ppt/media/image192.png" ContentType="image/png"/>
  <Override PartName="/ppt/media/image123.png" ContentType="image/png"/>
  <Override PartName="/ppt/media/image116.png" ContentType="image/png"/>
  <Override PartName="/ppt/media/image184.png" ContentType="image/png"/>
  <Override PartName="/ppt/media/image115.png" ContentType="image/png"/>
  <Override PartName="/ppt/media/image183.png" ContentType="image/png"/>
  <Override PartName="/ppt/media/image113.png" ContentType="image/png"/>
  <Override PartName="/ppt/media/image145.jpeg" ContentType="image/jpeg"/>
  <Override PartName="/ppt/media/image181.png" ContentType="image/png"/>
  <Override PartName="/ppt/media/image109.jpeg" ContentType="image/jpeg"/>
  <Override PartName="/ppt/media/image107.png" ContentType="image/png"/>
  <Override PartName="/ppt/media/image175.png" ContentType="image/png"/>
  <Override PartName="/ppt/media/image106.png" ContentType="image/png"/>
  <Override PartName="/ppt/media/image105.png" ContentType="image/png"/>
  <Override PartName="/ppt/media/image173.png" ContentType="image/png"/>
  <Override PartName="/ppt/media/image104.png" ContentType="image/png"/>
  <Override PartName="/ppt/media/image172.png" ContentType="image/png"/>
  <Override PartName="/ppt/media/image103.png" ContentType="image/png"/>
  <Override PartName="/ppt/media/image101.png" ContentType="image/png"/>
  <Override PartName="/ppt/media/image99.png" ContentType="image/png"/>
  <Override PartName="/ppt/media/image198.jpeg" ContentType="image/jpeg"/>
  <Override PartName="/ppt/media/image98.png" ContentType="image/png"/>
  <Override PartName="/ppt/media/image95.jpeg" ContentType="image/jpeg"/>
  <Override PartName="/ppt/media/image42.png" ContentType="image/png"/>
  <Override PartName="/ppt/media/image91.jpeg" ContentType="image/jpeg"/>
  <Override PartName="/ppt/media/image89.png" ContentType="image/png"/>
  <Override PartName="/ppt/media/image197.jpeg" ContentType="image/jpeg"/>
  <Override PartName="/ppt/media/image88.png" ContentType="image/png"/>
  <Override PartName="/ppt/media/image121.png" ContentType="image/png"/>
  <Override PartName="/ppt/media/image87.jpeg" ContentType="image/jpeg"/>
  <Override PartName="/ppt/media/image102.jpeg" ContentType="image/jpeg"/>
  <Override PartName="/ppt/media/image85.png" ContentType="image/png"/>
  <Override PartName="/ppt/media/image17.png" ContentType="image/png"/>
  <Override PartName="/ppt/media/image79.png" ContentType="image/png"/>
  <Override PartName="/ppt/media/image78.png" ContentType="image/png"/>
  <Override PartName="/ppt/media/image77.png" ContentType="image/png"/>
  <Override PartName="/ppt/media/image75.png" ContentType="image/png"/>
  <Override PartName="/ppt/media/image74.png" ContentType="image/png"/>
  <Override PartName="/ppt/media/image73.png" ContentType="image/png"/>
  <Override PartName="/ppt/media/image97.jpeg" ContentType="image/jpeg"/>
  <Override PartName="/ppt/media/image62.png" ContentType="image/png"/>
  <Override PartName="/ppt/media/image72.png" ContentType="image/png"/>
  <Override PartName="/ppt/media/image70.jpeg" ContentType="image/jpeg"/>
  <Override PartName="/ppt/media/image53.png" ContentType="image/png"/>
  <Override PartName="/ppt/media/image120.png" ContentType="image/png"/>
  <Override PartName="/ppt/media/image165.jpeg" ContentType="image/jpeg"/>
  <Override PartName="/ppt/media/image69.png" ContentType="image/png"/>
  <Override PartName="/ppt/media/image68.png" ContentType="image/png"/>
  <Override PartName="/ppt/media/image67.png" ContentType="image/png"/>
  <Override PartName="/ppt/media/image66.png" ContentType="image/png"/>
  <Override PartName="/ppt/media/image52.jpeg" ContentType="image/jpeg"/>
  <Override PartName="/ppt/media/image80.jpeg" ContentType="image/jpeg"/>
  <Override PartName="/ppt/media/image65.png" ContentType="image/png"/>
  <Override PartName="/ppt/media/image64.png" ContentType="image/png"/>
  <Override PartName="/ppt/media/image63.png" ContentType="image/png"/>
  <Override PartName="/ppt/media/image96.jpeg" ContentType="image/jpeg"/>
  <Override PartName="/ppt/media/image61.png" ContentType="image/png"/>
  <Override PartName="/ppt/media/image153.jpeg" ContentType="image/jpeg"/>
  <Override PartName="/ppt/media/image60.png" ContentType="image/png"/>
  <Override PartName="/ppt/media/image29.png" ContentType="image/png"/>
  <Override PartName="/ppt/media/image191.jpeg" ContentType="image/jpeg"/>
  <Override PartName="/ppt/media/image92.png" ContentType="image/png"/>
  <Override PartName="/ppt/media/image24.png" ContentType="image/png"/>
  <Override PartName="/ppt/media/image27.png" ContentType="image/png"/>
  <Override PartName="/ppt/media/image23.png" ContentType="image/png"/>
  <Override PartName="/ppt/media/image119.png" ContentType="image/png"/>
  <Override PartName="/ppt/media/image187.png" ContentType="image/png"/>
  <Override PartName="/ppt/media/image22.png" ContentType="image/png"/>
  <Override PartName="/ppt/media/image90.png" ContentType="image/png"/>
  <Override PartName="/ppt/media/image110.png" ContentType="image/png"/>
  <Override PartName="/ppt/media/image59.png" ContentType="image/png"/>
  <Override PartName="/ppt/media/image118.png" ContentType="image/png"/>
  <Override PartName="/ppt/media/image186.png" ContentType="image/png"/>
  <Override PartName="/ppt/media/image50.png" ContentType="image/png"/>
  <Override PartName="/ppt/media/image147.png" ContentType="image/png"/>
  <Override PartName="/ppt/media/image148.png" ContentType="image/png"/>
  <Override PartName="/ppt/media/image4.jpeg" ContentType="image/jpeg"/>
  <Override PartName="/ppt/media/image129.jpeg" ContentType="image/jpeg"/>
  <Override PartName="/ppt/media/image146.png" ContentType="image/png"/>
  <Override PartName="/ppt/media/image133.png" ContentType="image/png"/>
  <Override PartName="/ppt/media/image134.png" ContentType="image/png"/>
  <Override PartName="/ppt/media/image49.png" ContentType="image/png"/>
  <Override PartName="/ppt/media/image205.png" ContentType="image/png"/>
  <Override PartName="/ppt/media/image100.png" ContentType="image/png"/>
  <Override PartName="/ppt/media/image135.png" ContentType="image/png"/>
  <Override PartName="/ppt/media/image137.png" ContentType="image/png"/>
  <Override PartName="/ppt/media/image201.jpeg" ContentType="image/jpeg"/>
  <Override PartName="/ppt/media/image140.jpeg" ContentType="image/jpeg"/>
  <Override PartName="/ppt/media/image160.png" ContentType="image/png"/>
  <Override PartName="/ppt/media/image143.png" ContentType="image/png"/>
  <Override PartName="/ppt/media/image144.png" ContentType="image/png"/>
  <Override PartName="/ppt/media/image182.png" ContentType="image/png"/>
  <Override PartName="/ppt/media/image20.png" ContentType="image/png"/>
  <Override PartName="/ppt/media/image54.png" ContentType="image/png"/>
  <Override PartName="/ppt/media/image177.png" ContentType="image/png"/>
  <Override PartName="/ppt/media/image199.jpeg" ContentType="image/jpeg"/>
  <Override PartName="/ppt/media/image149.png" ContentType="image/png"/>
  <Override PartName="/ppt/media/image209.jpeg" ContentType="image/jpeg"/>
  <Override PartName="/ppt/media/image132.png" ContentType="image/png"/>
  <Override PartName="/ppt/media/image202.png" ContentType="image/png"/>
  <Override PartName="/ppt/media/image156.png" ContentType="image/png"/>
  <Override PartName="/ppt/media/image55.png" ContentType="image/png"/>
  <Override PartName="/ppt/media/image141.png" ContentType="image/png"/>
  <Override PartName="/ppt/media/image171.jpeg" ContentType="image/jpeg"/>
  <Override PartName="/ppt/media/image178.png" ContentType="image/png"/>
  <Override PartName="/ppt/media/image158.png" ContentType="image/png"/>
  <Override PartName="/ppt/media/image56.png" ContentType="image/png"/>
  <Override PartName="/ppt/media/image142.png" ContentType="image/png"/>
  <Override PartName="/ppt/media/image179.png" ContentType="image/png"/>
  <Override PartName="/ppt/media/image190.png" ContentType="image/png"/>
  <Override PartName="/ppt/media/image189.png" ContentType="image/png"/>
  <Override PartName="/ppt/media/image136.png" ContentType="image/png"/>
  <Override PartName="/ppt/media/image19.jpeg" ContentType="image/jpeg"/>
  <Override PartName="/ppt/media/image161.png" ContentType="image/png"/>
  <Override PartName="/ppt/media/image40.png" ContentType="image/png"/>
  <Override PartName="/ppt/media/image15.jpeg" ContentType="image/jpeg"/>
  <Override PartName="/ppt/media/image206.png" ContentType="image/png"/>
  <Override PartName="/ppt/media/image162.png" ContentType="image/png"/>
  <Override PartName="/ppt/media/image1.png" ContentType="image/png"/>
  <Override PartName="/ppt/media/image34.png" ContentType="image/png"/>
  <Override PartName="/ppt/media/image131.jpeg" ContentType="image/jpeg"/>
  <Override PartName="/ppt/media/image81.png" ContentType="image/png"/>
  <Override PartName="/ppt/media/image13.png" ContentType="image/png"/>
  <Override PartName="/ppt/media/image154.png" ContentType="image/png"/>
  <Override PartName="/ppt/media/image207.png" ContentType="image/png"/>
  <Override PartName="/ppt/media/image51.png" ContentType="image/png"/>
  <Override PartName="/ppt/media/image152.jpeg" ContentType="image/jpeg"/>
  <Override PartName="/ppt/media/image163.png" ContentType="image/png"/>
  <Override PartName="/ppt/media/image208.png" ContentType="image/png"/>
  <Override PartName="/ppt/media/image164.png" ContentType="image/png"/>
  <Override PartName="/ppt/media/image196.png" ContentType="image/png"/>
  <Override PartName="/ppt/media/image128.png" ContentType="image/png"/>
  <Override PartName="/ppt/media/image2.jpeg" ContentType="image/jpeg"/>
  <Override PartName="/ppt/media/image170.png" ContentType="image/png"/>
  <Override PartName="/ppt/media/image168.png" ContentType="image/png"/>
  <Override PartName="/ppt/media/image6.jpeg" ContentType="image/jpeg"/>
  <Override PartName="/ppt/media/image71.png" ContentType="image/png"/>
  <Override PartName="/ppt/media/image169.png" ContentType="image/png"/>
  <Override PartName="/ppt/media/image130.png" ContentType="image/png"/>
  <Override PartName="/ppt/media/image167.png" ContentType="image/png"/>
  <Override PartName="/ppt/media/image166.png" ContentType="image/png"/>
  <Override PartName="/ppt/media/image204.png" ContentType="image/png"/>
  <Override PartName="/ppt/media/image48.png" ContentType="image/png"/>
  <Override PartName="/ppt/media/image151.png" ContentType="image/png"/>
  <Override PartName="/ppt/media/image150.png" ContentType="image/png"/>
  <Override PartName="/ppt/media/image47.png" ContentType="image/png"/>
  <Override PartName="/ppt/media/image46.png" ContentType="image/png"/>
  <Override PartName="/ppt/media/image139.jpeg" ContentType="image/jpeg"/>
  <Override PartName="/ppt/media/image28.png" ContentType="image/png"/>
  <Override PartName="/ppt/media/image76.jpeg" ContentType="image/jpeg"/>
  <Override PartName="/ppt/media/image45.png" ContentType="image/png"/>
  <Override PartName="/ppt/media/image44.png" ContentType="image/png"/>
  <Override PartName="/ppt/media/image43.png" ContentType="image/png"/>
  <Override PartName="/ppt/media/image41.png" ContentType="image/png"/>
  <Override PartName="/ppt/media/image83.png" ContentType="image/png"/>
  <Override PartName="/ppt/media/image138.jpeg" ContentType="image/jpeg"/>
  <Override PartName="/ppt/media/image36.png" ContentType="image/png"/>
  <Override PartName="/ppt/media/image94.jpeg" ContentType="image/jpeg"/>
  <Override PartName="/ppt/media/image32.png" ContentType="image/png"/>
  <Override PartName="/ppt/media/image180.png" ContentType="image/png"/>
  <Override PartName="/ppt/media/image112.png" ContentType="image/png"/>
  <Override PartName="/ppt/media/image174.jpeg" ContentType="image/jpeg"/>
  <Override PartName="/ppt/media/image12.jpeg" ContentType="image/jpeg"/>
  <Override PartName="/ppt/media/image11.png" ContentType="image/png"/>
  <Override PartName="/ppt/media/image108.png" ContentType="image/png"/>
  <Override PartName="/ppt/media/image176.png" ContentType="image/png"/>
  <Override PartName="/ppt/media/image82.png" ContentType="image/png"/>
  <Override PartName="/ppt/media/image14.png" ContentType="image/png"/>
  <Override PartName="/ppt/media/image38.png" ContentType="image/png"/>
  <Override PartName="/ppt/media/image8.jpeg" ContentType="image/jpeg"/>
  <Override PartName="/ppt/media/image26.png" ContentType="image/png"/>
  <Override PartName="/ppt/media/image35.png" ContentType="image/png"/>
  <Override PartName="/ppt/media/image122.jpeg" ContentType="image/jpeg"/>
  <Override PartName="/ppt/media/image31.png" ContentType="image/png"/>
  <Override PartName="/ppt/media/image9.png" ContentType="image/png"/>
  <Override PartName="/ppt/media/image18.png" ContentType="image/png"/>
  <Override PartName="/ppt/media/image86.png" ContentType="image/png"/>
  <Override PartName="/ppt/media/image5.png" ContentType="image/png"/>
  <Override PartName="/ppt/media/image203.jpeg" ContentType="image/jpeg"/>
  <Override PartName="/ppt/media/image157.png" ContentType="image/png"/>
  <Override PartName="/ppt/media/image39.png" ContentType="image/png"/>
  <Override PartName="/ppt/media/image37.png" ContentType="image/png"/>
  <Override PartName="/ppt/media/image159.png" ContentType="image/png"/>
  <Override PartName="/ppt/media/image7.png" ContentType="image/png"/>
  <Override PartName="/ppt/media/image16.png" ContentType="image/png"/>
  <Override PartName="/ppt/media/image84.png" ContentType="image/png"/>
  <Override PartName="/ppt/media/image93.png" ContentType="image/png"/>
  <Override PartName="/ppt/media/image25.png" ContentType="image/png"/>
  <Override PartName="/ppt/media/image33.png" ContentType="image/png"/>
  <Override PartName="/ppt/media/image3.png" ContentType="image/png"/>
  <Override PartName="/ppt/media/image155.png" ContentType="image/png"/>
  <Override PartName="/ppt/media/image188.png" ContentType="image/png"/>
  <Override PartName="/ppt/media/image10.jpeg" ContentType="image/jpeg"/>
  <Override PartName="/ppt/media/image111.png" ContentType="image/png"/>
  <Override PartName="/ppt/media/image114.jpeg" ContentType="image/jpeg"/>
  <Override PartName="/ppt/media/image57.png" ContentType="image/png"/>
  <Override PartName="/ppt/media/image117.png" ContentType="image/png"/>
  <Override PartName="/ppt/media/image185.png" ContentType="image/png"/>
  <Override PartName="/ppt/media/image58.png" ContentType="image/png"/>
  <Override PartName="/ppt/media/image21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Props.xml" ContentType="application/vnd.openxmlformats-officedocument.presentationml.presProps+xml"/>
  <Override PartName="/ppt/slides/_rels/slide64.xml.rels" ContentType="application/vnd.openxmlformats-package.relationships+xml"/>
  <Override PartName="/ppt/slides/_rels/slide141.xml.rels" ContentType="application/vnd.openxmlformats-package.relationships+xml"/>
  <Override PartName="/ppt/slides/_rels/slide160.xml.rels" ContentType="application/vnd.openxmlformats-package.relationships+xml"/>
  <Override PartName="/ppt/slides/_rels/slide23.xml.rels" ContentType="application/vnd.openxmlformats-package.relationships+xml"/>
  <Override PartName="/ppt/slides/_rels/slide203.xml.rels" ContentType="application/vnd.openxmlformats-package.relationships+xml"/>
  <Override PartName="/ppt/slides/_rels/slide100.xml.rels" ContentType="application/vnd.openxmlformats-package.relationships+xml"/>
  <Override PartName="/ppt/slides/_rels/slide195.xml.rels" ContentType="application/vnd.openxmlformats-package.relationships+xml"/>
  <Override PartName="/ppt/slides/_rels/slide90.xml.rels" ContentType="application/vnd.openxmlformats-package.relationships+xml"/>
  <Override PartName="/ppt/slides/_rels/slide46.xml.rels" ContentType="application/vnd.openxmlformats-package.relationships+xml"/>
  <Override PartName="/ppt/slides/_rels/slide123.xml.rels" ContentType="application/vnd.openxmlformats-package.relationships+xml"/>
  <Override PartName="/ppt/slides/_rels/slide22.xml.rels" ContentType="application/vnd.openxmlformats-package.relationships+xml"/>
  <Override PartName="/ppt/slides/_rels/slide202.xml.rels" ContentType="application/vnd.openxmlformats-package.relationships+xml"/>
  <Override PartName="/ppt/slides/_rels/slide194.xml.rels" ContentType="application/vnd.openxmlformats-package.relationships+xml"/>
  <Override PartName="/ppt/slides/_rels/slide155.xml.rels" ContentType="application/vnd.openxmlformats-package.relationships+xml"/>
  <Override PartName="/ppt/slides/_rels/slide21.xml.rels" ContentType="application/vnd.openxmlformats-package.relationships+xml"/>
  <Override PartName="/ppt/slides/_rels/slide201.xml.rels" ContentType="application/vnd.openxmlformats-package.relationships+xml"/>
  <Override PartName="/ppt/slides/_rels/slide193.xml.rels" ContentType="application/vnd.openxmlformats-package.relationships+xml"/>
  <Override PartName="/ppt/slides/_rels/slide15.xml.rels" ContentType="application/vnd.openxmlformats-package.relationships+xml"/>
  <Override PartName="/ppt/slides/_rels/slide187.xml.rels" ContentType="application/vnd.openxmlformats-package.relationships+xml"/>
  <Override PartName="/ppt/slides/_rels/slide58.xml.rels" ContentType="application/vnd.openxmlformats-package.relationships+xml"/>
  <Override PartName="/ppt/slides/_rels/slide154.xml.rels" ContentType="application/vnd.openxmlformats-package.relationships+xml"/>
  <Override PartName="/ppt/slides/_rels/slide16.xml.rels" ContentType="application/vnd.openxmlformats-package.relationships+xml"/>
  <Override PartName="/ppt/slides/_rels/slide188.xml.rels" ContentType="application/vnd.openxmlformats-package.relationships+xml"/>
  <Override PartName="/ppt/slides/_rels/slide20.xml.rels" ContentType="application/vnd.openxmlformats-package.relationships+xml"/>
  <Override PartName="/ppt/slides/_rels/slide148.xml.rels" ContentType="application/vnd.openxmlformats-package.relationships+xml"/>
  <Override PartName="/ppt/slides/_rels/slide200.xml.rels" ContentType="application/vnd.openxmlformats-package.relationships+xml"/>
  <Override PartName="/ppt/slides/_rels/slide192.xml.rels" ContentType="application/vnd.openxmlformats-package.relationships+xml"/>
  <Override PartName="/ppt/slides/_rels/slide112.xml.rels" ContentType="application/vnd.openxmlformats-package.relationships+xml"/>
  <Override PartName="/ppt/slides/_rels/slide35.xml.rels" ContentType="application/vnd.openxmlformats-package.relationships+xml"/>
  <Override PartName="/ppt/slides/_rels/slide82.xml.rels" ContentType="application/vnd.openxmlformats-package.relationships+xml"/>
  <Override PartName="/ppt/slides/_rels/slide38.xml.rels" ContentType="application/vnd.openxmlformats-package.relationships+xml"/>
  <Override PartName="/ppt/slides/_rels/slide115.xml.rels" ContentType="application/vnd.openxmlformats-package.relationships+xml"/>
  <Override PartName="/ppt/slides/_rels/slide119.xml.rels" ContentType="application/vnd.openxmlformats-package.relationships+xml"/>
  <Override PartName="/ppt/slides/_rels/slide163.xml.rels" ContentType="application/vnd.openxmlformats-package.relationships+xml"/>
  <Override PartName="/ppt/slides/_rels/slide86.xml.rels" ContentType="application/vnd.openxmlformats-package.relationships+xml"/>
  <Override PartName="/ppt/slides/_rels/slide14.xml.rels" ContentType="application/vnd.openxmlformats-package.relationships+xml"/>
  <Override PartName="/ppt/slides/_rels/slide186.xml.rels" ContentType="application/vnd.openxmlformats-package.relationships+xml"/>
  <Override PartName="/ppt/slides/_rels/slide153.xml.rels" ContentType="application/vnd.openxmlformats-package.relationships+xml"/>
  <Override PartName="/ppt/slides/_rels/slide109.xml.rels" ContentType="application/vnd.openxmlformats-package.relationships+xml"/>
  <Override PartName="/ppt/slides/_rels/slide76.xml.rels" ContentType="application/vnd.openxmlformats-package.relationships+xml"/>
  <Override PartName="/ppt/slides/_rels/slide167.xml.rels" ContentType="application/vnd.openxmlformats-package.relationships+xml"/>
  <Override PartName="/ppt/slides/_rels/slide108.xml.rels" ContentType="application/vnd.openxmlformats-package.relationships+xml"/>
  <Override PartName="/ppt/slides/_rels/slide152.xml.rels" ContentType="application/vnd.openxmlformats-package.relationships+xml"/>
  <Override PartName="/ppt/slides/_rels/slide75.xml.rels" ContentType="application/vnd.openxmlformats-package.relationships+xml"/>
  <Override PartName="/ppt/slides/_rels/slide180.xml.rels" ContentType="application/vnd.openxmlformats-package.relationships+xml"/>
  <Override PartName="/ppt/slides/_rels/slide6.xml.rels" ContentType="application/vnd.openxmlformats-package.relationships+xml"/>
  <Override PartName="/ppt/slides/_rels/slide176.xml.rels" ContentType="application/vnd.openxmlformats-package.relationships+xml"/>
  <Override PartName="/ppt/slides/_rels/slide99.xml.rels" ContentType="application/vnd.openxmlformats-package.relationships+xml"/>
  <Override PartName="/ppt/slides/_rels/slide2.xml.rels" ContentType="application/vnd.openxmlformats-package.relationships+xml"/>
  <Override PartName="/ppt/slides/_rels/slide168.xml.rels" ContentType="application/vnd.openxmlformats-package.relationships+xml"/>
  <Override PartName="/ppt/slides/_rels/slide40.xml.rels" ContentType="application/vnd.openxmlformats-package.relationships+xml"/>
  <Override PartName="/ppt/slides/_rels/slide177.xml.rels" ContentType="application/vnd.openxmlformats-package.relationships+xml"/>
  <Override PartName="/ppt/slides/_rels/slide3.xml.rels" ContentType="application/vnd.openxmlformats-package.relationships+xml"/>
  <Override PartName="/ppt/slides/_rels/slide59.xml.rels" ContentType="application/vnd.openxmlformats-package.relationships+xml"/>
  <Override PartName="/ppt/slides/_rels/slide136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82.xml.rels" ContentType="application/vnd.openxmlformats-package.relationships+xml"/>
  <Override PartName="/ppt/slides/_rels/slide47.xml.rels" ContentType="application/vnd.openxmlformats-package.relationships+xml"/>
  <Override PartName="/ppt/slides/_rels/slide91.xml.rels" ContentType="application/vnd.openxmlformats-package.relationships+xml"/>
  <Override PartName="/ppt/slides/_rels/slide124.xml.rels" ContentType="application/vnd.openxmlformats-package.relationships+xml"/>
  <Override PartName="/ppt/slides/_rels/slide110.xml.rels" ContentType="application/vnd.openxmlformats-package.relationships+xml"/>
  <Override PartName="/ppt/slides/_rels/slide33.xml.rels" ContentType="application/vnd.openxmlformats-package.relationships+xml"/>
  <Override PartName="/ppt/slides/_rels/slide80.xml.rels" ContentType="application/vnd.openxmlformats-package.relationships+xml"/>
  <Override PartName="/ppt/slides/_rels/slide36.xml.rels" ContentType="application/vnd.openxmlformats-package.relationships+xml"/>
  <Override PartName="/ppt/slides/_rels/slide113.xml.rels" ContentType="application/vnd.openxmlformats-package.relationships+xml"/>
  <Override PartName="/ppt/slides/_rels/slide12.xml.rels" ContentType="application/vnd.openxmlformats-package.relationships+xml"/>
  <Override PartName="/ppt/slides/_rels/slide184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83.xml.rels" ContentType="application/vnd.openxmlformats-package.relationships+xml"/>
  <Override PartName="/ppt/slides/_rels/slide48.xml.rels" ContentType="application/vnd.openxmlformats-package.relationships+xml"/>
  <Override PartName="/ppt/slides/_rels/slide92.xml.rels" ContentType="application/vnd.openxmlformats-package.relationships+xml"/>
  <Override PartName="/ppt/slides/_rels/slide125.xml.rels" ContentType="application/vnd.openxmlformats-package.relationships+xml"/>
  <Override PartName="/ppt/slides/_rels/slide4.xml.rels" ContentType="application/vnd.openxmlformats-package.relationships+xml"/>
  <Override PartName="/ppt/slides/_rels/slide134.xml.rels" ContentType="application/vnd.openxmlformats-package.relationships+xml"/>
  <Override PartName="/ppt/slides/_rels/slide144.xml.rels" ContentType="application/vnd.openxmlformats-package.relationships+xml"/>
  <Override PartName="/ppt/slides/_rels/slide111.xml.rels" ContentType="application/vnd.openxmlformats-package.relationships+xml"/>
  <Override PartName="/ppt/slides/_rels/slide34.xml.rels" ContentType="application/vnd.openxmlformats-package.relationships+xml"/>
  <Override PartName="/ppt/slides/_rels/slide81.xml.rels" ContentType="application/vnd.openxmlformats-package.relationships+xml"/>
  <Override PartName="/ppt/slides/_rels/slide37.xml.rels" ContentType="application/vnd.openxmlformats-package.relationships+xml"/>
  <Override PartName="/ppt/slides/_rels/slide114.xml.rels" ContentType="application/vnd.openxmlformats-package.relationships+xml"/>
  <Override PartName="/ppt/slides/_rels/slide137.xml.rels" ContentType="application/vnd.openxmlformats-package.relationships+xml"/>
  <Override PartName="/ppt/slides/_rels/slide131.xml.rels" ContentType="application/vnd.openxmlformats-package.relationships+xml"/>
  <Override PartName="/ppt/slides/_rels/slide133.xml.rels" ContentType="application/vnd.openxmlformats-package.relationships+xml"/>
  <Override PartName="/ppt/slides/_rels/slide77.xml.rels" ContentType="application/vnd.openxmlformats-package.relationships+xml"/>
  <Override PartName="/ppt/slides/_rels/slide132.xml.rels" ContentType="application/vnd.openxmlformats-package.relationships+xml"/>
  <Override PartName="/ppt/slides/_rels/slide56.xml.rels" ContentType="application/vnd.openxmlformats-package.relationships+xml"/>
  <Override PartName="/ppt/slides/_rels/slide60.xml.rels" ContentType="application/vnd.openxmlformats-package.relationships+xml"/>
  <Override PartName="/ppt/slides/_rels/slide50.xml.rels" ContentType="application/vnd.openxmlformats-package.relationships+xml"/>
  <Override PartName="/ppt/slides/_rels/slide55.xml.rels" ContentType="application/vnd.openxmlformats-package.relationships+xml"/>
  <Override PartName="/ppt/slides/_rels/slide51.xml.rels" ContentType="application/vnd.openxmlformats-package.relationships+xml"/>
  <Override PartName="/ppt/slides/_rels/slide79.xml.rels" ContentType="application/vnd.openxmlformats-package.relationships+xml"/>
  <Override PartName="/ppt/slides/_rels/slide45.xml.rels" ContentType="application/vnd.openxmlformats-package.relationships+xml"/>
  <Override PartName="/ppt/slides/_rels/slide65.xml.rels" ContentType="application/vnd.openxmlformats-package.relationships+xml"/>
  <Override PartName="/ppt/slides/_rels/slide121.xml.rels" ContentType="application/vnd.openxmlformats-package.relationships+xml"/>
  <Override PartName="/ppt/slides/_rels/slide32.xml.rels" ContentType="application/vnd.openxmlformats-package.relationships+xml"/>
  <Override PartName="/ppt/slides/_rels/slide1.xml.rels" ContentType="application/vnd.openxmlformats-package.relationships+xml"/>
  <Override PartName="/ppt/slides/_rels/slide129.xml.rels" ContentType="application/vnd.openxmlformats-package.relationships+xml"/>
  <Override PartName="/ppt/slides/_rels/slide173.xml.rels" ContentType="application/vnd.openxmlformats-package.relationships+xml"/>
  <Override PartName="/ppt/slides/_rels/slide96.xml.rels" ContentType="application/vnd.openxmlformats-package.relationships+xml"/>
  <Override PartName="/ppt/slides/_rels/slide43.xml.rels" ContentType="application/vnd.openxmlformats-package.relationships+xml"/>
  <Override PartName="/ppt/slides/_rels/slide146.xml.rels" ContentType="application/vnd.openxmlformats-package.relationships+xml"/>
  <Override PartName="/ppt/slides/_rels/slide190.xml.rels" ContentType="application/vnd.openxmlformats-package.relationships+xml"/>
  <Override PartName="/ppt/slides/_rels/slide18.xml.rels" ContentType="application/vnd.openxmlformats-package.relationships+xml"/>
  <Override PartName="/ppt/slides/_rels/slide170.xml.rels" ContentType="application/vnd.openxmlformats-package.relationships+xml"/>
  <Override PartName="/ppt/slides/_rels/slide157.xml.rels" ContentType="application/vnd.openxmlformats-package.relationships+xml"/>
  <Override PartName="/ppt/slides/_rels/slide52.xml.rels" ContentType="application/vnd.openxmlformats-package.relationships+xml"/>
  <Override PartName="/ppt/slides/_rels/slide98.xml.rels" ContentType="application/vnd.openxmlformats-package.relationships+xml"/>
  <Override PartName="/ppt/slides/_rels/slide175.xml.rels" ContentType="application/vnd.openxmlformats-package.relationships+xml"/>
  <Override PartName="/ppt/slides/_rels/slide122.xml.rels" ContentType="application/vnd.openxmlformats-package.relationships+xml"/>
  <Override PartName="/ppt/slides/_rels/slide66.xml.rels" ContentType="application/vnd.openxmlformats-package.relationships+xml"/>
  <Override PartName="/ppt/slides/_rels/slide172.xml.rels" ContentType="application/vnd.openxmlformats-package.relationships+xml"/>
  <Override PartName="/ppt/slides/_rels/slide85.xml.rels" ContentType="application/vnd.openxmlformats-package.relationships+xml"/>
  <Override PartName="/ppt/slides/_rels/slide118.xml.rels" ContentType="application/vnd.openxmlformats-package.relationships+xml"/>
  <Override PartName="/ppt/slides/_rels/slide162.xml.rels" ContentType="application/vnd.openxmlformats-package.relationships+xml"/>
  <Override PartName="/ppt/slides/_rels/slide171.xml.rels" ContentType="application/vnd.openxmlformats-package.relationships+xml"/>
  <Override PartName="/ppt/slides/_rels/slide67.xml.rels" ContentType="application/vnd.openxmlformats-package.relationships+xml"/>
  <Override PartName="/ppt/slides/_rels/slide83.xml.rels" ContentType="application/vnd.openxmlformats-package.relationships+xml"/>
  <Override PartName="/ppt/slides/_rels/slide39.xml.rels" ContentType="application/vnd.openxmlformats-package.relationships+xml"/>
  <Override PartName="/ppt/slides/_rels/slide116.xml.rels" ContentType="application/vnd.openxmlformats-package.relationships+xml"/>
  <Override PartName="/ppt/slides/_rels/slide120.xml.rels" ContentType="application/vnd.openxmlformats-package.relationships+xml"/>
  <Override PartName="/ppt/slides/_rels/slide206.xml.rels" ContentType="application/vnd.openxmlformats-package.relationships+xml"/>
  <Override PartName="/ppt/slides/_rels/slide41.xml.rels" ContentType="application/vnd.openxmlformats-package.relationships+xml"/>
  <Override PartName="/ppt/slides/_rels/slide169.xml.rels" ContentType="application/vnd.openxmlformats-package.relationships+xml"/>
  <Override PartName="/ppt/slides/_rels/slide68.xml.rels" ContentType="application/vnd.openxmlformats-package.relationships+xml"/>
  <Override PartName="/ppt/slides/_rels/slide164.xml.rels" ContentType="application/vnd.openxmlformats-package.relationships+xml"/>
  <Override PartName="/ppt/slides/_rels/slide87.xml.rels" ContentType="application/vnd.openxmlformats-package.relationships+xml"/>
  <Override PartName="/ppt/slides/_rels/slide78.xml.rels" ContentType="application/vnd.openxmlformats-package.relationships+xml"/>
  <Override PartName="/ppt/slides/_rels/slide127.xml.rels" ContentType="application/vnd.openxmlformats-package.relationships+xml"/>
  <Override PartName="/ppt/slides/_rels/slide94.xml.rels" ContentType="application/vnd.openxmlformats-package.relationships+xml"/>
  <Override PartName="/ppt/slides/_rels/slide128.xml.rels" ContentType="application/vnd.openxmlformats-package.relationships+xml"/>
  <Override PartName="/ppt/slides/_rels/slide95.xml.rels" ContentType="application/vnd.openxmlformats-package.relationships+xml"/>
  <Override PartName="/ppt/slides/_rels/slide72.xml.rels" ContentType="application/vnd.openxmlformats-package.relationships+xml"/>
  <Override PartName="/ppt/slides/_rels/slide105.xml.rels" ContentType="application/vnd.openxmlformats-package.relationships+xml"/>
  <Override PartName="/ppt/slides/_rels/slide19.xml.rels" ContentType="application/vnd.openxmlformats-package.relationships+xml"/>
  <Override PartName="/ppt/slides/_rels/slide174.xml.rels" ContentType="application/vnd.openxmlformats-package.relationships+xml"/>
  <Override PartName="/ppt/slides/_rels/slide97.xml.rels" ContentType="application/vnd.openxmlformats-package.relationships+xml"/>
  <Override PartName="/ppt/slides/_rels/slide44.xml.rels" ContentType="application/vnd.openxmlformats-package.relationships+xml"/>
  <Override PartName="/ppt/slides/_rels/slide71.xml.rels" ContentType="application/vnd.openxmlformats-package.relationships+xml"/>
  <Override PartName="/ppt/slides/_rels/slide104.xml.rels" ContentType="application/vnd.openxmlformats-package.relationships+xml"/>
  <Override PartName="/ppt/slides/_rels/slide54.xml.rels" ContentType="application/vnd.openxmlformats-package.relationships+xml"/>
  <Override PartName="/ppt/slides/_rels/slide69.xml.rels" ContentType="application/vnd.openxmlformats-package.relationships+xml"/>
  <Override PartName="/ppt/slides/_rels/slide30.xml.rels" ContentType="application/vnd.openxmlformats-package.relationships+xml"/>
  <Override PartName="/ppt/slides/_rels/slide158.xml.rels" ContentType="application/vnd.openxmlformats-package.relationships+xml"/>
  <Override PartName="/ppt/slides/_rels/slide53.xml.rels" ContentType="application/vnd.openxmlformats-package.relationships+xml"/>
  <Override PartName="/ppt/slides/_rels/slide88.xml.rels" ContentType="application/vnd.openxmlformats-package.relationships+xml"/>
  <Override PartName="/ppt/slides/_rels/slide165.xml.rels" ContentType="application/vnd.openxmlformats-package.relationships+xml"/>
  <Override PartName="/ppt/slides/_rels/slide207.xml.rels" ContentType="application/vnd.openxmlformats-package.relationships+xml"/>
  <Override PartName="/ppt/slides/_rels/slide27.xml.rels" ContentType="application/vnd.openxmlformats-package.relationships+xml"/>
  <Override PartName="/ppt/slides/_rels/slide199.xml.rels" ContentType="application/vnd.openxmlformats-package.relationships+xml"/>
  <Override PartName="/ppt/slides/_rels/slide73.xml.rels" ContentType="application/vnd.openxmlformats-package.relationships+xml"/>
  <Override PartName="/ppt/slides/_rels/slide150.xml.rels" ContentType="application/vnd.openxmlformats-package.relationships+xml"/>
  <Override PartName="/ppt/slides/_rels/slide106.xml.rels" ContentType="application/vnd.openxmlformats-package.relationships+xml"/>
  <Override PartName="/ppt/slides/_rels/slide156.xml.rels" ContentType="application/vnd.openxmlformats-package.relationships+xml"/>
  <Override PartName="/ppt/slides/_rels/slide149.xml.rels" ContentType="application/vnd.openxmlformats-package.relationships+xml"/>
  <Override PartName="/ppt/slides/_rels/slide103.xml.rels" ContentType="application/vnd.openxmlformats-package.relationships+xml"/>
  <Override PartName="/ppt/slides/_rels/slide70.xml.rels" ContentType="application/vnd.openxmlformats-package.relationships+xml"/>
  <Override PartName="/ppt/slides/_rels/slide26.xml.rels" ContentType="application/vnd.openxmlformats-package.relationships+xml"/>
  <Override PartName="/ppt/slides/_rels/slide198.xml.rels" ContentType="application/vnd.openxmlformats-package.relationships+xml"/>
  <Override PartName="/ppt/slides/_rels/slide17.xml.rels" ContentType="application/vnd.openxmlformats-package.relationships+xml"/>
  <Override PartName="/ppt/slides/_rels/slide189.xml.rels" ContentType="application/vnd.openxmlformats-package.relationships+xml"/>
  <Override PartName="/ppt/slides/_rels/slide140.xml.rels" ContentType="application/vnd.openxmlformats-package.relationships+xml"/>
  <Override PartName="/ppt/slides/_rels/slide63.xml.rels" ContentType="application/vnd.openxmlformats-package.relationships+xml"/>
  <Override PartName="/ppt/slides/_rels/slide208.xml.rels" ContentType="application/vnd.openxmlformats-package.relationships+xml"/>
  <Override PartName="/ppt/slides/_rels/slide28.xml.rels" ContentType="application/vnd.openxmlformats-package.relationships+xml"/>
  <Override PartName="/ppt/slides/_rels/slide138.xml.rels" ContentType="application/vnd.openxmlformats-package.relationships+xml"/>
  <Override PartName="/ppt/slides/_rels/slide142.xml.rels" ContentType="application/vnd.openxmlformats-package.relationships+xml"/>
  <Override PartName="/ppt/slides/_rels/slide191.xml.rels" ContentType="application/vnd.openxmlformats-package.relationships+xml"/>
  <Override PartName="/ppt/slides/_rels/slide147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181.xml.rels" ContentType="application/vnd.openxmlformats-package.relationships+xml"/>
  <Override PartName="/ppt/slides/_rels/slide57.xml.rels" ContentType="application/vnd.openxmlformats-package.relationships+xml"/>
  <Override PartName="/ppt/slides/_rels/slide61.xml.rels" ContentType="application/vnd.openxmlformats-package.relationships+xml"/>
  <Override PartName="/ppt/slides/_rels/slide209.xml.rels" ContentType="application/vnd.openxmlformats-package.relationships+xml"/>
  <Override PartName="/ppt/slides/_rels/slide29.xml.rels" ContentType="application/vnd.openxmlformats-package.relationships+xml"/>
  <Override PartName="/ppt/slides/_rels/slide139.xml.rels" ContentType="application/vnd.openxmlformats-package.relationships+xml"/>
  <Override PartName="/ppt/slides/_rels/slide143.xml.rels" ContentType="application/vnd.openxmlformats-package.relationships+xml"/>
  <Override PartName="/ppt/slides/_rels/slide205.xml.rels" ContentType="application/vnd.openxmlformats-package.relationships+xml"/>
  <Override PartName="/ppt/slides/_rels/slide102.xml.rels" ContentType="application/vnd.openxmlformats-package.relationships+xml"/>
  <Override PartName="/ppt/slides/_rels/slide25.xml.rels" ContentType="application/vnd.openxmlformats-package.relationships+xml"/>
  <Override PartName="/ppt/slides/_rels/slide197.xml.rels" ContentType="application/vnd.openxmlformats-package.relationships+xml"/>
  <Override PartName="/ppt/slides/_rels/slide101.xml.rels" ContentType="application/vnd.openxmlformats-package.relationships+xml"/>
  <Override PartName="/ppt/slides/_rels/slide24.xml.rels" ContentType="application/vnd.openxmlformats-package.relationships+xml"/>
  <Override PartName="/ppt/slides/_rels/slide196.xml.rels" ContentType="application/vnd.openxmlformats-package.relationships+xml"/>
  <Override PartName="/ppt/slides/_rels/slide204.xml.rels" ContentType="application/vnd.openxmlformats-package.relationships+xml"/>
  <Override PartName="/ppt/slides/_rels/slide62.xml.rels" ContentType="application/vnd.openxmlformats-package.relationships+xml"/>
  <Override PartName="/ppt/slides/_rels/slide74.xml.rels" ContentType="application/vnd.openxmlformats-package.relationships+xml"/>
  <Override PartName="/ppt/slides/_rels/slide107.xml.rels" ContentType="application/vnd.openxmlformats-package.relationships+xml"/>
  <Override PartName="/ppt/slides/_rels/slide151.xml.rels" ContentType="application/vnd.openxmlformats-package.relationships+xml"/>
  <Override PartName="/ppt/slides/_rels/slide166.xml.rels" ContentType="application/vnd.openxmlformats-package.relationships+xml"/>
  <Override PartName="/ppt/slides/_rels/slide89.xml.rels" ContentType="application/vnd.openxmlformats-package.relationships+xml"/>
  <Override PartName="/ppt/slides/_rels/slide179.xml.rels" ContentType="application/vnd.openxmlformats-package.relationships+xml"/>
  <Override PartName="/ppt/slides/_rels/slide178.xml.rels" ContentType="application/vnd.openxmlformats-package.relationships+xml"/>
  <Override PartName="/ppt/slides/_rels/slide130.xml.rels" ContentType="application/vnd.openxmlformats-package.relationships+xml"/>
  <Override PartName="/ppt/slides/_rels/slide159.xml.rels" ContentType="application/vnd.openxmlformats-package.relationships+xml"/>
  <Override PartName="/ppt/slides/_rels/slide31.xml.rels" ContentType="application/vnd.openxmlformats-package.relationships+xml"/>
  <Override PartName="/ppt/slides/_rels/slide117.xml.rels" ContentType="application/vnd.openxmlformats-package.relationships+xml"/>
  <Override PartName="/ppt/slides/_rels/slide84.xml.rels" ContentType="application/vnd.openxmlformats-package.relationships+xml"/>
  <Override PartName="/ppt/slides/_rels/slide161.xml.rels" ContentType="application/vnd.openxmlformats-package.relationships+xml"/>
  <Override PartName="/ppt/slides/_rels/slide145.xml.rels" ContentType="application/vnd.openxmlformats-package.relationships+xml"/>
  <Override PartName="/ppt/slides/_rels/slide135.xml.rels" ContentType="application/vnd.openxmlformats-package.relationships+xml"/>
  <Override PartName="/ppt/slides/_rels/slide5.xml.rels" ContentType="application/vnd.openxmlformats-package.relationships+xml"/>
  <Override PartName="/ppt/slides/_rels/slide93.xml.rels" ContentType="application/vnd.openxmlformats-package.relationships+xml"/>
  <Override PartName="/ppt/slides/_rels/slide126.xml.rels" ContentType="application/vnd.openxmlformats-package.relationships+xml"/>
  <Override PartName="/ppt/slides/_rels/slide49.xml.rels" ContentType="application/vnd.openxmlformats-package.relationships+xml"/>
  <Override PartName="/ppt/slides/_rels/slide185.xml.rels" ContentType="application/vnd.openxmlformats-package.relationships+xml"/>
  <Override PartName="/ppt/slides/_rels/slide13.xml.rels" ContentType="application/vnd.openxmlformats-package.relationships+xml"/>
  <Override PartName="/ppt/slides/slide127.xml" ContentType="application/vnd.openxmlformats-officedocument.presentationml.slide+xml"/>
  <Override PartName="/ppt/slides/slide99.xml" ContentType="application/vnd.openxmlformats-officedocument.presentationml.slide+xml"/>
  <Override PartName="/ppt/slides/slide195.xml" ContentType="application/vnd.openxmlformats-officedocument.presentationml.slide+xml"/>
  <Override PartName="/ppt/slides/slide126.xml" ContentType="application/vnd.openxmlformats-officedocument.presentationml.slide+xml"/>
  <Override PartName="/ppt/slides/slide98.xml" ContentType="application/vnd.openxmlformats-officedocument.presentationml.slide+xml"/>
  <Override PartName="/ppt/slides/slide194.xml" ContentType="application/vnd.openxmlformats-officedocument.presentationml.slide+xml"/>
  <Override PartName="/ppt/slides/slide125.xml" ContentType="application/vnd.openxmlformats-officedocument.presentationml.slide+xml"/>
  <Override PartName="/ppt/slides/slide97.xml" ContentType="application/vnd.openxmlformats-officedocument.presentationml.slide+xml"/>
  <Override PartName="/ppt/slides/slide29.xml" ContentType="application/vnd.openxmlformats-officedocument.presentationml.slide+xml"/>
  <Override PartName="/ppt/slides/slide193.xml" ContentType="application/vnd.openxmlformats-officedocument.presentationml.slide+xml"/>
  <Override PartName="/ppt/slides/slide124.xml" ContentType="application/vnd.openxmlformats-officedocument.presentationml.slide+xml"/>
  <Override PartName="/ppt/slides/slide96.xml" ContentType="application/vnd.openxmlformats-officedocument.presentationml.slide+xml"/>
  <Override PartName="/ppt/slides/slide28.xml" ContentType="application/vnd.openxmlformats-officedocument.presentationml.slide+xml"/>
  <Override PartName="/ppt/slides/slide192.xml" ContentType="application/vnd.openxmlformats-officedocument.presentationml.slide+xml"/>
  <Override PartName="/ppt/slides/slide123.xml" ContentType="application/vnd.openxmlformats-officedocument.presentationml.slide+xml"/>
  <Override PartName="/ppt/slides/slide95.xml" ContentType="application/vnd.openxmlformats-officedocument.presentationml.slide+xml"/>
  <Override PartName="/ppt/slides/slide27.xml" ContentType="application/vnd.openxmlformats-officedocument.presentationml.slide+xml"/>
  <Override PartName="/ppt/slides/slide191.xml" ContentType="application/vnd.openxmlformats-officedocument.presentationml.slide+xml"/>
  <Override PartName="/ppt/slides/slide118.xml" ContentType="application/vnd.openxmlformats-officedocument.presentationml.slide+xml"/>
  <Override PartName="/ppt/slides/slide186.xml" ContentType="application/vnd.openxmlformats-officedocument.presentationml.slide+xml"/>
  <Override PartName="/ppt/slides/slide117.xml" ContentType="application/vnd.openxmlformats-officedocument.presentationml.slide+xml"/>
  <Override PartName="/ppt/slides/slide89.xml" ContentType="application/vnd.openxmlformats-officedocument.presentationml.slide+xml"/>
  <Override PartName="/ppt/slides/slide185.xml" ContentType="application/vnd.openxmlformats-officedocument.presentationml.slide+xml"/>
  <Override PartName="/ppt/slides/slide116.xml" ContentType="application/vnd.openxmlformats-officedocument.presentationml.slide+xml"/>
  <Override PartName="/ppt/slides/slide88.xml" ContentType="application/vnd.openxmlformats-officedocument.presentationml.slide+xml"/>
  <Override PartName="/ppt/slides/slide184.xml" ContentType="application/vnd.openxmlformats-officedocument.presentationml.slide+xml"/>
  <Override PartName="/ppt/slides/slide115.xml" ContentType="application/vnd.openxmlformats-officedocument.presentationml.slide+xml"/>
  <Override PartName="/ppt/slides/slide87.xml" ContentType="application/vnd.openxmlformats-officedocument.presentationml.slide+xml"/>
  <Override PartName="/ppt/slides/slide19.xml" ContentType="application/vnd.openxmlformats-officedocument.presentationml.slide+xml"/>
  <Override PartName="/ppt/slides/slide183.xml" ContentType="application/vnd.openxmlformats-officedocument.presentationml.slide+xml"/>
  <Override PartName="/ppt/slides/slide114.xml" ContentType="application/vnd.openxmlformats-officedocument.presentationml.slide+xml"/>
  <Override PartName="/ppt/slides/slide86.xml" ContentType="application/vnd.openxmlformats-officedocument.presentationml.slide+xml"/>
  <Override PartName="/ppt/slides/slide18.xml" ContentType="application/vnd.openxmlformats-officedocument.presentationml.slide+xml"/>
  <Override PartName="/ppt/slides/slide182.xml" ContentType="application/vnd.openxmlformats-officedocument.presentationml.slide+xml"/>
  <Override PartName="/ppt/slides/slide113.xml" ContentType="application/vnd.openxmlformats-officedocument.presentationml.slide+xml"/>
  <Override PartName="/ppt/slides/slide85.xml" ContentType="application/vnd.openxmlformats-officedocument.presentationml.slide+xml"/>
  <Override PartName="/ppt/slides/slide17.xml" ContentType="application/vnd.openxmlformats-officedocument.presentationml.slide+xml"/>
  <Override PartName="/ppt/slides/slide181.xml" ContentType="application/vnd.openxmlformats-officedocument.presentationml.slide+xml"/>
  <Override PartName="/ppt/slides/slide106.xml" ContentType="application/vnd.openxmlformats-officedocument.presentationml.slide+xml"/>
  <Override PartName="/ppt/slides/slide78.xml" ContentType="application/vnd.openxmlformats-officedocument.presentationml.slide+xml"/>
  <Override PartName="/ppt/slides/slide174.xml" ContentType="application/vnd.openxmlformats-officedocument.presentationml.slide+xml"/>
  <Override PartName="/ppt/slides/slide105.xml" ContentType="application/vnd.openxmlformats-officedocument.presentationml.slide+xml"/>
  <Override PartName="/ppt/slides/slide77.xml" ContentType="application/vnd.openxmlformats-officedocument.presentationml.slide+xml"/>
  <Override PartName="/ppt/slides/slide173.xml" ContentType="application/vnd.openxmlformats-officedocument.presentationml.slide+xml"/>
  <Override PartName="/ppt/slides/slide104.xml" ContentType="application/vnd.openxmlformats-officedocument.presentationml.slide+xml"/>
  <Override PartName="/ppt/slides/slide76.xml" ContentType="application/vnd.openxmlformats-officedocument.presentationml.slide+xml"/>
  <Override PartName="/ppt/slides/slide172.xml" ContentType="application/vnd.openxmlformats-officedocument.presentationml.slide+xml"/>
  <Override PartName="/ppt/slides/slide103.xml" ContentType="application/vnd.openxmlformats-officedocument.presentationml.slide+xml"/>
  <Override PartName="/ppt/slides/slide75.xml" ContentType="application/vnd.openxmlformats-officedocument.presentationml.slide+xml"/>
  <Override PartName="/ppt/slides/slide171.xml" ContentType="application/vnd.openxmlformats-officedocument.presentationml.slide+xml"/>
  <Override PartName="/ppt/slides/slide79.xml" ContentType="application/vnd.openxmlformats-officedocument.presentationml.slide+xml"/>
  <Override PartName="/ppt/slides/slide107.xml" ContentType="application/vnd.openxmlformats-officedocument.presentationml.slide+xml"/>
  <Override PartName="/ppt/slides/slide175.xml" ContentType="application/vnd.openxmlformats-officedocument.presentationml.slide+xml"/>
  <Override PartName="/ppt/slides/slide74.xml" ContentType="application/vnd.openxmlformats-officedocument.presentationml.slide+xml"/>
  <Override PartName="/ppt/slides/slide102.xml" ContentType="application/vnd.openxmlformats-officedocument.presentationml.slide+xml"/>
  <Override PartName="/ppt/slides/slide170.xml" ContentType="application/vnd.openxmlformats-officedocument.presentationml.slide+xml"/>
  <Override PartName="/ppt/slides/slide73.xml" ContentType="application/vnd.openxmlformats-officedocument.presentationml.slide+xml"/>
  <Override PartName="/ppt/slides/slide101.xml" ContentType="application/vnd.openxmlformats-officedocument.presentationml.slide+xml"/>
  <Override PartName="/ppt/slides/slide72.xml" ContentType="application/vnd.openxmlformats-officedocument.presentationml.slide+xml"/>
  <Override PartName="/ppt/slides/slide100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122.xml" ContentType="application/vnd.openxmlformats-officedocument.presentationml.slide+xml"/>
  <Override PartName="/ppt/slides/slide94.xml" ContentType="application/vnd.openxmlformats-officedocument.presentationml.slide+xml"/>
  <Override PartName="/ppt/slides/slide26.xml" ContentType="application/vnd.openxmlformats-officedocument.presentationml.slide+xml"/>
  <Override PartName="/ppt/slides/slide190.xml" ContentType="application/vnd.openxmlformats-officedocument.presentationml.slide+xml"/>
  <Override PartName="/ppt/slides/slide69.xml" ContentType="application/vnd.openxmlformats-officedocument.presentationml.slide+xml"/>
  <Override PartName="/ppt/slides/slide165.xml" ContentType="application/vnd.openxmlformats-officedocument.presentationml.slide+xml"/>
  <Override PartName="/ppt/slides/slide121.xml" ContentType="application/vnd.openxmlformats-officedocument.presentationml.slide+xml"/>
  <Override PartName="/ppt/slides/slide93.xml" ContentType="application/vnd.openxmlformats-officedocument.presentationml.slide+xml"/>
  <Override PartName="/ppt/slides/slide25.xml" ContentType="application/vnd.openxmlformats-officedocument.presentationml.slide+xml"/>
  <Override PartName="/ppt/slides/slide68.xml" ContentType="application/vnd.openxmlformats-officedocument.presentationml.slide+xml"/>
  <Override PartName="/ppt/slides/slide164.xml" ContentType="application/vnd.openxmlformats-officedocument.presentationml.slide+xml"/>
  <Override PartName="/ppt/slides/slide120.xml" ContentType="application/vnd.openxmlformats-officedocument.presentationml.slide+xml"/>
  <Override PartName="/ppt/slides/slide92.xml" ContentType="application/vnd.openxmlformats-officedocument.presentationml.slide+xml"/>
  <Override PartName="/ppt/slides/slide24.xml" ContentType="application/vnd.openxmlformats-officedocument.presentationml.slide+xml"/>
  <Override PartName="/ppt/slides/slide67.xml" ContentType="application/vnd.openxmlformats-officedocument.presentationml.slide+xml"/>
  <Override PartName="/ppt/slides/slide163.xml" ContentType="application/vnd.openxmlformats-officedocument.presentationml.slide+xml"/>
  <Override PartName="/ppt/slides/slide66.xml" ContentType="application/vnd.openxmlformats-officedocument.presentationml.slide+xml"/>
  <Override PartName="/ppt/slides/slide162.xml" ContentType="application/vnd.openxmlformats-officedocument.presentationml.slide+xml"/>
  <Override PartName="/ppt/slides/slide65.xml" ContentType="application/vnd.openxmlformats-officedocument.presentationml.slide+xml"/>
  <Override PartName="/ppt/slides/slide161.xml" ContentType="application/vnd.openxmlformats-officedocument.presentationml.slide+xml"/>
  <Override PartName="/ppt/slides/slide38.xml" ContentType="application/vnd.openxmlformats-officedocument.presentationml.slide+xml"/>
  <Override PartName="/ppt/slides/slide134.xml" ContentType="application/vnd.openxmlformats-officedocument.presentationml.slide+xml"/>
  <Override PartName="/ppt/slides/slide39.xml" ContentType="application/vnd.openxmlformats-officedocument.presentationml.slide+xml"/>
  <Override PartName="/ppt/slides/slide135.xml" ContentType="application/vnd.openxmlformats-officedocument.presentationml.slide+xml"/>
  <Override PartName="/ppt/slides/slide36.xml" ContentType="application/vnd.openxmlformats-officedocument.presentationml.slide+xml"/>
  <Override PartName="/ppt/slides/slide132.xml" ContentType="application/vnd.openxmlformats-officedocument.presentationml.slide+xml"/>
  <Override PartName="/ppt/slides/slide37.xml" ContentType="application/vnd.openxmlformats-officedocument.presentationml.slide+xml"/>
  <Override PartName="/ppt/slides/slide133.xml" ContentType="application/vnd.openxmlformats-officedocument.presentationml.slide+xml"/>
  <Override PartName="/ppt/slides/slide50.xml" ContentType="application/vnd.openxmlformats-officedocument.presentationml.slide+xml"/>
  <Override PartName="/ppt/slides/slide149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30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40.xml" ContentType="application/vnd.openxmlformats-officedocument.presentationml.slide+xml"/>
  <Override PartName="/ppt/slides/slide128.xml" ContentType="application/vnd.openxmlformats-officedocument.presentationml.slide+xml"/>
  <Override PartName="/ppt/slides/slide196.xml" ContentType="application/vnd.openxmlformats-officedocument.presentationml.slide+xml"/>
  <Override PartName="/ppt/slides/slide32.xml" ContentType="application/vnd.openxmlformats-officedocument.presentationml.slide+xml"/>
  <Override PartName="/ppt/slides/slide202.xml" ContentType="application/vnd.openxmlformats-officedocument.presentationml.slide+xml"/>
  <Override PartName="/ppt/slides/slide129.xml" ContentType="application/vnd.openxmlformats-officedocument.presentationml.slide+xml"/>
  <Override PartName="/ppt/slides/slide197.xml" ContentType="application/vnd.openxmlformats-officedocument.presentationml.slide+xml"/>
  <Override PartName="/ppt/slides/slide33.xml" ContentType="application/vnd.openxmlformats-officedocument.presentationml.slide+xml"/>
  <Override PartName="/ppt/slides/slide203.xml" ContentType="application/vnd.openxmlformats-officedocument.presentationml.slide+xml"/>
  <Override PartName="/ppt/slides/slide10.xml" ContentType="application/vnd.openxmlformats-officedocument.presentationml.slide+xml"/>
  <Override PartName="/ppt/slides/slide45.xml" ContentType="application/vnd.openxmlformats-officedocument.presentationml.slide+xml"/>
  <Override PartName="/ppt/slides/slide141.xml" ContentType="application/vnd.openxmlformats-officedocument.presentationml.slide+xml"/>
  <Override PartName="/ppt/slides/slide150.xml" ContentType="application/vnd.openxmlformats-officedocument.presentationml.slide+xml"/>
  <Override PartName="/ppt/slides/slide54.xml" ContentType="application/vnd.openxmlformats-officedocument.presentationml.slide+xml"/>
  <Override PartName="/ppt/slides/slide178.xml" ContentType="application/vnd.openxmlformats-officedocument.presentationml.slide+xml"/>
  <Override PartName="/ppt/slides/slide207.xml" ContentType="application/vnd.openxmlformats-officedocument.presentationml.slide+xml"/>
  <Override PartName="/ppt/slides/slide7.xml" ContentType="application/vnd.openxmlformats-officedocument.presentationml.slide+xml"/>
  <Override PartName="/ppt/slides/slide56.xml" ContentType="application/vnd.openxmlformats-officedocument.presentationml.slide+xml"/>
  <Override PartName="/ppt/slides/slide152.xml" ContentType="application/vnd.openxmlformats-officedocument.presentationml.slide+xml"/>
  <Override PartName="/ppt/slides/slide189.xml" ContentType="application/vnd.openxmlformats-officedocument.presentationml.slide+xml"/>
  <Override PartName="/ppt/slides/slide200.xml" ContentType="application/vnd.openxmlformats-officedocument.presentationml.slide+xml"/>
  <Override PartName="/ppt/slides/slide198.xml" ContentType="application/vnd.openxmlformats-officedocument.presentationml.slide+xml"/>
  <Override PartName="/ppt/slides/slide130.xml" ContentType="application/vnd.openxmlformats-officedocument.presentationml.slide+xml"/>
  <Override PartName="/ppt/slides/slide34.xml" ContentType="application/vnd.openxmlformats-officedocument.presentationml.slide+xml"/>
  <Override PartName="/ppt/slides/slide204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46.xml" ContentType="application/vnd.openxmlformats-officedocument.presentationml.slide+xml"/>
  <Override PartName="/ppt/slides/slide142.xml" ContentType="application/vnd.openxmlformats-officedocument.presentationml.slide+xml"/>
  <Override PartName="/ppt/slides/slide179.xml" ContentType="application/vnd.openxmlformats-officedocument.presentationml.slide+xml"/>
  <Override PartName="/ppt/slides/slide208.xml" ContentType="application/vnd.openxmlformats-officedocument.presentationml.slide+xml"/>
  <Override PartName="/ppt/slides/slide8.xml" ContentType="application/vnd.openxmlformats-officedocument.presentationml.slide+xml"/>
  <Override PartName="/ppt/slides/slide201.xml" ContentType="application/vnd.openxmlformats-officedocument.presentationml.slide+xml"/>
  <Override PartName="/ppt/slides/slide199.xml" ContentType="application/vnd.openxmlformats-officedocument.presentationml.slide+xml"/>
  <Override PartName="/ppt/slides/slide131.xml" ContentType="application/vnd.openxmlformats-officedocument.presentationml.slide+xml"/>
  <Override PartName="/ppt/slides/slide35.xml" ContentType="application/vnd.openxmlformats-officedocument.presentationml.slide+xml"/>
  <Override PartName="/ppt/slides/slide205.xml" ContentType="application/vnd.openxmlformats-officedocument.presentationml.slide+xml"/>
  <Override PartName="/ppt/slides/slide5.xml" ContentType="application/vnd.openxmlformats-officedocument.presentationml.slide+xml"/>
  <Override PartName="/ppt/slides/slide80.xml" ContentType="application/vnd.openxmlformats-officedocument.presentationml.slide+xml"/>
  <Override PartName="/ppt/slides/slide12.xml" ContentType="application/vnd.openxmlformats-officedocument.presentationml.slide+xml"/>
  <Override PartName="/ppt/slides/slide108.xml" ContentType="application/vnd.openxmlformats-officedocument.presentationml.slide+xml"/>
  <Override PartName="/ppt/slides/slide176.xml" ContentType="application/vnd.openxmlformats-officedocument.presentationml.slide+xml"/>
  <Override PartName="/ppt/slides/slide206.xml" ContentType="application/vnd.openxmlformats-officedocument.presentationml.slide+xml"/>
  <Override PartName="/ppt/slides/slide6.xml" ContentType="application/vnd.openxmlformats-officedocument.presentationml.slide+xml"/>
  <Override PartName="/ppt/slides/slide109.xml" ContentType="application/vnd.openxmlformats-officedocument.presentationml.slide+xml"/>
  <Override PartName="/ppt/slides/slide177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55.xml" ContentType="application/vnd.openxmlformats-officedocument.presentationml.slide+xml"/>
  <Override PartName="/ppt/slides/slide151.xml" ContentType="application/vnd.openxmlformats-officedocument.presentationml.slide+xml"/>
  <Override PartName="/ppt/slides/slide188.xml" ContentType="application/vnd.openxmlformats-officedocument.presentationml.slide+xml"/>
  <Override PartName="/ppt/slides/slide209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81.xml" ContentType="application/vnd.openxmlformats-officedocument.presentationml.slide+xml"/>
  <Override PartName="/ppt/slides/slide166.xml" ContentType="application/vnd.openxmlformats-officedocument.presentationml.slide+xml"/>
  <Override PartName="/ppt/slides/slide159.xml" ContentType="application/vnd.openxmlformats-officedocument.presentationml.slide+xml"/>
  <Override PartName="/ppt/slides/slide60.xml" ContentType="application/vnd.openxmlformats-officedocument.presentationml.slide+xml"/>
  <Override PartName="/ppt/slides/slide158.xml" ContentType="application/vnd.openxmlformats-officedocument.presentationml.slide+xml"/>
  <Override PartName="/ppt/slides/slide157.xml" ContentType="application/vnd.openxmlformats-officedocument.presentationml.slide+xml"/>
  <Override PartName="/ppt/slides/slide156.xml" ContentType="application/vnd.openxmlformats-officedocument.presentationml.slide+xml"/>
  <Override PartName="/ppt/slides/slide137.xml" ContentType="application/vnd.openxmlformats-officedocument.presentationml.slide+xml"/>
  <Override PartName="/ppt/slides/slide136.xml" ContentType="application/vnd.openxmlformats-officedocument.presentationml.slide+xml"/>
  <Override PartName="/ppt/slides/slide31.xml" ContentType="application/vnd.openxmlformats-officedocument.presentationml.slide+xml"/>
  <Override PartName="/ppt/slides/slide145.xml" ContentType="application/vnd.openxmlformats-officedocument.presentationml.slide+xml"/>
  <Override PartName="/ppt/slides/slide49.xml" ContentType="application/vnd.openxmlformats-officedocument.presentationml.slide+xml"/>
  <Override PartName="/ppt/slides/slide140.xml" ContentType="application/vnd.openxmlformats-officedocument.presentationml.slide+xml"/>
  <Override PartName="/ppt/slides/slide44.xml" ContentType="application/vnd.openxmlformats-officedocument.presentationml.slide+xml"/>
  <Override PartName="/ppt/slides/slide144.xml" ContentType="application/vnd.openxmlformats-officedocument.presentationml.slide+xml"/>
  <Override PartName="/ppt/slides/slide48.xml" ContentType="application/vnd.openxmlformats-officedocument.presentationml.slide+xml"/>
  <Override PartName="/ppt/slides/slide43.xml" ContentType="application/vnd.openxmlformats-officedocument.presentationml.slide+xml"/>
  <Override PartName="/ppt/slides/slide143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169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2.xml" ContentType="application/vnd.openxmlformats-officedocument.presentationml.slide+xml"/>
  <Override PartName="/ppt/slides/slide168.xml" ContentType="application/vnd.openxmlformats-officedocument.presentationml.slide+xml"/>
  <Override PartName="/ppt/slides/slide1.xml" ContentType="application/vnd.openxmlformats-officedocument.presentationml.slide+xml"/>
  <Override PartName="/ppt/slides/slide167.xml" ContentType="application/vnd.openxmlformats-officedocument.presentationml.slide+xml"/>
  <Override PartName="/ppt/slides/slide153.xml" ContentType="application/vnd.openxmlformats-officedocument.presentationml.slide+xml"/>
  <Override PartName="/ppt/slides/slide57.xml" ContentType="application/vnd.openxmlformats-officedocument.presentationml.slide+xml"/>
  <Override PartName="/ppt/slides/slide14.xml" ContentType="application/vnd.openxmlformats-officedocument.presentationml.slide+xml"/>
  <Override PartName="/ppt/slides/slide110.xml" ContentType="application/vnd.openxmlformats-officedocument.presentationml.slide+xml"/>
  <Override PartName="/ppt/slides/slide82.xml" ContentType="application/vnd.openxmlformats-officedocument.presentationml.slide+xml"/>
  <Override PartName="/ppt/slides/slide20.xml" ContentType="application/vnd.openxmlformats-officedocument.presentationml.slide+xml"/>
  <Override PartName="/ppt/slides/slide119.xml" ContentType="application/vnd.openxmlformats-officedocument.presentationml.slide+xml"/>
  <Override PartName="/ppt/slides/slide187.xml" ContentType="application/vnd.openxmlformats-officedocument.presentationml.slide+xml"/>
  <Override PartName="/ppt/slides/slide154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111.xml" ContentType="application/vnd.openxmlformats-officedocument.presentationml.slide+xml"/>
  <Override PartName="/ppt/slides/slide83.xml" ContentType="application/vnd.openxmlformats-officedocument.presentationml.slide+xml"/>
  <Override PartName="/ppt/slides/slide21.xml" ContentType="application/vnd.openxmlformats-officedocument.presentationml.slide+xml"/>
  <Override PartName="/ppt/slides/slide155.xml" ContentType="application/vnd.openxmlformats-officedocument.presentationml.slide+xml"/>
  <Override PartName="/ppt/slides/slide59.xml" ContentType="application/vnd.openxmlformats-officedocument.presentationml.slide+xml"/>
  <Override PartName="/ppt/slides/slide16.xml" ContentType="application/vnd.openxmlformats-officedocument.presentationml.slide+xml"/>
  <Override PartName="/ppt/slides/slide112.xml" ContentType="application/vnd.openxmlformats-officedocument.presentationml.slide+xml"/>
  <Override PartName="/ppt/slides/slide180.xml" ContentType="application/vnd.openxmlformats-officedocument.presentationml.slide+xml"/>
  <Override PartName="/ppt/slides/slide84.xml" ContentType="application/vnd.openxmlformats-officedocument.presentationml.slide+xml"/>
  <Override PartName="/ppt/slides/slide9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91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160.xml" ContentType="application/vnd.openxmlformats-officedocument.presentationml.slide+xml"/>
  <Override PartName="/ppt/slides/slide6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6DF508-7375-45A0-9B22-0F09E29632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3783CE-0203-45D8-917F-E70291687B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DADAFE-9641-4520-8385-190637A6CC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451D5C-FB1C-4EA6-AE0F-9548FE7A5D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D433C3-274F-4E5C-BB3C-50EE50F34A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0DF446-E5A7-41D7-A6F1-C466FB7C23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6A1E2D-529B-48DA-BB5D-4D172265EF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6D6D00-0C10-4C4A-A328-4197E2EB1C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5DCF92-4284-4C0E-9ED3-EC6D721F57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39417A-712E-42C1-9632-6C29DD1415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0643AF-2E2F-47DF-BEF7-C160073A8F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A56AED-197E-4D91-A547-8EABBD880B4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0D9221D-6279-4C3A-BDB2-0A19D7EBE7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C34445F-D3C1-458F-ABDE-B17FAC3B81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0849A5A-5A49-4BA7-8AB0-C5441CB8D6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7774D11-83FD-4402-BBB0-B0431068D5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048042B-4347-47CE-9E36-ADECFB7459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007EDA7-72FA-462B-AB0E-C52AF7E42A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00CFCC3-4861-4BB6-9515-F3F4F2B869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8586E9-53B0-472D-AE26-4CEC280773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E43A2A9-65CE-41CB-96FC-61DC085CCE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968DBBB-CAC7-4735-95E5-5E709453FB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96813C8-66B2-4577-99F4-F389571CADC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A439C59-9ACD-46FC-97E1-B0A4049063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8DB5368-E46B-474F-9FE0-D331361441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10D9FF6-B509-4970-B131-3DCB808F18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2C883CA-93B4-4CB2-9C0A-C959D70D1D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F895181-9F98-40CE-9418-39D1F06F8D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E295D65-D422-4577-B18C-3B19A2D7A8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036DABE-8C27-4ADD-AC03-0FFDE57788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0356EF5-D4E3-4EB3-9B35-259E131200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13E63B0-C96D-402D-80DF-04410AFE87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46B0B04-88D3-4429-8B68-1D13D52757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4E376FC-28BD-4096-B1F9-8E69952938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FF4124E-94AB-458A-A08A-CDF1E52160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01AA2F8-C155-4BE7-A30F-BDB3634FB12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90936F7-E8D0-4B14-8CD3-B72C728F15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4032AD3-DE5E-4D27-BDBA-4419366123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6454116-47D2-4DA1-96DF-DE6F20A51D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001D080-8025-4B31-B5B1-7C38CCF0B8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15EDEC7-B580-4CCE-95CE-8201725965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D0CA76C-B26D-4D84-ABAC-A8F9EDC7DD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7C34167-EA8A-4C46-9759-6DFCCEF6FC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BD08026-A51F-4C56-B3DA-FB400A9671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1BE2E53-763A-492D-B66D-657B9BA9F6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1E0BD75-891D-44A2-B683-A14ECFF0A4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307E162-C812-4EF9-861A-69E3DF5C440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1417512-59CF-4970-A62E-93261648B39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458C81C-C262-4423-A87E-72AC08E378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102E62E-E0CF-447C-A210-E3C68C88E4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363493B-92AC-4A84-9EEA-8BD8B4BDBB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49063F2-83FF-42B0-8B74-1646A5993F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35C9CF7-6B8F-4F8F-961D-367886B80E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602CF0C-FE7A-4F9E-9EA2-7775EAACEE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C87937D-6FCE-481C-975B-C670D37912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A5FA5EF-AE99-4C3F-8713-3BA94A7F5E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708CB75-82F7-46A1-8A87-44C3FE70CF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E3E737F-56B2-4330-8DD6-AA6A7B4292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F5F17B0-DEE7-487E-BE90-FB7974D053E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07554EA-F780-4AC7-A85F-E09AAFFEA7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4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9.pn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g object 16" descr=""/>
          <p:cNvPicPr/>
          <p:nvPr/>
        </p:nvPicPr>
        <p:blipFill>
          <a:blip r:embed="rId2"/>
          <a:stretch/>
        </p:blipFill>
        <p:spPr>
          <a:xfrm>
            <a:off x="8463960" y="4493160"/>
            <a:ext cx="411480" cy="331560"/>
          </a:xfrm>
          <a:prstGeom prst="rect">
            <a:avLst/>
          </a:prstGeom>
          <a:ln w="0">
            <a:noFill/>
          </a:ln>
        </p:spPr>
      </p:pic>
      <p:pic>
        <p:nvPicPr>
          <p:cNvPr id="1" name="bg object 17" descr=""/>
          <p:cNvPicPr/>
          <p:nvPr/>
        </p:nvPicPr>
        <p:blipFill>
          <a:blip r:embed="rId3"/>
          <a:stretch/>
        </p:blipFill>
        <p:spPr>
          <a:xfrm>
            <a:off x="397440" y="254160"/>
            <a:ext cx="1428480" cy="399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108960" y="4783320"/>
            <a:ext cx="2920320" cy="25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fr-F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6583680" y="4783320"/>
            <a:ext cx="2097360" cy="25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CCB8399-0E51-413F-8348-E1D2D2CF129F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457200" y="4783320"/>
            <a:ext cx="2097360" cy="25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éditer le format </a:t>
            </a:r>
            <a:r>
              <a:rPr b="0" lang="fr-FR" sz="4400" spc="-1" strike="noStrike">
                <a:latin typeface="Arial"/>
              </a:rPr>
              <a:t>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;p285"/>
          <p:cNvSpPr/>
          <p:nvPr/>
        </p:nvSpPr>
        <p:spPr>
          <a:xfrm>
            <a:off x="8463960" y="4493160"/>
            <a:ext cx="414000" cy="3340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7;p285"/>
          <p:cNvSpPr/>
          <p:nvPr/>
        </p:nvSpPr>
        <p:spPr>
          <a:xfrm>
            <a:off x="397440" y="254160"/>
            <a:ext cx="1431000" cy="42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PlaceHolder 1"/>
          <p:cNvSpPr>
            <a:spLocks noGrp="1"/>
          </p:cNvSpPr>
          <p:nvPr>
            <p:ph type="ftr" idx="4"/>
          </p:nvPr>
        </p:nvSpPr>
        <p:spPr>
          <a:xfrm>
            <a:off x="3108960" y="4783320"/>
            <a:ext cx="292284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fr-F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5"/>
          </p:nvPr>
        </p:nvSpPr>
        <p:spPr>
          <a:xfrm>
            <a:off x="6583680" y="4783320"/>
            <a:ext cx="20998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0C4D343-CD7F-45E6-9251-D06CEA6E000D}" type="slidenum">
              <a:rPr b="0" lang="en-US" sz="1800" spc="-1" strike="noStrike">
                <a:solidFill>
                  <a:srgbClr val="888888"/>
                </a:solidFill>
                <a:latin typeface="Arial"/>
                <a:ea typeface="Arial"/>
              </a:rPr>
              <a:t>&lt;numéro&gt;</a:t>
            </a:fld>
            <a:endParaRPr b="0" lang="fr-FR" sz="1800" spc="-1" strike="noStrike"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6"/>
          </p:nvPr>
        </p:nvSpPr>
        <p:spPr>
          <a:xfrm>
            <a:off x="457200" y="4783320"/>
            <a:ext cx="20998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éditer le format </a:t>
            </a:r>
            <a:r>
              <a:rPr b="0" lang="fr-FR" sz="4400" spc="-1" strike="noStrike">
                <a:latin typeface="Arial"/>
              </a:rPr>
              <a:t>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6;p285"/>
          <p:cNvSpPr/>
          <p:nvPr/>
        </p:nvSpPr>
        <p:spPr>
          <a:xfrm>
            <a:off x="8463960" y="4493160"/>
            <a:ext cx="414000" cy="3340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Google Shape;7;p285"/>
          <p:cNvSpPr/>
          <p:nvPr/>
        </p:nvSpPr>
        <p:spPr>
          <a:xfrm>
            <a:off x="397440" y="254160"/>
            <a:ext cx="1431000" cy="42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PlaceHolder 1"/>
          <p:cNvSpPr>
            <a:spLocks noGrp="1"/>
          </p:cNvSpPr>
          <p:nvPr>
            <p:ph type="ftr" idx="7"/>
          </p:nvPr>
        </p:nvSpPr>
        <p:spPr>
          <a:xfrm>
            <a:off x="3108960" y="4783320"/>
            <a:ext cx="292284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fr-F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8"/>
          </p:nvPr>
        </p:nvSpPr>
        <p:spPr>
          <a:xfrm>
            <a:off x="6583680" y="4783320"/>
            <a:ext cx="20998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CE69384-85D2-4C49-B7A9-A210F0B58B08}" type="slidenum">
              <a:rPr b="0" lang="en-US" sz="1800" spc="-1" strike="noStrike">
                <a:solidFill>
                  <a:srgbClr val="888888"/>
                </a:solidFill>
                <a:latin typeface="Arial"/>
                <a:ea typeface="Arial"/>
              </a:rPr>
              <a:t>&lt;numéro&gt;</a:t>
            </a:fld>
            <a:endParaRPr b="0" lang="fr-FR" sz="1800" spc="-1" strike="noStrike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9"/>
          </p:nvPr>
        </p:nvSpPr>
        <p:spPr>
          <a:xfrm>
            <a:off x="457200" y="4783320"/>
            <a:ext cx="20998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éditer le format </a:t>
            </a:r>
            <a:r>
              <a:rPr b="0" lang="fr-FR" sz="4400" spc="-1" strike="noStrike">
                <a:latin typeface="Arial"/>
              </a:rPr>
              <a:t>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6;p285"/>
          <p:cNvSpPr/>
          <p:nvPr/>
        </p:nvSpPr>
        <p:spPr>
          <a:xfrm>
            <a:off x="8463960" y="4493160"/>
            <a:ext cx="414000" cy="3340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Google Shape;7;p285"/>
          <p:cNvSpPr/>
          <p:nvPr/>
        </p:nvSpPr>
        <p:spPr>
          <a:xfrm>
            <a:off x="397440" y="254160"/>
            <a:ext cx="1431000" cy="42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PlaceHolder 1"/>
          <p:cNvSpPr>
            <a:spLocks noGrp="1"/>
          </p:cNvSpPr>
          <p:nvPr>
            <p:ph type="ftr" idx="10"/>
          </p:nvPr>
        </p:nvSpPr>
        <p:spPr>
          <a:xfrm>
            <a:off x="3108960" y="4783320"/>
            <a:ext cx="292284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fr-F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Num" idx="11"/>
          </p:nvPr>
        </p:nvSpPr>
        <p:spPr>
          <a:xfrm>
            <a:off x="6583680" y="4783320"/>
            <a:ext cx="20998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851C63C-52F1-4EAE-BD99-281C019DD2EB}" type="slidenum">
              <a:rPr b="0" lang="en-US" sz="1800" spc="-1" strike="noStrike">
                <a:solidFill>
                  <a:srgbClr val="888888"/>
                </a:solidFill>
                <a:latin typeface="Arial"/>
                <a:ea typeface="Arial"/>
              </a:rPr>
              <a:t>&lt;numéro&gt;</a:t>
            </a:fld>
            <a:endParaRPr b="0" lang="fr-FR" sz="1800" spc="-1" strike="noStrike"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12"/>
          </p:nvPr>
        </p:nvSpPr>
        <p:spPr>
          <a:xfrm>
            <a:off x="457200" y="4783320"/>
            <a:ext cx="20998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éditer le format 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6;p285"/>
          <p:cNvSpPr/>
          <p:nvPr/>
        </p:nvSpPr>
        <p:spPr>
          <a:xfrm>
            <a:off x="8463960" y="4493160"/>
            <a:ext cx="414000" cy="3340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Google Shape;7;p285"/>
          <p:cNvSpPr/>
          <p:nvPr/>
        </p:nvSpPr>
        <p:spPr>
          <a:xfrm>
            <a:off x="397440" y="254160"/>
            <a:ext cx="1431000" cy="42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PlaceHolder 1"/>
          <p:cNvSpPr>
            <a:spLocks noGrp="1"/>
          </p:cNvSpPr>
          <p:nvPr>
            <p:ph type="ftr" idx="13"/>
          </p:nvPr>
        </p:nvSpPr>
        <p:spPr>
          <a:xfrm>
            <a:off x="3108960" y="4783320"/>
            <a:ext cx="292284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fr-F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ldNum" idx="14"/>
          </p:nvPr>
        </p:nvSpPr>
        <p:spPr>
          <a:xfrm>
            <a:off x="6583680" y="4783320"/>
            <a:ext cx="20998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4906A4A-B8C9-4DEA-82F5-DA5537D4F330}" type="slidenum">
              <a:rPr b="0" lang="en-US" sz="1800" spc="-1" strike="noStrike">
                <a:solidFill>
                  <a:srgbClr val="888888"/>
                </a:solidFill>
                <a:latin typeface="Arial"/>
                <a:ea typeface="Arial"/>
              </a:rPr>
              <a:t>&lt;numéro&gt;</a:t>
            </a:fld>
            <a:endParaRPr b="0" lang="fr-FR" sz="1800" spc="-1" strike="noStrike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15"/>
          </p:nvPr>
        </p:nvSpPr>
        <p:spPr>
          <a:xfrm>
            <a:off x="457200" y="4783320"/>
            <a:ext cx="20998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éditer le format 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éditer le format 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mailto:brahim.hamdi.consult@gmail.com" TargetMode="Externa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jpe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hub.docker.com/" TargetMode="External"/><Relationship Id="rId2" Type="http://schemas.openxmlformats.org/officeDocument/2006/relationships/hyperlink" Target="https://cloud.google.com/container-registry" TargetMode="External"/><Relationship Id="rId3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docs.docker.com/engine/" TargetMode="External"/><Relationship Id="rId2" Type="http://schemas.openxmlformats.org/officeDocument/2006/relationships/hyperlink" Target="https://containerd.io/" TargetMode="External"/><Relationship Id="rId3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docs.docker.com/engine/reference/builder/" TargetMode="External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jpe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slideLayout" Target="../slideLayouts/slideLayout2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slideLayout" Target="../slideLayouts/slideLayout2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slideLayout" Target="../slideLayouts/slideLayout2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slideLayout" Target="../slideLayouts/slideLayout2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slideLayout" Target="../slideLayouts/slideLayout2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2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slideLayout" Target="../slideLayouts/slideLayout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slideLayout" Target="../slideLayouts/slideLayout25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70.jpeg"/><Relationship Id="rId2" Type="http://schemas.openxmlformats.org/officeDocument/2006/relationships/slideLayout" Target="../slideLayouts/slideLayout25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slideLayout" Target="../slideLayouts/slideLayout25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72.png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slideLayout" Target="../slideLayouts/slideLayout25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slideLayout" Target="../slideLayouts/slideLayout25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76.jpeg"/><Relationship Id="rId2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77.png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slideLayout" Target="../slideLayouts/slideLayout4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80.jpeg"/><Relationship Id="rId2" Type="http://schemas.openxmlformats.org/officeDocument/2006/relationships/slideLayout" Target="../slideLayouts/slideLayout1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image" Target="../media/image82.png"/><Relationship Id="rId3" Type="http://schemas.openxmlformats.org/officeDocument/2006/relationships/slideLayout" Target="../slideLayouts/slideLayout4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83.png"/><Relationship Id="rId2" Type="http://schemas.openxmlformats.org/officeDocument/2006/relationships/image" Target="../media/image84.png"/><Relationship Id="rId3" Type="http://schemas.openxmlformats.org/officeDocument/2006/relationships/slideLayout" Target="../slideLayouts/slideLayout4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image" Target="../media/image86.png"/><Relationship Id="rId3" Type="http://schemas.openxmlformats.org/officeDocument/2006/relationships/slideLayout" Target="../slideLayouts/slideLayout4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87.jpeg"/><Relationship Id="rId2" Type="http://schemas.openxmlformats.org/officeDocument/2006/relationships/slideLayout" Target="../slideLayouts/slideLayout13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88.png"/><Relationship Id="rId2" Type="http://schemas.openxmlformats.org/officeDocument/2006/relationships/image" Target="../media/image89.png"/><Relationship Id="rId3" Type="http://schemas.openxmlformats.org/officeDocument/2006/relationships/slideLayout" Target="../slideLayouts/slideLayout25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90.png"/><Relationship Id="rId2" Type="http://schemas.openxmlformats.org/officeDocument/2006/relationships/slideLayout" Target="../slideLayouts/slideLayout25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91.jpeg"/><Relationship Id="rId2" Type="http://schemas.openxmlformats.org/officeDocument/2006/relationships/slideLayout" Target="../slideLayouts/slideLayout13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92.png"/><Relationship Id="rId2" Type="http://schemas.openxmlformats.org/officeDocument/2006/relationships/slideLayout" Target="../slideLayouts/slideLayout2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93.png"/><Relationship Id="rId2" Type="http://schemas.openxmlformats.org/officeDocument/2006/relationships/slideLayout" Target="../slideLayouts/slideLayout25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94.jpeg"/><Relationship Id="rId2" Type="http://schemas.openxmlformats.org/officeDocument/2006/relationships/slideLayout" Target="../slideLayouts/slideLayout13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95.jpeg"/><Relationship Id="rId2" Type="http://schemas.openxmlformats.org/officeDocument/2006/relationships/slideLayout" Target="../slideLayouts/slideLayout13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96.jpeg"/><Relationship Id="rId2" Type="http://schemas.openxmlformats.org/officeDocument/2006/relationships/slideLayout" Target="../slideLayouts/slideLayout13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97.jpeg"/><Relationship Id="rId2" Type="http://schemas.openxmlformats.org/officeDocument/2006/relationships/slideLayout" Target="../slideLayouts/slideLayout1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98.png"/><Relationship Id="rId2" Type="http://schemas.openxmlformats.org/officeDocument/2006/relationships/slideLayout" Target="../slideLayouts/slideLayout25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99.png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slideLayout" Target="../slideLayouts/slideLayout2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102.jpeg"/><Relationship Id="rId2" Type="http://schemas.openxmlformats.org/officeDocument/2006/relationships/slideLayout" Target="../slideLayouts/slideLayout13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103.png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slideLayout" Target="../slideLayouts/slideLayout25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image" Target="../media/image107.png"/><Relationship Id="rId2" Type="http://schemas.openxmlformats.org/officeDocument/2006/relationships/image" Target="../media/image108.png"/><Relationship Id="rId3" Type="http://schemas.openxmlformats.org/officeDocument/2006/relationships/slideLayout" Target="../slideLayouts/slideLayout25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109.jpeg"/><Relationship Id="rId2" Type="http://schemas.openxmlformats.org/officeDocument/2006/relationships/slideLayout" Target="../slideLayouts/slideLayout13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image" Target="../media/image110.png"/><Relationship Id="rId2" Type="http://schemas.openxmlformats.org/officeDocument/2006/relationships/slideLayout" Target="../slideLayouts/slideLayout25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111.png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slideLayout" Target="../slideLayouts/slideLayout25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image" Target="../media/image114.jpeg"/><Relationship Id="rId2" Type="http://schemas.openxmlformats.org/officeDocument/2006/relationships/slideLayout" Target="../slideLayouts/slideLayout13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image" Target="../media/image115.png"/><Relationship Id="rId2" Type="http://schemas.openxmlformats.org/officeDocument/2006/relationships/image" Target="../media/image116.png"/><Relationship Id="rId3" Type="http://schemas.openxmlformats.org/officeDocument/2006/relationships/slideLayout" Target="../slideLayouts/slideLayout25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image" Target="../media/image117.png"/><Relationship Id="rId2" Type="http://schemas.openxmlformats.org/officeDocument/2006/relationships/slideLayout" Target="../slideLayouts/slideLayout25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image" Target="../media/image118.png"/><Relationship Id="rId2" Type="http://schemas.openxmlformats.org/officeDocument/2006/relationships/image" Target="../media/image119.png"/><Relationship Id="rId3" Type="http://schemas.openxmlformats.org/officeDocument/2006/relationships/slideLayout" Target="../slideLayouts/slideLayout25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image" Target="../media/image120.png"/><Relationship Id="rId2" Type="http://schemas.openxmlformats.org/officeDocument/2006/relationships/slideLayout" Target="../slideLayouts/slideLayout25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image" Target="../media/image121.png"/><Relationship Id="rId2" Type="http://schemas.openxmlformats.org/officeDocument/2006/relationships/slideLayout" Target="../slideLayouts/slideLayout25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image" Target="../media/image122.jpeg"/><Relationship Id="rId2" Type="http://schemas.openxmlformats.org/officeDocument/2006/relationships/slideLayout" Target="../slideLayouts/slideLayout13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image" Target="../media/image123.png"/><Relationship Id="rId2" Type="http://schemas.openxmlformats.org/officeDocument/2006/relationships/image" Target="../media/image124.png"/><Relationship Id="rId3" Type="http://schemas.openxmlformats.org/officeDocument/2006/relationships/slideLayout" Target="../slideLayouts/slideLayout25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image" Target="../media/image125.png"/><Relationship Id="rId2" Type="http://schemas.openxmlformats.org/officeDocument/2006/relationships/image" Target="../media/image126.png"/><Relationship Id="rId3" Type="http://schemas.openxmlformats.org/officeDocument/2006/relationships/slideLayout" Target="../slideLayouts/slideLayout25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image" Target="../media/image127.png"/><Relationship Id="rId2" Type="http://schemas.openxmlformats.org/officeDocument/2006/relationships/slideLayout" Target="../slideLayouts/slideLayout25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image" Target="../media/image128.png"/><Relationship Id="rId2" Type="http://schemas.openxmlformats.org/officeDocument/2006/relationships/slideLayout" Target="../slideLayouts/slideLayout25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image" Target="../media/image129.jpeg"/><Relationship Id="rId2" Type="http://schemas.openxmlformats.org/officeDocument/2006/relationships/slideLayout" Target="../slideLayouts/slideLayout13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image" Target="../media/image130.png"/><Relationship Id="rId2" Type="http://schemas.openxmlformats.org/officeDocument/2006/relationships/slideLayout" Target="../slideLayouts/slideLayout25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image" Target="../media/image131.jpeg"/><Relationship Id="rId2" Type="http://schemas.openxmlformats.org/officeDocument/2006/relationships/slideLayout" Target="../slideLayouts/slideLayout13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hyperlink" Target="https://github.com/kubernetes-sigs/metrics-server" TargetMode="External"/><Relationship Id="rId2" Type="http://schemas.openxmlformats.org/officeDocument/2006/relationships/slideLayout" Target="../slideLayouts/slideLayout25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image" Target="../media/image132.png"/><Relationship Id="rId2" Type="http://schemas.openxmlformats.org/officeDocument/2006/relationships/slideLayout" Target="../slideLayouts/slideLayout25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hyperlink" Target="https://artifacthub.io/packages/search?kind=0" TargetMode="External"/><Relationship Id="rId2" Type="http://schemas.openxmlformats.org/officeDocument/2006/relationships/image" Target="../media/image133.png"/><Relationship Id="rId3" Type="http://schemas.openxmlformats.org/officeDocument/2006/relationships/slideLayout" Target="../slideLayouts/slideLayout25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image" Target="../media/image134.png"/><Relationship Id="rId2" Type="http://schemas.openxmlformats.org/officeDocument/2006/relationships/image" Target="../media/image135.png"/><Relationship Id="rId3" Type="http://schemas.openxmlformats.org/officeDocument/2006/relationships/image" Target="../media/image136.png"/><Relationship Id="rId4" Type="http://schemas.openxmlformats.org/officeDocument/2006/relationships/slideLayout" Target="../slideLayouts/slideLayout25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image" Target="../media/image137.png"/><Relationship Id="rId2" Type="http://schemas.openxmlformats.org/officeDocument/2006/relationships/slideLayout" Target="../slideLayouts/slideLayout25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image" Target="../media/image138.jpeg"/><Relationship Id="rId2" Type="http://schemas.openxmlformats.org/officeDocument/2006/relationships/slideLayout" Target="../slideLayouts/slideLayout13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image" Target="../media/image139.jpeg"/><Relationship Id="rId2" Type="http://schemas.openxmlformats.org/officeDocument/2006/relationships/slideLayout" Target="../slideLayouts/slideLayout13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image" Target="../media/image140.jpeg"/><Relationship Id="rId2" Type="http://schemas.openxmlformats.org/officeDocument/2006/relationships/slideLayout" Target="../slideLayouts/slideLayout13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image" Target="../media/image141.png"/><Relationship Id="rId2" Type="http://schemas.openxmlformats.org/officeDocument/2006/relationships/slideLayout" Target="../slideLayouts/slideLayout25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image" Target="../media/image142.png"/><Relationship Id="rId2" Type="http://schemas.openxmlformats.org/officeDocument/2006/relationships/slideLayout" Target="../slideLayouts/slideLayout25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image" Target="../media/image143.png"/><Relationship Id="rId2" Type="http://schemas.openxmlformats.org/officeDocument/2006/relationships/slideLayout" Target="../slideLayouts/slideLayout25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hyperlink" Target="https://github.com/kubernetes-sigs/metrics-server" TargetMode="External"/><Relationship Id="rId2" Type="http://schemas.openxmlformats.org/officeDocument/2006/relationships/image" Target="../media/image144.png"/><Relationship Id="rId3" Type="http://schemas.openxmlformats.org/officeDocument/2006/relationships/slideLayout" Target="../slideLayouts/slideLayout25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image" Target="../media/image145.jpeg"/><Relationship Id="rId2" Type="http://schemas.openxmlformats.org/officeDocument/2006/relationships/slideLayout" Target="../slideLayouts/slideLayout13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image" Target="../media/image146.png"/><Relationship Id="rId2" Type="http://schemas.openxmlformats.org/officeDocument/2006/relationships/image" Target="../media/image147.png"/><Relationship Id="rId3" Type="http://schemas.openxmlformats.org/officeDocument/2006/relationships/slideLayout" Target="../slideLayouts/slideLayout25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image" Target="../media/image148.png"/><Relationship Id="rId2" Type="http://schemas.openxmlformats.org/officeDocument/2006/relationships/slideLayout" Target="../slideLayouts/slideLayout25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image" Target="../media/image149.png"/><Relationship Id="rId2" Type="http://schemas.openxmlformats.org/officeDocument/2006/relationships/slideLayout" Target="../slideLayouts/slideLayout25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image" Target="../media/image150.png"/><Relationship Id="rId2" Type="http://schemas.openxmlformats.org/officeDocument/2006/relationships/slideLayout" Target="../slideLayouts/slideLayout25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image" Target="../media/image151.png"/><Relationship Id="rId2" Type="http://schemas.openxmlformats.org/officeDocument/2006/relationships/slideLayout" Target="../slideLayouts/slideLayout25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image" Target="../media/image152.jpeg"/><Relationship Id="rId2" Type="http://schemas.openxmlformats.org/officeDocument/2006/relationships/slideLayout" Target="../slideLayouts/slideLayout13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image" Target="../media/image153.jpeg"/><Relationship Id="rId2" Type="http://schemas.openxmlformats.org/officeDocument/2006/relationships/slideLayout" Target="../slideLayouts/slideLayout13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image" Target="../media/image154.png"/><Relationship Id="rId2" Type="http://schemas.openxmlformats.org/officeDocument/2006/relationships/image" Target="../media/image155.png"/><Relationship Id="rId3" Type="http://schemas.openxmlformats.org/officeDocument/2006/relationships/image" Target="../media/image156.png"/><Relationship Id="rId4" Type="http://schemas.openxmlformats.org/officeDocument/2006/relationships/slideLayout" Target="../slideLayouts/slideLayout25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image" Target="../media/image157.png"/><Relationship Id="rId2" Type="http://schemas.openxmlformats.org/officeDocument/2006/relationships/image" Target="../media/image158.png"/><Relationship Id="rId3" Type="http://schemas.openxmlformats.org/officeDocument/2006/relationships/slideLayout" Target="../slideLayouts/slideLayout25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image" Target="../media/image159.png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slideLayout" Target="../slideLayouts/slideLayout25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image" Target="../media/image162.png"/><Relationship Id="rId2" Type="http://schemas.openxmlformats.org/officeDocument/2006/relationships/image" Target="../media/image163.png"/><Relationship Id="rId3" Type="http://schemas.openxmlformats.org/officeDocument/2006/relationships/image" Target="../media/image164.png"/><Relationship Id="rId4" Type="http://schemas.openxmlformats.org/officeDocument/2006/relationships/slideLayout" Target="../slideLayouts/slideLayout25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image" Target="../media/image165.jpeg"/><Relationship Id="rId2" Type="http://schemas.openxmlformats.org/officeDocument/2006/relationships/slideLayout" Target="../slideLayouts/slideLayout13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image" Target="../media/image166.png"/><Relationship Id="rId2" Type="http://schemas.openxmlformats.org/officeDocument/2006/relationships/image" Target="../media/image167.png"/><Relationship Id="rId3" Type="http://schemas.openxmlformats.org/officeDocument/2006/relationships/image" Target="../media/image168.png"/><Relationship Id="rId4" Type="http://schemas.openxmlformats.org/officeDocument/2006/relationships/slideLayout" Target="../slideLayouts/slideLayout25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image" Target="../media/image169.png"/><Relationship Id="rId2" Type="http://schemas.openxmlformats.org/officeDocument/2006/relationships/image" Target="../media/image170.png"/><Relationship Id="rId3" Type="http://schemas.openxmlformats.org/officeDocument/2006/relationships/slideLayout" Target="../slideLayouts/slideLayout25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hyperlink" Target="https://kubernetes.io/docs/concepts/configuration/manage-resources-containers/#resource-units-in-kubernetes" TargetMode="External"/><Relationship Id="rId2" Type="http://schemas.openxmlformats.org/officeDocument/2006/relationships/slideLayout" Target="../slideLayouts/slideLayout25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image" Target="../media/image171.jpeg"/><Relationship Id="rId2" Type="http://schemas.openxmlformats.org/officeDocument/2006/relationships/slideLayout" Target="../slideLayouts/slideLayout13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image" Target="../media/image172.png"/><Relationship Id="rId2" Type="http://schemas.openxmlformats.org/officeDocument/2006/relationships/slideLayout" Target="../slideLayouts/slideLayout25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image" Target="../media/image173.png"/><Relationship Id="rId2" Type="http://schemas.openxmlformats.org/officeDocument/2006/relationships/slideLayout" Target="../slideLayouts/slideLayout25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image" Target="../media/image174.jpeg"/><Relationship Id="rId2" Type="http://schemas.openxmlformats.org/officeDocument/2006/relationships/slideLayout" Target="../slideLayouts/slideLayout13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image" Target="../media/image175.png"/><Relationship Id="rId2" Type="http://schemas.openxmlformats.org/officeDocument/2006/relationships/slideLayout" Target="../slideLayouts/slideLayout25.xml"/>
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image" Target="../media/image176.png"/><Relationship Id="rId2" Type="http://schemas.openxmlformats.org/officeDocument/2006/relationships/image" Target="../media/image177.png"/><Relationship Id="rId3" Type="http://schemas.openxmlformats.org/officeDocument/2006/relationships/slideLayout" Target="../slideLayouts/slideLayout25.xml"/>
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image" Target="../media/image178.png"/><Relationship Id="rId2" Type="http://schemas.openxmlformats.org/officeDocument/2006/relationships/image" Target="../media/image179.png"/><Relationship Id="rId3" Type="http://schemas.openxmlformats.org/officeDocument/2006/relationships/image" Target="../media/image180.png"/><Relationship Id="rId4" Type="http://schemas.openxmlformats.org/officeDocument/2006/relationships/slideLayout" Target="../slideLayouts/slideLayout25.xml"/>
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image" Target="../media/image181.png"/><Relationship Id="rId2" Type="http://schemas.openxmlformats.org/officeDocument/2006/relationships/slideLayout" Target="../slideLayouts/slideLayout25.xml"/>
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image" Target="../media/image182.png"/><Relationship Id="rId2" Type="http://schemas.openxmlformats.org/officeDocument/2006/relationships/image" Target="../media/image183.png"/><Relationship Id="rId3" Type="http://schemas.openxmlformats.org/officeDocument/2006/relationships/slideLayout" Target="../slideLayouts/slideLayout25.xml"/>
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image" Target="../media/image184.png"/><Relationship Id="rId2" Type="http://schemas.openxmlformats.org/officeDocument/2006/relationships/image" Target="../media/image185.png"/><Relationship Id="rId3" Type="http://schemas.openxmlformats.org/officeDocument/2006/relationships/image" Target="../media/image186.png"/><Relationship Id="rId4" Type="http://schemas.openxmlformats.org/officeDocument/2006/relationships/slideLayout" Target="../slideLayouts/slideLayout25.xml"/>
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hyperlink" Target="https://kubernetes.io/docs/concepts/configuration/secret/#secret-types" TargetMode="External"/><Relationship Id="rId2" Type="http://schemas.openxmlformats.org/officeDocument/2006/relationships/slideLayout" Target="../slideLayouts/slideLayout25.xml"/>
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image" Target="../media/image187.png"/><Relationship Id="rId2" Type="http://schemas.openxmlformats.org/officeDocument/2006/relationships/slideLayout" Target="../slideLayouts/slideLayout25.xml"/>
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0.xml.rels><?xml version="1.0" encoding="UTF-8"?>
<Relationships xmlns="http://schemas.openxmlformats.org/package/2006/relationships"><Relationship Id="rId1" Type="http://schemas.openxmlformats.org/officeDocument/2006/relationships/image" Target="../media/image188.png"/><Relationship Id="rId2" Type="http://schemas.openxmlformats.org/officeDocument/2006/relationships/image" Target="../media/image189.png"/><Relationship Id="rId3" Type="http://schemas.openxmlformats.org/officeDocument/2006/relationships/image" Target="../media/image190.png"/><Relationship Id="rId4" Type="http://schemas.openxmlformats.org/officeDocument/2006/relationships/slideLayout" Target="../slideLayouts/slideLayout25.xml"/>
</Relationships>
</file>

<file path=ppt/slides/_rels/slide181.xml.rels><?xml version="1.0" encoding="UTF-8"?>
<Relationships xmlns="http://schemas.openxmlformats.org/package/2006/relationships"><Relationship Id="rId1" Type="http://schemas.openxmlformats.org/officeDocument/2006/relationships/hyperlink" Target="https://kubernetes.io/docs/reference/generated/kubernetes-api/v1.25/#podsecuritycontext-v1-core" TargetMode="External"/><Relationship Id="rId2" Type="http://schemas.openxmlformats.org/officeDocument/2006/relationships/hyperlink" Target="https://kubernetes.io/docs/reference/generated/kubernetes-api/v1.25/#securitycontext-v1-core" TargetMode="External"/><Relationship Id="rId3" Type="http://schemas.openxmlformats.org/officeDocument/2006/relationships/slideLayout" Target="../slideLayouts/slideLayout25.xml"/>
</Relationships>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5.xml.rels><?xml version="1.0" encoding="UTF-8"?>
<Relationships xmlns="http://schemas.openxmlformats.org/package/2006/relationships"><Relationship Id="rId1" Type="http://schemas.openxmlformats.org/officeDocument/2006/relationships/image" Target="../media/image191.jpeg"/><Relationship Id="rId2" Type="http://schemas.openxmlformats.org/officeDocument/2006/relationships/slideLayout" Target="../slideLayouts/slideLayout13.xml"/>
</Relationships>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7.xml.rels><?xml version="1.0" encoding="UTF-8"?>
<Relationships xmlns="http://schemas.openxmlformats.org/package/2006/relationships"><Relationship Id="rId1" Type="http://schemas.openxmlformats.org/officeDocument/2006/relationships/image" Target="../media/image192.png"/><Relationship Id="rId2" Type="http://schemas.openxmlformats.org/officeDocument/2006/relationships/image" Target="../media/image193.png"/><Relationship Id="rId3" Type="http://schemas.openxmlformats.org/officeDocument/2006/relationships/image" Target="../media/image194.png"/><Relationship Id="rId4" Type="http://schemas.openxmlformats.org/officeDocument/2006/relationships/image" Target="../media/image195.png"/><Relationship Id="rId5" Type="http://schemas.openxmlformats.org/officeDocument/2006/relationships/image" Target="../media/image196.png"/><Relationship Id="rId6" Type="http://schemas.openxmlformats.org/officeDocument/2006/relationships/slideLayout" Target="../slideLayouts/slideLayout25.xml"/>
</Relationships>
</file>

<file path=ppt/slides/_rels/slide188.xml.rels><?xml version="1.0" encoding="UTF-8"?>
<Relationships xmlns="http://schemas.openxmlformats.org/package/2006/relationships"><Relationship Id="rId1" Type="http://schemas.openxmlformats.org/officeDocument/2006/relationships/image" Target="../media/image197.jpeg"/><Relationship Id="rId2" Type="http://schemas.openxmlformats.org/officeDocument/2006/relationships/slideLayout" Target="../slideLayouts/slideLayout13.xml"/>
</Relationships>
</file>

<file path=ppt/slides/_rels/slide189.xml.rels><?xml version="1.0" encoding="UTF-8"?>
<Relationships xmlns="http://schemas.openxmlformats.org/package/2006/relationships"><Relationship Id="rId1" Type="http://schemas.openxmlformats.org/officeDocument/2006/relationships/image" Target="../media/image198.jpeg"/><Relationship Id="rId2" Type="http://schemas.openxmlformats.org/officeDocument/2006/relationships/slideLayout" Target="../slideLayouts/slideLayout13.xml"/>
</Relationships>
</file>

<file path=ppt/slides/_rels/slide190.xml.rels><?xml version="1.0" encoding="UTF-8"?>
<Relationships xmlns="http://schemas.openxmlformats.org/package/2006/relationships"><Relationship Id="rId1" Type="http://schemas.openxmlformats.org/officeDocument/2006/relationships/image" Target="../media/image199.jpeg"/><Relationship Id="rId2" Type="http://schemas.openxmlformats.org/officeDocument/2006/relationships/slideLayout" Target="../slideLayouts/slideLayout13.xml"/>
</Relationships>
</file>

<file path=ppt/slides/_rels/slide191.xml.rels><?xml version="1.0" encoding="UTF-8"?>
<Relationships xmlns="http://schemas.openxmlformats.org/package/2006/relationships"><Relationship Id="rId1" Type="http://schemas.openxmlformats.org/officeDocument/2006/relationships/image" Target="../media/image200.jpeg"/><Relationship Id="rId2" Type="http://schemas.openxmlformats.org/officeDocument/2006/relationships/slideLayout" Target="../slideLayouts/slideLayout13.xml"/>
</Relationships>
</file>

<file path=ppt/slides/_rels/slide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95.xml.rels><?xml version="1.0" encoding="UTF-8"?>
<Relationships xmlns="http://schemas.openxmlformats.org/package/2006/relationships"><Relationship Id="rId1" Type="http://schemas.openxmlformats.org/officeDocument/2006/relationships/image" Target="../media/image201.jpeg"/><Relationship Id="rId2" Type="http://schemas.openxmlformats.org/officeDocument/2006/relationships/slideLayout" Target="../slideLayouts/slideLayout1.xml"/>
</Relationships>
</file>

<file path=ppt/slides/_rels/slide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00.xml.rels><?xml version="1.0" encoding="UTF-8"?>
<Relationships xmlns="http://schemas.openxmlformats.org/package/2006/relationships"><Relationship Id="rId1" Type="http://schemas.openxmlformats.org/officeDocument/2006/relationships/image" Target="../media/image202.png"/><Relationship Id="rId2" Type="http://schemas.openxmlformats.org/officeDocument/2006/relationships/slideLayout" Target="../slideLayouts/slideLayout61.xml"/>
</Relationships>
</file>

<file path=ppt/slides/_rels/slide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03.xml.rels><?xml version="1.0" encoding="UTF-8"?>
<Relationships xmlns="http://schemas.openxmlformats.org/package/2006/relationships"><Relationship Id="rId1" Type="http://schemas.openxmlformats.org/officeDocument/2006/relationships/image" Target="../media/image203.jpeg"/><Relationship Id="rId2" Type="http://schemas.openxmlformats.org/officeDocument/2006/relationships/slideLayout" Target="../slideLayouts/slideLayout13.xml"/>
</Relationships>
</file>

<file path=ppt/slides/_rels/slide2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05.xml.rels><?xml version="1.0" encoding="UTF-8"?>
<Relationships xmlns="http://schemas.openxmlformats.org/package/2006/relationships"><Relationship Id="rId1" Type="http://schemas.openxmlformats.org/officeDocument/2006/relationships/hyperlink" Target="https://kubernetes.io/docs/concepts/services-networking/network-policies/#default-policies" TargetMode="External"/><Relationship Id="rId2" Type="http://schemas.openxmlformats.org/officeDocument/2006/relationships/slideLayout" Target="../slideLayouts/slideLayout25.xml"/>
</Relationships>
</file>

<file path=ppt/slides/_rels/slide206.xml.rels><?xml version="1.0" encoding="UTF-8"?>
<Relationships xmlns="http://schemas.openxmlformats.org/package/2006/relationships"><Relationship Id="rId1" Type="http://schemas.openxmlformats.org/officeDocument/2006/relationships/image" Target="../media/image204.png"/><Relationship Id="rId2" Type="http://schemas.openxmlformats.org/officeDocument/2006/relationships/image" Target="../media/image205.png"/><Relationship Id="rId3" Type="http://schemas.openxmlformats.org/officeDocument/2006/relationships/image" Target="../media/image206.png"/><Relationship Id="rId4" Type="http://schemas.openxmlformats.org/officeDocument/2006/relationships/slideLayout" Target="../slideLayouts/slideLayout25.xml"/>
</Relationships>
</file>

<file path=ppt/slides/_rels/slide207.xml.rels><?xml version="1.0" encoding="UTF-8"?>
<Relationships xmlns="http://schemas.openxmlformats.org/package/2006/relationships"><Relationship Id="rId1" Type="http://schemas.openxmlformats.org/officeDocument/2006/relationships/image" Target="../media/image207.png"/><Relationship Id="rId2" Type="http://schemas.openxmlformats.org/officeDocument/2006/relationships/image" Target="../media/image208.png"/><Relationship Id="rId3" Type="http://schemas.openxmlformats.org/officeDocument/2006/relationships/slideLayout" Target="../slideLayouts/slideLayout25.xml"/>
</Relationships>
</file>

<file path=ppt/slides/_rels/slide208.xml.rels><?xml version="1.0" encoding="UTF-8"?>
<Relationships xmlns="http://schemas.openxmlformats.org/package/2006/relationships"><Relationship Id="rId1" Type="http://schemas.openxmlformats.org/officeDocument/2006/relationships/image" Target="../media/image209.jpeg"/><Relationship Id="rId2" Type="http://schemas.openxmlformats.org/officeDocument/2006/relationships/hyperlink" Target="https://github.com/ahmetb/kubernetes-network-policy-recipes" TargetMode="External"/><Relationship Id="rId3" Type="http://schemas.openxmlformats.org/officeDocument/2006/relationships/slideLayout" Target="../slideLayouts/slideLayout25.xml"/>
</Relationships>
</file>

<file path=ppt/slides/_rels/slide2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object 2"/>
          <p:cNvSpPr/>
          <p:nvPr/>
        </p:nvSpPr>
        <p:spPr>
          <a:xfrm>
            <a:off x="8412840" y="4408200"/>
            <a:ext cx="551880" cy="468000"/>
          </a:xfrm>
          <a:custGeom>
            <a:avLst/>
            <a:gdLst/>
            <a:ahLst/>
            <a:rect l="l" t="t" r="r" b="b"/>
            <a:pathLst>
              <a:path w="557529" h="473710">
                <a:moveTo>
                  <a:pt x="557099" y="473399"/>
                </a:moveTo>
                <a:lnTo>
                  <a:pt x="0" y="473399"/>
                </a:lnTo>
                <a:lnTo>
                  <a:pt x="0" y="0"/>
                </a:lnTo>
                <a:lnTo>
                  <a:pt x="557099" y="0"/>
                </a:lnTo>
                <a:lnTo>
                  <a:pt x="557099" y="47339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54" name="object 4" descr=""/>
          <p:cNvPicPr/>
          <p:nvPr/>
        </p:nvPicPr>
        <p:blipFill>
          <a:blip r:embed="rId1"/>
          <a:stretch/>
        </p:blipFill>
        <p:spPr>
          <a:xfrm>
            <a:off x="3893040" y="1324800"/>
            <a:ext cx="5245200" cy="3813120"/>
          </a:xfrm>
          <a:prstGeom prst="rect">
            <a:avLst/>
          </a:prstGeom>
          <a:ln w="0">
            <a:noFill/>
          </a:ln>
        </p:spPr>
      </p:pic>
      <p:sp>
        <p:nvSpPr>
          <p:cNvPr id="255" name="object 5"/>
          <p:cNvSpPr/>
          <p:nvPr/>
        </p:nvSpPr>
        <p:spPr>
          <a:xfrm>
            <a:off x="587880" y="1167840"/>
            <a:ext cx="3618720" cy="10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040" bIns="0" anchor="t">
            <a:spAutoFit/>
          </a:bodyPr>
          <a:p>
            <a:pPr marL="12600">
              <a:lnSpc>
                <a:spcPts val="2631"/>
              </a:lnSpc>
              <a:spcBef>
                <a:spcPts val="394"/>
              </a:spcBef>
              <a:buNone/>
            </a:pPr>
            <a:r>
              <a:rPr b="0" lang="fr-FR" sz="2400" spc="-7" strike="noStrike">
                <a:solidFill>
                  <a:srgbClr val="6c6c6c"/>
                </a:solidFill>
                <a:latin typeface="Arial MT"/>
                <a:ea typeface="DejaVu Sans"/>
              </a:rPr>
              <a:t>Certified Kubernetes </a:t>
            </a:r>
            <a:r>
              <a:rPr b="0" lang="fr-FR" sz="2400" spc="-1" strike="noStrike">
                <a:solidFill>
                  <a:srgbClr val="6c6c6c"/>
                </a:solidFill>
                <a:latin typeface="Arial MT"/>
                <a:ea typeface="DejaVu Sans"/>
              </a:rPr>
              <a:t> </a:t>
            </a:r>
            <a:r>
              <a:rPr b="0" lang="fr-FR" sz="2400" spc="-7" strike="noStrike">
                <a:solidFill>
                  <a:srgbClr val="6c6c6c"/>
                </a:solidFill>
                <a:latin typeface="Arial MT"/>
                <a:ea typeface="DejaVu Sans"/>
              </a:rPr>
              <a:t>Application Developer</a:t>
            </a:r>
            <a:r>
              <a:rPr b="0" lang="fr-FR" sz="2400" spc="-60" strike="noStrike">
                <a:solidFill>
                  <a:srgbClr val="6c6c6c"/>
                </a:solidFill>
                <a:latin typeface="Arial MT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6c6c6c"/>
                </a:solidFill>
                <a:latin typeface="Arial MT"/>
                <a:ea typeface="DejaVu Sans"/>
              </a:rPr>
              <a:t>(CKAD)</a:t>
            </a:r>
            <a:r>
              <a:rPr b="0" lang="fr-FR" sz="2400" spc="-52" strike="noStrike">
                <a:solidFill>
                  <a:srgbClr val="6c6c6c"/>
                </a:solidFill>
                <a:latin typeface="Arial MT"/>
                <a:ea typeface="DejaVu Sans"/>
              </a:rPr>
              <a:t> 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56" name="object 6"/>
          <p:cNvSpPr/>
          <p:nvPr/>
        </p:nvSpPr>
        <p:spPr>
          <a:xfrm>
            <a:off x="223920" y="163800"/>
            <a:ext cx="1864440" cy="210240"/>
          </a:xfrm>
          <a:custGeom>
            <a:avLst/>
            <a:gdLst/>
            <a:ahLst/>
            <a:rect l="l" t="t" r="r" b="b"/>
            <a:pathLst>
              <a:path w="1870075" h="215900">
                <a:moveTo>
                  <a:pt x="1869599" y="215399"/>
                </a:moveTo>
                <a:lnTo>
                  <a:pt x="0" y="215399"/>
                </a:lnTo>
                <a:lnTo>
                  <a:pt x="0" y="0"/>
                </a:lnTo>
                <a:lnTo>
                  <a:pt x="1869599" y="0"/>
                </a:lnTo>
                <a:lnTo>
                  <a:pt x="1869599" y="21539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object 7"/>
          <p:cNvSpPr/>
          <p:nvPr/>
        </p:nvSpPr>
        <p:spPr>
          <a:xfrm>
            <a:off x="587880" y="2426400"/>
            <a:ext cx="26467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i="1" lang="fr-FR" sz="2200" spc="-446" strike="noStrike">
                <a:solidFill>
                  <a:srgbClr val="d3002d"/>
                </a:solidFill>
                <a:latin typeface="Trebuchet MS"/>
                <a:ea typeface="DejaVu Sans"/>
              </a:rPr>
              <a:t>K</a:t>
            </a:r>
            <a:r>
              <a:rPr b="1" i="1" lang="fr-FR" sz="2200" spc="-440" strike="noStrike">
                <a:solidFill>
                  <a:srgbClr val="d3002d"/>
                </a:solidFill>
                <a:latin typeface="Trebuchet MS"/>
                <a:ea typeface="DejaVu Sans"/>
              </a:rPr>
              <a:t>u</a:t>
            </a:r>
            <a:r>
              <a:rPr b="1" i="1" lang="fr-FR" sz="2200" spc="-335" strike="noStrike">
                <a:solidFill>
                  <a:srgbClr val="d3002d"/>
                </a:solidFill>
                <a:latin typeface="Trebuchet MS"/>
                <a:ea typeface="DejaVu Sans"/>
              </a:rPr>
              <a:t>bernetes</a:t>
            </a:r>
            <a:r>
              <a:rPr b="1" i="1" lang="fr-FR" sz="2200" spc="-137" strike="noStrike">
                <a:solidFill>
                  <a:srgbClr val="d3002d"/>
                </a:solidFill>
                <a:latin typeface="Trebuchet MS"/>
                <a:ea typeface="DejaVu Sans"/>
              </a:rPr>
              <a:t> </a:t>
            </a:r>
            <a:r>
              <a:rPr b="1" i="1" lang="fr-FR" sz="2200" spc="-330" strike="noStrike">
                <a:solidFill>
                  <a:srgbClr val="d3002d"/>
                </a:solidFill>
                <a:latin typeface="Trebuchet MS"/>
                <a:ea typeface="DejaVu Sans"/>
              </a:rPr>
              <a:t>1.28</a:t>
            </a:r>
            <a:r>
              <a:rPr b="1" i="1" lang="fr-FR" sz="2200" spc="-137" strike="noStrike">
                <a:solidFill>
                  <a:srgbClr val="d3002d"/>
                </a:solidFill>
                <a:latin typeface="Trebuchet MS"/>
                <a:ea typeface="DejaVu Sans"/>
              </a:rPr>
              <a:t> </a:t>
            </a:r>
            <a:r>
              <a:rPr b="1" i="1" lang="fr-FR" sz="2200" spc="-296" strike="noStrike">
                <a:solidFill>
                  <a:srgbClr val="d3002d"/>
                </a:solidFill>
                <a:latin typeface="Trebuchet MS"/>
                <a:ea typeface="DejaVu Sans"/>
              </a:rPr>
              <a:t>Edition</a:t>
            </a:r>
            <a:endParaRPr b="0" lang="fr-FR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729760" cy="8654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1" strike="noStrike">
                <a:solidFill>
                  <a:srgbClr val="000000"/>
                </a:solidFill>
                <a:latin typeface="Arial"/>
              </a:rPr>
              <a:t>About the trainer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59" name="object 10"/>
          <p:cNvSpPr/>
          <p:nvPr/>
        </p:nvSpPr>
        <p:spPr>
          <a:xfrm>
            <a:off x="441720" y="1289880"/>
            <a:ext cx="55839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 anchor="t">
            <a:spAutoFit/>
          </a:bodyPr>
          <a:p>
            <a:pPr marL="96480" indent="-84600">
              <a:lnSpc>
                <a:spcPts val="2849"/>
              </a:lnSpc>
              <a:spcBef>
                <a:spcPts val="221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595959"/>
                </a:solidFill>
                <a:latin typeface="Arial"/>
                <a:ea typeface="DejaVu Sans"/>
              </a:rPr>
              <a:t>Brahim HAMDI</a:t>
            </a:r>
            <a:endParaRPr b="0" lang="fr-FR" sz="2400" spc="-1" strike="noStrike">
              <a:latin typeface="Arial"/>
            </a:endParaRPr>
          </a:p>
          <a:p>
            <a:pPr marL="134640" indent="-8460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r>
              <a:rPr b="0" lang="fr-FR" sz="1200" spc="-12" strike="noStrike" u="heavy">
                <a:solidFill>
                  <a:srgbClr val="d3002d"/>
                </a:solidFill>
                <a:uFill>
                  <a:solidFill>
                    <a:srgbClr val="d3002d"/>
                  </a:solidFill>
                </a:uFill>
                <a:latin typeface="Arial MT"/>
                <a:ea typeface="DejaVu Sans"/>
                <a:hlinkClick r:id="rId1"/>
              </a:rPr>
              <a:t>brahim.hamdi.consult@gmail.com</a:t>
            </a:r>
            <a:endParaRPr b="0" lang="fr-FR" sz="1200" spc="-1" strike="noStrike">
              <a:latin typeface="Arial"/>
            </a:endParaRPr>
          </a:p>
          <a:p>
            <a:pPr marL="134640" indent="-8460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endParaRPr b="0" lang="fr-FR" sz="1200" spc="-1" strike="noStrike">
              <a:latin typeface="Arial"/>
            </a:endParaRPr>
          </a:p>
          <a:p>
            <a:pPr marL="98280" indent="-84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Consultant / Trainer</a:t>
            </a:r>
            <a:endParaRPr b="0" lang="fr-FR" sz="2000" spc="-1" strike="noStrike">
              <a:latin typeface="Arial"/>
            </a:endParaRPr>
          </a:p>
          <a:p>
            <a:pPr marL="98280" indent="-84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DevOps &amp; Cloud Expert</a:t>
            </a:r>
            <a:endParaRPr b="0" lang="fr-FR" sz="2000" spc="-1" strike="noStrike">
              <a:latin typeface="Arial"/>
            </a:endParaRPr>
          </a:p>
        </p:txBody>
      </p:sp>
      <p:pic>
        <p:nvPicPr>
          <p:cNvPr id="260" name="" descr=""/>
          <p:cNvPicPr/>
          <p:nvPr/>
        </p:nvPicPr>
        <p:blipFill>
          <a:blip r:embed="rId2"/>
          <a:stretch/>
        </p:blipFill>
        <p:spPr>
          <a:xfrm>
            <a:off x="2274840" y="3402720"/>
            <a:ext cx="710280" cy="658080"/>
          </a:xfrm>
          <a:prstGeom prst="rect">
            <a:avLst/>
          </a:prstGeom>
          <a:ln w="0">
            <a:noFill/>
          </a:ln>
        </p:spPr>
      </p:pic>
      <p:pic>
        <p:nvPicPr>
          <p:cNvPr id="261" name="" descr=""/>
          <p:cNvPicPr/>
          <p:nvPr/>
        </p:nvPicPr>
        <p:blipFill>
          <a:blip r:embed="rId3"/>
          <a:stretch/>
        </p:blipFill>
        <p:spPr>
          <a:xfrm>
            <a:off x="6579000" y="3204000"/>
            <a:ext cx="1011960" cy="984240"/>
          </a:xfrm>
          <a:prstGeom prst="rect">
            <a:avLst/>
          </a:prstGeom>
          <a:ln w="0">
            <a:noFill/>
          </a:ln>
        </p:spPr>
      </p:pic>
      <p:pic>
        <p:nvPicPr>
          <p:cNvPr id="262" name="" descr=""/>
          <p:cNvPicPr/>
          <p:nvPr/>
        </p:nvPicPr>
        <p:blipFill>
          <a:blip r:embed="rId4"/>
          <a:stretch/>
        </p:blipFill>
        <p:spPr>
          <a:xfrm>
            <a:off x="4330080" y="3357360"/>
            <a:ext cx="1517760" cy="699840"/>
          </a:xfrm>
          <a:prstGeom prst="rect">
            <a:avLst/>
          </a:prstGeom>
          <a:ln w="0">
            <a:noFill/>
          </a:ln>
        </p:spPr>
      </p:pic>
      <p:pic>
        <p:nvPicPr>
          <p:cNvPr id="263" name="" descr=""/>
          <p:cNvPicPr/>
          <p:nvPr/>
        </p:nvPicPr>
        <p:blipFill>
          <a:blip r:embed="rId5"/>
          <a:stretch/>
        </p:blipFill>
        <p:spPr>
          <a:xfrm>
            <a:off x="5878800" y="3389760"/>
            <a:ext cx="699480" cy="644400"/>
          </a:xfrm>
          <a:prstGeom prst="rect">
            <a:avLst/>
          </a:prstGeom>
          <a:ln w="0">
            <a:noFill/>
          </a:ln>
        </p:spPr>
      </p:pic>
      <p:pic>
        <p:nvPicPr>
          <p:cNvPr id="264" name="" descr=""/>
          <p:cNvPicPr/>
          <p:nvPr/>
        </p:nvPicPr>
        <p:blipFill>
          <a:blip r:embed="rId6"/>
          <a:stretch/>
        </p:blipFill>
        <p:spPr>
          <a:xfrm>
            <a:off x="3658680" y="3402720"/>
            <a:ext cx="688320" cy="669600"/>
          </a:xfrm>
          <a:prstGeom prst="rect">
            <a:avLst/>
          </a:prstGeom>
          <a:ln w="0">
            <a:noFill/>
          </a:ln>
        </p:spPr>
      </p:pic>
      <p:pic>
        <p:nvPicPr>
          <p:cNvPr id="265" name="" descr=""/>
          <p:cNvPicPr/>
          <p:nvPr/>
        </p:nvPicPr>
        <p:blipFill>
          <a:blip r:embed="rId7"/>
          <a:stretch/>
        </p:blipFill>
        <p:spPr>
          <a:xfrm>
            <a:off x="3018960" y="3383280"/>
            <a:ext cx="683640" cy="664920"/>
          </a:xfrm>
          <a:prstGeom prst="rect">
            <a:avLst/>
          </a:prstGeom>
          <a:ln w="0">
            <a:noFill/>
          </a:ln>
        </p:spPr>
      </p:pic>
      <p:pic>
        <p:nvPicPr>
          <p:cNvPr id="266" name="" descr=""/>
          <p:cNvPicPr/>
          <p:nvPr/>
        </p:nvPicPr>
        <p:blipFill>
          <a:blip r:embed="rId8"/>
          <a:stretch/>
        </p:blipFill>
        <p:spPr>
          <a:xfrm>
            <a:off x="1008000" y="3377160"/>
            <a:ext cx="1180440" cy="659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02B3953-8543-4DA1-962D-B520F434F98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49;p25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45040" y="848520"/>
            <a:ext cx="7608960" cy="1392480"/>
          </a:xfrm>
          <a:prstGeom prst="rect">
            <a:avLst/>
          </a:prstGeom>
          <a:noFill/>
          <a:ln w="0">
            <a:noFill/>
          </a:ln>
        </p:spPr>
        <p:txBody>
          <a:bodyPr lIns="0" rIns="0" tIns="78840" bIns="0" anchor="t">
            <a:noAutofit/>
          </a:bodyPr>
          <a:p>
            <a:pPr marL="12600"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Image and Container  Management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69" name="Google Shape;251;p25"/>
          <p:cNvSpPr/>
          <p:nvPr/>
        </p:nvSpPr>
        <p:spPr>
          <a:xfrm>
            <a:off x="545040" y="2375640"/>
            <a:ext cx="5977080" cy="7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Defining, Building, Running, and Distributing  Container Images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257C45B-1E4D-4BE2-A454-71E681C04CE9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56;p26"/>
          <p:cNvSpPr/>
          <p:nvPr/>
        </p:nvSpPr>
        <p:spPr>
          <a:xfrm>
            <a:off x="385920" y="1149840"/>
            <a:ext cx="8251200" cy="31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Container image creation and distribution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Blueprint of instructions: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Spells out what needs to happen when the  software is built, e.g. a </a:t>
            </a: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Dockerfile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Container Image: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Packages an application into a single unit of  software including its runtime environment and configuration.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Container Registry: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Publishes container images and makes them  available for consumption, e.g. on</a:t>
            </a:r>
            <a:r>
              <a:rPr b="0" lang="en-US" sz="2000" spc="-1" strike="noStrike">
                <a:solidFill>
                  <a:srgbClr val="d3002d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 u="sng">
                <a:solidFill>
                  <a:srgbClr val="d3002d"/>
                </a:solidFill>
                <a:uFillTx/>
                <a:latin typeface="Arial"/>
                <a:ea typeface="Arial"/>
                <a:hlinkClick r:id="rId1"/>
              </a:rPr>
              <a:t>Docker Hub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or</a:t>
            </a:r>
            <a:r>
              <a:rPr b="0" lang="en-US" sz="2000" spc="-1" strike="noStrike" u="sng">
                <a:solidFill>
                  <a:srgbClr val="d3002d"/>
                </a:solidFill>
                <a:uFillTx/>
                <a:latin typeface="Arial"/>
                <a:ea typeface="Arial"/>
                <a:hlinkClick r:id="rId2"/>
              </a:rPr>
              <a:t> GCR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2222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Container Terminology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0719EFA-B05F-44D3-91B9-1D78F3CBBB9F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62;p27"/>
          <p:cNvSpPr/>
          <p:nvPr/>
        </p:nvSpPr>
        <p:spPr>
          <a:xfrm>
            <a:off x="385920" y="1149840"/>
            <a:ext cx="828684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Container runtime environment and instantiation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Container Runtime Engine: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A software component that can run  containers on a host operating system, e.g.</a:t>
            </a:r>
            <a:r>
              <a:rPr b="0" lang="en-US" sz="2000" spc="-1" strike="noStrike">
                <a:solidFill>
                  <a:srgbClr val="d3002d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 u="sng">
                <a:solidFill>
                  <a:srgbClr val="d3002d"/>
                </a:solidFill>
                <a:uFillTx/>
                <a:latin typeface="Arial"/>
                <a:ea typeface="Arial"/>
                <a:hlinkClick r:id="rId1"/>
              </a:rPr>
              <a:t>Docker Engine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or </a:t>
            </a:r>
            <a:r>
              <a:rPr b="0" lang="en-US" sz="2000" spc="-1" strike="noStrike" u="sng">
                <a:solidFill>
                  <a:srgbClr val="d3002d"/>
                </a:solidFill>
                <a:uFillTx/>
                <a:latin typeface="Arial"/>
                <a:ea typeface="Arial"/>
                <a:hlinkClick r:id="rId2"/>
              </a:rPr>
              <a:t> containerd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Container: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Instantiates a container image and runs it in an isolated  runtime environment. Think of it as a special type of virtual machine.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Container orchestrator: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Uses container runtime inside of a Pod to  instantiate a container, e.g. Kubernetes.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1743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Container Terminology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8345782-849E-4DC5-B23D-6D6A5D115BC7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68;p28"/>
          <p:cNvSpPr/>
          <p:nvPr/>
        </p:nvSpPr>
        <p:spPr>
          <a:xfrm>
            <a:off x="385920" y="391320"/>
            <a:ext cx="611316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Containerization Process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75" name="Google Shape;269;p28"/>
          <p:cNvSpPr/>
          <p:nvPr/>
        </p:nvSpPr>
        <p:spPr>
          <a:xfrm>
            <a:off x="806760" y="2063880"/>
            <a:ext cx="7371000" cy="24512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Google Shape;270;p28"/>
          <p:cNvSpPr/>
          <p:nvPr/>
        </p:nvSpPr>
        <p:spPr>
          <a:xfrm>
            <a:off x="385920" y="1149840"/>
            <a:ext cx="771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Building and publishing an image, running image in container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63915F-92F0-4D08-9253-720374C2FDA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5;p29"/>
          <p:cNvSpPr/>
          <p:nvPr/>
        </p:nvSpPr>
        <p:spPr>
          <a:xfrm>
            <a:off x="441720" y="1289880"/>
            <a:ext cx="62611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A Dockerfile is a plain-text file with </a:t>
            </a:r>
            <a:r>
              <a:rPr b="0" i="1" lang="en-US" sz="2400" spc="-1" strike="noStrike" u="sng">
                <a:solidFill>
                  <a:srgbClr val="d3002d"/>
                </a:solidFill>
                <a:uFillTx/>
                <a:latin typeface="Arial"/>
                <a:ea typeface="Arial"/>
                <a:hlinkClick r:id="rId1"/>
              </a:rPr>
              <a:t>instructions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6999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Image Building Instructions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79" name="Google Shape;278;p29"/>
          <p:cNvSpPr/>
          <p:nvPr/>
        </p:nvSpPr>
        <p:spPr>
          <a:xfrm>
            <a:off x="499680" y="2185920"/>
            <a:ext cx="7641000" cy="137628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9400" bIns="0" anchor="t">
            <a:spAutoFit/>
          </a:bodyPr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617a1"/>
                </a:solidFill>
                <a:latin typeface="Courier New"/>
                <a:ea typeface="Courier New"/>
              </a:rPr>
              <a:t>FROM 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openjdk:11-jre-slim</a:t>
            </a:r>
            <a:endParaRPr b="0" lang="fr-FR" sz="1600" spc="-1" strike="noStrike">
              <a:latin typeface="Arial"/>
            </a:endParaRPr>
          </a:p>
          <a:p>
            <a:pPr marL="20844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617a1"/>
                </a:solidFill>
                <a:latin typeface="Courier New"/>
                <a:ea typeface="Courier New"/>
              </a:rPr>
              <a:t>WORKDIR 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/app</a:t>
            </a:r>
            <a:endParaRPr b="0" lang="fr-FR" sz="1600" spc="-1" strike="noStrike">
              <a:latin typeface="Arial"/>
            </a:endParaRPr>
          </a:p>
          <a:p>
            <a:pPr marL="20844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617a1"/>
                </a:solidFill>
                <a:latin typeface="Courier New"/>
                <a:ea typeface="Courier New"/>
              </a:rPr>
              <a:t>COPY 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target/java-hello-world-0.0.1.jar java-hello-world.jar  </a:t>
            </a:r>
            <a:r>
              <a:rPr b="1" lang="en-US" sz="1600" spc="-1" strike="noStrike">
                <a:solidFill>
                  <a:srgbClr val="4617a1"/>
                </a:solidFill>
                <a:latin typeface="Courier New"/>
                <a:ea typeface="Courier New"/>
              </a:rPr>
              <a:t>ENTRYPOINT 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[</a:t>
            </a:r>
            <a:r>
              <a:rPr b="1" lang="en-US" sz="1600" spc="-1" strike="noStrike">
                <a:solidFill>
                  <a:srgbClr val="d15d34"/>
                </a:solidFill>
                <a:latin typeface="Courier New"/>
                <a:ea typeface="Courier New"/>
              </a:rPr>
              <a:t>"java"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, </a:t>
            </a:r>
            <a:r>
              <a:rPr b="1" lang="en-US" sz="1600" spc="-1" strike="noStrike">
                <a:solidFill>
                  <a:srgbClr val="d15d34"/>
                </a:solidFill>
                <a:latin typeface="Courier New"/>
                <a:ea typeface="Courier New"/>
              </a:rPr>
              <a:t>"-jar"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, </a:t>
            </a:r>
            <a:r>
              <a:rPr b="1" lang="en-US" sz="1600" spc="-1" strike="noStrike">
                <a:solidFill>
                  <a:srgbClr val="d15d34"/>
                </a:solidFill>
                <a:latin typeface="Courier New"/>
                <a:ea typeface="Courier New"/>
              </a:rPr>
              <a:t>"/app/java-hello-world.jar"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]  </a:t>
            </a:r>
            <a:r>
              <a:rPr b="1" lang="en-US" sz="1600" spc="-1" strike="noStrike">
                <a:solidFill>
                  <a:srgbClr val="4617a1"/>
                </a:solidFill>
                <a:latin typeface="Courier New"/>
                <a:ea typeface="Courier New"/>
              </a:rPr>
              <a:t>EXPOSE 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8080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E2BFCBA-192C-4BBF-AFE4-7FC98A9E5240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3;p30"/>
          <p:cNvSpPr/>
          <p:nvPr/>
        </p:nvSpPr>
        <p:spPr>
          <a:xfrm>
            <a:off x="441720" y="1289880"/>
            <a:ext cx="683208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Provide name and tag of image + context directory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0718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Building the Container Image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282" name="Google Shape;285;p30"/>
          <p:cNvGrpSpPr/>
          <p:nvPr/>
        </p:nvGrpSpPr>
        <p:grpSpPr>
          <a:xfrm>
            <a:off x="446040" y="2137680"/>
            <a:ext cx="5178960" cy="2476800"/>
            <a:chOff x="446040" y="2137680"/>
            <a:chExt cx="5178960" cy="2476800"/>
          </a:xfrm>
        </p:grpSpPr>
        <p:sp>
          <p:nvSpPr>
            <p:cNvPr id="283" name="Google Shape;286;p30"/>
            <p:cNvSpPr/>
            <p:nvPr/>
          </p:nvSpPr>
          <p:spPr>
            <a:xfrm>
              <a:off x="446040" y="2137680"/>
              <a:ext cx="5178960" cy="24768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Google Shape;287;p30"/>
            <p:cNvSpPr/>
            <p:nvPr/>
          </p:nvSpPr>
          <p:spPr>
            <a:xfrm>
              <a:off x="499680" y="2185920"/>
              <a:ext cx="5064840" cy="2362680"/>
            </a:xfrm>
            <a:custGeom>
              <a:avLst/>
              <a:gdLst/>
              <a:ahLst/>
              <a:rect l="l" t="t" r="r" b="b"/>
              <a:pathLst>
                <a:path w="5067935" h="2366010">
                  <a:moveTo>
                    <a:pt x="5067889" y="2365795"/>
                  </a:moveTo>
                  <a:lnTo>
                    <a:pt x="0" y="2365795"/>
                  </a:lnTo>
                  <a:lnTo>
                    <a:pt x="0" y="0"/>
                  </a:lnTo>
                  <a:lnTo>
                    <a:pt x="5067889" y="0"/>
                  </a:lnTo>
                  <a:lnTo>
                    <a:pt x="5067889" y="2365795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85" name="Google Shape;288;p30"/>
          <p:cNvSpPr/>
          <p:nvPr/>
        </p:nvSpPr>
        <p:spPr>
          <a:xfrm>
            <a:off x="2523960" y="3910680"/>
            <a:ext cx="1358280" cy="22356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25920" bIns="0" anchor="t">
            <a:spAutoFit/>
          </a:bodyPr>
          <a:p>
            <a:pPr marL="658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3e9c22451a17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86" name="Google Shape;289;p30"/>
          <p:cNvSpPr/>
          <p:nvPr/>
        </p:nvSpPr>
        <p:spPr>
          <a:xfrm>
            <a:off x="499680" y="2185920"/>
            <a:ext cx="5064840" cy="21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8680" bIns="0" anchor="t">
            <a:spAutoFit/>
          </a:bodyPr>
          <a:p>
            <a:pPr marL="20844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docker build -t java-hello-world:1.0.0 .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Sending build context to Docker daemon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8.32MB  Step 1/5 : FROM openjdk:11-jre-slim</a:t>
            </a:r>
            <a:endParaRPr b="0" lang="fr-FR" sz="1300" spc="-1" strike="noStrike">
              <a:latin typeface="Arial"/>
            </a:endParaRPr>
          </a:p>
          <a:p>
            <a:pPr marL="307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---&gt; 973c18dbf567</a:t>
            </a:r>
            <a:endParaRPr b="0" lang="fr-FR" sz="1300" spc="-1" strike="noStrike">
              <a:latin typeface="Arial"/>
            </a:endParaRPr>
          </a:p>
          <a:p>
            <a:pPr marL="208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Step 2/5 : WORKDIR /app</a:t>
            </a:r>
            <a:endParaRPr b="0" lang="fr-FR" sz="1300" spc="-1" strike="noStrike">
              <a:latin typeface="Arial"/>
            </a:endParaRPr>
          </a:p>
          <a:p>
            <a:pPr marL="307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---&gt; Using cache</a:t>
            </a:r>
            <a:endParaRPr b="0" lang="fr-FR" sz="1300" spc="-1" strike="noStrike">
              <a:latin typeface="Arial"/>
            </a:endParaRPr>
          </a:p>
          <a:p>
            <a:pPr marL="307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---&gt; 31f9c5f2a019</a:t>
            </a:r>
            <a:endParaRPr b="0" lang="fr-FR" sz="1300" spc="-1" strike="noStrike">
              <a:latin typeface="Arial"/>
            </a:endParaRPr>
          </a:p>
          <a:p>
            <a:pPr marL="208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  <a:p>
            <a:pPr marL="208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Successfully built</a:t>
            </a:r>
            <a:endParaRPr b="0" lang="fr-FR" sz="1300" spc="-1" strike="noStrike">
              <a:latin typeface="Arial"/>
            </a:endParaRPr>
          </a:p>
          <a:p>
            <a:pPr marL="208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Successfully tagged java-hello-world:1.0.0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287" name="Google Shape;290;p30"/>
          <p:cNvGrpSpPr/>
          <p:nvPr/>
        </p:nvGrpSpPr>
        <p:grpSpPr>
          <a:xfrm>
            <a:off x="4098600" y="2349000"/>
            <a:ext cx="1758600" cy="1744920"/>
            <a:chOff x="4098600" y="2349000"/>
            <a:chExt cx="1758600" cy="1744920"/>
          </a:xfrm>
        </p:grpSpPr>
        <p:sp>
          <p:nvSpPr>
            <p:cNvPr id="288" name="Google Shape;291;p30"/>
            <p:cNvSpPr/>
            <p:nvPr/>
          </p:nvSpPr>
          <p:spPr>
            <a:xfrm>
              <a:off x="4194360" y="4056120"/>
              <a:ext cx="1662480" cy="360"/>
            </a:xfrm>
            <a:custGeom>
              <a:avLst/>
              <a:gdLst/>
              <a:ahLst/>
              <a:rect l="l" t="t" r="r" b="b"/>
              <a:pathLst>
                <a:path w="1665604" h="1904">
                  <a:moveTo>
                    <a:pt x="1664996" y="1699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Google Shape;292;p30"/>
            <p:cNvSpPr/>
            <p:nvPr/>
          </p:nvSpPr>
          <p:spPr>
            <a:xfrm>
              <a:off x="4098600" y="401508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0" name="Google Shape;293;p30"/>
            <p:cNvSpPr/>
            <p:nvPr/>
          </p:nvSpPr>
          <p:spPr>
            <a:xfrm>
              <a:off x="4708440" y="2349000"/>
              <a:ext cx="222120" cy="238680"/>
            </a:xfrm>
            <a:custGeom>
              <a:avLst/>
              <a:gdLst/>
              <a:ahLst/>
              <a:rect l="l" t="t" r="r" b="b"/>
              <a:pathLst>
                <a:path w="225425" h="241935">
                  <a:moveTo>
                    <a:pt x="0" y="0"/>
                  </a:moveTo>
                  <a:lnTo>
                    <a:pt x="225299" y="0"/>
                  </a:lnTo>
                  <a:lnTo>
                    <a:pt x="225299" y="241799"/>
                  </a:lnTo>
                  <a:lnTo>
                    <a:pt x="0" y="2417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25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1" name="Google Shape;294;p30"/>
            <p:cNvSpPr/>
            <p:nvPr/>
          </p:nvSpPr>
          <p:spPr>
            <a:xfrm>
              <a:off x="5184000" y="2440080"/>
              <a:ext cx="673200" cy="360"/>
            </a:xfrm>
            <a:custGeom>
              <a:avLst/>
              <a:gdLst/>
              <a:ahLst/>
              <a:rect l="l" t="t" r="r" b="b"/>
              <a:pathLst>
                <a:path w="676275" h="120000">
                  <a:moveTo>
                    <a:pt x="6761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Google Shape;295;p30"/>
            <p:cNvSpPr/>
            <p:nvPr/>
          </p:nvSpPr>
          <p:spPr>
            <a:xfrm>
              <a:off x="5088240" y="239904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3" name="Google Shape;296;p30"/>
          <p:cNvSpPr/>
          <p:nvPr/>
        </p:nvSpPr>
        <p:spPr>
          <a:xfrm>
            <a:off x="6006600" y="3922560"/>
            <a:ext cx="15613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Container Image ID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94" name="Google Shape;297;p30"/>
          <p:cNvSpPr/>
          <p:nvPr/>
        </p:nvSpPr>
        <p:spPr>
          <a:xfrm>
            <a:off x="6004080" y="2303280"/>
            <a:ext cx="136584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Context directory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B861431-CD5B-4256-A453-EDBB63B1B7C9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302;p31"/>
          <p:cNvSpPr/>
          <p:nvPr/>
        </p:nvSpPr>
        <p:spPr>
          <a:xfrm>
            <a:off x="441720" y="1289880"/>
            <a:ext cx="70027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Render all local images including their name + hash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0800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Listing Container Images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297" name="Google Shape;304;p31"/>
          <p:cNvGrpSpPr/>
          <p:nvPr/>
        </p:nvGrpSpPr>
        <p:grpSpPr>
          <a:xfrm>
            <a:off x="446040" y="2137680"/>
            <a:ext cx="7877520" cy="1306080"/>
            <a:chOff x="446040" y="2137680"/>
            <a:chExt cx="7877520" cy="1306080"/>
          </a:xfrm>
        </p:grpSpPr>
        <p:sp>
          <p:nvSpPr>
            <p:cNvPr id="298" name="Google Shape;305;p31"/>
            <p:cNvSpPr/>
            <p:nvPr/>
          </p:nvSpPr>
          <p:spPr>
            <a:xfrm>
              <a:off x="446040" y="2137680"/>
              <a:ext cx="7877520" cy="13060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9" name="Google Shape;306;p31"/>
            <p:cNvSpPr/>
            <p:nvPr/>
          </p:nvSpPr>
          <p:spPr>
            <a:xfrm>
              <a:off x="499680" y="2185920"/>
              <a:ext cx="7763400" cy="1192320"/>
            </a:xfrm>
            <a:custGeom>
              <a:avLst/>
              <a:gdLst/>
              <a:ahLst/>
              <a:rect l="l" t="t" r="r" b="b"/>
              <a:pathLst>
                <a:path w="7766684" h="1195704">
                  <a:moveTo>
                    <a:pt x="7766384" y="1195197"/>
                  </a:moveTo>
                  <a:lnTo>
                    <a:pt x="0" y="1195197"/>
                  </a:lnTo>
                  <a:lnTo>
                    <a:pt x="0" y="0"/>
                  </a:lnTo>
                  <a:lnTo>
                    <a:pt x="7766384" y="0"/>
                  </a:lnTo>
                  <a:lnTo>
                    <a:pt x="7766384" y="1195197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0" name="Google Shape;307;p31"/>
          <p:cNvSpPr/>
          <p:nvPr/>
        </p:nvSpPr>
        <p:spPr>
          <a:xfrm>
            <a:off x="695520" y="2324160"/>
            <a:ext cx="16070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docker images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REPOSITORY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java-hello-world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01" name="Google Shape;308;p31"/>
          <p:cNvSpPr/>
          <p:nvPr/>
        </p:nvSpPr>
        <p:spPr>
          <a:xfrm>
            <a:off x="2577600" y="2523960"/>
            <a:ext cx="5173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TAG  1.0.0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02" name="Google Shape;309;p31"/>
          <p:cNvSpPr/>
          <p:nvPr/>
        </p:nvSpPr>
        <p:spPr>
          <a:xfrm>
            <a:off x="695520" y="2923920"/>
            <a:ext cx="715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openjdk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03" name="Google Shape;310;p31"/>
          <p:cNvSpPr/>
          <p:nvPr/>
        </p:nvSpPr>
        <p:spPr>
          <a:xfrm>
            <a:off x="2577600" y="2923920"/>
            <a:ext cx="1111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11-jre-slim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04" name="Google Shape;311;p31"/>
          <p:cNvSpPr/>
          <p:nvPr/>
        </p:nvSpPr>
        <p:spPr>
          <a:xfrm>
            <a:off x="3964320" y="2523960"/>
            <a:ext cx="12110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IMAGE ID  3e9c22451a17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973c18dbf567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05" name="Google Shape;312;p31"/>
          <p:cNvSpPr/>
          <p:nvPr/>
        </p:nvSpPr>
        <p:spPr>
          <a:xfrm>
            <a:off x="5450040" y="2523960"/>
            <a:ext cx="180540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CREATED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About a minute ago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20 hours ago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06" name="Google Shape;313;p31"/>
          <p:cNvSpPr/>
          <p:nvPr/>
        </p:nvSpPr>
        <p:spPr>
          <a:xfrm>
            <a:off x="7529760" y="2523960"/>
            <a:ext cx="5180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SIZE  213MB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204MB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307" name="Google Shape;314;p31"/>
          <p:cNvGrpSpPr/>
          <p:nvPr/>
        </p:nvGrpSpPr>
        <p:grpSpPr>
          <a:xfrm>
            <a:off x="666360" y="2935440"/>
            <a:ext cx="3110040" cy="1182240"/>
            <a:chOff x="666360" y="2935440"/>
            <a:chExt cx="3110040" cy="1182240"/>
          </a:xfrm>
        </p:grpSpPr>
        <p:sp>
          <p:nvSpPr>
            <p:cNvPr id="308" name="Google Shape;315;p31"/>
            <p:cNvSpPr/>
            <p:nvPr/>
          </p:nvSpPr>
          <p:spPr>
            <a:xfrm>
              <a:off x="666360" y="2935440"/>
              <a:ext cx="3110040" cy="264240"/>
            </a:xfrm>
            <a:custGeom>
              <a:avLst/>
              <a:gdLst/>
              <a:ahLst/>
              <a:rect l="l" t="t" r="r" b="b"/>
              <a:pathLst>
                <a:path w="3113404" h="267335">
                  <a:moveTo>
                    <a:pt x="0" y="0"/>
                  </a:moveTo>
                  <a:lnTo>
                    <a:pt x="3113096" y="0"/>
                  </a:lnTo>
                  <a:lnTo>
                    <a:pt x="3113096" y="266999"/>
                  </a:lnTo>
                  <a:lnTo>
                    <a:pt x="0" y="2669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25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9" name="Google Shape;316;p31"/>
            <p:cNvSpPr/>
            <p:nvPr/>
          </p:nvSpPr>
          <p:spPr>
            <a:xfrm>
              <a:off x="2137320" y="3414240"/>
              <a:ext cx="1356840" cy="703440"/>
            </a:xfrm>
            <a:custGeom>
              <a:avLst/>
              <a:gdLst/>
              <a:ahLst/>
              <a:rect l="l" t="t" r="r" b="b"/>
              <a:pathLst>
                <a:path w="1360170" h="706754">
                  <a:moveTo>
                    <a:pt x="1359947" y="706423"/>
                  </a:moveTo>
                  <a:lnTo>
                    <a:pt x="0" y="706423"/>
                  </a:ln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0" name="Google Shape;317;p31"/>
            <p:cNvSpPr/>
            <p:nvPr/>
          </p:nvSpPr>
          <p:spPr>
            <a:xfrm>
              <a:off x="2096280" y="3318480"/>
              <a:ext cx="78480" cy="1040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1" name="Google Shape;318;p31"/>
          <p:cNvSpPr/>
          <p:nvPr/>
        </p:nvSpPr>
        <p:spPr>
          <a:xfrm>
            <a:off x="3638520" y="3883320"/>
            <a:ext cx="2067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Base image is  downloaded automatically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454CD44-AAD7-44C4-8033-9596548A1C47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23;p32"/>
          <p:cNvSpPr/>
          <p:nvPr/>
        </p:nvSpPr>
        <p:spPr>
          <a:xfrm>
            <a:off x="441720" y="1289880"/>
            <a:ext cx="64058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You can interact with container once its running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8273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Operating the Container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314" name="Google Shape;325;p32"/>
          <p:cNvGrpSpPr/>
          <p:nvPr/>
        </p:nvGrpSpPr>
        <p:grpSpPr>
          <a:xfrm>
            <a:off x="446040" y="2137680"/>
            <a:ext cx="5934960" cy="2549880"/>
            <a:chOff x="446040" y="2137680"/>
            <a:chExt cx="5934960" cy="2549880"/>
          </a:xfrm>
        </p:grpSpPr>
        <p:sp>
          <p:nvSpPr>
            <p:cNvPr id="315" name="Google Shape;326;p32"/>
            <p:cNvSpPr/>
            <p:nvPr/>
          </p:nvSpPr>
          <p:spPr>
            <a:xfrm>
              <a:off x="446040" y="2137680"/>
              <a:ext cx="5934960" cy="25498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6" name="Google Shape;327;p32"/>
            <p:cNvSpPr/>
            <p:nvPr/>
          </p:nvSpPr>
          <p:spPr>
            <a:xfrm>
              <a:off x="499680" y="2185920"/>
              <a:ext cx="5820840" cy="2435760"/>
            </a:xfrm>
            <a:custGeom>
              <a:avLst/>
              <a:gdLst/>
              <a:ahLst/>
              <a:rect l="l" t="t" r="r" b="b"/>
              <a:pathLst>
                <a:path w="5824220" h="2439035">
                  <a:moveTo>
                    <a:pt x="5823888" y="2438695"/>
                  </a:moveTo>
                  <a:lnTo>
                    <a:pt x="0" y="2438695"/>
                  </a:lnTo>
                  <a:lnTo>
                    <a:pt x="0" y="0"/>
                  </a:lnTo>
                  <a:lnTo>
                    <a:pt x="5823888" y="0"/>
                  </a:lnTo>
                  <a:lnTo>
                    <a:pt x="5823888" y="2438695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7" name="Google Shape;328;p32"/>
          <p:cNvSpPr/>
          <p:nvPr/>
        </p:nvSpPr>
        <p:spPr>
          <a:xfrm>
            <a:off x="619560" y="2171160"/>
            <a:ext cx="5566680" cy="24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docker run -d -p 8080:8080 java-hello-world:1.0.0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b0ee04accf078ea7c...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spcBef>
                <a:spcPts val="6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docker logs b0ee04accf078ea7c...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Hello World!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docker exec -it b0ee04accf078ea7c... bash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root@b0ee04accf078ea7c:/# pwd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/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root@b0ee04accf078ea7c:/# exit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9B9079A-82C5-49F2-BB8B-408F44766CF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33;p33"/>
          <p:cNvSpPr/>
          <p:nvPr/>
        </p:nvSpPr>
        <p:spPr>
          <a:xfrm>
            <a:off x="441720" y="1289880"/>
            <a:ext cx="702108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Name + tag need to conform to registry conventions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9778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Tagging the Container Image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320" name="Google Shape;335;p33"/>
          <p:cNvGrpSpPr/>
          <p:nvPr/>
        </p:nvGrpSpPr>
        <p:grpSpPr>
          <a:xfrm>
            <a:off x="446040" y="2137680"/>
            <a:ext cx="7655760" cy="1907640"/>
            <a:chOff x="446040" y="2137680"/>
            <a:chExt cx="7655760" cy="1907640"/>
          </a:xfrm>
        </p:grpSpPr>
        <p:sp>
          <p:nvSpPr>
            <p:cNvPr id="321" name="Google Shape;336;p33"/>
            <p:cNvSpPr/>
            <p:nvPr/>
          </p:nvSpPr>
          <p:spPr>
            <a:xfrm>
              <a:off x="446040" y="2137680"/>
              <a:ext cx="7655760" cy="19076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2" name="Google Shape;337;p33"/>
            <p:cNvSpPr/>
            <p:nvPr/>
          </p:nvSpPr>
          <p:spPr>
            <a:xfrm>
              <a:off x="499680" y="2185920"/>
              <a:ext cx="7542000" cy="1793880"/>
            </a:xfrm>
            <a:custGeom>
              <a:avLst/>
              <a:gdLst/>
              <a:ahLst/>
              <a:rect l="l" t="t" r="r" b="b"/>
              <a:pathLst>
                <a:path w="7545070" h="1797050">
                  <a:moveTo>
                    <a:pt x="7544684" y="1796696"/>
                  </a:moveTo>
                  <a:lnTo>
                    <a:pt x="0" y="1796696"/>
                  </a:lnTo>
                  <a:lnTo>
                    <a:pt x="0" y="0"/>
                  </a:lnTo>
                  <a:lnTo>
                    <a:pt x="7544684" y="0"/>
                  </a:lnTo>
                  <a:lnTo>
                    <a:pt x="7544684" y="1796696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3" name="Google Shape;338;p33"/>
          <p:cNvSpPr/>
          <p:nvPr/>
        </p:nvSpPr>
        <p:spPr>
          <a:xfrm>
            <a:off x="708120" y="2323440"/>
            <a:ext cx="71571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docker tag java-hello-world:1.0.0 bmuschko/java-hello-world:1.0.0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24" name="Google Shape;339;p33"/>
          <p:cNvSpPr/>
          <p:nvPr/>
        </p:nvSpPr>
        <p:spPr>
          <a:xfrm>
            <a:off x="708120" y="2743200"/>
            <a:ext cx="159444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docker images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REPOSITORY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java-hello-world  openjdk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25" name="Google Shape;340;p33"/>
          <p:cNvSpPr/>
          <p:nvPr/>
        </p:nvSpPr>
        <p:spPr>
          <a:xfrm>
            <a:off x="3481560" y="2943000"/>
            <a:ext cx="10990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TAG  1.0.0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11-jre-slim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26" name="Google Shape;341;p33"/>
          <p:cNvSpPr/>
          <p:nvPr/>
        </p:nvSpPr>
        <p:spPr>
          <a:xfrm>
            <a:off x="642240" y="3544920"/>
            <a:ext cx="3403080" cy="20844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658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bmuschko/java-hello-world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1.0.0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27" name="Google Shape;342;p33"/>
          <p:cNvSpPr/>
          <p:nvPr/>
        </p:nvSpPr>
        <p:spPr>
          <a:xfrm>
            <a:off x="4868280" y="2943000"/>
            <a:ext cx="1793160" cy="14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IMAGE ID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 3e9c22451a17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973c18dbf567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3e9c22451a17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28" name="Google Shape;343;p33"/>
          <p:cNvSpPr/>
          <p:nvPr/>
        </p:nvSpPr>
        <p:spPr>
          <a:xfrm>
            <a:off x="3185640" y="4403520"/>
            <a:ext cx="113904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Tagged image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329" name="Google Shape;344;p33"/>
          <p:cNvGrpSpPr/>
          <p:nvPr/>
        </p:nvGrpSpPr>
        <p:grpSpPr>
          <a:xfrm>
            <a:off x="2161800" y="3952080"/>
            <a:ext cx="907920" cy="580680"/>
            <a:chOff x="2161800" y="3952080"/>
            <a:chExt cx="907920" cy="580680"/>
          </a:xfrm>
        </p:grpSpPr>
        <p:sp>
          <p:nvSpPr>
            <p:cNvPr id="330" name="Google Shape;345;p33"/>
            <p:cNvSpPr/>
            <p:nvPr/>
          </p:nvSpPr>
          <p:spPr>
            <a:xfrm>
              <a:off x="2202840" y="4048200"/>
              <a:ext cx="866880" cy="484560"/>
            </a:xfrm>
            <a:custGeom>
              <a:avLst/>
              <a:gdLst/>
              <a:ahLst/>
              <a:rect l="l" t="t" r="r" b="b"/>
              <a:pathLst>
                <a:path w="869950" h="487679">
                  <a:moveTo>
                    <a:pt x="869670" y="487199"/>
                  </a:moveTo>
                  <a:lnTo>
                    <a:pt x="0" y="487199"/>
                  </a:ln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Google Shape;346;p33"/>
            <p:cNvSpPr/>
            <p:nvPr/>
          </p:nvSpPr>
          <p:spPr>
            <a:xfrm>
              <a:off x="2161800" y="3952080"/>
              <a:ext cx="78840" cy="1022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D50B8F-21D2-4A0C-BADE-3414C90F41CA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51;p34"/>
          <p:cNvSpPr/>
          <p:nvPr/>
        </p:nvSpPr>
        <p:spPr>
          <a:xfrm>
            <a:off x="441720" y="1289880"/>
            <a:ext cx="551808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Authenticate with registry and push a tag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9524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Publishing the Container Image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334" name="Google Shape;353;p34"/>
          <p:cNvGrpSpPr/>
          <p:nvPr/>
        </p:nvGrpSpPr>
        <p:grpSpPr>
          <a:xfrm>
            <a:off x="446040" y="2137680"/>
            <a:ext cx="5276520" cy="1159920"/>
            <a:chOff x="446040" y="2137680"/>
            <a:chExt cx="5276520" cy="1159920"/>
          </a:xfrm>
        </p:grpSpPr>
        <p:sp>
          <p:nvSpPr>
            <p:cNvPr id="335" name="Google Shape;354;p34"/>
            <p:cNvSpPr/>
            <p:nvPr/>
          </p:nvSpPr>
          <p:spPr>
            <a:xfrm>
              <a:off x="446040" y="2137680"/>
              <a:ext cx="5276520" cy="115992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" name="Google Shape;355;p34"/>
            <p:cNvSpPr/>
            <p:nvPr/>
          </p:nvSpPr>
          <p:spPr>
            <a:xfrm>
              <a:off x="499680" y="2185920"/>
              <a:ext cx="5162400" cy="1045800"/>
            </a:xfrm>
            <a:custGeom>
              <a:avLst/>
              <a:gdLst/>
              <a:ahLst/>
              <a:rect l="l" t="t" r="r" b="b"/>
              <a:pathLst>
                <a:path w="5165725" h="1049020">
                  <a:moveTo>
                    <a:pt x="5165389" y="1048797"/>
                  </a:moveTo>
                  <a:lnTo>
                    <a:pt x="0" y="1048797"/>
                  </a:lnTo>
                  <a:lnTo>
                    <a:pt x="0" y="0"/>
                  </a:lnTo>
                  <a:lnTo>
                    <a:pt x="5165389" y="0"/>
                  </a:lnTo>
                  <a:lnTo>
                    <a:pt x="5165389" y="1048797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37" name="Google Shape;356;p34"/>
          <p:cNvSpPr/>
          <p:nvPr/>
        </p:nvSpPr>
        <p:spPr>
          <a:xfrm>
            <a:off x="695520" y="2323440"/>
            <a:ext cx="482292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docker login --username=bmuschko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docker push bmuschko/java-hello-world:1.0.0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338" name="Google Shape;357;p34"/>
          <p:cNvGrpSpPr/>
          <p:nvPr/>
        </p:nvGrpSpPr>
        <p:grpSpPr>
          <a:xfrm>
            <a:off x="3733200" y="3113280"/>
            <a:ext cx="4454640" cy="1774800"/>
            <a:chOff x="3733200" y="3113280"/>
            <a:chExt cx="4454640" cy="1774800"/>
          </a:xfrm>
        </p:grpSpPr>
        <p:sp>
          <p:nvSpPr>
            <p:cNvPr id="339" name="Google Shape;358;p34"/>
            <p:cNvSpPr/>
            <p:nvPr/>
          </p:nvSpPr>
          <p:spPr>
            <a:xfrm>
              <a:off x="4856760" y="3160800"/>
              <a:ext cx="3331080" cy="172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" name="Google Shape;359;p34"/>
            <p:cNvSpPr/>
            <p:nvPr/>
          </p:nvSpPr>
          <p:spPr>
            <a:xfrm>
              <a:off x="4914000" y="3198960"/>
              <a:ext cx="3216600" cy="161316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" name="Google Shape;360;p34"/>
            <p:cNvSpPr/>
            <p:nvPr/>
          </p:nvSpPr>
          <p:spPr>
            <a:xfrm>
              <a:off x="3733200" y="3113280"/>
              <a:ext cx="915120" cy="1069920"/>
            </a:xfrm>
            <a:custGeom>
              <a:avLst/>
              <a:gdLst/>
              <a:ahLst/>
              <a:rect l="l" t="t" r="r" b="b"/>
              <a:pathLst>
                <a:path w="918210" h="1073150">
                  <a:moveTo>
                    <a:pt x="917998" y="1072797"/>
                  </a:moveTo>
                  <a:lnTo>
                    <a:pt x="0" y="1072797"/>
                  </a:ln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2" name="Google Shape;361;p34"/>
            <p:cNvSpPr/>
            <p:nvPr/>
          </p:nvSpPr>
          <p:spPr>
            <a:xfrm>
              <a:off x="4641840" y="4145040"/>
              <a:ext cx="102240" cy="788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37FDD75-62C0-473F-BC7C-73C087165D76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66;p35"/>
          <p:cNvSpPr/>
          <p:nvPr/>
        </p:nvSpPr>
        <p:spPr>
          <a:xfrm>
            <a:off x="441720" y="1290600"/>
            <a:ext cx="76554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300" spc="-1" strike="noStrike">
                <a:solidFill>
                  <a:srgbClr val="595959"/>
                </a:solidFill>
                <a:latin typeface="Arial"/>
                <a:ea typeface="Arial"/>
              </a:rPr>
              <a:t>Produces a backup TAR archive file with all parent layers</a:t>
            </a:r>
            <a:endParaRPr b="0" lang="fr-FR" sz="2300" spc="-1" strike="noStrike">
              <a:latin typeface="Arial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2215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Saving a Container Image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45" name="Google Shape;369;p35"/>
          <p:cNvSpPr/>
          <p:nvPr/>
        </p:nvSpPr>
        <p:spPr>
          <a:xfrm>
            <a:off x="499680" y="2185920"/>
            <a:ext cx="6858720" cy="10825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9760" bIns="0" anchor="t">
            <a:spAutoFit/>
          </a:bodyPr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docker save -o java-hello-world.tar java-hello-world:1.0.0</a:t>
            </a:r>
            <a:endParaRPr b="0" lang="fr-FR" sz="1400" spc="-1" strike="noStrike">
              <a:latin typeface="Arial"/>
            </a:endParaRPr>
          </a:p>
          <a:p>
            <a:pPr marL="20844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2084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ls</a:t>
            </a:r>
            <a:endParaRPr b="0" lang="fr-FR" sz="1400" spc="-1" strike="noStrike">
              <a:latin typeface="Arial"/>
            </a:endParaRPr>
          </a:p>
          <a:p>
            <a:pPr marL="20844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java-hello-world.tar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346" name="Google Shape;370;p35"/>
          <p:cNvGrpSpPr/>
          <p:nvPr/>
        </p:nvGrpSpPr>
        <p:grpSpPr>
          <a:xfrm>
            <a:off x="2094840" y="3819240"/>
            <a:ext cx="808200" cy="1061280"/>
            <a:chOff x="2094840" y="3819240"/>
            <a:chExt cx="808200" cy="1061280"/>
          </a:xfrm>
        </p:grpSpPr>
        <p:sp>
          <p:nvSpPr>
            <p:cNvPr id="347" name="Google Shape;371;p35"/>
            <p:cNvSpPr/>
            <p:nvPr/>
          </p:nvSpPr>
          <p:spPr>
            <a:xfrm>
              <a:off x="2094840" y="3819240"/>
              <a:ext cx="808200" cy="10612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8" name="Google Shape;372;p35"/>
            <p:cNvSpPr/>
            <p:nvPr/>
          </p:nvSpPr>
          <p:spPr>
            <a:xfrm>
              <a:off x="2152080" y="3857400"/>
              <a:ext cx="693720" cy="94716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49" name="Google Shape;373;p35"/>
          <p:cNvGrpSpPr/>
          <p:nvPr/>
        </p:nvGrpSpPr>
        <p:grpSpPr>
          <a:xfrm>
            <a:off x="3153960" y="4031640"/>
            <a:ext cx="1099080" cy="78840"/>
            <a:chOff x="3153960" y="4031640"/>
            <a:chExt cx="1099080" cy="78840"/>
          </a:xfrm>
        </p:grpSpPr>
        <p:sp>
          <p:nvSpPr>
            <p:cNvPr id="350" name="Google Shape;374;p35"/>
            <p:cNvSpPr/>
            <p:nvPr/>
          </p:nvSpPr>
          <p:spPr>
            <a:xfrm>
              <a:off x="3249720" y="4072680"/>
              <a:ext cx="1003320" cy="360"/>
            </a:xfrm>
            <a:custGeom>
              <a:avLst/>
              <a:gdLst/>
              <a:ahLst/>
              <a:rect l="l" t="t" r="r" b="b"/>
              <a:pathLst>
                <a:path w="1006475" h="120000">
                  <a:moveTo>
                    <a:pt x="1006172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1" name="Google Shape;375;p35"/>
            <p:cNvSpPr/>
            <p:nvPr/>
          </p:nvSpPr>
          <p:spPr>
            <a:xfrm>
              <a:off x="3153960" y="403164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52" name="Google Shape;376;p35"/>
          <p:cNvSpPr/>
          <p:nvPr/>
        </p:nvSpPr>
        <p:spPr>
          <a:xfrm>
            <a:off x="4345560" y="3923280"/>
            <a:ext cx="236916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openjdk:11-jre-slim</a:t>
            </a:r>
            <a:endParaRPr b="0" lang="fr-FR" sz="1400" spc="-1" strike="noStrike">
              <a:latin typeface="Arial"/>
            </a:endParaRPr>
          </a:p>
          <a:p>
            <a:pPr marL="21600">
              <a:lnSpc>
                <a:spcPct val="100000"/>
              </a:lnSpc>
              <a:spcBef>
                <a:spcPts val="51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java-hello-world:1.0.0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353" name="Google Shape;377;p35"/>
          <p:cNvGrpSpPr/>
          <p:nvPr/>
        </p:nvGrpSpPr>
        <p:grpSpPr>
          <a:xfrm>
            <a:off x="3153960" y="4546800"/>
            <a:ext cx="1099080" cy="78840"/>
            <a:chOff x="3153960" y="4546800"/>
            <a:chExt cx="1099080" cy="78840"/>
          </a:xfrm>
        </p:grpSpPr>
        <p:sp>
          <p:nvSpPr>
            <p:cNvPr id="354" name="Google Shape;378;p35"/>
            <p:cNvSpPr/>
            <p:nvPr/>
          </p:nvSpPr>
          <p:spPr>
            <a:xfrm>
              <a:off x="3249720" y="4587840"/>
              <a:ext cx="1003320" cy="360"/>
            </a:xfrm>
            <a:custGeom>
              <a:avLst/>
              <a:gdLst/>
              <a:ahLst/>
              <a:rect l="l" t="t" r="r" b="b"/>
              <a:pathLst>
                <a:path w="1006475" h="120000">
                  <a:moveTo>
                    <a:pt x="1006172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Google Shape;379;p35"/>
            <p:cNvSpPr/>
            <p:nvPr/>
          </p:nvSpPr>
          <p:spPr>
            <a:xfrm>
              <a:off x="3153960" y="4546800"/>
              <a:ext cx="102240" cy="788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AAB43F0-BCC1-4BBB-8439-151DDE9C66A3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84;p36"/>
          <p:cNvSpPr/>
          <p:nvPr/>
        </p:nvSpPr>
        <p:spPr>
          <a:xfrm>
            <a:off x="441720" y="1290600"/>
            <a:ext cx="53154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300" spc="-1" strike="noStrike">
                <a:solidFill>
                  <a:srgbClr val="595959"/>
                </a:solidFill>
                <a:latin typeface="Arial"/>
                <a:ea typeface="Arial"/>
              </a:rPr>
              <a:t>Restores image from TAR archive file</a:t>
            </a:r>
            <a:endParaRPr b="0" lang="fr-FR" sz="2300" spc="-1" strike="noStrike">
              <a:latin typeface="Arial"/>
            </a:endParaRPr>
          </a:p>
        </p:txBody>
      </p:sp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5314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Loading a Container Image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358" name="Google Shape;386;p36"/>
          <p:cNvGrpSpPr/>
          <p:nvPr/>
        </p:nvGrpSpPr>
        <p:grpSpPr>
          <a:xfrm>
            <a:off x="446040" y="2137680"/>
            <a:ext cx="6931080" cy="1939680"/>
            <a:chOff x="446040" y="2137680"/>
            <a:chExt cx="6931080" cy="1939680"/>
          </a:xfrm>
        </p:grpSpPr>
        <p:sp>
          <p:nvSpPr>
            <p:cNvPr id="359" name="Google Shape;387;p36"/>
            <p:cNvSpPr/>
            <p:nvPr/>
          </p:nvSpPr>
          <p:spPr>
            <a:xfrm>
              <a:off x="446040" y="2137680"/>
              <a:ext cx="6931080" cy="19396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0" name="Google Shape;388;p36"/>
            <p:cNvSpPr/>
            <p:nvPr/>
          </p:nvSpPr>
          <p:spPr>
            <a:xfrm>
              <a:off x="502920" y="2185920"/>
              <a:ext cx="6810120" cy="1825560"/>
            </a:xfrm>
            <a:custGeom>
              <a:avLst/>
              <a:gdLst/>
              <a:ahLst/>
              <a:rect l="l" t="t" r="r" b="b"/>
              <a:pathLst>
                <a:path w="6410959" h="1828800">
                  <a:moveTo>
                    <a:pt x="6410687" y="1828796"/>
                  </a:moveTo>
                  <a:lnTo>
                    <a:pt x="0" y="1828796"/>
                  </a:lnTo>
                  <a:lnTo>
                    <a:pt x="0" y="0"/>
                  </a:lnTo>
                  <a:lnTo>
                    <a:pt x="6410687" y="0"/>
                  </a:lnTo>
                  <a:lnTo>
                    <a:pt x="6410687" y="1828796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61" name="Google Shape;389;p36"/>
          <p:cNvSpPr/>
          <p:nvPr/>
        </p:nvSpPr>
        <p:spPr>
          <a:xfrm>
            <a:off x="708120" y="2323440"/>
            <a:ext cx="448992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docker load --input java-hello-world.tar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Loaded image: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java-hello-world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: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1.0.0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62" name="Google Shape;390;p36"/>
          <p:cNvSpPr/>
          <p:nvPr/>
        </p:nvSpPr>
        <p:spPr>
          <a:xfrm>
            <a:off x="708120" y="2952000"/>
            <a:ext cx="160956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docker images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REPOSITORY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java-hello-world  openjdk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63" name="Google Shape;391;p36"/>
          <p:cNvSpPr/>
          <p:nvPr/>
        </p:nvSpPr>
        <p:spPr>
          <a:xfrm>
            <a:off x="3481560" y="3162240"/>
            <a:ext cx="10990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TAG  1.0.0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11-jre-slim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64" name="Google Shape;392;p36"/>
          <p:cNvSpPr/>
          <p:nvPr/>
        </p:nvSpPr>
        <p:spPr>
          <a:xfrm>
            <a:off x="4868640" y="3162240"/>
            <a:ext cx="214848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IMAGE ID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3e9c22451a17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973c18dbf567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467BCB5-358B-4D65-81D2-BB17D5A99EE6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object 11"/>
          <p:cNvSpPr/>
          <p:nvPr/>
        </p:nvSpPr>
        <p:spPr>
          <a:xfrm>
            <a:off x="2945880" y="2061720"/>
            <a:ext cx="3708000" cy="9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0200" indent="-32832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Containerize an application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366" name="object 30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01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DD695E-7A6F-4B61-A1BB-55BDF6A3179D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97;p38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45040" y="848520"/>
            <a:ext cx="8050680" cy="1392480"/>
          </a:xfrm>
          <a:prstGeom prst="rect">
            <a:avLst/>
          </a:prstGeom>
          <a:noFill/>
          <a:ln w="0">
            <a:noFill/>
          </a:ln>
        </p:spPr>
        <p:txBody>
          <a:bodyPr lIns="0" rIns="0" tIns="78840" bIns="0" anchor="t">
            <a:noAutofit/>
          </a:bodyPr>
          <a:p>
            <a:pPr marL="12600"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Pod and Namespace  Management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69" name="Google Shape;399;p38"/>
          <p:cNvSpPr/>
          <p:nvPr/>
        </p:nvSpPr>
        <p:spPr>
          <a:xfrm>
            <a:off x="545040" y="2375640"/>
            <a:ext cx="657648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Typical Operations and  Configuration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4990450-C44F-4E6D-BD78-A1DFCF192186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431;p43"/>
          <p:cNvSpPr/>
          <p:nvPr/>
        </p:nvSpPr>
        <p:spPr>
          <a:xfrm>
            <a:off x="441720" y="1289880"/>
            <a:ext cx="71982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Fast but requires detailed knowledge, no track record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83343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Imperative Object Management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372" name="Google Shape;433;p43"/>
          <p:cNvGrpSpPr/>
          <p:nvPr/>
        </p:nvGrpSpPr>
        <p:grpSpPr>
          <a:xfrm>
            <a:off x="446040" y="2137680"/>
            <a:ext cx="5080320" cy="2237760"/>
            <a:chOff x="446040" y="2137680"/>
            <a:chExt cx="5080320" cy="2237760"/>
          </a:xfrm>
        </p:grpSpPr>
        <p:sp>
          <p:nvSpPr>
            <p:cNvPr id="373" name="Google Shape;434;p43"/>
            <p:cNvSpPr/>
            <p:nvPr/>
          </p:nvSpPr>
          <p:spPr>
            <a:xfrm>
              <a:off x="446040" y="2137680"/>
              <a:ext cx="5080320" cy="22377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4" name="Google Shape;435;p43"/>
            <p:cNvSpPr/>
            <p:nvPr/>
          </p:nvSpPr>
          <p:spPr>
            <a:xfrm>
              <a:off x="499680" y="2185920"/>
              <a:ext cx="4966200" cy="2124000"/>
            </a:xfrm>
            <a:custGeom>
              <a:avLst/>
              <a:gdLst/>
              <a:ahLst/>
              <a:rect l="l" t="t" r="r" b="b"/>
              <a:pathLst>
                <a:path w="4969510" h="2127250">
                  <a:moveTo>
                    <a:pt x="4969189" y="2126695"/>
                  </a:moveTo>
                  <a:lnTo>
                    <a:pt x="0" y="2126695"/>
                  </a:lnTo>
                  <a:lnTo>
                    <a:pt x="0" y="0"/>
                  </a:lnTo>
                  <a:lnTo>
                    <a:pt x="4969189" y="0"/>
                  </a:lnTo>
                  <a:lnTo>
                    <a:pt x="4969189" y="2126695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75" name="Google Shape;436;p43"/>
          <p:cNvSpPr/>
          <p:nvPr/>
        </p:nvSpPr>
        <p:spPr>
          <a:xfrm>
            <a:off x="752400" y="2364120"/>
            <a:ext cx="3329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namespace ckad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76" name="Google Shape;437;p43"/>
          <p:cNvSpPr/>
          <p:nvPr/>
        </p:nvSpPr>
        <p:spPr>
          <a:xfrm>
            <a:off x="752400" y="2573640"/>
            <a:ext cx="23691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namespace/ckad created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77" name="Google Shape;438;p43"/>
          <p:cNvSpPr/>
          <p:nvPr/>
        </p:nvSpPr>
        <p:spPr>
          <a:xfrm>
            <a:off x="752400" y="2993040"/>
            <a:ext cx="43959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run nginx --image=nginx -n ckad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pod/nginx created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78" name="Google Shape;439;p43"/>
          <p:cNvSpPr/>
          <p:nvPr/>
        </p:nvSpPr>
        <p:spPr>
          <a:xfrm>
            <a:off x="752400" y="3621600"/>
            <a:ext cx="343584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edit pod nginx -n ckad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79" name="Google Shape;440;p43"/>
          <p:cNvSpPr/>
          <p:nvPr/>
        </p:nvSpPr>
        <p:spPr>
          <a:xfrm>
            <a:off x="752400" y="3831120"/>
            <a:ext cx="17290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pod/nginx edited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380" name="Google Shape;441;p43"/>
          <p:cNvGrpSpPr/>
          <p:nvPr/>
        </p:nvGrpSpPr>
        <p:grpSpPr>
          <a:xfrm>
            <a:off x="4342320" y="2478960"/>
            <a:ext cx="2094480" cy="1328400"/>
            <a:chOff x="4342320" y="2478960"/>
            <a:chExt cx="2094480" cy="1328400"/>
          </a:xfrm>
        </p:grpSpPr>
        <p:sp>
          <p:nvSpPr>
            <p:cNvPr id="381" name="Google Shape;442;p43"/>
            <p:cNvSpPr/>
            <p:nvPr/>
          </p:nvSpPr>
          <p:spPr>
            <a:xfrm>
              <a:off x="4438440" y="2520000"/>
              <a:ext cx="1998360" cy="360"/>
            </a:xfrm>
            <a:custGeom>
              <a:avLst/>
              <a:gdLst/>
              <a:ahLst/>
              <a:rect l="l" t="t" r="r" b="b"/>
              <a:pathLst>
                <a:path w="2001520" h="1269">
                  <a:moveTo>
                    <a:pt x="2000995" y="849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2" name="Google Shape;443;p43"/>
            <p:cNvSpPr/>
            <p:nvPr/>
          </p:nvSpPr>
          <p:spPr>
            <a:xfrm>
              <a:off x="4342320" y="247896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3" name="Google Shape;444;p43"/>
            <p:cNvSpPr/>
            <p:nvPr/>
          </p:nvSpPr>
          <p:spPr>
            <a:xfrm>
              <a:off x="5714280" y="3161880"/>
              <a:ext cx="720000" cy="360"/>
            </a:xfrm>
            <a:custGeom>
              <a:avLst/>
              <a:gdLst/>
              <a:ahLst/>
              <a:rect l="l" t="t" r="r" b="b"/>
              <a:pathLst>
                <a:path w="723264" h="120000">
                  <a:moveTo>
                    <a:pt x="7229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4" name="Google Shape;445;p43"/>
            <p:cNvSpPr/>
            <p:nvPr/>
          </p:nvSpPr>
          <p:spPr>
            <a:xfrm>
              <a:off x="5618520" y="312084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5" name="Google Shape;446;p43"/>
            <p:cNvSpPr/>
            <p:nvPr/>
          </p:nvSpPr>
          <p:spPr>
            <a:xfrm>
              <a:off x="4536000" y="3769560"/>
              <a:ext cx="1890360" cy="360"/>
            </a:xfrm>
            <a:custGeom>
              <a:avLst/>
              <a:gdLst/>
              <a:ahLst/>
              <a:rect l="l" t="t" r="r" b="b"/>
              <a:pathLst>
                <a:path w="1893570" h="120000">
                  <a:moveTo>
                    <a:pt x="1893296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6" name="Google Shape;447;p43"/>
            <p:cNvSpPr/>
            <p:nvPr/>
          </p:nvSpPr>
          <p:spPr>
            <a:xfrm>
              <a:off x="4439880" y="3728520"/>
              <a:ext cx="102240" cy="788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87" name="Google Shape;448;p43"/>
          <p:cNvSpPr/>
          <p:nvPr/>
        </p:nvSpPr>
        <p:spPr>
          <a:xfrm>
            <a:off x="6573960" y="2265120"/>
            <a:ext cx="17031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232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Creates an object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e.g. a namespace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88" name="Google Shape;449;p43"/>
          <p:cNvSpPr/>
          <p:nvPr/>
        </p:nvSpPr>
        <p:spPr>
          <a:xfrm>
            <a:off x="6600600" y="2945880"/>
            <a:ext cx="1856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214560" indent="-20268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Creates a Pod object  in a namespace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89" name="Google Shape;450;p43"/>
          <p:cNvSpPr/>
          <p:nvPr/>
        </p:nvSpPr>
        <p:spPr>
          <a:xfrm>
            <a:off x="6588720" y="3553200"/>
            <a:ext cx="18684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600" indent="2916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Modifies the live  object e.g. a Pod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ADF6E13-9C03-4ED9-8AB2-A476F2A23E91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455;p44"/>
          <p:cNvSpPr/>
          <p:nvPr/>
        </p:nvSpPr>
        <p:spPr>
          <a:xfrm>
            <a:off x="441720" y="1289880"/>
            <a:ext cx="714384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Suitable for more elaborate changes, tracks changes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6935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Declarative Object Management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392" name="Google Shape;457;p44"/>
          <p:cNvGrpSpPr/>
          <p:nvPr/>
        </p:nvGrpSpPr>
        <p:grpSpPr>
          <a:xfrm>
            <a:off x="446040" y="2151000"/>
            <a:ext cx="5226480" cy="2251080"/>
            <a:chOff x="446040" y="2151000"/>
            <a:chExt cx="5226480" cy="2251080"/>
          </a:xfrm>
        </p:grpSpPr>
        <p:sp>
          <p:nvSpPr>
            <p:cNvPr id="393" name="Google Shape;458;p44"/>
            <p:cNvSpPr/>
            <p:nvPr/>
          </p:nvSpPr>
          <p:spPr>
            <a:xfrm>
              <a:off x="446040" y="2151000"/>
              <a:ext cx="5226480" cy="22510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4" name="Google Shape;459;p44"/>
            <p:cNvSpPr/>
            <p:nvPr/>
          </p:nvSpPr>
          <p:spPr>
            <a:xfrm>
              <a:off x="499680" y="2199240"/>
              <a:ext cx="5113080" cy="2137320"/>
            </a:xfrm>
            <a:custGeom>
              <a:avLst/>
              <a:gdLst/>
              <a:ahLst/>
              <a:rect l="l" t="t" r="r" b="b"/>
              <a:pathLst>
                <a:path w="5116195" h="2140585">
                  <a:moveTo>
                    <a:pt x="5115589" y="2140195"/>
                  </a:moveTo>
                  <a:lnTo>
                    <a:pt x="0" y="2140195"/>
                  </a:lnTo>
                  <a:lnTo>
                    <a:pt x="0" y="0"/>
                  </a:lnTo>
                  <a:lnTo>
                    <a:pt x="5115589" y="0"/>
                  </a:lnTo>
                  <a:lnTo>
                    <a:pt x="5115589" y="2140195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95" name="Google Shape;460;p44"/>
          <p:cNvSpPr/>
          <p:nvPr/>
        </p:nvSpPr>
        <p:spPr>
          <a:xfrm>
            <a:off x="752400" y="2377440"/>
            <a:ext cx="43959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-f nginx-deployment.yaml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deployment.apps/nginx-deployment created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96" name="Google Shape;461;p44"/>
          <p:cNvSpPr/>
          <p:nvPr/>
        </p:nvSpPr>
        <p:spPr>
          <a:xfrm>
            <a:off x="752400" y="3006000"/>
            <a:ext cx="46094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apply -f nginx-deployment.yaml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deployment.apps/nginx-deployment configured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97" name="Google Shape;462;p44"/>
          <p:cNvSpPr/>
          <p:nvPr/>
        </p:nvSpPr>
        <p:spPr>
          <a:xfrm>
            <a:off x="752400" y="3634560"/>
            <a:ext cx="450288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delete -f nginx-deployment.yaml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deployment.apps "nginx-deployment" deleted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398" name="Google Shape;463;p44"/>
          <p:cNvGrpSpPr/>
          <p:nvPr/>
        </p:nvGrpSpPr>
        <p:grpSpPr>
          <a:xfrm>
            <a:off x="5400360" y="2479680"/>
            <a:ext cx="1035720" cy="1660320"/>
            <a:chOff x="5400360" y="2479680"/>
            <a:chExt cx="1035720" cy="1660320"/>
          </a:xfrm>
        </p:grpSpPr>
        <p:sp>
          <p:nvSpPr>
            <p:cNvPr id="399" name="Google Shape;464;p44"/>
            <p:cNvSpPr/>
            <p:nvPr/>
          </p:nvSpPr>
          <p:spPr>
            <a:xfrm>
              <a:off x="5496480" y="2520720"/>
              <a:ext cx="939600" cy="360"/>
            </a:xfrm>
            <a:custGeom>
              <a:avLst/>
              <a:gdLst/>
              <a:ahLst/>
              <a:rect l="l" t="t" r="r" b="b"/>
              <a:pathLst>
                <a:path w="942975" h="120000">
                  <a:moveTo>
                    <a:pt x="9428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0" name="Google Shape;465;p44"/>
            <p:cNvSpPr/>
            <p:nvPr/>
          </p:nvSpPr>
          <p:spPr>
            <a:xfrm>
              <a:off x="5400360" y="247968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1" name="Google Shape;466;p44"/>
            <p:cNvSpPr/>
            <p:nvPr/>
          </p:nvSpPr>
          <p:spPr>
            <a:xfrm>
              <a:off x="5496480" y="3144600"/>
              <a:ext cx="939600" cy="360"/>
            </a:xfrm>
            <a:custGeom>
              <a:avLst/>
              <a:gdLst/>
              <a:ahLst/>
              <a:rect l="l" t="t" r="r" b="b"/>
              <a:pathLst>
                <a:path w="942975" h="120000">
                  <a:moveTo>
                    <a:pt x="9428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2" name="Google Shape;467;p44"/>
            <p:cNvSpPr/>
            <p:nvPr/>
          </p:nvSpPr>
          <p:spPr>
            <a:xfrm>
              <a:off x="5400360" y="310356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3" name="Google Shape;468;p44"/>
            <p:cNvSpPr/>
            <p:nvPr/>
          </p:nvSpPr>
          <p:spPr>
            <a:xfrm>
              <a:off x="5496480" y="3775680"/>
              <a:ext cx="939600" cy="364320"/>
            </a:xfrm>
            <a:custGeom>
              <a:avLst/>
              <a:gdLst/>
              <a:ahLst/>
              <a:rect l="l" t="t" r="r" b="b"/>
              <a:pathLst>
                <a:path w="942975" h="367664">
                  <a:moveTo>
                    <a:pt x="942898" y="367499"/>
                  </a:moveTo>
                  <a:lnTo>
                    <a:pt x="414299" y="367499"/>
                  </a:lnTo>
                  <a:lnTo>
                    <a:pt x="414299" y="0"/>
                  </a:ln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4" name="Google Shape;469;p44"/>
            <p:cNvSpPr/>
            <p:nvPr/>
          </p:nvSpPr>
          <p:spPr>
            <a:xfrm>
              <a:off x="5400360" y="3734640"/>
              <a:ext cx="102240" cy="788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05" name="Google Shape;470;p44"/>
          <p:cNvSpPr/>
          <p:nvPr/>
        </p:nvSpPr>
        <p:spPr>
          <a:xfrm>
            <a:off x="6569280" y="2265120"/>
            <a:ext cx="17078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86400" indent="-7416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Creates object if it  doesn’t exist yet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06" name="Google Shape;471;p44"/>
          <p:cNvSpPr/>
          <p:nvPr/>
        </p:nvSpPr>
        <p:spPr>
          <a:xfrm>
            <a:off x="6554520" y="2889000"/>
            <a:ext cx="1542600" cy="76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600" algn="ctr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Creates object or  update if it already  exists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07" name="Google Shape;472;p44"/>
          <p:cNvSpPr/>
          <p:nvPr/>
        </p:nvSpPr>
        <p:spPr>
          <a:xfrm>
            <a:off x="6545520" y="4002840"/>
            <a:ext cx="1148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Deletes object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A071976-2F95-45FF-B361-0049E93E49C1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98;p46"/>
          <p:cNvSpPr/>
          <p:nvPr/>
        </p:nvSpPr>
        <p:spPr>
          <a:xfrm>
            <a:off x="385920" y="1148760"/>
            <a:ext cx="7881120" cy="257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Runs a process or application in container(s)</a:t>
            </a:r>
            <a:endParaRPr b="0" lang="fr-FR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2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The smallest, most basic deployable objects in Kubernetes.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It contains one or more containers, such as Docker containers.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Kubernetes enhances the basic functionality of a container with  features such as security, storage, and more.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36550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What is a Pod?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C13C12E-6AD2-4C16-AB22-2D3EEEA82ABD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504;p47"/>
          <p:cNvSpPr/>
          <p:nvPr/>
        </p:nvSpPr>
        <p:spPr>
          <a:xfrm>
            <a:off x="441720" y="1289880"/>
            <a:ext cx="70635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Defines containers and their images running in them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9694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Pod YAML Manifest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412" name="Google Shape;506;p47"/>
          <p:cNvGrpSpPr/>
          <p:nvPr/>
        </p:nvGrpSpPr>
        <p:grpSpPr>
          <a:xfrm>
            <a:off x="446040" y="2137680"/>
            <a:ext cx="3488400" cy="2679840"/>
            <a:chOff x="446040" y="2137680"/>
            <a:chExt cx="3488400" cy="2679840"/>
          </a:xfrm>
        </p:grpSpPr>
        <p:sp>
          <p:nvSpPr>
            <p:cNvPr id="413" name="Google Shape;507;p47"/>
            <p:cNvSpPr/>
            <p:nvPr/>
          </p:nvSpPr>
          <p:spPr>
            <a:xfrm>
              <a:off x="446040" y="2137680"/>
              <a:ext cx="3488400" cy="26798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4" name="Google Shape;508;p47"/>
            <p:cNvSpPr/>
            <p:nvPr/>
          </p:nvSpPr>
          <p:spPr>
            <a:xfrm>
              <a:off x="499680" y="2185920"/>
              <a:ext cx="3374280" cy="2566080"/>
            </a:xfrm>
            <a:custGeom>
              <a:avLst/>
              <a:gdLst/>
              <a:ahLst/>
              <a:rect l="l" t="t" r="r" b="b"/>
              <a:pathLst>
                <a:path w="3377565" h="2569210">
                  <a:moveTo>
                    <a:pt x="3377393" y="2568894"/>
                  </a:moveTo>
                  <a:lnTo>
                    <a:pt x="0" y="2568894"/>
                  </a:lnTo>
                  <a:lnTo>
                    <a:pt x="0" y="0"/>
                  </a:lnTo>
                  <a:lnTo>
                    <a:pt x="3377393" y="0"/>
                  </a:lnTo>
                  <a:lnTo>
                    <a:pt x="3377393" y="25688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15" name="Google Shape;509;p47"/>
          <p:cNvSpPr/>
          <p:nvPr/>
        </p:nvSpPr>
        <p:spPr>
          <a:xfrm>
            <a:off x="587520" y="2324160"/>
            <a:ext cx="3238920" cy="20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  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2070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hazelcast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2102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300" spc="-1" strike="noStrike">
              <a:latin typeface="Arial"/>
            </a:endParaRPr>
          </a:p>
          <a:p>
            <a:pPr marL="2102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- image: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hazelcast/hazelcast</a:t>
            </a:r>
            <a:endParaRPr b="0" lang="fr-FR" sz="1300" spc="-1" strike="noStrike">
              <a:latin typeface="Arial"/>
            </a:endParaRPr>
          </a:p>
          <a:p>
            <a:pPr marL="4014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hazelcast</a:t>
            </a:r>
            <a:endParaRPr b="0" lang="fr-FR" sz="1300" spc="-1" strike="noStrike">
              <a:latin typeface="Arial"/>
            </a:endParaRPr>
          </a:p>
          <a:p>
            <a:pPr marL="4014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ports:</a:t>
            </a:r>
            <a:endParaRPr b="0" lang="fr-FR" sz="1300" spc="-1" strike="noStrike">
              <a:latin typeface="Arial"/>
            </a:endParaRPr>
          </a:p>
          <a:p>
            <a:pPr marL="4082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containerPort: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5701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416" name="Google Shape;511;p47"/>
          <p:cNvGrpSpPr/>
          <p:nvPr/>
        </p:nvGrpSpPr>
        <p:grpSpPr>
          <a:xfrm>
            <a:off x="3984840" y="3616920"/>
            <a:ext cx="815760" cy="78840"/>
            <a:chOff x="3984840" y="3616920"/>
            <a:chExt cx="815760" cy="78840"/>
          </a:xfrm>
        </p:grpSpPr>
        <p:sp>
          <p:nvSpPr>
            <p:cNvPr id="417" name="Google Shape;512;p47"/>
            <p:cNvSpPr/>
            <p:nvPr/>
          </p:nvSpPr>
          <p:spPr>
            <a:xfrm>
              <a:off x="4080600" y="3657960"/>
              <a:ext cx="720000" cy="360"/>
            </a:xfrm>
            <a:custGeom>
              <a:avLst/>
              <a:gdLst/>
              <a:ahLst/>
              <a:rect l="l" t="t" r="r" b="b"/>
              <a:pathLst>
                <a:path w="723264" h="120000">
                  <a:moveTo>
                    <a:pt x="7229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8" name="Google Shape;513;p47"/>
            <p:cNvSpPr/>
            <p:nvPr/>
          </p:nvSpPr>
          <p:spPr>
            <a:xfrm>
              <a:off x="3984840" y="361692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19" name="Google Shape;514;p47"/>
          <p:cNvSpPr/>
          <p:nvPr/>
        </p:nvSpPr>
        <p:spPr>
          <a:xfrm>
            <a:off x="4932000" y="3522960"/>
            <a:ext cx="1326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Container image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420" name="Google Shape;515;p47"/>
          <p:cNvGrpSpPr/>
          <p:nvPr/>
        </p:nvGrpSpPr>
        <p:grpSpPr>
          <a:xfrm>
            <a:off x="3391560" y="4216320"/>
            <a:ext cx="1409400" cy="78840"/>
            <a:chOff x="3391560" y="4216320"/>
            <a:chExt cx="1409400" cy="78840"/>
          </a:xfrm>
        </p:grpSpPr>
        <p:sp>
          <p:nvSpPr>
            <p:cNvPr id="421" name="Google Shape;516;p47"/>
            <p:cNvSpPr/>
            <p:nvPr/>
          </p:nvSpPr>
          <p:spPr>
            <a:xfrm>
              <a:off x="3487680" y="4257360"/>
              <a:ext cx="1313280" cy="360"/>
            </a:xfrm>
            <a:custGeom>
              <a:avLst/>
              <a:gdLst/>
              <a:ahLst/>
              <a:rect l="l" t="t" r="r" b="b"/>
              <a:pathLst>
                <a:path w="1316354" h="120000">
                  <a:moveTo>
                    <a:pt x="1316097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2" name="Google Shape;517;p47"/>
            <p:cNvSpPr/>
            <p:nvPr/>
          </p:nvSpPr>
          <p:spPr>
            <a:xfrm>
              <a:off x="3391560" y="421632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23" name="Google Shape;518;p47"/>
          <p:cNvSpPr/>
          <p:nvPr/>
        </p:nvSpPr>
        <p:spPr>
          <a:xfrm>
            <a:off x="4944600" y="4122360"/>
            <a:ext cx="22525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Exposed container port(s)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4555F66-A536-46CF-99F3-992D75E9F24D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523;p48"/>
          <p:cNvSpPr/>
          <p:nvPr/>
        </p:nvSpPr>
        <p:spPr>
          <a:xfrm>
            <a:off x="441720" y="1289880"/>
            <a:ext cx="48265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Imperative vs. declarative approach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36036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Creating a Pod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426" name="Google Shape;525;p48"/>
          <p:cNvGrpSpPr/>
          <p:nvPr/>
        </p:nvGrpSpPr>
        <p:grpSpPr>
          <a:xfrm>
            <a:off x="446040" y="2137680"/>
            <a:ext cx="7755480" cy="1972440"/>
            <a:chOff x="446040" y="2137680"/>
            <a:chExt cx="7755480" cy="1972440"/>
          </a:xfrm>
        </p:grpSpPr>
        <p:sp>
          <p:nvSpPr>
            <p:cNvPr id="427" name="Google Shape;526;p48"/>
            <p:cNvSpPr/>
            <p:nvPr/>
          </p:nvSpPr>
          <p:spPr>
            <a:xfrm>
              <a:off x="446040" y="2137680"/>
              <a:ext cx="7755480" cy="19724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" name="Google Shape;527;p48"/>
            <p:cNvSpPr/>
            <p:nvPr/>
          </p:nvSpPr>
          <p:spPr>
            <a:xfrm>
              <a:off x="499680" y="2185920"/>
              <a:ext cx="7641360" cy="1858680"/>
            </a:xfrm>
            <a:custGeom>
              <a:avLst/>
              <a:gdLst/>
              <a:ahLst/>
              <a:rect l="l" t="t" r="r" b="b"/>
              <a:pathLst>
                <a:path w="7644765" h="1861820">
                  <a:moveTo>
                    <a:pt x="7644584" y="1861496"/>
                  </a:moveTo>
                  <a:lnTo>
                    <a:pt x="0" y="1861496"/>
                  </a:lnTo>
                  <a:lnTo>
                    <a:pt x="0" y="0"/>
                  </a:lnTo>
                  <a:lnTo>
                    <a:pt x="7644584" y="0"/>
                  </a:lnTo>
                  <a:lnTo>
                    <a:pt x="7644584" y="1861496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29" name="Google Shape;528;p48"/>
          <p:cNvSpPr/>
          <p:nvPr/>
        </p:nvSpPr>
        <p:spPr>
          <a:xfrm>
            <a:off x="586800" y="2170440"/>
            <a:ext cx="75387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run hazelcast --image=hazelcast/hazelcast --restart=Never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↵</a:t>
            </a:r>
            <a:endParaRPr b="0" lang="fr-FR" sz="1500" spc="-1" strike="noStrike">
              <a:latin typeface="Arial"/>
            </a:endParaRPr>
          </a:p>
          <a:p>
            <a:pPr marL="2253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--port=5701 --env="DNS_DOMAIN=cluster"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↵</a:t>
            </a:r>
            <a:endParaRPr b="0" lang="fr-FR" sz="1500" spc="-1" strike="noStrike">
              <a:latin typeface="Arial"/>
            </a:endParaRPr>
          </a:p>
          <a:p>
            <a:pPr marL="22536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--labels="app=hazelcast,env=prod"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pod/hazelcast created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-f pod.yaml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pod/hazelcast created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430" name="Google Shape;529;p48"/>
          <p:cNvGrpSpPr/>
          <p:nvPr/>
        </p:nvGrpSpPr>
        <p:grpSpPr>
          <a:xfrm>
            <a:off x="3305520" y="2733120"/>
            <a:ext cx="2925720" cy="1571760"/>
            <a:chOff x="3305520" y="2733120"/>
            <a:chExt cx="2925720" cy="1571760"/>
          </a:xfrm>
        </p:grpSpPr>
        <p:sp>
          <p:nvSpPr>
            <p:cNvPr id="431" name="Google Shape;530;p48"/>
            <p:cNvSpPr/>
            <p:nvPr/>
          </p:nvSpPr>
          <p:spPr>
            <a:xfrm>
              <a:off x="6193440" y="2829240"/>
              <a:ext cx="360" cy="1475640"/>
            </a:xfrm>
            <a:custGeom>
              <a:avLst/>
              <a:gdLst/>
              <a:ahLst/>
              <a:rect l="l" t="t" r="r" b="b"/>
              <a:pathLst>
                <a:path w="120000" h="1478914">
                  <a:moveTo>
                    <a:pt x="0" y="1478697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2" name="Google Shape;531;p48"/>
            <p:cNvSpPr/>
            <p:nvPr/>
          </p:nvSpPr>
          <p:spPr>
            <a:xfrm>
              <a:off x="6152400" y="2733120"/>
              <a:ext cx="78840" cy="1022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3" name="Google Shape;532;p48"/>
            <p:cNvSpPr/>
            <p:nvPr/>
          </p:nvSpPr>
          <p:spPr>
            <a:xfrm>
              <a:off x="3346560" y="3859560"/>
              <a:ext cx="360" cy="420840"/>
            </a:xfrm>
            <a:custGeom>
              <a:avLst/>
              <a:gdLst/>
              <a:ahLst/>
              <a:rect l="l" t="t" r="r" b="b"/>
              <a:pathLst>
                <a:path w="120000" h="424179">
                  <a:moveTo>
                    <a:pt x="0" y="423899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4" name="Google Shape;533;p48"/>
            <p:cNvSpPr/>
            <p:nvPr/>
          </p:nvSpPr>
          <p:spPr>
            <a:xfrm>
              <a:off x="3305520" y="3763440"/>
              <a:ext cx="78840" cy="1022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35" name="Google Shape;534;p48"/>
          <p:cNvSpPr/>
          <p:nvPr/>
        </p:nvSpPr>
        <p:spPr>
          <a:xfrm>
            <a:off x="5015880" y="4339800"/>
            <a:ext cx="25412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600" indent="354960">
              <a:lnSpc>
                <a:spcPct val="117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Imperative: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Spell out  configuration with parameters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36" name="Google Shape;535;p48"/>
          <p:cNvSpPr/>
          <p:nvPr/>
        </p:nvSpPr>
        <p:spPr>
          <a:xfrm>
            <a:off x="2543400" y="4373640"/>
            <a:ext cx="17737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214560" indent="-202680">
              <a:lnSpc>
                <a:spcPct val="117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Declarative: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Point to  YAML manifest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0418DBC-519C-497E-B778-58F4DB1FF59F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547;p50"/>
          <p:cNvSpPr/>
          <p:nvPr/>
        </p:nvSpPr>
        <p:spPr>
          <a:xfrm>
            <a:off x="441720" y="1289880"/>
            <a:ext cx="7383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Get high-level information on all Pods or a specific one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30618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Listing Pods</a:t>
            </a:r>
            <a:endParaRPr b="0" lang="fr-FR" sz="4000" spc="-1" strike="noStrike">
              <a:latin typeface="Arial"/>
            </a:endParaRPr>
          </a:p>
        </p:txBody>
      </p:sp>
      <p:pic>
        <p:nvPicPr>
          <p:cNvPr id="439" name="" descr=""/>
          <p:cNvPicPr/>
          <p:nvPr/>
        </p:nvPicPr>
        <p:blipFill>
          <a:blip r:embed="rId1"/>
          <a:stretch/>
        </p:blipFill>
        <p:spPr>
          <a:xfrm>
            <a:off x="402480" y="2099520"/>
            <a:ext cx="7410240" cy="20390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02C7894-649A-4CB6-91BB-623C08D5F11F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564;p51"/>
          <p:cNvSpPr/>
          <p:nvPr/>
        </p:nvSpPr>
        <p:spPr>
          <a:xfrm>
            <a:off x="385920" y="391320"/>
            <a:ext cx="543168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Pod Life Cycle Phases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441" name="Google Shape;565;p51"/>
          <p:cNvSpPr/>
          <p:nvPr/>
        </p:nvSpPr>
        <p:spPr>
          <a:xfrm>
            <a:off x="385920" y="1149840"/>
            <a:ext cx="430200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Indicates operational status of Pod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442" name="Google Shape;566;p51"/>
          <p:cNvSpPr/>
          <p:nvPr/>
        </p:nvSpPr>
        <p:spPr>
          <a:xfrm>
            <a:off x="2200680" y="1930680"/>
            <a:ext cx="4582800" cy="27255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280237A-E12C-4861-A7FD-A2D8BD1E29F6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571;p52"/>
          <p:cNvSpPr/>
          <p:nvPr/>
        </p:nvSpPr>
        <p:spPr>
          <a:xfrm>
            <a:off x="441720" y="1289880"/>
            <a:ext cx="60303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Shows Pod configuration, events, and status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4360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Rendering Pod Details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445" name="Google Shape;573;p52"/>
          <p:cNvGrpSpPr/>
          <p:nvPr/>
        </p:nvGrpSpPr>
        <p:grpSpPr>
          <a:xfrm>
            <a:off x="446040" y="2061360"/>
            <a:ext cx="4016880" cy="2582280"/>
            <a:chOff x="446040" y="2061360"/>
            <a:chExt cx="4016880" cy="2582280"/>
          </a:xfrm>
        </p:grpSpPr>
        <p:sp>
          <p:nvSpPr>
            <p:cNvPr id="446" name="Google Shape;574;p52"/>
            <p:cNvSpPr/>
            <p:nvPr/>
          </p:nvSpPr>
          <p:spPr>
            <a:xfrm>
              <a:off x="446040" y="2061360"/>
              <a:ext cx="4016880" cy="25822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7" name="Google Shape;575;p52"/>
            <p:cNvSpPr/>
            <p:nvPr/>
          </p:nvSpPr>
          <p:spPr>
            <a:xfrm>
              <a:off x="499680" y="2109960"/>
              <a:ext cx="3902760" cy="2468160"/>
            </a:xfrm>
            <a:custGeom>
              <a:avLst/>
              <a:gdLst/>
              <a:ahLst/>
              <a:rect l="l" t="t" r="r" b="b"/>
              <a:pathLst>
                <a:path w="3905885" h="2471420">
                  <a:moveTo>
                    <a:pt x="3905692" y="2471395"/>
                  </a:moveTo>
                  <a:lnTo>
                    <a:pt x="0" y="2471395"/>
                  </a:lnTo>
                  <a:lnTo>
                    <a:pt x="0" y="0"/>
                  </a:lnTo>
                  <a:lnTo>
                    <a:pt x="3905692" y="0"/>
                  </a:lnTo>
                  <a:lnTo>
                    <a:pt x="3905692" y="2471395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48" name="Google Shape;576;p52"/>
          <p:cNvSpPr/>
          <p:nvPr/>
        </p:nvSpPr>
        <p:spPr>
          <a:xfrm>
            <a:off x="663120" y="2094840"/>
            <a:ext cx="35424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describe pods hazelcast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49" name="Google Shape;577;p52"/>
          <p:cNvSpPr/>
          <p:nvPr/>
        </p:nvSpPr>
        <p:spPr>
          <a:xfrm>
            <a:off x="2796480" y="2304360"/>
            <a:ext cx="9828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60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hazelcast  default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0" name="Google Shape;578;p52"/>
          <p:cNvSpPr/>
          <p:nvPr/>
        </p:nvSpPr>
        <p:spPr>
          <a:xfrm>
            <a:off x="2796480" y="2932920"/>
            <a:ext cx="768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Running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1" name="Google Shape;579;p52"/>
          <p:cNvSpPr/>
          <p:nvPr/>
        </p:nvSpPr>
        <p:spPr>
          <a:xfrm>
            <a:off x="2731680" y="3154320"/>
            <a:ext cx="1107360" cy="21348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720" bIns="0" anchor="t">
            <a:spAutoFit/>
          </a:bodyPr>
          <a:p>
            <a:pPr marL="77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10.1.0.41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2" name="Google Shape;580;p52"/>
          <p:cNvSpPr/>
          <p:nvPr/>
        </p:nvSpPr>
        <p:spPr>
          <a:xfrm>
            <a:off x="663120" y="2304360"/>
            <a:ext cx="1195560" cy="22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60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Name:  Namespace: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7000"/>
              </a:lnSpc>
              <a:spcBef>
                <a:spcPts val="65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Status:  IP:</a:t>
            </a:r>
            <a:endParaRPr b="0" lang="fr-FR" sz="1400" spc="-1" strike="noStrike">
              <a:latin typeface="Arial"/>
            </a:endParaRPr>
          </a:p>
          <a:p>
            <a:pPr marL="12600" algn="ctr"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Containers:</a:t>
            </a:r>
            <a:endParaRPr b="0" lang="fr-FR" sz="1400" spc="-1" strike="noStrike">
              <a:latin typeface="Arial"/>
            </a:endParaRPr>
          </a:p>
          <a:p>
            <a:pPr marL="12600" algn="ctr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400" spc="-1" strike="noStrike">
              <a:latin typeface="Arial"/>
            </a:endParaRPr>
          </a:p>
          <a:p>
            <a:pPr marL="12600" algn="ctr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Events:</a:t>
            </a:r>
            <a:endParaRPr b="0" lang="fr-FR" sz="1400" spc="-1" strike="noStrike">
              <a:latin typeface="Arial"/>
            </a:endParaRPr>
          </a:p>
          <a:p>
            <a:pPr marL="12600" algn="ctr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3" name="Google Shape;581;p52"/>
          <p:cNvSpPr/>
          <p:nvPr/>
        </p:nvSpPr>
        <p:spPr>
          <a:xfrm>
            <a:off x="4875480" y="3083040"/>
            <a:ext cx="368244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0" lang="en-US" sz="14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Virtual IP address assigned to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4" name="Google Shape;582;p52"/>
          <p:cNvSpPr/>
          <p:nvPr/>
        </p:nvSpPr>
        <p:spPr>
          <a:xfrm>
            <a:off x="5967720" y="3368880"/>
            <a:ext cx="2144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Pod to communicate with it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455" name="Google Shape;583;p52"/>
          <p:cNvGrpSpPr/>
          <p:nvPr/>
        </p:nvGrpSpPr>
        <p:grpSpPr>
          <a:xfrm>
            <a:off x="3953880" y="3247200"/>
            <a:ext cx="1450440" cy="78840"/>
            <a:chOff x="3953880" y="3247200"/>
            <a:chExt cx="1450440" cy="78840"/>
          </a:xfrm>
        </p:grpSpPr>
        <p:sp>
          <p:nvSpPr>
            <p:cNvPr id="456" name="Google Shape;584;p52"/>
            <p:cNvSpPr/>
            <p:nvPr/>
          </p:nvSpPr>
          <p:spPr>
            <a:xfrm>
              <a:off x="4124160" y="3288240"/>
              <a:ext cx="1280160" cy="360"/>
            </a:xfrm>
            <a:custGeom>
              <a:avLst/>
              <a:gdLst/>
              <a:ahLst/>
              <a:rect l="l" t="t" r="r" b="b"/>
              <a:pathLst>
                <a:path w="723264" h="120000">
                  <a:moveTo>
                    <a:pt x="7229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7" name="Google Shape;585;p52"/>
            <p:cNvSpPr/>
            <p:nvPr/>
          </p:nvSpPr>
          <p:spPr>
            <a:xfrm>
              <a:off x="3953880" y="3247200"/>
              <a:ext cx="18432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141ACEF-D81E-4067-9E46-6B99E1CF33B6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590;p53"/>
          <p:cNvSpPr/>
          <p:nvPr/>
        </p:nvSpPr>
        <p:spPr>
          <a:xfrm>
            <a:off x="441720" y="1289880"/>
            <a:ext cx="56959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Rendering logs and shelling into container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8666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Interacting with Container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460" name="Google Shape;592;p53"/>
          <p:cNvSpPr/>
          <p:nvPr/>
        </p:nvSpPr>
        <p:spPr>
          <a:xfrm>
            <a:off x="446040" y="2137680"/>
            <a:ext cx="7300440" cy="19728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Google Shape;593;p53"/>
          <p:cNvSpPr/>
          <p:nvPr/>
        </p:nvSpPr>
        <p:spPr>
          <a:xfrm>
            <a:off x="499680" y="2185920"/>
            <a:ext cx="7187040" cy="187020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9760" bIns="0" anchor="t">
            <a:spAutoFit/>
          </a:bodyPr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logs hazelcast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May 25, 2020 3:36:26 PM com.hazelcast.core.LifecycleService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INFO: [10.1.0.46]:5701 [dev] [4.0.1] [10.1.0.46]:5701 is STARTED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exec -it hazelcast -- /bin/sh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# ...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BA18DDA-E6E0-4413-A10D-D243116E5FBE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598;p54"/>
          <p:cNvSpPr/>
          <p:nvPr/>
        </p:nvSpPr>
        <p:spPr>
          <a:xfrm>
            <a:off x="441720" y="1289880"/>
            <a:ext cx="4881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Define zero to many key-value pairs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82152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Declaring Environment Variables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464" name="Google Shape;600;p54"/>
          <p:cNvGrpSpPr/>
          <p:nvPr/>
        </p:nvGrpSpPr>
        <p:grpSpPr>
          <a:xfrm>
            <a:off x="446040" y="1993680"/>
            <a:ext cx="4276440" cy="2809800"/>
            <a:chOff x="446040" y="1993680"/>
            <a:chExt cx="4276440" cy="2809800"/>
          </a:xfrm>
        </p:grpSpPr>
        <p:sp>
          <p:nvSpPr>
            <p:cNvPr id="465" name="Google Shape;601;p54"/>
            <p:cNvSpPr/>
            <p:nvPr/>
          </p:nvSpPr>
          <p:spPr>
            <a:xfrm>
              <a:off x="446040" y="1993680"/>
              <a:ext cx="4276440" cy="28098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6" name="Google Shape;602;p54"/>
            <p:cNvSpPr/>
            <p:nvPr/>
          </p:nvSpPr>
          <p:spPr>
            <a:xfrm>
              <a:off x="499680" y="2041920"/>
              <a:ext cx="4162320" cy="2696040"/>
            </a:xfrm>
            <a:custGeom>
              <a:avLst/>
              <a:gdLst/>
              <a:ahLst/>
              <a:rect l="l" t="t" r="r" b="b"/>
              <a:pathLst>
                <a:path w="4165600" h="2699385">
                  <a:moveTo>
                    <a:pt x="4165491" y="2698794"/>
                  </a:moveTo>
                  <a:lnTo>
                    <a:pt x="0" y="2698794"/>
                  </a:lnTo>
                  <a:lnTo>
                    <a:pt x="0" y="0"/>
                  </a:lnTo>
                  <a:lnTo>
                    <a:pt x="4165491" y="0"/>
                  </a:lnTo>
                  <a:lnTo>
                    <a:pt x="4165491" y="26987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67" name="Google Shape;603;p54"/>
          <p:cNvSpPr/>
          <p:nvPr/>
        </p:nvSpPr>
        <p:spPr>
          <a:xfrm>
            <a:off x="695520" y="1964520"/>
            <a:ext cx="3771720" cy="17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016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spring-boot-app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200" spc="-1" strike="noStrike">
              <a:latin typeface="Arial"/>
            </a:endParaRPr>
          </a:p>
          <a:p>
            <a:pPr marL="19512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bmuschko/spring-boot-app:1.5.3</a:t>
            </a:r>
            <a:endParaRPr b="0" lang="fr-FR" sz="1200" spc="-1" strike="noStrike">
              <a:latin typeface="Arial"/>
            </a:endParaRPr>
          </a:p>
          <a:p>
            <a:pPr marL="37836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spring-boot-app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68" name="Google Shape;604;p54"/>
          <p:cNvSpPr/>
          <p:nvPr/>
        </p:nvSpPr>
        <p:spPr>
          <a:xfrm>
            <a:off x="1061280" y="3700440"/>
            <a:ext cx="284544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env: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SPRING_PROFILES_ACTIVE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69" name="Google Shape;605;p54"/>
          <p:cNvSpPr/>
          <p:nvPr/>
        </p:nvSpPr>
        <p:spPr>
          <a:xfrm>
            <a:off x="1244160" y="4134240"/>
            <a:ext cx="10285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value: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prod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70" name="Google Shape;606;p54"/>
          <p:cNvSpPr/>
          <p:nvPr/>
        </p:nvSpPr>
        <p:spPr>
          <a:xfrm>
            <a:off x="1061280" y="4315320"/>
            <a:ext cx="66276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71" name="Google Shape;607;p54"/>
          <p:cNvSpPr/>
          <p:nvPr/>
        </p:nvSpPr>
        <p:spPr>
          <a:xfrm>
            <a:off x="1762200" y="4318560"/>
            <a:ext cx="762480" cy="19116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 marL="43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VERSION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72" name="Google Shape;608;p54"/>
          <p:cNvSpPr/>
          <p:nvPr/>
        </p:nvSpPr>
        <p:spPr>
          <a:xfrm>
            <a:off x="1244160" y="4496040"/>
            <a:ext cx="13028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value: </a:t>
            </a:r>
            <a:r>
              <a:rPr b="1" lang="en-US" sz="1200" spc="-1" strike="noStrike">
                <a:solidFill>
                  <a:srgbClr val="d15d34"/>
                </a:solidFill>
                <a:latin typeface="Courier New"/>
                <a:ea typeface="Courier New"/>
              </a:rPr>
              <a:t>'1.5.3'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473" name="Google Shape;609;p54"/>
          <p:cNvGrpSpPr/>
          <p:nvPr/>
        </p:nvGrpSpPr>
        <p:grpSpPr>
          <a:xfrm>
            <a:off x="2634840" y="4023000"/>
            <a:ext cx="3409200" cy="452160"/>
            <a:chOff x="2634840" y="4023000"/>
            <a:chExt cx="3409200" cy="452160"/>
          </a:xfrm>
        </p:grpSpPr>
        <p:sp>
          <p:nvSpPr>
            <p:cNvPr id="474" name="Google Shape;610;p54"/>
            <p:cNvSpPr/>
            <p:nvPr/>
          </p:nvSpPr>
          <p:spPr>
            <a:xfrm>
              <a:off x="4161960" y="4064040"/>
              <a:ext cx="1216080" cy="360"/>
            </a:xfrm>
            <a:custGeom>
              <a:avLst/>
              <a:gdLst/>
              <a:ahLst/>
              <a:rect l="l" t="t" r="r" b="b"/>
              <a:pathLst>
                <a:path w="1219200" h="120000">
                  <a:moveTo>
                    <a:pt x="1218597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5" name="Google Shape;611;p54"/>
            <p:cNvSpPr/>
            <p:nvPr/>
          </p:nvSpPr>
          <p:spPr>
            <a:xfrm>
              <a:off x="4066200" y="402300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6" name="Google Shape;612;p54"/>
            <p:cNvSpPr/>
            <p:nvPr/>
          </p:nvSpPr>
          <p:spPr>
            <a:xfrm>
              <a:off x="2730600" y="4291560"/>
              <a:ext cx="3313440" cy="142920"/>
            </a:xfrm>
            <a:custGeom>
              <a:avLst/>
              <a:gdLst/>
              <a:ahLst/>
              <a:rect l="l" t="t" r="r" b="b"/>
              <a:pathLst>
                <a:path w="3316604" h="146050">
                  <a:moveTo>
                    <a:pt x="3316493" y="0"/>
                  </a:moveTo>
                  <a:lnTo>
                    <a:pt x="3316493" y="145799"/>
                  </a:lnTo>
                  <a:lnTo>
                    <a:pt x="0" y="145799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7" name="Google Shape;613;p54"/>
            <p:cNvSpPr/>
            <p:nvPr/>
          </p:nvSpPr>
          <p:spPr>
            <a:xfrm>
              <a:off x="2634840" y="439632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78" name="Google Shape;614;p54"/>
          <p:cNvSpPr/>
          <p:nvPr/>
        </p:nvSpPr>
        <p:spPr>
          <a:xfrm>
            <a:off x="5461200" y="3782520"/>
            <a:ext cx="24559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1320" indent="-10908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Typical naming conventions  for keys are not enforced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1EB1E75-8758-48D3-9869-59111DE8AB3F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619;p55"/>
          <p:cNvSpPr/>
          <p:nvPr/>
        </p:nvSpPr>
        <p:spPr>
          <a:xfrm>
            <a:off x="441720" y="1289880"/>
            <a:ext cx="74858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Assign or overwrite container entrypoint and arguments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4858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Declaring Command and Args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481" name="Google Shape;622;p55"/>
          <p:cNvSpPr/>
          <p:nvPr/>
        </p:nvSpPr>
        <p:spPr>
          <a:xfrm>
            <a:off x="499680" y="2185920"/>
            <a:ext cx="5861520" cy="21463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8680" bIns="0" anchor="t">
            <a:spAutoFit/>
          </a:bodyPr>
          <a:p>
            <a:pPr marL="20844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300" spc="-1" strike="noStrike">
              <a:latin typeface="Arial"/>
            </a:endParaRPr>
          </a:p>
          <a:p>
            <a:pPr marL="20844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300" spc="-1" strike="noStrike">
              <a:latin typeface="Arial"/>
            </a:endParaRPr>
          </a:p>
          <a:p>
            <a:pPr marL="20844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402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spring-boot-app</a:t>
            </a:r>
            <a:endParaRPr b="0" lang="fr-FR" sz="1300" spc="-1" strike="noStrike">
              <a:latin typeface="Arial"/>
            </a:endParaRPr>
          </a:p>
          <a:p>
            <a:pPr marL="208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402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300" spc="-1" strike="noStrike">
              <a:latin typeface="Arial"/>
            </a:endParaRPr>
          </a:p>
          <a:p>
            <a:pPr marL="406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bmuschko/spring-boot-app:1.5.3</a:t>
            </a:r>
            <a:endParaRPr b="0" lang="fr-FR" sz="1300" spc="-1" strike="noStrike">
              <a:latin typeface="Arial"/>
            </a:endParaRPr>
          </a:p>
          <a:p>
            <a:pPr marL="5968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spring-boot-app</a:t>
            </a:r>
            <a:endParaRPr b="0" lang="fr-FR" sz="1300" spc="-1" strike="noStrike">
              <a:latin typeface="Arial"/>
            </a:endParaRPr>
          </a:p>
          <a:p>
            <a:pPr marL="5968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command: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[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"/bin/sh"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]</a:t>
            </a:r>
            <a:endParaRPr b="0" lang="fr-FR" sz="1300" spc="-1" strike="noStrike">
              <a:latin typeface="Arial"/>
            </a:endParaRPr>
          </a:p>
          <a:p>
            <a:pPr marL="604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args: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[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"-c"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, 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"while true; do date; sleep 10; done"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]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920AAB1-CE94-4C21-9FDD-D84FD4C4C1F4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627;p56"/>
          <p:cNvSpPr/>
          <p:nvPr/>
        </p:nvSpPr>
        <p:spPr>
          <a:xfrm>
            <a:off x="441720" y="1289880"/>
            <a:ext cx="59601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Graceful deletion can take up to 30 seconds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35470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Deleting a Pod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484" name="Google Shape;629;p56"/>
          <p:cNvSpPr/>
          <p:nvPr/>
        </p:nvSpPr>
        <p:spPr>
          <a:xfrm>
            <a:off x="446040" y="2137680"/>
            <a:ext cx="3659040" cy="15354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Google Shape;630;p56"/>
          <p:cNvSpPr/>
          <p:nvPr/>
        </p:nvSpPr>
        <p:spPr>
          <a:xfrm>
            <a:off x="499680" y="2185920"/>
            <a:ext cx="3545280" cy="137196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9760" bIns="0" anchor="t">
            <a:spAutoFit/>
          </a:bodyPr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delete pod hazelcast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"hazelcast" deleted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delete -f pod.yaml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"hazelcast" deleted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486" name="Google Shape;631;p56"/>
          <p:cNvGrpSpPr/>
          <p:nvPr/>
        </p:nvGrpSpPr>
        <p:grpSpPr>
          <a:xfrm>
            <a:off x="4149720" y="2424600"/>
            <a:ext cx="959760" cy="710640"/>
            <a:chOff x="4149720" y="2424600"/>
            <a:chExt cx="959760" cy="710640"/>
          </a:xfrm>
        </p:grpSpPr>
        <p:sp>
          <p:nvSpPr>
            <p:cNvPr id="487" name="Google Shape;632;p56"/>
            <p:cNvSpPr/>
            <p:nvPr/>
          </p:nvSpPr>
          <p:spPr>
            <a:xfrm>
              <a:off x="4245840" y="2465640"/>
              <a:ext cx="863640" cy="360"/>
            </a:xfrm>
            <a:custGeom>
              <a:avLst/>
              <a:gdLst/>
              <a:ahLst/>
              <a:rect l="l" t="t" r="r" b="b"/>
              <a:pathLst>
                <a:path w="866775" h="120000">
                  <a:moveTo>
                    <a:pt x="8666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8" name="Google Shape;633;p56"/>
            <p:cNvSpPr/>
            <p:nvPr/>
          </p:nvSpPr>
          <p:spPr>
            <a:xfrm>
              <a:off x="4149720" y="242460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9" name="Google Shape;634;p56"/>
            <p:cNvSpPr/>
            <p:nvPr/>
          </p:nvSpPr>
          <p:spPr>
            <a:xfrm>
              <a:off x="4245840" y="3097440"/>
              <a:ext cx="863640" cy="360"/>
            </a:xfrm>
            <a:custGeom>
              <a:avLst/>
              <a:gdLst/>
              <a:ahLst/>
              <a:rect l="l" t="t" r="r" b="b"/>
              <a:pathLst>
                <a:path w="866775" h="120000">
                  <a:moveTo>
                    <a:pt x="8666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0" name="Google Shape;635;p56"/>
            <p:cNvSpPr/>
            <p:nvPr/>
          </p:nvSpPr>
          <p:spPr>
            <a:xfrm>
              <a:off x="4149720" y="305640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91" name="Google Shape;636;p56"/>
          <p:cNvSpPr/>
          <p:nvPr/>
        </p:nvSpPr>
        <p:spPr>
          <a:xfrm>
            <a:off x="5198400" y="2323440"/>
            <a:ext cx="16401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Imperative approach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92" name="Google Shape;637;p56"/>
          <p:cNvSpPr/>
          <p:nvPr/>
        </p:nvSpPr>
        <p:spPr>
          <a:xfrm>
            <a:off x="5182920" y="2955600"/>
            <a:ext cx="17017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Declarative approach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ED7A24E-29E0-45B1-A7B8-C15813603993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642;p57"/>
          <p:cNvSpPr/>
          <p:nvPr/>
        </p:nvSpPr>
        <p:spPr>
          <a:xfrm>
            <a:off x="441720" y="1289880"/>
            <a:ext cx="75528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Prevent naming collisions and a scope for object names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8508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Understanding Namespaces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495" name="Google Shape;644;p57"/>
          <p:cNvGrpSpPr/>
          <p:nvPr/>
        </p:nvGrpSpPr>
        <p:grpSpPr>
          <a:xfrm>
            <a:off x="1811880" y="2607480"/>
            <a:ext cx="1346760" cy="1112400"/>
            <a:chOff x="1811880" y="2607480"/>
            <a:chExt cx="1346760" cy="1112400"/>
          </a:xfrm>
        </p:grpSpPr>
        <p:sp>
          <p:nvSpPr>
            <p:cNvPr id="496" name="Google Shape;645;p57"/>
            <p:cNvSpPr/>
            <p:nvPr/>
          </p:nvSpPr>
          <p:spPr>
            <a:xfrm>
              <a:off x="1811880" y="2607480"/>
              <a:ext cx="1346760" cy="1112400"/>
            </a:xfrm>
            <a:custGeom>
              <a:avLst/>
              <a:gdLst/>
              <a:ahLst/>
              <a:rect l="l" t="t" r="r" b="b"/>
              <a:pathLst>
                <a:path w="1350010" h="1115695">
                  <a:moveTo>
                    <a:pt x="0" y="57849"/>
                  </a:moveTo>
                  <a:lnTo>
                    <a:pt x="4545" y="35331"/>
                  </a:lnTo>
                  <a:lnTo>
                    <a:pt x="16942" y="16943"/>
                  </a:lnTo>
                  <a:lnTo>
                    <a:pt x="35328" y="4546"/>
                  </a:lnTo>
                  <a:lnTo>
                    <a:pt x="57844" y="0"/>
                  </a:lnTo>
                  <a:lnTo>
                    <a:pt x="1292147" y="0"/>
                  </a:lnTo>
                  <a:lnTo>
                    <a:pt x="1333047" y="16949"/>
                  </a:lnTo>
                  <a:lnTo>
                    <a:pt x="1349997" y="57849"/>
                  </a:lnTo>
                  <a:lnTo>
                    <a:pt x="1349997" y="1057547"/>
                  </a:lnTo>
                  <a:lnTo>
                    <a:pt x="1345451" y="1080065"/>
                  </a:lnTo>
                  <a:lnTo>
                    <a:pt x="1333053" y="1098454"/>
                  </a:lnTo>
                  <a:lnTo>
                    <a:pt x="1314665" y="1110851"/>
                  </a:lnTo>
                  <a:lnTo>
                    <a:pt x="1292147" y="1115397"/>
                  </a:lnTo>
                  <a:lnTo>
                    <a:pt x="57844" y="1115397"/>
                  </a:lnTo>
                  <a:lnTo>
                    <a:pt x="35328" y="1110851"/>
                  </a:lnTo>
                  <a:lnTo>
                    <a:pt x="16942" y="1098454"/>
                  </a:lnTo>
                  <a:lnTo>
                    <a:pt x="4545" y="1080065"/>
                  </a:lnTo>
                  <a:lnTo>
                    <a:pt x="0" y="1057547"/>
                  </a:lnTo>
                  <a:lnTo>
                    <a:pt x="0" y="5784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7" name="Google Shape;646;p57"/>
            <p:cNvSpPr/>
            <p:nvPr/>
          </p:nvSpPr>
          <p:spPr>
            <a:xfrm>
              <a:off x="2018520" y="2810160"/>
              <a:ext cx="928800" cy="730800"/>
            </a:xfrm>
            <a:custGeom>
              <a:avLst/>
              <a:gdLst/>
              <a:ahLst/>
              <a:rect l="l" t="t" r="r" b="b"/>
              <a:pathLst>
                <a:path w="932180" h="734060">
                  <a:moveTo>
                    <a:pt x="894048" y="733798"/>
                  </a:moveTo>
                  <a:lnTo>
                    <a:pt x="38054" y="733798"/>
                  </a:lnTo>
                  <a:lnTo>
                    <a:pt x="23242" y="730806"/>
                  </a:lnTo>
                  <a:lnTo>
                    <a:pt x="11145" y="722648"/>
                  </a:lnTo>
                  <a:lnTo>
                    <a:pt x="2990" y="710553"/>
                  </a:lnTo>
                  <a:lnTo>
                    <a:pt x="0" y="695748"/>
                  </a:lnTo>
                  <a:lnTo>
                    <a:pt x="0" y="38049"/>
                  </a:lnTo>
                  <a:lnTo>
                    <a:pt x="2990" y="23245"/>
                  </a:lnTo>
                  <a:lnTo>
                    <a:pt x="11145" y="11149"/>
                  </a:lnTo>
                  <a:lnTo>
                    <a:pt x="23242" y="2992"/>
                  </a:lnTo>
                  <a:lnTo>
                    <a:pt x="38054" y="0"/>
                  </a:lnTo>
                  <a:lnTo>
                    <a:pt x="894048" y="0"/>
                  </a:lnTo>
                  <a:lnTo>
                    <a:pt x="929204" y="23484"/>
                  </a:lnTo>
                  <a:lnTo>
                    <a:pt x="932098" y="38049"/>
                  </a:lnTo>
                  <a:lnTo>
                    <a:pt x="932098" y="695748"/>
                  </a:lnTo>
                  <a:lnTo>
                    <a:pt x="929105" y="710553"/>
                  </a:lnTo>
                  <a:lnTo>
                    <a:pt x="920948" y="722648"/>
                  </a:lnTo>
                  <a:lnTo>
                    <a:pt x="908852" y="730806"/>
                  </a:lnTo>
                  <a:lnTo>
                    <a:pt x="894048" y="733798"/>
                  </a:lnTo>
                  <a:close/>
                </a:path>
              </a:pathLst>
            </a:custGeom>
            <a:solidFill>
              <a:srgbClr val="f7f7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" name="Google Shape;647;p57"/>
            <p:cNvSpPr/>
            <p:nvPr/>
          </p:nvSpPr>
          <p:spPr>
            <a:xfrm>
              <a:off x="2018520" y="2810160"/>
              <a:ext cx="928800" cy="730800"/>
            </a:xfrm>
            <a:custGeom>
              <a:avLst/>
              <a:gdLst/>
              <a:ahLst/>
              <a:rect l="l" t="t" r="r" b="b"/>
              <a:pathLst>
                <a:path w="932180" h="734060">
                  <a:moveTo>
                    <a:pt x="0" y="38049"/>
                  </a:moveTo>
                  <a:lnTo>
                    <a:pt x="2990" y="23245"/>
                  </a:lnTo>
                  <a:lnTo>
                    <a:pt x="11145" y="11149"/>
                  </a:lnTo>
                  <a:lnTo>
                    <a:pt x="23242" y="2992"/>
                  </a:lnTo>
                  <a:lnTo>
                    <a:pt x="38054" y="0"/>
                  </a:lnTo>
                  <a:lnTo>
                    <a:pt x="894048" y="0"/>
                  </a:lnTo>
                  <a:lnTo>
                    <a:pt x="929204" y="23484"/>
                  </a:lnTo>
                  <a:lnTo>
                    <a:pt x="932098" y="38049"/>
                  </a:lnTo>
                  <a:lnTo>
                    <a:pt x="932098" y="695748"/>
                  </a:lnTo>
                  <a:lnTo>
                    <a:pt x="929105" y="710553"/>
                  </a:lnTo>
                  <a:lnTo>
                    <a:pt x="920948" y="722648"/>
                  </a:lnTo>
                  <a:lnTo>
                    <a:pt x="908852" y="730806"/>
                  </a:lnTo>
                  <a:lnTo>
                    <a:pt x="894048" y="733798"/>
                  </a:lnTo>
                  <a:lnTo>
                    <a:pt x="38054" y="733798"/>
                  </a:lnTo>
                  <a:lnTo>
                    <a:pt x="23242" y="730806"/>
                  </a:lnTo>
                  <a:lnTo>
                    <a:pt x="11145" y="722648"/>
                  </a:lnTo>
                  <a:lnTo>
                    <a:pt x="2990" y="710553"/>
                  </a:lnTo>
                  <a:lnTo>
                    <a:pt x="0" y="695748"/>
                  </a:lnTo>
                  <a:lnTo>
                    <a:pt x="0" y="3804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99" name="Google Shape;648;p57"/>
          <p:cNvSpPr/>
          <p:nvPr/>
        </p:nvSpPr>
        <p:spPr>
          <a:xfrm>
            <a:off x="2224080" y="3047760"/>
            <a:ext cx="528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d3002d"/>
                </a:solidFill>
                <a:latin typeface="Arial"/>
                <a:ea typeface="Arial"/>
              </a:rPr>
              <a:t>Pod A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500" name="Google Shape;649;p57"/>
          <p:cNvGrpSpPr/>
          <p:nvPr/>
        </p:nvGrpSpPr>
        <p:grpSpPr>
          <a:xfrm>
            <a:off x="4483800" y="2607480"/>
            <a:ext cx="2454840" cy="1112400"/>
            <a:chOff x="4483800" y="2607480"/>
            <a:chExt cx="2454840" cy="1112400"/>
          </a:xfrm>
        </p:grpSpPr>
        <p:sp>
          <p:nvSpPr>
            <p:cNvPr id="501" name="Google Shape;650;p57"/>
            <p:cNvSpPr/>
            <p:nvPr/>
          </p:nvSpPr>
          <p:spPr>
            <a:xfrm>
              <a:off x="4483800" y="2607480"/>
              <a:ext cx="2454840" cy="1112400"/>
            </a:xfrm>
            <a:custGeom>
              <a:avLst/>
              <a:gdLst/>
              <a:ahLst/>
              <a:rect l="l" t="t" r="r" b="b"/>
              <a:pathLst>
                <a:path w="2458084" h="1115695">
                  <a:moveTo>
                    <a:pt x="0" y="57849"/>
                  </a:moveTo>
                  <a:lnTo>
                    <a:pt x="4546" y="35331"/>
                  </a:lnTo>
                  <a:lnTo>
                    <a:pt x="16943" y="16943"/>
                  </a:lnTo>
                  <a:lnTo>
                    <a:pt x="35331" y="4546"/>
                  </a:lnTo>
                  <a:lnTo>
                    <a:pt x="57849" y="0"/>
                  </a:lnTo>
                  <a:lnTo>
                    <a:pt x="2399745" y="0"/>
                  </a:lnTo>
                  <a:lnTo>
                    <a:pt x="2440645" y="16949"/>
                  </a:lnTo>
                  <a:lnTo>
                    <a:pt x="2457595" y="57849"/>
                  </a:lnTo>
                  <a:lnTo>
                    <a:pt x="2457595" y="1057547"/>
                  </a:lnTo>
                  <a:lnTo>
                    <a:pt x="2453048" y="1080065"/>
                  </a:lnTo>
                  <a:lnTo>
                    <a:pt x="2440651" y="1098454"/>
                  </a:lnTo>
                  <a:lnTo>
                    <a:pt x="2422263" y="1110851"/>
                  </a:lnTo>
                  <a:lnTo>
                    <a:pt x="2399745" y="1115397"/>
                  </a:lnTo>
                  <a:lnTo>
                    <a:pt x="57849" y="1115397"/>
                  </a:lnTo>
                  <a:lnTo>
                    <a:pt x="35331" y="1110851"/>
                  </a:lnTo>
                  <a:lnTo>
                    <a:pt x="16943" y="1098454"/>
                  </a:lnTo>
                  <a:lnTo>
                    <a:pt x="4546" y="1080065"/>
                  </a:lnTo>
                  <a:lnTo>
                    <a:pt x="0" y="1057547"/>
                  </a:lnTo>
                  <a:lnTo>
                    <a:pt x="0" y="5784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2" name="Google Shape;651;p57"/>
            <p:cNvSpPr/>
            <p:nvPr/>
          </p:nvSpPr>
          <p:spPr>
            <a:xfrm>
              <a:off x="4690440" y="2810160"/>
              <a:ext cx="928800" cy="730800"/>
            </a:xfrm>
            <a:custGeom>
              <a:avLst/>
              <a:gdLst/>
              <a:ahLst/>
              <a:rect l="l" t="t" r="r" b="b"/>
              <a:pathLst>
                <a:path w="932179" h="734060">
                  <a:moveTo>
                    <a:pt x="894048" y="733798"/>
                  </a:moveTo>
                  <a:lnTo>
                    <a:pt x="38049" y="733798"/>
                  </a:lnTo>
                  <a:lnTo>
                    <a:pt x="23245" y="730806"/>
                  </a:lnTo>
                  <a:lnTo>
                    <a:pt x="11149" y="722648"/>
                  </a:lnTo>
                  <a:lnTo>
                    <a:pt x="2992" y="710553"/>
                  </a:lnTo>
                  <a:lnTo>
                    <a:pt x="0" y="695748"/>
                  </a:lnTo>
                  <a:lnTo>
                    <a:pt x="0" y="38049"/>
                  </a:lnTo>
                  <a:lnTo>
                    <a:pt x="2992" y="23245"/>
                  </a:lnTo>
                  <a:lnTo>
                    <a:pt x="11149" y="11149"/>
                  </a:lnTo>
                  <a:lnTo>
                    <a:pt x="23245" y="2992"/>
                  </a:lnTo>
                  <a:lnTo>
                    <a:pt x="38049" y="0"/>
                  </a:lnTo>
                  <a:lnTo>
                    <a:pt x="894048" y="0"/>
                  </a:lnTo>
                  <a:lnTo>
                    <a:pt x="929204" y="23484"/>
                  </a:lnTo>
                  <a:lnTo>
                    <a:pt x="932098" y="38049"/>
                  </a:lnTo>
                  <a:lnTo>
                    <a:pt x="932098" y="695748"/>
                  </a:lnTo>
                  <a:lnTo>
                    <a:pt x="929105" y="710553"/>
                  </a:lnTo>
                  <a:lnTo>
                    <a:pt x="920948" y="722648"/>
                  </a:lnTo>
                  <a:lnTo>
                    <a:pt x="908852" y="730806"/>
                  </a:lnTo>
                  <a:lnTo>
                    <a:pt x="894048" y="733798"/>
                  </a:lnTo>
                  <a:close/>
                </a:path>
              </a:pathLst>
            </a:custGeom>
            <a:solidFill>
              <a:srgbClr val="f7f7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3" name="Google Shape;652;p57"/>
            <p:cNvSpPr/>
            <p:nvPr/>
          </p:nvSpPr>
          <p:spPr>
            <a:xfrm>
              <a:off x="4690440" y="2810160"/>
              <a:ext cx="928800" cy="730800"/>
            </a:xfrm>
            <a:custGeom>
              <a:avLst/>
              <a:gdLst/>
              <a:ahLst/>
              <a:rect l="l" t="t" r="r" b="b"/>
              <a:pathLst>
                <a:path w="932179" h="734060">
                  <a:moveTo>
                    <a:pt x="0" y="38049"/>
                  </a:moveTo>
                  <a:lnTo>
                    <a:pt x="2992" y="23245"/>
                  </a:lnTo>
                  <a:lnTo>
                    <a:pt x="11149" y="11149"/>
                  </a:lnTo>
                  <a:lnTo>
                    <a:pt x="23245" y="2992"/>
                  </a:lnTo>
                  <a:lnTo>
                    <a:pt x="38049" y="0"/>
                  </a:lnTo>
                  <a:lnTo>
                    <a:pt x="894048" y="0"/>
                  </a:lnTo>
                  <a:lnTo>
                    <a:pt x="929204" y="23484"/>
                  </a:lnTo>
                  <a:lnTo>
                    <a:pt x="932098" y="38049"/>
                  </a:lnTo>
                  <a:lnTo>
                    <a:pt x="932098" y="695748"/>
                  </a:lnTo>
                  <a:lnTo>
                    <a:pt x="929105" y="710553"/>
                  </a:lnTo>
                  <a:lnTo>
                    <a:pt x="920948" y="722648"/>
                  </a:lnTo>
                  <a:lnTo>
                    <a:pt x="908852" y="730806"/>
                  </a:lnTo>
                  <a:lnTo>
                    <a:pt x="894048" y="733798"/>
                  </a:lnTo>
                  <a:lnTo>
                    <a:pt x="38049" y="733798"/>
                  </a:lnTo>
                  <a:lnTo>
                    <a:pt x="23245" y="730806"/>
                  </a:lnTo>
                  <a:lnTo>
                    <a:pt x="11149" y="722648"/>
                  </a:lnTo>
                  <a:lnTo>
                    <a:pt x="2992" y="710553"/>
                  </a:lnTo>
                  <a:lnTo>
                    <a:pt x="0" y="695748"/>
                  </a:lnTo>
                  <a:lnTo>
                    <a:pt x="0" y="3804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04" name="Google Shape;653;p57"/>
          <p:cNvSpPr/>
          <p:nvPr/>
        </p:nvSpPr>
        <p:spPr>
          <a:xfrm>
            <a:off x="4896360" y="3047760"/>
            <a:ext cx="534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d3002d"/>
                </a:solidFill>
                <a:latin typeface="Arial"/>
                <a:ea typeface="Arial"/>
              </a:rPr>
              <a:t>Pod B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505" name="Google Shape;654;p57"/>
          <p:cNvGrpSpPr/>
          <p:nvPr/>
        </p:nvGrpSpPr>
        <p:grpSpPr>
          <a:xfrm>
            <a:off x="5785920" y="2810160"/>
            <a:ext cx="928800" cy="730800"/>
            <a:chOff x="5785920" y="2810160"/>
            <a:chExt cx="928800" cy="730800"/>
          </a:xfrm>
        </p:grpSpPr>
        <p:sp>
          <p:nvSpPr>
            <p:cNvPr id="506" name="Google Shape;655;p57"/>
            <p:cNvSpPr/>
            <p:nvPr/>
          </p:nvSpPr>
          <p:spPr>
            <a:xfrm>
              <a:off x="5785920" y="2810160"/>
              <a:ext cx="928800" cy="730800"/>
            </a:xfrm>
            <a:custGeom>
              <a:avLst/>
              <a:gdLst/>
              <a:ahLst/>
              <a:rect l="l" t="t" r="r" b="b"/>
              <a:pathLst>
                <a:path w="932179" h="734060">
                  <a:moveTo>
                    <a:pt x="894048" y="733798"/>
                  </a:moveTo>
                  <a:lnTo>
                    <a:pt x="38049" y="733798"/>
                  </a:lnTo>
                  <a:lnTo>
                    <a:pt x="23245" y="730806"/>
                  </a:lnTo>
                  <a:lnTo>
                    <a:pt x="11149" y="722648"/>
                  </a:lnTo>
                  <a:lnTo>
                    <a:pt x="2992" y="710553"/>
                  </a:lnTo>
                  <a:lnTo>
                    <a:pt x="0" y="695748"/>
                  </a:lnTo>
                  <a:lnTo>
                    <a:pt x="0" y="38049"/>
                  </a:lnTo>
                  <a:lnTo>
                    <a:pt x="2992" y="23245"/>
                  </a:lnTo>
                  <a:lnTo>
                    <a:pt x="11149" y="11149"/>
                  </a:lnTo>
                  <a:lnTo>
                    <a:pt x="23245" y="2992"/>
                  </a:lnTo>
                  <a:lnTo>
                    <a:pt x="38049" y="0"/>
                  </a:lnTo>
                  <a:lnTo>
                    <a:pt x="894048" y="0"/>
                  </a:lnTo>
                  <a:lnTo>
                    <a:pt x="929204" y="23484"/>
                  </a:lnTo>
                  <a:lnTo>
                    <a:pt x="932098" y="38049"/>
                  </a:lnTo>
                  <a:lnTo>
                    <a:pt x="932098" y="695748"/>
                  </a:lnTo>
                  <a:lnTo>
                    <a:pt x="929105" y="710553"/>
                  </a:lnTo>
                  <a:lnTo>
                    <a:pt x="920948" y="722648"/>
                  </a:lnTo>
                  <a:lnTo>
                    <a:pt x="908852" y="730806"/>
                  </a:lnTo>
                  <a:lnTo>
                    <a:pt x="894048" y="733798"/>
                  </a:lnTo>
                  <a:close/>
                </a:path>
              </a:pathLst>
            </a:custGeom>
            <a:solidFill>
              <a:srgbClr val="f7f7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7" name="Google Shape;656;p57"/>
            <p:cNvSpPr/>
            <p:nvPr/>
          </p:nvSpPr>
          <p:spPr>
            <a:xfrm>
              <a:off x="5785920" y="2810160"/>
              <a:ext cx="928800" cy="730800"/>
            </a:xfrm>
            <a:custGeom>
              <a:avLst/>
              <a:gdLst/>
              <a:ahLst/>
              <a:rect l="l" t="t" r="r" b="b"/>
              <a:pathLst>
                <a:path w="932179" h="734060">
                  <a:moveTo>
                    <a:pt x="0" y="38049"/>
                  </a:moveTo>
                  <a:lnTo>
                    <a:pt x="2992" y="23245"/>
                  </a:lnTo>
                  <a:lnTo>
                    <a:pt x="11149" y="11149"/>
                  </a:lnTo>
                  <a:lnTo>
                    <a:pt x="23245" y="2992"/>
                  </a:lnTo>
                  <a:lnTo>
                    <a:pt x="38049" y="0"/>
                  </a:lnTo>
                  <a:lnTo>
                    <a:pt x="894048" y="0"/>
                  </a:lnTo>
                  <a:lnTo>
                    <a:pt x="929204" y="23484"/>
                  </a:lnTo>
                  <a:lnTo>
                    <a:pt x="932098" y="38049"/>
                  </a:lnTo>
                  <a:lnTo>
                    <a:pt x="932098" y="695748"/>
                  </a:lnTo>
                  <a:lnTo>
                    <a:pt x="929105" y="710553"/>
                  </a:lnTo>
                  <a:lnTo>
                    <a:pt x="920948" y="722648"/>
                  </a:lnTo>
                  <a:lnTo>
                    <a:pt x="908852" y="730806"/>
                  </a:lnTo>
                  <a:lnTo>
                    <a:pt x="894048" y="733798"/>
                  </a:lnTo>
                  <a:lnTo>
                    <a:pt x="38049" y="733798"/>
                  </a:lnTo>
                  <a:lnTo>
                    <a:pt x="23245" y="730806"/>
                  </a:lnTo>
                  <a:lnTo>
                    <a:pt x="11149" y="722648"/>
                  </a:lnTo>
                  <a:lnTo>
                    <a:pt x="2992" y="710553"/>
                  </a:lnTo>
                  <a:lnTo>
                    <a:pt x="0" y="695748"/>
                  </a:lnTo>
                  <a:lnTo>
                    <a:pt x="0" y="3804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08" name="Google Shape;657;p57"/>
          <p:cNvSpPr/>
          <p:nvPr/>
        </p:nvSpPr>
        <p:spPr>
          <a:xfrm>
            <a:off x="5991480" y="3047760"/>
            <a:ext cx="534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d3002d"/>
                </a:solidFill>
                <a:latin typeface="Arial"/>
                <a:ea typeface="Arial"/>
              </a:rPr>
              <a:t>Pod C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509" name="Google Shape;658;p57"/>
          <p:cNvSpPr/>
          <p:nvPr/>
        </p:nvSpPr>
        <p:spPr>
          <a:xfrm>
            <a:off x="1569600" y="3858480"/>
            <a:ext cx="202824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Default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namespace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510" name="Google Shape;659;p57"/>
          <p:cNvSpPr/>
          <p:nvPr/>
        </p:nvSpPr>
        <p:spPr>
          <a:xfrm>
            <a:off x="4925520" y="3858480"/>
            <a:ext cx="17892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other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namespace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556A2D5-486D-49B1-8750-3FE365A29527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664;p58"/>
          <p:cNvSpPr/>
          <p:nvPr/>
        </p:nvSpPr>
        <p:spPr>
          <a:xfrm>
            <a:off x="441720" y="1289880"/>
            <a:ext cx="68860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Reference namespace with </a:t>
            </a:r>
            <a:r>
              <a:rPr b="0" i="1" lang="en-US" sz="2400" spc="-1" strike="noStrike">
                <a:solidFill>
                  <a:srgbClr val="595959"/>
                </a:solidFill>
                <a:latin typeface="Courier New"/>
                <a:ea typeface="Courier New"/>
              </a:rPr>
              <a:t>--namespace </a:t>
            </a: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or </a:t>
            </a:r>
            <a:r>
              <a:rPr b="0" i="1" lang="en-US" sz="2400" spc="-1" strike="noStrike">
                <a:solidFill>
                  <a:srgbClr val="595959"/>
                </a:solidFill>
                <a:latin typeface="Courier New"/>
                <a:ea typeface="Courier New"/>
              </a:rPr>
              <a:t>-n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80632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Creating and Using a Namespace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513" name="Google Shape;666;p58"/>
          <p:cNvSpPr/>
          <p:nvPr/>
        </p:nvSpPr>
        <p:spPr>
          <a:xfrm>
            <a:off x="446040" y="2137680"/>
            <a:ext cx="6999480" cy="23788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Google Shape;667;p58"/>
          <p:cNvSpPr/>
          <p:nvPr/>
        </p:nvSpPr>
        <p:spPr>
          <a:xfrm>
            <a:off x="499680" y="2185920"/>
            <a:ext cx="6885720" cy="234108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9760" bIns="0" anchor="t">
            <a:spAutoFit/>
          </a:bodyPr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namespace code-red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namespace/code-red created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run nginx --image=nginx --restart=Never -n code-red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pod/nginx created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get pods -n code-red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READY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STATUS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RESTARTS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AGE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1/1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Running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0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13s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62D9D9E-3032-4B72-963B-F5B73ED47CD0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672;p59"/>
          <p:cNvSpPr/>
          <p:nvPr/>
        </p:nvSpPr>
        <p:spPr>
          <a:xfrm>
            <a:off x="441720" y="1289880"/>
            <a:ext cx="59281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Only defines the name, no additional details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7370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Namespace YAML Manifest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517" name="Google Shape;675;p59"/>
          <p:cNvSpPr/>
          <p:nvPr/>
        </p:nvSpPr>
        <p:spPr>
          <a:xfrm>
            <a:off x="499680" y="2185920"/>
            <a:ext cx="2016720" cy="9475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8680" bIns="0" anchor="t">
            <a:spAutoFit/>
          </a:bodyPr>
          <a:p>
            <a:pPr marL="20844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Namespace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402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code-red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46C83EE-1D1B-40B8-A972-495051904C58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680;p60"/>
          <p:cNvSpPr/>
          <p:nvPr/>
        </p:nvSpPr>
        <p:spPr>
          <a:xfrm>
            <a:off x="441720" y="1289880"/>
            <a:ext cx="48322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Cascade-deletes containing objects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4118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Deleting a Namespace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520" name="Google Shape;682;p60"/>
          <p:cNvSpPr/>
          <p:nvPr/>
        </p:nvSpPr>
        <p:spPr>
          <a:xfrm>
            <a:off x="446040" y="2137680"/>
            <a:ext cx="4845600" cy="15256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Google Shape;683;p60"/>
          <p:cNvSpPr/>
          <p:nvPr/>
        </p:nvSpPr>
        <p:spPr>
          <a:xfrm>
            <a:off x="499680" y="2185920"/>
            <a:ext cx="4731840" cy="137196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9760" bIns="0" anchor="t">
            <a:spAutoFit/>
          </a:bodyPr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delete namespace code-red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namespace "code-red" deleted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get pods -n code-red</a:t>
            </a:r>
            <a:endParaRPr b="0" lang="fr-FR" sz="1400" spc="-1" strike="noStrike">
              <a:latin typeface="Arial"/>
            </a:endParaRPr>
          </a:p>
          <a:p>
            <a:pPr marL="17604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No resources found in code-red namespace.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667A3E4-8E13-4D5E-B2A2-F6BE08F52DCD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object 31"/>
          <p:cNvSpPr/>
          <p:nvPr/>
        </p:nvSpPr>
        <p:spPr>
          <a:xfrm>
            <a:off x="2945880" y="2061720"/>
            <a:ext cx="3708000" cy="9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0200" indent="-32832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Creating a Pod and inspecting it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523" name="object 32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02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7B6EA7-B3C2-46E4-B61A-B2129E7EFD7F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694;p63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Google Shape;695;p63"/>
          <p:cNvSpPr/>
          <p:nvPr/>
        </p:nvSpPr>
        <p:spPr>
          <a:xfrm>
            <a:off x="545040" y="1629360"/>
            <a:ext cx="476172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Jobs and CronJobs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526" name="Google Shape;696;p63"/>
          <p:cNvSpPr/>
          <p:nvPr/>
        </p:nvSpPr>
        <p:spPr>
          <a:xfrm>
            <a:off x="545040" y="2375640"/>
            <a:ext cx="6289560" cy="7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Differences to Pods, One-Time Operations,  Scheduled Operations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F266461-EA45-4646-B8E5-E423C0F6EF33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701;p64"/>
          <p:cNvSpPr/>
          <p:nvPr/>
        </p:nvSpPr>
        <p:spPr>
          <a:xfrm>
            <a:off x="385920" y="1149840"/>
            <a:ext cx="831168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Kubernetes primitives with different use cases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Pod: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Continuous operation of an application kept running without  interrupts if possible.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Job: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Runs functionality until a specified number of completions has  been reached, making it a good fit for one-time operations like  import/export data processes or I/O-intensive processes with a finite  end.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CronJob: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Essentially a Job, but it’s run periodically based a schedule.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7899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Pods vs. Jobs vs. CronJobs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DFE13D6-74F9-4D67-BDDB-D86292C28357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707;p65"/>
          <p:cNvSpPr/>
          <p:nvPr/>
        </p:nvSpPr>
        <p:spPr>
          <a:xfrm>
            <a:off x="385920" y="1149840"/>
            <a:ext cx="753192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"Increment a counter and render its value on the terminal"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35481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Creating a Job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531" name="Google Shape;709;p65"/>
          <p:cNvSpPr/>
          <p:nvPr/>
        </p:nvSpPr>
        <p:spPr>
          <a:xfrm>
            <a:off x="435600" y="2057040"/>
            <a:ext cx="6668280" cy="13536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Google Shape;710;p65"/>
          <p:cNvSpPr/>
          <p:nvPr/>
        </p:nvSpPr>
        <p:spPr>
          <a:xfrm>
            <a:off x="489240" y="2105280"/>
            <a:ext cx="6707880" cy="120780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4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450720" indent="-213480">
              <a:lnSpc>
                <a:spcPct val="117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job counter --image=nginx -- /bin/sh -c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↵ </a:t>
            </a: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'counter=0; while [ $counter -lt 3 ]; do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↵  </a:t>
            </a:r>
            <a:endParaRPr b="0" lang="fr-FR" sz="1400" spc="-1" strike="noStrike">
              <a:latin typeface="Arial"/>
            </a:endParaRPr>
          </a:p>
          <a:p>
            <a:pPr marL="450720" indent="-213480">
              <a:lnSpc>
                <a:spcPct val="117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counter=$((counter+1)); echo "$counter"; sleep 3; done;'</a:t>
            </a:r>
            <a:endParaRPr b="0" lang="fr-FR" sz="1400" spc="-1" strike="noStrike">
              <a:latin typeface="Arial"/>
            </a:endParaRPr>
          </a:p>
          <a:p>
            <a:pPr marL="237600" indent="-21348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job.batch/counter created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4398FAA-F088-4D4F-9D59-A0B4EB7A8B5D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8265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Job YAML Manifest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534" name="Google Shape;716;p66"/>
          <p:cNvGrpSpPr/>
          <p:nvPr/>
        </p:nvGrpSpPr>
        <p:grpSpPr>
          <a:xfrm>
            <a:off x="373680" y="1212840"/>
            <a:ext cx="3783600" cy="3750480"/>
            <a:chOff x="373680" y="1212840"/>
            <a:chExt cx="3783600" cy="3750480"/>
          </a:xfrm>
        </p:grpSpPr>
        <p:sp>
          <p:nvSpPr>
            <p:cNvPr id="535" name="Google Shape;717;p66"/>
            <p:cNvSpPr/>
            <p:nvPr/>
          </p:nvSpPr>
          <p:spPr>
            <a:xfrm>
              <a:off x="373680" y="1212840"/>
              <a:ext cx="3783600" cy="37504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6" name="Google Shape;718;p66"/>
            <p:cNvSpPr/>
            <p:nvPr/>
          </p:nvSpPr>
          <p:spPr>
            <a:xfrm>
              <a:off x="427320" y="1261080"/>
              <a:ext cx="3669480" cy="3636720"/>
            </a:xfrm>
            <a:custGeom>
              <a:avLst/>
              <a:gdLst/>
              <a:ahLst/>
              <a:rect l="l" t="t" r="r" b="b"/>
              <a:pathLst>
                <a:path w="3672840" h="3639820">
                  <a:moveTo>
                    <a:pt x="3672592" y="3639292"/>
                  </a:moveTo>
                  <a:lnTo>
                    <a:pt x="0" y="3639292"/>
                  </a:lnTo>
                  <a:lnTo>
                    <a:pt x="0" y="0"/>
                  </a:lnTo>
                  <a:lnTo>
                    <a:pt x="3672592" y="0"/>
                  </a:lnTo>
                  <a:lnTo>
                    <a:pt x="3672592" y="3639292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37" name="Google Shape;719;p66"/>
          <p:cNvSpPr/>
          <p:nvPr/>
        </p:nvSpPr>
        <p:spPr>
          <a:xfrm>
            <a:off x="618480" y="1194840"/>
            <a:ext cx="1851840" cy="10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batch/v1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Job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counter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38" name="Google Shape;720;p66"/>
          <p:cNvSpPr/>
          <p:nvPr/>
        </p:nvSpPr>
        <p:spPr>
          <a:xfrm>
            <a:off x="744840" y="2309400"/>
            <a:ext cx="1514520" cy="63792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69120">
              <a:lnSpc>
                <a:spcPct val="113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completions: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1</a:t>
            </a:r>
            <a:endParaRPr b="0" lang="fr-FR" sz="1200" spc="-1" strike="noStrike">
              <a:latin typeface="Arial"/>
            </a:endParaRPr>
          </a:p>
          <a:p>
            <a:pPr marL="69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parallelism: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1</a:t>
            </a:r>
            <a:endParaRPr b="0" lang="fr-FR" sz="1200" spc="-1" strike="noStrike">
              <a:latin typeface="Arial"/>
            </a:endParaRPr>
          </a:p>
          <a:p>
            <a:pPr marL="6912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backoffLimit: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6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39" name="Google Shape;721;p66"/>
          <p:cNvSpPr/>
          <p:nvPr/>
        </p:nvSpPr>
        <p:spPr>
          <a:xfrm>
            <a:off x="801360" y="2867040"/>
            <a:ext cx="99576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0160" bIns="0" anchor="t">
            <a:spAutoFit/>
          </a:bodyPr>
          <a:p>
            <a:pPr marL="195480" indent="-183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template:  spec: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40" name="Google Shape;722;p66"/>
          <p:cNvSpPr/>
          <p:nvPr/>
        </p:nvSpPr>
        <p:spPr>
          <a:xfrm>
            <a:off x="1104120" y="3284280"/>
            <a:ext cx="2340000" cy="19872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75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restartPolicy: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OnFailure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41" name="Google Shape;723;p66"/>
          <p:cNvSpPr/>
          <p:nvPr/>
        </p:nvSpPr>
        <p:spPr>
          <a:xfrm>
            <a:off x="1167120" y="3486240"/>
            <a:ext cx="10278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42" name="Google Shape;724;p66"/>
          <p:cNvSpPr/>
          <p:nvPr/>
        </p:nvSpPr>
        <p:spPr>
          <a:xfrm>
            <a:off x="1167120" y="3595320"/>
            <a:ext cx="1394640" cy="13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480" indent="-183600">
              <a:lnSpc>
                <a:spcPct val="119000"/>
              </a:lnSpc>
              <a:buClr>
                <a:srgbClr val="000000"/>
              </a:buClr>
              <a:buFont typeface="Courier New"/>
              <a:buChar char="-"/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args:</a:t>
            </a:r>
            <a:endParaRPr b="0" lang="fr-FR" sz="1200" spc="-1" strike="noStrike">
              <a:latin typeface="Arial"/>
            </a:endParaRPr>
          </a:p>
          <a:p>
            <a:pPr lvl="1" marL="378000" indent="-183600">
              <a:lnSpc>
                <a:spcPct val="118000"/>
              </a:lnSpc>
              <a:buClr>
                <a:srgbClr val="000000"/>
              </a:buClr>
              <a:buFont typeface="Courier New"/>
              <a:buChar char="-"/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/bin/sh</a:t>
            </a:r>
            <a:endParaRPr b="0" lang="fr-FR" sz="1200" spc="-1" strike="noStrike">
              <a:latin typeface="Arial"/>
            </a:endParaRPr>
          </a:p>
          <a:p>
            <a:pPr lvl="1" marL="378000" indent="-183600">
              <a:lnSpc>
                <a:spcPct val="118000"/>
              </a:lnSpc>
              <a:buClr>
                <a:srgbClr val="000000"/>
              </a:buClr>
              <a:buFont typeface="Courier New"/>
              <a:buChar char="-"/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-c</a:t>
            </a:r>
            <a:endParaRPr b="0" lang="fr-FR" sz="1200" spc="-1" strike="noStrike">
              <a:latin typeface="Arial"/>
            </a:endParaRPr>
          </a:p>
          <a:p>
            <a:pPr marL="19512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 ...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counter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543" name="Google Shape;725;p66"/>
          <p:cNvGrpSpPr/>
          <p:nvPr/>
        </p:nvGrpSpPr>
        <p:grpSpPr>
          <a:xfrm>
            <a:off x="2342160" y="1837080"/>
            <a:ext cx="2584440" cy="1559520"/>
            <a:chOff x="2342160" y="1837080"/>
            <a:chExt cx="2584440" cy="1559520"/>
          </a:xfrm>
        </p:grpSpPr>
        <p:sp>
          <p:nvSpPr>
            <p:cNvPr id="544" name="Google Shape;726;p66"/>
            <p:cNvSpPr/>
            <p:nvPr/>
          </p:nvSpPr>
          <p:spPr>
            <a:xfrm>
              <a:off x="2435400" y="1837080"/>
              <a:ext cx="2385000" cy="629280"/>
            </a:xfrm>
            <a:custGeom>
              <a:avLst/>
              <a:gdLst/>
              <a:ahLst/>
              <a:rect l="l" t="t" r="r" b="b"/>
              <a:pathLst>
                <a:path w="2388235" h="632460">
                  <a:moveTo>
                    <a:pt x="2387607" y="0"/>
                  </a:moveTo>
                  <a:lnTo>
                    <a:pt x="0" y="632238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5" name="Google Shape;727;p66"/>
            <p:cNvSpPr/>
            <p:nvPr/>
          </p:nvSpPr>
          <p:spPr>
            <a:xfrm>
              <a:off x="2342160" y="2429280"/>
              <a:ext cx="107280" cy="766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6" name="Google Shape;728;p66"/>
            <p:cNvSpPr/>
            <p:nvPr/>
          </p:nvSpPr>
          <p:spPr>
            <a:xfrm>
              <a:off x="3654720" y="3358800"/>
              <a:ext cx="1271880" cy="360"/>
            </a:xfrm>
            <a:custGeom>
              <a:avLst/>
              <a:gdLst/>
              <a:ahLst/>
              <a:rect l="l" t="t" r="r" b="b"/>
              <a:pathLst>
                <a:path w="1275079" h="120000">
                  <a:moveTo>
                    <a:pt x="1274997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7" name="Google Shape;729;p66"/>
            <p:cNvSpPr/>
            <p:nvPr/>
          </p:nvSpPr>
          <p:spPr>
            <a:xfrm>
              <a:off x="3558600" y="331776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8" name="Google Shape;730;p66"/>
            <p:cNvSpPr/>
            <p:nvPr/>
          </p:nvSpPr>
          <p:spPr>
            <a:xfrm>
              <a:off x="2439000" y="2802960"/>
              <a:ext cx="2461320" cy="360"/>
            </a:xfrm>
            <a:custGeom>
              <a:avLst/>
              <a:gdLst/>
              <a:ahLst/>
              <a:rect l="l" t="t" r="r" b="b"/>
              <a:pathLst>
                <a:path w="2464435" h="120000">
                  <a:moveTo>
                    <a:pt x="2463895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9" name="Google Shape;731;p66"/>
            <p:cNvSpPr/>
            <p:nvPr/>
          </p:nvSpPr>
          <p:spPr>
            <a:xfrm>
              <a:off x="2343240" y="2762280"/>
              <a:ext cx="102240" cy="788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50" name="Google Shape;732;p66"/>
          <p:cNvSpPr/>
          <p:nvPr/>
        </p:nvSpPr>
        <p:spPr>
          <a:xfrm>
            <a:off x="5066280" y="1474560"/>
            <a:ext cx="2670840" cy="21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144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Define # of successful  completions and whether task  should be run in parallel</a:t>
            </a:r>
            <a:endParaRPr b="0" lang="fr-FR" sz="1500" spc="-1" strike="noStrike">
              <a:latin typeface="Arial"/>
            </a:endParaRPr>
          </a:p>
          <a:p>
            <a:pPr marL="12600" indent="144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700" spc="-1" strike="noStrike">
              <a:latin typeface="Arial"/>
            </a:endParaRPr>
          </a:p>
          <a:p>
            <a:pPr marL="176040" indent="7920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How many times do we try  before Job is marked failed?</a:t>
            </a:r>
            <a:endParaRPr b="0" lang="fr-FR" sz="1500" spc="-1" strike="noStrike">
              <a:latin typeface="Arial"/>
            </a:endParaRPr>
          </a:p>
          <a:p>
            <a:pPr marL="644040" indent="-477000">
              <a:lnSpc>
                <a:spcPct val="100000"/>
              </a:lnSpc>
              <a:spcBef>
                <a:spcPts val="1236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Restart Pod upon failure or  start a new Pod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A410260-C2AD-4D39-B37E-A32523C00F5D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737;p67"/>
          <p:cNvSpPr/>
          <p:nvPr/>
        </p:nvSpPr>
        <p:spPr>
          <a:xfrm>
            <a:off x="385920" y="1149840"/>
            <a:ext cx="7531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56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Job is completed when configured # of execution has been  reached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0208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Inspecting a Job</a:t>
            </a:r>
            <a:endParaRPr b="0" lang="fr-FR" sz="4000" spc="-1" strike="noStrike">
              <a:latin typeface="Arial"/>
            </a:endParaRPr>
          </a:p>
        </p:txBody>
      </p:sp>
      <p:pic>
        <p:nvPicPr>
          <p:cNvPr id="553" name="" descr=""/>
          <p:cNvPicPr/>
          <p:nvPr/>
        </p:nvPicPr>
        <p:blipFill>
          <a:blip r:embed="rId1"/>
          <a:stretch/>
        </p:blipFill>
        <p:spPr>
          <a:xfrm>
            <a:off x="360000" y="2138040"/>
            <a:ext cx="5757120" cy="27190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D0BE023-BC02-44AB-A7BE-3EBA3FA5CC6A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6242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Different Types of Jobs</a:t>
            </a:r>
            <a:endParaRPr b="0" lang="fr-FR" sz="4000" spc="-1" strike="noStrike">
              <a:latin typeface="Arial"/>
            </a:endParaRPr>
          </a:p>
        </p:txBody>
      </p:sp>
      <p:graphicFrame>
        <p:nvGraphicFramePr>
          <p:cNvPr id="555" name="Google Shape;747;p68"/>
          <p:cNvGraphicFramePr/>
          <p:nvPr/>
        </p:nvGraphicFramePr>
        <p:xfrm>
          <a:off x="1438560" y="2088000"/>
          <a:ext cx="6121080" cy="2767680"/>
        </p:xfrm>
        <a:graphic>
          <a:graphicData uri="http://schemas.openxmlformats.org/drawingml/2006/table">
            <a:tbl>
              <a:tblPr/>
              <a:tblGrid>
                <a:gridCol w="2815920"/>
                <a:gridCol w="3305520"/>
              </a:tblGrid>
              <a:tr h="279720">
                <a:tc gridSpan="2"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3002d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672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Type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31860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Completion criteria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55764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Non-parallel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318600">
                        <a:lnSpc>
                          <a:spcPct val="11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Complete as soon as its Pod  terminates successfully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81144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1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Parallel with fixed completion  count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318600">
                        <a:lnSpc>
                          <a:spcPct val="11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Complete when specified number  of tasks finish successfully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812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650" spc="-1" strike="noStrike">
                        <a:latin typeface="Arial"/>
                      </a:endParaRPr>
                    </a:p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Parallel with a work queue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318600">
                        <a:lnSpc>
                          <a:spcPct val="11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Once at least one Pod has  terminated with success and all  Pods are terminated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56" name="Google Shape;748;p68"/>
          <p:cNvSpPr/>
          <p:nvPr/>
        </p:nvSpPr>
        <p:spPr>
          <a:xfrm>
            <a:off x="3022560" y="1364040"/>
            <a:ext cx="2734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 marL="126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spec.completions: x  spec.parallelism: y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6E5DA1E-5BD2-44BE-A843-E1F4651F951D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767;p71"/>
          <p:cNvSpPr/>
          <p:nvPr/>
        </p:nvSpPr>
        <p:spPr>
          <a:xfrm>
            <a:off x="385920" y="1149840"/>
            <a:ext cx="7171200" cy="10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Similar to Job but task is run on a predefined schedule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endParaRPr b="0" lang="fr-FR" sz="2750" spc="-1" strike="noStrike">
              <a:latin typeface="Arial"/>
            </a:endParaRPr>
          </a:p>
          <a:p>
            <a:pPr marL="2444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spec.schedule: "0 * * * *"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1156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Understanding CronJobs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559" name="Google Shape;769;p71"/>
          <p:cNvSpPr/>
          <p:nvPr/>
        </p:nvSpPr>
        <p:spPr>
          <a:xfrm>
            <a:off x="1428120" y="2691720"/>
            <a:ext cx="6127920" cy="14994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10E229-5BE6-4495-84DB-F5AAFCDA73F9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774;p72"/>
          <p:cNvSpPr/>
          <p:nvPr/>
        </p:nvSpPr>
        <p:spPr>
          <a:xfrm>
            <a:off x="385920" y="1149840"/>
            <a:ext cx="69685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"Render the current date on standard output every hour"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7332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Creating a CronJob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562" name="Google Shape;776;p72"/>
          <p:cNvSpPr/>
          <p:nvPr/>
        </p:nvSpPr>
        <p:spPr>
          <a:xfrm>
            <a:off x="435600" y="2163960"/>
            <a:ext cx="7045560" cy="11390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3" name="Google Shape;777;p72"/>
          <p:cNvSpPr/>
          <p:nvPr/>
        </p:nvSpPr>
        <p:spPr>
          <a:xfrm>
            <a:off x="489240" y="2212200"/>
            <a:ext cx="6931440" cy="95940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2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350" spc="-1" strike="noStrike">
              <a:latin typeface="Arial"/>
            </a:endParaRPr>
          </a:p>
          <a:p>
            <a:pPr marL="237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cronjob current-date --schedule="* * * * *"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↵</a:t>
            </a:r>
            <a:endParaRPr b="0" lang="fr-FR" sz="1400" spc="-1" strike="noStrike">
              <a:latin typeface="Arial"/>
            </a:endParaRPr>
          </a:p>
          <a:p>
            <a:pPr marL="450720">
              <a:lnSpc>
                <a:spcPct val="117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--image=nginx -- /bin/sh -c 'echo "Current date: $(date)"'</a:t>
            </a:r>
            <a:endParaRPr b="0" lang="fr-FR" sz="1400" spc="-1" strike="noStrike">
              <a:latin typeface="Arial"/>
            </a:endParaRPr>
          </a:p>
          <a:p>
            <a:pPr marL="237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cronjob.batch/current-date created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974AFE2-352E-41D9-A100-5562610045E4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2805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CronJob YAML Manifest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565" name="Google Shape;783;p73"/>
          <p:cNvGrpSpPr/>
          <p:nvPr/>
        </p:nvGrpSpPr>
        <p:grpSpPr>
          <a:xfrm>
            <a:off x="373680" y="1212840"/>
            <a:ext cx="3783600" cy="3800880"/>
            <a:chOff x="373680" y="1212840"/>
            <a:chExt cx="3783600" cy="3800880"/>
          </a:xfrm>
        </p:grpSpPr>
        <p:sp>
          <p:nvSpPr>
            <p:cNvPr id="566" name="Google Shape;784;p73"/>
            <p:cNvSpPr/>
            <p:nvPr/>
          </p:nvSpPr>
          <p:spPr>
            <a:xfrm>
              <a:off x="373680" y="1212840"/>
              <a:ext cx="3783600" cy="38008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7" name="Google Shape;785;p73"/>
            <p:cNvSpPr/>
            <p:nvPr/>
          </p:nvSpPr>
          <p:spPr>
            <a:xfrm>
              <a:off x="427320" y="1261080"/>
              <a:ext cx="3669480" cy="3686760"/>
            </a:xfrm>
            <a:custGeom>
              <a:avLst/>
              <a:gdLst/>
              <a:ahLst/>
              <a:rect l="l" t="t" r="r" b="b"/>
              <a:pathLst>
                <a:path w="3672840" h="3689985">
                  <a:moveTo>
                    <a:pt x="3672592" y="3689692"/>
                  </a:moveTo>
                  <a:lnTo>
                    <a:pt x="0" y="3689692"/>
                  </a:lnTo>
                  <a:lnTo>
                    <a:pt x="0" y="0"/>
                  </a:lnTo>
                  <a:lnTo>
                    <a:pt x="3672592" y="0"/>
                  </a:lnTo>
                  <a:lnTo>
                    <a:pt x="3672592" y="3689692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68" name="Google Shape;786;p73"/>
          <p:cNvSpPr/>
          <p:nvPr/>
        </p:nvSpPr>
        <p:spPr>
          <a:xfrm>
            <a:off x="618480" y="1194840"/>
            <a:ext cx="1851840" cy="10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016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batch/v1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CronJob 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counter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69" name="Google Shape;787;p73"/>
          <p:cNvSpPr/>
          <p:nvPr/>
        </p:nvSpPr>
        <p:spPr>
          <a:xfrm>
            <a:off x="756720" y="2275560"/>
            <a:ext cx="2233080" cy="20772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25560" bIns="0" anchor="t">
            <a:spAutoFit/>
          </a:bodyPr>
          <a:p>
            <a:pPr marL="572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schedule: </a:t>
            </a:r>
            <a:r>
              <a:rPr b="1" lang="en-US" sz="1200" spc="-1" strike="noStrike">
                <a:solidFill>
                  <a:srgbClr val="d15d34"/>
                </a:solidFill>
                <a:latin typeface="Courier New"/>
                <a:ea typeface="Courier New"/>
              </a:rPr>
              <a:t>"*/1 * * * *"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70" name="Google Shape;788;p73"/>
          <p:cNvSpPr/>
          <p:nvPr/>
        </p:nvSpPr>
        <p:spPr>
          <a:xfrm>
            <a:off x="801360" y="2469240"/>
            <a:ext cx="11196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jobTemplate: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71" name="Google Shape;789;p73"/>
          <p:cNvSpPr/>
          <p:nvPr/>
        </p:nvSpPr>
        <p:spPr>
          <a:xfrm>
            <a:off x="984240" y="2614320"/>
            <a:ext cx="102852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200" spc="-1" strike="noStrike">
              <a:latin typeface="Arial"/>
            </a:endParaRPr>
          </a:p>
          <a:p>
            <a:pPr marL="378360" indent="-183600">
              <a:lnSpc>
                <a:spcPct val="118000"/>
              </a:lnSpc>
              <a:spcBef>
                <a:spcPts val="54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template:  spec: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72" name="Google Shape;790;p73"/>
          <p:cNvSpPr/>
          <p:nvPr/>
        </p:nvSpPr>
        <p:spPr>
          <a:xfrm>
            <a:off x="1483560" y="3269160"/>
            <a:ext cx="2005200" cy="19872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615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restartPolicy: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Never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73" name="Google Shape;791;p73"/>
          <p:cNvSpPr/>
          <p:nvPr/>
        </p:nvSpPr>
        <p:spPr>
          <a:xfrm>
            <a:off x="1532880" y="3409920"/>
            <a:ext cx="102816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74" name="Google Shape;792;p73"/>
          <p:cNvSpPr/>
          <p:nvPr/>
        </p:nvSpPr>
        <p:spPr>
          <a:xfrm>
            <a:off x="1532880" y="3591000"/>
            <a:ext cx="1394280" cy="13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480" indent="-183600">
              <a:lnSpc>
                <a:spcPct val="119000"/>
              </a:lnSpc>
              <a:buClr>
                <a:srgbClr val="000000"/>
              </a:buClr>
              <a:buFont typeface="Courier New"/>
              <a:buChar char="-"/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args:</a:t>
            </a:r>
            <a:endParaRPr b="0" lang="fr-FR" sz="1200" spc="-1" strike="noStrike">
              <a:latin typeface="Arial"/>
            </a:endParaRPr>
          </a:p>
          <a:p>
            <a:pPr lvl="1" marL="378000" indent="-183600">
              <a:lnSpc>
                <a:spcPct val="118000"/>
              </a:lnSpc>
              <a:buClr>
                <a:srgbClr val="000000"/>
              </a:buClr>
              <a:buFont typeface="Courier New"/>
              <a:buChar char="-"/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/bin/sh</a:t>
            </a:r>
            <a:endParaRPr b="0" lang="fr-FR" sz="1200" spc="-1" strike="noStrike">
              <a:latin typeface="Arial"/>
            </a:endParaRPr>
          </a:p>
          <a:p>
            <a:pPr lvl="1" marL="378000" indent="-183600">
              <a:lnSpc>
                <a:spcPct val="118000"/>
              </a:lnSpc>
              <a:buClr>
                <a:srgbClr val="000000"/>
              </a:buClr>
              <a:buFont typeface="Courier New"/>
              <a:buChar char="-"/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-c</a:t>
            </a:r>
            <a:endParaRPr b="0" lang="fr-FR" sz="1200" spc="-1" strike="noStrike">
              <a:latin typeface="Arial"/>
            </a:endParaRPr>
          </a:p>
          <a:p>
            <a:pPr marL="19512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 ...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counter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575" name="Google Shape;793;p73"/>
          <p:cNvGrpSpPr/>
          <p:nvPr/>
        </p:nvGrpSpPr>
        <p:grpSpPr>
          <a:xfrm>
            <a:off x="3104280" y="2404080"/>
            <a:ext cx="1902960" cy="992520"/>
            <a:chOff x="3104280" y="2404080"/>
            <a:chExt cx="1902960" cy="992520"/>
          </a:xfrm>
        </p:grpSpPr>
        <p:sp>
          <p:nvSpPr>
            <p:cNvPr id="576" name="Google Shape;794;p73"/>
            <p:cNvSpPr/>
            <p:nvPr/>
          </p:nvSpPr>
          <p:spPr>
            <a:xfrm>
              <a:off x="3200400" y="2444760"/>
              <a:ext cx="1806480" cy="360"/>
            </a:xfrm>
            <a:custGeom>
              <a:avLst/>
              <a:gdLst/>
              <a:ahLst/>
              <a:rect l="l" t="t" r="r" b="b"/>
              <a:pathLst>
                <a:path w="1809750" h="120000">
                  <a:moveTo>
                    <a:pt x="1809596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7" name="Google Shape;795;p73"/>
            <p:cNvSpPr/>
            <p:nvPr/>
          </p:nvSpPr>
          <p:spPr>
            <a:xfrm>
              <a:off x="3104280" y="240408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8" name="Google Shape;796;p73"/>
            <p:cNvSpPr/>
            <p:nvPr/>
          </p:nvSpPr>
          <p:spPr>
            <a:xfrm>
              <a:off x="3767760" y="3358800"/>
              <a:ext cx="1239480" cy="360"/>
            </a:xfrm>
            <a:custGeom>
              <a:avLst/>
              <a:gdLst/>
              <a:ahLst/>
              <a:rect l="l" t="t" r="r" b="b"/>
              <a:pathLst>
                <a:path w="1242695" h="120000">
                  <a:moveTo>
                    <a:pt x="1242297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9" name="Google Shape;797;p73"/>
            <p:cNvSpPr/>
            <p:nvPr/>
          </p:nvSpPr>
          <p:spPr>
            <a:xfrm>
              <a:off x="3671640" y="331776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80" name="Google Shape;798;p73"/>
          <p:cNvSpPr/>
          <p:nvPr/>
        </p:nvSpPr>
        <p:spPr>
          <a:xfrm>
            <a:off x="5198400" y="2169360"/>
            <a:ext cx="271872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08000" indent="-9576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The crontab expression used  to run CronJob periodically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81" name="Google Shape;799;p73"/>
          <p:cNvSpPr/>
          <p:nvPr/>
        </p:nvSpPr>
        <p:spPr>
          <a:xfrm>
            <a:off x="5276520" y="3233160"/>
            <a:ext cx="15238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Run in a new Pod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2D8BB5-1D36-41B4-8C3F-31741142925F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804;p74"/>
          <p:cNvSpPr/>
          <p:nvPr/>
        </p:nvSpPr>
        <p:spPr>
          <a:xfrm>
            <a:off x="441720" y="1289880"/>
            <a:ext cx="61455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Keeps a history of failed and successful Pods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0652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Inspecting CronJobs</a:t>
            </a:r>
            <a:endParaRPr b="0" lang="fr-FR" sz="4000" spc="-1" strike="noStrike">
              <a:latin typeface="Arial"/>
            </a:endParaRPr>
          </a:p>
        </p:txBody>
      </p:sp>
      <p:pic>
        <p:nvPicPr>
          <p:cNvPr id="584" name="" descr=""/>
          <p:cNvPicPr/>
          <p:nvPr/>
        </p:nvPicPr>
        <p:blipFill>
          <a:blip r:embed="rId1"/>
          <a:stretch/>
        </p:blipFill>
        <p:spPr>
          <a:xfrm>
            <a:off x="432000" y="1980000"/>
            <a:ext cx="6810840" cy="2337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BE5CC0A-1A0B-438E-A3A0-D697D7D04815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object 33"/>
          <p:cNvSpPr/>
          <p:nvPr/>
        </p:nvSpPr>
        <p:spPr>
          <a:xfrm>
            <a:off x="2945880" y="2061720"/>
            <a:ext cx="4252320" cy="9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0200" indent="-32832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Creating a scheduled container operation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586" name="object 34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03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1A1E93D-97E7-40D9-9826-C01AE8DE799F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944;p92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Google Shape;945;p 2"/>
          <p:cNvSpPr/>
          <p:nvPr/>
        </p:nvSpPr>
        <p:spPr>
          <a:xfrm>
            <a:off x="545040" y="1629360"/>
            <a:ext cx="424692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State Persistence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589" name="Google Shape;946;p 2"/>
          <p:cNvSpPr/>
          <p:nvPr/>
        </p:nvSpPr>
        <p:spPr>
          <a:xfrm>
            <a:off x="545040" y="2375640"/>
            <a:ext cx="477000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Persistent and Ephemeral Volumes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EDA55F6-ADD2-4B0F-8475-1CF716A44F57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951;p93"/>
          <p:cNvSpPr/>
          <p:nvPr/>
        </p:nvSpPr>
        <p:spPr>
          <a:xfrm>
            <a:off x="385920" y="1149840"/>
            <a:ext cx="825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By default, a container manages files in a temporary file system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591" name="Google Shape;952;p 2"/>
          <p:cNvSpPr/>
          <p:nvPr/>
        </p:nvSpPr>
        <p:spPr>
          <a:xfrm>
            <a:off x="385920" y="391320"/>
            <a:ext cx="61628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Understanding Volumes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592" name="Google Shape;953;p 2"/>
          <p:cNvSpPr/>
          <p:nvPr/>
        </p:nvSpPr>
        <p:spPr>
          <a:xfrm>
            <a:off x="636120" y="2280600"/>
            <a:ext cx="7712280" cy="16426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9C1D16D-79CC-48E3-8257-21C9078F4E06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8855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Types of Volumes</a:t>
            </a:r>
            <a:endParaRPr b="0" lang="fr-FR" sz="4000" spc="-1" strike="noStrike">
              <a:latin typeface="Arial"/>
            </a:endParaRPr>
          </a:p>
        </p:txBody>
      </p:sp>
      <p:graphicFrame>
        <p:nvGraphicFramePr>
          <p:cNvPr id="594" name="Google Shape;959;p 2"/>
          <p:cNvGraphicFramePr/>
          <p:nvPr/>
        </p:nvGraphicFramePr>
        <p:xfrm>
          <a:off x="849600" y="1284840"/>
          <a:ext cx="7044840" cy="3474000"/>
        </p:xfrm>
        <a:graphic>
          <a:graphicData uri="http://schemas.openxmlformats.org/drawingml/2006/table">
            <a:tbl>
              <a:tblPr/>
              <a:tblGrid>
                <a:gridCol w="2761920"/>
                <a:gridCol w="4283280"/>
              </a:tblGrid>
              <a:tr h="290520">
                <a:tc gridSpan="2"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3002d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9124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Type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822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emptyDir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82296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Empty directory in Pod. Only persisted for  the lifespan of a Pod.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hostPath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82296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File or directory from the host node’s  filesystem into your Pod.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608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configMap, secret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82296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Provides a way to inject configuration data  and secrets into Pods.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91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60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nfs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82296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An existing NFS (Network File System)  share to be mounted into your Pod.</a:t>
                      </a:r>
                      <a:endParaRPr b="0" lang="fr-FR" sz="1300" spc="-1" strike="noStrike">
                        <a:latin typeface="Arial"/>
                      </a:endParaRPr>
                    </a:p>
                    <a:p>
                      <a:pPr marL="822960">
                        <a:lnSpc>
                          <a:spcPct val="100000"/>
                        </a:lnSpc>
                        <a:spcBef>
                          <a:spcPts val="14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Preserves data after Pod restart.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609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Cloud provider solutions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82296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Provider-specific implementation for AWS,  GCE or Azure.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6FDDA8C-F319-400C-B9A0-2F02B4F13293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964;p95"/>
          <p:cNvSpPr/>
          <p:nvPr/>
        </p:nvSpPr>
        <p:spPr>
          <a:xfrm>
            <a:off x="441720" y="1289880"/>
            <a:ext cx="67399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Provide type and assign mount path per container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82508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Defining and Mounting a Volume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597" name="Google Shape;966;p 2"/>
          <p:cNvGrpSpPr/>
          <p:nvPr/>
        </p:nvGrpSpPr>
        <p:grpSpPr>
          <a:xfrm>
            <a:off x="446040" y="2137680"/>
            <a:ext cx="2724480" cy="2858760"/>
            <a:chOff x="446040" y="2137680"/>
            <a:chExt cx="2724480" cy="2858760"/>
          </a:xfrm>
        </p:grpSpPr>
        <p:sp>
          <p:nvSpPr>
            <p:cNvPr id="598" name="Google Shape;967;p 2"/>
            <p:cNvSpPr/>
            <p:nvPr/>
          </p:nvSpPr>
          <p:spPr>
            <a:xfrm>
              <a:off x="446040" y="2137680"/>
              <a:ext cx="2724480" cy="28587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9" name="Google Shape;968;p 2"/>
            <p:cNvSpPr/>
            <p:nvPr/>
          </p:nvSpPr>
          <p:spPr>
            <a:xfrm>
              <a:off x="499680" y="2185920"/>
              <a:ext cx="2610360" cy="2745000"/>
            </a:xfrm>
            <a:custGeom>
              <a:avLst/>
              <a:gdLst/>
              <a:ahLst/>
              <a:rect l="l" t="t" r="r" b="b"/>
              <a:pathLst>
                <a:path w="2613660" h="2748279">
                  <a:moveTo>
                    <a:pt x="2613294" y="2747694"/>
                  </a:moveTo>
                  <a:lnTo>
                    <a:pt x="0" y="2747694"/>
                  </a:lnTo>
                  <a:lnTo>
                    <a:pt x="0" y="0"/>
                  </a:lnTo>
                  <a:lnTo>
                    <a:pt x="2613294" y="0"/>
                  </a:lnTo>
                  <a:lnTo>
                    <a:pt x="2613294" y="27476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00" name="Google Shape;969;p 2"/>
          <p:cNvSpPr/>
          <p:nvPr/>
        </p:nvSpPr>
        <p:spPr>
          <a:xfrm>
            <a:off x="695520" y="2324880"/>
            <a:ext cx="170244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 marL="12600"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100" spc="-1" strike="noStrike">
              <a:latin typeface="Arial"/>
            </a:endParaRPr>
          </a:p>
          <a:p>
            <a:pPr marL="12600"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100" spc="-1" strike="noStrike">
              <a:latin typeface="Arial"/>
            </a:endParaRPr>
          </a:p>
          <a:p>
            <a:pPr marL="12600"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100" spc="-1" strike="noStrike">
              <a:latin typeface="Arial"/>
            </a:endParaRPr>
          </a:p>
          <a:p>
            <a:pPr marL="18432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my-container</a:t>
            </a:r>
            <a:endParaRPr b="0" lang="fr-FR" sz="11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01" name="Google Shape;970;p 2"/>
          <p:cNvSpPr/>
          <p:nvPr/>
        </p:nvSpPr>
        <p:spPr>
          <a:xfrm>
            <a:off x="811080" y="3202560"/>
            <a:ext cx="1762560" cy="53316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68760">
              <a:lnSpc>
                <a:spcPct val="114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volumes:</a:t>
            </a:r>
            <a:endParaRPr b="0" lang="fr-FR" sz="1100" spc="-1" strike="noStrike">
              <a:latin typeface="Arial"/>
            </a:endParaRPr>
          </a:p>
          <a:p>
            <a:pPr marL="648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logs-volume</a:t>
            </a:r>
            <a:endParaRPr b="0" lang="fr-FR" sz="1100" spc="-1" strike="noStrike">
              <a:latin typeface="Arial"/>
            </a:endParaRPr>
          </a:p>
          <a:p>
            <a:pPr marL="24012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emptyDir: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{}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02" name="Google Shape;971;p 2"/>
          <p:cNvSpPr/>
          <p:nvPr/>
        </p:nvSpPr>
        <p:spPr>
          <a:xfrm>
            <a:off x="863280" y="3732480"/>
            <a:ext cx="170604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65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1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</a:t>
            </a:r>
            <a:endParaRPr b="0" lang="fr-FR" sz="1100" spc="-1" strike="noStrike">
              <a:latin typeface="Arial"/>
            </a:endParaRPr>
          </a:p>
          <a:p>
            <a:pPr marL="18792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my-container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03" name="Google Shape;972;p 2"/>
          <p:cNvSpPr/>
          <p:nvPr/>
        </p:nvSpPr>
        <p:spPr>
          <a:xfrm>
            <a:off x="997920" y="4244400"/>
            <a:ext cx="1965960" cy="52488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525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volumeMounts:</a:t>
            </a:r>
            <a:endParaRPr b="0" lang="fr-FR" sz="1100" spc="-1" strike="noStrike">
              <a:latin typeface="Arial"/>
            </a:endParaRPr>
          </a:p>
          <a:p>
            <a:pPr marL="450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mountPath: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/var/logs</a:t>
            </a:r>
            <a:endParaRPr b="0" lang="fr-FR" sz="1100" spc="-1" strike="noStrike">
              <a:latin typeface="Arial"/>
            </a:endParaRPr>
          </a:p>
          <a:p>
            <a:pPr marL="22428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logs-volume</a:t>
            </a:r>
            <a:endParaRPr b="0" lang="fr-FR" sz="1100" spc="-1" strike="noStrike">
              <a:latin typeface="Arial"/>
            </a:endParaRPr>
          </a:p>
        </p:txBody>
      </p:sp>
      <p:grpSp>
        <p:nvGrpSpPr>
          <p:cNvPr id="604" name="Google Shape;973;p 2"/>
          <p:cNvGrpSpPr/>
          <p:nvPr/>
        </p:nvGrpSpPr>
        <p:grpSpPr>
          <a:xfrm>
            <a:off x="2782080" y="3437640"/>
            <a:ext cx="1319760" cy="1114200"/>
            <a:chOff x="2782080" y="3437640"/>
            <a:chExt cx="1319760" cy="1114200"/>
          </a:xfrm>
        </p:grpSpPr>
        <p:sp>
          <p:nvSpPr>
            <p:cNvPr id="605" name="Google Shape;974;p 2"/>
            <p:cNvSpPr/>
            <p:nvPr/>
          </p:nvSpPr>
          <p:spPr>
            <a:xfrm>
              <a:off x="2877840" y="3478680"/>
              <a:ext cx="1216080" cy="360"/>
            </a:xfrm>
            <a:custGeom>
              <a:avLst/>
              <a:gdLst/>
              <a:ahLst/>
              <a:rect l="l" t="t" r="r" b="b"/>
              <a:pathLst>
                <a:path w="1219200" h="120000">
                  <a:moveTo>
                    <a:pt x="1218597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6" name="Google Shape;975;p 2"/>
            <p:cNvSpPr/>
            <p:nvPr/>
          </p:nvSpPr>
          <p:spPr>
            <a:xfrm>
              <a:off x="2782080" y="343764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7" name="Google Shape;976;p 2"/>
            <p:cNvSpPr/>
            <p:nvPr/>
          </p:nvSpPr>
          <p:spPr>
            <a:xfrm>
              <a:off x="3170520" y="4514040"/>
              <a:ext cx="931320" cy="360"/>
            </a:xfrm>
            <a:custGeom>
              <a:avLst/>
              <a:gdLst/>
              <a:ahLst/>
              <a:rect l="l" t="t" r="r" b="b"/>
              <a:pathLst>
                <a:path w="934720" h="120000">
                  <a:moveTo>
                    <a:pt x="9341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8" name="Google Shape;977;p 2"/>
            <p:cNvSpPr/>
            <p:nvPr/>
          </p:nvSpPr>
          <p:spPr>
            <a:xfrm>
              <a:off x="3074400" y="447300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09" name="Google Shape;978;p 2"/>
          <p:cNvSpPr/>
          <p:nvPr/>
        </p:nvSpPr>
        <p:spPr>
          <a:xfrm>
            <a:off x="4208040" y="3344760"/>
            <a:ext cx="2402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Define Volume name and type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10" name="Google Shape;979;p 2"/>
          <p:cNvSpPr/>
          <p:nvPr/>
        </p:nvSpPr>
        <p:spPr>
          <a:xfrm>
            <a:off x="4200840" y="4372200"/>
            <a:ext cx="2509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Specify mount path in container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5F4784B-8EFD-4704-9B9F-232469A9CEF5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object 46"/>
          <p:cNvSpPr/>
          <p:nvPr/>
        </p:nvSpPr>
        <p:spPr>
          <a:xfrm>
            <a:off x="2945880" y="2061720"/>
            <a:ext cx="4252320" cy="4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0200" indent="-32832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Ephemeral Volume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612" name="object 47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04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C97AA8-5D24-4A28-8967-7694486CC2DE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1001;p97"/>
          <p:cNvSpPr/>
          <p:nvPr/>
        </p:nvSpPr>
        <p:spPr>
          <a:xfrm>
            <a:off x="385920" y="391320"/>
            <a:ext cx="846576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Understanding PersistentVolumes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614" name="Google Shape;1002;p 2"/>
          <p:cNvSpPr/>
          <p:nvPr/>
        </p:nvSpPr>
        <p:spPr>
          <a:xfrm>
            <a:off x="385920" y="1149840"/>
            <a:ext cx="717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Persist data that outlives a Pod, node, or cluster restart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615" name="Google Shape;1003;p 2"/>
          <p:cNvSpPr/>
          <p:nvPr/>
        </p:nvSpPr>
        <p:spPr>
          <a:xfrm>
            <a:off x="1246680" y="2601000"/>
            <a:ext cx="6627600" cy="1262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FC8254-4965-4D20-980A-2199021D4B1E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1008;p98"/>
          <p:cNvSpPr/>
          <p:nvPr/>
        </p:nvSpPr>
        <p:spPr>
          <a:xfrm>
            <a:off x="385920" y="1149840"/>
            <a:ext cx="843156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PersistentVolume object is created manually or automatically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Static: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Storage device needs to be created first. The PersistentVolume  object references the storage device and needs to be created  manually.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Dynamic: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The PersistentVolumeClaim object references a storage  class. The PersistentVolume object is created automatically.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Storage Class: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Object that knows how to provision a storage device  with specific performance requirements.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80481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Static vs. Dynamic Provisioning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47CBE6C-570A-482D-8F64-879AC6140D8D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1014;p99"/>
          <p:cNvSpPr/>
          <p:nvPr/>
        </p:nvSpPr>
        <p:spPr>
          <a:xfrm>
            <a:off x="441720" y="1289880"/>
            <a:ext cx="71625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Define storage capacity, access mode, and host path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4037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Defining a PersistentVolume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620" name="Google Shape;1017;p 2"/>
          <p:cNvSpPr/>
          <p:nvPr/>
        </p:nvSpPr>
        <p:spPr>
          <a:xfrm>
            <a:off x="499680" y="2185920"/>
            <a:ext cx="2610360" cy="23461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0480" bIns="0" anchor="t">
            <a:spAutoFit/>
          </a:bodyPr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</a:t>
            </a:r>
            <a:endParaRPr b="0" lang="fr-FR" sz="1300" spc="-1" strike="noStrike">
              <a:latin typeface="Arial"/>
            </a:endParaRPr>
          </a:p>
          <a:p>
            <a:pPr marL="208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PersistentVolume</a:t>
            </a:r>
            <a:endParaRPr b="0" lang="fr-FR" sz="1300" spc="-1" strike="noStrike">
              <a:latin typeface="Arial"/>
            </a:endParaRPr>
          </a:p>
          <a:p>
            <a:pPr marL="402480" indent="-195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  </a:t>
            </a:r>
            <a:endParaRPr b="0" lang="fr-FR" sz="1300" spc="-1" strike="noStrike">
              <a:latin typeface="Arial"/>
            </a:endParaRPr>
          </a:p>
          <a:p>
            <a:pPr marL="402480" indent="-195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db-pv</a:t>
            </a:r>
            <a:endParaRPr b="0" lang="fr-FR" sz="1300" spc="-1" strike="noStrike">
              <a:latin typeface="Arial"/>
            </a:endParaRPr>
          </a:p>
          <a:p>
            <a:pPr marL="208440" indent="-19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596880" indent="-195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capacity:  </a:t>
            </a:r>
            <a:endParaRPr b="0" lang="fr-FR" sz="1300" spc="-1" strike="noStrike">
              <a:latin typeface="Arial"/>
            </a:endParaRPr>
          </a:p>
          <a:p>
            <a:pPr marL="596880" indent="-195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storage: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1Gi</a:t>
            </a:r>
            <a:endParaRPr b="0" lang="fr-FR" sz="1300" spc="-1" strike="noStrike">
              <a:latin typeface="Arial"/>
            </a:endParaRPr>
          </a:p>
          <a:p>
            <a:pPr marL="402480" indent="-19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accessModes:</a:t>
            </a:r>
            <a:endParaRPr b="0" lang="fr-FR" sz="1300" spc="-1" strike="noStrike">
              <a:latin typeface="Arial"/>
            </a:endParaRPr>
          </a:p>
          <a:p>
            <a:pPr marL="604440" indent="-19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ReadWriteOnce</a:t>
            </a:r>
            <a:endParaRPr b="0" lang="fr-FR" sz="1300" spc="-1" strike="noStrike">
              <a:latin typeface="Arial"/>
            </a:endParaRPr>
          </a:p>
          <a:p>
            <a:pPr marL="402480" indent="-19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hostPath:</a:t>
            </a:r>
            <a:endParaRPr b="0" lang="fr-FR" sz="1300" spc="-1" strike="noStrike">
              <a:latin typeface="Arial"/>
            </a:endParaRPr>
          </a:p>
          <a:p>
            <a:pPr marL="596880" indent="-19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path: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/data/db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3D310B4-0F24-4C8F-AB6E-F4ED82233932}" type="slidenum">
              <a:t>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4973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Access Mode &amp; Reclaim Policy</a:t>
            </a:r>
            <a:endParaRPr b="0" lang="fr-FR" sz="4000" spc="-1" strike="noStrike">
              <a:latin typeface="Arial"/>
            </a:endParaRPr>
          </a:p>
        </p:txBody>
      </p:sp>
      <p:graphicFrame>
        <p:nvGraphicFramePr>
          <p:cNvPr id="622" name="Google Shape;1023;p 2"/>
          <p:cNvGraphicFramePr/>
          <p:nvPr/>
        </p:nvGraphicFramePr>
        <p:xfrm>
          <a:off x="398520" y="2494440"/>
          <a:ext cx="3365280" cy="2173320"/>
        </p:xfrm>
        <a:graphic>
          <a:graphicData uri="http://schemas.openxmlformats.org/drawingml/2006/table">
            <a:tbl>
              <a:tblPr/>
              <a:tblGrid>
                <a:gridCol w="1570680"/>
                <a:gridCol w="1794960"/>
              </a:tblGrid>
              <a:tr h="290520">
                <a:tc gridSpan="2"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3002d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9124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Type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976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ReadWriteOnce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9764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Read-write access  by a single node.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ReadOnlyMany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9764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Read-only access  by many nodes.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609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ReadWriteMany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9764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Read-write access  by many nodes.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23" name="Google Shape;1024;p 2"/>
          <p:cNvSpPr/>
          <p:nvPr/>
        </p:nvSpPr>
        <p:spPr>
          <a:xfrm>
            <a:off x="385920" y="1149840"/>
            <a:ext cx="7891200" cy="11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Configuration options for PersistentVolume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4"/>
              </a:spcBef>
              <a:buNone/>
              <a:tabLst>
                <a:tab algn="l" pos="0"/>
              </a:tabLst>
            </a:pPr>
            <a:endParaRPr b="0" lang="fr-FR" sz="3150" spc="-1" strike="noStrike">
              <a:latin typeface="Arial"/>
            </a:endParaRPr>
          </a:p>
          <a:p>
            <a:pPr marL="2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Access Mode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  Reclaim Policy</a:t>
            </a:r>
            <a:endParaRPr b="0" lang="fr-FR" sz="2000" spc="-1" strike="noStrike">
              <a:latin typeface="Arial"/>
            </a:endParaRPr>
          </a:p>
        </p:txBody>
      </p:sp>
      <p:graphicFrame>
        <p:nvGraphicFramePr>
          <p:cNvPr id="624" name="Google Shape;1025;p 2"/>
          <p:cNvGraphicFramePr/>
          <p:nvPr/>
        </p:nvGraphicFramePr>
        <p:xfrm>
          <a:off x="4262760" y="2494440"/>
          <a:ext cx="3928680" cy="2173320"/>
        </p:xfrm>
        <a:graphic>
          <a:graphicData uri="http://schemas.openxmlformats.org/drawingml/2006/table">
            <a:tbl>
              <a:tblPr/>
              <a:tblGrid>
                <a:gridCol w="1041120"/>
                <a:gridCol w="2887920"/>
              </a:tblGrid>
              <a:tr h="290520">
                <a:tc gridSpan="2"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3002d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9124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Type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2780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Retain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2780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Default. When PVC is deleted, PV is  “released” and can be reclaimed.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Delete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2780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Deletion removes PV and associated  storage.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609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Recycle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2780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Deprecated. Use dynamic binding  instead.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4320F88-C813-4162-AC2B-81B0F1145ADC}" type="slidenum">
              <a:t>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1043;p102"/>
          <p:cNvSpPr/>
          <p:nvPr/>
        </p:nvSpPr>
        <p:spPr>
          <a:xfrm>
            <a:off x="441720" y="1289880"/>
            <a:ext cx="75070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Will use a PersistentVolume based on resource request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39999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Defining a Claim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627" name="Google Shape;1045;p 2"/>
          <p:cNvGrpSpPr/>
          <p:nvPr/>
        </p:nvGrpSpPr>
        <p:grpSpPr>
          <a:xfrm>
            <a:off x="446040" y="2137680"/>
            <a:ext cx="3195720" cy="2673360"/>
            <a:chOff x="446040" y="2137680"/>
            <a:chExt cx="3195720" cy="2673360"/>
          </a:xfrm>
        </p:grpSpPr>
        <p:sp>
          <p:nvSpPr>
            <p:cNvPr id="628" name="Google Shape;1046;p 2"/>
            <p:cNvSpPr/>
            <p:nvPr/>
          </p:nvSpPr>
          <p:spPr>
            <a:xfrm>
              <a:off x="446040" y="2137680"/>
              <a:ext cx="3195720" cy="26733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9" name="Google Shape;1047;p 2"/>
            <p:cNvSpPr/>
            <p:nvPr/>
          </p:nvSpPr>
          <p:spPr>
            <a:xfrm>
              <a:off x="499680" y="2185920"/>
              <a:ext cx="3081600" cy="2559600"/>
            </a:xfrm>
            <a:custGeom>
              <a:avLst/>
              <a:gdLst/>
              <a:ahLst/>
              <a:rect l="l" t="t" r="r" b="b"/>
              <a:pathLst>
                <a:path w="3084829" h="2562860">
                  <a:moveTo>
                    <a:pt x="3084593" y="2562294"/>
                  </a:moveTo>
                  <a:lnTo>
                    <a:pt x="0" y="2562294"/>
                  </a:lnTo>
                  <a:lnTo>
                    <a:pt x="0" y="0"/>
                  </a:lnTo>
                  <a:lnTo>
                    <a:pt x="3084593" y="0"/>
                  </a:lnTo>
                  <a:lnTo>
                    <a:pt x="3084593" y="25622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30" name="Google Shape;1048;p 2"/>
          <p:cNvSpPr/>
          <p:nvPr/>
        </p:nvSpPr>
        <p:spPr>
          <a:xfrm>
            <a:off x="695520" y="2324160"/>
            <a:ext cx="2696760" cy="20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PersistentVolumeClaim</a:t>
            </a:r>
            <a:endParaRPr b="0" lang="fr-FR" sz="1300" spc="-1" strike="noStrike">
              <a:latin typeface="Arial"/>
            </a:endParaRPr>
          </a:p>
          <a:p>
            <a:pPr marL="207000" indent="-195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  </a:t>
            </a:r>
            <a:endParaRPr b="0" lang="fr-FR" sz="1300" spc="-1" strike="noStrike">
              <a:latin typeface="Arial"/>
            </a:endParaRPr>
          </a:p>
          <a:p>
            <a:pPr marL="207000" indent="-195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db-pvc</a:t>
            </a:r>
            <a:endParaRPr b="0" lang="fr-FR" sz="1300" spc="-1" strike="noStrike">
              <a:latin typeface="Arial"/>
            </a:endParaRPr>
          </a:p>
          <a:p>
            <a:pPr marL="12600" indent="-19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207000" indent="-19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accessModes:</a:t>
            </a:r>
            <a:endParaRPr b="0" lang="fr-FR" sz="1300" spc="-1" strike="noStrike">
              <a:latin typeface="Arial"/>
            </a:endParaRPr>
          </a:p>
          <a:p>
            <a:pPr marL="408240" indent="-19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ReadWriteOnce</a:t>
            </a:r>
            <a:endParaRPr b="0" lang="fr-FR" sz="1300" spc="-1" strike="noStrike">
              <a:latin typeface="Arial"/>
            </a:endParaRPr>
          </a:p>
          <a:p>
            <a:pPr marL="408240" indent="-20196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resources:  </a:t>
            </a:r>
            <a:endParaRPr b="0" lang="fr-FR" sz="1300" spc="-1" strike="noStrike">
              <a:latin typeface="Arial"/>
            </a:endParaRPr>
          </a:p>
          <a:p>
            <a:pPr marL="408240" indent="-20196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requests:</a:t>
            </a:r>
            <a:endParaRPr b="0" lang="fr-FR" sz="1300" spc="-1" strike="noStrike">
              <a:latin typeface="Arial"/>
            </a:endParaRPr>
          </a:p>
          <a:p>
            <a:pPr marL="606600" indent="-201960">
              <a:lnSpc>
                <a:spcPct val="100000"/>
              </a:lnSpc>
              <a:spcBef>
                <a:spcPts val="11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storage: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256Mi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31" name="Google Shape;1049;p 2"/>
          <p:cNvSpPr/>
          <p:nvPr/>
        </p:nvSpPr>
        <p:spPr>
          <a:xfrm>
            <a:off x="853560" y="4328640"/>
            <a:ext cx="2126520" cy="20592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8280" bIns="0" anchor="t">
            <a:spAutoFit/>
          </a:bodyPr>
          <a:p>
            <a:pPr marL="489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storageClassName: 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""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32" name="Google Shape;1050;p 2"/>
          <p:cNvSpPr/>
          <p:nvPr/>
        </p:nvSpPr>
        <p:spPr>
          <a:xfrm>
            <a:off x="2601720" y="4266720"/>
            <a:ext cx="54954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367640" indent="-1355760" algn="r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0" lang="en-US" sz="14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Assign an empty storage class name to  use a statically-created PersistentVolume</a:t>
            </a:r>
            <a:endParaRPr b="0" lang="fr-FR" sz="1400" spc="-1" strike="noStrike">
              <a:latin typeface="Arial"/>
            </a:endParaRPr>
          </a:p>
        </p:txBody>
      </p:sp>
      <p:pic>
        <p:nvPicPr>
          <p:cNvPr id="633" name="Google Shape;1051;p 2" descr=""/>
          <p:cNvPicPr/>
          <p:nvPr/>
        </p:nvPicPr>
        <p:blipFill>
          <a:blip r:embed="rId2"/>
          <a:stretch/>
        </p:blipFill>
        <p:spPr>
          <a:xfrm>
            <a:off x="2996280" y="4343040"/>
            <a:ext cx="1793520" cy="253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68EAA9E-69EF-4E63-981E-836FAE895C08}" type="slidenum">
              <a:t>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1069;p104"/>
          <p:cNvSpPr/>
          <p:nvPr/>
        </p:nvSpPr>
        <p:spPr>
          <a:xfrm>
            <a:off x="441720" y="1289880"/>
            <a:ext cx="62571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Use Volume type </a:t>
            </a:r>
            <a:r>
              <a:rPr b="0" i="1" lang="en-US" sz="2400" spc="-1" strike="noStrike">
                <a:solidFill>
                  <a:srgbClr val="595959"/>
                </a:solidFill>
                <a:latin typeface="Courier New"/>
                <a:ea typeface="Courier New"/>
              </a:rPr>
              <a:t>persistentVolumeClaim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3658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Mounting a Claim in a Pod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636" name="Google Shape;1071;p 2"/>
          <p:cNvGrpSpPr/>
          <p:nvPr/>
        </p:nvGrpSpPr>
        <p:grpSpPr>
          <a:xfrm>
            <a:off x="446040" y="2137680"/>
            <a:ext cx="3195720" cy="2744640"/>
            <a:chOff x="446040" y="2137680"/>
            <a:chExt cx="3195720" cy="2744640"/>
          </a:xfrm>
        </p:grpSpPr>
        <p:sp>
          <p:nvSpPr>
            <p:cNvPr id="637" name="Google Shape;1072;p 2"/>
            <p:cNvSpPr/>
            <p:nvPr/>
          </p:nvSpPr>
          <p:spPr>
            <a:xfrm>
              <a:off x="446040" y="2137680"/>
              <a:ext cx="3195720" cy="27446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8" name="Google Shape;1073;p 2"/>
            <p:cNvSpPr/>
            <p:nvPr/>
          </p:nvSpPr>
          <p:spPr>
            <a:xfrm>
              <a:off x="499680" y="2185920"/>
              <a:ext cx="3081600" cy="2630880"/>
            </a:xfrm>
            <a:custGeom>
              <a:avLst/>
              <a:gdLst/>
              <a:ahLst/>
              <a:rect l="l" t="t" r="r" b="b"/>
              <a:pathLst>
                <a:path w="3084829" h="2633979">
                  <a:moveTo>
                    <a:pt x="3084593" y="2633694"/>
                  </a:moveTo>
                  <a:lnTo>
                    <a:pt x="0" y="2633694"/>
                  </a:lnTo>
                  <a:lnTo>
                    <a:pt x="0" y="0"/>
                  </a:lnTo>
                  <a:lnTo>
                    <a:pt x="3084593" y="0"/>
                  </a:lnTo>
                  <a:lnTo>
                    <a:pt x="3084593" y="26336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39" name="Google Shape;1074;p 2"/>
          <p:cNvSpPr/>
          <p:nvPr/>
        </p:nvSpPr>
        <p:spPr>
          <a:xfrm>
            <a:off x="695520" y="2325600"/>
            <a:ext cx="192348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000" spc="-1" strike="noStrike">
              <a:latin typeface="Arial"/>
            </a:endParaRPr>
          </a:p>
          <a:p>
            <a:pPr marL="1612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app-consuming-pvc</a:t>
            </a:r>
            <a:endParaRPr b="0" lang="fr-FR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000" spc="-1" strike="noStrike">
              <a:latin typeface="Arial"/>
            </a:endParaRPr>
          </a:p>
          <a:p>
            <a:pPr marL="1612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volumes:</a:t>
            </a:r>
            <a:endParaRPr b="0" lang="fr-FR" sz="1000" spc="-1" strike="noStrike">
              <a:latin typeface="Arial"/>
            </a:endParaRPr>
          </a:p>
          <a:p>
            <a:pPr marL="1612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app-storage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640" name="Google Shape;1075;p 2"/>
          <p:cNvSpPr/>
          <p:nvPr/>
        </p:nvSpPr>
        <p:spPr>
          <a:xfrm>
            <a:off x="960840" y="3403440"/>
            <a:ext cx="1809720" cy="30528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080" bIns="0" anchor="t">
            <a:spAutoFit/>
          </a:bodyPr>
          <a:p>
            <a:pPr marL="19764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persistentVolumeClaim:  claimName: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db-pvc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641" name="Google Shape;1076;p 2"/>
          <p:cNvSpPr/>
          <p:nvPr/>
        </p:nvSpPr>
        <p:spPr>
          <a:xfrm>
            <a:off x="844200" y="3697200"/>
            <a:ext cx="2325240" cy="9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000" spc="-1" strike="noStrike">
              <a:latin typeface="Arial"/>
            </a:endParaRPr>
          </a:p>
          <a:p>
            <a:pPr marL="158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alpine</a:t>
            </a:r>
            <a:endParaRPr b="0" lang="fr-FR" sz="1000" spc="-1" strike="noStrike">
              <a:latin typeface="Arial"/>
            </a:endParaRPr>
          </a:p>
          <a:p>
            <a:pPr marL="1681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000" spc="-1" strike="noStrike">
              <a:latin typeface="Arial"/>
            </a:endParaRPr>
          </a:p>
          <a:p>
            <a:pPr marL="1612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volumeMounts:</a:t>
            </a:r>
            <a:endParaRPr b="0" lang="fr-FR" sz="1000" spc="-1" strike="noStrike">
              <a:latin typeface="Arial"/>
            </a:endParaRPr>
          </a:p>
          <a:p>
            <a:pPr marL="458640" indent="-1378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mountPath: </a:t>
            </a:r>
            <a:r>
              <a:rPr b="1" lang="en-US" sz="1000" spc="-1" strike="noStrike">
                <a:solidFill>
                  <a:srgbClr val="d15d34"/>
                </a:solidFill>
                <a:latin typeface="Courier New"/>
                <a:ea typeface="Courier New"/>
              </a:rPr>
              <a:t>"/mnt/data"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app-storage</a:t>
            </a:r>
            <a:endParaRPr b="0" lang="fr-FR" sz="1000" spc="-1" strike="noStrike">
              <a:latin typeface="Arial"/>
            </a:endParaRPr>
          </a:p>
        </p:txBody>
      </p:sp>
      <p:grpSp>
        <p:nvGrpSpPr>
          <p:cNvPr id="642" name="Google Shape;1077;p 2"/>
          <p:cNvGrpSpPr/>
          <p:nvPr/>
        </p:nvGrpSpPr>
        <p:grpSpPr>
          <a:xfrm>
            <a:off x="3099240" y="3537000"/>
            <a:ext cx="1305720" cy="78840"/>
            <a:chOff x="3099240" y="3537000"/>
            <a:chExt cx="1305720" cy="78840"/>
          </a:xfrm>
        </p:grpSpPr>
        <p:sp>
          <p:nvSpPr>
            <p:cNvPr id="643" name="Google Shape;1078;p 2"/>
            <p:cNvSpPr/>
            <p:nvPr/>
          </p:nvSpPr>
          <p:spPr>
            <a:xfrm>
              <a:off x="3195360" y="3578040"/>
              <a:ext cx="1209600" cy="360"/>
            </a:xfrm>
            <a:custGeom>
              <a:avLst/>
              <a:gdLst/>
              <a:ahLst/>
              <a:rect l="l" t="t" r="r" b="b"/>
              <a:pathLst>
                <a:path w="1212850" h="120000">
                  <a:moveTo>
                    <a:pt x="1212297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4" name="Google Shape;1079;p 2"/>
            <p:cNvSpPr/>
            <p:nvPr/>
          </p:nvSpPr>
          <p:spPr>
            <a:xfrm>
              <a:off x="3099240" y="353700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45" name="Google Shape;1080;p 2"/>
          <p:cNvSpPr/>
          <p:nvPr/>
        </p:nvSpPr>
        <p:spPr>
          <a:xfrm>
            <a:off x="4514400" y="3435840"/>
            <a:ext cx="34027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Reference the Volume by claim name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DF56EDD-F8D5-46B7-805E-28CA7EC63099}" type="slidenum">
              <a:t>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1093;p106"/>
          <p:cNvSpPr/>
          <p:nvPr/>
        </p:nvSpPr>
        <p:spPr>
          <a:xfrm>
            <a:off x="385920" y="1149840"/>
            <a:ext cx="79405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Creates PersistentVolume object automatically via storage class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3499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Dynamic Provisioning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648" name="Google Shape;1095;p 2"/>
          <p:cNvGrpSpPr/>
          <p:nvPr/>
        </p:nvGrpSpPr>
        <p:grpSpPr>
          <a:xfrm>
            <a:off x="511920" y="2511000"/>
            <a:ext cx="3952080" cy="1526400"/>
            <a:chOff x="511920" y="2511000"/>
            <a:chExt cx="3952080" cy="1526400"/>
          </a:xfrm>
        </p:grpSpPr>
        <p:sp>
          <p:nvSpPr>
            <p:cNvPr id="649" name="Google Shape;1096;p 2"/>
            <p:cNvSpPr/>
            <p:nvPr/>
          </p:nvSpPr>
          <p:spPr>
            <a:xfrm>
              <a:off x="511920" y="2511000"/>
              <a:ext cx="3952080" cy="15264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0" name="Google Shape;1097;p 2"/>
            <p:cNvSpPr/>
            <p:nvPr/>
          </p:nvSpPr>
          <p:spPr>
            <a:xfrm>
              <a:off x="565560" y="2559240"/>
              <a:ext cx="3838680" cy="1412280"/>
            </a:xfrm>
            <a:custGeom>
              <a:avLst/>
              <a:gdLst/>
              <a:ahLst/>
              <a:rect l="l" t="t" r="r" b="b"/>
              <a:pathLst>
                <a:path w="3841750" h="1415414">
                  <a:moveTo>
                    <a:pt x="3841192" y="1415397"/>
                  </a:moveTo>
                  <a:lnTo>
                    <a:pt x="0" y="1415397"/>
                  </a:lnTo>
                  <a:lnTo>
                    <a:pt x="0" y="0"/>
                  </a:lnTo>
                  <a:lnTo>
                    <a:pt x="3841192" y="0"/>
                  </a:lnTo>
                  <a:lnTo>
                    <a:pt x="3841192" y="1415397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51" name="Google Shape;1098;p 2"/>
          <p:cNvSpPr/>
          <p:nvPr/>
        </p:nvSpPr>
        <p:spPr>
          <a:xfrm>
            <a:off x="756720" y="2697840"/>
            <a:ext cx="289476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storage.k8s.io/v1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StorageClass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52" name="Google Shape;1099;p 2"/>
          <p:cNvSpPr/>
          <p:nvPr/>
        </p:nvSpPr>
        <p:spPr>
          <a:xfrm>
            <a:off x="950760" y="3297960"/>
            <a:ext cx="14612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standard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53" name="Google Shape;1100;p 2"/>
          <p:cNvSpPr/>
          <p:nvPr/>
        </p:nvSpPr>
        <p:spPr>
          <a:xfrm>
            <a:off x="756720" y="3498120"/>
            <a:ext cx="33901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provisioner: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kubernetes.io/aws-ebs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654" name="Google Shape;1101;p 2"/>
          <p:cNvGrpSpPr/>
          <p:nvPr/>
        </p:nvGrpSpPr>
        <p:grpSpPr>
          <a:xfrm>
            <a:off x="4808160" y="1928880"/>
            <a:ext cx="3374280" cy="2762640"/>
            <a:chOff x="4808160" y="1928880"/>
            <a:chExt cx="3374280" cy="2762640"/>
          </a:xfrm>
        </p:grpSpPr>
        <p:sp>
          <p:nvSpPr>
            <p:cNvPr id="655" name="Google Shape;1102;p 2"/>
            <p:cNvSpPr/>
            <p:nvPr/>
          </p:nvSpPr>
          <p:spPr>
            <a:xfrm>
              <a:off x="4808160" y="1928880"/>
              <a:ext cx="3374280" cy="27626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6" name="Google Shape;1103;p 2"/>
            <p:cNvSpPr/>
            <p:nvPr/>
          </p:nvSpPr>
          <p:spPr>
            <a:xfrm>
              <a:off x="4861800" y="1977480"/>
              <a:ext cx="3260520" cy="2648520"/>
            </a:xfrm>
            <a:custGeom>
              <a:avLst/>
              <a:gdLst/>
              <a:ahLst/>
              <a:rect l="l" t="t" r="r" b="b"/>
              <a:pathLst>
                <a:path w="3263900" h="2651760">
                  <a:moveTo>
                    <a:pt x="3263393" y="2651699"/>
                  </a:moveTo>
                  <a:lnTo>
                    <a:pt x="0" y="2651699"/>
                  </a:lnTo>
                  <a:lnTo>
                    <a:pt x="0" y="0"/>
                  </a:lnTo>
                  <a:lnTo>
                    <a:pt x="3263393" y="0"/>
                  </a:lnTo>
                  <a:lnTo>
                    <a:pt x="3263393" y="2651699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57" name="Google Shape;1104;p 2"/>
          <p:cNvSpPr/>
          <p:nvPr/>
        </p:nvSpPr>
        <p:spPr>
          <a:xfrm>
            <a:off x="5052960" y="2115720"/>
            <a:ext cx="2696760" cy="20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PersistentVolumeClaim</a:t>
            </a:r>
            <a:endParaRPr b="0" lang="fr-FR" sz="1300" spc="-1" strike="noStrike">
              <a:latin typeface="Arial"/>
            </a:endParaRPr>
          </a:p>
          <a:p>
            <a:pPr marL="207000" indent="-195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 </a:t>
            </a:r>
            <a:endParaRPr b="0" lang="fr-FR" sz="1300" spc="-1" strike="noStrike">
              <a:latin typeface="Arial"/>
            </a:endParaRPr>
          </a:p>
          <a:p>
            <a:pPr marL="207000" indent="-195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pvc</a:t>
            </a:r>
            <a:endParaRPr b="0" lang="fr-FR" sz="1300" spc="-1" strike="noStrike">
              <a:latin typeface="Arial"/>
            </a:endParaRPr>
          </a:p>
          <a:p>
            <a:pPr marL="12600" indent="-19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207000" indent="-19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accessModes:</a:t>
            </a:r>
            <a:endParaRPr b="0" lang="fr-FR" sz="1300" spc="-1" strike="noStrike">
              <a:latin typeface="Arial"/>
            </a:endParaRPr>
          </a:p>
          <a:p>
            <a:pPr marL="408240" indent="-19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ReadWriteMany</a:t>
            </a:r>
            <a:endParaRPr b="0" lang="fr-FR" sz="1300" spc="-1" strike="noStrike">
              <a:latin typeface="Arial"/>
            </a:endParaRPr>
          </a:p>
          <a:p>
            <a:pPr marL="401400" indent="-195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resources:  </a:t>
            </a:r>
            <a:endParaRPr b="0" lang="fr-FR" sz="1300" spc="-1" strike="noStrike">
              <a:latin typeface="Arial"/>
            </a:endParaRPr>
          </a:p>
          <a:p>
            <a:pPr marL="401400" indent="-195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requests:</a:t>
            </a:r>
            <a:endParaRPr b="0" lang="fr-FR" sz="1300" spc="-1" strike="noStrike">
              <a:latin typeface="Arial"/>
            </a:endParaRPr>
          </a:p>
          <a:p>
            <a:pPr marL="595800" indent="-195120">
              <a:lnSpc>
                <a:spcPct val="100000"/>
              </a:lnSpc>
              <a:spcBef>
                <a:spcPts val="11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storage: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256Mi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58" name="Google Shape;1105;p 2"/>
          <p:cNvSpPr/>
          <p:nvPr/>
        </p:nvSpPr>
        <p:spPr>
          <a:xfrm>
            <a:off x="5247360" y="4116240"/>
            <a:ext cx="26578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storageClassName: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standard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59" name="Google Shape;1106;p 2"/>
          <p:cNvSpPr/>
          <p:nvPr/>
        </p:nvSpPr>
        <p:spPr>
          <a:xfrm>
            <a:off x="2460600" y="3419640"/>
            <a:ext cx="2694240" cy="845280"/>
          </a:xfrm>
          <a:custGeom>
            <a:avLst/>
            <a:gdLst/>
            <a:ahLst/>
            <a:rect l="l" t="t" r="r" b="b"/>
            <a:pathLst>
              <a:path w="2697479" h="848360">
                <a:moveTo>
                  <a:pt x="0" y="0"/>
                </a:moveTo>
                <a:lnTo>
                  <a:pt x="1348502" y="0"/>
                </a:lnTo>
                <a:lnTo>
                  <a:pt x="1348502" y="848098"/>
                </a:lnTo>
                <a:lnTo>
                  <a:pt x="2696999" y="848098"/>
                </a:lnTo>
              </a:path>
            </a:pathLst>
          </a:custGeom>
          <a:noFill/>
          <a:ln w="190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2AD4737-C15E-4F2B-855E-D012E971742E}" type="slidenum">
              <a:t>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object 70"/>
          <p:cNvSpPr/>
          <p:nvPr/>
        </p:nvSpPr>
        <p:spPr>
          <a:xfrm>
            <a:off x="2945880" y="2061720"/>
            <a:ext cx="4252320" cy="9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0200" indent="-32832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Creating a Persistent Volume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661" name="object 71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05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1D1632-6375-4E48-ADBA-E53F54F80D3F}" type="slidenum">
              <a:t>57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820;p77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3" name="Google Shape;821;p77"/>
          <p:cNvSpPr/>
          <p:nvPr/>
        </p:nvSpPr>
        <p:spPr>
          <a:xfrm>
            <a:off x="545040" y="1629360"/>
            <a:ext cx="512820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Multi-Container Pods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664" name="Google Shape;822;p77"/>
          <p:cNvSpPr/>
          <p:nvPr/>
        </p:nvSpPr>
        <p:spPr>
          <a:xfrm>
            <a:off x="545040" y="2375640"/>
            <a:ext cx="35082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Common Design Patterns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DEAFE4C-8126-40DF-9EDB-AA75A063BB09}" type="slidenum">
              <a:t>58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827;p78"/>
          <p:cNvSpPr/>
          <p:nvPr/>
        </p:nvSpPr>
        <p:spPr>
          <a:xfrm>
            <a:off x="385920" y="1149840"/>
            <a:ext cx="8323560" cy="34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Used for implementing specific use cases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The general rule of thumb is to deploy one microservice per Pod in a  </a:t>
            </a: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single container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which helps with rolling out new versions of a  microservice without necessarily interrupting other parts of the  system.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Use cases for </a:t>
            </a: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multiple containers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in a single Pod</a:t>
            </a:r>
            <a:endParaRPr b="0" lang="fr-FR" sz="2000" spc="-1" strike="noStrike">
              <a:latin typeface="Arial"/>
            </a:endParaRPr>
          </a:p>
          <a:p>
            <a:pPr lvl="1" marL="973440" indent="-382320">
              <a:lnSpc>
                <a:spcPct val="100000"/>
              </a:lnSpc>
              <a:buClr>
                <a:srgbClr val="d3002d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Run preconfiguration procedure before the application container  should start.</a:t>
            </a:r>
            <a:endParaRPr b="0" lang="fr-FR" sz="2000" spc="-1" strike="noStrike">
              <a:latin typeface="Arial"/>
            </a:endParaRPr>
          </a:p>
          <a:p>
            <a:pPr lvl="1" marL="973440" indent="-382320">
              <a:lnSpc>
                <a:spcPct val="100000"/>
              </a:lnSpc>
              <a:buClr>
                <a:srgbClr val="d3002d"/>
              </a:buClr>
              <a:buFont typeface="Arial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Helper functionality that runs alongside the application.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2396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Single vs. Multiple Containers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21203A5-C0F4-40C1-8F94-077117517CEB}" type="slidenum">
              <a:t>59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9169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Multi-Container Patterns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668" name="Google Shape;834;p79"/>
          <p:cNvSpPr/>
          <p:nvPr/>
        </p:nvSpPr>
        <p:spPr>
          <a:xfrm>
            <a:off x="441720" y="1289880"/>
            <a:ext cx="6165000" cy="28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Understand patterns on a high-level</a:t>
            </a:r>
            <a:endParaRPr b="0" lang="fr-FR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700" spc="-1" strike="noStrike">
              <a:latin typeface="Arial"/>
            </a:endParaRPr>
          </a:p>
          <a:p>
            <a:pPr marL="3976200" indent="-459000">
              <a:lnSpc>
                <a:spcPct val="100000"/>
              </a:lnSpc>
              <a:spcBef>
                <a:spcPts val="1930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3000" spc="-1" strike="noStrike">
                <a:solidFill>
                  <a:srgbClr val="595959"/>
                </a:solidFill>
                <a:latin typeface="Arial"/>
                <a:ea typeface="Arial"/>
              </a:rPr>
              <a:t>Init container</a:t>
            </a:r>
            <a:endParaRPr b="0" lang="fr-FR" sz="3000" spc="-1" strike="noStrike">
              <a:latin typeface="Arial"/>
            </a:endParaRPr>
          </a:p>
          <a:p>
            <a:pPr marL="3976200" indent="-45900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3000" spc="-1" strike="noStrike">
                <a:solidFill>
                  <a:srgbClr val="595959"/>
                </a:solidFill>
                <a:latin typeface="Arial"/>
                <a:ea typeface="Arial"/>
              </a:rPr>
              <a:t>Sidecar</a:t>
            </a:r>
            <a:endParaRPr b="0" lang="fr-FR" sz="3000" spc="-1" strike="noStrike">
              <a:latin typeface="Arial"/>
            </a:endParaRPr>
          </a:p>
          <a:p>
            <a:pPr marL="3976200" indent="-45900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3000" spc="-1" strike="noStrike">
                <a:solidFill>
                  <a:srgbClr val="595959"/>
                </a:solidFill>
                <a:latin typeface="Arial"/>
                <a:ea typeface="Arial"/>
              </a:rPr>
              <a:t>Adapter</a:t>
            </a:r>
            <a:endParaRPr b="0" lang="fr-FR" sz="3000" spc="-1" strike="noStrike">
              <a:latin typeface="Arial"/>
            </a:endParaRPr>
          </a:p>
          <a:p>
            <a:pPr marL="3976200" indent="-45900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3000" spc="-1" strike="noStrike">
                <a:solidFill>
                  <a:srgbClr val="595959"/>
                </a:solidFill>
                <a:latin typeface="Arial"/>
                <a:ea typeface="Arial"/>
              </a:rPr>
              <a:t>Ambassador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76B89C0-BB09-44A7-812C-EE091F193063}" type="slidenum">
              <a:t>60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839;p80"/>
          <p:cNvSpPr/>
          <p:nvPr/>
        </p:nvSpPr>
        <p:spPr>
          <a:xfrm>
            <a:off x="441720" y="1289880"/>
            <a:ext cx="70434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Initialization logic before main application containers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670" name="Google Shape;840;p80"/>
          <p:cNvSpPr/>
          <p:nvPr/>
        </p:nvSpPr>
        <p:spPr>
          <a:xfrm>
            <a:off x="385920" y="391320"/>
            <a:ext cx="661788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Why Use an Init Container?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671" name="Google Shape;841;p80"/>
          <p:cNvSpPr/>
          <p:nvPr/>
        </p:nvSpPr>
        <p:spPr>
          <a:xfrm>
            <a:off x="1564200" y="2417760"/>
            <a:ext cx="5757120" cy="1776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33620A-9E42-4D4D-BA2B-CD50C6FC728B}" type="slidenum">
              <a:t>61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1956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Defining an Init Container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673" name="Google Shape;847;p81"/>
          <p:cNvSpPr/>
          <p:nvPr/>
        </p:nvSpPr>
        <p:spPr>
          <a:xfrm>
            <a:off x="441720" y="1289880"/>
            <a:ext cx="65919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Declared adjacent to main application containers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674" name="Google Shape;849;p81"/>
          <p:cNvSpPr/>
          <p:nvPr/>
        </p:nvSpPr>
        <p:spPr>
          <a:xfrm>
            <a:off x="837360" y="3252960"/>
            <a:ext cx="2418120" cy="60300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5760" bIns="0" anchor="t">
            <a:spAutoFit/>
          </a:bodyPr>
          <a:p>
            <a:pPr marL="525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initContainers:</a:t>
            </a:r>
            <a:endParaRPr b="0" lang="fr-FR" sz="1300" spc="-1" strike="noStrike">
              <a:latin typeface="Arial"/>
            </a:endParaRPr>
          </a:p>
          <a:p>
            <a:pPr marL="565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init:3.2.1</a:t>
            </a:r>
            <a:endParaRPr b="0" lang="fr-FR" sz="1300" spc="-1" strike="noStrike">
              <a:latin typeface="Arial"/>
            </a:endParaRPr>
          </a:p>
          <a:p>
            <a:pPr marL="24696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app-initializer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75" name="Google Shape;850;p81"/>
          <p:cNvSpPr/>
          <p:nvPr/>
        </p:nvSpPr>
        <p:spPr>
          <a:xfrm>
            <a:off x="454320" y="2111760"/>
            <a:ext cx="2891160" cy="237780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4720" bIns="0" anchor="t">
            <a:spAutoFit/>
          </a:bodyPr>
          <a:p>
            <a:pPr marL="2412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  </a:t>
            </a:r>
            <a:endParaRPr b="0" lang="fr-FR" sz="1300" spc="-1" strike="noStrike">
              <a:latin typeface="Arial"/>
            </a:endParaRPr>
          </a:p>
          <a:p>
            <a:pPr marL="2412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300" spc="-1" strike="noStrike">
              <a:latin typeface="Arial"/>
            </a:endParaRPr>
          </a:p>
          <a:p>
            <a:pPr marL="2412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435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multi-container</a:t>
            </a:r>
            <a:endParaRPr b="0" lang="fr-FR" sz="1300" spc="-1" strike="noStrike">
              <a:latin typeface="Arial"/>
            </a:endParaRPr>
          </a:p>
          <a:p>
            <a:pPr marL="2412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2412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2412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241200"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1350" spc="-1" strike="noStrike">
              <a:latin typeface="Arial"/>
            </a:endParaRPr>
          </a:p>
          <a:p>
            <a:pPr marL="435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300" spc="-1" strike="noStrike">
              <a:latin typeface="Arial"/>
            </a:endParaRPr>
          </a:p>
          <a:p>
            <a:pPr marL="43956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</a:t>
            </a:r>
            <a:endParaRPr b="0" lang="fr-FR" sz="1300" spc="-1" strike="noStrike">
              <a:latin typeface="Arial"/>
            </a:endParaRPr>
          </a:p>
          <a:p>
            <a:pPr marL="6307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web-server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676" name="Google Shape;851;p81"/>
          <p:cNvGrpSpPr/>
          <p:nvPr/>
        </p:nvGrpSpPr>
        <p:grpSpPr>
          <a:xfrm>
            <a:off x="3479040" y="3552840"/>
            <a:ext cx="1069200" cy="78840"/>
            <a:chOff x="3479040" y="3552840"/>
            <a:chExt cx="1069200" cy="78840"/>
          </a:xfrm>
        </p:grpSpPr>
        <p:sp>
          <p:nvSpPr>
            <p:cNvPr id="677" name="Google Shape;852;p81"/>
            <p:cNvSpPr/>
            <p:nvPr/>
          </p:nvSpPr>
          <p:spPr>
            <a:xfrm>
              <a:off x="3574800" y="3593880"/>
              <a:ext cx="973440" cy="360"/>
            </a:xfrm>
            <a:custGeom>
              <a:avLst/>
              <a:gdLst/>
              <a:ahLst/>
              <a:rect l="l" t="t" r="r" b="b"/>
              <a:pathLst>
                <a:path w="976629" h="120000">
                  <a:moveTo>
                    <a:pt x="9761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8" name="Google Shape;853;p81"/>
            <p:cNvSpPr/>
            <p:nvPr/>
          </p:nvSpPr>
          <p:spPr>
            <a:xfrm>
              <a:off x="3479040" y="3552840"/>
              <a:ext cx="102240" cy="788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79" name="Google Shape;854;p81"/>
          <p:cNvSpPr/>
          <p:nvPr/>
        </p:nvSpPr>
        <p:spPr>
          <a:xfrm>
            <a:off x="4653720" y="3318480"/>
            <a:ext cx="254340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880" indent="-266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Uses the same attributes as  main application containers</a:t>
            </a:r>
            <a:endParaRPr b="0" lang="fr-FR" sz="1500" spc="-1" strike="noStrike">
              <a:latin typeface="Arial"/>
            </a:endParaRPr>
          </a:p>
        </p:txBody>
      </p:sp>
      <p:pic>
        <p:nvPicPr>
          <p:cNvPr id="680" name="Google Shape;855;p81" descr=""/>
          <p:cNvPicPr/>
          <p:nvPr/>
        </p:nvPicPr>
        <p:blipFill>
          <a:blip r:embed="rId2"/>
          <a:stretch/>
        </p:blipFill>
        <p:spPr>
          <a:xfrm>
            <a:off x="795600" y="3252960"/>
            <a:ext cx="2307960" cy="6732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ABCEF40-EF2D-4A26-AA65-DFE6D0D79D98}" type="slidenum">
              <a:t>62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860;p82"/>
          <p:cNvSpPr/>
          <p:nvPr/>
        </p:nvSpPr>
        <p:spPr>
          <a:xfrm>
            <a:off x="441720" y="1289880"/>
            <a:ext cx="65577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Init container execution renders in status column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84301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Creating a Pod with Init Container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683" name="Google Shape;862;p82"/>
          <p:cNvGrpSpPr/>
          <p:nvPr/>
        </p:nvGrpSpPr>
        <p:grpSpPr>
          <a:xfrm>
            <a:off x="446040" y="2137680"/>
            <a:ext cx="5636520" cy="2539080"/>
            <a:chOff x="446040" y="2137680"/>
            <a:chExt cx="5636520" cy="2539080"/>
          </a:xfrm>
        </p:grpSpPr>
        <p:sp>
          <p:nvSpPr>
            <p:cNvPr id="684" name="Google Shape;863;p82"/>
            <p:cNvSpPr/>
            <p:nvPr/>
          </p:nvSpPr>
          <p:spPr>
            <a:xfrm>
              <a:off x="446040" y="2137680"/>
              <a:ext cx="5636520" cy="25390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5" name="Google Shape;864;p82"/>
            <p:cNvSpPr/>
            <p:nvPr/>
          </p:nvSpPr>
          <p:spPr>
            <a:xfrm>
              <a:off x="499680" y="2185920"/>
              <a:ext cx="5522400" cy="2424960"/>
            </a:xfrm>
            <a:custGeom>
              <a:avLst/>
              <a:gdLst/>
              <a:ahLst/>
              <a:rect l="l" t="t" r="r" b="b"/>
              <a:pathLst>
                <a:path w="5525770" h="2428240">
                  <a:moveTo>
                    <a:pt x="5525388" y="2427895"/>
                  </a:moveTo>
                  <a:lnTo>
                    <a:pt x="0" y="2427895"/>
                  </a:lnTo>
                  <a:lnTo>
                    <a:pt x="0" y="0"/>
                  </a:lnTo>
                  <a:lnTo>
                    <a:pt x="5525388" y="0"/>
                  </a:lnTo>
                  <a:lnTo>
                    <a:pt x="5525388" y="2427895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86" name="Google Shape;865;p82"/>
          <p:cNvSpPr/>
          <p:nvPr/>
        </p:nvSpPr>
        <p:spPr>
          <a:xfrm>
            <a:off x="663120" y="2247120"/>
            <a:ext cx="322272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-f init.yaml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pod/business-app created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get pod business-app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87" name="Google Shape;866;p82"/>
          <p:cNvSpPr/>
          <p:nvPr/>
        </p:nvSpPr>
        <p:spPr>
          <a:xfrm>
            <a:off x="2263320" y="3161520"/>
            <a:ext cx="17020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READY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STATUS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88" name="Google Shape;867;p82"/>
          <p:cNvSpPr/>
          <p:nvPr/>
        </p:nvSpPr>
        <p:spPr>
          <a:xfrm>
            <a:off x="4290120" y="3161520"/>
            <a:ext cx="8755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RESTARTS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89" name="Google Shape;868;p82"/>
          <p:cNvSpPr/>
          <p:nvPr/>
        </p:nvSpPr>
        <p:spPr>
          <a:xfrm>
            <a:off x="663120" y="3161520"/>
            <a:ext cx="1302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60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  AGE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business-app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90" name="Google Shape;869;p82"/>
          <p:cNvSpPr/>
          <p:nvPr/>
        </p:nvSpPr>
        <p:spPr>
          <a:xfrm>
            <a:off x="2262960" y="3656880"/>
            <a:ext cx="31341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0/1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Init:0/1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  0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91" name="Google Shape;870;p82"/>
          <p:cNvSpPr/>
          <p:nvPr/>
        </p:nvSpPr>
        <p:spPr>
          <a:xfrm>
            <a:off x="5463360" y="3656880"/>
            <a:ext cx="23544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2s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92" name="Google Shape;871;p82"/>
          <p:cNvSpPr/>
          <p:nvPr/>
        </p:nvSpPr>
        <p:spPr>
          <a:xfrm>
            <a:off x="663120" y="3923640"/>
            <a:ext cx="32227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get pod business-app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93" name="Google Shape;872;p82"/>
          <p:cNvSpPr/>
          <p:nvPr/>
        </p:nvSpPr>
        <p:spPr>
          <a:xfrm>
            <a:off x="663120" y="4133160"/>
            <a:ext cx="130248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business-app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94" name="Google Shape;873;p82"/>
          <p:cNvSpPr/>
          <p:nvPr/>
        </p:nvSpPr>
        <p:spPr>
          <a:xfrm>
            <a:off x="2262960" y="4133160"/>
            <a:ext cx="55620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READY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1/1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95" name="Google Shape;874;p82"/>
          <p:cNvSpPr/>
          <p:nvPr/>
        </p:nvSpPr>
        <p:spPr>
          <a:xfrm>
            <a:off x="3116520" y="4133160"/>
            <a:ext cx="7689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STATUS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Running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96" name="Google Shape;875;p82"/>
          <p:cNvSpPr/>
          <p:nvPr/>
        </p:nvSpPr>
        <p:spPr>
          <a:xfrm>
            <a:off x="4183200" y="4133160"/>
            <a:ext cx="211392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RESTARTS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AGE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0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8s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97" name="Google Shape;876;p82"/>
          <p:cNvSpPr/>
          <p:nvPr/>
        </p:nvSpPr>
        <p:spPr>
          <a:xfrm>
            <a:off x="3084480" y="3179520"/>
            <a:ext cx="944280" cy="388080"/>
          </a:xfrm>
          <a:custGeom>
            <a:avLst/>
            <a:gdLst/>
            <a:ahLst/>
            <a:rect l="l" t="t" r="r" b="b"/>
            <a:pathLst>
              <a:path w="947420" h="457835">
                <a:moveTo>
                  <a:pt x="0" y="0"/>
                </a:moveTo>
                <a:lnTo>
                  <a:pt x="947098" y="0"/>
                </a:lnTo>
                <a:lnTo>
                  <a:pt x="947098" y="457799"/>
                </a:lnTo>
                <a:lnTo>
                  <a:pt x="0" y="457799"/>
                </a:lnTo>
                <a:lnTo>
                  <a:pt x="0" y="0"/>
                </a:lnTo>
                <a:close/>
              </a:path>
            </a:pathLst>
          </a:custGeom>
          <a:noFill/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6F89ACE-957D-42CB-B924-9F7100D674A1}" type="slidenum">
              <a:t>63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881;p83"/>
          <p:cNvSpPr/>
          <p:nvPr/>
        </p:nvSpPr>
        <p:spPr>
          <a:xfrm>
            <a:off x="441720" y="1289880"/>
            <a:ext cx="68738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Run kubectl with </a:t>
            </a:r>
            <a:r>
              <a:rPr b="0" i="1" lang="en-US" sz="2400" spc="-1" strike="noStrike">
                <a:solidFill>
                  <a:srgbClr val="595959"/>
                </a:solidFill>
                <a:latin typeface="Courier New"/>
                <a:ea typeface="Courier New"/>
              </a:rPr>
              <a:t>--container </a:t>
            </a: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or </a:t>
            </a:r>
            <a:r>
              <a:rPr b="0" i="1" lang="en-US" sz="2400" spc="-1" strike="noStrike">
                <a:solidFill>
                  <a:srgbClr val="595959"/>
                </a:solidFill>
                <a:latin typeface="Courier New"/>
                <a:ea typeface="Courier New"/>
              </a:rPr>
              <a:t>-c </a:t>
            </a: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CLI option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699" name="Google Shape;882;p83"/>
          <p:cNvSpPr/>
          <p:nvPr/>
        </p:nvSpPr>
        <p:spPr>
          <a:xfrm>
            <a:off x="385920" y="391320"/>
            <a:ext cx="82634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Interacting with an Init Container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700" name="Google Shape;883;p83"/>
          <p:cNvSpPr/>
          <p:nvPr/>
        </p:nvSpPr>
        <p:spPr>
          <a:xfrm>
            <a:off x="645120" y="2579400"/>
            <a:ext cx="7694640" cy="14749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C669F46-5D56-4755-B1BB-D6B6DFFE6920}" type="slidenum">
              <a:t>64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888;p84"/>
          <p:cNvSpPr/>
          <p:nvPr/>
        </p:nvSpPr>
        <p:spPr>
          <a:xfrm>
            <a:off x="441720" y="1289880"/>
            <a:ext cx="68616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Defaults to main application container if not explicit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5141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Shelling in a Container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703" name="Google Shape;890;p84"/>
          <p:cNvGrpSpPr/>
          <p:nvPr/>
        </p:nvGrpSpPr>
        <p:grpSpPr>
          <a:xfrm>
            <a:off x="446040" y="2137680"/>
            <a:ext cx="6495840" cy="2000160"/>
            <a:chOff x="446040" y="2137680"/>
            <a:chExt cx="6495840" cy="2000160"/>
          </a:xfrm>
        </p:grpSpPr>
        <p:sp>
          <p:nvSpPr>
            <p:cNvPr id="704" name="Google Shape;891;p84"/>
            <p:cNvSpPr/>
            <p:nvPr/>
          </p:nvSpPr>
          <p:spPr>
            <a:xfrm>
              <a:off x="446040" y="2137680"/>
              <a:ext cx="6495840" cy="20001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5" name="Google Shape;892;p84"/>
            <p:cNvSpPr/>
            <p:nvPr/>
          </p:nvSpPr>
          <p:spPr>
            <a:xfrm>
              <a:off x="499680" y="2185920"/>
              <a:ext cx="6381720" cy="1886040"/>
            </a:xfrm>
            <a:custGeom>
              <a:avLst/>
              <a:gdLst/>
              <a:ahLst/>
              <a:rect l="l" t="t" r="r" b="b"/>
              <a:pathLst>
                <a:path w="6384925" h="1889125">
                  <a:moveTo>
                    <a:pt x="6384887" y="1889096"/>
                  </a:moveTo>
                  <a:lnTo>
                    <a:pt x="0" y="1889096"/>
                  </a:lnTo>
                  <a:lnTo>
                    <a:pt x="0" y="0"/>
                  </a:lnTo>
                  <a:lnTo>
                    <a:pt x="6384887" y="0"/>
                  </a:lnTo>
                  <a:lnTo>
                    <a:pt x="6384887" y="1889096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06" name="Google Shape;893;p84"/>
          <p:cNvSpPr/>
          <p:nvPr/>
        </p:nvSpPr>
        <p:spPr>
          <a:xfrm>
            <a:off x="675720" y="2323440"/>
            <a:ext cx="5982840" cy="14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exec -it -c web-server business-app -- /bin/sh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# exit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>
              <a:lnSpc>
                <a:spcPct val="118000"/>
              </a:lnSpc>
              <a:spcBef>
                <a:spcPts val="6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exec -it business-app -- /bin/sh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Defaulted container "web-server" out of: web-server,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↵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7000"/>
              </a:lnSpc>
              <a:spcBef>
                <a:spcPts val="65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app-initializer (init)  # exit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592D738-F3B6-4381-BA8F-951620DD84D6}" type="slidenum">
              <a:t>65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904;p86"/>
          <p:cNvSpPr/>
          <p:nvPr/>
        </p:nvSpPr>
        <p:spPr>
          <a:xfrm>
            <a:off x="441720" y="1289880"/>
            <a:ext cx="55231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Shared container lifecycle and resources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70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9055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Defining Multiple Containers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709" name="Google Shape;907;p86"/>
          <p:cNvSpPr/>
          <p:nvPr/>
        </p:nvSpPr>
        <p:spPr>
          <a:xfrm>
            <a:off x="454320" y="2102760"/>
            <a:ext cx="3223080" cy="174276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4720" bIns="0" anchor="t">
            <a:spAutoFit/>
          </a:bodyPr>
          <a:p>
            <a:pPr marL="2412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300" spc="-1" strike="noStrike">
              <a:latin typeface="Arial"/>
            </a:endParaRPr>
          </a:p>
          <a:p>
            <a:pPr marL="2412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300" spc="-1" strike="noStrike">
              <a:latin typeface="Arial"/>
            </a:endParaRPr>
          </a:p>
          <a:p>
            <a:pPr marL="2412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435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multi-container</a:t>
            </a:r>
            <a:endParaRPr b="0" lang="fr-FR" sz="1300" spc="-1" strike="noStrike">
              <a:latin typeface="Arial"/>
            </a:endParaRPr>
          </a:p>
          <a:p>
            <a:pPr marL="2412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435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300" spc="-1" strike="noStrike">
              <a:latin typeface="Arial"/>
            </a:endParaRPr>
          </a:p>
          <a:p>
            <a:pPr marL="43956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nginx:1.13.0</a:t>
            </a:r>
            <a:endParaRPr b="0" lang="fr-FR" sz="1300" spc="-1" strike="noStrike">
              <a:latin typeface="Arial"/>
            </a:endParaRPr>
          </a:p>
          <a:p>
            <a:pPr marL="6307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web-server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710" name="Google Shape;908;p86"/>
          <p:cNvSpPr/>
          <p:nvPr/>
        </p:nvSpPr>
        <p:spPr>
          <a:xfrm>
            <a:off x="837360" y="3850920"/>
            <a:ext cx="2714040" cy="43488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52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transformer:1.0.0</a:t>
            </a:r>
            <a:endParaRPr b="0" lang="fr-FR" sz="1300" spc="-1" strike="noStrike">
              <a:latin typeface="Arial"/>
            </a:endParaRPr>
          </a:p>
          <a:p>
            <a:pPr marL="24696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helper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711" name="Google Shape;909;p86"/>
          <p:cNvGrpSpPr/>
          <p:nvPr/>
        </p:nvGrpSpPr>
        <p:grpSpPr>
          <a:xfrm>
            <a:off x="3765960" y="4044600"/>
            <a:ext cx="1069560" cy="78840"/>
            <a:chOff x="3765960" y="4044600"/>
            <a:chExt cx="1069560" cy="78840"/>
          </a:xfrm>
        </p:grpSpPr>
        <p:sp>
          <p:nvSpPr>
            <p:cNvPr id="712" name="Google Shape;910;p86"/>
            <p:cNvSpPr/>
            <p:nvPr/>
          </p:nvSpPr>
          <p:spPr>
            <a:xfrm>
              <a:off x="3862080" y="4085640"/>
              <a:ext cx="973440" cy="360"/>
            </a:xfrm>
            <a:custGeom>
              <a:avLst/>
              <a:gdLst/>
              <a:ahLst/>
              <a:rect l="l" t="t" r="r" b="b"/>
              <a:pathLst>
                <a:path w="976629" h="120000">
                  <a:moveTo>
                    <a:pt x="9761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3" name="Google Shape;911;p86"/>
            <p:cNvSpPr/>
            <p:nvPr/>
          </p:nvSpPr>
          <p:spPr>
            <a:xfrm>
              <a:off x="3765960" y="4044600"/>
              <a:ext cx="102240" cy="788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14" name="Google Shape;912;p86"/>
          <p:cNvSpPr/>
          <p:nvPr/>
        </p:nvSpPr>
        <p:spPr>
          <a:xfrm>
            <a:off x="4965840" y="3751920"/>
            <a:ext cx="2591280" cy="6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Defines a second container  running alongside the  application container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AAE02C3-84B7-471B-A85F-9F9D315427E1}" type="slidenum">
              <a:t>66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917;p87"/>
          <p:cNvSpPr/>
          <p:nvPr/>
        </p:nvSpPr>
        <p:spPr>
          <a:xfrm>
            <a:off x="385920" y="391320"/>
            <a:ext cx="37382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Sidecar Pattern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716" name="Google Shape;918;p87"/>
          <p:cNvSpPr/>
          <p:nvPr/>
        </p:nvSpPr>
        <p:spPr>
          <a:xfrm>
            <a:off x="441720" y="1289880"/>
            <a:ext cx="8364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Not part of the main traffic or API of the primary application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717" name="Google Shape;919;p87"/>
          <p:cNvSpPr/>
          <p:nvPr/>
        </p:nvSpPr>
        <p:spPr>
          <a:xfrm>
            <a:off x="1250640" y="2363760"/>
            <a:ext cx="6639480" cy="20224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581BD9-EBBD-4904-8B3F-8D3B237A4BD6}" type="slidenum">
              <a:t>67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924;p88"/>
          <p:cNvSpPr/>
          <p:nvPr/>
        </p:nvSpPr>
        <p:spPr>
          <a:xfrm>
            <a:off x="441720" y="1289880"/>
            <a:ext cx="7606800" cy="8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Standardizes and normalizes application output read by  external monitoring service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719" name="Google Shape;925;p88"/>
          <p:cNvSpPr/>
          <p:nvPr/>
        </p:nvSpPr>
        <p:spPr>
          <a:xfrm>
            <a:off x="385920" y="391320"/>
            <a:ext cx="38282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Adapter Pattern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720" name="Google Shape;926;p88"/>
          <p:cNvSpPr/>
          <p:nvPr/>
        </p:nvSpPr>
        <p:spPr>
          <a:xfrm>
            <a:off x="1562760" y="2625120"/>
            <a:ext cx="5759640" cy="19893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D74C53-F786-48CA-B14A-D337399E77A5}" type="slidenum">
              <a:t>68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931;p89"/>
          <p:cNvSpPr/>
          <p:nvPr/>
        </p:nvSpPr>
        <p:spPr>
          <a:xfrm>
            <a:off x="441720" y="1289880"/>
            <a:ext cx="7447320" cy="8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Hide and/or abstract the complexity of interacting with  other parts of the system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722" name="Google Shape;932;p89"/>
          <p:cNvSpPr/>
          <p:nvPr/>
        </p:nvSpPr>
        <p:spPr>
          <a:xfrm>
            <a:off x="385920" y="391320"/>
            <a:ext cx="498528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Ambassador Pattern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723" name="Google Shape;933;p89"/>
          <p:cNvSpPr/>
          <p:nvPr/>
        </p:nvSpPr>
        <p:spPr>
          <a:xfrm>
            <a:off x="768600" y="2750760"/>
            <a:ext cx="7447320" cy="12974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8B56CBC-8AD5-42E1-B0AE-FCD6486D9632}" type="slidenum">
              <a:t>69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object 48"/>
          <p:cNvSpPr/>
          <p:nvPr/>
        </p:nvSpPr>
        <p:spPr>
          <a:xfrm>
            <a:off x="2945880" y="2061720"/>
            <a:ext cx="4252320" cy="4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0200" indent="-32832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Multi-Container Pods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725" name="object 49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06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A7D010-7211-49D2-8636-7378629A57BB}" type="slidenum">
              <a:t>70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1117;p109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7" name="Google Shape;1118;p109"/>
          <p:cNvSpPr/>
          <p:nvPr/>
        </p:nvSpPr>
        <p:spPr>
          <a:xfrm>
            <a:off x="545040" y="1629360"/>
            <a:ext cx="654228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Labels and Annotations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728" name="Google Shape;1119;p109"/>
          <p:cNvSpPr/>
          <p:nvPr/>
        </p:nvSpPr>
        <p:spPr>
          <a:xfrm>
            <a:off x="545040" y="2375640"/>
            <a:ext cx="69537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Commonalities and Differences, Use Cases, Usage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E1C6C1-D794-4709-BEAD-A4CD84821379}" type="slidenum">
              <a:t>71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1124;p110"/>
          <p:cNvSpPr/>
          <p:nvPr/>
        </p:nvSpPr>
        <p:spPr>
          <a:xfrm>
            <a:off x="385920" y="1149840"/>
            <a:ext cx="8419680" cy="25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Essential to querying, filtering and sorting Kubernetes objects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Key-value pairs assigned to Kubernetes objects.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Not meant for elaborate, multi-word descriptions of its functionality.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Kubernetes limits the length of a label to a maximum of 63 characters  and a range of allowed alphanumeric and separator characters.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30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0215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What is a Label?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ACB68BB-FD85-4657-A357-BBBCFB2E7A49}" type="slidenum">
              <a:t>72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1130;p111"/>
          <p:cNvSpPr/>
          <p:nvPr/>
        </p:nvSpPr>
        <p:spPr>
          <a:xfrm>
            <a:off x="385920" y="391320"/>
            <a:ext cx="385236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Example Labels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732" name="Google Shape;1131;p111"/>
          <p:cNvSpPr/>
          <p:nvPr/>
        </p:nvSpPr>
        <p:spPr>
          <a:xfrm>
            <a:off x="385920" y="1149840"/>
            <a:ext cx="699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Three different Pods with each three key-value pairs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733" name="Google Shape;1132;p111"/>
          <p:cNvSpPr/>
          <p:nvPr/>
        </p:nvSpPr>
        <p:spPr>
          <a:xfrm>
            <a:off x="1175760" y="2359440"/>
            <a:ext cx="6632640" cy="1901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669428A-ABC3-49AA-8CA3-5553DC4B98E5}" type="slidenum">
              <a:t>73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1137;p112"/>
          <p:cNvSpPr/>
          <p:nvPr/>
        </p:nvSpPr>
        <p:spPr>
          <a:xfrm>
            <a:off x="385920" y="1149840"/>
            <a:ext cx="52470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Use the </a:t>
            </a:r>
            <a:r>
              <a:rPr b="0" i="1" lang="en-US" sz="2200" spc="-1" strike="noStrike">
                <a:solidFill>
                  <a:srgbClr val="595959"/>
                </a:solidFill>
                <a:latin typeface="Courier New"/>
                <a:ea typeface="Courier New"/>
              </a:rPr>
              <a:t>metadata.labels 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attribute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7852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Assigning Labels in YAML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736" name="Google Shape;1140;p112"/>
          <p:cNvSpPr/>
          <p:nvPr/>
        </p:nvSpPr>
        <p:spPr>
          <a:xfrm>
            <a:off x="900360" y="3028680"/>
            <a:ext cx="1601280" cy="80496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4000"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labels:</a:t>
            </a:r>
            <a:endParaRPr b="0" lang="fr-FR" sz="1300" spc="-1" strike="noStrike">
              <a:latin typeface="Arial"/>
            </a:endParaRPr>
          </a:p>
          <a:p>
            <a:pPr marL="2484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tier: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backend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env: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prod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app: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miracle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737" name="Google Shape;1141;p112"/>
          <p:cNvSpPr/>
          <p:nvPr/>
        </p:nvSpPr>
        <p:spPr>
          <a:xfrm>
            <a:off x="501480" y="2123640"/>
            <a:ext cx="2071800" cy="22741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6680" bIns="0" anchor="t">
            <a:spAutoFit/>
          </a:bodyPr>
          <a:p>
            <a:pPr marL="222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222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pod1</a:t>
            </a:r>
            <a:endParaRPr b="0" lang="fr-FR" sz="1300" spc="-1" strike="noStrike">
              <a:latin typeface="Arial"/>
            </a:endParaRPr>
          </a:p>
          <a:p>
            <a:pPr marL="222120">
              <a:lnSpc>
                <a:spcPct val="101000"/>
              </a:lnSpc>
              <a:buNone/>
              <a:tabLst>
                <a:tab algn="l" pos="0"/>
              </a:tabLst>
            </a:pPr>
            <a:endParaRPr b="0" lang="fr-FR" sz="1300" spc="-1" strike="noStrike">
              <a:latin typeface="Arial"/>
            </a:endParaRPr>
          </a:p>
          <a:p>
            <a:pPr marL="222120">
              <a:lnSpc>
                <a:spcPct val="101000"/>
              </a:lnSpc>
              <a:buNone/>
              <a:tabLst>
                <a:tab algn="l" pos="0"/>
              </a:tabLst>
            </a:pPr>
            <a:endParaRPr b="0" lang="fr-FR" sz="1300" spc="-1" strike="noStrike">
              <a:latin typeface="Arial"/>
            </a:endParaRPr>
          </a:p>
          <a:p>
            <a:pPr marL="222120">
              <a:lnSpc>
                <a:spcPct val="101000"/>
              </a:lnSpc>
              <a:buNone/>
              <a:tabLst>
                <a:tab algn="l" pos="0"/>
              </a:tabLst>
            </a:pPr>
            <a:endParaRPr b="0" lang="fr-FR" sz="1300" spc="-1" strike="noStrike">
              <a:latin typeface="Arial"/>
            </a:endParaRPr>
          </a:p>
          <a:p>
            <a:pPr marL="222120">
              <a:lnSpc>
                <a:spcPct val="101000"/>
              </a:lnSpc>
              <a:buNone/>
              <a:tabLst>
                <a:tab algn="l" pos="0"/>
              </a:tabLst>
            </a:pPr>
            <a:endParaRPr b="0" lang="fr-FR" sz="1300" spc="-1" strike="noStrike">
              <a:latin typeface="Arial"/>
            </a:endParaRPr>
          </a:p>
          <a:p>
            <a:pPr marL="222120">
              <a:lnSpc>
                <a:spcPct val="101000"/>
              </a:lnSpc>
              <a:buNone/>
              <a:tabLst>
                <a:tab algn="l" pos="0"/>
              </a:tabLst>
            </a:pPr>
            <a:endParaRPr b="0" lang="fr-FR" sz="1300" spc="-1" strike="noStrike">
              <a:latin typeface="Arial"/>
            </a:endParaRPr>
          </a:p>
          <a:p>
            <a:pPr marL="222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416520" algn="r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738" name="Google Shape;1142;p112"/>
          <p:cNvSpPr/>
          <p:nvPr/>
        </p:nvSpPr>
        <p:spPr>
          <a:xfrm>
            <a:off x="2956320" y="3212280"/>
            <a:ext cx="26208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algn="r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1950" spc="-1" strike="noStrike" u="sng" baseline="3000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0" lang="en-US" sz="1950" spc="-1" strike="noStrike" u="sng" baseline="3000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US" sz="195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Declares three label</a:t>
            </a:r>
            <a:endParaRPr b="0" lang="fr-FR" sz="1400" spc="-1" strike="noStrike">
              <a:latin typeface="Arial"/>
            </a:endParaRPr>
          </a:p>
          <a:p>
            <a:pPr marL="1125360" algn="r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key-value pairs</a:t>
            </a:r>
            <a:endParaRPr b="0" lang="fr-FR" sz="1400" spc="-1" strike="noStrike">
              <a:latin typeface="Arial"/>
            </a:endParaRPr>
          </a:p>
        </p:txBody>
      </p:sp>
      <p:pic>
        <p:nvPicPr>
          <p:cNvPr id="739" name="Google Shape;1143;p112" descr=""/>
          <p:cNvPicPr/>
          <p:nvPr/>
        </p:nvPicPr>
        <p:blipFill>
          <a:blip r:embed="rId1"/>
          <a:stretch/>
        </p:blipFill>
        <p:spPr>
          <a:xfrm>
            <a:off x="824040" y="3028680"/>
            <a:ext cx="2832480" cy="8618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EA66D4C-A805-4472-AF82-80F33CB0393D}" type="slidenum">
              <a:t>74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1148;p113"/>
          <p:cNvSpPr/>
          <p:nvPr/>
        </p:nvSpPr>
        <p:spPr>
          <a:xfrm>
            <a:off x="385920" y="1149840"/>
            <a:ext cx="47426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Use the </a:t>
            </a:r>
            <a:r>
              <a:rPr b="0" i="1" lang="en-US" sz="2200" spc="-1" strike="noStrike">
                <a:solidFill>
                  <a:srgbClr val="595959"/>
                </a:solidFill>
                <a:latin typeface="Courier New"/>
                <a:ea typeface="Courier New"/>
              </a:rPr>
              <a:t>kubectl label 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command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9396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Assigning Labels on CLI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742" name="Google Shape;1150;p113"/>
          <p:cNvGrpSpPr/>
          <p:nvPr/>
        </p:nvGrpSpPr>
        <p:grpSpPr>
          <a:xfrm>
            <a:off x="344880" y="1899720"/>
            <a:ext cx="5906160" cy="2804040"/>
            <a:chOff x="344880" y="1899720"/>
            <a:chExt cx="5906160" cy="2804040"/>
          </a:xfrm>
        </p:grpSpPr>
        <p:sp>
          <p:nvSpPr>
            <p:cNvPr id="743" name="Google Shape;1151;p113"/>
            <p:cNvSpPr/>
            <p:nvPr/>
          </p:nvSpPr>
          <p:spPr>
            <a:xfrm>
              <a:off x="344880" y="1899720"/>
              <a:ext cx="5906160" cy="28040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4" name="Google Shape;1152;p113"/>
            <p:cNvSpPr/>
            <p:nvPr/>
          </p:nvSpPr>
          <p:spPr>
            <a:xfrm>
              <a:off x="398520" y="1947960"/>
              <a:ext cx="5792400" cy="2690280"/>
            </a:xfrm>
            <a:custGeom>
              <a:avLst/>
              <a:gdLst/>
              <a:ahLst/>
              <a:rect l="l" t="t" r="r" b="b"/>
              <a:pathLst>
                <a:path w="5795645" h="2693670">
                  <a:moveTo>
                    <a:pt x="5795088" y="2693094"/>
                  </a:moveTo>
                  <a:lnTo>
                    <a:pt x="0" y="2693094"/>
                  </a:lnTo>
                  <a:lnTo>
                    <a:pt x="0" y="0"/>
                  </a:lnTo>
                  <a:lnTo>
                    <a:pt x="5795088" y="0"/>
                  </a:lnTo>
                  <a:lnTo>
                    <a:pt x="5795088" y="26930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45" name="Google Shape;1153;p113"/>
          <p:cNvSpPr/>
          <p:nvPr/>
        </p:nvSpPr>
        <p:spPr>
          <a:xfrm>
            <a:off x="588240" y="2091600"/>
            <a:ext cx="546804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label pod nginx tier=backend env=prod app=miracle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pod/nginx labeled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46" name="Google Shape;1154;p113"/>
          <p:cNvSpPr/>
          <p:nvPr/>
        </p:nvSpPr>
        <p:spPr>
          <a:xfrm>
            <a:off x="588240" y="2634480"/>
            <a:ext cx="2948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get pods --show-labels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47" name="Google Shape;1155;p113"/>
          <p:cNvSpPr/>
          <p:nvPr/>
        </p:nvSpPr>
        <p:spPr>
          <a:xfrm>
            <a:off x="588240" y="2815560"/>
            <a:ext cx="38808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pod1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48" name="Google Shape;1156;p113"/>
          <p:cNvSpPr/>
          <p:nvPr/>
        </p:nvSpPr>
        <p:spPr>
          <a:xfrm>
            <a:off x="1136880" y="2815560"/>
            <a:ext cx="340560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LABELS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tier=backend,env=prod,app=miracle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49" name="Google Shape;1157;p113"/>
          <p:cNvSpPr/>
          <p:nvPr/>
        </p:nvSpPr>
        <p:spPr>
          <a:xfrm>
            <a:off x="588240" y="3358440"/>
            <a:ext cx="29005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label pod nginx tier-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50" name="Google Shape;1158;p113"/>
          <p:cNvSpPr/>
          <p:nvPr/>
        </p:nvSpPr>
        <p:spPr>
          <a:xfrm>
            <a:off x="588240" y="3539520"/>
            <a:ext cx="15768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pod/nginx labeled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51" name="Google Shape;1159;p113"/>
          <p:cNvSpPr/>
          <p:nvPr/>
        </p:nvSpPr>
        <p:spPr>
          <a:xfrm>
            <a:off x="588240" y="3901320"/>
            <a:ext cx="2948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get pods --show-labels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52" name="Google Shape;1160;p113"/>
          <p:cNvSpPr/>
          <p:nvPr/>
        </p:nvSpPr>
        <p:spPr>
          <a:xfrm>
            <a:off x="588240" y="4082400"/>
            <a:ext cx="38808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pod1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53" name="Google Shape;1161;p113"/>
          <p:cNvSpPr/>
          <p:nvPr/>
        </p:nvSpPr>
        <p:spPr>
          <a:xfrm>
            <a:off x="1136880" y="4082400"/>
            <a:ext cx="221688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LABELS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env=prod,app=miracle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754" name="Google Shape;1162;p113"/>
          <p:cNvGrpSpPr/>
          <p:nvPr/>
        </p:nvGrpSpPr>
        <p:grpSpPr>
          <a:xfrm>
            <a:off x="6363360" y="2176200"/>
            <a:ext cx="662400" cy="78840"/>
            <a:chOff x="6363360" y="2176200"/>
            <a:chExt cx="662400" cy="78840"/>
          </a:xfrm>
        </p:grpSpPr>
        <p:sp>
          <p:nvSpPr>
            <p:cNvPr id="755" name="Google Shape;1163;p113"/>
            <p:cNvSpPr/>
            <p:nvPr/>
          </p:nvSpPr>
          <p:spPr>
            <a:xfrm>
              <a:off x="6459480" y="2217240"/>
              <a:ext cx="566280" cy="360"/>
            </a:xfrm>
            <a:custGeom>
              <a:avLst/>
              <a:gdLst/>
              <a:ahLst/>
              <a:rect l="l" t="t" r="r" b="b"/>
              <a:pathLst>
                <a:path w="569595" h="120000">
                  <a:moveTo>
                    <a:pt x="5690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6" name="Google Shape;1164;p113"/>
            <p:cNvSpPr/>
            <p:nvPr/>
          </p:nvSpPr>
          <p:spPr>
            <a:xfrm>
              <a:off x="6363360" y="217620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57" name="Google Shape;1165;p113"/>
          <p:cNvSpPr/>
          <p:nvPr/>
        </p:nvSpPr>
        <p:spPr>
          <a:xfrm>
            <a:off x="7141680" y="1975680"/>
            <a:ext cx="16754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205200" indent="-19296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Declares three label  key-value pairs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758" name="Google Shape;1166;p113"/>
          <p:cNvGrpSpPr/>
          <p:nvPr/>
        </p:nvGrpSpPr>
        <p:grpSpPr>
          <a:xfrm>
            <a:off x="3707640" y="3432960"/>
            <a:ext cx="3353760" cy="78840"/>
            <a:chOff x="3707640" y="3432960"/>
            <a:chExt cx="3353760" cy="78840"/>
          </a:xfrm>
        </p:grpSpPr>
        <p:sp>
          <p:nvSpPr>
            <p:cNvPr id="759" name="Google Shape;1167;p113"/>
            <p:cNvSpPr/>
            <p:nvPr/>
          </p:nvSpPr>
          <p:spPr>
            <a:xfrm>
              <a:off x="3803400" y="3474000"/>
              <a:ext cx="3258000" cy="360"/>
            </a:xfrm>
            <a:custGeom>
              <a:avLst/>
              <a:gdLst/>
              <a:ahLst/>
              <a:rect l="l" t="t" r="r" b="b"/>
              <a:pathLst>
                <a:path w="3261359" h="120000">
                  <a:moveTo>
                    <a:pt x="3260993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0" name="Google Shape;1168;p113"/>
            <p:cNvSpPr/>
            <p:nvPr/>
          </p:nvSpPr>
          <p:spPr>
            <a:xfrm>
              <a:off x="3707640" y="343296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61" name="Google Shape;1169;p113"/>
          <p:cNvSpPr/>
          <p:nvPr/>
        </p:nvSpPr>
        <p:spPr>
          <a:xfrm>
            <a:off x="7196040" y="3232440"/>
            <a:ext cx="149328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85400" indent="-17352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Removes the label  with key 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tier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3414C74-CBF1-4BD9-B389-144EA9D87350}" type="slidenum">
              <a:t>75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1174;p114"/>
          <p:cNvSpPr/>
          <p:nvPr/>
        </p:nvSpPr>
        <p:spPr>
          <a:xfrm>
            <a:off x="385920" y="391320"/>
            <a:ext cx="401940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Selecting Labels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763" name="Google Shape;1175;p114"/>
          <p:cNvSpPr/>
          <p:nvPr/>
        </p:nvSpPr>
        <p:spPr>
          <a:xfrm>
            <a:off x="385920" y="1149840"/>
            <a:ext cx="717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Label selector uses a set of criteria to query for objects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764" name="Google Shape;1176;p114"/>
          <p:cNvSpPr/>
          <p:nvPr/>
        </p:nvSpPr>
        <p:spPr>
          <a:xfrm>
            <a:off x="1202760" y="2278800"/>
            <a:ext cx="6648120" cy="19054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21A7F0-DFFC-4D71-AE84-BBFB2FFDFD9A}" type="slidenum">
              <a:t>76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1181;p115"/>
          <p:cNvSpPr/>
          <p:nvPr/>
        </p:nvSpPr>
        <p:spPr>
          <a:xfrm>
            <a:off x="385920" y="1149840"/>
            <a:ext cx="74275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You can specify equality-based and set-based requirements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1222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Label Selection from the CLI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767" name="Google Shape;1183;p115"/>
          <p:cNvGrpSpPr/>
          <p:nvPr/>
        </p:nvGrpSpPr>
        <p:grpSpPr>
          <a:xfrm>
            <a:off x="409680" y="1907280"/>
            <a:ext cx="7098120" cy="2410200"/>
            <a:chOff x="409680" y="1907280"/>
            <a:chExt cx="7098120" cy="2410200"/>
          </a:xfrm>
        </p:grpSpPr>
        <p:sp>
          <p:nvSpPr>
            <p:cNvPr id="768" name="Google Shape;1184;p115"/>
            <p:cNvSpPr/>
            <p:nvPr/>
          </p:nvSpPr>
          <p:spPr>
            <a:xfrm>
              <a:off x="409680" y="1907280"/>
              <a:ext cx="7098120" cy="24102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9" name="Google Shape;1185;p115"/>
            <p:cNvSpPr/>
            <p:nvPr/>
          </p:nvSpPr>
          <p:spPr>
            <a:xfrm>
              <a:off x="463320" y="1955520"/>
              <a:ext cx="6984360" cy="2296080"/>
            </a:xfrm>
            <a:custGeom>
              <a:avLst/>
              <a:gdLst/>
              <a:ahLst/>
              <a:rect l="l" t="t" r="r" b="b"/>
              <a:pathLst>
                <a:path w="6987540" h="2299335">
                  <a:moveTo>
                    <a:pt x="6986985" y="2299195"/>
                  </a:moveTo>
                  <a:lnTo>
                    <a:pt x="0" y="2299195"/>
                  </a:lnTo>
                  <a:lnTo>
                    <a:pt x="0" y="0"/>
                  </a:lnTo>
                  <a:lnTo>
                    <a:pt x="6986985" y="0"/>
                  </a:lnTo>
                  <a:lnTo>
                    <a:pt x="6986985" y="2299195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70" name="Google Shape;1186;p115"/>
          <p:cNvSpPr/>
          <p:nvPr/>
        </p:nvSpPr>
        <p:spPr>
          <a:xfrm>
            <a:off x="673200" y="2062080"/>
            <a:ext cx="5234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get pods -l tier=frontend,env=dev --show-labels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71" name="Google Shape;1187;p115"/>
          <p:cNvSpPr/>
          <p:nvPr/>
        </p:nvSpPr>
        <p:spPr>
          <a:xfrm>
            <a:off x="673200" y="2170800"/>
            <a:ext cx="3954240" cy="6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LABELS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pod2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app=crawler,env=dev,tier=frontend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72" name="Google Shape;1188;p115"/>
          <p:cNvSpPr/>
          <p:nvPr/>
        </p:nvSpPr>
        <p:spPr>
          <a:xfrm>
            <a:off x="673200" y="2786040"/>
            <a:ext cx="39542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get pods -l version --show-labels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73" name="Google Shape;1189;p115"/>
          <p:cNvSpPr/>
          <p:nvPr/>
        </p:nvSpPr>
        <p:spPr>
          <a:xfrm>
            <a:off x="673200" y="2894760"/>
            <a:ext cx="4228560" cy="6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LABELS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pod3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app=crawler,env=staging,version=v2.1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774" name="Google Shape;1190;p115"/>
          <p:cNvGrpSpPr/>
          <p:nvPr/>
        </p:nvGrpSpPr>
        <p:grpSpPr>
          <a:xfrm>
            <a:off x="4827960" y="2149200"/>
            <a:ext cx="2799360" cy="2506680"/>
            <a:chOff x="4827960" y="2149200"/>
            <a:chExt cx="2799360" cy="2506680"/>
          </a:xfrm>
        </p:grpSpPr>
        <p:sp>
          <p:nvSpPr>
            <p:cNvPr id="775" name="Google Shape;1191;p115"/>
            <p:cNvSpPr/>
            <p:nvPr/>
          </p:nvSpPr>
          <p:spPr>
            <a:xfrm>
              <a:off x="6171840" y="2190240"/>
              <a:ext cx="1445760" cy="360"/>
            </a:xfrm>
            <a:custGeom>
              <a:avLst/>
              <a:gdLst/>
              <a:ahLst/>
              <a:rect l="l" t="t" r="r" b="b"/>
              <a:pathLst>
                <a:path w="1449070" h="120000">
                  <a:moveTo>
                    <a:pt x="1448997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6" name="Google Shape;1192;p115"/>
            <p:cNvSpPr/>
            <p:nvPr/>
          </p:nvSpPr>
          <p:spPr>
            <a:xfrm>
              <a:off x="6076080" y="214920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7" name="Google Shape;1193;p115"/>
            <p:cNvSpPr/>
            <p:nvPr/>
          </p:nvSpPr>
          <p:spPr>
            <a:xfrm>
              <a:off x="4924080" y="2917080"/>
              <a:ext cx="2703240" cy="360"/>
            </a:xfrm>
            <a:custGeom>
              <a:avLst/>
              <a:gdLst/>
              <a:ahLst/>
              <a:rect l="l" t="t" r="r" b="b"/>
              <a:pathLst>
                <a:path w="2706370" h="120000">
                  <a:moveTo>
                    <a:pt x="2705994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8" name="Google Shape;1194;p115"/>
            <p:cNvSpPr/>
            <p:nvPr/>
          </p:nvSpPr>
          <p:spPr>
            <a:xfrm>
              <a:off x="4827960" y="287604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9" name="Google Shape;1195;p115"/>
            <p:cNvSpPr/>
            <p:nvPr/>
          </p:nvSpPr>
          <p:spPr>
            <a:xfrm>
              <a:off x="5018040" y="4010040"/>
              <a:ext cx="544680" cy="645840"/>
            </a:xfrm>
            <a:custGeom>
              <a:avLst/>
              <a:gdLst/>
              <a:ahLst/>
              <a:rect l="l" t="t" r="r" b="b"/>
              <a:pathLst>
                <a:path w="548004" h="648970">
                  <a:moveTo>
                    <a:pt x="547498" y="648598"/>
                  </a:moveTo>
                  <a:lnTo>
                    <a:pt x="547498" y="639623"/>
                  </a:lnTo>
                  <a:lnTo>
                    <a:pt x="0" y="639623"/>
                  </a:ln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0" name="Google Shape;1196;p115"/>
            <p:cNvSpPr/>
            <p:nvPr/>
          </p:nvSpPr>
          <p:spPr>
            <a:xfrm>
              <a:off x="4977000" y="3914280"/>
              <a:ext cx="78840" cy="1022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81" name="Google Shape;1197;p115"/>
          <p:cNvSpPr/>
          <p:nvPr/>
        </p:nvSpPr>
        <p:spPr>
          <a:xfrm>
            <a:off x="673200" y="3509640"/>
            <a:ext cx="7063920" cy="15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get pods -l 'tier in (frontend,backend),env=dev' --show-labels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LABELS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pod2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app=crawler,env=dev,tier=frontend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endParaRPr b="0" lang="fr-FR" sz="1150" spc="-1" strike="noStrike">
              <a:latin typeface="Arial"/>
            </a:endParaRPr>
          </a:p>
          <a:p>
            <a:pPr marL="5054040" indent="-7920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Set-based expression  follows Boolean OR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782" name="Google Shape;1198;p115"/>
          <p:cNvSpPr/>
          <p:nvPr/>
        </p:nvSpPr>
        <p:spPr>
          <a:xfrm>
            <a:off x="7712280" y="1948680"/>
            <a:ext cx="12495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16280" indent="-10404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Boolean AND  expression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783" name="Google Shape;1199;p115"/>
          <p:cNvSpPr/>
          <p:nvPr/>
        </p:nvSpPr>
        <p:spPr>
          <a:xfrm>
            <a:off x="7788960" y="2675520"/>
            <a:ext cx="8820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600" indent="8388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Key-only  expression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8A6248E-D01F-49E8-9674-5F2BF82E33DC}" type="slidenum">
              <a:t>77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1204;p116"/>
          <p:cNvSpPr/>
          <p:nvPr/>
        </p:nvSpPr>
        <p:spPr>
          <a:xfrm>
            <a:off x="385920" y="1149840"/>
            <a:ext cx="65570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Certain objects provide label selection via their API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2326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Label Selection in YAML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786" name="Google Shape;1206;p116"/>
          <p:cNvGrpSpPr/>
          <p:nvPr/>
        </p:nvGrpSpPr>
        <p:grpSpPr>
          <a:xfrm>
            <a:off x="409680" y="2085120"/>
            <a:ext cx="3615480" cy="2205360"/>
            <a:chOff x="409680" y="2085120"/>
            <a:chExt cx="3615480" cy="2205360"/>
          </a:xfrm>
        </p:grpSpPr>
        <p:sp>
          <p:nvSpPr>
            <p:cNvPr id="787" name="Google Shape;1207;p116"/>
            <p:cNvSpPr/>
            <p:nvPr/>
          </p:nvSpPr>
          <p:spPr>
            <a:xfrm>
              <a:off x="409680" y="2085120"/>
              <a:ext cx="3615480" cy="22053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8" name="Google Shape;1208;p116"/>
            <p:cNvSpPr/>
            <p:nvPr/>
          </p:nvSpPr>
          <p:spPr>
            <a:xfrm>
              <a:off x="463320" y="2133720"/>
              <a:ext cx="3501360" cy="2091600"/>
            </a:xfrm>
            <a:custGeom>
              <a:avLst/>
              <a:gdLst/>
              <a:ahLst/>
              <a:rect l="l" t="t" r="r" b="b"/>
              <a:pathLst>
                <a:path w="3504565" h="2094864">
                  <a:moveTo>
                    <a:pt x="3504292" y="2094295"/>
                  </a:moveTo>
                  <a:lnTo>
                    <a:pt x="0" y="2094295"/>
                  </a:lnTo>
                  <a:lnTo>
                    <a:pt x="0" y="0"/>
                  </a:lnTo>
                  <a:lnTo>
                    <a:pt x="3504292" y="0"/>
                  </a:lnTo>
                  <a:lnTo>
                    <a:pt x="3504292" y="2094295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89" name="Google Shape;1209;p116"/>
          <p:cNvSpPr/>
          <p:nvPr/>
        </p:nvSpPr>
        <p:spPr>
          <a:xfrm>
            <a:off x="628200" y="2239560"/>
            <a:ext cx="319212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networking.k8s.io/v1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NetworkPolicy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2070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frontend-network-policy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790" name="Google Shape;1210;p116"/>
          <p:cNvSpPr/>
          <p:nvPr/>
        </p:nvSpPr>
        <p:spPr>
          <a:xfrm>
            <a:off x="628200" y="3839760"/>
            <a:ext cx="3193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</p:txBody>
      </p:sp>
      <p:pic>
        <p:nvPicPr>
          <p:cNvPr id="791" name="Google Shape;1211;p116" descr=""/>
          <p:cNvPicPr/>
          <p:nvPr/>
        </p:nvPicPr>
        <p:blipFill>
          <a:blip r:embed="rId2"/>
          <a:stretch/>
        </p:blipFill>
        <p:spPr>
          <a:xfrm>
            <a:off x="794160" y="3286440"/>
            <a:ext cx="6076440" cy="7210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7927038-44D7-4C60-8A8E-0A2B22F9AA02}" type="slidenum">
              <a:t>78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1216;p117"/>
          <p:cNvSpPr/>
          <p:nvPr/>
        </p:nvSpPr>
        <p:spPr>
          <a:xfrm>
            <a:off x="385920" y="1149840"/>
            <a:ext cx="8028360" cy="28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Descriptive metadata without the ability to be queryable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Key-value pairs for providing descriptive, human-readable metadata.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Cannot be used for querying or selecting objects.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Make sure to put the value of an annotation into single- or  double-quotes if it contains special characters or spaces.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8960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What is an Annotation?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9E9039C-E3E5-490A-90BA-17D335543CF6}" type="slidenum">
              <a:t>79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1222;p118"/>
          <p:cNvSpPr/>
          <p:nvPr/>
        </p:nvSpPr>
        <p:spPr>
          <a:xfrm>
            <a:off x="385920" y="391320"/>
            <a:ext cx="548748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Example Annotations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795" name="Google Shape;1223;p118"/>
          <p:cNvSpPr/>
          <p:nvPr/>
        </p:nvSpPr>
        <p:spPr>
          <a:xfrm>
            <a:off x="385920" y="1149840"/>
            <a:ext cx="41414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A Pod with three key-value pairs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796" name="Google Shape;1224;p118"/>
          <p:cNvSpPr/>
          <p:nvPr/>
        </p:nvSpPr>
        <p:spPr>
          <a:xfrm>
            <a:off x="3167640" y="2154240"/>
            <a:ext cx="2649600" cy="23130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AAC2823-9BA3-493F-AA19-99D2669B4DF2}" type="slidenum">
              <a:t>80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1229;p119"/>
          <p:cNvSpPr/>
          <p:nvPr/>
        </p:nvSpPr>
        <p:spPr>
          <a:xfrm>
            <a:off x="385920" y="1149840"/>
            <a:ext cx="578808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Use the </a:t>
            </a:r>
            <a:r>
              <a:rPr b="0" i="1" lang="en-US" sz="2200" spc="-1" strike="noStrike">
                <a:solidFill>
                  <a:srgbClr val="595959"/>
                </a:solidFill>
                <a:latin typeface="Courier New"/>
                <a:ea typeface="Courier New"/>
              </a:rPr>
              <a:t>metadata.annotations 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attribute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79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8548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Assigning Annotations in YAML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799" name="Google Shape;1232;p119"/>
          <p:cNvSpPr/>
          <p:nvPr/>
        </p:nvSpPr>
        <p:spPr>
          <a:xfrm>
            <a:off x="909360" y="3026880"/>
            <a:ext cx="2884680" cy="80676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428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annotations:</a:t>
            </a:r>
            <a:endParaRPr b="0" lang="fr-FR" sz="1300" spc="-1" strike="noStrike">
              <a:latin typeface="Arial"/>
            </a:endParaRPr>
          </a:p>
          <a:p>
            <a:pPr marL="2394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commit: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866a8dc</a:t>
            </a:r>
            <a:endParaRPr b="0" lang="fr-FR" sz="1300" spc="-1" strike="noStrike">
              <a:latin typeface="Arial"/>
            </a:endParaRPr>
          </a:p>
          <a:p>
            <a:pPr marL="24624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author: 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'Benjamin Muschko'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branch: 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'bm/bugfix'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800" name="Google Shape;1233;p119"/>
          <p:cNvSpPr/>
          <p:nvPr/>
        </p:nvSpPr>
        <p:spPr>
          <a:xfrm>
            <a:off x="537480" y="2123640"/>
            <a:ext cx="3355200" cy="192240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6680" bIns="0" anchor="t">
            <a:spAutoFit/>
          </a:bodyPr>
          <a:p>
            <a:pPr marL="222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4165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pod1</a:t>
            </a:r>
            <a:endParaRPr b="0" lang="fr-FR" sz="1300" spc="-1" strike="noStrike">
              <a:latin typeface="Arial"/>
            </a:endParaRPr>
          </a:p>
          <a:p>
            <a:pPr marL="41652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41652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41652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41652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endParaRPr b="0" lang="fr-FR" sz="1350" spc="-1" strike="noStrike">
              <a:latin typeface="Arial"/>
            </a:endParaRPr>
          </a:p>
          <a:p>
            <a:pPr marL="41652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416520" algn="r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</p:txBody>
      </p:sp>
      <p:pic>
        <p:nvPicPr>
          <p:cNvPr id="801" name="Google Shape;1234;p119" descr=""/>
          <p:cNvPicPr/>
          <p:nvPr/>
        </p:nvPicPr>
        <p:blipFill>
          <a:blip r:embed="rId1"/>
          <a:stretch/>
        </p:blipFill>
        <p:spPr>
          <a:xfrm>
            <a:off x="909360" y="3035520"/>
            <a:ext cx="6118920" cy="855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8DFC154-71E8-45A3-80DA-D7BD21C18BA8}" type="slidenum">
              <a:t>81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1239;p120"/>
          <p:cNvSpPr/>
          <p:nvPr/>
        </p:nvSpPr>
        <p:spPr>
          <a:xfrm>
            <a:off x="385920" y="1149840"/>
            <a:ext cx="611928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Use the </a:t>
            </a:r>
            <a:r>
              <a:rPr b="0" i="1" lang="en-US" sz="2200" spc="-1" strike="noStrike">
                <a:solidFill>
                  <a:srgbClr val="595959"/>
                </a:solidFill>
                <a:latin typeface="Courier New"/>
                <a:ea typeface="Courier New"/>
              </a:rPr>
              <a:t>kubectl annotations 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command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0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7468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Assigning Annotations on CLI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804" name="Google Shape;1241;p120"/>
          <p:cNvGrpSpPr/>
          <p:nvPr/>
        </p:nvGrpSpPr>
        <p:grpSpPr>
          <a:xfrm>
            <a:off x="344880" y="1899720"/>
            <a:ext cx="6337080" cy="2615400"/>
            <a:chOff x="344880" y="1899720"/>
            <a:chExt cx="6337080" cy="2615400"/>
          </a:xfrm>
        </p:grpSpPr>
        <p:sp>
          <p:nvSpPr>
            <p:cNvPr id="805" name="Google Shape;1242;p120"/>
            <p:cNvSpPr/>
            <p:nvPr/>
          </p:nvSpPr>
          <p:spPr>
            <a:xfrm>
              <a:off x="344880" y="1899720"/>
              <a:ext cx="6337080" cy="26154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6" name="Google Shape;1243;p120"/>
            <p:cNvSpPr/>
            <p:nvPr/>
          </p:nvSpPr>
          <p:spPr>
            <a:xfrm>
              <a:off x="398520" y="1947960"/>
              <a:ext cx="6222960" cy="2501280"/>
            </a:xfrm>
            <a:custGeom>
              <a:avLst/>
              <a:gdLst/>
              <a:ahLst/>
              <a:rect l="l" t="t" r="r" b="b"/>
              <a:pathLst>
                <a:path w="6226175" h="2504440">
                  <a:moveTo>
                    <a:pt x="6225887" y="2504394"/>
                  </a:moveTo>
                  <a:lnTo>
                    <a:pt x="0" y="2504394"/>
                  </a:lnTo>
                  <a:lnTo>
                    <a:pt x="0" y="0"/>
                  </a:lnTo>
                  <a:lnTo>
                    <a:pt x="6225887" y="0"/>
                  </a:lnTo>
                  <a:lnTo>
                    <a:pt x="6225887" y="25043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07" name="Google Shape;1244;p120"/>
          <p:cNvSpPr/>
          <p:nvPr/>
        </p:nvSpPr>
        <p:spPr>
          <a:xfrm>
            <a:off x="588240" y="2091600"/>
            <a:ext cx="591696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annotate pod nginx commit='866a8dc' branch='bm/bugfix'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pod/nginx annotated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808" name="Google Shape;1245;p120"/>
          <p:cNvSpPr/>
          <p:nvPr/>
        </p:nvSpPr>
        <p:spPr>
          <a:xfrm>
            <a:off x="588240" y="2634480"/>
            <a:ext cx="27655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describe pods my-pod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809" name="Google Shape;1246;p120"/>
          <p:cNvSpPr/>
          <p:nvPr/>
        </p:nvSpPr>
        <p:spPr>
          <a:xfrm>
            <a:off x="588240" y="2815560"/>
            <a:ext cx="11196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Annotations: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810" name="Google Shape;1247;p120"/>
          <p:cNvSpPr/>
          <p:nvPr/>
        </p:nvSpPr>
        <p:spPr>
          <a:xfrm>
            <a:off x="1868400" y="2815560"/>
            <a:ext cx="157680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0160" bIns="0" anchor="t">
            <a:spAutoFit/>
          </a:bodyPr>
          <a:p>
            <a:pPr marL="12600" indent="-72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branch: bm/bugfix  commit: 866a8dc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811" name="Google Shape;1248;p120"/>
          <p:cNvSpPr/>
          <p:nvPr/>
        </p:nvSpPr>
        <p:spPr>
          <a:xfrm>
            <a:off x="588240" y="3358440"/>
            <a:ext cx="33760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annotate pod nginx commit-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812" name="Google Shape;1249;p120"/>
          <p:cNvSpPr/>
          <p:nvPr/>
        </p:nvSpPr>
        <p:spPr>
          <a:xfrm>
            <a:off x="588240" y="3539520"/>
            <a:ext cx="17596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pod/nginx annotated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813" name="Google Shape;1250;p120"/>
          <p:cNvSpPr/>
          <p:nvPr/>
        </p:nvSpPr>
        <p:spPr>
          <a:xfrm>
            <a:off x="588240" y="3901320"/>
            <a:ext cx="372888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describe pods my-pod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Annotations: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branch: bm/bugfix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814" name="Google Shape;1251;p120"/>
          <p:cNvGrpSpPr/>
          <p:nvPr/>
        </p:nvGrpSpPr>
        <p:grpSpPr>
          <a:xfrm>
            <a:off x="4147560" y="2181960"/>
            <a:ext cx="3019320" cy="1321200"/>
            <a:chOff x="4147560" y="2181960"/>
            <a:chExt cx="3019320" cy="1321200"/>
          </a:xfrm>
        </p:grpSpPr>
        <p:sp>
          <p:nvSpPr>
            <p:cNvPr id="815" name="Google Shape;1252;p120"/>
            <p:cNvSpPr/>
            <p:nvPr/>
          </p:nvSpPr>
          <p:spPr>
            <a:xfrm>
              <a:off x="6781320" y="2219400"/>
              <a:ext cx="385560" cy="720"/>
            </a:xfrm>
            <a:custGeom>
              <a:avLst/>
              <a:gdLst/>
              <a:ahLst/>
              <a:rect l="l" t="t" r="r" b="b"/>
              <a:pathLst>
                <a:path w="388620" h="3810">
                  <a:moveTo>
                    <a:pt x="388199" y="0"/>
                  </a:moveTo>
                  <a:lnTo>
                    <a:pt x="0" y="3477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6" name="Google Shape;1253;p120"/>
            <p:cNvSpPr/>
            <p:nvPr/>
          </p:nvSpPr>
          <p:spPr>
            <a:xfrm>
              <a:off x="6685200" y="2181960"/>
              <a:ext cx="10260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7" name="Google Shape;1254;p120"/>
            <p:cNvSpPr/>
            <p:nvPr/>
          </p:nvSpPr>
          <p:spPr>
            <a:xfrm>
              <a:off x="4243680" y="3465360"/>
              <a:ext cx="2818080" cy="5760"/>
            </a:xfrm>
            <a:custGeom>
              <a:avLst/>
              <a:gdLst/>
              <a:ahLst/>
              <a:rect l="l" t="t" r="r" b="b"/>
              <a:pathLst>
                <a:path w="2821304" h="8889">
                  <a:moveTo>
                    <a:pt x="2820894" y="8649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8" name="Google Shape;1255;p120"/>
            <p:cNvSpPr/>
            <p:nvPr/>
          </p:nvSpPr>
          <p:spPr>
            <a:xfrm>
              <a:off x="4147560" y="342432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19" name="Google Shape;1256;p120"/>
          <p:cNvSpPr/>
          <p:nvPr/>
        </p:nvSpPr>
        <p:spPr>
          <a:xfrm>
            <a:off x="7269120" y="1977840"/>
            <a:ext cx="136800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95120" indent="-16308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Declares three  annotation</a:t>
            </a:r>
            <a:endParaRPr b="0" lang="fr-FR" sz="1400" spc="-1" strike="noStrike">
              <a:latin typeface="Arial"/>
            </a:endParaRPr>
          </a:p>
          <a:p>
            <a:pPr marL="12600" indent="-16308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key-value pairs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20" name="Google Shape;1257;p120"/>
          <p:cNvSpPr/>
          <p:nvPr/>
        </p:nvSpPr>
        <p:spPr>
          <a:xfrm>
            <a:off x="7171560" y="3106800"/>
            <a:ext cx="1645560" cy="76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600" indent="-1440" algn="ctr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Removes the  annotation with key  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commit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89F97E2-4B0D-4290-B1B8-2CECACE27040}" type="slidenum">
              <a:t>82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object 50"/>
          <p:cNvSpPr/>
          <p:nvPr/>
        </p:nvSpPr>
        <p:spPr>
          <a:xfrm>
            <a:off x="2873880" y="2061720"/>
            <a:ext cx="4612320" cy="4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0200" indent="-32832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Labels and annotations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822" name="object 51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07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28D98A-FB1F-4573-AAB7-CF0F0E02F521}" type="slidenum">
              <a:t>83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1268;p123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4" name="Google Shape;1269;p123"/>
          <p:cNvSpPr/>
          <p:nvPr/>
        </p:nvSpPr>
        <p:spPr>
          <a:xfrm>
            <a:off x="545040" y="1629360"/>
            <a:ext cx="583380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Application Deployment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825" name="Google Shape;1270;p123"/>
          <p:cNvSpPr/>
          <p:nvPr/>
        </p:nvSpPr>
        <p:spPr>
          <a:xfrm>
            <a:off x="545040" y="2375640"/>
            <a:ext cx="6998760" cy="10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99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Deployments, Manual and Automatic Deployment,  Rollout Strategies, Using Helm to Deploy an  Application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2973857-2627-43F9-8477-452972307408}" type="slidenum">
              <a:t>84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1275;p124"/>
          <p:cNvSpPr/>
          <p:nvPr/>
        </p:nvSpPr>
        <p:spPr>
          <a:xfrm>
            <a:off x="385920" y="1149840"/>
            <a:ext cx="8071200" cy="31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Scaling and replication features for a set of Pods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Controls a predefined number of Pods with the same configuration,  so-called </a:t>
            </a: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replicas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The number of replicas can be scaled up or down to fulfill load  requirements.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Updates to the replica configuration can be updated easily and is  rolled out automatically.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6037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What is a Deployment?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FEF1091-886B-40D4-BF28-ECE57BF775E3}" type="slidenum">
              <a:t>85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1281;p125"/>
          <p:cNvSpPr/>
          <p:nvPr/>
        </p:nvSpPr>
        <p:spPr>
          <a:xfrm>
            <a:off x="385920" y="1149840"/>
            <a:ext cx="539136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A Deployment that controls three replicas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29" name="Google Shape;1282;p125"/>
          <p:cNvSpPr/>
          <p:nvPr/>
        </p:nvSpPr>
        <p:spPr>
          <a:xfrm>
            <a:off x="385920" y="391320"/>
            <a:ext cx="515232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Example Deployment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830" name="Google Shape;1283;p125"/>
          <p:cNvSpPr/>
          <p:nvPr/>
        </p:nvSpPr>
        <p:spPr>
          <a:xfrm>
            <a:off x="2490840" y="2073600"/>
            <a:ext cx="4003200" cy="26539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3A80E6-C25B-4E48-BD32-C455DA92DB28}" type="slidenum">
              <a:t>86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1288;p126"/>
          <p:cNvSpPr/>
          <p:nvPr/>
        </p:nvSpPr>
        <p:spPr>
          <a:xfrm>
            <a:off x="385920" y="1149840"/>
            <a:ext cx="71575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Creates objects for the Deployment, ReplicaSet and Pods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3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5519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Creating a Deployment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833" name="Google Shape;1290;p126"/>
          <p:cNvGrpSpPr/>
          <p:nvPr/>
        </p:nvGrpSpPr>
        <p:grpSpPr>
          <a:xfrm>
            <a:off x="435600" y="1968480"/>
            <a:ext cx="8092800" cy="957960"/>
            <a:chOff x="435600" y="1968480"/>
            <a:chExt cx="8092800" cy="957960"/>
          </a:xfrm>
        </p:grpSpPr>
        <p:sp>
          <p:nvSpPr>
            <p:cNvPr id="834" name="Google Shape;1291;p126"/>
            <p:cNvSpPr/>
            <p:nvPr/>
          </p:nvSpPr>
          <p:spPr>
            <a:xfrm>
              <a:off x="435600" y="1968480"/>
              <a:ext cx="8092800" cy="9579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5" name="Google Shape;1292;p126"/>
            <p:cNvSpPr/>
            <p:nvPr/>
          </p:nvSpPr>
          <p:spPr>
            <a:xfrm>
              <a:off x="489240" y="2016720"/>
              <a:ext cx="7978680" cy="843840"/>
            </a:xfrm>
            <a:custGeom>
              <a:avLst/>
              <a:gdLst/>
              <a:ahLst/>
              <a:rect l="l" t="t" r="r" b="b"/>
              <a:pathLst>
                <a:path w="7981950" h="847089">
                  <a:moveTo>
                    <a:pt x="7981783" y="846898"/>
                  </a:moveTo>
                  <a:lnTo>
                    <a:pt x="0" y="846898"/>
                  </a:lnTo>
                  <a:lnTo>
                    <a:pt x="0" y="0"/>
                  </a:lnTo>
                  <a:lnTo>
                    <a:pt x="7981783" y="0"/>
                  </a:lnTo>
                  <a:lnTo>
                    <a:pt x="7981783" y="846898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36" name="Google Shape;1293;p126"/>
          <p:cNvSpPr/>
          <p:nvPr/>
        </p:nvSpPr>
        <p:spPr>
          <a:xfrm>
            <a:off x="6914520" y="2165040"/>
            <a:ext cx="1404000" cy="23688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24120" bIns="0" anchor="t">
            <a:spAutoFit/>
          </a:bodyPr>
          <a:p>
            <a:pPr marL="42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--replicas=3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37" name="Google Shape;1294;p126"/>
          <p:cNvSpPr/>
          <p:nvPr/>
        </p:nvSpPr>
        <p:spPr>
          <a:xfrm>
            <a:off x="651600" y="2176920"/>
            <a:ext cx="620892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deployment my-deploy --image=nginx:1.14.2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deployment.apps/my-deploy created</a:t>
            </a:r>
            <a:endParaRPr b="0" lang="fr-FR" sz="1400" spc="-1" strike="noStrike">
              <a:latin typeface="Arial"/>
            </a:endParaRPr>
          </a:p>
        </p:txBody>
      </p:sp>
      <p:pic>
        <p:nvPicPr>
          <p:cNvPr id="838" name="Google Shape;1295;p126" descr=""/>
          <p:cNvPicPr/>
          <p:nvPr/>
        </p:nvPicPr>
        <p:blipFill>
          <a:blip r:embed="rId2"/>
          <a:stretch/>
        </p:blipFill>
        <p:spPr>
          <a:xfrm>
            <a:off x="5427000" y="2535840"/>
            <a:ext cx="2584800" cy="1478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CDD9AC2-DC5C-48C1-8869-28923E94A129}" type="slidenum">
              <a:t>87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82033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Deployment Template Attributes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840" name="Google Shape;1302;p127"/>
          <p:cNvSpPr/>
          <p:nvPr/>
        </p:nvSpPr>
        <p:spPr>
          <a:xfrm>
            <a:off x="440640" y="1440720"/>
            <a:ext cx="2365920" cy="181620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900" spc="-1" strike="noStrike">
              <a:latin typeface="Arial"/>
            </a:endParaRPr>
          </a:p>
          <a:p>
            <a:pPr marL="167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apps/v1 </a:t>
            </a:r>
            <a:endParaRPr b="0" lang="fr-FR" sz="1000" spc="-1" strike="noStrike">
              <a:latin typeface="Arial"/>
            </a:endParaRPr>
          </a:p>
          <a:p>
            <a:pPr marL="167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  </a:t>
            </a:r>
            <a:endParaRPr b="0" lang="fr-FR" sz="1000" spc="-1" strike="noStrike">
              <a:latin typeface="Arial"/>
            </a:endParaRPr>
          </a:p>
          <a:p>
            <a:pPr marL="167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000" spc="-1" strike="noStrike">
              <a:latin typeface="Arial"/>
            </a:endParaRPr>
          </a:p>
          <a:p>
            <a:pPr marL="316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labels:</a:t>
            </a:r>
            <a:endParaRPr b="0" lang="fr-FR" sz="1000" spc="-1" strike="noStrike">
              <a:latin typeface="Arial"/>
            </a:endParaRPr>
          </a:p>
          <a:p>
            <a:pPr marL="464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app: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my-deploy</a:t>
            </a:r>
            <a:endParaRPr b="0" lang="fr-FR" sz="1000" spc="-1" strike="noStrike">
              <a:latin typeface="Arial"/>
            </a:endParaRPr>
          </a:p>
          <a:p>
            <a:pPr marL="316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my-deploy</a:t>
            </a:r>
            <a:endParaRPr b="0" lang="fr-FR" sz="1000" spc="-1" strike="noStrike">
              <a:latin typeface="Arial"/>
            </a:endParaRPr>
          </a:p>
          <a:p>
            <a:pPr marL="167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000" spc="-1" strike="noStrike">
              <a:latin typeface="Arial"/>
            </a:endParaRPr>
          </a:p>
          <a:p>
            <a:pPr marL="316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replicas: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3</a:t>
            </a:r>
            <a:endParaRPr b="0" lang="fr-FR" sz="1000" spc="-1" strike="noStrike">
              <a:latin typeface="Arial"/>
            </a:endParaRPr>
          </a:p>
          <a:p>
            <a:pPr marL="46476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selector: </a:t>
            </a:r>
            <a:endParaRPr b="0" lang="fr-FR" sz="1000" spc="-1" strike="noStrike">
              <a:latin typeface="Arial"/>
            </a:endParaRPr>
          </a:p>
          <a:p>
            <a:pPr marL="46476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matchLabels:</a:t>
            </a:r>
            <a:endParaRPr b="0" lang="fr-FR" sz="1000" spc="-1" strike="noStrike">
              <a:latin typeface="Arial"/>
            </a:endParaRPr>
          </a:p>
          <a:p>
            <a:pPr marL="61344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tier: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backend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841" name="Google Shape;1303;p127"/>
          <p:cNvSpPr/>
          <p:nvPr/>
        </p:nvSpPr>
        <p:spPr>
          <a:xfrm>
            <a:off x="669600" y="3251880"/>
            <a:ext cx="2061000" cy="121896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080" bIns="0" anchor="t">
            <a:spAutoFit/>
          </a:bodyPr>
          <a:p>
            <a:pPr marL="23616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template: </a:t>
            </a:r>
            <a:endParaRPr b="0" lang="fr-FR" sz="1000" spc="-1" strike="noStrike">
              <a:latin typeface="Arial"/>
            </a:endParaRPr>
          </a:p>
          <a:p>
            <a:pPr marL="23616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000" spc="-1" strike="noStrike">
              <a:latin typeface="Arial"/>
            </a:endParaRPr>
          </a:p>
          <a:p>
            <a:pPr marL="38484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labels:</a:t>
            </a:r>
            <a:endParaRPr b="0" lang="fr-FR" sz="1000" spc="-1" strike="noStrike">
              <a:latin typeface="Arial"/>
            </a:endParaRPr>
          </a:p>
          <a:p>
            <a:pPr marL="53352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tier: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backend</a:t>
            </a:r>
            <a:endParaRPr b="0" lang="fr-FR" sz="1000" spc="-1" strike="noStrike">
              <a:latin typeface="Arial"/>
            </a:endParaRPr>
          </a:p>
          <a:p>
            <a:pPr marL="23616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000" spc="-1" strike="noStrike">
              <a:latin typeface="Arial"/>
            </a:endParaRPr>
          </a:p>
          <a:p>
            <a:pPr marL="38484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000" spc="-1" strike="noStrike">
              <a:latin typeface="Arial"/>
            </a:endParaRPr>
          </a:p>
          <a:p>
            <a:pPr marL="39564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nginx:1.14.2</a:t>
            </a:r>
            <a:endParaRPr b="0" lang="fr-FR" sz="1000" spc="-1" strike="noStrike">
              <a:latin typeface="Arial"/>
            </a:endParaRPr>
          </a:p>
          <a:p>
            <a:pPr marL="53352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842" name="Google Shape;1305;p127"/>
          <p:cNvSpPr/>
          <p:nvPr/>
        </p:nvSpPr>
        <p:spPr>
          <a:xfrm>
            <a:off x="5276880" y="2737800"/>
            <a:ext cx="2661840" cy="93096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2120" bIns="0" anchor="t">
            <a:spAutoFit/>
          </a:bodyPr>
          <a:p>
            <a:pPr marL="16776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300" spc="-1" strike="noStrike">
              <a:latin typeface="Arial"/>
            </a:endParaRPr>
          </a:p>
          <a:p>
            <a:pPr marL="16776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300" spc="-1" strike="noStrike">
              <a:latin typeface="Arial"/>
            </a:endParaRPr>
          </a:p>
          <a:p>
            <a:pPr marL="16776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3618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843" name="Google Shape;1306;p127"/>
          <p:cNvSpPr/>
          <p:nvPr/>
        </p:nvSpPr>
        <p:spPr>
          <a:xfrm>
            <a:off x="5358960" y="3672360"/>
            <a:ext cx="2502360" cy="79704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849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2800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300" spc="-1" strike="noStrike">
              <a:latin typeface="Arial"/>
            </a:endParaRPr>
          </a:p>
          <a:p>
            <a:pPr marL="2833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nginx:1.14.2</a:t>
            </a:r>
            <a:endParaRPr b="0" lang="fr-FR" sz="1300" spc="-1" strike="noStrike">
              <a:latin typeface="Arial"/>
            </a:endParaRPr>
          </a:p>
          <a:p>
            <a:pPr marL="474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844" name="Google Shape;1307;p127"/>
          <p:cNvGrpSpPr/>
          <p:nvPr/>
        </p:nvGrpSpPr>
        <p:grpSpPr>
          <a:xfrm>
            <a:off x="3051720" y="3863160"/>
            <a:ext cx="1989360" cy="78840"/>
            <a:chOff x="3051720" y="3863160"/>
            <a:chExt cx="1989360" cy="78840"/>
          </a:xfrm>
        </p:grpSpPr>
        <p:sp>
          <p:nvSpPr>
            <p:cNvPr id="845" name="Google Shape;1308;p127"/>
            <p:cNvSpPr/>
            <p:nvPr/>
          </p:nvSpPr>
          <p:spPr>
            <a:xfrm>
              <a:off x="3051720" y="3904200"/>
              <a:ext cx="1893600" cy="360"/>
            </a:xfrm>
            <a:custGeom>
              <a:avLst/>
              <a:gdLst/>
              <a:ahLst/>
              <a:rect l="l" t="t" r="r" b="b"/>
              <a:pathLst>
                <a:path w="1896745" h="120000">
                  <a:moveTo>
                    <a:pt x="0" y="0"/>
                  </a:moveTo>
                  <a:lnTo>
                    <a:pt x="1896596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6" name="Google Shape;1309;p127"/>
            <p:cNvSpPr/>
            <p:nvPr/>
          </p:nvSpPr>
          <p:spPr>
            <a:xfrm>
              <a:off x="4938840" y="3863160"/>
              <a:ext cx="102240" cy="788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47" name="Google Shape;1310;p127"/>
          <p:cNvSpPr/>
          <p:nvPr/>
        </p:nvSpPr>
        <p:spPr>
          <a:xfrm>
            <a:off x="3108600" y="3074040"/>
            <a:ext cx="2108520" cy="76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240" algn="ctr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Template spec attributes  are the same as for a  Pod spec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A1A3DB0-DBD8-43E1-85FE-DD7CE83F9579}" type="slidenum">
              <a:t>88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9174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Deployment YAML Manifest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849" name="Google Shape;1316;p128"/>
          <p:cNvGrpSpPr/>
          <p:nvPr/>
        </p:nvGrpSpPr>
        <p:grpSpPr>
          <a:xfrm>
            <a:off x="387000" y="1392480"/>
            <a:ext cx="2479680" cy="3338280"/>
            <a:chOff x="387000" y="1392480"/>
            <a:chExt cx="2479680" cy="3338280"/>
          </a:xfrm>
        </p:grpSpPr>
        <p:sp>
          <p:nvSpPr>
            <p:cNvPr id="850" name="Google Shape;1317;p128"/>
            <p:cNvSpPr/>
            <p:nvPr/>
          </p:nvSpPr>
          <p:spPr>
            <a:xfrm>
              <a:off x="387000" y="1392480"/>
              <a:ext cx="2479680" cy="33382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1" name="Google Shape;1318;p128"/>
            <p:cNvSpPr/>
            <p:nvPr/>
          </p:nvSpPr>
          <p:spPr>
            <a:xfrm>
              <a:off x="440640" y="1440720"/>
              <a:ext cx="2365920" cy="3224520"/>
            </a:xfrm>
            <a:custGeom>
              <a:avLst/>
              <a:gdLst/>
              <a:ahLst/>
              <a:rect l="l" t="t" r="r" b="b"/>
              <a:pathLst>
                <a:path w="2369185" h="3227704">
                  <a:moveTo>
                    <a:pt x="2368795" y="3227100"/>
                  </a:moveTo>
                  <a:lnTo>
                    <a:pt x="0" y="3227100"/>
                  </a:lnTo>
                  <a:lnTo>
                    <a:pt x="0" y="0"/>
                  </a:lnTo>
                  <a:lnTo>
                    <a:pt x="2368795" y="0"/>
                  </a:lnTo>
                  <a:lnTo>
                    <a:pt x="2368795" y="3227100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52" name="Google Shape;1319;p128"/>
          <p:cNvSpPr/>
          <p:nvPr/>
        </p:nvSpPr>
        <p:spPr>
          <a:xfrm>
            <a:off x="1041120" y="3080160"/>
            <a:ext cx="1065600" cy="17208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20160" bIns="0" anchor="t">
            <a:spAutoFit/>
          </a:bodyPr>
          <a:p>
            <a:pPr marL="13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tier: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backend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853" name="Google Shape;1320;p128"/>
          <p:cNvSpPr/>
          <p:nvPr/>
        </p:nvSpPr>
        <p:spPr>
          <a:xfrm>
            <a:off x="1202400" y="3681360"/>
            <a:ext cx="1065600" cy="18036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28440" bIns="0" anchor="t">
            <a:spAutoFit/>
          </a:bodyPr>
          <a:p>
            <a:pPr marL="7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tier: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backend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854" name="Google Shape;1321;p128"/>
          <p:cNvSpPr/>
          <p:nvPr/>
        </p:nvSpPr>
        <p:spPr>
          <a:xfrm>
            <a:off x="440640" y="1440720"/>
            <a:ext cx="2365920" cy="30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900" spc="-1" strike="noStrike">
              <a:latin typeface="Arial"/>
            </a:endParaRPr>
          </a:p>
          <a:p>
            <a:pPr marL="167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apps/v1 </a:t>
            </a:r>
            <a:endParaRPr b="0" lang="fr-FR" sz="1000" spc="-1" strike="noStrike">
              <a:latin typeface="Arial"/>
            </a:endParaRPr>
          </a:p>
          <a:p>
            <a:pPr marL="167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  </a:t>
            </a:r>
            <a:endParaRPr b="0" lang="fr-FR" sz="1000" spc="-1" strike="noStrike">
              <a:latin typeface="Arial"/>
            </a:endParaRPr>
          </a:p>
          <a:p>
            <a:pPr marL="167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000" spc="-1" strike="noStrike">
              <a:latin typeface="Arial"/>
            </a:endParaRPr>
          </a:p>
          <a:p>
            <a:pPr marL="316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labels:</a:t>
            </a:r>
            <a:endParaRPr b="0" lang="fr-FR" sz="1000" spc="-1" strike="noStrike">
              <a:latin typeface="Arial"/>
            </a:endParaRPr>
          </a:p>
          <a:p>
            <a:pPr marL="464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app: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my-deploy</a:t>
            </a:r>
            <a:endParaRPr b="0" lang="fr-FR" sz="1000" spc="-1" strike="noStrike">
              <a:latin typeface="Arial"/>
            </a:endParaRPr>
          </a:p>
          <a:p>
            <a:pPr marL="316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my-deploy</a:t>
            </a:r>
            <a:endParaRPr b="0" lang="fr-FR" sz="1000" spc="-1" strike="noStrike">
              <a:latin typeface="Arial"/>
            </a:endParaRPr>
          </a:p>
          <a:p>
            <a:pPr marL="167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000" spc="-1" strike="noStrike">
              <a:latin typeface="Arial"/>
            </a:endParaRPr>
          </a:p>
          <a:p>
            <a:pPr marL="316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replicas: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3</a:t>
            </a:r>
            <a:endParaRPr b="0" lang="fr-FR" sz="1000" spc="-1" strike="noStrike">
              <a:latin typeface="Arial"/>
            </a:endParaRPr>
          </a:p>
          <a:p>
            <a:pPr marL="46476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selector: </a:t>
            </a:r>
            <a:endParaRPr b="0" lang="fr-FR" sz="1000" spc="-1" strike="noStrike">
              <a:latin typeface="Arial"/>
            </a:endParaRPr>
          </a:p>
          <a:p>
            <a:pPr marL="46476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matchLabels:</a:t>
            </a:r>
            <a:endParaRPr b="0" lang="fr-FR" sz="1000" spc="-1" strike="noStrike">
              <a:latin typeface="Arial"/>
            </a:endParaRPr>
          </a:p>
          <a:p>
            <a:pPr marL="464760" indent="-149400">
              <a:lnSpc>
                <a:spcPct val="100000"/>
              </a:lnSpc>
              <a:spcBef>
                <a:spcPts val="11"/>
              </a:spcBef>
              <a:buNone/>
              <a:tabLst>
                <a:tab algn="l" pos="0"/>
              </a:tabLst>
            </a:pPr>
            <a:endParaRPr b="0" lang="fr-FR" sz="1050" spc="-1" strike="noStrike">
              <a:latin typeface="Arial"/>
            </a:endParaRPr>
          </a:p>
          <a:p>
            <a:pPr marL="46476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template: </a:t>
            </a:r>
            <a:endParaRPr b="0" lang="fr-FR" sz="1000" spc="-1" strike="noStrike">
              <a:latin typeface="Arial"/>
            </a:endParaRPr>
          </a:p>
          <a:p>
            <a:pPr marL="46476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000" spc="-1" strike="noStrike">
              <a:latin typeface="Arial"/>
            </a:endParaRPr>
          </a:p>
          <a:p>
            <a:pPr marL="61344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labels:</a:t>
            </a:r>
            <a:endParaRPr b="0" lang="fr-FR" sz="1000" spc="-1" strike="noStrike">
              <a:latin typeface="Arial"/>
            </a:endParaRPr>
          </a:p>
          <a:p>
            <a:pPr marL="613440" indent="-149400">
              <a:lnSpc>
                <a:spcPct val="100000"/>
              </a:lnSpc>
              <a:spcBef>
                <a:spcPts val="11"/>
              </a:spcBef>
              <a:buNone/>
              <a:tabLst>
                <a:tab algn="l" pos="0"/>
              </a:tabLst>
            </a:pPr>
            <a:endParaRPr b="0" lang="fr-FR" sz="1050" spc="-1" strike="noStrike">
              <a:latin typeface="Arial"/>
            </a:endParaRPr>
          </a:p>
          <a:p>
            <a:pPr marL="46476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000" spc="-1" strike="noStrike">
              <a:latin typeface="Arial"/>
            </a:endParaRPr>
          </a:p>
          <a:p>
            <a:pPr marL="61344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000" spc="-1" strike="noStrike">
              <a:latin typeface="Arial"/>
            </a:endParaRPr>
          </a:p>
          <a:p>
            <a:pPr marL="62496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nginx:1.14.2</a:t>
            </a:r>
            <a:endParaRPr b="0" lang="fr-FR" sz="1000" spc="-1" strike="noStrike">
              <a:latin typeface="Arial"/>
            </a:endParaRPr>
          </a:p>
          <a:p>
            <a:pPr marL="762120" indent="-149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</a:t>
            </a:r>
            <a:endParaRPr b="0" lang="fr-FR" sz="1000" spc="-1" strike="noStrike">
              <a:latin typeface="Arial"/>
            </a:endParaRPr>
          </a:p>
        </p:txBody>
      </p:sp>
      <p:pic>
        <p:nvPicPr>
          <p:cNvPr id="855" name="Google Shape;1322;p128" descr=""/>
          <p:cNvPicPr/>
          <p:nvPr/>
        </p:nvPicPr>
        <p:blipFill>
          <a:blip r:embed="rId2"/>
          <a:stretch/>
        </p:blipFill>
        <p:spPr>
          <a:xfrm>
            <a:off x="2267280" y="2912400"/>
            <a:ext cx="3618000" cy="932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5562E2D-F937-43D3-8218-06E26B745072}" type="slidenum">
              <a:t>89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1327;p129"/>
          <p:cNvSpPr/>
          <p:nvPr/>
        </p:nvSpPr>
        <p:spPr>
          <a:xfrm>
            <a:off x="385920" y="1149840"/>
            <a:ext cx="664704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ReplicaSet and Pods can be identified by name prefix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5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0108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Listing Deployments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858" name="Google Shape;1329;p129"/>
          <p:cNvGrpSpPr/>
          <p:nvPr/>
        </p:nvGrpSpPr>
        <p:grpSpPr>
          <a:xfrm>
            <a:off x="435600" y="1968480"/>
            <a:ext cx="8201520" cy="2385000"/>
            <a:chOff x="435600" y="1968480"/>
            <a:chExt cx="8201520" cy="2385000"/>
          </a:xfrm>
        </p:grpSpPr>
        <p:sp>
          <p:nvSpPr>
            <p:cNvPr id="859" name="Google Shape;1330;p129"/>
            <p:cNvSpPr/>
            <p:nvPr/>
          </p:nvSpPr>
          <p:spPr>
            <a:xfrm>
              <a:off x="435600" y="1968480"/>
              <a:ext cx="8201520" cy="23850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0" name="Google Shape;1331;p129"/>
            <p:cNvSpPr/>
            <p:nvPr/>
          </p:nvSpPr>
          <p:spPr>
            <a:xfrm>
              <a:off x="489600" y="2016720"/>
              <a:ext cx="8086320" cy="2271240"/>
            </a:xfrm>
            <a:custGeom>
              <a:avLst/>
              <a:gdLst/>
              <a:ahLst/>
              <a:rect l="l" t="t" r="r" b="b"/>
              <a:pathLst>
                <a:path w="8020684" h="2274570">
                  <a:moveTo>
                    <a:pt x="8020483" y="2273995"/>
                  </a:moveTo>
                  <a:lnTo>
                    <a:pt x="0" y="2273995"/>
                  </a:lnTo>
                  <a:lnTo>
                    <a:pt x="0" y="0"/>
                  </a:lnTo>
                  <a:lnTo>
                    <a:pt x="8020483" y="0"/>
                  </a:lnTo>
                  <a:lnTo>
                    <a:pt x="8020483" y="2273995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61" name="Google Shape;1332;p129"/>
          <p:cNvSpPr/>
          <p:nvPr/>
        </p:nvSpPr>
        <p:spPr>
          <a:xfrm>
            <a:off x="664200" y="2176920"/>
            <a:ext cx="4916880" cy="7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get deployments,pods,replicasets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READY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UP-TO-DATE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deployment.apps/my-deploy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1/1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1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62" name="Google Shape;1333;p129"/>
          <p:cNvSpPr/>
          <p:nvPr/>
        </p:nvSpPr>
        <p:spPr>
          <a:xfrm>
            <a:off x="5891040" y="2386440"/>
            <a:ext cx="9702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AVAILABLE  1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63" name="Google Shape;1334;p129"/>
          <p:cNvSpPr/>
          <p:nvPr/>
        </p:nvSpPr>
        <p:spPr>
          <a:xfrm>
            <a:off x="7171200" y="2386440"/>
            <a:ext cx="54288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AGE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7m56s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64" name="Google Shape;1335;p129"/>
          <p:cNvSpPr/>
          <p:nvPr/>
        </p:nvSpPr>
        <p:spPr>
          <a:xfrm>
            <a:off x="664200" y="3015000"/>
            <a:ext cx="3209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pod/my-deploy-8448c488b5-mzx5g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65" name="Google Shape;1336;p129"/>
          <p:cNvSpPr/>
          <p:nvPr/>
        </p:nvSpPr>
        <p:spPr>
          <a:xfrm>
            <a:off x="4183920" y="3015000"/>
            <a:ext cx="54360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READY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1/1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66" name="Google Shape;1337;p129"/>
          <p:cNvSpPr/>
          <p:nvPr/>
        </p:nvSpPr>
        <p:spPr>
          <a:xfrm>
            <a:off x="5037480" y="3015000"/>
            <a:ext cx="7563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STATUS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Running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67" name="Google Shape;1338;p129"/>
          <p:cNvSpPr/>
          <p:nvPr/>
        </p:nvSpPr>
        <p:spPr>
          <a:xfrm>
            <a:off x="6104160" y="3015000"/>
            <a:ext cx="8636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RESTARTS  0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68" name="Google Shape;1339;p129"/>
          <p:cNvSpPr/>
          <p:nvPr/>
        </p:nvSpPr>
        <p:spPr>
          <a:xfrm>
            <a:off x="7277760" y="3015000"/>
            <a:ext cx="54288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AGE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7m56s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69" name="Google Shape;1340;p129"/>
          <p:cNvSpPr/>
          <p:nvPr/>
        </p:nvSpPr>
        <p:spPr>
          <a:xfrm>
            <a:off x="4824000" y="3643560"/>
            <a:ext cx="7567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DESIRED  1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70" name="Google Shape;1341;p129"/>
          <p:cNvSpPr/>
          <p:nvPr/>
        </p:nvSpPr>
        <p:spPr>
          <a:xfrm>
            <a:off x="5890680" y="3643560"/>
            <a:ext cx="27464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CURRENT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READY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AGE  1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1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7m56s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71" name="Google Shape;1342;p129"/>
          <p:cNvSpPr/>
          <p:nvPr/>
        </p:nvSpPr>
        <p:spPr>
          <a:xfrm>
            <a:off x="664200" y="3643560"/>
            <a:ext cx="3849840" cy="77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17000"/>
              </a:lnSpc>
              <a:spcBef>
                <a:spcPts val="65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replicaset.apps/my-deploy-8448c488b5  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72" name="Google Shape;1343;p129"/>
          <p:cNvSpPr/>
          <p:nvPr/>
        </p:nvSpPr>
        <p:spPr>
          <a:xfrm>
            <a:off x="1053000" y="2667600"/>
            <a:ext cx="2409120" cy="1548000"/>
          </a:xfrm>
          <a:custGeom>
            <a:avLst/>
            <a:gdLst/>
            <a:ahLst/>
            <a:rect l="l" t="t" r="r" b="b"/>
            <a:pathLst>
              <a:path w="2412365" h="1551304">
                <a:moveTo>
                  <a:pt x="0" y="619548"/>
                </a:moveTo>
                <a:lnTo>
                  <a:pt x="1137297" y="619548"/>
                </a:lnTo>
                <a:lnTo>
                  <a:pt x="1137297" y="931848"/>
                </a:lnTo>
                <a:lnTo>
                  <a:pt x="0" y="931848"/>
                </a:lnTo>
                <a:lnTo>
                  <a:pt x="0" y="619548"/>
                </a:lnTo>
                <a:close/>
              </a:path>
              <a:path w="2412365" h="1551304">
                <a:moveTo>
                  <a:pt x="1274469" y="1238722"/>
                </a:moveTo>
                <a:lnTo>
                  <a:pt x="2411767" y="1238722"/>
                </a:lnTo>
                <a:lnTo>
                  <a:pt x="2411767" y="1551021"/>
                </a:lnTo>
                <a:lnTo>
                  <a:pt x="1274469" y="1551021"/>
                </a:lnTo>
                <a:lnTo>
                  <a:pt x="1274469" y="1238722"/>
                </a:lnTo>
                <a:close/>
              </a:path>
              <a:path w="2412365" h="1551304">
                <a:moveTo>
                  <a:pt x="1274469" y="0"/>
                </a:moveTo>
                <a:lnTo>
                  <a:pt x="2349067" y="0"/>
                </a:lnTo>
                <a:lnTo>
                  <a:pt x="2349067" y="312299"/>
                </a:lnTo>
                <a:lnTo>
                  <a:pt x="1274469" y="312299"/>
                </a:lnTo>
                <a:lnTo>
                  <a:pt x="1274469" y="0"/>
                </a:lnTo>
                <a:close/>
              </a:path>
            </a:pathLst>
          </a:custGeom>
          <a:noFill/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6481D43-AE7E-476E-ADED-D13F96CD00BC}" type="slidenum">
              <a:t>90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1348;p130"/>
          <p:cNvSpPr/>
          <p:nvPr/>
        </p:nvSpPr>
        <p:spPr>
          <a:xfrm>
            <a:off x="385920" y="1149840"/>
            <a:ext cx="71449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Object details show relationship between parent and child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7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3850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Rendering Deployment Details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875" name="Google Shape;1350;p130"/>
          <p:cNvGrpSpPr/>
          <p:nvPr/>
        </p:nvGrpSpPr>
        <p:grpSpPr>
          <a:xfrm>
            <a:off x="390600" y="1872000"/>
            <a:ext cx="7539480" cy="2472480"/>
            <a:chOff x="390600" y="1872000"/>
            <a:chExt cx="7539480" cy="2472480"/>
          </a:xfrm>
        </p:grpSpPr>
        <p:sp>
          <p:nvSpPr>
            <p:cNvPr id="876" name="Google Shape;1351;p130"/>
            <p:cNvSpPr/>
            <p:nvPr/>
          </p:nvSpPr>
          <p:spPr>
            <a:xfrm>
              <a:off x="390600" y="1872000"/>
              <a:ext cx="7539480" cy="24724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7" name="Google Shape;1352;p130"/>
            <p:cNvSpPr/>
            <p:nvPr/>
          </p:nvSpPr>
          <p:spPr>
            <a:xfrm>
              <a:off x="444240" y="1920240"/>
              <a:ext cx="7425720" cy="2359080"/>
            </a:xfrm>
            <a:custGeom>
              <a:avLst/>
              <a:gdLst/>
              <a:ahLst/>
              <a:rect l="l" t="t" r="r" b="b"/>
              <a:pathLst>
                <a:path w="7428865" h="2362200">
                  <a:moveTo>
                    <a:pt x="7428292" y="2361600"/>
                  </a:moveTo>
                  <a:lnTo>
                    <a:pt x="0" y="2361600"/>
                  </a:lnTo>
                  <a:lnTo>
                    <a:pt x="0" y="0"/>
                  </a:lnTo>
                  <a:lnTo>
                    <a:pt x="7428292" y="0"/>
                  </a:lnTo>
                  <a:lnTo>
                    <a:pt x="7428292" y="2361600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78" name="Google Shape;1353;p130"/>
          <p:cNvSpPr/>
          <p:nvPr/>
        </p:nvSpPr>
        <p:spPr>
          <a:xfrm>
            <a:off x="597600" y="2062800"/>
            <a:ext cx="43808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describe deployment.apps/my-deploy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879" name="Google Shape;1354;p130"/>
          <p:cNvSpPr/>
          <p:nvPr/>
        </p:nvSpPr>
        <p:spPr>
          <a:xfrm>
            <a:off x="597600" y="2262960"/>
            <a:ext cx="913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Replicas: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880" name="Google Shape;1355;p130"/>
          <p:cNvSpPr/>
          <p:nvPr/>
        </p:nvSpPr>
        <p:spPr>
          <a:xfrm>
            <a:off x="597600" y="2662920"/>
            <a:ext cx="14090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NewReplicaSet: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881" name="Google Shape;1356;p130"/>
          <p:cNvSpPr/>
          <p:nvPr/>
        </p:nvSpPr>
        <p:spPr>
          <a:xfrm>
            <a:off x="2281320" y="2262960"/>
            <a:ext cx="537156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70596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 desired | 1 updated | 1 total | 1 available |</a:t>
            </a:r>
            <a:endParaRPr b="0" lang="fr-FR" sz="1300" spc="-1" strike="noStrike">
              <a:latin typeface="Arial"/>
            </a:endParaRPr>
          </a:p>
          <a:p>
            <a:pPr marL="70596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0 unavailable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my-deploy-8448c488b5 (1/1 replicas created)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882" name="Google Shape;1357;p130"/>
          <p:cNvSpPr/>
          <p:nvPr/>
        </p:nvSpPr>
        <p:spPr>
          <a:xfrm>
            <a:off x="597600" y="3063240"/>
            <a:ext cx="5470560" cy="10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describe replicaset.apps/my-deploy-8448c488b5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Controlled By: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Deployment/my-deploy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describe pod/my-deploy-8448c488b5-mzx5g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Controlled By: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ReplicaSet/my-deploy-8448c488b5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C453D26-DC6B-4535-860F-A837DBA15041}" type="slidenum">
              <a:t>91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1362;p131"/>
          <p:cNvSpPr/>
          <p:nvPr/>
        </p:nvSpPr>
        <p:spPr>
          <a:xfrm>
            <a:off x="385920" y="1149840"/>
            <a:ext cx="807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“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Look ma, shiny new features. Let’s deploy them to production!”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84" name="Google Shape;1363;p131"/>
          <p:cNvSpPr/>
          <p:nvPr/>
        </p:nvSpPr>
        <p:spPr>
          <a:xfrm>
            <a:off x="385920" y="391320"/>
            <a:ext cx="74642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Roll Out and Roll Back Feature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885" name="Google Shape;1364;p131"/>
          <p:cNvSpPr/>
          <p:nvPr/>
        </p:nvSpPr>
        <p:spPr>
          <a:xfrm>
            <a:off x="1442520" y="2220840"/>
            <a:ext cx="6099480" cy="23198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BA187FE-0B15-4D24-949C-57FB58933CF9}" type="slidenum">
              <a:t>92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1369;p132"/>
          <p:cNvSpPr/>
          <p:nvPr/>
        </p:nvSpPr>
        <p:spPr>
          <a:xfrm>
            <a:off x="385920" y="1149840"/>
            <a:ext cx="518796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The rollout history keeps track of changes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6204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Rolling Out a New Revision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888" name="Google Shape;1371;p132"/>
          <p:cNvGrpSpPr/>
          <p:nvPr/>
        </p:nvGrpSpPr>
        <p:grpSpPr>
          <a:xfrm>
            <a:off x="390600" y="1872000"/>
            <a:ext cx="6327360" cy="3020040"/>
            <a:chOff x="390600" y="1872000"/>
            <a:chExt cx="6327360" cy="3020040"/>
          </a:xfrm>
        </p:grpSpPr>
        <p:sp>
          <p:nvSpPr>
            <p:cNvPr id="889" name="Google Shape;1372;p132"/>
            <p:cNvSpPr/>
            <p:nvPr/>
          </p:nvSpPr>
          <p:spPr>
            <a:xfrm>
              <a:off x="390600" y="1872000"/>
              <a:ext cx="6327360" cy="30200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0" name="Google Shape;1373;p132"/>
            <p:cNvSpPr/>
            <p:nvPr/>
          </p:nvSpPr>
          <p:spPr>
            <a:xfrm>
              <a:off x="444240" y="1920240"/>
              <a:ext cx="6213240" cy="2906280"/>
            </a:xfrm>
            <a:custGeom>
              <a:avLst/>
              <a:gdLst/>
              <a:ahLst/>
              <a:rect l="l" t="t" r="r" b="b"/>
              <a:pathLst>
                <a:path w="6216650" h="2909570">
                  <a:moveTo>
                    <a:pt x="6216287" y="2909094"/>
                  </a:moveTo>
                  <a:lnTo>
                    <a:pt x="0" y="2909094"/>
                  </a:lnTo>
                  <a:lnTo>
                    <a:pt x="0" y="0"/>
                  </a:lnTo>
                  <a:lnTo>
                    <a:pt x="6216287" y="0"/>
                  </a:lnTo>
                  <a:lnTo>
                    <a:pt x="6216287" y="29090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91" name="Google Shape;1374;p132"/>
          <p:cNvSpPr/>
          <p:nvPr/>
        </p:nvSpPr>
        <p:spPr>
          <a:xfrm>
            <a:off x="610200" y="2062800"/>
            <a:ext cx="5853960" cy="22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rollout history deployment my-deploy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deployment.apps/my-deploy  REVISION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CHANGE-CAUSE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&lt;none&gt;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set image deployment my-deploy nginx=nginx:1.19.2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deployment.apps/my-deploy image updated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rollout history deployment my-deploy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deployment.apps/my-deploy  REVISION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CHANGE-CAUSE</a:t>
            </a:r>
            <a:endParaRPr b="0" lang="fr-FR" sz="1300" spc="-1" strike="noStrike">
              <a:latin typeface="Arial"/>
            </a:endParaRPr>
          </a:p>
          <a:p>
            <a:pPr marL="990000" indent="-990000">
              <a:lnSpc>
                <a:spcPct val="100000"/>
              </a:lnSpc>
              <a:spcBef>
                <a:spcPts val="14"/>
              </a:spcBef>
              <a:buClr>
                <a:srgbClr val="000000"/>
              </a:buClr>
              <a:buFont typeface="Courier New"/>
              <a:buAutoNum type="arabicPlain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&lt;none&gt;</a:t>
            </a:r>
            <a:endParaRPr b="0" lang="fr-FR" sz="1300" spc="-1" strike="noStrike">
              <a:latin typeface="Arial"/>
            </a:endParaRPr>
          </a:p>
          <a:p>
            <a:pPr marL="990000" indent="-990000">
              <a:lnSpc>
                <a:spcPct val="100000"/>
              </a:lnSpc>
              <a:spcBef>
                <a:spcPts val="14"/>
              </a:spcBef>
              <a:buClr>
                <a:srgbClr val="000000"/>
              </a:buClr>
              <a:buFont typeface="Courier New"/>
              <a:buAutoNum type="arabicPlain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&lt;none&gt;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892" name="Google Shape;1375;p132"/>
          <p:cNvGrpSpPr/>
          <p:nvPr/>
        </p:nvGrpSpPr>
        <p:grpSpPr>
          <a:xfrm>
            <a:off x="6786360" y="3142080"/>
            <a:ext cx="481680" cy="78840"/>
            <a:chOff x="6786360" y="3142080"/>
            <a:chExt cx="481680" cy="78840"/>
          </a:xfrm>
        </p:grpSpPr>
        <p:sp>
          <p:nvSpPr>
            <p:cNvPr id="893" name="Google Shape;1376;p132"/>
            <p:cNvSpPr/>
            <p:nvPr/>
          </p:nvSpPr>
          <p:spPr>
            <a:xfrm>
              <a:off x="6882480" y="3183120"/>
              <a:ext cx="385560" cy="360"/>
            </a:xfrm>
            <a:custGeom>
              <a:avLst/>
              <a:gdLst/>
              <a:ahLst/>
              <a:rect l="l" t="t" r="r" b="b"/>
              <a:pathLst>
                <a:path w="388620" h="120000">
                  <a:moveTo>
                    <a:pt x="388499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4" name="Google Shape;1377;p132"/>
            <p:cNvSpPr/>
            <p:nvPr/>
          </p:nvSpPr>
          <p:spPr>
            <a:xfrm>
              <a:off x="6786360" y="314208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95" name="Google Shape;1378;p132"/>
          <p:cNvSpPr/>
          <p:nvPr/>
        </p:nvSpPr>
        <p:spPr>
          <a:xfrm>
            <a:off x="7369200" y="2824920"/>
            <a:ext cx="1447920" cy="76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600" indent="1440" algn="ctr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Changes the  assigned image  for Pod template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2DE438E-EBAF-45ED-8323-3053DC6ABD5B}" type="slidenum">
              <a:t>93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1383;p133"/>
          <p:cNvSpPr/>
          <p:nvPr/>
        </p:nvSpPr>
        <p:spPr>
          <a:xfrm>
            <a:off x="385920" y="1149840"/>
            <a:ext cx="699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You can revert to any revision available in the history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9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82530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Rolling Back to Previous Revision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898" name="Google Shape;1385;p133"/>
          <p:cNvGrpSpPr/>
          <p:nvPr/>
        </p:nvGrpSpPr>
        <p:grpSpPr>
          <a:xfrm>
            <a:off x="390600" y="1872000"/>
            <a:ext cx="6327360" cy="2032560"/>
            <a:chOff x="390600" y="1872000"/>
            <a:chExt cx="6327360" cy="2032560"/>
          </a:xfrm>
        </p:grpSpPr>
        <p:sp>
          <p:nvSpPr>
            <p:cNvPr id="899" name="Google Shape;1386;p133"/>
            <p:cNvSpPr/>
            <p:nvPr/>
          </p:nvSpPr>
          <p:spPr>
            <a:xfrm>
              <a:off x="390600" y="1872000"/>
              <a:ext cx="6327360" cy="20325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0" name="Google Shape;1387;p133"/>
            <p:cNvSpPr/>
            <p:nvPr/>
          </p:nvSpPr>
          <p:spPr>
            <a:xfrm>
              <a:off x="444240" y="1920240"/>
              <a:ext cx="6213240" cy="1918440"/>
            </a:xfrm>
            <a:custGeom>
              <a:avLst/>
              <a:gdLst/>
              <a:ahLst/>
              <a:rect l="l" t="t" r="r" b="b"/>
              <a:pathLst>
                <a:path w="6216650" h="1921510">
                  <a:moveTo>
                    <a:pt x="6216287" y="1921496"/>
                  </a:moveTo>
                  <a:lnTo>
                    <a:pt x="0" y="1921496"/>
                  </a:lnTo>
                  <a:lnTo>
                    <a:pt x="0" y="0"/>
                  </a:lnTo>
                  <a:lnTo>
                    <a:pt x="6216287" y="0"/>
                  </a:lnTo>
                  <a:lnTo>
                    <a:pt x="6216287" y="1921496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01" name="Google Shape;1388;p133"/>
          <p:cNvSpPr/>
          <p:nvPr/>
        </p:nvSpPr>
        <p:spPr>
          <a:xfrm>
            <a:off x="444240" y="1920240"/>
            <a:ext cx="6213240" cy="15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4800" bIns="0" anchor="t">
            <a:spAutoFit/>
          </a:bodyPr>
          <a:p>
            <a:pPr marL="165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rollout undo deployment my-deploy --to-revision=1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deployment.apps/my-deploy rolled back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65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rollout history deployment my-deploy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deployment.apps/my-deploy  REVISION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CHANGE-CAUSE</a:t>
            </a:r>
            <a:endParaRPr b="0" lang="fr-FR" sz="1300" spc="-1" strike="noStrike">
              <a:latin typeface="Arial"/>
            </a:endParaRPr>
          </a:p>
          <a:p>
            <a:pPr marL="1156320" indent="-991080">
              <a:lnSpc>
                <a:spcPct val="100000"/>
              </a:lnSpc>
              <a:spcBef>
                <a:spcPts val="14"/>
              </a:spcBef>
              <a:buClr>
                <a:srgbClr val="000000"/>
              </a:buClr>
              <a:buFont typeface="Courier New"/>
              <a:buAutoNum type="arabicPlain" startAt="2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&lt;none&gt;</a:t>
            </a:r>
            <a:endParaRPr b="0" lang="fr-FR" sz="1300" spc="-1" strike="noStrike">
              <a:latin typeface="Arial"/>
            </a:endParaRPr>
          </a:p>
          <a:p>
            <a:pPr marL="1156320" indent="-991080">
              <a:lnSpc>
                <a:spcPct val="100000"/>
              </a:lnSpc>
              <a:spcBef>
                <a:spcPts val="14"/>
              </a:spcBef>
              <a:buClr>
                <a:srgbClr val="000000"/>
              </a:buClr>
              <a:buFont typeface="Courier New"/>
              <a:buAutoNum type="arabicPlain" startAt="2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&lt;none&gt;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902" name="Google Shape;1389;p133"/>
          <p:cNvGrpSpPr/>
          <p:nvPr/>
        </p:nvGrpSpPr>
        <p:grpSpPr>
          <a:xfrm>
            <a:off x="547560" y="3474000"/>
            <a:ext cx="760320" cy="939600"/>
            <a:chOff x="547560" y="3474000"/>
            <a:chExt cx="760320" cy="939600"/>
          </a:xfrm>
        </p:grpSpPr>
        <p:sp>
          <p:nvSpPr>
            <p:cNvPr id="903" name="Google Shape;1390;p133"/>
            <p:cNvSpPr/>
            <p:nvPr/>
          </p:nvSpPr>
          <p:spPr>
            <a:xfrm>
              <a:off x="646200" y="4037040"/>
              <a:ext cx="661680" cy="376560"/>
            </a:xfrm>
            <a:custGeom>
              <a:avLst/>
              <a:gdLst/>
              <a:ahLst/>
              <a:rect l="l" t="t" r="r" b="b"/>
              <a:pathLst>
                <a:path w="664844" h="379729">
                  <a:moveTo>
                    <a:pt x="664273" y="379499"/>
                  </a:moveTo>
                  <a:lnTo>
                    <a:pt x="0" y="379499"/>
                  </a:ln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4" name="Google Shape;1391;p133"/>
            <p:cNvSpPr/>
            <p:nvPr/>
          </p:nvSpPr>
          <p:spPr>
            <a:xfrm>
              <a:off x="605160" y="3940920"/>
              <a:ext cx="78840" cy="1022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5" name="Google Shape;1392;p133"/>
            <p:cNvSpPr/>
            <p:nvPr/>
          </p:nvSpPr>
          <p:spPr>
            <a:xfrm>
              <a:off x="547560" y="3474000"/>
              <a:ext cx="239400" cy="239400"/>
            </a:xfrm>
            <a:custGeom>
              <a:avLst/>
              <a:gdLst/>
              <a:ahLst/>
              <a:rect l="l" t="t" r="r" b="b"/>
              <a:pathLst>
                <a:path w="242570" h="242570">
                  <a:moveTo>
                    <a:pt x="0" y="0"/>
                  </a:moveTo>
                  <a:lnTo>
                    <a:pt x="242099" y="0"/>
                  </a:lnTo>
                  <a:lnTo>
                    <a:pt x="242099" y="242399"/>
                  </a:lnTo>
                  <a:lnTo>
                    <a:pt x="0" y="242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25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06" name="Google Shape;1393;p133"/>
          <p:cNvSpPr/>
          <p:nvPr/>
        </p:nvSpPr>
        <p:spPr>
          <a:xfrm>
            <a:off x="1440720" y="4189320"/>
            <a:ext cx="28764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70640" indent="-15876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Kubernetes deduplicates a revision  if it points to the same changes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32D3346-3161-471A-979C-EB77099DDC5D}" type="slidenum">
              <a:t>94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1398;p134"/>
          <p:cNvSpPr/>
          <p:nvPr/>
        </p:nvSpPr>
        <p:spPr>
          <a:xfrm>
            <a:off x="385920" y="1149840"/>
            <a:ext cx="8071200" cy="38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Choosing the right deployment procedure depends on the needs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Recreate: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Terminate the old version and release the new one.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Ramped: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Release a new version on a rolling update fashion, one after  the other.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Blue/green: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Release a new version alongside the old version then  switch traffic.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Canary: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Release a new version to a subset of users, then proceed to  a full rollout.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8613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Common Deployment Strategies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546B289-BE2C-49EA-AC49-DCAE8FB56E16}" type="slidenum">
              <a:t>95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1404;p135"/>
          <p:cNvSpPr/>
          <p:nvPr/>
        </p:nvSpPr>
        <p:spPr>
          <a:xfrm>
            <a:off x="385920" y="1149840"/>
            <a:ext cx="689976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Terminates all the running instances then recreate them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3832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Recreate Deployment Strategy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11" name="Google Shape;1407;p135"/>
          <p:cNvSpPr/>
          <p:nvPr/>
        </p:nvSpPr>
        <p:spPr>
          <a:xfrm>
            <a:off x="447840" y="1917000"/>
            <a:ext cx="2215440" cy="47628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8840" bIns="0" anchor="t">
            <a:spAutoFit/>
          </a:bodyPr>
          <a:p>
            <a:pPr marL="204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402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replicas: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3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12" name="Google Shape;1408;p135"/>
          <p:cNvSpPr/>
          <p:nvPr/>
        </p:nvSpPr>
        <p:spPr>
          <a:xfrm>
            <a:off x="819360" y="2422800"/>
            <a:ext cx="1664280" cy="40320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0600">
              <a:lnSpc>
                <a:spcPct val="103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strategy:</a:t>
            </a:r>
            <a:endParaRPr b="0" lang="fr-FR" sz="1300" spc="-1" strike="noStrike"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type: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Recreate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13" name="Google Shape;1409;p135"/>
          <p:cNvSpPr/>
          <p:nvPr/>
        </p:nvSpPr>
        <p:spPr>
          <a:xfrm>
            <a:off x="447120" y="3562920"/>
            <a:ext cx="72115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63960" indent="-351720">
              <a:lnSpc>
                <a:spcPct val="100000"/>
              </a:lnSpc>
              <a:buClr>
                <a:srgbClr val="d3002d"/>
              </a:buClr>
              <a:buFont typeface="Arial"/>
              <a:buChar char="●"/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Pros: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Good for development environments as everything is renewed at once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None/>
              <a:tabLst>
                <a:tab algn="l" pos="0"/>
              </a:tabLst>
            </a:pPr>
            <a:endParaRPr b="0" lang="fr-FR" sz="1650" spc="-1" strike="noStrike">
              <a:latin typeface="Arial"/>
            </a:endParaRPr>
          </a:p>
          <a:p>
            <a:pPr marL="363960" indent="-35172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Cons: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Can cause downtime while applications are starting up</a:t>
            </a:r>
            <a:endParaRPr b="0" lang="fr-FR" sz="1600" spc="-1" strike="noStrike">
              <a:latin typeface="Arial"/>
            </a:endParaRPr>
          </a:p>
        </p:txBody>
      </p:sp>
      <p:pic>
        <p:nvPicPr>
          <p:cNvPr id="914" name="Google Shape;1410;p135" descr=""/>
          <p:cNvPicPr/>
          <p:nvPr/>
        </p:nvPicPr>
        <p:blipFill>
          <a:blip r:embed="rId1"/>
          <a:stretch/>
        </p:blipFill>
        <p:spPr>
          <a:xfrm>
            <a:off x="2795040" y="2550600"/>
            <a:ext cx="3499200" cy="2228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EF06DDC-34BE-439B-84C6-A457CAA0283E}" type="slidenum">
              <a:t>96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1415;p136"/>
          <p:cNvSpPr/>
          <p:nvPr/>
        </p:nvSpPr>
        <p:spPr>
          <a:xfrm>
            <a:off x="385920" y="1149840"/>
            <a:ext cx="825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Secondary ReplicaSet is created with new version of application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1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2414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Ramped Deployment Strategy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17" name="Google Shape;1418;p136"/>
          <p:cNvSpPr/>
          <p:nvPr/>
        </p:nvSpPr>
        <p:spPr>
          <a:xfrm>
            <a:off x="420840" y="1908000"/>
            <a:ext cx="2727360" cy="87588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8840" bIns="0" anchor="t">
            <a:spAutoFit/>
          </a:bodyPr>
          <a:p>
            <a:pPr marL="177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37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replicas: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3</a:t>
            </a:r>
            <a:endParaRPr b="0" lang="fr-FR" sz="1300" spc="-1" strike="noStrike">
              <a:latin typeface="Arial"/>
            </a:endParaRPr>
          </a:p>
          <a:p>
            <a:pPr marL="37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strategy:</a:t>
            </a:r>
            <a:endParaRPr b="0" lang="fr-FR" sz="1300" spc="-1" strike="noStrike">
              <a:latin typeface="Arial"/>
            </a:endParaRPr>
          </a:p>
          <a:p>
            <a:pPr marL="573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type: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RollingUpdate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18" name="Google Shape;1419;p136"/>
          <p:cNvSpPr/>
          <p:nvPr/>
        </p:nvSpPr>
        <p:spPr>
          <a:xfrm>
            <a:off x="942480" y="2799720"/>
            <a:ext cx="2006640" cy="62100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4280">
              <a:lnSpc>
                <a:spcPct val="112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rollingUpdate:</a:t>
            </a:r>
            <a:endParaRPr b="0" lang="fr-FR" sz="1300" spc="-1" strike="noStrike">
              <a:latin typeface="Arial"/>
            </a:endParaRPr>
          </a:p>
          <a:p>
            <a:pPr marL="2386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maxSurge: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2</a:t>
            </a:r>
            <a:endParaRPr b="0" lang="fr-FR" sz="1300" spc="-1" strike="noStrike">
              <a:latin typeface="Arial"/>
            </a:endParaRPr>
          </a:p>
          <a:p>
            <a:pPr marL="2386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maxUnavailable: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0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19" name="Google Shape;1420;p136"/>
          <p:cNvSpPr/>
          <p:nvPr/>
        </p:nvSpPr>
        <p:spPr>
          <a:xfrm>
            <a:off x="429120" y="3930840"/>
            <a:ext cx="613908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63960" indent="-351720">
              <a:lnSpc>
                <a:spcPct val="100000"/>
              </a:lnSpc>
              <a:buClr>
                <a:srgbClr val="d3002d"/>
              </a:buClr>
              <a:buFont typeface="Arial"/>
              <a:buChar char="●"/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Pros: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New version is slowly distributed over time, no downtime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None/>
              <a:tabLst>
                <a:tab algn="l" pos="0"/>
              </a:tabLst>
            </a:pPr>
            <a:endParaRPr b="0" lang="fr-FR" sz="1650" spc="-1" strike="noStrike">
              <a:latin typeface="Arial"/>
            </a:endParaRPr>
          </a:p>
          <a:p>
            <a:pPr marL="363960" indent="-35172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Cons: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Breaking API changes can make consumers incompatible</a:t>
            </a:r>
            <a:endParaRPr b="0" lang="fr-FR" sz="1600" spc="-1" strike="noStrike">
              <a:latin typeface="Arial"/>
            </a:endParaRPr>
          </a:p>
        </p:txBody>
      </p:sp>
      <p:pic>
        <p:nvPicPr>
          <p:cNvPr id="920" name="Google Shape;1421;p136" descr=""/>
          <p:cNvPicPr/>
          <p:nvPr/>
        </p:nvPicPr>
        <p:blipFill>
          <a:blip r:embed="rId1"/>
          <a:stretch/>
        </p:blipFill>
        <p:spPr>
          <a:xfrm>
            <a:off x="3206880" y="2923920"/>
            <a:ext cx="2727360" cy="378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4EC577-EA6F-4A23-9779-B743344FAAC7}" type="slidenum">
              <a:t>97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1426;p137"/>
          <p:cNvSpPr/>
          <p:nvPr/>
        </p:nvSpPr>
        <p:spPr>
          <a:xfrm>
            <a:off x="385920" y="1149840"/>
            <a:ext cx="703836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Deployment object with new version is created alongside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2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9470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Blue/Green Deployment Strategy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23" name="Google Shape;1429;p137"/>
          <p:cNvSpPr/>
          <p:nvPr/>
        </p:nvSpPr>
        <p:spPr>
          <a:xfrm>
            <a:off x="420840" y="1908000"/>
            <a:ext cx="2727360" cy="14749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6680" bIns="0" anchor="t">
            <a:spAutoFit/>
          </a:bodyPr>
          <a:p>
            <a:pPr marL="177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apps/v1 </a:t>
            </a:r>
            <a:endParaRPr b="0" lang="fr-FR" sz="1300" spc="-1" strike="noStrike">
              <a:latin typeface="Arial"/>
            </a:endParaRPr>
          </a:p>
          <a:p>
            <a:pPr marL="177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37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labels:</a:t>
            </a:r>
            <a:endParaRPr b="0" lang="fr-FR" sz="1300" spc="-1" strike="noStrike">
              <a:latin typeface="Arial"/>
            </a:endParaRPr>
          </a:p>
          <a:p>
            <a:pPr marL="573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app: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my-deploy</a:t>
            </a:r>
            <a:endParaRPr b="0" lang="fr-FR" sz="1300" spc="-1" strike="noStrike">
              <a:latin typeface="Arial"/>
            </a:endParaRPr>
          </a:p>
          <a:p>
            <a:pPr marL="5659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1.0.0</a:t>
            </a:r>
            <a:endParaRPr b="0" lang="fr-FR" sz="1300" spc="-1" strike="noStrike">
              <a:latin typeface="Arial"/>
            </a:endParaRPr>
          </a:p>
          <a:p>
            <a:pPr marL="37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blue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24" name="Google Shape;1430;p137"/>
          <p:cNvSpPr/>
          <p:nvPr/>
        </p:nvSpPr>
        <p:spPr>
          <a:xfrm>
            <a:off x="429120" y="3930840"/>
            <a:ext cx="58039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63960" indent="-351720">
              <a:lnSpc>
                <a:spcPct val="100000"/>
              </a:lnSpc>
              <a:buClr>
                <a:srgbClr val="d3002d"/>
              </a:buClr>
              <a:buFont typeface="Arial"/>
              <a:buChar char="●"/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Pros: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No downtime, traffic can be routed when ready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None/>
              <a:tabLst>
                <a:tab algn="l" pos="0"/>
              </a:tabLst>
            </a:pPr>
            <a:endParaRPr b="0" lang="fr-FR" sz="1650" spc="-1" strike="noStrike">
              <a:latin typeface="Arial"/>
            </a:endParaRPr>
          </a:p>
          <a:p>
            <a:pPr marL="363960" indent="-35172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Cons: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Resource duplication, configuration of network routing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925" name="Google Shape;1432;p137"/>
          <p:cNvSpPr/>
          <p:nvPr/>
        </p:nvSpPr>
        <p:spPr>
          <a:xfrm>
            <a:off x="3939480" y="1908000"/>
            <a:ext cx="2727360" cy="14749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6680" bIns="0" anchor="t">
            <a:spAutoFit/>
          </a:bodyPr>
          <a:p>
            <a:pPr marL="177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apps/v1 </a:t>
            </a:r>
            <a:endParaRPr b="0" lang="fr-FR" sz="1300" spc="-1" strike="noStrike">
              <a:latin typeface="Arial"/>
            </a:endParaRPr>
          </a:p>
          <a:p>
            <a:pPr marL="177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Deployment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37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labels:</a:t>
            </a:r>
            <a:endParaRPr b="0" lang="fr-FR" sz="1300" spc="-1" strike="noStrike">
              <a:latin typeface="Arial"/>
            </a:endParaRPr>
          </a:p>
          <a:p>
            <a:pPr marL="573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app: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my-deploy</a:t>
            </a:r>
            <a:endParaRPr b="0" lang="fr-FR" sz="1300" spc="-1" strike="noStrike">
              <a:latin typeface="Arial"/>
            </a:endParaRPr>
          </a:p>
          <a:p>
            <a:pPr marL="5659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1.1.0</a:t>
            </a:r>
            <a:endParaRPr b="0" lang="fr-FR" sz="1300" spc="-1" strike="noStrike">
              <a:latin typeface="Arial"/>
            </a:endParaRPr>
          </a:p>
          <a:p>
            <a:pPr marL="37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green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E7F7D04-24D6-4652-8EDC-28E6C1FB766F}" type="slidenum">
              <a:t>98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1437;p138"/>
          <p:cNvSpPr/>
          <p:nvPr/>
        </p:nvSpPr>
        <p:spPr>
          <a:xfrm>
            <a:off x="385920" y="1149840"/>
            <a:ext cx="717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Two Deployment objects with different traffic distribution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2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9595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Canary Deployment Strategy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28" name="Google Shape;1440;p138"/>
          <p:cNvSpPr/>
          <p:nvPr/>
        </p:nvSpPr>
        <p:spPr>
          <a:xfrm>
            <a:off x="420840" y="1908000"/>
            <a:ext cx="1668240" cy="47628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8840" bIns="0" anchor="t">
            <a:spAutoFit/>
          </a:bodyPr>
          <a:p>
            <a:pPr marL="177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37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replicas: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3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29" name="Google Shape;1441;p138"/>
          <p:cNvSpPr/>
          <p:nvPr/>
        </p:nvSpPr>
        <p:spPr>
          <a:xfrm>
            <a:off x="429120" y="3087360"/>
            <a:ext cx="7005240" cy="9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63960" indent="-351720">
              <a:lnSpc>
                <a:spcPct val="100000"/>
              </a:lnSpc>
              <a:buClr>
                <a:srgbClr val="d3002d"/>
              </a:buClr>
              <a:buFont typeface="Arial"/>
              <a:buChar char="●"/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Pros: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New version released to subset of users, A/B testing of features and  performance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None/>
              <a:tabLst>
                <a:tab algn="l" pos="0"/>
              </a:tabLst>
            </a:pPr>
            <a:endParaRPr b="0" lang="fr-FR" sz="1650" spc="-1" strike="noStrike">
              <a:latin typeface="Arial"/>
            </a:endParaRPr>
          </a:p>
          <a:p>
            <a:pPr marL="363960" indent="-35172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Cons: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May require a load balancer for fine-grained distribution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930" name="Google Shape;1443;p138"/>
          <p:cNvSpPr/>
          <p:nvPr/>
        </p:nvSpPr>
        <p:spPr>
          <a:xfrm>
            <a:off x="2863440" y="1908000"/>
            <a:ext cx="1668240" cy="47628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8840" bIns="0" anchor="t">
            <a:spAutoFit/>
          </a:bodyPr>
          <a:p>
            <a:pPr marL="177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375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replicas: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A4DA066-07F5-4E34-B817-28E35B554C9A}" type="slidenum">
              <a:t>99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1448;p139"/>
          <p:cNvSpPr/>
          <p:nvPr/>
        </p:nvSpPr>
        <p:spPr>
          <a:xfrm>
            <a:off x="385920" y="1149840"/>
            <a:ext cx="735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“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Load is increasing. We need to scale up the application.”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32" name="Google Shape;1449;p139"/>
          <p:cNvSpPr/>
          <p:nvPr/>
        </p:nvSpPr>
        <p:spPr>
          <a:xfrm>
            <a:off x="385920" y="391320"/>
            <a:ext cx="76064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Manually Scaling a Deployment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33" name="Google Shape;1450;p139"/>
          <p:cNvSpPr/>
          <p:nvPr/>
        </p:nvSpPr>
        <p:spPr>
          <a:xfrm>
            <a:off x="1500120" y="2356920"/>
            <a:ext cx="5984280" cy="18176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7F01FE-3D07-4FDB-9C40-0BC99480550D}" type="slidenum">
              <a:t>100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1455;p140"/>
          <p:cNvSpPr/>
          <p:nvPr/>
        </p:nvSpPr>
        <p:spPr>
          <a:xfrm>
            <a:off x="385920" y="1149840"/>
            <a:ext cx="843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Use </a:t>
            </a:r>
            <a:r>
              <a:rPr b="0" i="1" lang="en-US" sz="2200" spc="-1" strike="noStrike">
                <a:solidFill>
                  <a:srgbClr val="595959"/>
                </a:solidFill>
                <a:latin typeface="Courier New"/>
                <a:ea typeface="Courier New"/>
              </a:rPr>
              <a:t>scale 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command or change </a:t>
            </a:r>
            <a:r>
              <a:rPr b="0" i="1" lang="en-US" sz="2200" spc="-1" strike="noStrike">
                <a:solidFill>
                  <a:srgbClr val="595959"/>
                </a:solidFill>
                <a:latin typeface="Courier New"/>
                <a:ea typeface="Courier New"/>
              </a:rPr>
              <a:t>replicas 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attribute in live object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35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81730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Changing the Number of Replicas</a:t>
            </a:r>
            <a:endParaRPr b="0" lang="fr-FR" sz="4000" spc="-1" strike="noStrike">
              <a:latin typeface="Arial"/>
            </a:endParaRPr>
          </a:p>
        </p:txBody>
      </p:sp>
      <p:pic>
        <p:nvPicPr>
          <p:cNvPr id="936" name="" descr=""/>
          <p:cNvPicPr/>
          <p:nvPr/>
        </p:nvPicPr>
        <p:blipFill>
          <a:blip r:embed="rId1"/>
          <a:stretch/>
        </p:blipFill>
        <p:spPr>
          <a:xfrm>
            <a:off x="391680" y="1800000"/>
            <a:ext cx="6985440" cy="2565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421B694-564B-4D8A-A83F-2A70B1300ED0}" type="slidenum">
              <a:t>101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1466;p141"/>
          <p:cNvSpPr/>
          <p:nvPr/>
        </p:nvSpPr>
        <p:spPr>
          <a:xfrm>
            <a:off x="385920" y="1149840"/>
            <a:ext cx="77346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“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Don’t make me think. Auto-scale based on CPU utilization.”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38" name="Google Shape;1467;p141"/>
          <p:cNvSpPr/>
          <p:nvPr/>
        </p:nvSpPr>
        <p:spPr>
          <a:xfrm>
            <a:off x="385920" y="391320"/>
            <a:ext cx="639828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Autoscaling a Deployment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39" name="Google Shape;1468;p141"/>
          <p:cNvSpPr/>
          <p:nvPr/>
        </p:nvSpPr>
        <p:spPr>
          <a:xfrm>
            <a:off x="1616760" y="2132640"/>
            <a:ext cx="5751000" cy="24156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21F5FEB-F940-4F4D-9FA6-98AFE992B7DE}" type="slidenum">
              <a:t>102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1473;p142"/>
          <p:cNvSpPr/>
          <p:nvPr/>
        </p:nvSpPr>
        <p:spPr>
          <a:xfrm>
            <a:off x="385920" y="1149840"/>
            <a:ext cx="8587800" cy="37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Decisions are made based on metrics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 algn="just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Horizontal Pod Autoscaler (HPA):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A standard feature of Kubernetes  that scales the number of Pod replicas based on CPU and memory  thresholds.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Vertical Pod Autoscaler (VPA):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Scales the CPU and memory allocation  for existing Pods based on historic metrics. Supported by a cloud  provider as an add-on or needs to be installed manually.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Both autoscalers use the</a:t>
            </a:r>
            <a:r>
              <a:rPr b="0" lang="en-US" sz="2000" spc="-1" strike="noStrike">
                <a:solidFill>
                  <a:srgbClr val="d3002d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 u="sng">
                <a:solidFill>
                  <a:srgbClr val="d3002d"/>
                </a:solidFill>
                <a:uFillTx/>
                <a:latin typeface="Arial"/>
                <a:ea typeface="Arial"/>
                <a:hlinkClick r:id="rId1"/>
              </a:rPr>
              <a:t>metrics server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. You need to install the  component.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6196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Types of Autoscalers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5898A05-B4FB-4499-8276-C93D812B2F63}" type="slidenum">
              <a:t>103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1479;p143"/>
          <p:cNvSpPr/>
          <p:nvPr/>
        </p:nvSpPr>
        <p:spPr>
          <a:xfrm>
            <a:off x="385920" y="1149840"/>
            <a:ext cx="789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The imperative command is a quick way to create the object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4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1418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Creating a HPA</a:t>
            </a:r>
            <a:endParaRPr b="0" lang="fr-FR" sz="4000" spc="-1" strike="noStrike">
              <a:latin typeface="Arial"/>
            </a:endParaRPr>
          </a:p>
        </p:txBody>
      </p:sp>
      <p:pic>
        <p:nvPicPr>
          <p:cNvPr id="944" name="" descr=""/>
          <p:cNvPicPr/>
          <p:nvPr/>
        </p:nvPicPr>
        <p:blipFill>
          <a:blip r:embed="rId1"/>
          <a:stretch/>
        </p:blipFill>
        <p:spPr>
          <a:xfrm>
            <a:off x="396000" y="1808280"/>
            <a:ext cx="7966440" cy="25088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E8B8A5C-BECA-4DC9-B2AD-5BCA38DA23D8}" type="slidenum">
              <a:t>104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object 52"/>
          <p:cNvSpPr/>
          <p:nvPr/>
        </p:nvSpPr>
        <p:spPr>
          <a:xfrm>
            <a:off x="3161880" y="2061720"/>
            <a:ext cx="3244320" cy="4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0200" indent="-32832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Deployment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946" name="object 53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08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3E5051-D8F9-486A-86B3-9D07CCCE5C19}" type="slidenum">
              <a:t>105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1500;p145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8" name="Google Shape;1501;p145"/>
          <p:cNvSpPr/>
          <p:nvPr/>
        </p:nvSpPr>
        <p:spPr>
          <a:xfrm>
            <a:off x="545040" y="1077120"/>
            <a:ext cx="6095160" cy="13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8840" bIns="0" anchor="t">
            <a:spAutoFit/>
          </a:bodyPr>
          <a:p>
            <a:pPr marL="12600"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Deploying an Application  with Helm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49" name="Google Shape;1502;p145"/>
          <p:cNvSpPr/>
          <p:nvPr/>
        </p:nvSpPr>
        <p:spPr>
          <a:xfrm>
            <a:off x="545040" y="2591640"/>
            <a:ext cx="46544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Use Cases, Commands, Workflow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8EBA49-2317-41EC-A929-2B2405C631CF}" type="slidenum">
              <a:t>106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1507;p146"/>
          <p:cNvSpPr/>
          <p:nvPr/>
        </p:nvSpPr>
        <p:spPr>
          <a:xfrm>
            <a:off x="385920" y="1149840"/>
            <a:ext cx="843120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Templating engine and package manager for a set of manifests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The artifact produced by the Helm executable is a so-called </a:t>
            </a: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chart file 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bundling the manifests that comprise the API resources of an  application.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At runtime, it replaces placeholders in YAML template files with actual,  end-user defined values.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Chart files can be distributed to a chart repository e.g.</a:t>
            </a:r>
            <a:r>
              <a:rPr b="0" lang="en-US" sz="2000" spc="-1" strike="noStrike">
                <a:solidFill>
                  <a:srgbClr val="d3002d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 u="sng">
                <a:solidFill>
                  <a:srgbClr val="d3002d"/>
                </a:solidFill>
                <a:uFillTx/>
                <a:latin typeface="Arial"/>
                <a:ea typeface="Arial"/>
                <a:hlinkClick r:id="rId1"/>
              </a:rPr>
              <a:t>central chart  repository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and consumed from there.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95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39546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What is Helm?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52" name="Google Shape;1509;p146"/>
          <p:cNvSpPr/>
          <p:nvPr/>
        </p:nvSpPr>
        <p:spPr>
          <a:xfrm>
            <a:off x="8206920" y="440280"/>
            <a:ext cx="581760" cy="5817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7F4E42A-628C-4518-BD1F-F6507E394A8F}" type="slidenum">
              <a:t>107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1514;p147"/>
          <p:cNvSpPr/>
          <p:nvPr/>
        </p:nvSpPr>
        <p:spPr>
          <a:xfrm>
            <a:off x="385920" y="1149840"/>
            <a:ext cx="731124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Searches the Artifact Hub for a chart with a matching name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5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1216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Finding a Chart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955" name="Google Shape;1516;p147"/>
          <p:cNvGrpSpPr/>
          <p:nvPr/>
        </p:nvGrpSpPr>
        <p:grpSpPr>
          <a:xfrm>
            <a:off x="390600" y="1872000"/>
            <a:ext cx="7889400" cy="1260720"/>
            <a:chOff x="390600" y="1872000"/>
            <a:chExt cx="7889400" cy="1260720"/>
          </a:xfrm>
        </p:grpSpPr>
        <p:sp>
          <p:nvSpPr>
            <p:cNvPr id="956" name="Google Shape;1517;p147"/>
            <p:cNvSpPr/>
            <p:nvPr/>
          </p:nvSpPr>
          <p:spPr>
            <a:xfrm>
              <a:off x="390600" y="1872000"/>
              <a:ext cx="7889400" cy="126072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7" name="Google Shape;1518;p147"/>
            <p:cNvSpPr/>
            <p:nvPr/>
          </p:nvSpPr>
          <p:spPr>
            <a:xfrm>
              <a:off x="444240" y="1920240"/>
              <a:ext cx="7775640" cy="1146600"/>
            </a:xfrm>
            <a:custGeom>
              <a:avLst/>
              <a:gdLst/>
              <a:ahLst/>
              <a:rect l="l" t="t" r="r" b="b"/>
              <a:pathLst>
                <a:path w="7778750" h="1149985">
                  <a:moveTo>
                    <a:pt x="7778384" y="1149597"/>
                  </a:moveTo>
                  <a:lnTo>
                    <a:pt x="0" y="1149597"/>
                  </a:lnTo>
                  <a:lnTo>
                    <a:pt x="0" y="0"/>
                  </a:lnTo>
                  <a:lnTo>
                    <a:pt x="7778384" y="0"/>
                  </a:lnTo>
                  <a:lnTo>
                    <a:pt x="7778384" y="1149597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58" name="Google Shape;1519;p147"/>
          <p:cNvSpPr/>
          <p:nvPr/>
        </p:nvSpPr>
        <p:spPr>
          <a:xfrm>
            <a:off x="597600" y="2062800"/>
            <a:ext cx="517248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helm search hub jenkins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URL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https://artifacthub.io/packages/helm/bitnami/jenkins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59" name="Google Shape;1520;p147"/>
          <p:cNvSpPr/>
          <p:nvPr/>
        </p:nvSpPr>
        <p:spPr>
          <a:xfrm>
            <a:off x="5892480" y="2262960"/>
            <a:ext cx="23054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 indent="720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CHART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VERSION APP  11.0.6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2.361.2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60" name="Google Shape;1521;p147"/>
          <p:cNvSpPr/>
          <p:nvPr/>
        </p:nvSpPr>
        <p:spPr>
          <a:xfrm>
            <a:off x="597600" y="2662920"/>
            <a:ext cx="3193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61" name="Google Shape;1522;p147"/>
          <p:cNvSpPr/>
          <p:nvPr/>
        </p:nvSpPr>
        <p:spPr>
          <a:xfrm>
            <a:off x="5513760" y="3232080"/>
            <a:ext cx="2467800" cy="16858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62" name="Google Shape;1523;p147"/>
          <p:cNvGrpSpPr/>
          <p:nvPr/>
        </p:nvGrpSpPr>
        <p:grpSpPr>
          <a:xfrm>
            <a:off x="4388400" y="2861640"/>
            <a:ext cx="1010880" cy="1110600"/>
            <a:chOff x="4388400" y="2861640"/>
            <a:chExt cx="1010880" cy="1110600"/>
          </a:xfrm>
        </p:grpSpPr>
        <p:sp>
          <p:nvSpPr>
            <p:cNvPr id="963" name="Google Shape;1524;p147"/>
            <p:cNvSpPr/>
            <p:nvPr/>
          </p:nvSpPr>
          <p:spPr>
            <a:xfrm>
              <a:off x="4388400" y="2861640"/>
              <a:ext cx="915120" cy="1069920"/>
            </a:xfrm>
            <a:custGeom>
              <a:avLst/>
              <a:gdLst/>
              <a:ahLst/>
              <a:rect l="l" t="t" r="r" b="b"/>
              <a:pathLst>
                <a:path w="918210" h="1073150">
                  <a:moveTo>
                    <a:pt x="917998" y="1072797"/>
                  </a:moveTo>
                  <a:lnTo>
                    <a:pt x="0" y="1072797"/>
                  </a:ln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4" name="Google Shape;1525;p147"/>
            <p:cNvSpPr/>
            <p:nvPr/>
          </p:nvSpPr>
          <p:spPr>
            <a:xfrm>
              <a:off x="5297040" y="389340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3D8BD03-AFE6-4DA9-8DCA-12E90D119074}" type="slidenum">
              <a:t>108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1530;p148"/>
          <p:cNvSpPr/>
          <p:nvPr/>
        </p:nvSpPr>
        <p:spPr>
          <a:xfrm>
            <a:off x="385920" y="1149840"/>
            <a:ext cx="807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You may have to add an external repository that hosts chart file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6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5514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Installing a Chart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67" name="Google Shape;1533;p148"/>
          <p:cNvSpPr/>
          <p:nvPr/>
        </p:nvSpPr>
        <p:spPr>
          <a:xfrm>
            <a:off x="444240" y="1920240"/>
            <a:ext cx="6132600" cy="19753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4800" bIns="0" anchor="t">
            <a:spAutoFit/>
          </a:bodyPr>
          <a:p>
            <a:pPr marL="165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helm repo add bitnami https://charts.bitnami.com/bitnami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"bitnami" has been added to your repositories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65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helm install jenkins bitnami/jenkins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CHART NAME: jenkins  CHART VERSION: 11.0.6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APP VERSION: 2.361.2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65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** Please be patient while the chart is being deployed **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5E2B817-96C0-43AD-B829-EA1FFE3C08FF}" type="slidenum">
              <a:t>109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1538;p149"/>
          <p:cNvSpPr/>
          <p:nvPr/>
        </p:nvSpPr>
        <p:spPr>
          <a:xfrm>
            <a:off x="385920" y="1149840"/>
            <a:ext cx="37742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Information about chart details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6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8669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Listing Installed Charts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970" name="Google Shape;1540;p149"/>
          <p:cNvGrpSpPr/>
          <p:nvPr/>
        </p:nvGrpSpPr>
        <p:grpSpPr>
          <a:xfrm>
            <a:off x="390600" y="1872000"/>
            <a:ext cx="8113680" cy="2131200"/>
            <a:chOff x="390600" y="1872000"/>
            <a:chExt cx="8113680" cy="2131200"/>
          </a:xfrm>
        </p:grpSpPr>
        <p:sp>
          <p:nvSpPr>
            <p:cNvPr id="971" name="Google Shape;1541;p149"/>
            <p:cNvSpPr/>
            <p:nvPr/>
          </p:nvSpPr>
          <p:spPr>
            <a:xfrm>
              <a:off x="390600" y="1872000"/>
              <a:ext cx="8113680" cy="21312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2" name="Google Shape;1542;p149"/>
            <p:cNvSpPr/>
            <p:nvPr/>
          </p:nvSpPr>
          <p:spPr>
            <a:xfrm>
              <a:off x="444240" y="1920240"/>
              <a:ext cx="7999560" cy="2017440"/>
            </a:xfrm>
            <a:custGeom>
              <a:avLst/>
              <a:gdLst/>
              <a:ahLst/>
              <a:rect l="l" t="t" r="r" b="b"/>
              <a:pathLst>
                <a:path w="8002905" h="2020570">
                  <a:moveTo>
                    <a:pt x="8002483" y="2020195"/>
                  </a:moveTo>
                  <a:lnTo>
                    <a:pt x="0" y="2020195"/>
                  </a:lnTo>
                  <a:lnTo>
                    <a:pt x="0" y="0"/>
                  </a:lnTo>
                  <a:lnTo>
                    <a:pt x="8002483" y="0"/>
                  </a:lnTo>
                  <a:lnTo>
                    <a:pt x="8002483" y="2020195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73" name="Google Shape;1543;p149"/>
          <p:cNvSpPr/>
          <p:nvPr/>
        </p:nvSpPr>
        <p:spPr>
          <a:xfrm>
            <a:off x="610200" y="2062800"/>
            <a:ext cx="191448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helm list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NAMESPACE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jenkins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default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74" name="Google Shape;1544;p149"/>
          <p:cNvSpPr/>
          <p:nvPr/>
        </p:nvSpPr>
        <p:spPr>
          <a:xfrm>
            <a:off x="2812320" y="2262960"/>
            <a:ext cx="13053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83880" indent="-83880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REVISION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  1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75" name="Google Shape;1545;p149"/>
          <p:cNvSpPr/>
          <p:nvPr/>
        </p:nvSpPr>
        <p:spPr>
          <a:xfrm>
            <a:off x="4404960" y="2262960"/>
            <a:ext cx="8020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STATUS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deployed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76" name="Google Shape;1546;p149"/>
          <p:cNvSpPr/>
          <p:nvPr/>
        </p:nvSpPr>
        <p:spPr>
          <a:xfrm>
            <a:off x="5494680" y="2262960"/>
            <a:ext cx="13964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CHART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jenkins-11.0.6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77" name="Google Shape;1547;p149"/>
          <p:cNvSpPr/>
          <p:nvPr/>
        </p:nvSpPr>
        <p:spPr>
          <a:xfrm>
            <a:off x="7178400" y="2262960"/>
            <a:ext cx="1099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APP VERSION  2.361.2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78" name="Google Shape;1548;p149"/>
          <p:cNvSpPr/>
          <p:nvPr/>
        </p:nvSpPr>
        <p:spPr>
          <a:xfrm>
            <a:off x="4473000" y="3063240"/>
            <a:ext cx="5054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READY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1/1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79" name="Google Shape;1549;p149"/>
          <p:cNvSpPr/>
          <p:nvPr/>
        </p:nvSpPr>
        <p:spPr>
          <a:xfrm>
            <a:off x="5265360" y="3063240"/>
            <a:ext cx="7027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STATUS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Running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80" name="Google Shape;1550;p149"/>
          <p:cNvSpPr/>
          <p:nvPr/>
        </p:nvSpPr>
        <p:spPr>
          <a:xfrm>
            <a:off x="6256080" y="3063240"/>
            <a:ext cx="8024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RESTARTS  0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81" name="Google Shape;1551;p149"/>
          <p:cNvSpPr/>
          <p:nvPr/>
        </p:nvSpPr>
        <p:spPr>
          <a:xfrm>
            <a:off x="7345440" y="3063240"/>
            <a:ext cx="5047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AGE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7m34s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82" name="Google Shape;1552;p149"/>
          <p:cNvSpPr/>
          <p:nvPr/>
        </p:nvSpPr>
        <p:spPr>
          <a:xfrm>
            <a:off x="610200" y="2863080"/>
            <a:ext cx="3575520" cy="8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get pods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pod/bitnami-jenkins-764b44cc99-twf6f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AF8C9BA-7C4F-42B5-8C25-A617B8153822}" type="slidenum">
              <a:t>110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1557;p150"/>
          <p:cNvSpPr/>
          <p:nvPr/>
        </p:nvSpPr>
        <p:spPr>
          <a:xfrm>
            <a:off x="385920" y="1149840"/>
            <a:ext cx="663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Deletes Kubernetes objects controlled by chart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8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8640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Uninstalling a Chart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85" name="Google Shape;1560;p150"/>
          <p:cNvSpPr/>
          <p:nvPr/>
        </p:nvSpPr>
        <p:spPr>
          <a:xfrm>
            <a:off x="444240" y="1920240"/>
            <a:ext cx="4301280" cy="116388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4800" bIns="0" anchor="t">
            <a:spAutoFit/>
          </a:bodyPr>
          <a:p>
            <a:pPr marL="165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helm uninstall jenkins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release "jenkins" uninstalled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65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get pods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No resources found in default namespace.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5A957CE-7133-4DA2-A66D-D6118E81E6D0}" type="slidenum">
              <a:t>111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object 54"/>
          <p:cNvSpPr/>
          <p:nvPr/>
        </p:nvSpPr>
        <p:spPr>
          <a:xfrm>
            <a:off x="3881880" y="2061720"/>
            <a:ext cx="1516320" cy="4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0200" indent="-32832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Helm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987" name="object 55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09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8F5569-BC86-4C67-8034-B4F9B8646BDE}" type="slidenum">
              <a:t>112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1565;p152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9" name="Google Shape;1566;p152"/>
          <p:cNvSpPr/>
          <p:nvPr/>
        </p:nvSpPr>
        <p:spPr>
          <a:xfrm>
            <a:off x="545040" y="1629360"/>
            <a:ext cx="642168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Probes and Health Checks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90" name="Google Shape;1567;p152"/>
          <p:cNvSpPr/>
          <p:nvPr/>
        </p:nvSpPr>
        <p:spPr>
          <a:xfrm>
            <a:off x="545040" y="2375640"/>
            <a:ext cx="69926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Types of Probes, Use Cases, Configuration Options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D54AED4-EA16-4707-A1B3-2DFF170A1544}" type="slidenum">
              <a:t>113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1572;p153"/>
          <p:cNvSpPr/>
          <p:nvPr/>
        </p:nvSpPr>
        <p:spPr>
          <a:xfrm>
            <a:off x="385920" y="1149840"/>
            <a:ext cx="8238600" cy="28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Runtime issues can arise, but you check for them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Proper monitoring of applications running in production environments.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Health probing automates the detection and correction of runtime  issues.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You can configure a container with </a:t>
            </a: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health probes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to execute a periodic  mini-process that checks for certain conditions.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99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5708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Understanding Health Probing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A142592-D846-47AB-A67C-3E78B547553A}" type="slidenum">
              <a:t>114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1578;p154"/>
          <p:cNvSpPr/>
          <p:nvPr/>
        </p:nvSpPr>
        <p:spPr>
          <a:xfrm>
            <a:off x="385920" y="391320"/>
            <a:ext cx="449172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Readiness Probe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94" name="Google Shape;1579;p154"/>
          <p:cNvSpPr/>
          <p:nvPr/>
        </p:nvSpPr>
        <p:spPr>
          <a:xfrm>
            <a:off x="385920" y="1149840"/>
            <a:ext cx="49892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“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Is application ready to serve requests?”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95" name="Google Shape;1580;p154"/>
          <p:cNvSpPr/>
          <p:nvPr/>
        </p:nvSpPr>
        <p:spPr>
          <a:xfrm>
            <a:off x="925560" y="2347920"/>
            <a:ext cx="7133400" cy="19321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1327368-81F8-43F4-B1BE-92CF50050320}" type="slidenum">
              <a:t>115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1585;p155"/>
          <p:cNvSpPr/>
          <p:nvPr/>
        </p:nvSpPr>
        <p:spPr>
          <a:xfrm>
            <a:off x="385920" y="391320"/>
            <a:ext cx="41576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Liveness Probe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997" name="Google Shape;1586;p155"/>
          <p:cNvSpPr/>
          <p:nvPr/>
        </p:nvSpPr>
        <p:spPr>
          <a:xfrm>
            <a:off x="385920" y="1149840"/>
            <a:ext cx="663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“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Does the application still function without errors?”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998" name="Google Shape;1587;p155"/>
          <p:cNvSpPr/>
          <p:nvPr/>
        </p:nvSpPr>
        <p:spPr>
          <a:xfrm>
            <a:off x="1859400" y="2195280"/>
            <a:ext cx="5259960" cy="22240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89BC2F9-AA5A-465F-8438-DE640CCA14A8}" type="slidenum">
              <a:t>116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1592;p156"/>
          <p:cNvSpPr/>
          <p:nvPr/>
        </p:nvSpPr>
        <p:spPr>
          <a:xfrm>
            <a:off x="385920" y="391320"/>
            <a:ext cx="376380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Startup Probe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00" name="Google Shape;1593;p156"/>
          <p:cNvSpPr/>
          <p:nvPr/>
        </p:nvSpPr>
        <p:spPr>
          <a:xfrm>
            <a:off x="385920" y="1149840"/>
            <a:ext cx="820080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“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Legacy application may need longer to start. Hold off on probing.”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001" name="Google Shape;1594;p156"/>
          <p:cNvSpPr/>
          <p:nvPr/>
        </p:nvSpPr>
        <p:spPr>
          <a:xfrm>
            <a:off x="930240" y="2311920"/>
            <a:ext cx="7124400" cy="17510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0EA99CC-4621-4676-9A41-CE1D8EAED16E}" type="slidenum">
              <a:t>117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1413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Health Verification Methods</a:t>
            </a:r>
            <a:endParaRPr b="0" lang="fr-FR" sz="4000" spc="-1" strike="noStrike">
              <a:latin typeface="Arial"/>
            </a:endParaRPr>
          </a:p>
        </p:txBody>
      </p:sp>
      <p:graphicFrame>
        <p:nvGraphicFramePr>
          <p:cNvPr id="1003" name="Google Shape;1600;p157"/>
          <p:cNvGraphicFramePr/>
          <p:nvPr/>
        </p:nvGraphicFramePr>
        <p:xfrm>
          <a:off x="398520" y="1478160"/>
          <a:ext cx="7834320" cy="3339360"/>
        </p:xfrm>
        <a:graphic>
          <a:graphicData uri="http://schemas.openxmlformats.org/drawingml/2006/table">
            <a:tbl>
              <a:tblPr/>
              <a:tblGrid>
                <a:gridCol w="1964880"/>
                <a:gridCol w="1316160"/>
                <a:gridCol w="4553640"/>
              </a:tblGrid>
              <a:tr h="274680">
                <a:tc gridSpan="3"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3002d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Method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522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Option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494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977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40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spcBef>
                          <a:spcPts val="106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Custom Command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pPr marL="154440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Executes a command inside of the container e.g. a cat</a:t>
                      </a:r>
                      <a:endParaRPr b="0" lang="fr-FR" sz="1300" spc="-1" strike="noStrike">
                        <a:latin typeface="Arial"/>
                      </a:endParaRPr>
                    </a:p>
                    <a:p>
                      <a:pPr marL="1544400" indent="-139176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950" spc="-1" strike="noStrike" baseline="-25000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exec.command</a:t>
                      </a:r>
                      <a:r>
                        <a:rPr b="0" lang="en-US" sz="1950" spc="-1" strike="noStrike" baseline="-25000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	</a:t>
                      </a: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command and checks its exit code. Kubernetes  considers an zero exit code to be successful. A non-zero  exit code indicates an error.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891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40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spcBef>
                          <a:spcPts val="106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HTTP GET Request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400" spc="-1" strike="noStrike">
                        <a:latin typeface="Arial"/>
                      </a:endParaRPr>
                    </a:p>
                    <a:p>
                      <a:pPr marL="152280">
                        <a:lnSpc>
                          <a:spcPct val="100000"/>
                        </a:lnSpc>
                        <a:spcBef>
                          <a:spcPts val="106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httpGet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4948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Sends an HTTP GET request to an endpoint exposed by  the application. A HTTP response code in the range of  200 and 399 indicates success. Any other response  code is regarded as an error.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891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40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spcBef>
                          <a:spcPts val="106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TCP socket connection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400" spc="-1" strike="noStrike">
                        <a:latin typeface="Arial"/>
                      </a:endParaRPr>
                    </a:p>
                    <a:p>
                      <a:pPr marL="152280">
                        <a:lnSpc>
                          <a:spcPct val="100000"/>
                        </a:lnSpc>
                        <a:spcBef>
                          <a:spcPts val="106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tcpSocket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4948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Tries to open a TCP socket connection to a port. If the  connection could be established, the probing attempt  was successful. The inability to connect is accounted for  as an error.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3306305-09F8-49A7-B4B8-86A0CF3BF9BD}" type="slidenum">
              <a:t>118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0552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Health Check Attributes</a:t>
            </a:r>
            <a:endParaRPr b="0" lang="fr-FR" sz="4000" spc="-1" strike="noStrike">
              <a:latin typeface="Arial"/>
            </a:endParaRPr>
          </a:p>
        </p:txBody>
      </p:sp>
      <p:graphicFrame>
        <p:nvGraphicFramePr>
          <p:cNvPr id="1005" name="Google Shape;1606;p158"/>
          <p:cNvGraphicFramePr/>
          <p:nvPr/>
        </p:nvGraphicFramePr>
        <p:xfrm>
          <a:off x="398520" y="1478160"/>
          <a:ext cx="7701840" cy="3371040"/>
        </p:xfrm>
        <a:graphic>
          <a:graphicData uri="http://schemas.openxmlformats.org/drawingml/2006/table">
            <a:tbl>
              <a:tblPr/>
              <a:tblGrid>
                <a:gridCol w="2168280"/>
                <a:gridCol w="1202760"/>
                <a:gridCol w="4331160"/>
              </a:tblGrid>
              <a:tr h="290520">
                <a:tc gridSpan="3"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3002d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Attribute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3140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Default Value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040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47448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initialDelaySeconds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3140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0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040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Delay in seconds until first check is executed.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448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periodSeconds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3140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10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040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Interval for executing a check (e.g., every 20 seconds).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608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timeoutSeconds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13140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1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0404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Maximum number of seconds until check operation  times out.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8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successThreshold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13140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1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0404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Number of successful check attempts until probe is  considered successful after a failure.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609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failureThreshold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13140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3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0404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Number of failures for check attempts before probe is  marked failed and takes action.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12A8029-F813-4E66-A2DE-F767A0122EB2}" type="slidenum">
              <a:t>119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611;p159"/>
          <p:cNvSpPr/>
          <p:nvPr/>
        </p:nvSpPr>
        <p:spPr>
          <a:xfrm>
            <a:off x="385920" y="1149840"/>
            <a:ext cx="662796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HTTP probes are very helpful for web applications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00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1528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Defining a Readiness Probe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08" name="Google Shape;1613;p159"/>
          <p:cNvSpPr/>
          <p:nvPr/>
        </p:nvSpPr>
        <p:spPr>
          <a:xfrm>
            <a:off x="393840" y="1908360"/>
            <a:ext cx="2888640" cy="184140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3120" bIns="0" anchor="t">
            <a:spAutoFit/>
          </a:bodyPr>
          <a:p>
            <a:pPr marL="177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200" spc="-1" strike="noStrike">
              <a:latin typeface="Arial"/>
            </a:endParaRPr>
          </a:p>
          <a:p>
            <a:pPr marL="177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200" spc="-1" strike="noStrike">
              <a:latin typeface="Arial"/>
            </a:endParaRPr>
          </a:p>
          <a:p>
            <a:pPr marL="177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200" spc="-1" strike="noStrike">
              <a:latin typeface="Arial"/>
            </a:endParaRPr>
          </a:p>
          <a:p>
            <a:pPr marL="36000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web-app</a:t>
            </a:r>
            <a:endParaRPr b="0" lang="fr-FR" sz="1200" spc="-1" strike="noStrike">
              <a:latin typeface="Arial"/>
            </a:endParaRPr>
          </a:p>
          <a:p>
            <a:pPr marL="177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200" spc="-1" strike="noStrike">
              <a:latin typeface="Arial"/>
            </a:endParaRPr>
          </a:p>
          <a:p>
            <a:pPr marL="3600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200" spc="-1" strike="noStrike">
              <a:latin typeface="Arial"/>
            </a:endParaRPr>
          </a:p>
          <a:p>
            <a:pPr marL="3600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web-app</a:t>
            </a:r>
            <a:endParaRPr b="0" lang="fr-FR" sz="1200" spc="-1" strike="noStrike">
              <a:latin typeface="Arial"/>
            </a:endParaRPr>
          </a:p>
          <a:p>
            <a:pPr marL="54288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eshop:4.6.3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009" name="Google Shape;1614;p159"/>
          <p:cNvSpPr/>
          <p:nvPr/>
        </p:nvSpPr>
        <p:spPr>
          <a:xfrm>
            <a:off x="882000" y="3792240"/>
            <a:ext cx="2301840" cy="128988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4720"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readinessProbe:</a:t>
            </a:r>
            <a:endParaRPr b="0" lang="fr-FR" sz="1200" spc="-1" strike="noStrike">
              <a:latin typeface="Arial"/>
            </a:endParaRPr>
          </a:p>
          <a:p>
            <a:pPr marL="420840" indent="-183600">
              <a:lnSpc>
                <a:spcPct val="118000"/>
              </a:lnSpc>
              <a:spcBef>
                <a:spcPts val="54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httpGet:</a:t>
            </a:r>
            <a:endParaRPr b="0" lang="fr-FR" sz="1200" spc="-1" strike="noStrike">
              <a:latin typeface="Arial"/>
            </a:endParaRPr>
          </a:p>
          <a:p>
            <a:pPr marL="420840" indent="-183600">
              <a:lnSpc>
                <a:spcPct val="118000"/>
              </a:lnSpc>
              <a:spcBef>
                <a:spcPts val="54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Path: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/</a:t>
            </a:r>
            <a:endParaRPr b="0" lang="fr-FR" sz="1200" spc="-1" strike="noStrike">
              <a:latin typeface="Arial"/>
            </a:endParaRPr>
          </a:p>
          <a:p>
            <a:pPr marL="420840" indent="-183600">
              <a:lnSpc>
                <a:spcPct val="118000"/>
              </a:lnSpc>
              <a:spcBef>
                <a:spcPts val="54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 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port: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8080</a:t>
            </a:r>
            <a:endParaRPr b="0" lang="fr-FR" sz="1200" spc="-1" strike="noStrike">
              <a:latin typeface="Arial"/>
            </a:endParaRPr>
          </a:p>
          <a:p>
            <a:pPr marL="237600" indent="-18360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initialDelaySeconds: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5</a:t>
            </a:r>
            <a:endParaRPr b="0" lang="fr-FR" sz="1200" spc="-1" strike="noStrike">
              <a:latin typeface="Arial"/>
            </a:endParaRPr>
          </a:p>
          <a:p>
            <a:pPr marL="237600" indent="-183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periodSeconds: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2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1010" name="Google Shape;1615;p159"/>
          <p:cNvGrpSpPr/>
          <p:nvPr/>
        </p:nvGrpSpPr>
        <p:grpSpPr>
          <a:xfrm>
            <a:off x="3416040" y="4036320"/>
            <a:ext cx="907560" cy="78840"/>
            <a:chOff x="3416040" y="4036320"/>
            <a:chExt cx="907560" cy="78840"/>
          </a:xfrm>
        </p:grpSpPr>
        <p:sp>
          <p:nvSpPr>
            <p:cNvPr id="1011" name="Google Shape;1616;p159"/>
            <p:cNvSpPr/>
            <p:nvPr/>
          </p:nvSpPr>
          <p:spPr>
            <a:xfrm>
              <a:off x="3512160" y="4077360"/>
              <a:ext cx="811440" cy="360"/>
            </a:xfrm>
            <a:custGeom>
              <a:avLst/>
              <a:gdLst/>
              <a:ahLst/>
              <a:rect l="l" t="t" r="r" b="b"/>
              <a:pathLst>
                <a:path w="814704" h="120000">
                  <a:moveTo>
                    <a:pt x="8144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2" name="Google Shape;1617;p159"/>
            <p:cNvSpPr/>
            <p:nvPr/>
          </p:nvSpPr>
          <p:spPr>
            <a:xfrm>
              <a:off x="3416040" y="4036320"/>
              <a:ext cx="102240" cy="788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13" name="Google Shape;1618;p159"/>
          <p:cNvSpPr/>
          <p:nvPr/>
        </p:nvSpPr>
        <p:spPr>
          <a:xfrm>
            <a:off x="4446720" y="3800520"/>
            <a:ext cx="257040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1555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Successful if HTTP status  code is between 200 and 399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D14CEBD-B7A0-4045-B3A6-97FA952B399C}" type="slidenum">
              <a:t>120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623;p160"/>
          <p:cNvSpPr/>
          <p:nvPr/>
        </p:nvSpPr>
        <p:spPr>
          <a:xfrm>
            <a:off x="385920" y="1149840"/>
            <a:ext cx="638532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An event log can be queried by a custom command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015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2007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Defining a Liveness Probe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16" name="Google Shape;1626;p160"/>
          <p:cNvSpPr/>
          <p:nvPr/>
        </p:nvSpPr>
        <p:spPr>
          <a:xfrm>
            <a:off x="411840" y="1971000"/>
            <a:ext cx="4782240" cy="180576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7480" bIns="0" anchor="t">
            <a:spAutoFit/>
          </a:bodyPr>
          <a:p>
            <a:pPr marL="177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200" spc="-1" strike="noStrike">
              <a:latin typeface="Arial"/>
            </a:endParaRPr>
          </a:p>
          <a:p>
            <a:pPr marL="177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200" spc="-1" strike="noStrike">
              <a:latin typeface="Arial"/>
            </a:endParaRPr>
          </a:p>
          <a:p>
            <a:pPr marL="177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200" spc="-1" strike="noStrike">
              <a:latin typeface="Arial"/>
            </a:endParaRPr>
          </a:p>
          <a:p>
            <a:pPr marL="36000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web-app</a:t>
            </a:r>
            <a:endParaRPr b="0" lang="fr-FR" sz="1200" spc="-1" strike="noStrike">
              <a:latin typeface="Arial"/>
            </a:endParaRPr>
          </a:p>
          <a:p>
            <a:pPr marL="177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200" spc="-1" strike="noStrike">
              <a:latin typeface="Arial"/>
            </a:endParaRPr>
          </a:p>
          <a:p>
            <a:pPr marL="3600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200" spc="-1" strike="noStrike">
              <a:latin typeface="Arial"/>
            </a:endParaRPr>
          </a:p>
          <a:p>
            <a:pPr marL="3600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web-app</a:t>
            </a:r>
            <a:endParaRPr b="0" lang="fr-FR" sz="1200" spc="-1" strike="noStrike">
              <a:latin typeface="Arial"/>
            </a:endParaRPr>
          </a:p>
          <a:p>
            <a:pPr marL="54288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eshop:4.6.3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017" name="Google Shape;1627;p160"/>
          <p:cNvSpPr/>
          <p:nvPr/>
        </p:nvSpPr>
        <p:spPr>
          <a:xfrm>
            <a:off x="882000" y="3748320"/>
            <a:ext cx="4240440" cy="126936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308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livenessProbe:</a:t>
            </a:r>
            <a:endParaRPr b="0" lang="fr-FR" sz="1200" spc="-1" strike="noStrike">
              <a:latin typeface="Arial"/>
            </a:endParaRPr>
          </a:p>
          <a:p>
            <a:pPr marL="25596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exec:</a:t>
            </a:r>
            <a:endParaRPr b="0" lang="fr-FR" sz="1200" spc="-1" strike="noStrike">
              <a:latin typeface="Arial"/>
            </a:endParaRPr>
          </a:p>
          <a:p>
            <a:pPr marL="4388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command:</a:t>
            </a:r>
            <a:endParaRPr b="0" lang="fr-FR" sz="1200" spc="-1" strike="noStrike">
              <a:latin typeface="Arial"/>
            </a:endParaRPr>
          </a:p>
          <a:p>
            <a:pPr marL="43884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 test `find /tmp/heartbeat.txt -mmin -1`</a:t>
            </a:r>
            <a:endParaRPr b="0" lang="fr-FR" sz="1200" spc="-1" strike="noStrike">
              <a:latin typeface="Arial"/>
            </a:endParaRPr>
          </a:p>
          <a:p>
            <a:pPr marL="25596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initialDelaySeconds: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10</a:t>
            </a:r>
            <a:endParaRPr b="0" lang="fr-FR" sz="1200" spc="-1" strike="noStrike">
              <a:latin typeface="Arial"/>
            </a:endParaRPr>
          </a:p>
          <a:p>
            <a:pPr marL="25596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periodSeconds: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5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1018" name="Google Shape;1628;p160"/>
          <p:cNvGrpSpPr/>
          <p:nvPr/>
        </p:nvGrpSpPr>
        <p:grpSpPr>
          <a:xfrm>
            <a:off x="5301360" y="3928680"/>
            <a:ext cx="655920" cy="78840"/>
            <a:chOff x="5301360" y="3928680"/>
            <a:chExt cx="655920" cy="78840"/>
          </a:xfrm>
        </p:grpSpPr>
        <p:sp>
          <p:nvSpPr>
            <p:cNvPr id="1019" name="Google Shape;1629;p160"/>
            <p:cNvSpPr/>
            <p:nvPr/>
          </p:nvSpPr>
          <p:spPr>
            <a:xfrm>
              <a:off x="5397120" y="3969720"/>
              <a:ext cx="560160" cy="360"/>
            </a:xfrm>
            <a:custGeom>
              <a:avLst/>
              <a:gdLst/>
              <a:ahLst/>
              <a:rect l="l" t="t" r="r" b="b"/>
              <a:pathLst>
                <a:path w="563245" h="120000">
                  <a:moveTo>
                    <a:pt x="5630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0" name="Google Shape;1630;p160"/>
            <p:cNvSpPr/>
            <p:nvPr/>
          </p:nvSpPr>
          <p:spPr>
            <a:xfrm>
              <a:off x="5301360" y="3928680"/>
              <a:ext cx="102240" cy="788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21" name="Google Shape;1631;p160"/>
          <p:cNvSpPr/>
          <p:nvPr/>
        </p:nvSpPr>
        <p:spPr>
          <a:xfrm>
            <a:off x="6052320" y="3585240"/>
            <a:ext cx="2764800" cy="6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-144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Does the file get updated  periodically by the application  process?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5C2DB4D-907F-4810-A60B-3333D168B4F2}" type="slidenum">
              <a:t>121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636;p161"/>
          <p:cNvSpPr/>
          <p:nvPr/>
        </p:nvSpPr>
        <p:spPr>
          <a:xfrm>
            <a:off x="385920" y="1149840"/>
            <a:ext cx="601848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TCP socket connection if exposed by application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02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4591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Defining a Startup Probe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24" name="Google Shape;1639;p161"/>
          <p:cNvSpPr/>
          <p:nvPr/>
        </p:nvSpPr>
        <p:spPr>
          <a:xfrm>
            <a:off x="456480" y="1984320"/>
            <a:ext cx="2924640" cy="180576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7480" bIns="0" anchor="t">
            <a:spAutoFit/>
          </a:bodyPr>
          <a:p>
            <a:pPr marL="168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200" spc="-1" strike="noStrike">
              <a:latin typeface="Arial"/>
            </a:endParaRPr>
          </a:p>
          <a:p>
            <a:pPr marL="168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200" spc="-1" strike="noStrike">
              <a:latin typeface="Arial"/>
            </a:endParaRPr>
          </a:p>
          <a:p>
            <a:pPr marL="168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200" spc="-1" strike="noStrike">
              <a:latin typeface="Arial"/>
            </a:endParaRPr>
          </a:p>
          <a:p>
            <a:pPr marL="35100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startup-pod</a:t>
            </a:r>
            <a:endParaRPr b="0" lang="fr-FR" sz="1200" spc="-1" strike="noStrike">
              <a:latin typeface="Arial"/>
            </a:endParaRPr>
          </a:p>
          <a:p>
            <a:pPr marL="1681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200" spc="-1" strike="noStrike">
              <a:latin typeface="Arial"/>
            </a:endParaRPr>
          </a:p>
          <a:p>
            <a:pPr marL="3510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200" spc="-1" strike="noStrike">
              <a:latin typeface="Arial"/>
            </a:endParaRPr>
          </a:p>
          <a:p>
            <a:pPr marL="3510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httpd:2.4.46</a:t>
            </a:r>
            <a:endParaRPr b="0" lang="fr-FR" sz="1200" spc="-1" strike="noStrike">
              <a:latin typeface="Arial"/>
            </a:endParaRPr>
          </a:p>
          <a:p>
            <a:pPr marL="53388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http-server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025" name="Google Shape;1640;p161"/>
          <p:cNvSpPr/>
          <p:nvPr/>
        </p:nvSpPr>
        <p:spPr>
          <a:xfrm>
            <a:off x="942480" y="3824640"/>
            <a:ext cx="2375640" cy="107244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31120" indent="-183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startupProbe: </a:t>
            </a:r>
            <a:endParaRPr b="0" lang="fr-FR" sz="1200" spc="-1" strike="noStrike">
              <a:latin typeface="Arial"/>
            </a:endParaRPr>
          </a:p>
          <a:p>
            <a:pPr marL="231120" indent="-183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tcpSocket:</a:t>
            </a:r>
            <a:endParaRPr b="0" lang="fr-FR" sz="1200" spc="-1" strike="noStrike">
              <a:latin typeface="Arial"/>
            </a:endParaRPr>
          </a:p>
          <a:p>
            <a:pPr marL="414000" indent="-18360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port: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80</a:t>
            </a:r>
            <a:endParaRPr b="0" lang="fr-FR" sz="1200" spc="-1" strike="noStrike">
              <a:latin typeface="Arial"/>
            </a:endParaRPr>
          </a:p>
          <a:p>
            <a:pPr marL="231120" indent="-183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initialDelaySeconds: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3</a:t>
            </a:r>
            <a:endParaRPr b="0" lang="fr-FR" sz="1200" spc="-1" strike="noStrike">
              <a:latin typeface="Arial"/>
            </a:endParaRPr>
          </a:p>
          <a:p>
            <a:pPr marL="231120" indent="-183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periodSeconds: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15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026" name="Google Shape;1641;p161"/>
          <p:cNvSpPr/>
          <p:nvPr/>
        </p:nvSpPr>
        <p:spPr>
          <a:xfrm>
            <a:off x="3612240" y="3804480"/>
            <a:ext cx="340488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0" lang="en-US" sz="15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Tries to open a TCP socket</a:t>
            </a:r>
            <a:endParaRPr b="0" lang="fr-FR" sz="1500" spc="-1" strike="noStrike">
              <a:latin typeface="Arial"/>
            </a:endParaRPr>
          </a:p>
          <a:p>
            <a:pPr marL="124128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connection to a port</a:t>
            </a:r>
            <a:endParaRPr b="0" lang="fr-FR" sz="1500" spc="-1" strike="noStrike">
              <a:latin typeface="Arial"/>
            </a:endParaRPr>
          </a:p>
        </p:txBody>
      </p:sp>
      <p:grpSp>
        <p:nvGrpSpPr>
          <p:cNvPr id="1027" name="Google Shape;1642;p161"/>
          <p:cNvGrpSpPr/>
          <p:nvPr/>
        </p:nvGrpSpPr>
        <p:grpSpPr>
          <a:xfrm>
            <a:off x="3548520" y="4004640"/>
            <a:ext cx="656280" cy="78840"/>
            <a:chOff x="3548520" y="4004640"/>
            <a:chExt cx="656280" cy="78840"/>
          </a:xfrm>
        </p:grpSpPr>
        <p:sp>
          <p:nvSpPr>
            <p:cNvPr id="1028" name="Google Shape;1643;p161"/>
            <p:cNvSpPr/>
            <p:nvPr/>
          </p:nvSpPr>
          <p:spPr>
            <a:xfrm>
              <a:off x="3644640" y="4045680"/>
              <a:ext cx="560160" cy="360"/>
            </a:xfrm>
            <a:custGeom>
              <a:avLst/>
              <a:gdLst/>
              <a:ahLst/>
              <a:rect l="l" t="t" r="r" b="b"/>
              <a:pathLst>
                <a:path w="563245" h="120000">
                  <a:moveTo>
                    <a:pt x="5630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9" name="Google Shape;1644;p161"/>
            <p:cNvSpPr/>
            <p:nvPr/>
          </p:nvSpPr>
          <p:spPr>
            <a:xfrm>
              <a:off x="3548520" y="4004640"/>
              <a:ext cx="102240" cy="788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C613872-44CC-4040-B336-04295F357C48}" type="slidenum">
              <a:t>122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655;p164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1" name="Google Shape;1656;p164"/>
          <p:cNvSpPr/>
          <p:nvPr/>
        </p:nvSpPr>
        <p:spPr>
          <a:xfrm>
            <a:off x="545040" y="1077120"/>
            <a:ext cx="3999960" cy="13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8840" bIns="0" anchor="t">
            <a:spAutoFit/>
          </a:bodyPr>
          <a:p>
            <a:pPr marL="12600"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Monitoring and  Troubleshooting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32" name="Google Shape;1657;p164"/>
          <p:cNvSpPr/>
          <p:nvPr/>
        </p:nvSpPr>
        <p:spPr>
          <a:xfrm>
            <a:off x="545040" y="2591640"/>
            <a:ext cx="6112080" cy="7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Metrics Server, Finding and Fixing Issues in  Applications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70ACE2E-A061-4CE8-AA4E-B3392FB25979}" type="slidenum">
              <a:t>123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1862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Monitoring Kubernetes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34" name="Google Shape;1663;p165"/>
          <p:cNvSpPr/>
          <p:nvPr/>
        </p:nvSpPr>
        <p:spPr>
          <a:xfrm>
            <a:off x="416520" y="1289880"/>
            <a:ext cx="8040600" cy="29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7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What metrics are of interest?</a:t>
            </a:r>
            <a:endParaRPr b="0" lang="fr-FR" sz="2400" spc="-1" strike="noStrike">
              <a:latin typeface="Arial"/>
            </a:endParaRPr>
          </a:p>
          <a:p>
            <a:pPr marL="37440"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500" spc="-1" strike="noStrike">
              <a:latin typeface="Arial"/>
            </a:endParaRPr>
          </a:p>
          <a:p>
            <a:pPr marL="3027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Number of nodes in the cluster.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027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Health status of nodes.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027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Node performance metrics like CPU, memory, disk space, network.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027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Pod-level performance metrics like CPU, memory consumption.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8DA6F29-BA15-405E-8B2C-FCE79B2E808A}" type="slidenum">
              <a:t>124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4108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Monitoring Solution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36" name="Google Shape;1672;p166"/>
          <p:cNvSpPr/>
          <p:nvPr/>
        </p:nvSpPr>
        <p:spPr>
          <a:xfrm>
            <a:off x="441720" y="1289880"/>
            <a:ext cx="49852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Relevant to the exam: </a:t>
            </a:r>
            <a:r>
              <a:rPr b="0" i="1" lang="en-US" sz="2400" spc="-1" strike="noStrike" u="sng">
                <a:solidFill>
                  <a:srgbClr val="d3002d"/>
                </a:solidFill>
                <a:uFillTx/>
                <a:latin typeface="Arial"/>
                <a:ea typeface="Arial"/>
                <a:hlinkClick r:id="rId1"/>
              </a:rPr>
              <a:t>metrics server</a:t>
            </a:r>
            <a:endParaRPr b="0" lang="fr-FR" sz="2400" spc="-1" strike="noStrike">
              <a:latin typeface="Arial"/>
            </a:endParaRPr>
          </a:p>
        </p:txBody>
      </p:sp>
      <p:pic>
        <p:nvPicPr>
          <p:cNvPr id="1037" name="" descr=""/>
          <p:cNvPicPr/>
          <p:nvPr/>
        </p:nvPicPr>
        <p:blipFill>
          <a:blip r:embed="rId2"/>
          <a:stretch/>
        </p:blipFill>
        <p:spPr>
          <a:xfrm>
            <a:off x="391680" y="1980000"/>
            <a:ext cx="7414920" cy="1869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A2F2C0C-1881-40AB-A0E1-5FEAD7C2C116}" type="slidenum">
              <a:t>125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685;p167"/>
          <p:cNvSpPr/>
          <p:nvPr/>
        </p:nvSpPr>
        <p:spPr>
          <a:xfrm>
            <a:off x="385920" y="391320"/>
            <a:ext cx="421740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Metrics Server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39" name="Google Shape;1686;p167"/>
          <p:cNvSpPr/>
          <p:nvPr/>
        </p:nvSpPr>
        <p:spPr>
          <a:xfrm>
            <a:off x="441720" y="1289880"/>
            <a:ext cx="43351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Cluster-wide metrics aggregator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040" name="Google Shape;1687;p167"/>
          <p:cNvSpPr/>
          <p:nvPr/>
        </p:nvSpPr>
        <p:spPr>
          <a:xfrm>
            <a:off x="2220480" y="2286000"/>
            <a:ext cx="4054320" cy="22748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1699CEA-DEF2-4160-AA99-BF51C6661A03}" type="slidenum">
              <a:t>126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3677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Installing the Metrics Server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42" name="Google Shape;1693;p168"/>
          <p:cNvSpPr/>
          <p:nvPr/>
        </p:nvSpPr>
        <p:spPr>
          <a:xfrm>
            <a:off x="441720" y="1289880"/>
            <a:ext cx="69112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Add on-component for Minikube or creating objects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043" name="Google Shape;1694;p168"/>
          <p:cNvSpPr/>
          <p:nvPr/>
        </p:nvSpPr>
        <p:spPr>
          <a:xfrm>
            <a:off x="495360" y="2228400"/>
            <a:ext cx="883080" cy="8568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4" name="Google Shape;1696;p168"/>
          <p:cNvSpPr/>
          <p:nvPr/>
        </p:nvSpPr>
        <p:spPr>
          <a:xfrm>
            <a:off x="1972080" y="2268000"/>
            <a:ext cx="4671720" cy="65160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9400" bIns="0" anchor="t">
            <a:spAutoFit/>
          </a:bodyPr>
          <a:p>
            <a:pPr marL="23796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minikube addons enable metrics-server</a:t>
            </a:r>
            <a:endParaRPr b="0" lang="fr-FR" sz="1400" spc="-1" strike="noStrike">
              <a:latin typeface="Arial"/>
            </a:endParaRPr>
          </a:p>
          <a:p>
            <a:pPr marL="23796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The 'metrics-server' addon is enabled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045" name="Google Shape;1697;p168"/>
          <p:cNvSpPr/>
          <p:nvPr/>
        </p:nvSpPr>
        <p:spPr>
          <a:xfrm>
            <a:off x="0" y="3452760"/>
            <a:ext cx="1885680" cy="12639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6" name="Google Shape;1699;p168"/>
          <p:cNvSpPr/>
          <p:nvPr/>
        </p:nvSpPr>
        <p:spPr>
          <a:xfrm>
            <a:off x="1987920" y="3650760"/>
            <a:ext cx="5835600" cy="90684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9400" bIns="0" anchor="t">
            <a:spAutoFit/>
          </a:bodyPr>
          <a:p>
            <a:pPr marL="23796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apply -f</a:t>
            </a:r>
            <a:endParaRPr b="0" lang="fr-FR" sz="1400" spc="-1" strike="noStrike">
              <a:latin typeface="Arial"/>
            </a:endParaRPr>
          </a:p>
          <a:p>
            <a:pPr marL="237960">
              <a:lnSpc>
                <a:spcPct val="117000"/>
              </a:lnSpc>
              <a:spcBef>
                <a:spcPts val="65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https://github.com/kubernetes-sigs/metrics-server/r  eleases/latest/download/components.yaml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FB61637-1E59-4343-B6B5-0E719434B989}" type="slidenum">
              <a:t>127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7474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Using the Metrics Server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48" name="Google Shape;1705;p169"/>
          <p:cNvSpPr/>
          <p:nvPr/>
        </p:nvSpPr>
        <p:spPr>
          <a:xfrm>
            <a:off x="441720" y="1289880"/>
            <a:ext cx="81118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The </a:t>
            </a:r>
            <a:r>
              <a:rPr b="0" i="1" lang="en-US" sz="2400" spc="-1" strike="noStrike">
                <a:solidFill>
                  <a:srgbClr val="595959"/>
                </a:solidFill>
                <a:latin typeface="Courier New"/>
                <a:ea typeface="Courier New"/>
              </a:rPr>
              <a:t>kubectl top </a:t>
            </a: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command can query nodes and Pods</a:t>
            </a:r>
            <a:endParaRPr b="0" lang="fr-FR" sz="2400" spc="-1" strike="noStrike">
              <a:latin typeface="Arial"/>
            </a:endParaRPr>
          </a:p>
        </p:txBody>
      </p:sp>
      <p:pic>
        <p:nvPicPr>
          <p:cNvPr id="1049" name="" descr=""/>
          <p:cNvPicPr/>
          <p:nvPr/>
        </p:nvPicPr>
        <p:blipFill>
          <a:blip r:embed="rId1"/>
          <a:stretch/>
        </p:blipFill>
        <p:spPr>
          <a:xfrm>
            <a:off x="540000" y="1867320"/>
            <a:ext cx="7108200" cy="2809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CCE5E01-866A-482D-A5CD-F136879A1582}" type="slidenum">
              <a:t>128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723;p171"/>
          <p:cNvSpPr/>
          <p:nvPr/>
        </p:nvSpPr>
        <p:spPr>
          <a:xfrm>
            <a:off x="385920" y="1149840"/>
            <a:ext cx="44575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Check the status first - is it running?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05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7924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Troubleshooting Pods</a:t>
            </a:r>
            <a:endParaRPr b="0" lang="fr-FR" sz="4000" spc="-1" strike="noStrike">
              <a:latin typeface="Arial"/>
            </a:endParaRPr>
          </a:p>
        </p:txBody>
      </p:sp>
      <p:pic>
        <p:nvPicPr>
          <p:cNvPr id="1052" name="" descr=""/>
          <p:cNvPicPr/>
          <p:nvPr/>
        </p:nvPicPr>
        <p:blipFill>
          <a:blip r:embed="rId1"/>
          <a:stretch/>
        </p:blipFill>
        <p:spPr>
          <a:xfrm>
            <a:off x="391680" y="2192760"/>
            <a:ext cx="6805440" cy="1044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7394D35-6299-4C0E-AD57-9C0F8E91CBC3}" type="slidenum">
              <a:t>129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2604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Common Pod Error Statuses</a:t>
            </a:r>
            <a:endParaRPr b="0" lang="fr-FR" sz="4000" spc="-1" strike="noStrike">
              <a:latin typeface="Arial"/>
            </a:endParaRPr>
          </a:p>
        </p:txBody>
      </p:sp>
      <p:graphicFrame>
        <p:nvGraphicFramePr>
          <p:cNvPr id="1054" name="Google Shape;1734;p172"/>
          <p:cNvGraphicFramePr/>
          <p:nvPr/>
        </p:nvGraphicFramePr>
        <p:xfrm>
          <a:off x="398520" y="1249560"/>
          <a:ext cx="7972920" cy="3469320"/>
        </p:xfrm>
        <a:graphic>
          <a:graphicData uri="http://schemas.openxmlformats.org/drawingml/2006/table">
            <a:tbl>
              <a:tblPr/>
              <a:tblGrid>
                <a:gridCol w="2890080"/>
                <a:gridCol w="2396520"/>
                <a:gridCol w="2686680"/>
              </a:tblGrid>
              <a:tr h="290520">
                <a:tc gridSpan="3"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3002d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marL="84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220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Root cause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144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Potential fix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1091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40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1000"/>
                        </a:lnSpc>
                        <a:spcBef>
                          <a:spcPts val="1046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ImagePullBackOff </a:t>
                      </a: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or  </a:t>
                      </a: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ErrImagePull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400" spc="-1" strike="noStrike">
                        <a:latin typeface="Arial"/>
                      </a:endParaRPr>
                    </a:p>
                    <a:p>
                      <a:pPr marL="122040">
                        <a:lnSpc>
                          <a:spcPct val="101000"/>
                        </a:lnSpc>
                        <a:spcBef>
                          <a:spcPts val="1046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Image could not be pulled from  registry.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1448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Check correct image name,  check that image name exists in  registry, verify network access  from node to registry, ensure  proper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891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40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spcBef>
                          <a:spcPts val="106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CrashLoopBackOff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600" spc="-1" strike="noStrike">
                        <a:latin typeface="Arial"/>
                      </a:endParaRPr>
                    </a:p>
                    <a:p>
                      <a:pPr marL="12204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Application or command run in  container crashes.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1448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Check command executed in  container, ensure that image can  properly execute (e.g. by creating  a container with Docker)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891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400" spc="-1" strike="noStrike">
                        <a:latin typeface="Arial"/>
                      </a:endParaRPr>
                    </a:p>
                    <a:p>
                      <a:pPr marL="84960">
                        <a:lnSpc>
                          <a:spcPct val="100000"/>
                        </a:lnSpc>
                        <a:spcBef>
                          <a:spcPts val="106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CreateContainerConfigError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2204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ConfigMap or Secret  references by container cannot  be found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14480">
                        <a:lnSpc>
                          <a:spcPct val="101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Check correct name of the  configuration object, verify the  existence of the configuration  object in the namespace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CBAFC94-E99E-45C1-9661-32511C5BB778}" type="slidenum">
              <a:t>130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739;p173"/>
          <p:cNvSpPr/>
          <p:nvPr/>
        </p:nvSpPr>
        <p:spPr>
          <a:xfrm>
            <a:off x="385920" y="1149840"/>
            <a:ext cx="609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Check the event log - does it indicate issues?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05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3794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Troubleshooting Pods</a:t>
            </a:r>
            <a:endParaRPr b="0" lang="fr-FR" sz="4000" spc="-1" strike="noStrike">
              <a:latin typeface="Arial"/>
            </a:endParaRPr>
          </a:p>
        </p:txBody>
      </p:sp>
      <p:pic>
        <p:nvPicPr>
          <p:cNvPr id="1057" name="" descr=""/>
          <p:cNvPicPr/>
          <p:nvPr/>
        </p:nvPicPr>
        <p:blipFill>
          <a:blip r:embed="rId1"/>
          <a:stretch/>
        </p:blipFill>
        <p:spPr>
          <a:xfrm>
            <a:off x="391680" y="1926720"/>
            <a:ext cx="7705440" cy="2710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50C1338-2122-497D-A088-F1F4DB51C87A}" type="slidenum">
              <a:t>131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756;p174"/>
          <p:cNvSpPr/>
          <p:nvPr/>
        </p:nvSpPr>
        <p:spPr>
          <a:xfrm>
            <a:off x="385920" y="1149840"/>
            <a:ext cx="807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Check the container logs - do you see anything suspicious?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05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3794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Troubleshooting Pods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60" name="Google Shape;1760;p174"/>
          <p:cNvSpPr/>
          <p:nvPr/>
        </p:nvSpPr>
        <p:spPr>
          <a:xfrm>
            <a:off x="441000" y="2991240"/>
            <a:ext cx="6823440" cy="18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17276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900" spc="-1" strike="noStrike" baseline="-25000">
                <a:solidFill>
                  <a:srgbClr val="ff0000"/>
                </a:solidFill>
                <a:latin typeface="Arial"/>
                <a:ea typeface="Arial"/>
              </a:rPr>
              <a:t>✘</a:t>
            </a:r>
            <a:r>
              <a:rPr b="0" lang="en-US" sz="2000" spc="-1" strike="noStrike">
                <a:solidFill>
                  <a:srgbClr val="ff0000"/>
                </a:solidFill>
                <a:latin typeface="Arial"/>
                <a:ea typeface="Arial"/>
              </a:rPr>
              <a:t>Connectivity issues</a:t>
            </a:r>
            <a:endParaRPr b="0" lang="fr-FR" sz="2000" spc="-1" strike="noStrike">
              <a:latin typeface="Arial"/>
            </a:endParaRPr>
          </a:p>
          <a:p>
            <a:pPr marL="4172760">
              <a:lnSpc>
                <a:spcPct val="100000"/>
              </a:lnSpc>
              <a:spcBef>
                <a:spcPts val="54"/>
              </a:spcBef>
              <a:buNone/>
              <a:tabLst>
                <a:tab algn="l" pos="0"/>
              </a:tabLst>
            </a:pPr>
            <a:endParaRPr b="0" lang="fr-FR" sz="3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i="1" lang="en-US" sz="1900" spc="-1" strike="noStrike">
                <a:solidFill>
                  <a:srgbClr val="595959"/>
                </a:solidFill>
                <a:latin typeface="Arial"/>
                <a:ea typeface="Arial"/>
              </a:rPr>
              <a:t>Use the command line option </a:t>
            </a:r>
            <a:r>
              <a:rPr b="0" i="1" lang="en-US" sz="1900" spc="-1" strike="noStrike">
                <a:solidFill>
                  <a:srgbClr val="595959"/>
                </a:solidFill>
                <a:latin typeface="Courier New"/>
                <a:ea typeface="Courier New"/>
              </a:rPr>
              <a:t>--previous </a:t>
            </a:r>
            <a:r>
              <a:rPr b="0" i="1" lang="en-US" sz="1900" spc="-1" strike="noStrike">
                <a:solidFill>
                  <a:srgbClr val="595959"/>
                </a:solidFill>
                <a:latin typeface="Arial"/>
                <a:ea typeface="Arial"/>
              </a:rPr>
              <a:t>to gets the logs  from the previous instantiation of a container after a restart</a:t>
            </a:r>
            <a:endParaRPr b="0" lang="fr-FR" sz="1900" spc="-1" strike="noStrike">
              <a:latin typeface="Arial"/>
            </a:endParaRPr>
          </a:p>
        </p:txBody>
      </p:sp>
      <p:pic>
        <p:nvPicPr>
          <p:cNvPr id="1061" name="" descr=""/>
          <p:cNvPicPr/>
          <p:nvPr/>
        </p:nvPicPr>
        <p:blipFill>
          <a:blip r:embed="rId1"/>
          <a:stretch/>
        </p:blipFill>
        <p:spPr>
          <a:xfrm>
            <a:off x="441000" y="1656000"/>
            <a:ext cx="7165440" cy="15066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9FA7173-4DBC-4446-A548-A4140EB59A36}" type="slidenum">
              <a:t>132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object 56"/>
          <p:cNvSpPr/>
          <p:nvPr/>
        </p:nvSpPr>
        <p:spPr>
          <a:xfrm>
            <a:off x="3557880" y="2061720"/>
            <a:ext cx="3136320" cy="9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0200" indent="-32832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Troubleshooting Pod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1063" name="object 57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10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1E845A9-9282-4790-A249-4FFA2FDBB6C4}" type="slidenum">
              <a:t>133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837;p185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5" name="Google Shape;1838;p185"/>
          <p:cNvSpPr/>
          <p:nvPr/>
        </p:nvSpPr>
        <p:spPr>
          <a:xfrm>
            <a:off x="545040" y="1629360"/>
            <a:ext cx="718488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Role-Based Access Control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66" name="Google Shape;1839;p185"/>
          <p:cNvSpPr/>
          <p:nvPr/>
        </p:nvSpPr>
        <p:spPr>
          <a:xfrm>
            <a:off x="545040" y="2375640"/>
            <a:ext cx="6731640" cy="7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Defining Roles and RoleBindings for Users and  Service Accounts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545125-0C2F-4068-96EF-E0D98FB9779D}" type="slidenum">
              <a:t>134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844;p186"/>
          <p:cNvSpPr/>
          <p:nvPr/>
        </p:nvSpPr>
        <p:spPr>
          <a:xfrm>
            <a:off x="385920" y="1149840"/>
            <a:ext cx="8083800" cy="31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Restricting access control for clients interacting with API server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Defines policies for users, groups, and processes by allowing or  disallowing access to manage API resources.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Enabling and configuring RBAC is mandatory for any organization  with a strong emphasis on security.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Example: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“The human user john is only allowed to list and create  Pods, and Deployments but nothing else.”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06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0384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What is RBAC?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8DBA519-B6EB-4136-A679-600C6437F610}" type="slidenum">
              <a:t>135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850;p187"/>
          <p:cNvSpPr/>
          <p:nvPr/>
        </p:nvSpPr>
        <p:spPr>
          <a:xfrm>
            <a:off x="385920" y="391320"/>
            <a:ext cx="6962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RBAC High-Level Overview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70" name="Google Shape;1851;p187"/>
          <p:cNvSpPr/>
          <p:nvPr/>
        </p:nvSpPr>
        <p:spPr>
          <a:xfrm>
            <a:off x="441720" y="1289880"/>
            <a:ext cx="63010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Three key elements for understanding concept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071" name="Google Shape;1852;p187"/>
          <p:cNvSpPr/>
          <p:nvPr/>
        </p:nvSpPr>
        <p:spPr>
          <a:xfrm>
            <a:off x="968400" y="2330640"/>
            <a:ext cx="6558840" cy="20768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F3117CD-A764-45E3-A5F4-7DBBD0B8AFD3}" type="slidenum">
              <a:t>136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857;p188"/>
          <p:cNvSpPr/>
          <p:nvPr/>
        </p:nvSpPr>
        <p:spPr>
          <a:xfrm>
            <a:off x="385920" y="391320"/>
            <a:ext cx="65084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Involved RBAC Primitives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073" name="Google Shape;1858;p188"/>
          <p:cNvSpPr/>
          <p:nvPr/>
        </p:nvSpPr>
        <p:spPr>
          <a:xfrm>
            <a:off x="441720" y="1289880"/>
            <a:ext cx="71697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Restrict access to API resources based on user roles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074" name="Google Shape;1859;p188"/>
          <p:cNvSpPr/>
          <p:nvPr/>
        </p:nvSpPr>
        <p:spPr>
          <a:xfrm>
            <a:off x="1055520" y="2288160"/>
            <a:ext cx="6384600" cy="21294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BE7851F-07D3-4ECF-9FA6-6ACAE3DF7A27}" type="slidenum">
              <a:t>137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864;p189"/>
          <p:cNvSpPr/>
          <p:nvPr/>
        </p:nvSpPr>
        <p:spPr>
          <a:xfrm>
            <a:off x="441720" y="1289880"/>
            <a:ext cx="72190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Defines verbs and resources in comma-separated list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07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0622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Creating a Role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1077" name="Google Shape;1866;p189"/>
          <p:cNvGrpSpPr/>
          <p:nvPr/>
        </p:nvGrpSpPr>
        <p:grpSpPr>
          <a:xfrm>
            <a:off x="446040" y="2137680"/>
            <a:ext cx="6262920" cy="1065960"/>
            <a:chOff x="446040" y="2137680"/>
            <a:chExt cx="6262920" cy="1065960"/>
          </a:xfrm>
        </p:grpSpPr>
        <p:sp>
          <p:nvSpPr>
            <p:cNvPr id="1078" name="Google Shape;1867;p189"/>
            <p:cNvSpPr/>
            <p:nvPr/>
          </p:nvSpPr>
          <p:spPr>
            <a:xfrm>
              <a:off x="446040" y="2137680"/>
              <a:ext cx="6262920" cy="10659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9" name="Google Shape;1868;p189"/>
            <p:cNvSpPr/>
            <p:nvPr/>
          </p:nvSpPr>
          <p:spPr>
            <a:xfrm>
              <a:off x="499680" y="2185920"/>
              <a:ext cx="6148800" cy="951840"/>
            </a:xfrm>
            <a:custGeom>
              <a:avLst/>
              <a:gdLst/>
              <a:ahLst/>
              <a:rect l="l" t="t" r="r" b="b"/>
              <a:pathLst>
                <a:path w="6151880" h="955039">
                  <a:moveTo>
                    <a:pt x="6151787" y="954898"/>
                  </a:moveTo>
                  <a:lnTo>
                    <a:pt x="0" y="954898"/>
                  </a:lnTo>
                  <a:lnTo>
                    <a:pt x="0" y="0"/>
                  </a:lnTo>
                  <a:lnTo>
                    <a:pt x="6151787" y="0"/>
                  </a:lnTo>
                  <a:lnTo>
                    <a:pt x="6151787" y="954898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80" name="Google Shape;1869;p189"/>
          <p:cNvSpPr/>
          <p:nvPr/>
        </p:nvSpPr>
        <p:spPr>
          <a:xfrm>
            <a:off x="663120" y="2399040"/>
            <a:ext cx="6262920" cy="7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role read-only --verb=list,get,watch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↵</a:t>
            </a:r>
            <a:endParaRPr b="0" lang="fr-FR" sz="1500" spc="-1" strike="noStrike">
              <a:latin typeface="Arial"/>
            </a:endParaRPr>
          </a:p>
          <a:p>
            <a:pPr marL="22536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--resource=pods,deployments,services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role.rbac.authorization.k8s.io/read-only created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1081" name="Google Shape;1870;p189"/>
          <p:cNvGrpSpPr/>
          <p:nvPr/>
        </p:nvGrpSpPr>
        <p:grpSpPr>
          <a:xfrm>
            <a:off x="1437120" y="2733120"/>
            <a:ext cx="4794480" cy="953280"/>
            <a:chOff x="1437120" y="2733120"/>
            <a:chExt cx="4794480" cy="953280"/>
          </a:xfrm>
        </p:grpSpPr>
        <p:sp>
          <p:nvSpPr>
            <p:cNvPr id="1082" name="Google Shape;1871;p189"/>
            <p:cNvSpPr/>
            <p:nvPr/>
          </p:nvSpPr>
          <p:spPr>
            <a:xfrm>
              <a:off x="6193800" y="2829240"/>
              <a:ext cx="360" cy="804960"/>
            </a:xfrm>
            <a:custGeom>
              <a:avLst/>
              <a:gdLst/>
              <a:ahLst/>
              <a:rect l="l" t="t" r="r" b="b"/>
              <a:pathLst>
                <a:path w="635" h="808354">
                  <a:moveTo>
                    <a:pt x="524" y="808198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3" name="Google Shape;1872;p189"/>
            <p:cNvSpPr/>
            <p:nvPr/>
          </p:nvSpPr>
          <p:spPr>
            <a:xfrm>
              <a:off x="6152760" y="2733120"/>
              <a:ext cx="78840" cy="1022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4" name="Google Shape;1873;p189"/>
            <p:cNvSpPr/>
            <p:nvPr/>
          </p:nvSpPr>
          <p:spPr>
            <a:xfrm>
              <a:off x="1478160" y="2950560"/>
              <a:ext cx="360" cy="735840"/>
            </a:xfrm>
            <a:custGeom>
              <a:avLst/>
              <a:gdLst/>
              <a:ahLst/>
              <a:rect l="l" t="t" r="r" b="b"/>
              <a:pathLst>
                <a:path w="2540" h="739139">
                  <a:moveTo>
                    <a:pt x="2079" y="738598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5" name="Google Shape;1874;p189"/>
            <p:cNvSpPr/>
            <p:nvPr/>
          </p:nvSpPr>
          <p:spPr>
            <a:xfrm>
              <a:off x="1437120" y="2854800"/>
              <a:ext cx="78840" cy="1022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86" name="Google Shape;1875;p189"/>
          <p:cNvSpPr/>
          <p:nvPr/>
        </p:nvSpPr>
        <p:spPr>
          <a:xfrm>
            <a:off x="5011200" y="3703320"/>
            <a:ext cx="25459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516240" indent="-503640">
              <a:lnSpc>
                <a:spcPct val="117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Operations: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Only allow listing,  getting, watching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087" name="Google Shape;1876;p189"/>
          <p:cNvSpPr/>
          <p:nvPr/>
        </p:nvSpPr>
        <p:spPr>
          <a:xfrm>
            <a:off x="430200" y="3755160"/>
            <a:ext cx="22669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600" indent="29880">
              <a:lnSpc>
                <a:spcPct val="117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Resources: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Primitives the  operations should apply to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DB80A16-758A-4AE5-A4A5-2B28DF6B9BBB}" type="slidenum">
              <a:t>138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881;p190"/>
          <p:cNvSpPr/>
          <p:nvPr/>
        </p:nvSpPr>
        <p:spPr>
          <a:xfrm>
            <a:off x="441720" y="1289880"/>
            <a:ext cx="4812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Can define a list of rules in an array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08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4702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Role YAML Manifest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1090" name="Google Shape;1883;p190"/>
          <p:cNvGrpSpPr/>
          <p:nvPr/>
        </p:nvGrpSpPr>
        <p:grpSpPr>
          <a:xfrm>
            <a:off x="446040" y="2137680"/>
            <a:ext cx="4503240" cy="2655720"/>
            <a:chOff x="446040" y="2137680"/>
            <a:chExt cx="4503240" cy="2655720"/>
          </a:xfrm>
        </p:grpSpPr>
        <p:sp>
          <p:nvSpPr>
            <p:cNvPr id="1091" name="Google Shape;1884;p190"/>
            <p:cNvSpPr/>
            <p:nvPr/>
          </p:nvSpPr>
          <p:spPr>
            <a:xfrm>
              <a:off x="446040" y="2137680"/>
              <a:ext cx="4503240" cy="265572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2" name="Google Shape;1885;p190"/>
            <p:cNvSpPr/>
            <p:nvPr/>
          </p:nvSpPr>
          <p:spPr>
            <a:xfrm>
              <a:off x="499680" y="2185920"/>
              <a:ext cx="4389120" cy="2541960"/>
            </a:xfrm>
            <a:custGeom>
              <a:avLst/>
              <a:gdLst/>
              <a:ahLst/>
              <a:rect l="l" t="t" r="r" b="b"/>
              <a:pathLst>
                <a:path w="4392295" h="2545079">
                  <a:moveTo>
                    <a:pt x="4392291" y="2544594"/>
                  </a:moveTo>
                  <a:lnTo>
                    <a:pt x="0" y="2544594"/>
                  </a:lnTo>
                  <a:lnTo>
                    <a:pt x="0" y="0"/>
                  </a:lnTo>
                  <a:lnTo>
                    <a:pt x="4392291" y="0"/>
                  </a:lnTo>
                  <a:lnTo>
                    <a:pt x="4392291" y="25445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93" name="Google Shape;1886;p190"/>
          <p:cNvSpPr/>
          <p:nvPr/>
        </p:nvSpPr>
        <p:spPr>
          <a:xfrm>
            <a:off x="499680" y="2185920"/>
            <a:ext cx="4717440" cy="23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0480" bIns="0" anchor="t">
            <a:spAutoFit/>
          </a:bodyPr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rbac.authorization.k8s.io/v1</a:t>
            </a:r>
            <a:endParaRPr b="0" lang="fr-FR" sz="1300" spc="-1" strike="noStrike">
              <a:latin typeface="Arial"/>
            </a:endParaRPr>
          </a:p>
          <a:p>
            <a:pPr marL="208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Role</a:t>
            </a:r>
            <a:endParaRPr b="0" lang="fr-FR" sz="1300" spc="-1" strike="noStrike">
              <a:latin typeface="Arial"/>
            </a:endParaRPr>
          </a:p>
          <a:p>
            <a:pPr marL="208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402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pod-reader</a:t>
            </a:r>
            <a:endParaRPr b="0" lang="fr-FR" sz="1300" spc="-1" strike="noStrike">
              <a:latin typeface="Arial"/>
            </a:endParaRPr>
          </a:p>
          <a:p>
            <a:pPr marL="208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rules:</a:t>
            </a:r>
            <a:endParaRPr b="0" lang="fr-FR" sz="1300" spc="-1" strike="noStrike">
              <a:latin typeface="Arial"/>
            </a:endParaRPr>
          </a:p>
          <a:p>
            <a:pPr marL="402480" indent="-195120">
              <a:lnSpc>
                <a:spcPct val="100000"/>
              </a:lnSpc>
              <a:spcBef>
                <a:spcPts val="14"/>
              </a:spcBef>
              <a:buClr>
                <a:srgbClr val="000000"/>
              </a:buClr>
              <a:buFont typeface="Courier New"/>
              <a:buChar char="-"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apiGroups: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[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]</a:t>
            </a:r>
            <a:endParaRPr b="0" lang="fr-FR" sz="1300" spc="-1" strike="noStrike">
              <a:latin typeface="Arial"/>
            </a:endParaRPr>
          </a:p>
          <a:p>
            <a:pPr marL="40248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resources: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[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"pods"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, 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"services"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]  </a:t>
            </a:r>
            <a:endParaRPr b="0" lang="fr-FR" sz="1300" spc="-1" strike="noStrike">
              <a:latin typeface="Arial"/>
            </a:endParaRPr>
          </a:p>
          <a:p>
            <a:pPr marL="40248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verbs: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[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"list"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, 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"get"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, 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"watch"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]</a:t>
            </a:r>
            <a:endParaRPr b="0" lang="fr-FR" sz="1300" spc="-1" strike="noStrike">
              <a:latin typeface="Arial"/>
            </a:endParaRPr>
          </a:p>
          <a:p>
            <a:pPr marL="402480" indent="-195120">
              <a:lnSpc>
                <a:spcPct val="100000"/>
              </a:lnSpc>
              <a:spcBef>
                <a:spcPts val="14"/>
              </a:spcBef>
              <a:buClr>
                <a:srgbClr val="000000"/>
              </a:buClr>
              <a:buFont typeface="Courier New"/>
              <a:buChar char="-"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apiGroups: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[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"apps"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]</a:t>
            </a:r>
            <a:endParaRPr b="0" lang="fr-FR" sz="1300" spc="-1" strike="noStrike">
              <a:latin typeface="Arial"/>
            </a:endParaRPr>
          </a:p>
          <a:p>
            <a:pPr marL="402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resources: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[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"deployments"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]</a:t>
            </a:r>
            <a:endParaRPr b="0" lang="fr-FR" sz="1300" spc="-1" strike="noStrike">
              <a:latin typeface="Arial"/>
            </a:endParaRPr>
          </a:p>
          <a:p>
            <a:pPr marL="402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verbs: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[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"list"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, 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"get"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, </a:t>
            </a:r>
            <a:r>
              <a:rPr b="1" lang="en-US" sz="1300" spc="-1" strike="noStrike">
                <a:solidFill>
                  <a:srgbClr val="d15d34"/>
                </a:solidFill>
                <a:latin typeface="Courier New"/>
                <a:ea typeface="Courier New"/>
              </a:rPr>
              <a:t>"watch"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]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1094" name="Google Shape;1887;p190"/>
          <p:cNvGrpSpPr/>
          <p:nvPr/>
        </p:nvGrpSpPr>
        <p:grpSpPr>
          <a:xfrm>
            <a:off x="2960640" y="4018680"/>
            <a:ext cx="2457720" cy="78840"/>
            <a:chOff x="2960640" y="4018680"/>
            <a:chExt cx="2457720" cy="78840"/>
          </a:xfrm>
        </p:grpSpPr>
        <p:sp>
          <p:nvSpPr>
            <p:cNvPr id="1095" name="Google Shape;1888;p190"/>
            <p:cNvSpPr/>
            <p:nvPr/>
          </p:nvSpPr>
          <p:spPr>
            <a:xfrm>
              <a:off x="3056400" y="4059720"/>
              <a:ext cx="2361960" cy="360"/>
            </a:xfrm>
            <a:custGeom>
              <a:avLst/>
              <a:gdLst/>
              <a:ahLst/>
              <a:rect l="l" t="t" r="r" b="b"/>
              <a:pathLst>
                <a:path w="2365375" h="120000">
                  <a:moveTo>
                    <a:pt x="2365195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6" name="Google Shape;1889;p190"/>
            <p:cNvSpPr/>
            <p:nvPr/>
          </p:nvSpPr>
          <p:spPr>
            <a:xfrm>
              <a:off x="2960640" y="401868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97" name="Google Shape;1890;p190"/>
          <p:cNvSpPr/>
          <p:nvPr/>
        </p:nvSpPr>
        <p:spPr>
          <a:xfrm>
            <a:off x="5533200" y="3843000"/>
            <a:ext cx="23839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249480" indent="-23760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Resources with groups need  to spelled out explicitly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1CAD12E-8D6A-4BD8-82C3-C611F18C2210}" type="slidenum">
              <a:t>139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916;p192"/>
          <p:cNvSpPr/>
          <p:nvPr/>
        </p:nvSpPr>
        <p:spPr>
          <a:xfrm>
            <a:off x="441720" y="1289880"/>
            <a:ext cx="27144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Map subject to Role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09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9479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Creating a RoleBinding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1100" name="Google Shape;1918;p192"/>
          <p:cNvGrpSpPr/>
          <p:nvPr/>
        </p:nvGrpSpPr>
        <p:grpSpPr>
          <a:xfrm>
            <a:off x="446040" y="2137680"/>
            <a:ext cx="7349040" cy="1065960"/>
            <a:chOff x="446040" y="2137680"/>
            <a:chExt cx="7349040" cy="1065960"/>
          </a:xfrm>
        </p:grpSpPr>
        <p:sp>
          <p:nvSpPr>
            <p:cNvPr id="1101" name="Google Shape;1919;p192"/>
            <p:cNvSpPr/>
            <p:nvPr/>
          </p:nvSpPr>
          <p:spPr>
            <a:xfrm>
              <a:off x="446040" y="2137680"/>
              <a:ext cx="7349040" cy="10659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2" name="Google Shape;1920;p192"/>
            <p:cNvSpPr/>
            <p:nvPr/>
          </p:nvSpPr>
          <p:spPr>
            <a:xfrm>
              <a:off x="499680" y="2185920"/>
              <a:ext cx="7235280" cy="951840"/>
            </a:xfrm>
            <a:custGeom>
              <a:avLst/>
              <a:gdLst/>
              <a:ahLst/>
              <a:rect l="l" t="t" r="r" b="b"/>
              <a:pathLst>
                <a:path w="7238365" h="955039">
                  <a:moveTo>
                    <a:pt x="7238085" y="954898"/>
                  </a:moveTo>
                  <a:lnTo>
                    <a:pt x="0" y="954898"/>
                  </a:lnTo>
                  <a:lnTo>
                    <a:pt x="0" y="0"/>
                  </a:lnTo>
                  <a:lnTo>
                    <a:pt x="7238085" y="0"/>
                  </a:lnTo>
                  <a:lnTo>
                    <a:pt x="7238085" y="954898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03" name="Google Shape;1921;p192"/>
          <p:cNvSpPr/>
          <p:nvPr/>
        </p:nvSpPr>
        <p:spPr>
          <a:xfrm>
            <a:off x="663120" y="2323080"/>
            <a:ext cx="7043040" cy="7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rolebinding read-only-binding --role=read-only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↵</a:t>
            </a:r>
            <a:endParaRPr b="0" lang="fr-FR" sz="1500" spc="-1" strike="noStrike">
              <a:latin typeface="Arial"/>
            </a:endParaRPr>
          </a:p>
          <a:p>
            <a:pPr marL="22536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--user=johndoe</a:t>
            </a:r>
            <a:endParaRPr b="0" lang="fr-FR" sz="14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rolebinding.rbac.authorization.k8s.io/read-only-binding created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1104" name="Google Shape;1922;p192"/>
          <p:cNvGrpSpPr/>
          <p:nvPr/>
        </p:nvGrpSpPr>
        <p:grpSpPr>
          <a:xfrm>
            <a:off x="1288800" y="2693160"/>
            <a:ext cx="4934880" cy="993240"/>
            <a:chOff x="1288800" y="2693160"/>
            <a:chExt cx="4934880" cy="993240"/>
          </a:xfrm>
        </p:grpSpPr>
        <p:sp>
          <p:nvSpPr>
            <p:cNvPr id="1105" name="Google Shape;1923;p192"/>
            <p:cNvSpPr/>
            <p:nvPr/>
          </p:nvSpPr>
          <p:spPr>
            <a:xfrm>
              <a:off x="6185880" y="2789280"/>
              <a:ext cx="5040" cy="845280"/>
            </a:xfrm>
            <a:custGeom>
              <a:avLst/>
              <a:gdLst/>
              <a:ahLst/>
              <a:rect l="l" t="t" r="r" b="b"/>
              <a:pathLst>
                <a:path w="8254" h="848360">
                  <a:moveTo>
                    <a:pt x="8199" y="848098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6" name="Google Shape;1924;p192"/>
            <p:cNvSpPr/>
            <p:nvPr/>
          </p:nvSpPr>
          <p:spPr>
            <a:xfrm>
              <a:off x="6144840" y="2693160"/>
              <a:ext cx="78840" cy="10260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7" name="Google Shape;1925;p192"/>
            <p:cNvSpPr/>
            <p:nvPr/>
          </p:nvSpPr>
          <p:spPr>
            <a:xfrm>
              <a:off x="1329840" y="2950560"/>
              <a:ext cx="360" cy="735840"/>
            </a:xfrm>
            <a:custGeom>
              <a:avLst/>
              <a:gdLst/>
              <a:ahLst/>
              <a:rect l="l" t="t" r="r" b="b"/>
              <a:pathLst>
                <a:path w="2540" h="739139">
                  <a:moveTo>
                    <a:pt x="2079" y="738598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8" name="Google Shape;1926;p192"/>
            <p:cNvSpPr/>
            <p:nvPr/>
          </p:nvSpPr>
          <p:spPr>
            <a:xfrm>
              <a:off x="1288800" y="2854800"/>
              <a:ext cx="78840" cy="1022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09" name="Google Shape;1927;p192"/>
          <p:cNvSpPr/>
          <p:nvPr/>
        </p:nvSpPr>
        <p:spPr>
          <a:xfrm>
            <a:off x="5045400" y="3703320"/>
            <a:ext cx="23317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763200" indent="-751320">
              <a:lnSpc>
                <a:spcPct val="117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Role: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Reference the name of  the object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110" name="Google Shape;1928;p192"/>
          <p:cNvSpPr/>
          <p:nvPr/>
        </p:nvSpPr>
        <p:spPr>
          <a:xfrm>
            <a:off x="380880" y="3755160"/>
            <a:ext cx="19562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619920" indent="-607680">
              <a:lnSpc>
                <a:spcPct val="117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Subject: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Binds a user to  the Role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D6A0F15-B7E9-4AB3-9913-71A8BEE86CCA}" type="slidenum">
              <a:t>140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933;p193"/>
          <p:cNvSpPr/>
          <p:nvPr/>
        </p:nvSpPr>
        <p:spPr>
          <a:xfrm>
            <a:off x="441720" y="1289880"/>
            <a:ext cx="69987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Roles can be mapped to multiple subjects if needed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11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1888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RoleBinding YAML Manifest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1113" name="Google Shape;1935;p193"/>
          <p:cNvGrpSpPr/>
          <p:nvPr/>
        </p:nvGrpSpPr>
        <p:grpSpPr>
          <a:xfrm>
            <a:off x="446040" y="2209680"/>
            <a:ext cx="4189320" cy="2655720"/>
            <a:chOff x="446040" y="2209680"/>
            <a:chExt cx="4189320" cy="2655720"/>
          </a:xfrm>
        </p:grpSpPr>
        <p:sp>
          <p:nvSpPr>
            <p:cNvPr id="1114" name="Google Shape;1936;p193"/>
            <p:cNvSpPr/>
            <p:nvPr/>
          </p:nvSpPr>
          <p:spPr>
            <a:xfrm>
              <a:off x="446040" y="2209680"/>
              <a:ext cx="4189320" cy="265572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5" name="Google Shape;1937;p193"/>
            <p:cNvSpPr/>
            <p:nvPr/>
          </p:nvSpPr>
          <p:spPr>
            <a:xfrm>
              <a:off x="499680" y="2257920"/>
              <a:ext cx="4075200" cy="2541960"/>
            </a:xfrm>
            <a:custGeom>
              <a:avLst/>
              <a:gdLst/>
              <a:ahLst/>
              <a:rect l="l" t="t" r="r" b="b"/>
              <a:pathLst>
                <a:path w="4078604" h="2545079">
                  <a:moveTo>
                    <a:pt x="4078191" y="2544594"/>
                  </a:moveTo>
                  <a:lnTo>
                    <a:pt x="0" y="2544594"/>
                  </a:lnTo>
                  <a:lnTo>
                    <a:pt x="0" y="0"/>
                  </a:lnTo>
                  <a:lnTo>
                    <a:pt x="4078191" y="0"/>
                  </a:lnTo>
                  <a:lnTo>
                    <a:pt x="4078191" y="25445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16" name="Google Shape;1938;p193"/>
          <p:cNvSpPr/>
          <p:nvPr/>
        </p:nvSpPr>
        <p:spPr>
          <a:xfrm>
            <a:off x="695520" y="2172240"/>
            <a:ext cx="3680640" cy="259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rbac.authorization.k8s.io/v1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RoleBinding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read-only-binding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roleRef: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apiGroup: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rbac.authorization.k8s.io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Role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read-only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subjects: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apiGroup: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rbac.authorization.k8s.io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User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johndoe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1117" name="Google Shape;1939;p193"/>
          <p:cNvGrpSpPr/>
          <p:nvPr/>
        </p:nvGrpSpPr>
        <p:grpSpPr>
          <a:xfrm>
            <a:off x="4379040" y="3489120"/>
            <a:ext cx="1048680" cy="922320"/>
            <a:chOff x="4379040" y="3489120"/>
            <a:chExt cx="1048680" cy="922320"/>
          </a:xfrm>
        </p:grpSpPr>
        <p:sp>
          <p:nvSpPr>
            <p:cNvPr id="1118" name="Google Shape;1940;p193"/>
            <p:cNvSpPr/>
            <p:nvPr/>
          </p:nvSpPr>
          <p:spPr>
            <a:xfrm>
              <a:off x="4474800" y="3530160"/>
              <a:ext cx="952920" cy="360"/>
            </a:xfrm>
            <a:custGeom>
              <a:avLst/>
              <a:gdLst/>
              <a:ahLst/>
              <a:rect l="l" t="t" r="r" b="b"/>
              <a:pathLst>
                <a:path w="956310" h="120000">
                  <a:moveTo>
                    <a:pt x="9557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9" name="Google Shape;1941;p193"/>
            <p:cNvSpPr/>
            <p:nvPr/>
          </p:nvSpPr>
          <p:spPr>
            <a:xfrm>
              <a:off x="4379040" y="348912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0" name="Google Shape;1942;p193"/>
            <p:cNvSpPr/>
            <p:nvPr/>
          </p:nvSpPr>
          <p:spPr>
            <a:xfrm>
              <a:off x="4474800" y="4373640"/>
              <a:ext cx="952920" cy="360"/>
            </a:xfrm>
            <a:custGeom>
              <a:avLst/>
              <a:gdLst/>
              <a:ahLst/>
              <a:rect l="l" t="t" r="r" b="b"/>
              <a:pathLst>
                <a:path w="956310" h="120000">
                  <a:moveTo>
                    <a:pt x="955798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1" name="Google Shape;1943;p193"/>
            <p:cNvSpPr/>
            <p:nvPr/>
          </p:nvSpPr>
          <p:spPr>
            <a:xfrm>
              <a:off x="4379040" y="433260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22" name="Google Shape;1944;p193"/>
          <p:cNvSpPr/>
          <p:nvPr/>
        </p:nvSpPr>
        <p:spPr>
          <a:xfrm>
            <a:off x="5572800" y="3394080"/>
            <a:ext cx="145404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Reference to Role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123" name="Google Shape;1945;p193"/>
          <p:cNvSpPr/>
          <p:nvPr/>
        </p:nvSpPr>
        <p:spPr>
          <a:xfrm>
            <a:off x="5576760" y="4237920"/>
            <a:ext cx="1463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Reference to User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BB21498-25C5-4B97-BB27-39BA0C8C8A0A}" type="slidenum">
              <a:t>141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963;p195"/>
          <p:cNvSpPr/>
          <p:nvPr/>
        </p:nvSpPr>
        <p:spPr>
          <a:xfrm>
            <a:off x="385920" y="1149840"/>
            <a:ext cx="763020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Apply Roles and RoleBindings across multiple namespaces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The configuration elements are effectively the same. The only  difference is the value of the </a:t>
            </a: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kind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attribute.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To define a cluster-wide Role, use the imperative subcommand</a:t>
            </a:r>
            <a:endParaRPr b="0" lang="fr-FR" sz="2000" spc="-1" strike="noStrike">
              <a:latin typeface="Arial"/>
            </a:endParaRPr>
          </a:p>
          <a:p>
            <a:pPr marL="33336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clusterrole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or the kind </a:t>
            </a:r>
            <a:r>
              <a:rPr b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ClusterRole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in the YAML manifest.</a:t>
            </a:r>
            <a:endParaRPr b="0" lang="fr-FR" sz="2000" spc="-1" strike="noStrike">
              <a:latin typeface="Arial"/>
            </a:endParaRPr>
          </a:p>
          <a:p>
            <a:pPr marL="333360"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To define a cluster-wide RoleBinding, use the imperative  subcommand </a:t>
            </a: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clusterrolebinding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or the kind  </a:t>
            </a:r>
            <a:r>
              <a:rPr b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ClusterRoleBinding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in the YAML manifest.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125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1721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Cluster-wide RBAC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247FD00-FF4F-428E-8945-57FE200A8AB4}" type="slidenum">
              <a:t>142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984;p197"/>
          <p:cNvSpPr/>
          <p:nvPr/>
        </p:nvSpPr>
        <p:spPr>
          <a:xfrm>
            <a:off x="385920" y="1149840"/>
            <a:ext cx="822708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Process in a container needs to interact with Kubernetes API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Pods use a Service Account to authenticate with the API server  through an authentication token.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If not assigned explicitly, a Pod uses the </a:t>
            </a: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default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Service Account.  The </a:t>
            </a: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default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Service Account has the same permissions as an  unauthenticated user.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Example: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“I have a CI/CD process that should interact with the  Kubernetes API using an authentication token.”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12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3558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What is a Service Account?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1E38326-67BB-47B0-AFFE-2235ACEA2246}" type="slidenum">
              <a:t>143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990;p198"/>
          <p:cNvSpPr/>
          <p:nvPr/>
        </p:nvSpPr>
        <p:spPr>
          <a:xfrm>
            <a:off x="385920" y="391320"/>
            <a:ext cx="736776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Service Account as Subject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129" name="Google Shape;1991;p198"/>
          <p:cNvSpPr/>
          <p:nvPr/>
        </p:nvSpPr>
        <p:spPr>
          <a:xfrm>
            <a:off x="441720" y="1289880"/>
            <a:ext cx="50335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Usage needs to be configured in Pod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130" name="Google Shape;1992;p198"/>
          <p:cNvSpPr/>
          <p:nvPr/>
        </p:nvSpPr>
        <p:spPr>
          <a:xfrm>
            <a:off x="479520" y="2743560"/>
            <a:ext cx="8025480" cy="8686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625842-4D17-4147-BB70-A847C937103C}" type="slidenum">
              <a:t>144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997;p199"/>
          <p:cNvSpPr/>
          <p:nvPr/>
        </p:nvSpPr>
        <p:spPr>
          <a:xfrm>
            <a:off x="441720" y="1289880"/>
            <a:ext cx="7365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Enables authentication token auto-mounting by default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13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81079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ServiceAccount YAML Manifest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133" name="Google Shape;2000;p199"/>
          <p:cNvSpPr/>
          <p:nvPr/>
        </p:nvSpPr>
        <p:spPr>
          <a:xfrm>
            <a:off x="499680" y="2185920"/>
            <a:ext cx="2423880" cy="11473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0480" bIns="0" anchor="t">
            <a:spAutoFit/>
          </a:bodyPr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</a:t>
            </a:r>
            <a:endParaRPr b="0" lang="fr-FR" sz="1300" spc="-1" strike="noStrike">
              <a:latin typeface="Arial"/>
            </a:endParaRPr>
          </a:p>
          <a:p>
            <a:pPr marL="208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ServiceAccount</a:t>
            </a:r>
            <a:endParaRPr b="0" lang="fr-FR" sz="1300" spc="-1" strike="noStrike">
              <a:latin typeface="Arial"/>
            </a:endParaRPr>
          </a:p>
          <a:p>
            <a:pPr marL="406440" indent="-1980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 </a:t>
            </a:r>
            <a:endParaRPr b="0" lang="fr-FR" sz="1300" spc="-1" strike="noStrike">
              <a:latin typeface="Arial"/>
            </a:endParaRPr>
          </a:p>
          <a:p>
            <a:pPr marL="406440" indent="-1980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sa-api</a:t>
            </a:r>
            <a:endParaRPr b="0" lang="fr-FR" sz="1300" spc="-1" strike="noStrike">
              <a:latin typeface="Arial"/>
            </a:endParaRPr>
          </a:p>
          <a:p>
            <a:pPr marL="406440" indent="-1980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namespace: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k97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134" name="Google Shape;2001;p199"/>
          <p:cNvSpPr/>
          <p:nvPr/>
        </p:nvSpPr>
        <p:spPr>
          <a:xfrm>
            <a:off x="646920" y="4068720"/>
            <a:ext cx="70113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The token file will be available to any Pod that uses the Service Account at</a:t>
            </a:r>
            <a:endParaRPr b="0" lang="fr-FR" sz="1600" spc="-1" strike="noStrike">
              <a:latin typeface="Arial"/>
            </a:endParaRPr>
          </a:p>
          <a:p>
            <a:pPr marL="29412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/var/run/secrets/kubernetes.io/serviceaccount/token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282A597-DC17-4138-AADC-CEA62282CEB9}" type="slidenum">
              <a:t>145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2006;p200"/>
          <p:cNvSpPr/>
          <p:nvPr/>
        </p:nvSpPr>
        <p:spPr>
          <a:xfrm>
            <a:off x="441720" y="1289880"/>
            <a:ext cx="7365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Enables authentication token auto-mounting by default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13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7140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Using Service Account in Pod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1137" name="Google Shape;2008;p200"/>
          <p:cNvGrpSpPr/>
          <p:nvPr/>
        </p:nvGrpSpPr>
        <p:grpSpPr>
          <a:xfrm>
            <a:off x="446040" y="2137680"/>
            <a:ext cx="6370560" cy="2646720"/>
            <a:chOff x="446040" y="2137680"/>
            <a:chExt cx="6370560" cy="2646720"/>
          </a:xfrm>
        </p:grpSpPr>
        <p:sp>
          <p:nvSpPr>
            <p:cNvPr id="1138" name="Google Shape;2009;p200"/>
            <p:cNvSpPr/>
            <p:nvPr/>
          </p:nvSpPr>
          <p:spPr>
            <a:xfrm>
              <a:off x="446040" y="2137680"/>
              <a:ext cx="6370560" cy="264672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9" name="Google Shape;2010;p200"/>
            <p:cNvSpPr/>
            <p:nvPr/>
          </p:nvSpPr>
          <p:spPr>
            <a:xfrm>
              <a:off x="499680" y="2185920"/>
              <a:ext cx="6256440" cy="2532960"/>
            </a:xfrm>
            <a:custGeom>
              <a:avLst/>
              <a:gdLst/>
              <a:ahLst/>
              <a:rect l="l" t="t" r="r" b="b"/>
              <a:pathLst>
                <a:path w="6259830" h="2536190">
                  <a:moveTo>
                    <a:pt x="6259487" y="2535594"/>
                  </a:moveTo>
                  <a:lnTo>
                    <a:pt x="0" y="2535594"/>
                  </a:lnTo>
                  <a:lnTo>
                    <a:pt x="0" y="0"/>
                  </a:lnTo>
                  <a:lnTo>
                    <a:pt x="6259487" y="0"/>
                  </a:lnTo>
                  <a:lnTo>
                    <a:pt x="6259487" y="25355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0" name="Google Shape;2011;p200"/>
          <p:cNvSpPr/>
          <p:nvPr/>
        </p:nvSpPr>
        <p:spPr>
          <a:xfrm>
            <a:off x="3079800" y="3186000"/>
            <a:ext cx="100764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0" lang="en-US" sz="10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141" name="Google Shape;2012;p200"/>
          <p:cNvSpPr/>
          <p:nvPr/>
        </p:nvSpPr>
        <p:spPr>
          <a:xfrm>
            <a:off x="650880" y="2271600"/>
            <a:ext cx="2152080" cy="15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000" spc="-1" strike="noStrike">
              <a:latin typeface="Arial"/>
            </a:endParaRPr>
          </a:p>
          <a:p>
            <a:pPr marL="1612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list-pods</a:t>
            </a:r>
            <a:endParaRPr b="0" lang="fr-FR" sz="1000" spc="-1" strike="noStrike">
              <a:latin typeface="Arial"/>
            </a:endParaRPr>
          </a:p>
          <a:p>
            <a:pPr marL="1612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namespace: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k97</a:t>
            </a:r>
            <a:endParaRPr b="0" lang="fr-FR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000" spc="-1" strike="noStrike">
              <a:latin typeface="Arial"/>
            </a:endParaRPr>
          </a:p>
          <a:p>
            <a:pPr marL="1612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serviceAccountName: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sa-api</a:t>
            </a:r>
            <a:endParaRPr b="0" lang="fr-FR" sz="1000" spc="-1" strike="noStrike">
              <a:latin typeface="Arial"/>
            </a:endParaRPr>
          </a:p>
          <a:p>
            <a:pPr marL="1612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000" spc="-1" strike="noStrike">
              <a:latin typeface="Arial"/>
            </a:endParaRPr>
          </a:p>
          <a:p>
            <a:pPr marL="1645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pods</a:t>
            </a:r>
            <a:endParaRPr b="0" lang="fr-FR" sz="1000" spc="-1" strike="noStrike">
              <a:latin typeface="Arial"/>
            </a:endParaRPr>
          </a:p>
          <a:p>
            <a:pPr marL="3099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alpine/curl:3.14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142" name="Google Shape;2013;p200"/>
          <p:cNvSpPr/>
          <p:nvPr/>
        </p:nvSpPr>
        <p:spPr>
          <a:xfrm>
            <a:off x="947880" y="3794760"/>
            <a:ext cx="5731920" cy="81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0160" bIns="0" anchor="t">
            <a:spAutoFit/>
          </a:bodyPr>
          <a:p>
            <a:pPr marL="781560" indent="-7696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command: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[</a:t>
            </a:r>
            <a:r>
              <a:rPr b="1" lang="en-US" sz="1000" spc="-1" strike="noStrike">
                <a:solidFill>
                  <a:srgbClr val="d15d34"/>
                </a:solidFill>
                <a:latin typeface="Courier New"/>
                <a:ea typeface="Courier New"/>
              </a:rPr>
              <a:t>'sh'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, </a:t>
            </a:r>
            <a:r>
              <a:rPr b="1" lang="en-US" sz="1000" spc="-1" strike="noStrike">
                <a:solidFill>
                  <a:srgbClr val="d15d34"/>
                </a:solidFill>
                <a:latin typeface="Courier New"/>
                <a:ea typeface="Courier New"/>
              </a:rPr>
              <a:t>'-c'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, </a:t>
            </a:r>
            <a:r>
              <a:rPr b="1" lang="en-US" sz="1000" spc="-1" strike="noStrike">
                <a:solidFill>
                  <a:srgbClr val="d15d34"/>
                </a:solidFill>
                <a:latin typeface="Courier New"/>
                <a:ea typeface="Courier New"/>
              </a:rPr>
              <a:t>'while true; do curl -s -k -m 5 -H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↵  </a:t>
            </a:r>
            <a:r>
              <a:rPr b="1" lang="en-US" sz="1000" spc="-1" strike="noStrike">
                <a:solidFill>
                  <a:srgbClr val="d15d34"/>
                </a:solidFill>
                <a:latin typeface="Courier New"/>
                <a:ea typeface="Courier New"/>
              </a:rPr>
              <a:t>"Authorization: Bearer $(cat /var/run/secrets/kubernetes.io/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↵</a:t>
            </a:r>
            <a:endParaRPr b="0" lang="fr-FR" sz="1200" spc="-1" strike="noStrike">
              <a:latin typeface="Arial"/>
            </a:endParaRPr>
          </a:p>
          <a:p>
            <a:pPr marL="781560" indent="-769680">
              <a:lnSpc>
                <a:spcPct val="102000"/>
              </a:lnSpc>
              <a:spcBef>
                <a:spcPts val="164"/>
              </a:spcBef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d15d34"/>
                </a:solidFill>
                <a:latin typeface="Courier New"/>
                <a:ea typeface="Courier New"/>
              </a:rPr>
              <a:t>serviceaccount/token)" https://kubernetes.default.svc.cluster.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↵  </a:t>
            </a:r>
            <a:r>
              <a:rPr b="1" lang="en-US" sz="1000" spc="-1" strike="noStrike">
                <a:solidFill>
                  <a:srgbClr val="d15d34"/>
                </a:solidFill>
                <a:latin typeface="Courier New"/>
                <a:ea typeface="Courier New"/>
              </a:rPr>
              <a:t>local/api/v1/namespaces/k97/pods; sleep 10; done'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]</a:t>
            </a:r>
            <a:endParaRPr b="0" lang="fr-FR" sz="1000" spc="-1" strike="noStrike">
              <a:latin typeface="Arial"/>
            </a:endParaRPr>
          </a:p>
        </p:txBody>
      </p:sp>
      <p:grpSp>
        <p:nvGrpSpPr>
          <p:cNvPr id="1143" name="Google Shape;2014;p200"/>
          <p:cNvGrpSpPr/>
          <p:nvPr/>
        </p:nvGrpSpPr>
        <p:grpSpPr>
          <a:xfrm>
            <a:off x="2996640" y="3264840"/>
            <a:ext cx="4908600" cy="886320"/>
            <a:chOff x="2996640" y="3264840"/>
            <a:chExt cx="4908600" cy="886320"/>
          </a:xfrm>
        </p:grpSpPr>
        <p:sp>
          <p:nvSpPr>
            <p:cNvPr id="1144" name="Google Shape;2015;p200"/>
            <p:cNvSpPr/>
            <p:nvPr/>
          </p:nvSpPr>
          <p:spPr>
            <a:xfrm>
              <a:off x="6593400" y="3590640"/>
              <a:ext cx="1311840" cy="519840"/>
            </a:xfrm>
            <a:custGeom>
              <a:avLst/>
              <a:gdLst/>
              <a:ahLst/>
              <a:rect l="l" t="t" r="r" b="b"/>
              <a:pathLst>
                <a:path w="1315084" h="523239">
                  <a:moveTo>
                    <a:pt x="1314897" y="0"/>
                  </a:moveTo>
                  <a:lnTo>
                    <a:pt x="1314897" y="522898"/>
                  </a:lnTo>
                  <a:lnTo>
                    <a:pt x="0" y="522898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5" name="Google Shape;2016;p200"/>
            <p:cNvSpPr/>
            <p:nvPr/>
          </p:nvSpPr>
          <p:spPr>
            <a:xfrm>
              <a:off x="6497280" y="407232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6" name="Google Shape;2017;p200"/>
            <p:cNvSpPr/>
            <p:nvPr/>
          </p:nvSpPr>
          <p:spPr>
            <a:xfrm>
              <a:off x="2996640" y="326484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7" name="Google Shape;2018;p200"/>
          <p:cNvSpPr/>
          <p:nvPr/>
        </p:nvSpPr>
        <p:spPr>
          <a:xfrm>
            <a:off x="7120440" y="2827440"/>
            <a:ext cx="1516680" cy="76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600" algn="ctr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List all Pods in the  namespace 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k97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via an API call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148" name="Google Shape;2019;p200"/>
          <p:cNvSpPr/>
          <p:nvPr/>
        </p:nvSpPr>
        <p:spPr>
          <a:xfrm>
            <a:off x="3204720" y="3034080"/>
            <a:ext cx="14421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86400" indent="-7416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Assigned name of  Service Account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718F91A-5BD6-4372-9C09-E25D61214097}" type="slidenum">
              <a:t>146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2024;p201"/>
          <p:cNvSpPr/>
          <p:nvPr/>
        </p:nvSpPr>
        <p:spPr>
          <a:xfrm>
            <a:off x="441720" y="1289880"/>
            <a:ext cx="76928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Default RBAC policies don’t span beyond </a:t>
            </a:r>
            <a:r>
              <a:rPr b="0" i="1" lang="en-US" sz="2400" spc="-1" strike="noStrike">
                <a:solidFill>
                  <a:srgbClr val="595959"/>
                </a:solidFill>
                <a:latin typeface="Courier New"/>
                <a:ea typeface="Courier New"/>
              </a:rPr>
              <a:t>kube-system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150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1769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RoleBinding YAML Manifest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1151" name="Google Shape;2026;p201"/>
          <p:cNvGrpSpPr/>
          <p:nvPr/>
        </p:nvGrpSpPr>
        <p:grpSpPr>
          <a:xfrm>
            <a:off x="446040" y="1898640"/>
            <a:ext cx="4189320" cy="3020040"/>
            <a:chOff x="446040" y="1898640"/>
            <a:chExt cx="4189320" cy="3020040"/>
          </a:xfrm>
        </p:grpSpPr>
        <p:sp>
          <p:nvSpPr>
            <p:cNvPr id="1152" name="Google Shape;2027;p201"/>
            <p:cNvSpPr/>
            <p:nvPr/>
          </p:nvSpPr>
          <p:spPr>
            <a:xfrm>
              <a:off x="446040" y="1898640"/>
              <a:ext cx="4189320" cy="30200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3" name="Google Shape;2028;p201"/>
            <p:cNvSpPr/>
            <p:nvPr/>
          </p:nvSpPr>
          <p:spPr>
            <a:xfrm>
              <a:off x="499680" y="1950120"/>
              <a:ext cx="4075200" cy="2898360"/>
            </a:xfrm>
            <a:custGeom>
              <a:avLst/>
              <a:gdLst/>
              <a:ahLst/>
              <a:rect l="l" t="t" r="r" b="b"/>
              <a:pathLst>
                <a:path w="4078604" h="2715260">
                  <a:moveTo>
                    <a:pt x="4078191" y="2715002"/>
                  </a:moveTo>
                  <a:lnTo>
                    <a:pt x="0" y="2715002"/>
                  </a:lnTo>
                  <a:lnTo>
                    <a:pt x="0" y="0"/>
                  </a:lnTo>
                  <a:lnTo>
                    <a:pt x="4078191" y="0"/>
                  </a:lnTo>
                  <a:lnTo>
                    <a:pt x="4078191" y="2715002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54" name="Google Shape;2029;p201"/>
          <p:cNvSpPr/>
          <p:nvPr/>
        </p:nvSpPr>
        <p:spPr>
          <a:xfrm>
            <a:off x="695520" y="1898640"/>
            <a:ext cx="3680640" cy="28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rbac.authorization.k8s.io/v1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RoleBinding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serviceaccount-pod-rolebinding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namespace: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k97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roleRef: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apiGroup: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rbac.authorization.k8s.io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ClusterRole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list-pods-clusterrole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subjects: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apiGroup: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rbac.authorization.k8s.io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ServiceAccount</a:t>
            </a:r>
            <a:endParaRPr b="0" lang="fr-FR" sz="1200" spc="-1" strike="noStrike">
              <a:latin typeface="Arial"/>
            </a:endParaRPr>
          </a:p>
          <a:p>
            <a:pPr marL="19548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sa-api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1155" name="Google Shape;2030;p201"/>
          <p:cNvGrpSpPr/>
          <p:nvPr/>
        </p:nvGrpSpPr>
        <p:grpSpPr>
          <a:xfrm>
            <a:off x="4235400" y="4065120"/>
            <a:ext cx="1407600" cy="560880"/>
            <a:chOff x="4235400" y="4065120"/>
            <a:chExt cx="1407600" cy="560880"/>
          </a:xfrm>
        </p:grpSpPr>
        <p:sp>
          <p:nvSpPr>
            <p:cNvPr id="1156" name="Google Shape;2031;p201"/>
            <p:cNvSpPr/>
            <p:nvPr/>
          </p:nvSpPr>
          <p:spPr>
            <a:xfrm>
              <a:off x="4331160" y="4065120"/>
              <a:ext cx="1311840" cy="519840"/>
            </a:xfrm>
            <a:custGeom>
              <a:avLst/>
              <a:gdLst/>
              <a:ahLst/>
              <a:rect l="l" t="t" r="r" b="b"/>
              <a:pathLst>
                <a:path w="1315085" h="523239">
                  <a:moveTo>
                    <a:pt x="1314897" y="0"/>
                  </a:moveTo>
                  <a:lnTo>
                    <a:pt x="1314897" y="522898"/>
                  </a:lnTo>
                  <a:lnTo>
                    <a:pt x="0" y="522898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7" name="Google Shape;2032;p201"/>
            <p:cNvSpPr/>
            <p:nvPr/>
          </p:nvSpPr>
          <p:spPr>
            <a:xfrm>
              <a:off x="4235400" y="454716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58" name="Google Shape;2033;p201"/>
          <p:cNvSpPr/>
          <p:nvPr/>
        </p:nvSpPr>
        <p:spPr>
          <a:xfrm>
            <a:off x="4893120" y="3446280"/>
            <a:ext cx="17640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2240" algn="ctr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Maps the Service  Account as a  subject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DA4A923-CEA2-4EEF-BAC9-26DDA3ED22AE}" type="slidenum">
              <a:t>147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object 58"/>
          <p:cNvSpPr/>
          <p:nvPr/>
        </p:nvSpPr>
        <p:spPr>
          <a:xfrm>
            <a:off x="3557880" y="2061720"/>
            <a:ext cx="3136320" cy="9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0200" indent="-32832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RBAC Service Account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1160" name="object 59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11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330414-90A3-4CE7-B383-E352C1D1F448}" type="slidenum">
              <a:t>148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2044;p204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2" name="PlaceHolder 1"/>
          <p:cNvSpPr>
            <a:spLocks noGrp="1"/>
          </p:cNvSpPr>
          <p:nvPr>
            <p:ph type="title"/>
          </p:nvPr>
        </p:nvSpPr>
        <p:spPr>
          <a:xfrm>
            <a:off x="545040" y="1077120"/>
            <a:ext cx="8050680" cy="1392480"/>
          </a:xfrm>
          <a:prstGeom prst="rect">
            <a:avLst/>
          </a:prstGeom>
          <a:noFill/>
          <a:ln w="0">
            <a:noFill/>
          </a:ln>
        </p:spPr>
        <p:txBody>
          <a:bodyPr lIns="0" rIns="0" tIns="78840" bIns="0" anchor="t">
            <a:noAutofit/>
          </a:bodyPr>
          <a:p>
            <a:pPr marL="12600"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Resource Requirements and  Boundaries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163" name="Google Shape;2046;p204"/>
          <p:cNvSpPr/>
          <p:nvPr/>
        </p:nvSpPr>
        <p:spPr>
          <a:xfrm>
            <a:off x="545040" y="2591640"/>
            <a:ext cx="7047720" cy="7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Container Resource Requests and Limits, Resource Quotas for Namespaces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AAA351-68E2-44F8-865E-6ED420342293}" type="slidenum">
              <a:t>149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2051;p205"/>
          <p:cNvSpPr/>
          <p:nvPr/>
        </p:nvSpPr>
        <p:spPr>
          <a:xfrm>
            <a:off x="385920" y="1149840"/>
            <a:ext cx="839412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It’s best practice to make statement about resource consumption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Containers can define a minimum amount of resources needed to run  the application, as well as the maximum amount of resources the  application is allowed to consume.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Application developers should determine the right-sizing with load  tests or at runtime by monitoring the resource consumption.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Enforcement of resources can be constrained on a namespace-level  with a ResourceQuota.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165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4586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Handling Resources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40F9CB0-F2E2-4055-8879-708F8EAE740D}" type="slidenum">
              <a:t>150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6543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Resource Units in Kubernetes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167" name="Google Shape;2058;p206"/>
          <p:cNvSpPr/>
          <p:nvPr/>
        </p:nvSpPr>
        <p:spPr>
          <a:xfrm>
            <a:off x="441720" y="1289880"/>
            <a:ext cx="7598520" cy="30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 anchor="t">
            <a:spAutoFit/>
          </a:bodyPr>
          <a:p>
            <a:pPr marL="12600">
              <a:lnSpc>
                <a:spcPct val="118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CPU units and memory as fixed-point number or  power-of-two equivalents</a:t>
            </a:r>
            <a:endParaRPr b="0" lang="fr-FR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  <a:buNone/>
              <a:tabLst>
                <a:tab algn="l" pos="0"/>
              </a:tabLst>
            </a:pPr>
            <a:endParaRPr b="0" lang="fr-FR" sz="3850" spc="-1" strike="noStrike">
              <a:latin typeface="Arial"/>
            </a:endParaRPr>
          </a:p>
          <a:p>
            <a:pPr marL="5821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Arial"/>
              </a:rPr>
              <a:t>Kubernetes measures CPU resources in millicores and memory  resources in bytes. That’s why you might see resources defined as  </a:t>
            </a:r>
            <a:r>
              <a:rPr b="0" lang="en-US" sz="1700" spc="-1" strike="noStrike">
                <a:solidFill>
                  <a:srgbClr val="000000"/>
                </a:solidFill>
                <a:latin typeface="Courier New"/>
                <a:ea typeface="Courier New"/>
              </a:rPr>
              <a:t>600m </a:t>
            </a: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Arial"/>
              </a:rPr>
              <a:t>or </a:t>
            </a:r>
            <a:r>
              <a:rPr b="0" lang="en-US" sz="1700" spc="-1" strike="noStrike">
                <a:solidFill>
                  <a:srgbClr val="000000"/>
                </a:solidFill>
                <a:latin typeface="Courier New"/>
                <a:ea typeface="Courier New"/>
              </a:rPr>
              <a:t>100Mib</a:t>
            </a: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fr-FR" sz="1700" spc="-1" strike="noStrike">
              <a:latin typeface="Arial"/>
            </a:endParaRPr>
          </a:p>
          <a:p>
            <a:pPr marL="58212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endParaRPr b="0" lang="fr-FR" sz="1750" spc="-1" strike="noStrike">
              <a:latin typeface="Arial"/>
            </a:endParaRPr>
          </a:p>
          <a:p>
            <a:pPr marL="5821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Arial"/>
              </a:rPr>
              <a:t>For a deep dive on those resource units, it’s worth cross-referencing the  section </a:t>
            </a:r>
            <a:r>
              <a:rPr b="0" lang="en-US" sz="1700" spc="-1" strike="noStrike" u="sng">
                <a:solidFill>
                  <a:srgbClr val="d3002d"/>
                </a:solidFill>
                <a:uFillTx/>
                <a:latin typeface="Arial"/>
                <a:ea typeface="Arial"/>
                <a:hlinkClick r:id="rId1"/>
              </a:rPr>
              <a:t>“Resource units in Kubernetes” </a:t>
            </a: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Arial"/>
              </a:rPr>
              <a:t>in the official documentation.</a:t>
            </a:r>
            <a:endParaRPr b="0" lang="fr-FR" sz="17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D142E1A-42A2-478E-BDBE-B12DCA8A93B9}" type="slidenum">
              <a:t>151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2063;p207"/>
          <p:cNvSpPr/>
          <p:nvPr/>
        </p:nvSpPr>
        <p:spPr>
          <a:xfrm>
            <a:off x="385920" y="1149840"/>
            <a:ext cx="831060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Definition and runtime effects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Containers can define a minimum amount of resources needed to run  the application via </a:t>
            </a: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spec.containers[].resources.requests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Resource types include CPU, memory, huge page, ephemeral  storage.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If Pod cannot be scheduled on any node due to insufficient resource  availability, you may see a </a:t>
            </a: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PodExceedsFreeCPU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or  </a:t>
            </a: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PodExceedsFreeMemory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status.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16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4516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Container Resource Requests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FA7062F-7DD0-48C1-B340-F4B225B82E85}" type="slidenum">
              <a:t>152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2069;p208"/>
          <p:cNvSpPr/>
          <p:nvPr/>
        </p:nvSpPr>
        <p:spPr>
          <a:xfrm>
            <a:off x="385920" y="391320"/>
            <a:ext cx="77018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Example Scheduling Scenario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171" name="Google Shape;2070;p208"/>
          <p:cNvSpPr/>
          <p:nvPr/>
        </p:nvSpPr>
        <p:spPr>
          <a:xfrm>
            <a:off x="441720" y="1289880"/>
            <a:ext cx="70390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Node’s resource capacity needs to be able to fulfill it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172" name="Google Shape;2071;p208"/>
          <p:cNvSpPr/>
          <p:nvPr/>
        </p:nvSpPr>
        <p:spPr>
          <a:xfrm>
            <a:off x="2557080" y="2198520"/>
            <a:ext cx="3870720" cy="24804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C672467-CD4D-47B2-8433-59C977D9E50E}" type="slidenum">
              <a:t>153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2076;p209"/>
          <p:cNvSpPr/>
          <p:nvPr/>
        </p:nvSpPr>
        <p:spPr>
          <a:xfrm>
            <a:off x="441720" y="1289880"/>
            <a:ext cx="72345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Minimum amount of resources defined for a container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174" name="PlaceHolder 1"/>
          <p:cNvSpPr>
            <a:spLocks noGrp="1"/>
          </p:cNvSpPr>
          <p:nvPr>
            <p:ph type="title"/>
          </p:nvPr>
        </p:nvSpPr>
        <p:spPr>
          <a:xfrm>
            <a:off x="385920" y="423360"/>
            <a:ext cx="83941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000000"/>
                </a:solidFill>
                <a:latin typeface="Arial"/>
                <a:ea typeface="Arial"/>
              </a:rPr>
              <a:t>Resource Requests YAML Manifest</a:t>
            </a:r>
            <a:endParaRPr b="0" lang="fr-FR" sz="3800" spc="-1" strike="noStrike">
              <a:latin typeface="Arial"/>
            </a:endParaRPr>
          </a:p>
        </p:txBody>
      </p:sp>
      <p:sp>
        <p:nvSpPr>
          <p:cNvPr id="1175" name="Google Shape;2079;p209"/>
          <p:cNvSpPr/>
          <p:nvPr/>
        </p:nvSpPr>
        <p:spPr>
          <a:xfrm>
            <a:off x="355680" y="2185920"/>
            <a:ext cx="3841560" cy="168048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76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000" spc="-1" strike="noStrike">
              <a:latin typeface="Arial"/>
            </a:endParaRPr>
          </a:p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000" spc="-1" strike="noStrike">
              <a:latin typeface="Arial"/>
            </a:endParaRPr>
          </a:p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000" spc="-1" strike="noStrike">
              <a:latin typeface="Arial"/>
            </a:endParaRPr>
          </a:p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000" spc="-1" strike="noStrike">
              <a:latin typeface="Arial"/>
            </a:endParaRPr>
          </a:p>
          <a:p>
            <a:pPr marL="3607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rate-limiter</a:t>
            </a:r>
            <a:endParaRPr b="0" lang="fr-FR" sz="1000" spc="-1" strike="noStrike">
              <a:latin typeface="Arial"/>
            </a:endParaRPr>
          </a:p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000" spc="-1" strike="noStrike">
              <a:latin typeface="Arial"/>
            </a:endParaRPr>
          </a:p>
          <a:p>
            <a:pPr marL="3607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000" spc="-1" strike="noStrike">
              <a:latin typeface="Arial"/>
            </a:endParaRPr>
          </a:p>
          <a:p>
            <a:pPr marL="3607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business-app</a:t>
            </a:r>
            <a:endParaRPr b="0" lang="fr-FR" sz="1000" spc="-1" strike="noStrike">
              <a:latin typeface="Arial"/>
            </a:endParaRPr>
          </a:p>
          <a:p>
            <a:pPr marL="513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bmuschko/nodejs-business-app:1.0.0</a:t>
            </a:r>
            <a:endParaRPr b="0" lang="fr-FR" sz="1000" spc="-1" strike="noStrike">
              <a:latin typeface="Arial"/>
            </a:endParaRPr>
          </a:p>
          <a:p>
            <a:pPr marL="513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ports:</a:t>
            </a:r>
            <a:endParaRPr b="0" lang="fr-FR" sz="1000" spc="-1" strike="noStrike">
              <a:latin typeface="Arial"/>
            </a:endParaRPr>
          </a:p>
          <a:p>
            <a:pPr marL="513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containerPort: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8080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176" name="Google Shape;2080;p209"/>
          <p:cNvSpPr/>
          <p:nvPr/>
        </p:nvSpPr>
        <p:spPr>
          <a:xfrm>
            <a:off x="960480" y="3877920"/>
            <a:ext cx="1576800" cy="61920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2200">
              <a:lnSpc>
                <a:spcPct val="107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resources:</a:t>
            </a:r>
            <a:endParaRPr b="0" lang="fr-FR" sz="1000" spc="-1" strike="noStrike">
              <a:latin typeface="Arial"/>
            </a:endParaRPr>
          </a:p>
          <a:p>
            <a:pPr marL="356760" indent="-1522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requests:</a:t>
            </a:r>
            <a:endParaRPr b="0" lang="fr-FR" sz="1000" spc="-1" strike="noStrike">
              <a:latin typeface="Arial"/>
            </a:endParaRPr>
          </a:p>
          <a:p>
            <a:pPr marL="356760" indent="-1522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memory: </a:t>
            </a:r>
            <a:r>
              <a:rPr b="1" lang="en-US" sz="1000" spc="-1" strike="noStrike">
                <a:solidFill>
                  <a:srgbClr val="d15d34"/>
                </a:solidFill>
                <a:latin typeface="Courier New"/>
                <a:ea typeface="Courier New"/>
              </a:rPr>
              <a:t>"256Mi" 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cpu: </a:t>
            </a:r>
            <a:r>
              <a:rPr b="1" lang="en-US" sz="1000" spc="-1" strike="noStrike">
                <a:solidFill>
                  <a:srgbClr val="d15d34"/>
                </a:solidFill>
                <a:latin typeface="Courier New"/>
                <a:ea typeface="Courier New"/>
              </a:rPr>
              <a:t>"1"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8F8520A-8FB4-4914-8DBE-914100A1B641}" type="slidenum">
              <a:t>154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2085;p210"/>
          <p:cNvSpPr/>
          <p:nvPr/>
        </p:nvSpPr>
        <p:spPr>
          <a:xfrm>
            <a:off x="385920" y="1149840"/>
            <a:ext cx="831060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Definition and runtime effects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Containers can define a maximum amount of resources allowed to  consumed by the application via  </a:t>
            </a: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spec.containers[].resources.limits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Resource types include CPU, memory, huge page, ephemeral  storage.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Container runtime decides how to handle situation where application  exceeds allocated capacity, e.g. termination of application process.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17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6758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Container Resource Limits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A0D13E0-3CA2-4E7C-9AA0-6386E3447292}" type="slidenum">
              <a:t>155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2091;p211"/>
          <p:cNvSpPr/>
          <p:nvPr/>
        </p:nvSpPr>
        <p:spPr>
          <a:xfrm>
            <a:off x="441720" y="1289880"/>
            <a:ext cx="72489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Do not allow more than the allotted resource amounts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180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80838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Resource Limits YAML Manifest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181" name="Google Shape;2094;p211"/>
          <p:cNvSpPr/>
          <p:nvPr/>
        </p:nvSpPr>
        <p:spPr>
          <a:xfrm>
            <a:off x="319680" y="2185920"/>
            <a:ext cx="3841560" cy="168048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76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000" spc="-1" strike="noStrike">
              <a:latin typeface="Arial"/>
            </a:endParaRPr>
          </a:p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000" spc="-1" strike="noStrike">
              <a:latin typeface="Arial"/>
            </a:endParaRPr>
          </a:p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000" spc="-1" strike="noStrike">
              <a:latin typeface="Arial"/>
            </a:endParaRPr>
          </a:p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000" spc="-1" strike="noStrike">
              <a:latin typeface="Arial"/>
            </a:endParaRPr>
          </a:p>
          <a:p>
            <a:pPr marL="3607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rate-limiter</a:t>
            </a:r>
            <a:endParaRPr b="0" lang="fr-FR" sz="1000" spc="-1" strike="noStrike">
              <a:latin typeface="Arial"/>
            </a:endParaRPr>
          </a:p>
          <a:p>
            <a:pPr marL="208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000" spc="-1" strike="noStrike">
              <a:latin typeface="Arial"/>
            </a:endParaRPr>
          </a:p>
          <a:p>
            <a:pPr marL="3607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000" spc="-1" strike="noStrike">
              <a:latin typeface="Arial"/>
            </a:endParaRPr>
          </a:p>
          <a:p>
            <a:pPr marL="3607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business-app</a:t>
            </a:r>
            <a:endParaRPr b="0" lang="fr-FR" sz="1000" spc="-1" strike="noStrike">
              <a:latin typeface="Arial"/>
            </a:endParaRPr>
          </a:p>
          <a:p>
            <a:pPr marL="513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bmuschko/nodejs-business-app:1.0.0</a:t>
            </a:r>
            <a:endParaRPr b="0" lang="fr-FR" sz="1000" spc="-1" strike="noStrike">
              <a:latin typeface="Arial"/>
            </a:endParaRPr>
          </a:p>
          <a:p>
            <a:pPr marL="513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ports:</a:t>
            </a:r>
            <a:endParaRPr b="0" lang="fr-FR" sz="1000" spc="-1" strike="noStrike">
              <a:latin typeface="Arial"/>
            </a:endParaRPr>
          </a:p>
          <a:p>
            <a:pPr marL="513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containerPort: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8080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182" name="Google Shape;2095;p211"/>
          <p:cNvSpPr/>
          <p:nvPr/>
        </p:nvSpPr>
        <p:spPr>
          <a:xfrm>
            <a:off x="960480" y="3877920"/>
            <a:ext cx="1576800" cy="61920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2200">
              <a:lnSpc>
                <a:spcPct val="107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resources:</a:t>
            </a:r>
            <a:endParaRPr b="0" lang="fr-FR" sz="1000" spc="-1" strike="noStrike">
              <a:latin typeface="Arial"/>
            </a:endParaRPr>
          </a:p>
          <a:p>
            <a:pPr marL="204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limits:</a:t>
            </a:r>
            <a:endParaRPr b="0" lang="fr-FR" sz="1000" spc="-1" strike="noStrike">
              <a:latin typeface="Arial"/>
            </a:endParaRPr>
          </a:p>
          <a:p>
            <a:pPr marL="356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memory: </a:t>
            </a:r>
            <a:r>
              <a:rPr b="1" lang="en-US" sz="1000" spc="-1" strike="noStrike">
                <a:solidFill>
                  <a:srgbClr val="d15d34"/>
                </a:solidFill>
                <a:latin typeface="Courier New"/>
                <a:ea typeface="Courier New"/>
              </a:rPr>
              <a:t>"512Mi"  </a:t>
            </a:r>
            <a:r>
              <a:rPr b="1" lang="en-US" sz="1000" spc="-1" strike="noStrike">
                <a:solidFill>
                  <a:srgbClr val="4617a1"/>
                </a:solidFill>
                <a:latin typeface="Courier New"/>
                <a:ea typeface="Courier New"/>
              </a:rPr>
              <a:t>cpu: </a:t>
            </a:r>
            <a:r>
              <a:rPr b="1" lang="en-US" sz="1000" spc="-1" strike="noStrike">
                <a:solidFill>
                  <a:srgbClr val="d15d34"/>
                </a:solidFill>
                <a:latin typeface="Courier New"/>
                <a:ea typeface="Courier New"/>
              </a:rPr>
              <a:t>"2"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B9081C6-2D7F-40A0-81D9-6C17644ED59D}" type="slidenum">
              <a:t>156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2111;p213"/>
          <p:cNvSpPr/>
          <p:nvPr/>
        </p:nvSpPr>
        <p:spPr>
          <a:xfrm>
            <a:off x="385920" y="1149840"/>
            <a:ext cx="8286840" cy="31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Defines resource constraints per namespace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Constraints that limit aggregate resource consumption or limit the  quantity of objects that can be created.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requests.cpu/memory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: Across all pods in a non-terminal state, the  sum of CPU/memory requests cannot exceed this value.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limits.cpu/memory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: Across all pods in a non-terminal state, the  sum of CPU/memory limits cannot exceed this value.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18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9264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What is a ResourceQuota?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2575A77-9641-4490-86F6-69A8D7B9581B}" type="slidenum">
              <a:t>157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2117;p214"/>
          <p:cNvSpPr/>
          <p:nvPr/>
        </p:nvSpPr>
        <p:spPr>
          <a:xfrm>
            <a:off x="441720" y="1289880"/>
            <a:ext cx="73375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# of objects and limit aggregate resource consumption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18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9048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ResourceQuota YAML Manifest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187" name="Google Shape;2120;p214"/>
          <p:cNvSpPr/>
          <p:nvPr/>
        </p:nvSpPr>
        <p:spPr>
          <a:xfrm>
            <a:off x="499680" y="2185920"/>
            <a:ext cx="2863800" cy="14533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76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050" spc="-1" strike="noStrike">
              <a:latin typeface="Arial"/>
            </a:endParaRPr>
          </a:p>
          <a:p>
            <a:pPr marL="2084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v1  </a:t>
            </a:r>
            <a:endParaRPr b="0" lang="fr-FR" sz="1200" spc="-1" strike="noStrike">
              <a:latin typeface="Arial"/>
            </a:endParaRPr>
          </a:p>
          <a:p>
            <a:pPr marL="2084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ResourceQuota 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200" spc="-1" strike="noStrike">
              <a:latin typeface="Arial"/>
            </a:endParaRPr>
          </a:p>
          <a:p>
            <a:pPr marL="39132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awesome-quota</a:t>
            </a:r>
            <a:endParaRPr b="0" lang="fr-FR" sz="1200" spc="-1" strike="noStrike">
              <a:latin typeface="Arial"/>
            </a:endParaRPr>
          </a:p>
          <a:p>
            <a:pPr marL="39132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namespace: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team-awesome</a:t>
            </a:r>
            <a:endParaRPr b="0" lang="fr-FR" sz="1200" spc="-1" strike="noStrike">
              <a:latin typeface="Arial"/>
            </a:endParaRPr>
          </a:p>
          <a:p>
            <a:pPr marL="20844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188" name="Google Shape;2121;p214"/>
          <p:cNvSpPr/>
          <p:nvPr/>
        </p:nvSpPr>
        <p:spPr>
          <a:xfrm>
            <a:off x="861840" y="3648600"/>
            <a:ext cx="2393640" cy="130320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2520" bIns="0" anchor="t">
            <a:spAutoFit/>
          </a:bodyPr>
          <a:p>
            <a:pPr marL="29160">
              <a:lnSpc>
                <a:spcPct val="119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hard:</a:t>
            </a:r>
            <a:endParaRPr b="0" lang="fr-FR" sz="1200" spc="-1" strike="noStrike">
              <a:latin typeface="Arial"/>
            </a:endParaRPr>
          </a:p>
          <a:p>
            <a:pPr marL="212040">
              <a:lnSpc>
                <a:spcPct val="118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pods: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2</a:t>
            </a:r>
            <a:endParaRPr b="0" lang="fr-FR" sz="1200" spc="-1" strike="noStrike">
              <a:latin typeface="Arial"/>
            </a:endParaRPr>
          </a:p>
          <a:p>
            <a:pPr marL="212040">
              <a:lnSpc>
                <a:spcPct val="118000"/>
              </a:lnSpc>
              <a:spcBef>
                <a:spcPts val="60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requests.cpu: </a:t>
            </a:r>
            <a:r>
              <a:rPr b="1" lang="en-US" sz="1200" spc="-1" strike="noStrike">
                <a:solidFill>
                  <a:srgbClr val="d15d34"/>
                </a:solidFill>
                <a:latin typeface="Courier New"/>
                <a:ea typeface="Courier New"/>
              </a:rPr>
              <a:t>"1" 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requests.memory: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1024Mi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limits.cpu: </a:t>
            </a:r>
            <a:r>
              <a:rPr b="1" lang="en-US" sz="1200" spc="-1" strike="noStrike">
                <a:solidFill>
                  <a:srgbClr val="d15d34"/>
                </a:solidFill>
                <a:latin typeface="Courier New"/>
                <a:ea typeface="Courier New"/>
              </a:rPr>
              <a:t>"4"  </a:t>
            </a:r>
            <a:r>
              <a:rPr b="1" lang="en-US" sz="1200" spc="-1" strike="noStrike">
                <a:solidFill>
                  <a:srgbClr val="4617a1"/>
                </a:solidFill>
                <a:latin typeface="Courier New"/>
                <a:ea typeface="Courier New"/>
              </a:rPr>
              <a:t>limits.memory: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Courier New"/>
              </a:rPr>
              <a:t>4096Mi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82F54F-3522-4C8C-BCFE-34F2CF1D9A1E}" type="slidenum">
              <a:t>158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2126;p215"/>
          <p:cNvSpPr/>
          <p:nvPr/>
        </p:nvSpPr>
        <p:spPr>
          <a:xfrm>
            <a:off x="385920" y="1149840"/>
            <a:ext cx="609192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Scheduler rejects the creation of the object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190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4635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No Requests/Limits Definition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191" name="Google Shape;2128;p215"/>
          <p:cNvSpPr/>
          <p:nvPr/>
        </p:nvSpPr>
        <p:spPr>
          <a:xfrm>
            <a:off x="390600" y="1872000"/>
            <a:ext cx="7518240" cy="10058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2" name="Google Shape;2129;p215"/>
          <p:cNvSpPr/>
          <p:nvPr/>
        </p:nvSpPr>
        <p:spPr>
          <a:xfrm>
            <a:off x="444240" y="1920240"/>
            <a:ext cx="7584120" cy="95184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4800" bIns="0" anchor="t">
            <a:spAutoFit/>
          </a:bodyPr>
          <a:p>
            <a:pPr marL="16560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-f nginx-pod.yaml -n team-awesome</a:t>
            </a:r>
            <a:endParaRPr b="0" lang="fr-FR" sz="1300" spc="-1" strike="noStrike">
              <a:latin typeface="Arial"/>
            </a:endParaRPr>
          </a:p>
          <a:p>
            <a:pPr marL="165600" algn="just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Error from server (Forbidden): error when creating "nginx-pod.yaml":  pods "nginx" is forbidden: failed quota: awesome-quota: must specify  limits.cpu,limits.memory,requests.cpu,requests.memory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DB57C89-5F55-4155-878E-4C8BC937BE09}" type="slidenum">
              <a:t>159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2134;p216"/>
          <p:cNvSpPr/>
          <p:nvPr/>
        </p:nvSpPr>
        <p:spPr>
          <a:xfrm>
            <a:off x="385920" y="1149840"/>
            <a:ext cx="591192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Scheduler rejects the creation of the object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19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9742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Exceeds Requests/Limits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195" name="Google Shape;2136;p216"/>
          <p:cNvSpPr/>
          <p:nvPr/>
        </p:nvSpPr>
        <p:spPr>
          <a:xfrm>
            <a:off x="390600" y="1872000"/>
            <a:ext cx="8228520" cy="1208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6" name="Google Shape;2137;p216"/>
          <p:cNvSpPr/>
          <p:nvPr/>
        </p:nvSpPr>
        <p:spPr>
          <a:xfrm>
            <a:off x="444240" y="1920240"/>
            <a:ext cx="8228520" cy="115164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4800" bIns="0" anchor="t">
            <a:spAutoFit/>
          </a:bodyPr>
          <a:p>
            <a:pPr marL="165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-f nginx-pod.yaml -n team-awesome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Error from server (Forbidden): error when creating "nginx-pod.yaml"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↵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: pods "nginx" is forbidden: exceeded quota: awesome-quota, requested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↵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:</a:t>
            </a:r>
            <a:endParaRPr b="0" lang="fr-FR" sz="1300" spc="-1" strike="noStrike">
              <a:latin typeface="Arial"/>
            </a:endParaRPr>
          </a:p>
          <a:p>
            <a:pPr marL="165600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pods=1,requests.cpu=500m,requests.memory=512Mi, used: pods=2,requests.cpu=1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↵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,  requests.memory=1024Mi, limited: pods=2,requests.cpu=1,requests.memory=1024Mi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D6013CA-972D-44E7-ADFB-D13D50CD9F9A}" type="slidenum">
              <a:t>160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object 60"/>
          <p:cNvSpPr/>
          <p:nvPr/>
        </p:nvSpPr>
        <p:spPr>
          <a:xfrm>
            <a:off x="3557880" y="1953720"/>
            <a:ext cx="3136320" cy="13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algn="ctr">
              <a:lnSpc>
                <a:spcPct val="150000"/>
              </a:lnSpc>
              <a:buNone/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Resources Requirements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1198" name="object 61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12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B292CF-7831-4A7E-90DD-0D9A57531354}" type="slidenum">
              <a:t>161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2160;p220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0" name="Google Shape;2161;p220"/>
          <p:cNvSpPr/>
          <p:nvPr/>
        </p:nvSpPr>
        <p:spPr>
          <a:xfrm>
            <a:off x="545040" y="1629360"/>
            <a:ext cx="594360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ConfigMaps and Secrets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201" name="Google Shape;2162;p220"/>
          <p:cNvSpPr/>
          <p:nvPr/>
        </p:nvSpPr>
        <p:spPr>
          <a:xfrm>
            <a:off x="545040" y="2375640"/>
            <a:ext cx="60159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Creating and Consuming Configuration Data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2534746-A8AD-4BBE-AA79-C65513CA8368}" type="slidenum">
              <a:t>162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2167;p221"/>
          <p:cNvSpPr/>
          <p:nvPr/>
        </p:nvSpPr>
        <p:spPr>
          <a:xfrm>
            <a:off x="385920" y="1149840"/>
            <a:ext cx="8119440" cy="31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Control runtime behavior with centralized information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Stored as key-value pairs in dedicated Kubernetes primitives with a  lifecycle decoupled from consuming Pod.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ConfigMap: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Plain-text values suited for configuring application e.g.  flags, or URLs.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Secret: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Base64-encoded values suited for storing sensitive data like  passwords, API keys, or SSL certificates. Values are not encrypted!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20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0574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Defining Configuration Data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C2AD539-2FAB-440D-8ABE-AD208FF5D02A}" type="slidenum">
              <a:t>163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2173;p222"/>
          <p:cNvSpPr/>
          <p:nvPr/>
        </p:nvSpPr>
        <p:spPr>
          <a:xfrm>
            <a:off x="441720" y="1289880"/>
            <a:ext cx="69469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Mounting as a Volume or injecting as env. variables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205" name="Google Shape;2174;p222"/>
          <p:cNvSpPr/>
          <p:nvPr/>
        </p:nvSpPr>
        <p:spPr>
          <a:xfrm>
            <a:off x="385920" y="391320"/>
            <a:ext cx="797652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Consuming ConfigMap &amp; Secret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206" name="Google Shape;2175;p222"/>
          <p:cNvSpPr/>
          <p:nvPr/>
        </p:nvSpPr>
        <p:spPr>
          <a:xfrm>
            <a:off x="2662200" y="2179080"/>
            <a:ext cx="3660120" cy="23968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6C1D2F1-E285-4FB8-B66A-041669ECDFBA}" type="slidenum">
              <a:t>164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2180;p223"/>
          <p:cNvSpPr/>
          <p:nvPr/>
        </p:nvSpPr>
        <p:spPr>
          <a:xfrm>
            <a:off x="385920" y="1149840"/>
            <a:ext cx="8119440" cy="35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Imperative command provides options for sourcing data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--from-literal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: Literal values, which are key-value pairs as plain  text.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--from-env-file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: A file that contains key-value pairs and expects  them to be environment variables.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--from-file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: A file with arbitrary contents.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--from-file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: A directory with one or many files.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20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3057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ConfigMap Data Sources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96A4588-E458-4039-9B3E-BF48F71D1EEF}" type="slidenum">
              <a:t>165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2186;p224"/>
          <p:cNvSpPr/>
          <p:nvPr/>
        </p:nvSpPr>
        <p:spPr>
          <a:xfrm>
            <a:off x="441720" y="1289880"/>
            <a:ext cx="712656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Fast, easy and flexible, can point to different sources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210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3870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Creating a ConfigMap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1211" name="Google Shape;2188;p224"/>
          <p:cNvGrpSpPr/>
          <p:nvPr/>
        </p:nvGrpSpPr>
        <p:grpSpPr>
          <a:xfrm>
            <a:off x="483840" y="2180160"/>
            <a:ext cx="6790680" cy="2684880"/>
            <a:chOff x="483840" y="2180160"/>
            <a:chExt cx="6790680" cy="2684880"/>
          </a:xfrm>
        </p:grpSpPr>
        <p:sp>
          <p:nvSpPr>
            <p:cNvPr id="1212" name="Google Shape;2189;p224"/>
            <p:cNvSpPr/>
            <p:nvPr/>
          </p:nvSpPr>
          <p:spPr>
            <a:xfrm>
              <a:off x="483840" y="2180160"/>
              <a:ext cx="6790680" cy="26848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3" name="Google Shape;2190;p224"/>
            <p:cNvSpPr/>
            <p:nvPr/>
          </p:nvSpPr>
          <p:spPr>
            <a:xfrm>
              <a:off x="537480" y="2228400"/>
              <a:ext cx="6676200" cy="2571120"/>
            </a:xfrm>
            <a:custGeom>
              <a:avLst/>
              <a:gdLst/>
              <a:ahLst/>
              <a:rect l="l" t="t" r="r" b="b"/>
              <a:pathLst>
                <a:path w="6679565" h="2574290">
                  <a:moveTo>
                    <a:pt x="6679486" y="2573994"/>
                  </a:moveTo>
                  <a:lnTo>
                    <a:pt x="0" y="2573994"/>
                  </a:lnTo>
                  <a:lnTo>
                    <a:pt x="0" y="0"/>
                  </a:lnTo>
                  <a:lnTo>
                    <a:pt x="6679486" y="0"/>
                  </a:lnTo>
                  <a:lnTo>
                    <a:pt x="6679486" y="25739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14" name="Google Shape;2191;p224"/>
          <p:cNvSpPr/>
          <p:nvPr/>
        </p:nvSpPr>
        <p:spPr>
          <a:xfrm>
            <a:off x="747360" y="2377080"/>
            <a:ext cx="6262920" cy="22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configmap db-config --from-literal=db=staging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configmap/db-config created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configmap db-config --from-env-file=config.env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configmap/db-config created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configmap db-config --from-file=config.txt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configmap/db-config created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create configmap db-config --from-file=app-config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configmap/db-config created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172A85-282C-4755-8169-C6498A8A0C99}" type="slidenum">
              <a:t>166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2196;p225"/>
          <p:cNvSpPr/>
          <p:nvPr/>
        </p:nvSpPr>
        <p:spPr>
          <a:xfrm>
            <a:off x="441720" y="1289880"/>
            <a:ext cx="69944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Definition of a ConfigMap is fairly short and on point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21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7352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ConfigMap YAML Manifest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217" name="Google Shape;2199;p225"/>
          <p:cNvSpPr/>
          <p:nvPr/>
        </p:nvSpPr>
        <p:spPr>
          <a:xfrm>
            <a:off x="537480" y="2228400"/>
            <a:ext cx="2026800" cy="15577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9480" bIns="0" anchor="t">
            <a:spAutoFit/>
          </a:bodyPr>
          <a:p>
            <a:pPr marL="186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ConfigMap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3808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db-config</a:t>
            </a:r>
            <a:endParaRPr b="0" lang="fr-FR" sz="1300" spc="-1" strike="noStrike">
              <a:latin typeface="Arial"/>
            </a:endParaRPr>
          </a:p>
          <a:p>
            <a:pPr marL="186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data:</a:t>
            </a:r>
            <a:endParaRPr b="0" lang="fr-FR" sz="1300" spc="-1" strike="noStrike">
              <a:latin typeface="Arial"/>
            </a:endParaRPr>
          </a:p>
          <a:p>
            <a:pPr marL="3808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db: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staging</a:t>
            </a:r>
            <a:endParaRPr b="0" lang="fr-FR" sz="1300" spc="-1" strike="noStrike">
              <a:latin typeface="Arial"/>
            </a:endParaRPr>
          </a:p>
          <a:p>
            <a:pPr marL="3808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username: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jdoe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4B725D8-22C8-4141-8450-DA8CB611AE0E}" type="slidenum">
              <a:t>167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2204;p226"/>
          <p:cNvSpPr/>
          <p:nvPr/>
        </p:nvSpPr>
        <p:spPr>
          <a:xfrm>
            <a:off x="441720" y="1289880"/>
            <a:ext cx="69796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Convenient if ConfigMap reflects the desired syntax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21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2604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Consuming as Env. Variables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220" name="Google Shape;2207;p226"/>
          <p:cNvSpPr/>
          <p:nvPr/>
        </p:nvSpPr>
        <p:spPr>
          <a:xfrm>
            <a:off x="537480" y="2304720"/>
            <a:ext cx="2888640" cy="172044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0" bIns="0" anchor="t">
            <a:spAutoFit/>
          </a:bodyPr>
          <a:p>
            <a:pPr marL="222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300" spc="-1" strike="noStrike">
              <a:latin typeface="Arial"/>
            </a:endParaRPr>
          </a:p>
          <a:p>
            <a:pPr marL="222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300" spc="-1" strike="noStrike">
              <a:latin typeface="Arial"/>
            </a:endParaRPr>
          </a:p>
          <a:p>
            <a:pPr marL="22212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4165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backend</a:t>
            </a:r>
            <a:endParaRPr b="0" lang="fr-FR" sz="1300" spc="-1" strike="noStrike">
              <a:latin typeface="Arial"/>
            </a:endParaRPr>
          </a:p>
          <a:p>
            <a:pPr marL="2221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4165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300" spc="-1" strike="noStrike">
              <a:latin typeface="Arial"/>
            </a:endParaRPr>
          </a:p>
          <a:p>
            <a:pPr marL="420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</a:t>
            </a:r>
            <a:endParaRPr b="0" lang="fr-FR" sz="1300" spc="-1" strike="noStrike">
              <a:latin typeface="Arial"/>
            </a:endParaRPr>
          </a:p>
          <a:p>
            <a:pPr marL="61092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backend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221" name="Google Shape;2208;p226"/>
          <p:cNvSpPr/>
          <p:nvPr/>
        </p:nvSpPr>
        <p:spPr>
          <a:xfrm>
            <a:off x="1106640" y="4049280"/>
            <a:ext cx="2220480" cy="61308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1760"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envFrom:</a:t>
            </a:r>
            <a:endParaRPr b="0" lang="fr-FR" sz="1300" spc="-1" strike="noStrike">
              <a:latin typeface="Arial"/>
            </a:endParaRPr>
          </a:p>
          <a:p>
            <a:pPr marL="624960" indent="-378000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configMapRef:  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db-config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1222" name="Google Shape;2209;p226"/>
          <p:cNvGrpSpPr/>
          <p:nvPr/>
        </p:nvGrpSpPr>
        <p:grpSpPr>
          <a:xfrm>
            <a:off x="4435560" y="2256120"/>
            <a:ext cx="3629160" cy="1181880"/>
            <a:chOff x="4435560" y="2256120"/>
            <a:chExt cx="3629160" cy="1181880"/>
          </a:xfrm>
        </p:grpSpPr>
        <p:sp>
          <p:nvSpPr>
            <p:cNvPr id="1223" name="Google Shape;2210;p226"/>
            <p:cNvSpPr/>
            <p:nvPr/>
          </p:nvSpPr>
          <p:spPr>
            <a:xfrm>
              <a:off x="4435560" y="2256120"/>
              <a:ext cx="3629160" cy="11818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4" name="Google Shape;2211;p226"/>
            <p:cNvSpPr/>
            <p:nvPr/>
          </p:nvSpPr>
          <p:spPr>
            <a:xfrm>
              <a:off x="4488840" y="2304720"/>
              <a:ext cx="3515400" cy="1068120"/>
            </a:xfrm>
            <a:custGeom>
              <a:avLst/>
              <a:gdLst/>
              <a:ahLst/>
              <a:rect l="l" t="t" r="r" b="b"/>
              <a:pathLst>
                <a:path w="3518534" h="1071245">
                  <a:moveTo>
                    <a:pt x="3518092" y="1070697"/>
                  </a:moveTo>
                  <a:lnTo>
                    <a:pt x="0" y="1070697"/>
                  </a:lnTo>
                  <a:lnTo>
                    <a:pt x="0" y="0"/>
                  </a:lnTo>
                  <a:lnTo>
                    <a:pt x="3518092" y="0"/>
                  </a:lnTo>
                  <a:lnTo>
                    <a:pt x="3518092" y="1070697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25" name="Google Shape;2212;p226"/>
          <p:cNvSpPr/>
          <p:nvPr/>
        </p:nvSpPr>
        <p:spPr>
          <a:xfrm>
            <a:off x="4716360" y="2416680"/>
            <a:ext cx="308016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exec -it nginx -- env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226" name="Google Shape;2213;p226"/>
          <p:cNvSpPr/>
          <p:nvPr/>
        </p:nvSpPr>
        <p:spPr>
          <a:xfrm>
            <a:off x="4630320" y="2639880"/>
            <a:ext cx="1434240" cy="42300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84960"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db=staging</a:t>
            </a:r>
            <a:endParaRPr b="0" lang="fr-FR" sz="1300" spc="-1" strike="noStrike">
              <a:latin typeface="Arial"/>
            </a:endParaRPr>
          </a:p>
          <a:p>
            <a:pPr marL="8496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username=jdoe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227" name="Google Shape;2214;p226"/>
          <p:cNvSpPr/>
          <p:nvPr/>
        </p:nvSpPr>
        <p:spPr>
          <a:xfrm>
            <a:off x="4716360" y="3016800"/>
            <a:ext cx="3067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1228" name="Google Shape;2215;p226"/>
          <p:cNvGrpSpPr/>
          <p:nvPr/>
        </p:nvGrpSpPr>
        <p:grpSpPr>
          <a:xfrm>
            <a:off x="3590640" y="3249720"/>
            <a:ext cx="1851120" cy="1110240"/>
            <a:chOff x="3590640" y="3249720"/>
            <a:chExt cx="1851120" cy="1110240"/>
          </a:xfrm>
        </p:grpSpPr>
        <p:sp>
          <p:nvSpPr>
            <p:cNvPr id="1229" name="Google Shape;2216;p226"/>
            <p:cNvSpPr/>
            <p:nvPr/>
          </p:nvSpPr>
          <p:spPr>
            <a:xfrm>
              <a:off x="3590640" y="3345840"/>
              <a:ext cx="1810440" cy="1014120"/>
            </a:xfrm>
            <a:custGeom>
              <a:avLst/>
              <a:gdLst/>
              <a:ahLst/>
              <a:rect l="l" t="t" r="r" b="b"/>
              <a:pathLst>
                <a:path w="1813560" h="1017270">
                  <a:moveTo>
                    <a:pt x="0" y="1016697"/>
                  </a:moveTo>
                  <a:lnTo>
                    <a:pt x="1813246" y="1016697"/>
                  </a:lnTo>
                  <a:lnTo>
                    <a:pt x="1813246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0" name="Google Shape;2217;p226"/>
            <p:cNvSpPr/>
            <p:nvPr/>
          </p:nvSpPr>
          <p:spPr>
            <a:xfrm>
              <a:off x="5362920" y="3249720"/>
              <a:ext cx="78840" cy="1022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D0F7E18-EDD7-4B50-BA40-EB0DCE63AAE5}" type="slidenum">
              <a:t>168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2222;p227"/>
          <p:cNvSpPr/>
          <p:nvPr/>
        </p:nvSpPr>
        <p:spPr>
          <a:xfrm>
            <a:off x="441720" y="1289880"/>
            <a:ext cx="40626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Use Volume type </a:t>
            </a:r>
            <a:r>
              <a:rPr b="0" i="1" lang="en-US" sz="2400" spc="-1" strike="noStrike">
                <a:solidFill>
                  <a:srgbClr val="595959"/>
                </a:solidFill>
                <a:latin typeface="Courier New"/>
                <a:ea typeface="Courier New"/>
              </a:rPr>
              <a:t>configMap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0789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Consuming as a Volume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1233" name="Google Shape;2224;p227"/>
          <p:cNvGrpSpPr/>
          <p:nvPr/>
        </p:nvGrpSpPr>
        <p:grpSpPr>
          <a:xfrm>
            <a:off x="483840" y="2027520"/>
            <a:ext cx="3533400" cy="2942640"/>
            <a:chOff x="483840" y="2027520"/>
            <a:chExt cx="3533400" cy="2942640"/>
          </a:xfrm>
        </p:grpSpPr>
        <p:sp>
          <p:nvSpPr>
            <p:cNvPr id="1234" name="Google Shape;2225;p227"/>
            <p:cNvSpPr/>
            <p:nvPr/>
          </p:nvSpPr>
          <p:spPr>
            <a:xfrm>
              <a:off x="483840" y="2027520"/>
              <a:ext cx="3533400" cy="29426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5" name="Google Shape;2226;p227"/>
            <p:cNvSpPr/>
            <p:nvPr/>
          </p:nvSpPr>
          <p:spPr>
            <a:xfrm>
              <a:off x="537480" y="2076120"/>
              <a:ext cx="3419280" cy="2828880"/>
            </a:xfrm>
            <a:custGeom>
              <a:avLst/>
              <a:gdLst/>
              <a:ahLst/>
              <a:rect l="l" t="t" r="r" b="b"/>
              <a:pathLst>
                <a:path w="3422650" h="2832100">
                  <a:moveTo>
                    <a:pt x="3422393" y="2831694"/>
                  </a:moveTo>
                  <a:lnTo>
                    <a:pt x="0" y="2831694"/>
                  </a:lnTo>
                  <a:lnTo>
                    <a:pt x="0" y="0"/>
                  </a:lnTo>
                  <a:lnTo>
                    <a:pt x="3422393" y="0"/>
                  </a:lnTo>
                  <a:lnTo>
                    <a:pt x="3422393" y="28316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6" name="Google Shape;2227;p227"/>
          <p:cNvSpPr/>
          <p:nvPr/>
        </p:nvSpPr>
        <p:spPr>
          <a:xfrm>
            <a:off x="747360" y="2174400"/>
            <a:ext cx="1626120" cy="12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 marL="12600"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100" spc="-1" strike="noStrike">
              <a:latin typeface="Arial"/>
            </a:endParaRPr>
          </a:p>
          <a:p>
            <a:pPr marL="18432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backend</a:t>
            </a:r>
            <a:endParaRPr b="0" lang="fr-FR" sz="11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100" spc="-1" strike="noStrike">
              <a:latin typeface="Arial"/>
            </a:endParaRPr>
          </a:p>
          <a:p>
            <a:pPr marL="18036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100" spc="-1" strike="noStrike">
              <a:latin typeface="Arial"/>
            </a:endParaRPr>
          </a:p>
          <a:p>
            <a:pPr marL="34812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backend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237" name="Google Shape;2228;p227"/>
          <p:cNvSpPr/>
          <p:nvPr/>
        </p:nvSpPr>
        <p:spPr>
          <a:xfrm>
            <a:off x="1261800" y="3374640"/>
            <a:ext cx="10281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238" name="Google Shape;2229;p227"/>
          <p:cNvSpPr/>
          <p:nvPr/>
        </p:nvSpPr>
        <p:spPr>
          <a:xfrm>
            <a:off x="1187280" y="3555720"/>
            <a:ext cx="2176200" cy="51228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2520" bIns="0" anchor="t">
            <a:spAutoFit/>
          </a:bodyPr>
          <a:p>
            <a:pPr marL="87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volumeMounts:</a:t>
            </a:r>
            <a:endParaRPr b="0" lang="fr-FR" sz="1100" spc="-1" strike="noStrike">
              <a:latin typeface="Arial"/>
            </a:endParaRPr>
          </a:p>
          <a:p>
            <a:pPr marL="7488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config-volume</a:t>
            </a:r>
            <a:endParaRPr b="0" lang="fr-FR" sz="1100" spc="-1" strike="noStrike">
              <a:latin typeface="Arial"/>
            </a:endParaRPr>
          </a:p>
          <a:p>
            <a:pPr marL="25848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mountPath: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/etc/config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239" name="Google Shape;2230;p227"/>
          <p:cNvSpPr/>
          <p:nvPr/>
        </p:nvSpPr>
        <p:spPr>
          <a:xfrm>
            <a:off x="918720" y="4060440"/>
            <a:ext cx="69264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volumes: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240" name="Google Shape;2231;p227"/>
          <p:cNvSpPr/>
          <p:nvPr/>
        </p:nvSpPr>
        <p:spPr>
          <a:xfrm>
            <a:off x="1082520" y="4231800"/>
            <a:ext cx="179388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config-volume</a:t>
            </a:r>
            <a:endParaRPr b="0" lang="fr-FR" sz="1100" spc="-1" strike="noStrike">
              <a:latin typeface="Arial"/>
            </a:endParaRPr>
          </a:p>
          <a:p>
            <a:pPr marL="19188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configMap:</a:t>
            </a:r>
            <a:endParaRPr b="0" lang="fr-FR" sz="1100" spc="-1" strike="noStrike">
              <a:latin typeface="Arial"/>
            </a:endParaRPr>
          </a:p>
          <a:p>
            <a:pPr marL="36324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db-config</a:t>
            </a:r>
            <a:endParaRPr b="0" lang="fr-FR" sz="1100" spc="-1" strike="noStrike">
              <a:latin typeface="Arial"/>
            </a:endParaRPr>
          </a:p>
        </p:txBody>
      </p:sp>
      <p:grpSp>
        <p:nvGrpSpPr>
          <p:cNvPr id="1241" name="Google Shape;2232;p227"/>
          <p:cNvGrpSpPr/>
          <p:nvPr/>
        </p:nvGrpSpPr>
        <p:grpSpPr>
          <a:xfrm>
            <a:off x="4515480" y="2027520"/>
            <a:ext cx="4131360" cy="1679400"/>
            <a:chOff x="4515480" y="2027520"/>
            <a:chExt cx="4131360" cy="1679400"/>
          </a:xfrm>
        </p:grpSpPr>
        <p:sp>
          <p:nvSpPr>
            <p:cNvPr id="1242" name="Google Shape;2233;p227"/>
            <p:cNvSpPr/>
            <p:nvPr/>
          </p:nvSpPr>
          <p:spPr>
            <a:xfrm>
              <a:off x="4515480" y="2027520"/>
              <a:ext cx="4131360" cy="167940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3" name="Google Shape;2234;p227"/>
            <p:cNvSpPr/>
            <p:nvPr/>
          </p:nvSpPr>
          <p:spPr>
            <a:xfrm>
              <a:off x="4569120" y="2076120"/>
              <a:ext cx="4017600" cy="1565280"/>
            </a:xfrm>
            <a:custGeom>
              <a:avLst/>
              <a:gdLst/>
              <a:ahLst/>
              <a:rect l="l" t="t" r="r" b="b"/>
              <a:pathLst>
                <a:path w="4020820" h="1568450">
                  <a:moveTo>
                    <a:pt x="4020291" y="1568396"/>
                  </a:moveTo>
                  <a:lnTo>
                    <a:pt x="0" y="1568396"/>
                  </a:lnTo>
                  <a:lnTo>
                    <a:pt x="0" y="0"/>
                  </a:lnTo>
                  <a:lnTo>
                    <a:pt x="4020291" y="0"/>
                  </a:lnTo>
                  <a:lnTo>
                    <a:pt x="4020291" y="1568396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44" name="Google Shape;2235;p227"/>
          <p:cNvSpPr/>
          <p:nvPr/>
        </p:nvSpPr>
        <p:spPr>
          <a:xfrm>
            <a:off x="4630320" y="2433600"/>
            <a:ext cx="1721880" cy="41328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84960"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# ls /etc/config</a:t>
            </a:r>
            <a:endParaRPr b="0" lang="fr-FR" sz="1300" spc="-1" strike="noStrike">
              <a:latin typeface="Arial"/>
            </a:endParaRPr>
          </a:p>
          <a:p>
            <a:pPr marL="84960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db  username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245" name="Google Shape;2236;p227"/>
          <p:cNvSpPr/>
          <p:nvPr/>
        </p:nvSpPr>
        <p:spPr>
          <a:xfrm>
            <a:off x="4569120" y="2076120"/>
            <a:ext cx="401760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7160" bIns="0" anchor="t">
            <a:spAutoFit/>
          </a:bodyPr>
          <a:p>
            <a:pPr marL="1465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exec -it backend -- /bin/sh</a:t>
            </a:r>
            <a:endParaRPr b="0" lang="fr-FR" sz="1300" spc="-1" strike="noStrike">
              <a:latin typeface="Arial"/>
            </a:endParaRPr>
          </a:p>
          <a:p>
            <a:pPr marL="14652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4652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marL="146520">
              <a:lnSpc>
                <a:spcPct val="100000"/>
              </a:lnSpc>
              <a:spcBef>
                <a:spcPts val="26"/>
              </a:spcBef>
              <a:buNone/>
              <a:tabLst>
                <a:tab algn="l" pos="0"/>
              </a:tabLst>
            </a:pPr>
            <a:endParaRPr b="0" lang="fr-FR" sz="1350" spc="-1" strike="noStrike">
              <a:latin typeface="Arial"/>
            </a:endParaRPr>
          </a:p>
          <a:p>
            <a:pPr marL="146520">
              <a:lnSpc>
                <a:spcPct val="101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# cat /etc/config/db  staging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246" name="Google Shape;2237;p227"/>
          <p:cNvSpPr/>
          <p:nvPr/>
        </p:nvSpPr>
        <p:spPr>
          <a:xfrm>
            <a:off x="3500640" y="2742840"/>
            <a:ext cx="1012680" cy="1114200"/>
          </a:xfrm>
          <a:custGeom>
            <a:avLst/>
            <a:gdLst/>
            <a:ahLst/>
            <a:rect l="l" t="t" r="r" b="b"/>
            <a:pathLst>
              <a:path w="1016000" h="1117600">
                <a:moveTo>
                  <a:pt x="0" y="1117197"/>
                </a:moveTo>
                <a:lnTo>
                  <a:pt x="564898" y="1117197"/>
                </a:lnTo>
                <a:lnTo>
                  <a:pt x="564898" y="0"/>
                </a:lnTo>
                <a:lnTo>
                  <a:pt x="1015497" y="0"/>
                </a:lnTo>
              </a:path>
            </a:pathLst>
          </a:custGeom>
          <a:noFill/>
          <a:ln w="190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7" name="Google Shape;2238;p227"/>
          <p:cNvSpPr/>
          <p:nvPr/>
        </p:nvSpPr>
        <p:spPr>
          <a:xfrm>
            <a:off x="4506480" y="2701800"/>
            <a:ext cx="102240" cy="788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635A319-AFF3-4000-976D-518FF35E6D5F}" type="slidenum">
              <a:t>169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38592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Secret Options</a:t>
            </a:r>
            <a:endParaRPr b="0" lang="fr-FR" sz="4000" spc="-1" strike="noStrike">
              <a:latin typeface="Arial"/>
            </a:endParaRPr>
          </a:p>
        </p:txBody>
      </p:sp>
      <p:graphicFrame>
        <p:nvGraphicFramePr>
          <p:cNvPr id="1249" name="Google Shape;2250;p229"/>
          <p:cNvGraphicFramePr/>
          <p:nvPr/>
        </p:nvGraphicFramePr>
        <p:xfrm>
          <a:off x="1415880" y="2280240"/>
          <a:ext cx="6311160" cy="2153160"/>
        </p:xfrm>
        <a:graphic>
          <a:graphicData uri="http://schemas.openxmlformats.org/drawingml/2006/table">
            <a:tbl>
              <a:tblPr/>
              <a:tblGrid>
                <a:gridCol w="1828080"/>
                <a:gridCol w="4483440"/>
              </a:tblGrid>
              <a:tr h="290520">
                <a:tc gridSpan="2"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3002d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Option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55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47448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generic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55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Creates a secret from a file, directory, or literal value.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448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docker-registry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55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Creates a secret for use with a Docker registry.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tls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25596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Creates a TLS secret.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50" name="Google Shape;2251;p229"/>
          <p:cNvSpPr/>
          <p:nvPr/>
        </p:nvSpPr>
        <p:spPr>
          <a:xfrm>
            <a:off x="441720" y="1289880"/>
            <a:ext cx="68774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Imperative command: </a:t>
            </a:r>
            <a:r>
              <a:rPr b="0" i="1" lang="en-US" sz="2400" spc="-1" strike="noStrike">
                <a:solidFill>
                  <a:srgbClr val="595959"/>
                </a:solidFill>
                <a:latin typeface="Courier New"/>
                <a:ea typeface="Courier New"/>
              </a:rPr>
              <a:t>kubectl create secret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E6AF6A7-6435-4FC6-BCBB-5D431700229D}" type="slidenum">
              <a:t>170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2256;p230"/>
          <p:cNvSpPr/>
          <p:nvPr/>
        </p:nvSpPr>
        <p:spPr>
          <a:xfrm>
            <a:off x="385920" y="1149840"/>
            <a:ext cx="8286840" cy="35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Imperative </a:t>
            </a:r>
            <a:r>
              <a:rPr b="0" i="1" lang="en-US" sz="2200" spc="-1" strike="noStrike">
                <a:solidFill>
                  <a:srgbClr val="595959"/>
                </a:solidFill>
                <a:latin typeface="Courier New"/>
                <a:ea typeface="Courier New"/>
              </a:rPr>
              <a:t>generic 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command provides options for sourcing data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4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--from-literal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: Literal values, which are key-value pairs as plain  text.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--from-env-file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: A file that contains key-value pairs and expects  them to be environment variables.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--from-file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: A file with arbitrary contents.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--from-file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: A directory with one or many files.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252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3031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Secret Data Sources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8221D6A-3511-4DB9-AEB1-4DAF7FD82B9F}" type="slidenum">
              <a:t>171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2262;p231"/>
          <p:cNvSpPr/>
          <p:nvPr/>
        </p:nvSpPr>
        <p:spPr>
          <a:xfrm>
            <a:off x="441720" y="1289880"/>
            <a:ext cx="56836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Values are base64-encoded automatically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25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3484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Creating a Secret</a:t>
            </a:r>
            <a:endParaRPr b="0" lang="fr-FR" sz="4000" spc="-1" strike="noStrike">
              <a:latin typeface="Arial"/>
            </a:endParaRPr>
          </a:p>
        </p:txBody>
      </p:sp>
      <p:pic>
        <p:nvPicPr>
          <p:cNvPr id="1255" name="" descr=""/>
          <p:cNvPicPr/>
          <p:nvPr/>
        </p:nvPicPr>
        <p:blipFill>
          <a:blip r:embed="rId1"/>
          <a:stretch/>
        </p:blipFill>
        <p:spPr>
          <a:xfrm>
            <a:off x="463680" y="1980000"/>
            <a:ext cx="7885440" cy="2030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D128623-DE11-462B-9E11-EF186D2C9A3F}" type="slidenum">
              <a:t>172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2271;p232"/>
          <p:cNvSpPr/>
          <p:nvPr/>
        </p:nvSpPr>
        <p:spPr>
          <a:xfrm>
            <a:off x="441720" y="1289880"/>
            <a:ext cx="57848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Value has to be base64-encoded manually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25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6372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Secret YAML Manifest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258" name="Google Shape;2274;p232"/>
          <p:cNvSpPr/>
          <p:nvPr/>
        </p:nvSpPr>
        <p:spPr>
          <a:xfrm>
            <a:off x="4592520" y="2263680"/>
            <a:ext cx="2574360" cy="130068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9840" bIns="0" anchor="t">
            <a:spAutoFit/>
          </a:bodyPr>
          <a:p>
            <a:pPr marL="222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500" spc="-1" strike="noStrike">
              <a:latin typeface="Arial"/>
            </a:endParaRPr>
          </a:p>
          <a:p>
            <a:pPr marL="222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Secret  </a:t>
            </a: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500" spc="-1" strike="noStrike">
              <a:latin typeface="Arial"/>
            </a:endParaRPr>
          </a:p>
          <a:p>
            <a:pPr marL="4507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mysecret</a:t>
            </a:r>
            <a:endParaRPr b="0" lang="fr-FR" sz="1500" spc="-1" strike="noStrike">
              <a:latin typeface="Arial"/>
            </a:endParaRPr>
          </a:p>
          <a:p>
            <a:pPr marL="222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type: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Opaque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259" name="Google Shape;2275;p232"/>
          <p:cNvSpPr/>
          <p:nvPr/>
        </p:nvSpPr>
        <p:spPr>
          <a:xfrm>
            <a:off x="4729320" y="3602520"/>
            <a:ext cx="1892880" cy="45828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8568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data:</a:t>
            </a:r>
            <a:endParaRPr b="0" lang="fr-FR" sz="1500" spc="-1" strike="noStrike">
              <a:latin typeface="Arial"/>
            </a:endParaRPr>
          </a:p>
          <a:p>
            <a:pPr marL="3142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pwd: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czNjcmUh</a:t>
            </a:r>
            <a:endParaRPr b="0" lang="fr-FR" sz="1500" spc="-1" strike="noStrike">
              <a:latin typeface="Arial"/>
            </a:endParaRPr>
          </a:p>
        </p:txBody>
      </p:sp>
      <p:grpSp>
        <p:nvGrpSpPr>
          <p:cNvPr id="1260" name="Google Shape;2276;p232"/>
          <p:cNvGrpSpPr/>
          <p:nvPr/>
        </p:nvGrpSpPr>
        <p:grpSpPr>
          <a:xfrm>
            <a:off x="438840" y="2215440"/>
            <a:ext cx="3600360" cy="979920"/>
            <a:chOff x="438840" y="2215440"/>
            <a:chExt cx="3600360" cy="979920"/>
          </a:xfrm>
        </p:grpSpPr>
        <p:sp>
          <p:nvSpPr>
            <p:cNvPr id="1261" name="Google Shape;2277;p232"/>
            <p:cNvSpPr/>
            <p:nvPr/>
          </p:nvSpPr>
          <p:spPr>
            <a:xfrm>
              <a:off x="438840" y="2215440"/>
              <a:ext cx="3600360" cy="97992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2" name="Google Shape;2278;p232"/>
            <p:cNvSpPr/>
            <p:nvPr/>
          </p:nvSpPr>
          <p:spPr>
            <a:xfrm>
              <a:off x="492480" y="2263680"/>
              <a:ext cx="3486240" cy="866160"/>
            </a:xfrm>
            <a:custGeom>
              <a:avLst/>
              <a:gdLst/>
              <a:ahLst/>
              <a:rect l="l" t="t" r="r" b="b"/>
              <a:pathLst>
                <a:path w="3489325" h="869314">
                  <a:moveTo>
                    <a:pt x="3489292" y="868790"/>
                  </a:moveTo>
                  <a:lnTo>
                    <a:pt x="0" y="868790"/>
                  </a:lnTo>
                  <a:lnTo>
                    <a:pt x="0" y="0"/>
                  </a:lnTo>
                  <a:lnTo>
                    <a:pt x="3489292" y="0"/>
                  </a:lnTo>
                  <a:lnTo>
                    <a:pt x="3489292" y="868790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63" name="Google Shape;2279;p232"/>
          <p:cNvSpPr/>
          <p:nvPr/>
        </p:nvSpPr>
        <p:spPr>
          <a:xfrm>
            <a:off x="492480" y="2263680"/>
            <a:ext cx="34862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3720" bIns="0" anchor="t">
            <a:spAutoFit/>
          </a:bodyPr>
          <a:p>
            <a:pPr marL="198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$ echo -n 's3cre!' | base64</a:t>
            </a:r>
            <a:endParaRPr b="0" lang="fr-FR" sz="1500" spc="-1" strike="noStrike">
              <a:latin typeface="Arial"/>
            </a:endParaRPr>
          </a:p>
          <a:p>
            <a:pPr marL="198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czNjcmUh</a:t>
            </a:r>
            <a:endParaRPr b="0" lang="fr-FR" sz="1500" spc="-1" strike="noStrike">
              <a:latin typeface="Arial"/>
            </a:endParaRPr>
          </a:p>
        </p:txBody>
      </p:sp>
      <p:grpSp>
        <p:nvGrpSpPr>
          <p:cNvPr id="1264" name="Google Shape;2280;p232"/>
          <p:cNvGrpSpPr/>
          <p:nvPr/>
        </p:nvGrpSpPr>
        <p:grpSpPr>
          <a:xfrm>
            <a:off x="1050840" y="3057840"/>
            <a:ext cx="3349800" cy="869760"/>
            <a:chOff x="1050840" y="3057840"/>
            <a:chExt cx="3349800" cy="869760"/>
          </a:xfrm>
        </p:grpSpPr>
        <p:sp>
          <p:nvSpPr>
            <p:cNvPr id="1265" name="Google Shape;2281;p232"/>
            <p:cNvSpPr/>
            <p:nvPr/>
          </p:nvSpPr>
          <p:spPr>
            <a:xfrm>
              <a:off x="1050840" y="3057840"/>
              <a:ext cx="3254400" cy="829080"/>
            </a:xfrm>
            <a:custGeom>
              <a:avLst/>
              <a:gdLst/>
              <a:ahLst/>
              <a:rect l="l" t="t" r="r" b="b"/>
              <a:pathLst>
                <a:path w="3257550" h="832485">
                  <a:moveTo>
                    <a:pt x="0" y="0"/>
                  </a:moveTo>
                  <a:lnTo>
                    <a:pt x="0" y="831898"/>
                  </a:lnTo>
                  <a:lnTo>
                    <a:pt x="3257093" y="831898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6" name="Google Shape;2282;p232"/>
            <p:cNvSpPr/>
            <p:nvPr/>
          </p:nvSpPr>
          <p:spPr>
            <a:xfrm>
              <a:off x="4298400" y="384876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0F5A3E0-F67A-435D-BCF4-DA9888C402DA}" type="slidenum">
              <a:t>173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2287;p233"/>
          <p:cNvSpPr/>
          <p:nvPr/>
        </p:nvSpPr>
        <p:spPr>
          <a:xfrm>
            <a:off x="441720" y="1289880"/>
            <a:ext cx="69285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Inside of the container, values are base64-decoded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26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6016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Consuming as Volume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269" name="Google Shape;2290;p233"/>
          <p:cNvSpPr/>
          <p:nvPr/>
        </p:nvSpPr>
        <p:spPr>
          <a:xfrm>
            <a:off x="786600" y="3574800"/>
            <a:ext cx="2498760" cy="51444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24800">
              <a:lnSpc>
                <a:spcPct val="103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volumeMounts:</a:t>
            </a:r>
            <a:endParaRPr b="0" lang="fr-FR" sz="1100" spc="-1" strike="noStrike">
              <a:latin typeface="Arial"/>
            </a:endParaRPr>
          </a:p>
          <a:p>
            <a:pPr marL="41328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secret-volume</a:t>
            </a:r>
            <a:endParaRPr b="0" lang="fr-FR" sz="1100" spc="-1" strike="noStrike">
              <a:latin typeface="Arial"/>
            </a:endParaRPr>
          </a:p>
          <a:p>
            <a:pPr marL="58032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mountPath: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/etc/secret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270" name="Google Shape;2291;p233"/>
          <p:cNvSpPr/>
          <p:nvPr/>
        </p:nvSpPr>
        <p:spPr>
          <a:xfrm>
            <a:off x="537480" y="2076120"/>
            <a:ext cx="2879640" cy="26971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9720" bIns="0" anchor="t">
            <a:spAutoFit/>
          </a:bodyPr>
          <a:p>
            <a:pPr marL="159480"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100" spc="-1" strike="noStrike">
              <a:latin typeface="Arial"/>
            </a:endParaRPr>
          </a:p>
          <a:p>
            <a:pPr marL="159480"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endParaRPr b="0" lang="fr-FR" sz="1100" spc="-1" strike="noStrike">
              <a:latin typeface="Arial"/>
            </a:endParaRPr>
          </a:p>
          <a:p>
            <a:pPr marL="159480"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100" spc="-1" strike="noStrike">
              <a:latin typeface="Arial"/>
            </a:endParaRPr>
          </a:p>
          <a:p>
            <a:pPr marL="32688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backend</a:t>
            </a:r>
            <a:endParaRPr b="0" lang="fr-FR" sz="1100" spc="-1" strike="noStrike">
              <a:latin typeface="Arial"/>
            </a:endParaRPr>
          </a:p>
          <a:p>
            <a:pPr marL="15948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100" spc="-1" strike="noStrike">
              <a:latin typeface="Arial"/>
            </a:endParaRPr>
          </a:p>
          <a:p>
            <a:pPr marL="32688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100" spc="-1" strike="noStrike">
              <a:latin typeface="Arial"/>
            </a:endParaRPr>
          </a:p>
          <a:p>
            <a:pPr marL="49464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backend</a:t>
            </a:r>
            <a:endParaRPr b="0" lang="fr-FR" sz="1100" spc="-1" strike="noStrike">
              <a:latin typeface="Arial"/>
            </a:endParaRPr>
          </a:p>
          <a:p>
            <a:pPr marL="67356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</a:t>
            </a:r>
            <a:endParaRPr b="0" lang="fr-FR" sz="1100" spc="-1" strike="noStrike">
              <a:latin typeface="Arial"/>
            </a:endParaRPr>
          </a:p>
          <a:p>
            <a:pPr marL="67356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200" spc="-1" strike="noStrike">
              <a:latin typeface="Arial"/>
            </a:endParaRPr>
          </a:p>
          <a:p>
            <a:pPr marL="67356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200" spc="-1" strike="noStrike">
              <a:latin typeface="Arial"/>
            </a:endParaRPr>
          </a:p>
          <a:p>
            <a:pPr marL="67356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200" spc="-1" strike="noStrike">
              <a:latin typeface="Arial"/>
            </a:endParaRPr>
          </a:p>
          <a:p>
            <a:pPr marL="3268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volumes:</a:t>
            </a:r>
            <a:endParaRPr b="0" lang="fr-FR" sz="1100" spc="-1" strike="noStrike">
              <a:latin typeface="Arial"/>
            </a:endParaRPr>
          </a:p>
          <a:p>
            <a:pPr marL="49464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secret-volume</a:t>
            </a:r>
            <a:endParaRPr b="0" lang="fr-FR" sz="1100" spc="-1" strike="noStrike">
              <a:latin typeface="Arial"/>
            </a:endParaRPr>
          </a:p>
          <a:p>
            <a:pPr marL="6624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secret:</a:t>
            </a:r>
            <a:endParaRPr b="0" lang="fr-FR" sz="1100" spc="-1" strike="noStrike">
              <a:latin typeface="Arial"/>
            </a:endParaRPr>
          </a:p>
          <a:p>
            <a:pPr marL="8298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secretName: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mysecret</a:t>
            </a:r>
            <a:endParaRPr b="0" lang="fr-FR" sz="1100" spc="-1" strike="noStrike">
              <a:latin typeface="Arial"/>
            </a:endParaRPr>
          </a:p>
        </p:txBody>
      </p:sp>
      <p:grpSp>
        <p:nvGrpSpPr>
          <p:cNvPr id="1271" name="Google Shape;2292;p233"/>
          <p:cNvGrpSpPr/>
          <p:nvPr/>
        </p:nvGrpSpPr>
        <p:grpSpPr>
          <a:xfrm>
            <a:off x="4435560" y="2027520"/>
            <a:ext cx="3665880" cy="1334520"/>
            <a:chOff x="4435560" y="2027520"/>
            <a:chExt cx="3665880" cy="1334520"/>
          </a:xfrm>
        </p:grpSpPr>
        <p:sp>
          <p:nvSpPr>
            <p:cNvPr id="1272" name="Google Shape;2293;p233"/>
            <p:cNvSpPr/>
            <p:nvPr/>
          </p:nvSpPr>
          <p:spPr>
            <a:xfrm>
              <a:off x="4435560" y="2027520"/>
              <a:ext cx="3665880" cy="133452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3" name="Google Shape;2294;p233"/>
            <p:cNvSpPr/>
            <p:nvPr/>
          </p:nvSpPr>
          <p:spPr>
            <a:xfrm>
              <a:off x="4488840" y="2076120"/>
              <a:ext cx="3552120" cy="1220400"/>
            </a:xfrm>
            <a:custGeom>
              <a:avLst/>
              <a:gdLst/>
              <a:ahLst/>
              <a:rect l="l" t="t" r="r" b="b"/>
              <a:pathLst>
                <a:path w="3555365" h="1223645">
                  <a:moveTo>
                    <a:pt x="3554992" y="1223397"/>
                  </a:moveTo>
                  <a:lnTo>
                    <a:pt x="0" y="1223397"/>
                  </a:lnTo>
                  <a:lnTo>
                    <a:pt x="0" y="0"/>
                  </a:lnTo>
                  <a:lnTo>
                    <a:pt x="3554992" y="0"/>
                  </a:lnTo>
                  <a:lnTo>
                    <a:pt x="3554992" y="1223397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74" name="Google Shape;2295;p233"/>
          <p:cNvSpPr/>
          <p:nvPr/>
        </p:nvSpPr>
        <p:spPr>
          <a:xfrm>
            <a:off x="4488840" y="2076120"/>
            <a:ext cx="355212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84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900" spc="-1" strike="noStrike">
              <a:latin typeface="Arial"/>
            </a:endParaRPr>
          </a:p>
          <a:p>
            <a:pPr marL="2268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$ kubectl exec -it backend -- /bin/sh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275" name="Google Shape;2296;p233"/>
          <p:cNvSpPr/>
          <p:nvPr/>
        </p:nvSpPr>
        <p:spPr>
          <a:xfrm>
            <a:off x="4630320" y="2378880"/>
            <a:ext cx="1928520" cy="51480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3240" bIns="0" anchor="t">
            <a:spAutoFit/>
          </a:bodyPr>
          <a:p>
            <a:pPr marL="84960">
              <a:lnSpc>
                <a:spcPct val="102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# ls /etc/secret  pwd</a:t>
            </a:r>
            <a:endParaRPr b="0" lang="fr-FR" sz="1100" spc="-1" strike="noStrike">
              <a:latin typeface="Arial"/>
            </a:endParaRPr>
          </a:p>
          <a:p>
            <a:pPr marL="84960">
              <a:lnSpc>
                <a:spcPct val="102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# cat /etc/secret/pwd  s3cre!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276" name="Google Shape;2297;p233"/>
          <p:cNvSpPr/>
          <p:nvPr/>
        </p:nvSpPr>
        <p:spPr>
          <a:xfrm>
            <a:off x="3500640" y="2764800"/>
            <a:ext cx="1012680" cy="1114200"/>
          </a:xfrm>
          <a:custGeom>
            <a:avLst/>
            <a:gdLst/>
            <a:ahLst/>
            <a:rect l="l" t="t" r="r" b="b"/>
            <a:pathLst>
              <a:path w="1016000" h="1117600">
                <a:moveTo>
                  <a:pt x="0" y="1117197"/>
                </a:moveTo>
                <a:lnTo>
                  <a:pt x="564898" y="1117197"/>
                </a:lnTo>
                <a:lnTo>
                  <a:pt x="564898" y="0"/>
                </a:lnTo>
                <a:lnTo>
                  <a:pt x="1015497" y="0"/>
                </a:lnTo>
              </a:path>
            </a:pathLst>
          </a:custGeom>
          <a:noFill/>
          <a:ln w="190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7" name="Google Shape;2298;p233"/>
          <p:cNvSpPr/>
          <p:nvPr/>
        </p:nvSpPr>
        <p:spPr>
          <a:xfrm>
            <a:off x="4506480" y="2723760"/>
            <a:ext cx="102240" cy="788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78" name="Google Shape;2299;p233" descr=""/>
          <p:cNvPicPr/>
          <p:nvPr/>
        </p:nvPicPr>
        <p:blipFill>
          <a:blip r:embed="rId3"/>
          <a:stretch/>
        </p:blipFill>
        <p:spPr>
          <a:xfrm>
            <a:off x="763200" y="3587400"/>
            <a:ext cx="2498760" cy="566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6287F8C-C3E9-485E-B802-C7C02D8D938C}" type="slidenum">
              <a:t>174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2304;p234"/>
          <p:cNvSpPr/>
          <p:nvPr/>
        </p:nvSpPr>
        <p:spPr>
          <a:xfrm>
            <a:off x="441720" y="1289880"/>
            <a:ext cx="52909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The table only lists some, more in </a:t>
            </a:r>
            <a:r>
              <a:rPr b="0" i="1" lang="en-US" sz="2400" spc="-1" strike="noStrike" u="sng">
                <a:solidFill>
                  <a:srgbClr val="d3002d"/>
                </a:solidFill>
                <a:uFillTx/>
                <a:latin typeface="Arial"/>
                <a:ea typeface="Arial"/>
                <a:hlinkClick r:id="rId1"/>
              </a:rPr>
              <a:t>docs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280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6092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Specialized Secret Types</a:t>
            </a:r>
            <a:endParaRPr b="0" lang="fr-FR" sz="4000" spc="-1" strike="noStrike">
              <a:latin typeface="Arial"/>
            </a:endParaRPr>
          </a:p>
        </p:txBody>
      </p:sp>
      <p:graphicFrame>
        <p:nvGraphicFramePr>
          <p:cNvPr id="1281" name="Google Shape;2306;p234"/>
          <p:cNvGraphicFramePr/>
          <p:nvPr/>
        </p:nvGraphicFramePr>
        <p:xfrm>
          <a:off x="958680" y="2280240"/>
          <a:ext cx="6786720" cy="2153160"/>
        </p:xfrm>
        <a:graphic>
          <a:graphicData uri="http://schemas.openxmlformats.org/drawingml/2006/table">
            <a:tbl>
              <a:tblPr/>
              <a:tblGrid>
                <a:gridCol w="3658680"/>
                <a:gridCol w="3128400"/>
              </a:tblGrid>
              <a:tr h="290520">
                <a:tc gridSpan="2"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3002d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Type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054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47448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kubernetes.io/basic-auth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054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Credentials for basic authentication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448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kubernetes.io/ssh-auth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054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Credentials for SSH authentication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kubernetes.io/service-account-token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50" spc="-1" strike="noStrike">
                        <a:latin typeface="Arial"/>
                      </a:endParaRPr>
                    </a:p>
                    <a:p>
                      <a:pPr marL="1054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ServiceAccount token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D0FD893-A27B-41AF-81A3-0E4483801256}" type="slidenum">
              <a:t>175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2311;p235"/>
          <p:cNvSpPr/>
          <p:nvPr/>
        </p:nvSpPr>
        <p:spPr>
          <a:xfrm>
            <a:off x="441720" y="1289880"/>
            <a:ext cx="76737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The </a:t>
            </a:r>
            <a:r>
              <a:rPr b="0" i="1" lang="en-US" sz="2400" spc="-1" strike="noStrike">
                <a:solidFill>
                  <a:srgbClr val="595959"/>
                </a:solidFill>
                <a:latin typeface="Courier New"/>
                <a:ea typeface="Courier New"/>
              </a:rPr>
              <a:t>stringData </a:t>
            </a: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attribute allows for plain-text values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28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2240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Plain-Text Secret Values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284" name="Google Shape;2314;p235"/>
          <p:cNvSpPr/>
          <p:nvPr/>
        </p:nvSpPr>
        <p:spPr>
          <a:xfrm>
            <a:off x="591120" y="3556080"/>
            <a:ext cx="1356840" cy="23688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85680"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stringData: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285" name="Google Shape;2315;p235"/>
          <p:cNvSpPr/>
          <p:nvPr/>
        </p:nvSpPr>
        <p:spPr>
          <a:xfrm>
            <a:off x="454320" y="2223000"/>
            <a:ext cx="3994200" cy="199908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9840" bIns="0" anchor="t">
            <a:spAutoFit/>
          </a:bodyPr>
          <a:p>
            <a:pPr marL="222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endParaRPr b="0" lang="fr-FR" sz="1500" spc="-1" strike="noStrike">
              <a:latin typeface="Arial"/>
            </a:endParaRPr>
          </a:p>
          <a:p>
            <a:pPr marL="222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Secret  </a:t>
            </a:r>
            <a:endParaRPr b="0" lang="fr-FR" sz="1500" spc="-1" strike="noStrike">
              <a:latin typeface="Arial"/>
            </a:endParaRPr>
          </a:p>
          <a:p>
            <a:pPr marL="222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500" spc="-1" strike="noStrike">
              <a:latin typeface="Arial"/>
            </a:endParaRPr>
          </a:p>
          <a:p>
            <a:pPr marL="4507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secret-basic-auth</a:t>
            </a:r>
            <a:endParaRPr b="0" lang="fr-FR" sz="1500" spc="-1" strike="noStrike">
              <a:latin typeface="Arial"/>
            </a:endParaRPr>
          </a:p>
          <a:p>
            <a:pPr marL="222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type: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kubernetes.io/basic-auth</a:t>
            </a:r>
            <a:endParaRPr b="0" lang="fr-FR" sz="1500" spc="-1" strike="noStrike">
              <a:latin typeface="Arial"/>
            </a:endParaRPr>
          </a:p>
          <a:p>
            <a:pPr marL="222120">
              <a:lnSpc>
                <a:spcPct val="100000"/>
              </a:lnSpc>
              <a:spcBef>
                <a:spcPts val="45"/>
              </a:spcBef>
              <a:buNone/>
              <a:tabLst>
                <a:tab algn="l" pos="0"/>
              </a:tabLst>
            </a:pPr>
            <a:endParaRPr b="0" lang="fr-FR" sz="1550" spc="-1" strike="noStrike">
              <a:latin typeface="Arial"/>
            </a:endParaRPr>
          </a:p>
          <a:p>
            <a:pPr marL="4507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username: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admin</a:t>
            </a:r>
            <a:endParaRPr b="0" lang="fr-FR" sz="1500" spc="-1" strike="noStrike">
              <a:latin typeface="Arial"/>
            </a:endParaRPr>
          </a:p>
          <a:p>
            <a:pPr marL="4507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password: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t0p-Secret</a:t>
            </a:r>
            <a:endParaRPr b="0" lang="fr-FR" sz="1500" spc="-1" strike="noStrike">
              <a:latin typeface="Arial"/>
            </a:endParaRPr>
          </a:p>
        </p:txBody>
      </p:sp>
      <p:pic>
        <p:nvPicPr>
          <p:cNvPr id="1286" name="Google Shape;2316;p235" descr=""/>
          <p:cNvPicPr/>
          <p:nvPr/>
        </p:nvPicPr>
        <p:blipFill>
          <a:blip r:embed="rId1"/>
          <a:stretch/>
        </p:blipFill>
        <p:spPr>
          <a:xfrm>
            <a:off x="561240" y="3498120"/>
            <a:ext cx="1441080" cy="2980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1A7D994-9EA5-447E-8D05-2AA4A84E773F}" type="slidenum">
              <a:t>176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object 62"/>
          <p:cNvSpPr/>
          <p:nvPr/>
        </p:nvSpPr>
        <p:spPr>
          <a:xfrm>
            <a:off x="3557880" y="1953720"/>
            <a:ext cx="313632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algn="ctr">
              <a:lnSpc>
                <a:spcPct val="150000"/>
              </a:lnSpc>
              <a:buNone/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Config Data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1288" name="object 63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13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FB5E80-AD9D-462D-BB8D-3E3D3BC1B6BE}" type="slidenum">
              <a:t>177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2327;p238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0" name="Google Shape;2328;p238"/>
          <p:cNvSpPr/>
          <p:nvPr/>
        </p:nvSpPr>
        <p:spPr>
          <a:xfrm>
            <a:off x="545040" y="1629360"/>
            <a:ext cx="677556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Security Contexts for Pods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291" name="Google Shape;2329;p238"/>
          <p:cNvSpPr/>
          <p:nvPr/>
        </p:nvSpPr>
        <p:spPr>
          <a:xfrm>
            <a:off x="545040" y="2375640"/>
            <a:ext cx="53420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Defining Privilege and Access Control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61010D1-7DCB-46B9-B37A-1ABF608FBD45}" type="slidenum">
              <a:t>178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2334;p239"/>
          <p:cNvSpPr/>
          <p:nvPr/>
        </p:nvSpPr>
        <p:spPr>
          <a:xfrm>
            <a:off x="385920" y="1148760"/>
            <a:ext cx="8162280" cy="257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Privilege and access control settings for a Pod or container</a:t>
            </a:r>
            <a:endParaRPr b="0" lang="fr-FR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2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Modeled as a set of attributes under the attribute </a:t>
            </a:r>
            <a:r>
              <a:rPr b="0" lang="en-US" sz="2000" spc="-1" strike="noStrike">
                <a:solidFill>
                  <a:srgbClr val="595959"/>
                </a:solidFill>
                <a:latin typeface="Courier New"/>
                <a:ea typeface="Courier New"/>
              </a:rPr>
              <a:t>securityContext</a:t>
            </a:r>
            <a:endParaRPr b="0" lang="fr-FR" sz="2000" spc="-1" strike="noStrike">
              <a:latin typeface="Arial"/>
            </a:endParaRPr>
          </a:p>
          <a:p>
            <a:pPr marL="33336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within the Pod specification.</a:t>
            </a:r>
            <a:endParaRPr b="0" lang="fr-FR" sz="2000" spc="-1" strike="noStrike">
              <a:latin typeface="Arial"/>
            </a:endParaRPr>
          </a:p>
          <a:p>
            <a:pPr marL="333360"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Can be applied to all containers in Pod or for individual containers.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Example: </a:t>
            </a: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“This container needs to run with a non-root user.”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29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8742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What is a Security Context?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9BE7145-6F7E-4F16-B4E0-406A527D7E3E}" type="slidenum">
              <a:t>179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2340;p240"/>
          <p:cNvSpPr/>
          <p:nvPr/>
        </p:nvSpPr>
        <p:spPr>
          <a:xfrm>
            <a:off x="441720" y="1289880"/>
            <a:ext cx="45028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Pod- vs. container-level definition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295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8144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Defining a Security Context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1296" name="Google Shape;2342;p240"/>
          <p:cNvGrpSpPr/>
          <p:nvPr/>
        </p:nvGrpSpPr>
        <p:grpSpPr>
          <a:xfrm>
            <a:off x="483840" y="2073240"/>
            <a:ext cx="3173040" cy="2845800"/>
            <a:chOff x="483840" y="2073240"/>
            <a:chExt cx="3173040" cy="2845800"/>
          </a:xfrm>
        </p:grpSpPr>
        <p:sp>
          <p:nvSpPr>
            <p:cNvPr id="1297" name="Google Shape;2343;p240"/>
            <p:cNvSpPr/>
            <p:nvPr/>
          </p:nvSpPr>
          <p:spPr>
            <a:xfrm>
              <a:off x="483840" y="2073240"/>
              <a:ext cx="3173040" cy="28458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8" name="Google Shape;2344;p240"/>
            <p:cNvSpPr/>
            <p:nvPr/>
          </p:nvSpPr>
          <p:spPr>
            <a:xfrm>
              <a:off x="537480" y="2121480"/>
              <a:ext cx="3059280" cy="2731680"/>
            </a:xfrm>
            <a:custGeom>
              <a:avLst/>
              <a:gdLst/>
              <a:ahLst/>
              <a:rect l="l" t="t" r="r" b="b"/>
              <a:pathLst>
                <a:path w="3062604" h="2734945">
                  <a:moveTo>
                    <a:pt x="3062093" y="2734794"/>
                  </a:moveTo>
                  <a:lnTo>
                    <a:pt x="0" y="2734794"/>
                  </a:lnTo>
                  <a:lnTo>
                    <a:pt x="0" y="0"/>
                  </a:lnTo>
                  <a:lnTo>
                    <a:pt x="3062093" y="0"/>
                  </a:lnTo>
                  <a:lnTo>
                    <a:pt x="3062093" y="27347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99" name="Google Shape;2345;p240"/>
          <p:cNvSpPr/>
          <p:nvPr/>
        </p:nvSpPr>
        <p:spPr>
          <a:xfrm>
            <a:off x="747360" y="2252160"/>
            <a:ext cx="190044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Pod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2070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secured-pod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300" name="Google Shape;2346;p240"/>
          <p:cNvSpPr/>
          <p:nvPr/>
        </p:nvSpPr>
        <p:spPr>
          <a:xfrm>
            <a:off x="923040" y="3272400"/>
            <a:ext cx="1784880" cy="42696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92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securityContext:</a:t>
            </a:r>
            <a:endParaRPr b="0" lang="fr-FR" sz="1300" spc="-1" strike="noStrike">
              <a:latin typeface="Arial"/>
            </a:endParaRPr>
          </a:p>
          <a:p>
            <a:pPr marL="22536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runAsUser: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1000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301" name="Google Shape;2347;p240"/>
          <p:cNvSpPr/>
          <p:nvPr/>
        </p:nvSpPr>
        <p:spPr>
          <a:xfrm>
            <a:off x="941760" y="3652200"/>
            <a:ext cx="249480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containers:</a:t>
            </a:r>
            <a:endParaRPr b="0" lang="fr-FR" sz="1300" spc="-1" strike="noStrike">
              <a:latin typeface="Arial"/>
            </a:endParaRPr>
          </a:p>
          <a:p>
            <a:pPr marL="158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image: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nginx:1.18.0</a:t>
            </a:r>
            <a:endParaRPr b="0" lang="fr-FR" sz="1300" spc="-1" strike="noStrike">
              <a:latin typeface="Arial"/>
            </a:endParaRPr>
          </a:p>
          <a:p>
            <a:pPr marL="2070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secured-container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302" name="Google Shape;2348;p240"/>
          <p:cNvSpPr/>
          <p:nvPr/>
        </p:nvSpPr>
        <p:spPr>
          <a:xfrm>
            <a:off x="1093680" y="4296960"/>
            <a:ext cx="1919520" cy="397440"/>
          </a:xfrm>
          <a:prstGeom prst="rect">
            <a:avLst/>
          </a:prstGeom>
          <a:solidFill>
            <a:srgbClr val="f6f6f7"/>
          </a:solidFill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622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securityContext:</a:t>
            </a:r>
            <a:endParaRPr b="0" lang="fr-FR" sz="1300" spc="-1" strike="noStrike">
              <a:latin typeface="Arial"/>
            </a:endParaRPr>
          </a:p>
          <a:p>
            <a:pPr marL="24876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runAsGroup: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3000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1303" name="Google Shape;2349;p240"/>
          <p:cNvGrpSpPr/>
          <p:nvPr/>
        </p:nvGrpSpPr>
        <p:grpSpPr>
          <a:xfrm>
            <a:off x="2829240" y="3420000"/>
            <a:ext cx="1824840" cy="1132200"/>
            <a:chOff x="2829240" y="3420000"/>
            <a:chExt cx="1824840" cy="1132200"/>
          </a:xfrm>
        </p:grpSpPr>
        <p:sp>
          <p:nvSpPr>
            <p:cNvPr id="1304" name="Google Shape;2350;p240"/>
            <p:cNvSpPr/>
            <p:nvPr/>
          </p:nvSpPr>
          <p:spPr>
            <a:xfrm>
              <a:off x="2925000" y="3461040"/>
              <a:ext cx="1729080" cy="360"/>
            </a:xfrm>
            <a:custGeom>
              <a:avLst/>
              <a:gdLst/>
              <a:ahLst/>
              <a:rect l="l" t="t" r="r" b="b"/>
              <a:pathLst>
                <a:path w="1732279" h="120000">
                  <a:moveTo>
                    <a:pt x="1732196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5" name="Google Shape;2351;p240"/>
            <p:cNvSpPr/>
            <p:nvPr/>
          </p:nvSpPr>
          <p:spPr>
            <a:xfrm>
              <a:off x="2829240" y="342000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6" name="Google Shape;2352;p240"/>
            <p:cNvSpPr/>
            <p:nvPr/>
          </p:nvSpPr>
          <p:spPr>
            <a:xfrm>
              <a:off x="3226680" y="4514400"/>
              <a:ext cx="1395720" cy="360"/>
            </a:xfrm>
            <a:custGeom>
              <a:avLst/>
              <a:gdLst/>
              <a:ahLst/>
              <a:rect l="l" t="t" r="r" b="b"/>
              <a:pathLst>
                <a:path w="1398904" h="120000">
                  <a:moveTo>
                    <a:pt x="1398897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7" name="Google Shape;2353;p240"/>
            <p:cNvSpPr/>
            <p:nvPr/>
          </p:nvSpPr>
          <p:spPr>
            <a:xfrm>
              <a:off x="3130560" y="447336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08" name="Google Shape;2354;p240"/>
          <p:cNvSpPr/>
          <p:nvPr/>
        </p:nvSpPr>
        <p:spPr>
          <a:xfrm>
            <a:off x="4698360" y="3308760"/>
            <a:ext cx="210492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Defined on the Pod-level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309" name="Google Shape;2355;p240"/>
          <p:cNvSpPr/>
          <p:nvPr/>
        </p:nvSpPr>
        <p:spPr>
          <a:xfrm>
            <a:off x="4698360" y="4362120"/>
            <a:ext cx="255132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Defined on the container-level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50D6DBC-EAA9-4F1A-A2A1-04FCD669D2F5}" type="slidenum">
              <a:t>180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9349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Security Context API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11" name="Google Shape;2361;p241"/>
          <p:cNvSpPr/>
          <p:nvPr/>
        </p:nvSpPr>
        <p:spPr>
          <a:xfrm>
            <a:off x="441720" y="1289880"/>
            <a:ext cx="707760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Only partial overlap for Pod- and container attributes</a:t>
            </a:r>
            <a:endParaRPr b="0" lang="fr-FR" sz="2400" spc="-1" strike="noStrike">
              <a:latin typeface="Arial"/>
            </a:endParaRPr>
          </a:p>
        </p:txBody>
      </p:sp>
      <p:graphicFrame>
        <p:nvGraphicFramePr>
          <p:cNvPr id="1312" name="Google Shape;2362;p241"/>
          <p:cNvGraphicFramePr/>
          <p:nvPr/>
        </p:nvGraphicFramePr>
        <p:xfrm>
          <a:off x="1520640" y="2210400"/>
          <a:ext cx="6101640" cy="1728000"/>
        </p:xfrm>
        <a:graphic>
          <a:graphicData uri="http://schemas.openxmlformats.org/drawingml/2006/table">
            <a:tbl>
              <a:tblPr/>
              <a:tblGrid>
                <a:gridCol w="2048760"/>
                <a:gridCol w="4053240"/>
              </a:tblGrid>
              <a:tr h="345600">
                <a:tc gridSpan="2"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3002d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6756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API</a:t>
                      </a:r>
                      <a:endParaRPr b="0" lang="fr-FR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352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b="0" lang="fr-FR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50760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 u="sng">
                          <a:solidFill>
                            <a:srgbClr val="d3002d"/>
                          </a:solidFill>
                          <a:uFillTx/>
                          <a:latin typeface="Arial"/>
                          <a:ea typeface="Arial"/>
                          <a:hlinkClick r:id="rId1"/>
                        </a:rPr>
                        <a:t>PodSecurityContext</a:t>
                      </a:r>
                      <a:endParaRPr b="0" lang="fr-FR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352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Defines Pod-level security attributes.</a:t>
                      </a:r>
                      <a:endParaRPr b="0" lang="fr-FR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760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 u="sng">
                          <a:solidFill>
                            <a:srgbClr val="d3002d"/>
                          </a:solidFill>
                          <a:uFillTx/>
                          <a:latin typeface="Arial"/>
                          <a:ea typeface="Arial"/>
                          <a:hlinkClick r:id="rId2"/>
                        </a:rPr>
                        <a:t>SecurityContext</a:t>
                      </a:r>
                      <a:endParaRPr b="0" lang="fr-FR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7352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Defines container-level security attributes.</a:t>
                      </a:r>
                      <a:endParaRPr b="0" lang="fr-FR" sz="15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5078E55-3E3A-4A83-86AC-94C6D73A05EB}" type="slidenum">
              <a:t>181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object 64"/>
          <p:cNvSpPr/>
          <p:nvPr/>
        </p:nvSpPr>
        <p:spPr>
          <a:xfrm>
            <a:off x="3557880" y="1953720"/>
            <a:ext cx="3136320" cy="13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algn="ctr">
              <a:lnSpc>
                <a:spcPct val="150000"/>
              </a:lnSpc>
              <a:buNone/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Security Context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1314" name="object 65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14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B0C963-BD3F-44E5-9812-DB03EA559899}" type="slidenum">
              <a:t>182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2373;p244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6" name="Google Shape;2374;p244"/>
          <p:cNvSpPr/>
          <p:nvPr/>
        </p:nvSpPr>
        <p:spPr>
          <a:xfrm>
            <a:off x="545040" y="1629360"/>
            <a:ext cx="210888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Services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17" name="Google Shape;2375;p244"/>
          <p:cNvSpPr/>
          <p:nvPr/>
        </p:nvSpPr>
        <p:spPr>
          <a:xfrm>
            <a:off x="545040" y="2375640"/>
            <a:ext cx="53060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Service Types and Troubleshooting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BF9B46-D346-4EAB-AAB5-E74E31E62E3F}" type="slidenum">
              <a:t>183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2380;p245"/>
          <p:cNvSpPr/>
          <p:nvPr/>
        </p:nvSpPr>
        <p:spPr>
          <a:xfrm>
            <a:off x="385920" y="1148760"/>
            <a:ext cx="8428320" cy="31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Discoverable networking capability for Pods</a:t>
            </a:r>
            <a:endParaRPr b="0" lang="fr-FR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2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A Pod’s IP address is not considered stable over time. A Pod restart  leases a new IP address.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Building a microservices architecture on Kubernetes requires network  interfaces stable over time.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A Service provides discoverable names and load balancing to a set of  Pods.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1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8268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What is a Service?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4B5003F-E33F-4EC2-AAB2-FDCC62119491}" type="slidenum">
              <a:t>184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2386;p246"/>
          <p:cNvSpPr/>
          <p:nvPr/>
        </p:nvSpPr>
        <p:spPr>
          <a:xfrm>
            <a:off x="385920" y="1149840"/>
            <a:ext cx="843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“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How does a service decide which Pod to forward the request to?”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321" name="Google Shape;2387;p246"/>
          <p:cNvSpPr/>
          <p:nvPr/>
        </p:nvSpPr>
        <p:spPr>
          <a:xfrm>
            <a:off x="385920" y="391320"/>
            <a:ext cx="435708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Request Routing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22" name="Google Shape;2388;p246"/>
          <p:cNvSpPr/>
          <p:nvPr/>
        </p:nvSpPr>
        <p:spPr>
          <a:xfrm>
            <a:off x="2233440" y="2007000"/>
            <a:ext cx="4673520" cy="25884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9B7F085-C7FA-4D0A-8D13-11F7E3E81EA7}" type="slidenum">
              <a:t>185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7780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Different Types of Services</a:t>
            </a:r>
            <a:endParaRPr b="0" lang="fr-FR" sz="4000" spc="-1" strike="noStrike">
              <a:latin typeface="Arial"/>
            </a:endParaRPr>
          </a:p>
        </p:txBody>
      </p:sp>
      <p:graphicFrame>
        <p:nvGraphicFramePr>
          <p:cNvPr id="1324" name="Google Shape;2394;p247"/>
          <p:cNvGraphicFramePr/>
          <p:nvPr/>
        </p:nvGraphicFramePr>
        <p:xfrm>
          <a:off x="1438560" y="1268640"/>
          <a:ext cx="6481080" cy="3035880"/>
        </p:xfrm>
        <a:graphic>
          <a:graphicData uri="http://schemas.openxmlformats.org/drawingml/2006/table">
            <a:tbl>
              <a:tblPr/>
              <a:tblGrid>
                <a:gridCol w="2373120"/>
                <a:gridCol w="4108320"/>
              </a:tblGrid>
              <a:tr h="274680">
                <a:tc gridSpan="2"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3002d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0960">
                <a:tc>
                  <a:txBody>
                    <a:bodyPr anchor="t">
                      <a:noAutofit/>
                    </a:bodyPr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Type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9208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Behavior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882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650" spc="-1" strike="noStrike">
                        <a:latin typeface="Arial"/>
                      </a:endParaRPr>
                    </a:p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ClusterIP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920880">
                        <a:lnSpc>
                          <a:spcPct val="118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Exposes the service on a</a:t>
                      </a:r>
                      <a:endParaRPr b="0" lang="fr-FR" sz="1400" spc="-1" strike="noStrike">
                        <a:latin typeface="Arial"/>
                      </a:endParaRPr>
                    </a:p>
                    <a:p>
                      <a:pPr marL="920880">
                        <a:lnSpc>
                          <a:spcPct val="117000"/>
                        </a:lnSpc>
                        <a:spcBef>
                          <a:spcPts val="65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cluster-internal IP. Only reachable  from within the cluster.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896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650" spc="-1" strike="noStrike">
                        <a:latin typeface="Arial"/>
                      </a:endParaRPr>
                    </a:p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NodePort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920880">
                        <a:lnSpc>
                          <a:spcPct val="11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Exposes the service on each node's  IP at a static port. Accessible from  outside of the cluster.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8d8d8"/>
                    </a:solidFill>
                  </a:tcPr>
                </a:tc>
              </a:tr>
              <a:tr h="681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fr-FR" sz="1300" spc="-1" strike="noStrike">
                        <a:latin typeface="Arial"/>
                      </a:endParaRPr>
                    </a:p>
                    <a:p>
                      <a:pPr marL="856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Courier New"/>
                          <a:ea typeface="Courier New"/>
                        </a:rPr>
                        <a:t>LoadBalancer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920880">
                        <a:lnSpc>
                          <a:spcPct val="11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d3002d"/>
                          </a:solidFill>
                          <a:latin typeface="Arial"/>
                          <a:ea typeface="Arial"/>
                        </a:rPr>
                        <a:t>Exposes the service externally using  a cloud provider’s load balancer.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A788894-1F74-48D3-8B83-781CA3136F33}" type="slidenum">
              <a:t>186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2415;p249"/>
          <p:cNvSpPr/>
          <p:nvPr/>
        </p:nvSpPr>
        <p:spPr>
          <a:xfrm>
            <a:off x="441720" y="1289880"/>
            <a:ext cx="70635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Defines containers and their images running in them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32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26220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Service YAML Manifest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1327" name="Google Shape;2417;p249"/>
          <p:cNvGrpSpPr/>
          <p:nvPr/>
        </p:nvGrpSpPr>
        <p:grpSpPr>
          <a:xfrm>
            <a:off x="446040" y="2137680"/>
            <a:ext cx="3488400" cy="2679840"/>
            <a:chOff x="446040" y="2137680"/>
            <a:chExt cx="3488400" cy="2679840"/>
          </a:xfrm>
        </p:grpSpPr>
        <p:sp>
          <p:nvSpPr>
            <p:cNvPr id="1328" name="Google Shape;2418;p249"/>
            <p:cNvSpPr/>
            <p:nvPr/>
          </p:nvSpPr>
          <p:spPr>
            <a:xfrm>
              <a:off x="446040" y="2137680"/>
              <a:ext cx="3488400" cy="26798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9" name="Google Shape;2419;p249"/>
            <p:cNvSpPr/>
            <p:nvPr/>
          </p:nvSpPr>
          <p:spPr>
            <a:xfrm>
              <a:off x="499680" y="2185920"/>
              <a:ext cx="3374280" cy="2566080"/>
            </a:xfrm>
            <a:custGeom>
              <a:avLst/>
              <a:gdLst/>
              <a:ahLst/>
              <a:rect l="l" t="t" r="r" b="b"/>
              <a:pathLst>
                <a:path w="3377565" h="2569210">
                  <a:moveTo>
                    <a:pt x="3377393" y="2568894"/>
                  </a:moveTo>
                  <a:lnTo>
                    <a:pt x="0" y="2568894"/>
                  </a:lnTo>
                  <a:lnTo>
                    <a:pt x="0" y="0"/>
                  </a:lnTo>
                  <a:lnTo>
                    <a:pt x="3377393" y="0"/>
                  </a:lnTo>
                  <a:lnTo>
                    <a:pt x="3377393" y="25688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30" name="Google Shape;2420;p249"/>
          <p:cNvSpPr/>
          <p:nvPr/>
        </p:nvSpPr>
        <p:spPr>
          <a:xfrm>
            <a:off x="695520" y="2324160"/>
            <a:ext cx="1805400" cy="12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0" anchor="t">
            <a:spAutoFit/>
          </a:bodyPr>
          <a:p>
            <a:pPr marL="12600">
              <a:lnSpc>
                <a:spcPct val="101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v1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Service  </a:t>
            </a: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2102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echoserver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2102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type: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ClusterIP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331" name="Google Shape;2421;p249"/>
          <p:cNvSpPr/>
          <p:nvPr/>
        </p:nvSpPr>
        <p:spPr>
          <a:xfrm>
            <a:off x="893880" y="3524040"/>
            <a:ext cx="180540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selector:</a:t>
            </a:r>
            <a:endParaRPr b="0" lang="fr-FR" sz="1300" spc="-1" strike="noStrike">
              <a:latin typeface="Arial"/>
            </a:endParaRPr>
          </a:p>
          <a:p>
            <a:pPr marL="2102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app: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echoserver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ports:</a:t>
            </a:r>
            <a:endParaRPr b="0" lang="fr-F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- port: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80</a:t>
            </a:r>
            <a:endParaRPr b="0" lang="fr-FR" sz="1300" spc="-1" strike="noStrike">
              <a:latin typeface="Arial"/>
            </a:endParaRPr>
          </a:p>
          <a:p>
            <a:pPr marL="2102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targetPort: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8080</a:t>
            </a:r>
            <a:endParaRPr b="0" lang="fr-FR" sz="1300" spc="-1" strike="noStrike">
              <a:latin typeface="Arial"/>
            </a:endParaRPr>
          </a:p>
        </p:txBody>
      </p:sp>
      <p:grpSp>
        <p:nvGrpSpPr>
          <p:cNvPr id="1332" name="Google Shape;2422;p249"/>
          <p:cNvGrpSpPr/>
          <p:nvPr/>
        </p:nvGrpSpPr>
        <p:grpSpPr>
          <a:xfrm>
            <a:off x="2554200" y="3429360"/>
            <a:ext cx="2074680" cy="964440"/>
            <a:chOff x="2554200" y="3429360"/>
            <a:chExt cx="2074680" cy="964440"/>
          </a:xfrm>
        </p:grpSpPr>
        <p:sp>
          <p:nvSpPr>
            <p:cNvPr id="1333" name="Google Shape;2423;p249"/>
            <p:cNvSpPr/>
            <p:nvPr/>
          </p:nvSpPr>
          <p:spPr>
            <a:xfrm>
              <a:off x="2650320" y="3470400"/>
              <a:ext cx="1978560" cy="360"/>
            </a:xfrm>
            <a:custGeom>
              <a:avLst/>
              <a:gdLst/>
              <a:ahLst/>
              <a:rect l="l" t="t" r="r" b="b"/>
              <a:pathLst>
                <a:path w="1981835" h="120000">
                  <a:moveTo>
                    <a:pt x="1981496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4" name="Google Shape;2424;p249"/>
            <p:cNvSpPr/>
            <p:nvPr/>
          </p:nvSpPr>
          <p:spPr>
            <a:xfrm>
              <a:off x="2554200" y="342936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5" name="Google Shape;2425;p249"/>
            <p:cNvSpPr/>
            <p:nvPr/>
          </p:nvSpPr>
          <p:spPr>
            <a:xfrm>
              <a:off x="2887200" y="431496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36" name="Google Shape;2426;p249"/>
          <p:cNvSpPr/>
          <p:nvPr/>
        </p:nvSpPr>
        <p:spPr>
          <a:xfrm>
            <a:off x="3844440" y="4149360"/>
            <a:ext cx="47516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50" spc="-1" strike="noStrike" u="sng" baseline="3000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0" lang="en-US" sz="1950" spc="-1" strike="noStrike" u="sng" baseline="3000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US" sz="195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Mapping of incoming to outgoing port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337" name="Google Shape;2427;p249"/>
          <p:cNvSpPr/>
          <p:nvPr/>
        </p:nvSpPr>
        <p:spPr>
          <a:xfrm>
            <a:off x="4728600" y="3334320"/>
            <a:ext cx="9975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Service type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1338" name="Google Shape;2428;p249"/>
          <p:cNvGrpSpPr/>
          <p:nvPr/>
        </p:nvGrpSpPr>
        <p:grpSpPr>
          <a:xfrm>
            <a:off x="2724840" y="3822840"/>
            <a:ext cx="1894680" cy="78840"/>
            <a:chOff x="2724840" y="3822840"/>
            <a:chExt cx="1894680" cy="78840"/>
          </a:xfrm>
        </p:grpSpPr>
        <p:sp>
          <p:nvSpPr>
            <p:cNvPr id="1339" name="Google Shape;2429;p249"/>
            <p:cNvSpPr/>
            <p:nvPr/>
          </p:nvSpPr>
          <p:spPr>
            <a:xfrm>
              <a:off x="2820600" y="3863880"/>
              <a:ext cx="1798920" cy="360"/>
            </a:xfrm>
            <a:custGeom>
              <a:avLst/>
              <a:gdLst/>
              <a:ahLst/>
              <a:rect l="l" t="t" r="r" b="b"/>
              <a:pathLst>
                <a:path w="1802129" h="120000">
                  <a:moveTo>
                    <a:pt x="1802096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0" name="Google Shape;2430;p249"/>
            <p:cNvSpPr/>
            <p:nvPr/>
          </p:nvSpPr>
          <p:spPr>
            <a:xfrm>
              <a:off x="2724840" y="3822840"/>
              <a:ext cx="102240" cy="788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1" name="Google Shape;2431;p249"/>
          <p:cNvSpPr/>
          <p:nvPr/>
        </p:nvSpPr>
        <p:spPr>
          <a:xfrm>
            <a:off x="4730760" y="3727800"/>
            <a:ext cx="26470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Label selection for Pods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1342" name="Google Shape;2432;p249"/>
          <p:cNvGrpSpPr/>
          <p:nvPr/>
        </p:nvGrpSpPr>
        <p:grpSpPr>
          <a:xfrm>
            <a:off x="2877120" y="4316040"/>
            <a:ext cx="1895040" cy="78840"/>
            <a:chOff x="2877120" y="4316040"/>
            <a:chExt cx="1895040" cy="78840"/>
          </a:xfrm>
        </p:grpSpPr>
        <p:sp>
          <p:nvSpPr>
            <p:cNvPr id="1343" name="Google Shape;2433;p249"/>
            <p:cNvSpPr/>
            <p:nvPr/>
          </p:nvSpPr>
          <p:spPr>
            <a:xfrm>
              <a:off x="2973240" y="4357080"/>
              <a:ext cx="1798920" cy="360"/>
            </a:xfrm>
            <a:custGeom>
              <a:avLst/>
              <a:gdLst/>
              <a:ahLst/>
              <a:rect l="l" t="t" r="r" b="b"/>
              <a:pathLst>
                <a:path w="1802129" h="120000">
                  <a:moveTo>
                    <a:pt x="1802096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4" name="Google Shape;2434;p249"/>
            <p:cNvSpPr/>
            <p:nvPr/>
          </p:nvSpPr>
          <p:spPr>
            <a:xfrm>
              <a:off x="2877120" y="4316040"/>
              <a:ext cx="102240" cy="7884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90AB05B-1924-4F42-B3F5-472AFE8B4379}" type="slidenum">
              <a:t>187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2439;p250"/>
          <p:cNvSpPr/>
          <p:nvPr/>
        </p:nvSpPr>
        <p:spPr>
          <a:xfrm>
            <a:off x="385920" y="1149840"/>
            <a:ext cx="753192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“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How to map the service port to the container port in Pod?”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346" name="Google Shape;2440;p250"/>
          <p:cNvSpPr/>
          <p:nvPr/>
        </p:nvSpPr>
        <p:spPr>
          <a:xfrm>
            <a:off x="385920" y="391320"/>
            <a:ext cx="361008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Port Mapping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47" name="Google Shape;2441;p250"/>
          <p:cNvSpPr/>
          <p:nvPr/>
        </p:nvSpPr>
        <p:spPr>
          <a:xfrm>
            <a:off x="2855520" y="2051640"/>
            <a:ext cx="3265560" cy="25362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C08C506-96D8-41CF-B166-D5883E145C0A}" type="slidenum">
              <a:t>188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2446;p251"/>
          <p:cNvSpPr/>
          <p:nvPr/>
        </p:nvSpPr>
        <p:spPr>
          <a:xfrm>
            <a:off x="385920" y="1149840"/>
            <a:ext cx="717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Only reachable from within the cluster, e.g. another Pod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349" name="Google Shape;2447;p251"/>
          <p:cNvSpPr/>
          <p:nvPr/>
        </p:nvSpPr>
        <p:spPr>
          <a:xfrm>
            <a:off x="385920" y="391320"/>
            <a:ext cx="61034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ClusterIP Service Type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50" name="Google Shape;2448;p251"/>
          <p:cNvSpPr/>
          <p:nvPr/>
        </p:nvSpPr>
        <p:spPr>
          <a:xfrm>
            <a:off x="3166200" y="1931040"/>
            <a:ext cx="2788560" cy="27374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0116ED-C30F-445E-AE3A-A7ABE352A9E2}" type="slidenum">
              <a:t>189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2471;p253"/>
          <p:cNvSpPr/>
          <p:nvPr/>
        </p:nvSpPr>
        <p:spPr>
          <a:xfrm>
            <a:off x="385920" y="1149840"/>
            <a:ext cx="717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Can be resolved from outside of the Kubernetes cluster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352" name="Google Shape;2472;p253"/>
          <p:cNvSpPr/>
          <p:nvPr/>
        </p:nvSpPr>
        <p:spPr>
          <a:xfrm>
            <a:off x="385920" y="391320"/>
            <a:ext cx="585036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NodePort Service Type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53" name="Google Shape;2473;p253"/>
          <p:cNvSpPr/>
          <p:nvPr/>
        </p:nvSpPr>
        <p:spPr>
          <a:xfrm>
            <a:off x="2886480" y="1931040"/>
            <a:ext cx="3211920" cy="27543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B7A6809-C5E5-4BF6-AF06-722D6D0F7E8D}" type="slidenum">
              <a:t>190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2493;p255"/>
          <p:cNvSpPr/>
          <p:nvPr/>
        </p:nvSpPr>
        <p:spPr>
          <a:xfrm>
            <a:off x="385920" y="1149840"/>
            <a:ext cx="789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Routes traffic from existing, external load balancer to Service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355" name="Google Shape;2494;p255"/>
          <p:cNvSpPr/>
          <p:nvPr/>
        </p:nvSpPr>
        <p:spPr>
          <a:xfrm>
            <a:off x="385920" y="391320"/>
            <a:ext cx="718740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LoadBalancer Service Type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56" name="Google Shape;2495;p255"/>
          <p:cNvSpPr/>
          <p:nvPr/>
        </p:nvSpPr>
        <p:spPr>
          <a:xfrm>
            <a:off x="3353760" y="1863360"/>
            <a:ext cx="2277000" cy="29102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E427C69-7B4B-4251-8B73-FBCA5B8FB917}" type="slidenum">
              <a:t>191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object 66"/>
          <p:cNvSpPr/>
          <p:nvPr/>
        </p:nvSpPr>
        <p:spPr>
          <a:xfrm>
            <a:off x="3557880" y="1953720"/>
            <a:ext cx="313632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algn="ctr">
              <a:lnSpc>
                <a:spcPct val="150000"/>
              </a:lnSpc>
              <a:buNone/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Services type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1358" name="object 67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15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CED312-C99E-4BE6-AECD-0A58B1A0D6E9}" type="slidenum">
              <a:t>192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2562;p261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0" name="Google Shape;2563;p261"/>
          <p:cNvSpPr/>
          <p:nvPr/>
        </p:nvSpPr>
        <p:spPr>
          <a:xfrm>
            <a:off x="545040" y="1629360"/>
            <a:ext cx="182700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Ingress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61" name="Google Shape;2564;p261"/>
          <p:cNvSpPr/>
          <p:nvPr/>
        </p:nvSpPr>
        <p:spPr>
          <a:xfrm>
            <a:off x="545040" y="2375640"/>
            <a:ext cx="4884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Purpose, Routing Rules, Access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7C1F1F3-E806-446D-AD8F-AED0329227F2}" type="slidenum">
              <a:t>193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object 1"/>
          <p:cNvSpPr/>
          <p:nvPr/>
        </p:nvSpPr>
        <p:spPr>
          <a:xfrm>
            <a:off x="385920" y="1148760"/>
            <a:ext cx="8608680" cy="31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Route</a:t>
            </a:r>
            <a:r>
              <a:rPr b="0" i="1" lang="fr-FR" sz="24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HTTP(S)</a:t>
            </a:r>
            <a:r>
              <a:rPr b="0" i="1" lang="fr-FR" sz="2400" spc="-12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traffic</a:t>
            </a:r>
            <a:r>
              <a:rPr b="0" i="1" lang="fr-FR" sz="24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from</a:t>
            </a:r>
            <a:r>
              <a:rPr b="0" i="1" lang="fr-FR" sz="2400" spc="-21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the</a:t>
            </a:r>
            <a:r>
              <a:rPr b="0" i="1" lang="fr-FR" sz="24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outside</a:t>
            </a:r>
            <a:r>
              <a:rPr b="0" i="1" lang="fr-FR" sz="2400" spc="-12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of</a:t>
            </a:r>
            <a:r>
              <a:rPr b="0" i="1" lang="fr-FR" sz="2400" spc="-12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1" strike="noStrike">
                <a:solidFill>
                  <a:srgbClr val="595959"/>
                </a:solidFill>
                <a:latin typeface="Arial"/>
                <a:ea typeface="DejaVu Sans"/>
              </a:rPr>
              <a:t>cluster</a:t>
            </a:r>
            <a:r>
              <a:rPr b="0" i="1" lang="fr-FR" sz="24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to</a:t>
            </a:r>
            <a:r>
              <a:rPr b="0" i="1" lang="fr-FR" sz="24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Service</a:t>
            </a:r>
            <a:endParaRPr b="0" lang="fr-FR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</a:pPr>
            <a:endParaRPr b="0" lang="fr-FR" sz="22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Wingdings" charset="2"/>
              <a:buChar char=""/>
              <a:tabLst>
                <a:tab algn="l" pos="333360"/>
                <a:tab algn="l" pos="334080"/>
              </a:tabLst>
            </a:pPr>
            <a:r>
              <a:rPr b="0" lang="fr-FR" sz="2000" spc="-15" strike="noStrike">
                <a:solidFill>
                  <a:srgbClr val="595959"/>
                </a:solidFill>
                <a:latin typeface="Arial MT"/>
                <a:ea typeface="DejaVu Sans"/>
              </a:rPr>
              <a:t>It’s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not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a specific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Service type, nor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should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it be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confused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with the </a:t>
            </a:r>
            <a:r>
              <a:rPr b="0" lang="fr-FR" sz="2000" spc="-545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Service</a:t>
            </a:r>
            <a:r>
              <a:rPr b="0" lang="fr-FR" sz="2000" spc="-15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type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Courier New"/>
                <a:ea typeface="DejaVu Sans"/>
              </a:rPr>
              <a:t>LoadBalancer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333360"/>
                <a:tab algn="l" pos="33408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 MT"/>
              <a:buChar char="●"/>
              <a:tabLst>
                <a:tab algn="l" pos="333360"/>
                <a:tab algn="l" pos="334080"/>
              </a:tabLst>
            </a:pP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Defines</a:t>
            </a:r>
            <a:r>
              <a:rPr b="0" lang="fr-FR" sz="2000" spc="-15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rules</a:t>
            </a:r>
            <a:r>
              <a:rPr b="0" lang="fr-FR" sz="2000" spc="-12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for</a:t>
            </a:r>
            <a:r>
              <a:rPr b="0" lang="fr-FR" sz="2000" spc="-15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mapping</a:t>
            </a:r>
            <a:r>
              <a:rPr b="0" lang="fr-FR" sz="2000" spc="-12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URL</a:t>
            </a:r>
            <a:r>
              <a:rPr b="0" lang="fr-FR" sz="2000" spc="-86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context</a:t>
            </a:r>
            <a:r>
              <a:rPr b="0" lang="fr-FR" sz="2000" spc="-15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path</a:t>
            </a:r>
            <a:r>
              <a:rPr b="0" lang="fr-FR" sz="2000" spc="-12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to</a:t>
            </a:r>
            <a:r>
              <a:rPr b="0" lang="fr-FR" sz="2000" spc="-12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Service</a:t>
            </a:r>
            <a:r>
              <a:rPr b="0" lang="fr-FR" sz="2000" spc="-21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object.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None/>
              <a:tabLst>
                <a:tab algn="l" pos="333360"/>
                <a:tab algn="l" pos="33408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 MT"/>
              <a:buChar char="●"/>
              <a:tabLst>
                <a:tab algn="l" pos="333360"/>
                <a:tab algn="l" pos="334080"/>
              </a:tabLst>
            </a:pP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An Ingress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cannot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work without an Ingress </a:t>
            </a:r>
            <a:r>
              <a:rPr b="0" lang="fr-FR" sz="2000" spc="-12" strike="noStrike">
                <a:solidFill>
                  <a:srgbClr val="595959"/>
                </a:solidFill>
                <a:latin typeface="Arial MT"/>
                <a:ea typeface="DejaVu Sans"/>
              </a:rPr>
              <a:t>controller.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The Ingress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 controller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evaluates the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collection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of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rules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defined by an Ingress that </a:t>
            </a:r>
            <a:r>
              <a:rPr b="0" lang="fr-FR" sz="2000" spc="-545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determine</a:t>
            </a:r>
            <a:r>
              <a:rPr b="0" lang="fr-FR" sz="2000" spc="-12" strike="noStrike">
                <a:solidFill>
                  <a:srgbClr val="595959"/>
                </a:solidFill>
                <a:latin typeface="Arial MT"/>
                <a:ea typeface="DejaVu Sans"/>
              </a:rPr>
              <a:t> traffic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routing.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63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808880" cy="86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12" strike="noStrike">
                <a:solidFill>
                  <a:srgbClr val="000000"/>
                </a:solidFill>
                <a:latin typeface="Arial"/>
              </a:rPr>
              <a:t>What</a:t>
            </a:r>
            <a:r>
              <a:rPr b="1" lang="fr-FR" sz="40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4000" spc="-7" strike="noStrike">
                <a:solidFill>
                  <a:srgbClr val="000000"/>
                </a:solidFill>
                <a:latin typeface="Arial"/>
              </a:rPr>
              <a:t>is</a:t>
            </a:r>
            <a:r>
              <a:rPr b="1" lang="fr-FR" sz="40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4000" spc="-7" strike="noStrike">
                <a:solidFill>
                  <a:srgbClr val="000000"/>
                </a:solidFill>
                <a:latin typeface="Arial"/>
              </a:rPr>
              <a:t>an</a:t>
            </a:r>
            <a:r>
              <a:rPr b="1" lang="fr-FR" sz="40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4000" spc="-7" strike="noStrike">
                <a:solidFill>
                  <a:srgbClr val="000000"/>
                </a:solidFill>
                <a:latin typeface="Arial"/>
              </a:rPr>
              <a:t>Ingress?</a:t>
            </a:r>
            <a:endParaRPr b="0" lang="fr-FR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object 3"/>
          <p:cNvSpPr/>
          <p:nvPr/>
        </p:nvSpPr>
        <p:spPr>
          <a:xfrm>
            <a:off x="385920" y="1149840"/>
            <a:ext cx="5758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Can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involve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one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or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1" strike="noStrike">
                <a:solidFill>
                  <a:srgbClr val="595959"/>
                </a:solidFill>
                <a:latin typeface="Arial"/>
                <a:ea typeface="DejaVu Sans"/>
              </a:rPr>
              <a:t>many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Services</a:t>
            </a:r>
            <a:r>
              <a:rPr b="0" i="1" lang="fr-FR" sz="2200" spc="-21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as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backend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365" name="object 8"/>
          <p:cNvSpPr/>
          <p:nvPr/>
        </p:nvSpPr>
        <p:spPr>
          <a:xfrm>
            <a:off x="385920" y="391320"/>
            <a:ext cx="55436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12" strike="noStrike">
                <a:solidFill>
                  <a:srgbClr val="000000"/>
                </a:solidFill>
                <a:latin typeface="Arial"/>
                <a:ea typeface="DejaVu Sans"/>
              </a:rPr>
              <a:t>Ingress</a:t>
            </a:r>
            <a:r>
              <a:rPr b="1" lang="fr-FR" sz="4000" spc="-41" strike="noStrike">
                <a:solidFill>
                  <a:srgbClr val="000000"/>
                </a:solidFill>
                <a:latin typeface="Arial"/>
                <a:ea typeface="DejaVu Sans"/>
              </a:rPr>
              <a:t> Traffic</a:t>
            </a:r>
            <a:r>
              <a:rPr b="1" lang="fr-FR" sz="40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Routing</a:t>
            </a:r>
            <a:endParaRPr b="0" lang="fr-FR" sz="4000" spc="-1" strike="noStrike">
              <a:latin typeface="Arial"/>
            </a:endParaRPr>
          </a:p>
        </p:txBody>
      </p:sp>
      <p:pic>
        <p:nvPicPr>
          <p:cNvPr id="1366" name="object 9" descr=""/>
          <p:cNvPicPr/>
          <p:nvPr/>
        </p:nvPicPr>
        <p:blipFill>
          <a:blip r:embed="rId1"/>
          <a:stretch/>
        </p:blipFill>
        <p:spPr>
          <a:xfrm>
            <a:off x="1384560" y="2159640"/>
            <a:ext cx="6349680" cy="22899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634881-3086-4C51-9F4E-D250CD1ABADF}" type="slidenum">
              <a:t>195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4757400" cy="86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</a:rPr>
              <a:t>Creating</a:t>
            </a:r>
            <a:r>
              <a:rPr b="1" lang="fr-FR" sz="40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4000" spc="-7" strike="noStrike">
                <a:solidFill>
                  <a:srgbClr val="000000"/>
                </a:solidFill>
                <a:latin typeface="Arial"/>
              </a:rPr>
              <a:t>an</a:t>
            </a:r>
            <a:r>
              <a:rPr b="1" lang="fr-FR" sz="40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4000" spc="-7" strike="noStrike">
                <a:solidFill>
                  <a:srgbClr val="000000"/>
                </a:solidFill>
                <a:latin typeface="Arial"/>
              </a:rPr>
              <a:t>Ingress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68" name="object 28"/>
          <p:cNvSpPr/>
          <p:nvPr/>
        </p:nvSpPr>
        <p:spPr>
          <a:xfrm>
            <a:off x="385920" y="1149840"/>
            <a:ext cx="698796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The</a:t>
            </a:r>
            <a:r>
              <a:rPr b="0" i="1" lang="fr-FR" sz="2200" spc="-26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1" strike="noStrike">
                <a:solidFill>
                  <a:srgbClr val="595959"/>
                </a:solidFill>
                <a:latin typeface="Arial"/>
                <a:ea typeface="DejaVu Sans"/>
              </a:rPr>
              <a:t>rule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definition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1" strike="noStrike">
                <a:solidFill>
                  <a:srgbClr val="595959"/>
                </a:solidFill>
                <a:latin typeface="Arial"/>
                <a:ea typeface="DejaVu Sans"/>
              </a:rPr>
              <a:t>requires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intricate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1" strike="noStrike">
                <a:solidFill>
                  <a:srgbClr val="595959"/>
                </a:solidFill>
                <a:latin typeface="Arial"/>
                <a:ea typeface="DejaVu Sans"/>
              </a:rPr>
              <a:t>knowledge</a:t>
            </a:r>
            <a:r>
              <a:rPr b="0" i="1" lang="fr-FR" sz="2200" spc="-21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of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1" strike="noStrike">
                <a:solidFill>
                  <a:srgbClr val="595959"/>
                </a:solidFill>
                <a:latin typeface="Arial"/>
                <a:ea typeface="DejaVu Sans"/>
              </a:rPr>
              <a:t>syntax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369" name="object 29"/>
          <p:cNvSpPr/>
          <p:nvPr/>
        </p:nvSpPr>
        <p:spPr>
          <a:xfrm>
            <a:off x="474480" y="2094480"/>
            <a:ext cx="5659560" cy="71244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20" bIns="0" anchor="t">
            <a:spAutoFit/>
          </a:bodyPr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fr-FR" sz="1100" spc="-1" strike="noStrike">
              <a:latin typeface="Arial"/>
            </a:endParaRPr>
          </a:p>
          <a:p>
            <a:pPr marL="222120">
              <a:lnSpc>
                <a:spcPts val="1429"/>
              </a:lnSpc>
              <a:buNone/>
            </a:pP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$</a:t>
            </a:r>
            <a:r>
              <a:rPr b="1" lang="fr-FR" sz="1200" spc="-26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1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kubectl</a:t>
            </a:r>
            <a:r>
              <a:rPr b="1" lang="fr-FR" sz="1200" spc="-2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1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create</a:t>
            </a:r>
            <a:r>
              <a:rPr b="1" lang="fr-FR" sz="1200" spc="-2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1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ingress</a:t>
            </a:r>
            <a:r>
              <a:rPr b="1" lang="fr-FR" sz="1200" spc="-2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1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corellian</a:t>
            </a:r>
            <a:r>
              <a:rPr b="0" lang="fr-FR" sz="1200" spc="-7" strike="noStrike">
                <a:solidFill>
                  <a:srgbClr val="000000"/>
                </a:solidFill>
                <a:latin typeface="MS Gothic"/>
                <a:ea typeface="DejaVu Sans"/>
              </a:rPr>
              <a:t>↵</a:t>
            </a:r>
            <a:endParaRPr b="0" lang="fr-FR" sz="1200" spc="-1" strike="noStrike">
              <a:latin typeface="Arial"/>
            </a:endParaRPr>
          </a:p>
          <a:p>
            <a:pPr marL="405000">
              <a:lnSpc>
                <a:spcPts val="1426"/>
              </a:lnSpc>
              <a:buNone/>
            </a:pPr>
            <a:r>
              <a:rPr b="1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--rule="star-alliance.com/corellian/api=corellian:8080"</a:t>
            </a:r>
            <a:endParaRPr b="0" lang="fr-FR" sz="1200" spc="-1" strike="noStrike">
              <a:latin typeface="Arial"/>
            </a:endParaRPr>
          </a:p>
          <a:p>
            <a:pPr marL="222120">
              <a:lnSpc>
                <a:spcPts val="1434"/>
              </a:lnSpc>
              <a:buNone/>
            </a:pPr>
            <a:r>
              <a:rPr b="0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ingress.networking.k8s.io/corellian</a:t>
            </a:r>
            <a:r>
              <a:rPr b="0" lang="fr-FR" sz="1200" spc="-72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created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object 12"/>
          <p:cNvSpPr/>
          <p:nvPr/>
        </p:nvSpPr>
        <p:spPr>
          <a:xfrm>
            <a:off x="441720" y="1289880"/>
            <a:ext cx="39636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The</a:t>
            </a:r>
            <a:r>
              <a:rPr b="0" i="1" lang="fr-FR" sz="2400" spc="-32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host</a:t>
            </a:r>
            <a:r>
              <a:rPr b="0" i="1" lang="fr-FR" sz="2400" spc="-26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definition</a:t>
            </a:r>
            <a:r>
              <a:rPr b="0" i="1" lang="fr-FR" sz="2400" spc="-26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is</a:t>
            </a:r>
            <a:r>
              <a:rPr b="0" i="1" lang="fr-FR" sz="2400" spc="-21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400" spc="-7" strike="noStrike">
                <a:solidFill>
                  <a:srgbClr val="595959"/>
                </a:solidFill>
                <a:latin typeface="Arial"/>
                <a:ea typeface="DejaVu Sans"/>
              </a:rPr>
              <a:t>optional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37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537160" cy="86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12" strike="noStrike">
                <a:solidFill>
                  <a:srgbClr val="000000"/>
                </a:solidFill>
                <a:latin typeface="Arial"/>
              </a:rPr>
              <a:t>Ingress</a:t>
            </a:r>
            <a:r>
              <a:rPr b="1" lang="fr-FR" sz="4000" spc="-13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4000" spc="-97" strike="noStrike">
                <a:solidFill>
                  <a:srgbClr val="000000"/>
                </a:solidFill>
                <a:latin typeface="Arial"/>
              </a:rPr>
              <a:t>YAML</a:t>
            </a:r>
            <a:r>
              <a:rPr b="1" lang="fr-FR" sz="4000" spc="-12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4000" spc="-1" strike="noStrike">
                <a:solidFill>
                  <a:srgbClr val="000000"/>
                </a:solidFill>
                <a:latin typeface="Arial"/>
              </a:rPr>
              <a:t>Manifest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72" name="object 13"/>
          <p:cNvSpPr/>
          <p:nvPr/>
        </p:nvSpPr>
        <p:spPr>
          <a:xfrm>
            <a:off x="499680" y="2096280"/>
            <a:ext cx="2762280" cy="255240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6280" bIns="0" anchor="t">
            <a:spAutoFit/>
          </a:bodyPr>
          <a:p>
            <a:pPr marL="154440">
              <a:lnSpc>
                <a:spcPct val="100000"/>
              </a:lnSpc>
              <a:spcBef>
                <a:spcPts val="916"/>
              </a:spcBef>
              <a:buNone/>
            </a:pP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apiVersion:</a:t>
            </a:r>
            <a:r>
              <a:rPr b="1" lang="fr-FR" sz="1000" spc="-72" strike="noStrike">
                <a:solidFill>
                  <a:srgbClr val="4618a2"/>
                </a:solidFill>
                <a:latin typeface="Courier New"/>
                <a:ea typeface="DejaVu Sans"/>
              </a:rPr>
              <a:t> </a:t>
            </a:r>
            <a:r>
              <a:rPr b="0" lang="fr-FR" sz="1000" spc="-7" strike="noStrike">
                <a:solidFill>
                  <a:srgbClr val="000000"/>
                </a:solidFill>
                <a:latin typeface="Courier New"/>
                <a:ea typeface="DejaVu Sans"/>
              </a:rPr>
              <a:t>networking.k8s.io/v1</a:t>
            </a:r>
            <a:endParaRPr b="0" lang="fr-FR" sz="1000" spc="-1" strike="noStrike">
              <a:latin typeface="Arial"/>
            </a:endParaRPr>
          </a:p>
          <a:p>
            <a:pPr marL="154440">
              <a:lnSpc>
                <a:spcPct val="100000"/>
              </a:lnSpc>
              <a:buNone/>
            </a:pP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kind:</a:t>
            </a:r>
            <a:r>
              <a:rPr b="1" lang="fr-FR" sz="1000" spc="-72" strike="noStrike">
                <a:solidFill>
                  <a:srgbClr val="4618a2"/>
                </a:solidFill>
                <a:latin typeface="Courier New"/>
                <a:ea typeface="DejaVu Sans"/>
              </a:rPr>
              <a:t> </a:t>
            </a:r>
            <a:r>
              <a:rPr b="0" lang="fr-FR" sz="1000" spc="-7" strike="noStrike">
                <a:solidFill>
                  <a:srgbClr val="000000"/>
                </a:solidFill>
                <a:latin typeface="Courier New"/>
                <a:ea typeface="DejaVu Sans"/>
              </a:rPr>
              <a:t>Ingress</a:t>
            </a:r>
            <a:endParaRPr b="0" lang="fr-FR" sz="1000" spc="-1" strike="noStrike">
              <a:latin typeface="Arial"/>
            </a:endParaRPr>
          </a:p>
          <a:p>
            <a:pPr marL="154440">
              <a:lnSpc>
                <a:spcPct val="100000"/>
              </a:lnSpc>
              <a:buNone/>
            </a:pP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metadata:</a:t>
            </a:r>
            <a:endParaRPr b="0" lang="fr-FR" sz="1000" spc="-1" strike="noStrike">
              <a:latin typeface="Arial"/>
            </a:endParaRPr>
          </a:p>
          <a:p>
            <a:pPr marL="306720">
              <a:lnSpc>
                <a:spcPct val="100000"/>
              </a:lnSpc>
              <a:buNone/>
            </a:pP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name:</a:t>
            </a:r>
            <a:r>
              <a:rPr b="1" lang="fr-FR" sz="1000" spc="-72" strike="noStrike">
                <a:solidFill>
                  <a:srgbClr val="4618a2"/>
                </a:solidFill>
                <a:latin typeface="Courier New"/>
                <a:ea typeface="DejaVu Sans"/>
              </a:rPr>
              <a:t> </a:t>
            </a:r>
            <a:r>
              <a:rPr b="0" lang="fr-FR" sz="1000" spc="-7" strike="noStrike">
                <a:solidFill>
                  <a:srgbClr val="000000"/>
                </a:solidFill>
                <a:latin typeface="Courier New"/>
                <a:ea typeface="DejaVu Sans"/>
              </a:rPr>
              <a:t>corellian</a:t>
            </a:r>
            <a:endParaRPr b="0" lang="fr-FR" sz="1000" spc="-1" strike="noStrike">
              <a:latin typeface="Arial"/>
            </a:endParaRPr>
          </a:p>
          <a:p>
            <a:pPr marL="154440">
              <a:lnSpc>
                <a:spcPct val="100000"/>
              </a:lnSpc>
              <a:buNone/>
            </a:pP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spec:</a:t>
            </a:r>
            <a:endParaRPr b="0" lang="fr-FR" sz="1000" spc="-1" strike="noStrike">
              <a:latin typeface="Arial"/>
            </a:endParaRPr>
          </a:p>
          <a:p>
            <a:pPr marL="306720">
              <a:lnSpc>
                <a:spcPct val="100000"/>
              </a:lnSpc>
              <a:buNone/>
            </a:pP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rules:</a:t>
            </a:r>
            <a:endParaRPr b="0" lang="fr-FR" sz="1000" spc="-1" strike="noStrike">
              <a:latin typeface="Arial"/>
            </a:endParaRPr>
          </a:p>
          <a:p>
            <a:pPr marL="306720">
              <a:lnSpc>
                <a:spcPct val="100000"/>
              </a:lnSpc>
              <a:buNone/>
            </a:pPr>
            <a:r>
              <a:rPr b="1" lang="fr-FR" sz="1000" spc="-1" strike="noStrike">
                <a:solidFill>
                  <a:srgbClr val="4618a2"/>
                </a:solidFill>
                <a:latin typeface="Courier New"/>
                <a:ea typeface="DejaVu Sans"/>
              </a:rPr>
              <a:t>-</a:t>
            </a:r>
            <a:r>
              <a:rPr b="1" lang="fr-FR" sz="1000" spc="-46" strike="noStrike">
                <a:solidFill>
                  <a:srgbClr val="4618a2"/>
                </a:solidFill>
                <a:latin typeface="Courier New"/>
                <a:ea typeface="DejaVu Sans"/>
              </a:rPr>
              <a:t> </a:t>
            </a: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host:</a:t>
            </a:r>
            <a:r>
              <a:rPr b="1" lang="fr-FR" sz="1000" spc="-41" strike="noStrike">
                <a:solidFill>
                  <a:srgbClr val="4618a2"/>
                </a:solidFill>
                <a:latin typeface="Courier New"/>
                <a:ea typeface="DejaVu Sans"/>
              </a:rPr>
              <a:t> </a:t>
            </a:r>
            <a:r>
              <a:rPr b="0" lang="fr-FR" sz="1000" spc="-7" strike="noStrike">
                <a:solidFill>
                  <a:srgbClr val="000000"/>
                </a:solidFill>
                <a:latin typeface="Courier New"/>
                <a:ea typeface="DejaVu Sans"/>
              </a:rPr>
              <a:t>star-alliance.com</a:t>
            </a:r>
            <a:endParaRPr b="0" lang="fr-FR" sz="1000" spc="-1" strike="noStrike">
              <a:latin typeface="Arial"/>
            </a:endParaRPr>
          </a:p>
          <a:p>
            <a:pPr marL="459000">
              <a:lnSpc>
                <a:spcPct val="100000"/>
              </a:lnSpc>
              <a:buNone/>
            </a:pP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http:</a:t>
            </a:r>
            <a:endParaRPr b="0" lang="fr-FR" sz="1000" spc="-1" strike="noStrike">
              <a:latin typeface="Arial"/>
            </a:endParaRPr>
          </a:p>
          <a:p>
            <a:pPr marL="611640">
              <a:lnSpc>
                <a:spcPct val="100000"/>
              </a:lnSpc>
              <a:buNone/>
            </a:pP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paths:</a:t>
            </a:r>
            <a:endParaRPr b="0" lang="fr-FR" sz="1000" spc="-1" strike="noStrike">
              <a:latin typeface="Arial"/>
            </a:endParaRPr>
          </a:p>
          <a:p>
            <a:pPr marL="611640">
              <a:lnSpc>
                <a:spcPct val="100000"/>
              </a:lnSpc>
              <a:buNone/>
            </a:pPr>
            <a:r>
              <a:rPr b="1" lang="fr-FR" sz="1000" spc="-1" strike="noStrike">
                <a:solidFill>
                  <a:srgbClr val="4618a2"/>
                </a:solidFill>
                <a:latin typeface="Courier New"/>
                <a:ea typeface="DejaVu Sans"/>
              </a:rPr>
              <a:t>-</a:t>
            </a:r>
            <a:r>
              <a:rPr b="1" lang="fr-FR" sz="1000" spc="-72" strike="noStrike">
                <a:solidFill>
                  <a:srgbClr val="4618a2"/>
                </a:solidFill>
                <a:latin typeface="Courier New"/>
                <a:ea typeface="DejaVu Sans"/>
              </a:rPr>
              <a:t> </a:t>
            </a: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backend:</a:t>
            </a:r>
            <a:endParaRPr b="0" lang="fr-FR" sz="1000" spc="-1" strike="noStrike">
              <a:latin typeface="Arial"/>
            </a:endParaRPr>
          </a:p>
          <a:p>
            <a:pPr marL="916200">
              <a:lnSpc>
                <a:spcPct val="100000"/>
              </a:lnSpc>
              <a:buNone/>
            </a:pP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service:</a:t>
            </a:r>
            <a:endParaRPr b="0" lang="fr-FR" sz="1000" spc="-1" strike="noStrike">
              <a:latin typeface="Arial"/>
            </a:endParaRPr>
          </a:p>
          <a:p>
            <a:pPr marL="1068840">
              <a:lnSpc>
                <a:spcPct val="100000"/>
              </a:lnSpc>
              <a:buNone/>
            </a:pP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name:</a:t>
            </a:r>
            <a:r>
              <a:rPr b="1" lang="fr-FR" sz="1000" spc="-72" strike="noStrike">
                <a:solidFill>
                  <a:srgbClr val="4618a2"/>
                </a:solidFill>
                <a:latin typeface="Courier New"/>
                <a:ea typeface="DejaVu Sans"/>
              </a:rPr>
              <a:t> </a:t>
            </a:r>
            <a:r>
              <a:rPr b="0" lang="fr-FR" sz="1000" spc="-7" strike="noStrike">
                <a:solidFill>
                  <a:srgbClr val="000000"/>
                </a:solidFill>
                <a:latin typeface="Courier New"/>
                <a:ea typeface="DejaVu Sans"/>
              </a:rPr>
              <a:t>corellian</a:t>
            </a:r>
            <a:endParaRPr b="0" lang="fr-FR" sz="1000" spc="-1" strike="noStrike">
              <a:latin typeface="Arial"/>
            </a:endParaRPr>
          </a:p>
          <a:p>
            <a:pPr marL="1068840">
              <a:lnSpc>
                <a:spcPct val="100000"/>
              </a:lnSpc>
              <a:buNone/>
            </a:pP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port:</a:t>
            </a:r>
            <a:endParaRPr b="0" lang="fr-FR" sz="1000" spc="-1" strike="noStrike">
              <a:latin typeface="Arial"/>
            </a:endParaRPr>
          </a:p>
          <a:p>
            <a:pPr marL="763920" indent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number: </a:t>
            </a:r>
            <a:r>
              <a:rPr b="0" lang="fr-FR" sz="1000" spc="-7" strike="noStrike">
                <a:solidFill>
                  <a:srgbClr val="000000"/>
                </a:solidFill>
                <a:latin typeface="Courier New"/>
                <a:ea typeface="DejaVu Sans"/>
              </a:rPr>
              <a:t>8080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path: </a:t>
            </a:r>
            <a:r>
              <a:rPr b="0" lang="fr-FR" sz="1000" spc="-7" strike="noStrike">
                <a:solidFill>
                  <a:srgbClr val="000000"/>
                </a:solidFill>
                <a:latin typeface="Courier New"/>
                <a:ea typeface="DejaVu Sans"/>
              </a:rPr>
              <a:t>/corellian/api </a:t>
            </a:r>
            <a:r>
              <a:rPr b="0" lang="fr-FR" sz="1000" spc="-596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1" lang="fr-FR" sz="1000" spc="-7" strike="noStrike">
                <a:solidFill>
                  <a:srgbClr val="4618a2"/>
                </a:solidFill>
                <a:latin typeface="Courier New"/>
                <a:ea typeface="DejaVu Sans"/>
              </a:rPr>
              <a:t>pathType:</a:t>
            </a:r>
            <a:r>
              <a:rPr b="1" lang="fr-FR" sz="1000" spc="-26" strike="noStrike">
                <a:solidFill>
                  <a:srgbClr val="4618a2"/>
                </a:solidFill>
                <a:latin typeface="Courier New"/>
                <a:ea typeface="DejaVu Sans"/>
              </a:rPr>
              <a:t> </a:t>
            </a:r>
            <a:r>
              <a:rPr b="0" lang="fr-FR" sz="1000" spc="-7" strike="noStrike">
                <a:solidFill>
                  <a:srgbClr val="000000"/>
                </a:solidFill>
                <a:latin typeface="Courier New"/>
                <a:ea typeface="DejaVu Sans"/>
              </a:rPr>
              <a:t>Exact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object 14"/>
          <p:cNvSpPr/>
          <p:nvPr/>
        </p:nvSpPr>
        <p:spPr>
          <a:xfrm>
            <a:off x="385920" y="1149840"/>
            <a:ext cx="8428680" cy="275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i="1" lang="fr-FR" sz="2200" spc="-26" strike="noStrike">
                <a:solidFill>
                  <a:srgbClr val="595959"/>
                </a:solidFill>
                <a:latin typeface="Arial"/>
                <a:ea typeface="DejaVu Sans"/>
              </a:rPr>
              <a:t>Traffic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1" strike="noStrike">
                <a:solidFill>
                  <a:srgbClr val="595959"/>
                </a:solidFill>
                <a:latin typeface="Arial"/>
                <a:ea typeface="DejaVu Sans"/>
              </a:rPr>
              <a:t>routing</a:t>
            </a:r>
            <a:r>
              <a:rPr b="0" i="1" lang="fr-FR" sz="2200" spc="-12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is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1" strike="noStrike">
                <a:solidFill>
                  <a:srgbClr val="595959"/>
                </a:solidFill>
                <a:latin typeface="Arial"/>
                <a:ea typeface="DejaVu Sans"/>
              </a:rPr>
              <a:t>controlled</a:t>
            </a:r>
            <a:r>
              <a:rPr b="0" i="1" lang="fr-FR" sz="2200" spc="-12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by</a:t>
            </a:r>
            <a:r>
              <a:rPr b="0" i="1" lang="fr-FR" sz="2200" spc="-12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1" strike="noStrike">
                <a:solidFill>
                  <a:srgbClr val="595959"/>
                </a:solidFill>
                <a:latin typeface="Arial"/>
                <a:ea typeface="DejaVu Sans"/>
              </a:rPr>
              <a:t>rules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defined</a:t>
            </a:r>
            <a:r>
              <a:rPr b="0" i="1" lang="fr-FR" sz="2200" spc="-12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on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Ingress</a:t>
            </a:r>
            <a:r>
              <a:rPr b="0" i="1" lang="fr-FR" sz="2200" spc="-15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1" strike="noStrike">
                <a:solidFill>
                  <a:srgbClr val="595959"/>
                </a:solidFill>
                <a:latin typeface="Arial"/>
                <a:ea typeface="DejaVu Sans"/>
              </a:rPr>
              <a:t>resource</a:t>
            </a:r>
            <a:endParaRPr b="0" lang="fr-FR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endParaRPr b="0" lang="fr-FR" sz="240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1500"/>
              </a:spcBef>
              <a:buClr>
                <a:srgbClr val="d3002d"/>
              </a:buClr>
              <a:buFont typeface="Wingdings" charset="2"/>
              <a:buChar char=""/>
              <a:tabLst>
                <a:tab algn="l" pos="333360"/>
                <a:tab algn="l" pos="334080"/>
              </a:tabLst>
            </a:pP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Optional host. If no host is defined, then all inbound HTTP </a:t>
            </a:r>
            <a:r>
              <a:rPr b="0" lang="fr-FR" sz="2000" spc="-12" strike="noStrike">
                <a:solidFill>
                  <a:srgbClr val="595959"/>
                </a:solidFill>
                <a:latin typeface="Arial MT"/>
                <a:ea typeface="DejaVu Sans"/>
              </a:rPr>
              <a:t>traffic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is </a:t>
            </a:r>
            <a:r>
              <a:rPr b="0" lang="fr-FR" sz="2000" spc="-545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handled.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333360"/>
                <a:tab algn="l" pos="33408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spcBef>
                <a:spcPts val="6"/>
              </a:spcBef>
              <a:buClr>
                <a:srgbClr val="d3002d"/>
              </a:buClr>
              <a:buFont typeface="Arial MT"/>
              <a:buChar char="●"/>
              <a:tabLst>
                <a:tab algn="l" pos="333360"/>
                <a:tab algn="l" pos="334080"/>
              </a:tabLst>
            </a:pP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A</a:t>
            </a:r>
            <a:r>
              <a:rPr b="0" lang="fr-FR" sz="2000" spc="-126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list</a:t>
            </a:r>
            <a:r>
              <a:rPr b="0" lang="fr-FR" sz="2000" spc="-21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of</a:t>
            </a:r>
            <a:r>
              <a:rPr b="0" lang="fr-FR" sz="2000" spc="-15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paths</a:t>
            </a:r>
            <a:r>
              <a:rPr b="0" lang="fr-FR" sz="2000" spc="-21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e.g.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Courier New"/>
                <a:ea typeface="DejaVu Sans"/>
              </a:rPr>
              <a:t>/testpath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333360"/>
                <a:tab algn="l" pos="33408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 MT"/>
              <a:buChar char="●"/>
              <a:tabLst>
                <a:tab algn="l" pos="333360"/>
                <a:tab algn="l" pos="334080"/>
              </a:tabLst>
            </a:pP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The</a:t>
            </a:r>
            <a:r>
              <a:rPr b="0" lang="fr-FR" sz="2000" spc="-15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backend,</a:t>
            </a:r>
            <a:r>
              <a:rPr b="0" lang="fr-FR" sz="2000" spc="-15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a</a:t>
            </a:r>
            <a:r>
              <a:rPr b="0" lang="fr-FR" sz="2000" spc="-12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595959"/>
                </a:solidFill>
                <a:latin typeface="Arial MT"/>
                <a:ea typeface="DejaVu Sans"/>
              </a:rPr>
              <a:t>combination</a:t>
            </a:r>
            <a:r>
              <a:rPr b="0" lang="fr-FR" sz="2000" spc="-15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of</a:t>
            </a:r>
            <a:r>
              <a:rPr b="0" lang="fr-FR" sz="2000" spc="-12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Service</a:t>
            </a:r>
            <a:r>
              <a:rPr b="0" lang="fr-FR" sz="2000" spc="-21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name</a:t>
            </a:r>
            <a:r>
              <a:rPr b="0" lang="fr-FR" sz="2000" spc="-12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and</a:t>
            </a:r>
            <a:r>
              <a:rPr b="0" lang="fr-FR" sz="2000" spc="-15" strike="noStrike">
                <a:solidFill>
                  <a:srgbClr val="595959"/>
                </a:solidFill>
                <a:latin typeface="Arial MT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595959"/>
                </a:solidFill>
                <a:latin typeface="Arial MT"/>
                <a:ea typeface="DejaVu Sans"/>
              </a:rPr>
              <a:t>port.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7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3344400" cy="86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12" strike="noStrike">
                <a:solidFill>
                  <a:srgbClr val="000000"/>
                </a:solidFill>
                <a:latin typeface="Arial"/>
              </a:rPr>
              <a:t>Ingress</a:t>
            </a:r>
            <a:r>
              <a:rPr b="1" lang="fr-FR" sz="4000" spc="-9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4000" spc="-7" strike="noStrike">
                <a:solidFill>
                  <a:srgbClr val="000000"/>
                </a:solidFill>
                <a:latin typeface="Arial"/>
              </a:rPr>
              <a:t>Rules</a:t>
            </a:r>
            <a:endParaRPr b="0" lang="fr-FR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object 19"/>
          <p:cNvSpPr/>
          <p:nvPr/>
        </p:nvSpPr>
        <p:spPr>
          <a:xfrm>
            <a:off x="385920" y="1149840"/>
            <a:ext cx="459468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Incoming</a:t>
            </a:r>
            <a:r>
              <a:rPr b="0" i="1" lang="fr-FR" sz="2200" spc="-26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URLs</a:t>
            </a:r>
            <a:r>
              <a:rPr b="0" i="1" lang="fr-FR" sz="2200" spc="-26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1" strike="noStrike">
                <a:solidFill>
                  <a:srgbClr val="595959"/>
                </a:solidFill>
                <a:latin typeface="Arial"/>
                <a:ea typeface="DejaVu Sans"/>
              </a:rPr>
              <a:t>match</a:t>
            </a:r>
            <a:r>
              <a:rPr b="0" i="1" lang="fr-FR" sz="2200" spc="-21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based</a:t>
            </a:r>
            <a:r>
              <a:rPr b="0" i="1" lang="fr-FR" sz="2200" spc="-21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on</a:t>
            </a:r>
            <a:r>
              <a:rPr b="0" i="1" lang="fr-FR" sz="2200" spc="-21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type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376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2687400" cy="86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12" strike="noStrike">
                <a:solidFill>
                  <a:srgbClr val="000000"/>
                </a:solidFill>
                <a:latin typeface="Arial"/>
              </a:rPr>
              <a:t>Path</a:t>
            </a:r>
            <a:r>
              <a:rPr b="1" lang="fr-FR" sz="4000" spc="-9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4000" spc="-66" strike="noStrike">
                <a:solidFill>
                  <a:srgbClr val="000000"/>
                </a:solidFill>
                <a:latin typeface="Arial"/>
              </a:rPr>
              <a:t>Types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77" name="object 15"/>
          <p:cNvSpPr/>
          <p:nvPr/>
        </p:nvSpPr>
        <p:spPr>
          <a:xfrm>
            <a:off x="587520" y="2600640"/>
            <a:ext cx="8319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2400" spc="-7" strike="noStrike">
                <a:solidFill>
                  <a:srgbClr val="000000"/>
                </a:solidFill>
                <a:latin typeface="Arial"/>
                <a:ea typeface="DejaVu Sans"/>
              </a:rPr>
              <a:t>Exact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378" name="object 16"/>
          <p:cNvSpPr/>
          <p:nvPr/>
        </p:nvSpPr>
        <p:spPr>
          <a:xfrm>
            <a:off x="587520" y="4049640"/>
            <a:ext cx="8654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2400" spc="-7" strike="noStrike">
                <a:solidFill>
                  <a:srgbClr val="000000"/>
                </a:solidFill>
                <a:latin typeface="Arial"/>
                <a:ea typeface="DejaVu Sans"/>
              </a:rPr>
              <a:t>Prefix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379" name="object 17"/>
          <p:cNvSpPr/>
          <p:nvPr/>
        </p:nvSpPr>
        <p:spPr>
          <a:xfrm>
            <a:off x="3353760" y="2338920"/>
            <a:ext cx="6292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2000" spc="-7" strike="noStrike">
                <a:solidFill>
                  <a:srgbClr val="000000"/>
                </a:solidFill>
                <a:latin typeface="Courier New"/>
                <a:ea typeface="DejaVu Sans"/>
              </a:rPr>
              <a:t>/foo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80" name="object 18"/>
          <p:cNvSpPr/>
          <p:nvPr/>
        </p:nvSpPr>
        <p:spPr>
          <a:xfrm>
            <a:off x="3353760" y="2894400"/>
            <a:ext cx="6292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2000" spc="-7" strike="noStrike">
                <a:solidFill>
                  <a:srgbClr val="000000"/>
                </a:solidFill>
                <a:latin typeface="Courier New"/>
                <a:ea typeface="DejaVu Sans"/>
              </a:rPr>
              <a:t>/bar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81" name="object 35"/>
          <p:cNvSpPr/>
          <p:nvPr/>
        </p:nvSpPr>
        <p:spPr>
          <a:xfrm>
            <a:off x="3326040" y="3732480"/>
            <a:ext cx="16959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2000" spc="-7" strike="noStrike">
                <a:solidFill>
                  <a:srgbClr val="000000"/>
                </a:solidFill>
                <a:latin typeface="Courier New"/>
                <a:ea typeface="DejaVu Sans"/>
              </a:rPr>
              <a:t>/foo,</a:t>
            </a:r>
            <a:r>
              <a:rPr b="0" lang="fr-FR" sz="2000" spc="-92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2000" spc="-7" strike="noStrike">
                <a:solidFill>
                  <a:srgbClr val="000000"/>
                </a:solidFill>
                <a:latin typeface="Courier New"/>
                <a:ea typeface="DejaVu Sans"/>
              </a:rPr>
              <a:t>/foo/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82" name="object 36"/>
          <p:cNvSpPr/>
          <p:nvPr/>
        </p:nvSpPr>
        <p:spPr>
          <a:xfrm>
            <a:off x="3326040" y="4320720"/>
            <a:ext cx="6292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2000" spc="-7" strike="noStrike">
                <a:solidFill>
                  <a:srgbClr val="000000"/>
                </a:solidFill>
                <a:latin typeface="Courier New"/>
                <a:ea typeface="DejaVu Sans"/>
              </a:rPr>
              <a:t>/bar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83" name="object 37"/>
          <p:cNvSpPr/>
          <p:nvPr/>
        </p:nvSpPr>
        <p:spPr>
          <a:xfrm>
            <a:off x="4268520" y="2857680"/>
            <a:ext cx="32436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2600" spc="-1" strike="noStrike">
                <a:solidFill>
                  <a:srgbClr val="ff0000"/>
                </a:solidFill>
                <a:latin typeface="MS PGothic"/>
                <a:ea typeface="DejaVu Sans"/>
              </a:rPr>
              <a:t>✘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384" name="object 38"/>
          <p:cNvSpPr/>
          <p:nvPr/>
        </p:nvSpPr>
        <p:spPr>
          <a:xfrm>
            <a:off x="4268520" y="2294280"/>
            <a:ext cx="32436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2600" spc="-1" strike="noStrike">
                <a:solidFill>
                  <a:srgbClr val="5fc931"/>
                </a:solidFill>
                <a:latin typeface="MS PGothic"/>
                <a:ea typeface="DejaVu Sans"/>
              </a:rPr>
              <a:t>✓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385" name="object 39"/>
          <p:cNvSpPr/>
          <p:nvPr/>
        </p:nvSpPr>
        <p:spPr>
          <a:xfrm>
            <a:off x="2046600" y="2619000"/>
            <a:ext cx="6292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2000" spc="-7" strike="noStrike">
                <a:solidFill>
                  <a:srgbClr val="000000"/>
                </a:solidFill>
                <a:latin typeface="Courier New"/>
                <a:ea typeface="DejaVu Sans"/>
              </a:rPr>
              <a:t>/foo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86" name="object 40"/>
          <p:cNvSpPr/>
          <p:nvPr/>
        </p:nvSpPr>
        <p:spPr>
          <a:xfrm>
            <a:off x="2033280" y="4050360"/>
            <a:ext cx="6292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2000" spc="-7" strike="noStrike">
                <a:solidFill>
                  <a:srgbClr val="000000"/>
                </a:solidFill>
                <a:latin typeface="Courier New"/>
                <a:ea typeface="DejaVu Sans"/>
              </a:rPr>
              <a:t>/foo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87" name="object 41"/>
          <p:cNvSpPr/>
          <p:nvPr/>
        </p:nvSpPr>
        <p:spPr>
          <a:xfrm>
            <a:off x="4255920" y="4275720"/>
            <a:ext cx="3499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2600" spc="-1" strike="noStrike">
                <a:solidFill>
                  <a:srgbClr val="ff0000"/>
                </a:solidFill>
                <a:latin typeface="MS PGothic"/>
                <a:ea typeface="DejaVu Sans"/>
              </a:rPr>
              <a:t>✘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388" name="object 42"/>
          <p:cNvSpPr/>
          <p:nvPr/>
        </p:nvSpPr>
        <p:spPr>
          <a:xfrm>
            <a:off x="5328360" y="3679560"/>
            <a:ext cx="3499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2600" spc="-1" strike="noStrike">
                <a:solidFill>
                  <a:srgbClr val="5fc931"/>
                </a:solidFill>
                <a:latin typeface="MS PGothic"/>
                <a:ea typeface="DejaVu Sans"/>
              </a:rPr>
              <a:t>✓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389" name="object 43"/>
          <p:cNvSpPr/>
          <p:nvPr/>
        </p:nvSpPr>
        <p:spPr>
          <a:xfrm>
            <a:off x="625680" y="2335320"/>
            <a:ext cx="4846320" cy="2440800"/>
          </a:xfrm>
          <a:custGeom>
            <a:avLst/>
            <a:gdLst/>
            <a:ahLst/>
            <a:rect l="l" t="t" r="r" b="b"/>
            <a:pathLst>
              <a:path w="4852035" h="2446654">
                <a:moveTo>
                  <a:pt x="2418324" y="0"/>
                </a:moveTo>
                <a:lnTo>
                  <a:pt x="2418324" y="2446499"/>
                </a:lnTo>
              </a:path>
              <a:path w="4852035" h="2446654">
                <a:moveTo>
                  <a:pt x="1152799" y="0"/>
                </a:moveTo>
                <a:lnTo>
                  <a:pt x="1152799" y="2446499"/>
                </a:lnTo>
              </a:path>
              <a:path w="4852035" h="2446654">
                <a:moveTo>
                  <a:pt x="0" y="1181614"/>
                </a:moveTo>
                <a:lnTo>
                  <a:pt x="4851599" y="1181614"/>
                </a:lnTo>
              </a:path>
            </a:pathLst>
          </a:custGeom>
          <a:noFill/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0" name="object 44"/>
          <p:cNvSpPr/>
          <p:nvPr/>
        </p:nvSpPr>
        <p:spPr>
          <a:xfrm>
            <a:off x="2136600" y="1904760"/>
            <a:ext cx="4903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i="1" lang="fr-FR" sz="1800" spc="-7" strike="noStrike">
                <a:solidFill>
                  <a:srgbClr val="000000"/>
                </a:solidFill>
                <a:latin typeface="Arial"/>
                <a:ea typeface="DejaVu Sans"/>
              </a:rPr>
              <a:t>Rule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391" name="object 45"/>
          <p:cNvSpPr/>
          <p:nvPr/>
        </p:nvSpPr>
        <p:spPr>
          <a:xfrm>
            <a:off x="3353760" y="1876320"/>
            <a:ext cx="871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i="1" lang="fr-FR" sz="1800" spc="-7" strike="noStrike">
                <a:solidFill>
                  <a:srgbClr val="000000"/>
                </a:solidFill>
                <a:latin typeface="Arial"/>
                <a:ea typeface="DejaVu Sans"/>
              </a:rPr>
              <a:t>Request</a:t>
            </a:r>
            <a:endParaRPr b="0" lang="fr-F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title"/>
          </p:nvPr>
        </p:nvSpPr>
        <p:spPr>
          <a:xfrm>
            <a:off x="385920" y="423360"/>
            <a:ext cx="4977000" cy="86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3800" spc="-7" strike="noStrike">
                <a:solidFill>
                  <a:srgbClr val="000000"/>
                </a:solidFill>
                <a:latin typeface="Arial"/>
              </a:rPr>
              <a:t>Accessing</a:t>
            </a:r>
            <a:r>
              <a:rPr b="1" lang="fr-FR" sz="38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3800" spc="-7" strike="noStrike">
                <a:solidFill>
                  <a:srgbClr val="000000"/>
                </a:solidFill>
                <a:latin typeface="Arial"/>
              </a:rPr>
              <a:t>an</a:t>
            </a:r>
            <a:r>
              <a:rPr b="1" lang="fr-FR" sz="3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3800" spc="-7" strike="noStrike">
                <a:solidFill>
                  <a:srgbClr val="000000"/>
                </a:solidFill>
                <a:latin typeface="Arial"/>
              </a:rPr>
              <a:t>Ingress</a:t>
            </a:r>
            <a:endParaRPr b="0" lang="fr-FR" sz="3800" spc="-1" strike="noStrike">
              <a:latin typeface="Arial"/>
            </a:endParaRPr>
          </a:p>
        </p:txBody>
      </p:sp>
      <p:sp>
        <p:nvSpPr>
          <p:cNvPr id="1393" name="object 20"/>
          <p:cNvSpPr/>
          <p:nvPr/>
        </p:nvSpPr>
        <p:spPr>
          <a:xfrm>
            <a:off x="385920" y="1149840"/>
            <a:ext cx="40406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Use</a:t>
            </a:r>
            <a:r>
              <a:rPr b="0" i="1" lang="fr-FR" sz="2200" spc="-26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host</a:t>
            </a:r>
            <a:r>
              <a:rPr b="0" i="1" lang="fr-FR" sz="2200" spc="-21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name</a:t>
            </a:r>
            <a:r>
              <a:rPr b="0" i="1" lang="fr-FR" sz="2200" spc="-21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and</a:t>
            </a:r>
            <a:r>
              <a:rPr b="0" i="1" lang="fr-FR" sz="2200" spc="-21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1" strike="noStrike">
                <a:solidFill>
                  <a:srgbClr val="595959"/>
                </a:solidFill>
                <a:latin typeface="Arial"/>
                <a:ea typeface="DejaVu Sans"/>
              </a:rPr>
              <a:t>context</a:t>
            </a:r>
            <a:r>
              <a:rPr b="0" i="1" lang="fr-FR" sz="2200" spc="-21" strike="noStrike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r>
              <a:rPr b="0" i="1" lang="fr-FR" sz="2200" spc="-7" strike="noStrike">
                <a:solidFill>
                  <a:srgbClr val="595959"/>
                </a:solidFill>
                <a:latin typeface="Arial"/>
                <a:ea typeface="DejaVu Sans"/>
              </a:rPr>
              <a:t>path</a:t>
            </a:r>
            <a:endParaRPr b="0" lang="fr-FR" sz="2200" spc="-1" strike="noStrike">
              <a:latin typeface="Arial"/>
            </a:endParaRPr>
          </a:p>
        </p:txBody>
      </p:sp>
      <p:grpSp>
        <p:nvGrpSpPr>
          <p:cNvPr id="1394" name="object 21"/>
          <p:cNvGrpSpPr/>
          <p:nvPr/>
        </p:nvGrpSpPr>
        <p:grpSpPr>
          <a:xfrm>
            <a:off x="421200" y="2046240"/>
            <a:ext cx="8082720" cy="1200600"/>
            <a:chOff x="421200" y="2046240"/>
            <a:chExt cx="8082720" cy="1200600"/>
          </a:xfrm>
        </p:grpSpPr>
        <p:pic>
          <p:nvPicPr>
            <p:cNvPr id="1395" name="object 22" descr=""/>
            <p:cNvPicPr/>
            <p:nvPr/>
          </p:nvPicPr>
          <p:blipFill>
            <a:blip r:embed="rId1"/>
            <a:stretch/>
          </p:blipFill>
          <p:spPr>
            <a:xfrm>
              <a:off x="421200" y="2046240"/>
              <a:ext cx="8082720" cy="1200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96" name="object 23"/>
            <p:cNvSpPr/>
            <p:nvPr/>
          </p:nvSpPr>
          <p:spPr>
            <a:xfrm>
              <a:off x="474480" y="2094480"/>
              <a:ext cx="7968600" cy="1086480"/>
            </a:xfrm>
            <a:custGeom>
              <a:avLst/>
              <a:gdLst/>
              <a:ahLst/>
              <a:rect l="l" t="t" r="r" b="b"/>
              <a:pathLst>
                <a:path w="7974330" h="1092200">
                  <a:moveTo>
                    <a:pt x="7974299" y="1091999"/>
                  </a:moveTo>
                  <a:lnTo>
                    <a:pt x="0" y="1091999"/>
                  </a:lnTo>
                  <a:lnTo>
                    <a:pt x="0" y="0"/>
                  </a:lnTo>
                  <a:lnTo>
                    <a:pt x="7974299" y="0"/>
                  </a:lnTo>
                  <a:lnTo>
                    <a:pt x="7974299" y="1091999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97" name="object 24"/>
          <p:cNvSpPr/>
          <p:nvPr/>
        </p:nvSpPr>
        <p:spPr>
          <a:xfrm>
            <a:off x="697320" y="2243520"/>
            <a:ext cx="5554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$</a:t>
            </a:r>
            <a:r>
              <a:rPr b="1" lang="fr-FR" sz="1200" spc="-97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1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wget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398" name="object 25"/>
          <p:cNvSpPr/>
          <p:nvPr/>
        </p:nvSpPr>
        <p:spPr>
          <a:xfrm>
            <a:off x="1308600" y="2261880"/>
            <a:ext cx="2994480" cy="17676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080">
              <a:lnSpc>
                <a:spcPts val="1395"/>
              </a:lnSpc>
              <a:buNone/>
            </a:pPr>
            <a:r>
              <a:rPr b="1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star-alliance.com/corellian/api/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399" name="object 26"/>
          <p:cNvSpPr/>
          <p:nvPr/>
        </p:nvSpPr>
        <p:spPr>
          <a:xfrm>
            <a:off x="4354200" y="2243520"/>
            <a:ext cx="19270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--timeout=5</a:t>
            </a:r>
            <a:r>
              <a:rPr b="1" lang="fr-FR" sz="1200" spc="-80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1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--tries=1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400" name="object 27"/>
          <p:cNvSpPr/>
          <p:nvPr/>
        </p:nvSpPr>
        <p:spPr>
          <a:xfrm>
            <a:off x="697320" y="2424600"/>
            <a:ext cx="7596000" cy="5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ts val="1429"/>
              </a:lnSpc>
              <a:spcBef>
                <a:spcPts val="99"/>
              </a:spcBef>
              <a:buNone/>
            </a:pPr>
            <a:r>
              <a:rPr b="0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Resolving</a:t>
            </a:r>
            <a:r>
              <a:rPr b="0" lang="fr-FR" sz="1200" spc="-32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star-alliance.com</a:t>
            </a:r>
            <a:r>
              <a:rPr b="0" lang="fr-FR" sz="1200" spc="-32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(star-alliance.com)...</a:t>
            </a:r>
            <a:r>
              <a:rPr b="0" lang="fr-FR" sz="1200" spc="-32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192.168.64.15</a:t>
            </a:r>
            <a:endParaRPr b="0" lang="fr-FR" sz="1200" spc="-1" strike="noStrike">
              <a:latin typeface="Arial"/>
            </a:endParaRPr>
          </a:p>
          <a:p>
            <a:pPr>
              <a:lnSpc>
                <a:spcPts val="1426"/>
              </a:lnSpc>
              <a:buNone/>
            </a:pPr>
            <a:r>
              <a:rPr b="0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Connecting</a:t>
            </a:r>
            <a:r>
              <a:rPr b="0" lang="fr-FR" sz="1200" spc="-26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to</a:t>
            </a:r>
            <a:r>
              <a:rPr b="0" lang="fr-FR" sz="1200" spc="-26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star-alliance.com</a:t>
            </a:r>
            <a:r>
              <a:rPr b="0" lang="fr-FR" sz="1200" spc="-2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(star-alliance.com)|192.168.64.15|:80...</a:t>
            </a:r>
            <a:r>
              <a:rPr b="0" lang="fr-FR" sz="1200" spc="-26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7" strike="noStrike">
                <a:solidFill>
                  <a:srgbClr val="000000"/>
                </a:solidFill>
                <a:latin typeface="Courier New"/>
                <a:ea typeface="DejaVu Sans"/>
              </a:rPr>
              <a:t>connected.</a:t>
            </a:r>
            <a:endParaRPr b="0" lang="fr-FR" sz="1200" spc="-1" strike="noStrike">
              <a:latin typeface="Arial"/>
            </a:endParaRPr>
          </a:p>
          <a:p>
            <a:pPr>
              <a:lnSpc>
                <a:spcPts val="1315"/>
              </a:lnSpc>
              <a:buNone/>
            </a:pPr>
            <a:r>
              <a:rPr b="1" lang="fr-FR" sz="1100" spc="-7" strike="noStrike">
                <a:solidFill>
                  <a:srgbClr val="000000"/>
                </a:solidFill>
                <a:latin typeface="Courier New"/>
                <a:ea typeface="DejaVu Sans"/>
              </a:rPr>
              <a:t>...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2641;p271"/>
          <p:cNvSpPr/>
          <p:nvPr/>
        </p:nvSpPr>
        <p:spPr>
          <a:xfrm>
            <a:off x="0" y="0"/>
            <a:ext cx="9140760" cy="5131440"/>
          </a:xfrm>
          <a:custGeom>
            <a:avLst/>
            <a:gdLst/>
            <a:ahLst/>
            <a:rect l="l" t="t" r="r" b="b"/>
            <a:pathLst>
              <a:path w="9144000" h="5134610">
                <a:moveTo>
                  <a:pt x="9143981" y="5134589"/>
                </a:moveTo>
                <a:lnTo>
                  <a:pt x="0" y="51345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34589"/>
                </a:lnTo>
                <a:close/>
              </a:path>
            </a:pathLst>
          </a:custGeom>
          <a:solidFill>
            <a:srgbClr val="d300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2" name="Google Shape;2642;p271"/>
          <p:cNvSpPr/>
          <p:nvPr/>
        </p:nvSpPr>
        <p:spPr>
          <a:xfrm>
            <a:off x="545040" y="1629360"/>
            <a:ext cx="408240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Network Policies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403" name="Google Shape;2643;p271"/>
          <p:cNvSpPr/>
          <p:nvPr/>
        </p:nvSpPr>
        <p:spPr>
          <a:xfrm>
            <a:off x="545040" y="2375640"/>
            <a:ext cx="421236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Purpose, Rules, Best Practices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E478A6-D85A-43A4-97CD-96F77BB35256}" type="slidenum">
              <a:t>201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2648;p272"/>
          <p:cNvSpPr/>
          <p:nvPr/>
        </p:nvSpPr>
        <p:spPr>
          <a:xfrm>
            <a:off x="385920" y="1148760"/>
            <a:ext cx="8416440" cy="31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Firewall rules for Pod-to-Pod communication</a:t>
            </a:r>
            <a:endParaRPr b="0" lang="fr-FR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buNone/>
              <a:tabLst>
                <a:tab algn="l" pos="0"/>
              </a:tabLst>
            </a:pPr>
            <a:endParaRPr b="0" lang="fr-FR" sz="22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Communication between Pods in the same cluster is unrestricted. You  can use the Pod’s IP address to communicate with it.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Network policies implement the principle of least privilege. Only allow  communicate is needed to fulfill requirement of architecture.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None/>
              <a:tabLst>
                <a:tab algn="l" pos="0"/>
              </a:tabLst>
            </a:pPr>
            <a:endParaRPr b="0" lang="fr-FR" sz="2050" spc="-1" strike="noStrike">
              <a:latin typeface="Arial"/>
            </a:endParaRPr>
          </a:p>
          <a:p>
            <a:pPr marL="333360" indent="-290880">
              <a:lnSpc>
                <a:spcPct val="100000"/>
              </a:lnSpc>
              <a:buClr>
                <a:srgbClr val="d3002d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595959"/>
                </a:solidFill>
                <a:latin typeface="Arial"/>
                <a:ea typeface="Arial"/>
              </a:rPr>
              <a:t>You can disallow and allow network communication with fine-grained  rules.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405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67899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What is a Network Policy?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9DDE81F-DCD7-4353-BB6B-15067DE43BA1}" type="slidenum">
              <a:t>202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2654;p273"/>
          <p:cNvSpPr/>
          <p:nvPr/>
        </p:nvSpPr>
        <p:spPr>
          <a:xfrm>
            <a:off x="385920" y="391320"/>
            <a:ext cx="65786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Example Network Policies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407" name="Google Shape;2655;p273"/>
          <p:cNvSpPr/>
          <p:nvPr/>
        </p:nvSpPr>
        <p:spPr>
          <a:xfrm>
            <a:off x="385920" y="1149840"/>
            <a:ext cx="663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“</a:t>
            </a: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Network Policies control traffic from and to the Pod”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408" name="Google Shape;2656;p273"/>
          <p:cNvSpPr/>
          <p:nvPr/>
        </p:nvSpPr>
        <p:spPr>
          <a:xfrm>
            <a:off x="1203120" y="2680200"/>
            <a:ext cx="6578640" cy="11304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783615E-6A95-40E7-8439-F5804A3F9D05}" type="slidenum">
              <a:t>203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538092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Network Policy Rules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410" name="Google Shape;2662;p274"/>
          <p:cNvSpPr/>
          <p:nvPr/>
        </p:nvSpPr>
        <p:spPr>
          <a:xfrm>
            <a:off x="967680" y="1571400"/>
            <a:ext cx="3574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d3002d"/>
                </a:solidFill>
                <a:latin typeface="Arial"/>
                <a:ea typeface="Arial"/>
              </a:rPr>
              <a:t>Pod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1411" name="Google Shape;2663;p274"/>
          <p:cNvGrpSpPr/>
          <p:nvPr/>
        </p:nvGrpSpPr>
        <p:grpSpPr>
          <a:xfrm>
            <a:off x="801000" y="1895760"/>
            <a:ext cx="741600" cy="673200"/>
            <a:chOff x="801000" y="1895760"/>
            <a:chExt cx="741600" cy="673200"/>
          </a:xfrm>
        </p:grpSpPr>
        <p:sp>
          <p:nvSpPr>
            <p:cNvPr id="1412" name="Google Shape;2664;p274"/>
            <p:cNvSpPr/>
            <p:nvPr/>
          </p:nvSpPr>
          <p:spPr>
            <a:xfrm>
              <a:off x="801000" y="1895760"/>
              <a:ext cx="741600" cy="673200"/>
            </a:xfrm>
            <a:custGeom>
              <a:avLst/>
              <a:gdLst/>
              <a:ahLst/>
              <a:rect l="l" t="t" r="r" b="b"/>
              <a:pathLst>
                <a:path w="744855" h="676275">
                  <a:moveTo>
                    <a:pt x="709246" y="675898"/>
                  </a:moveTo>
                  <a:lnTo>
                    <a:pt x="35052" y="675898"/>
                  </a:lnTo>
                  <a:lnTo>
                    <a:pt x="21408" y="673143"/>
                  </a:lnTo>
                  <a:lnTo>
                    <a:pt x="10266" y="665629"/>
                  </a:lnTo>
                  <a:lnTo>
                    <a:pt x="2754" y="654488"/>
                  </a:lnTo>
                  <a:lnTo>
                    <a:pt x="0" y="640848"/>
                  </a:lnTo>
                  <a:lnTo>
                    <a:pt x="0" y="35052"/>
                  </a:lnTo>
                  <a:lnTo>
                    <a:pt x="2754" y="21409"/>
                  </a:lnTo>
                  <a:lnTo>
                    <a:pt x="10266" y="10267"/>
                  </a:lnTo>
                  <a:lnTo>
                    <a:pt x="21408" y="2754"/>
                  </a:lnTo>
                  <a:lnTo>
                    <a:pt x="35052" y="0"/>
                  </a:lnTo>
                  <a:lnTo>
                    <a:pt x="709246" y="0"/>
                  </a:lnTo>
                  <a:lnTo>
                    <a:pt x="741630" y="21639"/>
                  </a:lnTo>
                  <a:lnTo>
                    <a:pt x="744298" y="35052"/>
                  </a:lnTo>
                  <a:lnTo>
                    <a:pt x="744298" y="640848"/>
                  </a:lnTo>
                  <a:lnTo>
                    <a:pt x="741544" y="654488"/>
                  </a:lnTo>
                  <a:lnTo>
                    <a:pt x="734032" y="665629"/>
                  </a:lnTo>
                  <a:lnTo>
                    <a:pt x="722890" y="673143"/>
                  </a:lnTo>
                  <a:lnTo>
                    <a:pt x="709246" y="675898"/>
                  </a:lnTo>
                  <a:close/>
                </a:path>
              </a:pathLst>
            </a:custGeom>
            <a:solidFill>
              <a:srgbClr val="f7f7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3" name="Google Shape;2665;p274"/>
            <p:cNvSpPr/>
            <p:nvPr/>
          </p:nvSpPr>
          <p:spPr>
            <a:xfrm>
              <a:off x="801000" y="1895760"/>
              <a:ext cx="741600" cy="673200"/>
            </a:xfrm>
            <a:custGeom>
              <a:avLst/>
              <a:gdLst/>
              <a:ahLst/>
              <a:rect l="l" t="t" r="r" b="b"/>
              <a:pathLst>
                <a:path w="744855" h="676275">
                  <a:moveTo>
                    <a:pt x="0" y="35052"/>
                  </a:moveTo>
                  <a:lnTo>
                    <a:pt x="2754" y="21409"/>
                  </a:lnTo>
                  <a:lnTo>
                    <a:pt x="10266" y="10267"/>
                  </a:lnTo>
                  <a:lnTo>
                    <a:pt x="21408" y="2754"/>
                  </a:lnTo>
                  <a:lnTo>
                    <a:pt x="35052" y="0"/>
                  </a:lnTo>
                  <a:lnTo>
                    <a:pt x="709246" y="0"/>
                  </a:lnTo>
                  <a:lnTo>
                    <a:pt x="741630" y="21639"/>
                  </a:lnTo>
                  <a:lnTo>
                    <a:pt x="744298" y="35052"/>
                  </a:lnTo>
                  <a:lnTo>
                    <a:pt x="744298" y="640848"/>
                  </a:lnTo>
                  <a:lnTo>
                    <a:pt x="741544" y="654488"/>
                  </a:lnTo>
                  <a:lnTo>
                    <a:pt x="734032" y="665629"/>
                  </a:lnTo>
                  <a:lnTo>
                    <a:pt x="722890" y="673143"/>
                  </a:lnTo>
                  <a:lnTo>
                    <a:pt x="709246" y="675898"/>
                  </a:lnTo>
                  <a:lnTo>
                    <a:pt x="35052" y="675898"/>
                  </a:lnTo>
                  <a:lnTo>
                    <a:pt x="21408" y="673143"/>
                  </a:lnTo>
                  <a:lnTo>
                    <a:pt x="10266" y="665629"/>
                  </a:lnTo>
                  <a:lnTo>
                    <a:pt x="2754" y="654488"/>
                  </a:lnTo>
                  <a:lnTo>
                    <a:pt x="0" y="640848"/>
                  </a:lnTo>
                  <a:lnTo>
                    <a:pt x="0" y="35052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14" name="Google Shape;2666;p274"/>
          <p:cNvSpPr/>
          <p:nvPr/>
        </p:nvSpPr>
        <p:spPr>
          <a:xfrm>
            <a:off x="1745640" y="2067840"/>
            <a:ext cx="14090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tier: frontend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415" name="Google Shape;2667;p274"/>
          <p:cNvSpPr/>
          <p:nvPr/>
        </p:nvSpPr>
        <p:spPr>
          <a:xfrm>
            <a:off x="3502080" y="2005920"/>
            <a:ext cx="4646160" cy="4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Which Pod does the rule apply to? </a:t>
            </a:r>
            <a:r>
              <a:rPr b="0" lang="en-US" sz="2700" spc="-1" strike="noStrike" baseline="30000">
                <a:solidFill>
                  <a:srgbClr val="5ec831"/>
                </a:solidFill>
                <a:latin typeface="Arial"/>
                <a:ea typeface="Arial"/>
              </a:rPr>
              <a:t>✔</a:t>
            </a:r>
            <a:endParaRPr b="0" lang="fr-FR" sz="2700" spc="-1" strike="noStrike">
              <a:latin typeface="Arial"/>
            </a:endParaRPr>
          </a:p>
        </p:txBody>
      </p:sp>
      <p:sp>
        <p:nvSpPr>
          <p:cNvPr id="1416" name="Google Shape;2668;p274"/>
          <p:cNvSpPr/>
          <p:nvPr/>
        </p:nvSpPr>
        <p:spPr>
          <a:xfrm>
            <a:off x="1764720" y="3201840"/>
            <a:ext cx="3574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d3002d"/>
                </a:solidFill>
                <a:latin typeface="Arial"/>
                <a:ea typeface="Arial"/>
              </a:rPr>
              <a:t>Pod</a:t>
            </a:r>
            <a:endParaRPr b="0" lang="fr-FR" sz="1400" spc="-1" strike="noStrike">
              <a:latin typeface="Arial"/>
            </a:endParaRPr>
          </a:p>
        </p:txBody>
      </p:sp>
      <p:grpSp>
        <p:nvGrpSpPr>
          <p:cNvPr id="1417" name="Google Shape;2669;p274"/>
          <p:cNvGrpSpPr/>
          <p:nvPr/>
        </p:nvGrpSpPr>
        <p:grpSpPr>
          <a:xfrm>
            <a:off x="998280" y="3526200"/>
            <a:ext cx="1851120" cy="673200"/>
            <a:chOff x="998280" y="3526200"/>
            <a:chExt cx="1851120" cy="673200"/>
          </a:xfrm>
        </p:grpSpPr>
        <p:sp>
          <p:nvSpPr>
            <p:cNvPr id="1418" name="Google Shape;2670;p274"/>
            <p:cNvSpPr/>
            <p:nvPr/>
          </p:nvSpPr>
          <p:spPr>
            <a:xfrm>
              <a:off x="1598040" y="3526200"/>
              <a:ext cx="741600" cy="673200"/>
            </a:xfrm>
            <a:custGeom>
              <a:avLst/>
              <a:gdLst/>
              <a:ahLst/>
              <a:rect l="l" t="t" r="r" b="b"/>
              <a:pathLst>
                <a:path w="744855" h="676275">
                  <a:moveTo>
                    <a:pt x="709248" y="675898"/>
                  </a:moveTo>
                  <a:lnTo>
                    <a:pt x="35052" y="675898"/>
                  </a:lnTo>
                  <a:lnTo>
                    <a:pt x="21409" y="673146"/>
                  </a:lnTo>
                  <a:lnTo>
                    <a:pt x="10267" y="665639"/>
                  </a:lnTo>
                  <a:lnTo>
                    <a:pt x="2754" y="654499"/>
                  </a:lnTo>
                  <a:lnTo>
                    <a:pt x="0" y="640848"/>
                  </a:lnTo>
                  <a:lnTo>
                    <a:pt x="0" y="35049"/>
                  </a:lnTo>
                  <a:lnTo>
                    <a:pt x="2754" y="21410"/>
                  </a:lnTo>
                  <a:lnTo>
                    <a:pt x="10267" y="10268"/>
                  </a:lnTo>
                  <a:lnTo>
                    <a:pt x="21409" y="2755"/>
                  </a:lnTo>
                  <a:lnTo>
                    <a:pt x="35052" y="0"/>
                  </a:lnTo>
                  <a:lnTo>
                    <a:pt x="709248" y="0"/>
                  </a:lnTo>
                  <a:lnTo>
                    <a:pt x="741630" y="21649"/>
                  </a:lnTo>
                  <a:lnTo>
                    <a:pt x="744298" y="35049"/>
                  </a:lnTo>
                  <a:lnTo>
                    <a:pt x="744298" y="640848"/>
                  </a:lnTo>
                  <a:lnTo>
                    <a:pt x="741544" y="654499"/>
                  </a:lnTo>
                  <a:lnTo>
                    <a:pt x="734032" y="665639"/>
                  </a:lnTo>
                  <a:lnTo>
                    <a:pt x="722891" y="673146"/>
                  </a:lnTo>
                  <a:lnTo>
                    <a:pt x="709248" y="675898"/>
                  </a:lnTo>
                  <a:close/>
                </a:path>
              </a:pathLst>
            </a:custGeom>
            <a:solidFill>
              <a:srgbClr val="f7f7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9" name="Google Shape;2671;p274"/>
            <p:cNvSpPr/>
            <p:nvPr/>
          </p:nvSpPr>
          <p:spPr>
            <a:xfrm>
              <a:off x="998280" y="3526200"/>
              <a:ext cx="1341000" cy="673200"/>
            </a:xfrm>
            <a:custGeom>
              <a:avLst/>
              <a:gdLst/>
              <a:ahLst/>
              <a:rect l="l" t="t" r="r" b="b"/>
              <a:pathLst>
                <a:path w="1344295" h="676275">
                  <a:moveTo>
                    <a:pt x="599698" y="35049"/>
                  </a:moveTo>
                  <a:lnTo>
                    <a:pt x="602453" y="21410"/>
                  </a:lnTo>
                  <a:lnTo>
                    <a:pt x="609965" y="10268"/>
                  </a:lnTo>
                  <a:lnTo>
                    <a:pt x="621107" y="2755"/>
                  </a:lnTo>
                  <a:lnTo>
                    <a:pt x="634751" y="0"/>
                  </a:lnTo>
                  <a:lnTo>
                    <a:pt x="1308947" y="0"/>
                  </a:lnTo>
                  <a:lnTo>
                    <a:pt x="1341329" y="21649"/>
                  </a:lnTo>
                  <a:lnTo>
                    <a:pt x="1343997" y="35049"/>
                  </a:lnTo>
                  <a:lnTo>
                    <a:pt x="1343997" y="640848"/>
                  </a:lnTo>
                  <a:lnTo>
                    <a:pt x="1341242" y="654499"/>
                  </a:lnTo>
                  <a:lnTo>
                    <a:pt x="1333731" y="665639"/>
                  </a:lnTo>
                  <a:lnTo>
                    <a:pt x="1322590" y="673146"/>
                  </a:lnTo>
                  <a:lnTo>
                    <a:pt x="1308947" y="675898"/>
                  </a:lnTo>
                  <a:lnTo>
                    <a:pt x="634751" y="675898"/>
                  </a:lnTo>
                  <a:lnTo>
                    <a:pt x="621107" y="673146"/>
                  </a:lnTo>
                  <a:lnTo>
                    <a:pt x="609965" y="665639"/>
                  </a:lnTo>
                  <a:lnTo>
                    <a:pt x="602453" y="654499"/>
                  </a:lnTo>
                  <a:lnTo>
                    <a:pt x="599698" y="640848"/>
                  </a:lnTo>
                  <a:lnTo>
                    <a:pt x="599698" y="35049"/>
                  </a:lnTo>
                  <a:close/>
                </a:path>
                <a:path w="1344295" h="676275">
                  <a:moveTo>
                    <a:pt x="0" y="337949"/>
                  </a:moveTo>
                  <a:lnTo>
                    <a:pt x="542548" y="33794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0" name="Google Shape;2672;p274"/>
            <p:cNvSpPr/>
            <p:nvPr/>
          </p:nvSpPr>
          <p:spPr>
            <a:xfrm>
              <a:off x="1540800" y="3848760"/>
              <a:ext cx="40680" cy="28440"/>
            </a:xfrm>
            <a:custGeom>
              <a:avLst/>
              <a:gdLst/>
              <a:ah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0" y="0"/>
                  </a:lnTo>
                  <a:lnTo>
                    <a:pt x="43227" y="1572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1" name="Google Shape;2673;p274"/>
            <p:cNvSpPr/>
            <p:nvPr/>
          </p:nvSpPr>
          <p:spPr>
            <a:xfrm>
              <a:off x="1540800" y="3848760"/>
              <a:ext cx="40680" cy="28440"/>
            </a:xfrm>
            <a:custGeom>
              <a:avLst/>
              <a:gdLst/>
              <a:ah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227" y="15724"/>
                  </a:lnTo>
                  <a:lnTo>
                    <a:pt x="0" y="0"/>
                  </a:lnTo>
                  <a:lnTo>
                    <a:pt x="0" y="31474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2" name="Google Shape;2674;p274"/>
            <p:cNvSpPr/>
            <p:nvPr/>
          </p:nvSpPr>
          <p:spPr>
            <a:xfrm>
              <a:off x="2342520" y="3858840"/>
              <a:ext cx="463320" cy="2520"/>
            </a:xfrm>
            <a:custGeom>
              <a:avLst/>
              <a:gdLst/>
              <a:ahLst/>
              <a:rect l="l" t="t" r="r" b="b"/>
              <a:pathLst>
                <a:path w="466725" h="5714">
                  <a:moveTo>
                    <a:pt x="0" y="5324"/>
                  </a:moveTo>
                  <a:lnTo>
                    <a:pt x="46664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3" name="Google Shape;2675;p274"/>
            <p:cNvSpPr/>
            <p:nvPr/>
          </p:nvSpPr>
          <p:spPr>
            <a:xfrm>
              <a:off x="2808720" y="3843360"/>
              <a:ext cx="40680" cy="28440"/>
            </a:xfrm>
            <a:custGeom>
              <a:avLst/>
              <a:gdLst/>
              <a:ahLst/>
              <a:rect l="l" t="t" r="r" b="b"/>
              <a:pathLst>
                <a:path w="43814" h="31750">
                  <a:moveTo>
                    <a:pt x="374" y="31474"/>
                  </a:moveTo>
                  <a:lnTo>
                    <a:pt x="0" y="0"/>
                  </a:lnTo>
                  <a:lnTo>
                    <a:pt x="43399" y="15249"/>
                  </a:lnTo>
                  <a:lnTo>
                    <a:pt x="374" y="3147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4" name="Google Shape;2676;p274"/>
            <p:cNvSpPr/>
            <p:nvPr/>
          </p:nvSpPr>
          <p:spPr>
            <a:xfrm>
              <a:off x="2808720" y="3843360"/>
              <a:ext cx="40680" cy="28440"/>
            </a:xfrm>
            <a:custGeom>
              <a:avLst/>
              <a:gdLst/>
              <a:ahLst/>
              <a:rect l="l" t="t" r="r" b="b"/>
              <a:pathLst>
                <a:path w="43814" h="31750">
                  <a:moveTo>
                    <a:pt x="374" y="31474"/>
                  </a:moveTo>
                  <a:lnTo>
                    <a:pt x="43399" y="15249"/>
                  </a:lnTo>
                  <a:lnTo>
                    <a:pt x="0" y="0"/>
                  </a:lnTo>
                  <a:lnTo>
                    <a:pt x="374" y="31474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25" name="Google Shape;2677;p274"/>
          <p:cNvSpPr/>
          <p:nvPr/>
        </p:nvSpPr>
        <p:spPr>
          <a:xfrm>
            <a:off x="874080" y="3540960"/>
            <a:ext cx="5630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Ingress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426" name="Google Shape;2678;p274"/>
          <p:cNvSpPr/>
          <p:nvPr/>
        </p:nvSpPr>
        <p:spPr>
          <a:xfrm>
            <a:off x="2482560" y="3540960"/>
            <a:ext cx="5353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Egress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427" name="Google Shape;2679;p274"/>
          <p:cNvSpPr/>
          <p:nvPr/>
        </p:nvSpPr>
        <p:spPr>
          <a:xfrm>
            <a:off x="3527640" y="3372120"/>
            <a:ext cx="3309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560" bIns="0" anchor="t">
            <a:spAutoFit/>
          </a:bodyPr>
          <a:p>
            <a:pPr marL="126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Which direction of traffic?  Who is allowed?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428" name="Google Shape;2680;p274"/>
          <p:cNvSpPr/>
          <p:nvPr/>
        </p:nvSpPr>
        <p:spPr>
          <a:xfrm>
            <a:off x="2617560" y="3884040"/>
            <a:ext cx="2509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ec831"/>
                </a:solidFill>
                <a:latin typeface="Arial"/>
                <a:ea typeface="Arial"/>
              </a:rPr>
              <a:t>✓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429" name="Google Shape;2681;p274"/>
          <p:cNvSpPr/>
          <p:nvPr/>
        </p:nvSpPr>
        <p:spPr>
          <a:xfrm>
            <a:off x="1070640" y="3876120"/>
            <a:ext cx="2509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✘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C490533-C565-45C2-96D8-8851A5EEB866}" type="slidenum">
              <a:t>204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2686;p275"/>
          <p:cNvSpPr/>
          <p:nvPr/>
        </p:nvSpPr>
        <p:spPr>
          <a:xfrm>
            <a:off x="441720" y="1289880"/>
            <a:ext cx="67766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Start with </a:t>
            </a:r>
            <a:r>
              <a:rPr b="0" i="1" lang="en-US" sz="2400" spc="-1" strike="noStrike" u="sng">
                <a:solidFill>
                  <a:srgbClr val="d3002d"/>
                </a:solidFill>
                <a:uFillTx/>
                <a:latin typeface="Arial"/>
                <a:ea typeface="Arial"/>
                <a:hlinkClick r:id="rId1"/>
              </a:rPr>
              <a:t>default deny policy </a:t>
            </a: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and then allow traffic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431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5610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Deny All Policy YAML Manifest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432" name="Google Shape;2689;p275"/>
          <p:cNvSpPr/>
          <p:nvPr/>
        </p:nvSpPr>
        <p:spPr>
          <a:xfrm>
            <a:off x="499680" y="2096280"/>
            <a:ext cx="3528000" cy="1910520"/>
          </a:xfrm>
          <a:prstGeom prst="rect">
            <a:avLst/>
          </a:prstGeom>
          <a:solidFill>
            <a:srgbClr val="f6f6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4480" bIns="0" anchor="t">
            <a:spAutoFit/>
          </a:bodyPr>
          <a:p>
            <a:pPr marL="154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networking.k8s.io/v1</a:t>
            </a:r>
            <a:endParaRPr b="0" lang="fr-FR" sz="1300" spc="-1" strike="noStrike">
              <a:latin typeface="Arial"/>
            </a:endParaRPr>
          </a:p>
          <a:p>
            <a:pPr marL="154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NetworkPolicy</a:t>
            </a:r>
            <a:endParaRPr b="0" lang="fr-FR" sz="1300" spc="-1" strike="noStrike">
              <a:latin typeface="Arial"/>
            </a:endParaRPr>
          </a:p>
          <a:p>
            <a:pPr marL="154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300" spc="-1" strike="noStrike">
              <a:latin typeface="Arial"/>
            </a:endParaRPr>
          </a:p>
          <a:p>
            <a:pPr marL="352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default-deny-all</a:t>
            </a:r>
            <a:endParaRPr b="0" lang="fr-FR" sz="1300" spc="-1" strike="noStrike">
              <a:latin typeface="Arial"/>
            </a:endParaRPr>
          </a:p>
          <a:p>
            <a:pPr marL="154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300" spc="-1" strike="noStrike">
              <a:latin typeface="Arial"/>
            </a:endParaRPr>
          </a:p>
          <a:p>
            <a:pPr marL="35244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podSelector: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{}</a:t>
            </a:r>
            <a:endParaRPr b="0" lang="fr-FR" sz="1300" spc="-1" strike="noStrike">
              <a:latin typeface="Arial"/>
            </a:endParaRPr>
          </a:p>
          <a:p>
            <a:pPr marL="348480">
              <a:lnSpc>
                <a:spcPct val="100000"/>
              </a:lnSpc>
              <a:spcBef>
                <a:spcPts val="14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617a1"/>
                </a:solidFill>
                <a:latin typeface="Courier New"/>
                <a:ea typeface="Courier New"/>
              </a:rPr>
              <a:t>policyTypes:</a:t>
            </a:r>
            <a:endParaRPr b="0" lang="fr-FR" sz="1300" spc="-1" strike="noStrike">
              <a:latin typeface="Arial"/>
            </a:endParaRPr>
          </a:p>
          <a:p>
            <a:pPr marL="550440" indent="-198720">
              <a:lnSpc>
                <a:spcPct val="100000"/>
              </a:lnSpc>
              <a:spcBef>
                <a:spcPts val="14"/>
              </a:spcBef>
              <a:buClr>
                <a:srgbClr val="000000"/>
              </a:buClr>
              <a:buFont typeface="Courier New"/>
              <a:buChar char="-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Ingress</a:t>
            </a:r>
            <a:endParaRPr b="0" lang="fr-FR" sz="1300" spc="-1" strike="noStrike">
              <a:latin typeface="Arial"/>
            </a:endParaRPr>
          </a:p>
          <a:p>
            <a:pPr marL="550440" indent="-198720">
              <a:lnSpc>
                <a:spcPct val="100000"/>
              </a:lnSpc>
              <a:spcBef>
                <a:spcPts val="14"/>
              </a:spcBef>
              <a:buClr>
                <a:srgbClr val="000000"/>
              </a:buClr>
              <a:buFont typeface="Courier New"/>
              <a:buChar char="-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  <a:ea typeface="Courier New"/>
              </a:rPr>
              <a:t>Egress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5F4B433-0546-4175-82C4-529F610F28C0}" type="slidenum">
              <a:t>205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2694;p276"/>
          <p:cNvSpPr/>
          <p:nvPr/>
        </p:nvSpPr>
        <p:spPr>
          <a:xfrm>
            <a:off x="441720" y="1289880"/>
            <a:ext cx="70912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595959"/>
                </a:solidFill>
                <a:latin typeface="Courier New"/>
                <a:ea typeface="Courier New"/>
              </a:rPr>
              <a:t>kubectl </a:t>
            </a:r>
            <a:r>
              <a:rPr b="0" i="1" lang="en-US" sz="2400" spc="-1" strike="noStrike">
                <a:solidFill>
                  <a:srgbClr val="595959"/>
                </a:solidFill>
                <a:latin typeface="Arial"/>
                <a:ea typeface="Arial"/>
              </a:rPr>
              <a:t>doesn’t provide an imperative command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434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09128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Allow Policy YAML Manifest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1435" name="Google Shape;2696;p276"/>
          <p:cNvGrpSpPr/>
          <p:nvPr/>
        </p:nvGrpSpPr>
        <p:grpSpPr>
          <a:xfrm>
            <a:off x="446040" y="2048040"/>
            <a:ext cx="3147840" cy="2844000"/>
            <a:chOff x="446040" y="2048040"/>
            <a:chExt cx="3147840" cy="2844000"/>
          </a:xfrm>
        </p:grpSpPr>
        <p:sp>
          <p:nvSpPr>
            <p:cNvPr id="1436" name="Google Shape;2697;p276"/>
            <p:cNvSpPr/>
            <p:nvPr/>
          </p:nvSpPr>
          <p:spPr>
            <a:xfrm>
              <a:off x="446040" y="2048040"/>
              <a:ext cx="3147840" cy="28440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7" name="Google Shape;2698;p276"/>
            <p:cNvSpPr/>
            <p:nvPr/>
          </p:nvSpPr>
          <p:spPr>
            <a:xfrm>
              <a:off x="499680" y="2096280"/>
              <a:ext cx="3034080" cy="2729880"/>
            </a:xfrm>
            <a:custGeom>
              <a:avLst/>
              <a:gdLst/>
              <a:ahLst/>
              <a:rect l="l" t="t" r="r" b="b"/>
              <a:pathLst>
                <a:path w="3037204" h="2733040">
                  <a:moveTo>
                    <a:pt x="3036893" y="2732994"/>
                  </a:moveTo>
                  <a:lnTo>
                    <a:pt x="0" y="2732994"/>
                  </a:lnTo>
                  <a:lnTo>
                    <a:pt x="0" y="0"/>
                  </a:lnTo>
                  <a:lnTo>
                    <a:pt x="3036893" y="0"/>
                  </a:lnTo>
                  <a:lnTo>
                    <a:pt x="3036893" y="27329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38" name="Google Shape;2699;p276"/>
          <p:cNvSpPr/>
          <p:nvPr/>
        </p:nvSpPr>
        <p:spPr>
          <a:xfrm>
            <a:off x="641880" y="2199240"/>
            <a:ext cx="2704320" cy="13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apiVersion: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networking.k8s.io/v1</a:t>
            </a:r>
            <a:endParaRPr b="0" lang="fr-FR" sz="11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kind: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NetworkPolicy</a:t>
            </a:r>
            <a:endParaRPr b="0" lang="fr-FR" sz="11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metadata:</a:t>
            </a:r>
            <a:endParaRPr b="0" lang="fr-FR" sz="1100" spc="-1" strike="noStrike">
              <a:latin typeface="Arial"/>
            </a:endParaRPr>
          </a:p>
          <a:p>
            <a:pPr marL="18036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name: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api-allow</a:t>
            </a:r>
            <a:endParaRPr b="0" lang="fr-FR" sz="11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spec:</a:t>
            </a:r>
            <a:endParaRPr b="0" lang="fr-FR" sz="1100" spc="-1" strike="noStrike">
              <a:latin typeface="Arial"/>
            </a:endParaRPr>
          </a:p>
          <a:p>
            <a:pPr marL="348120" indent="-167760"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podSelector:  </a:t>
            </a:r>
            <a:endParaRPr b="0" lang="fr-FR" sz="1100" spc="-1" strike="noStrike">
              <a:latin typeface="Arial"/>
            </a:endParaRPr>
          </a:p>
          <a:p>
            <a:pPr marL="348120" indent="-167760"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matchLabels:</a:t>
            </a:r>
            <a:endParaRPr b="0" lang="fr-FR" sz="1100" spc="-1" strike="noStrike">
              <a:latin typeface="Arial"/>
            </a:endParaRPr>
          </a:p>
          <a:p>
            <a:pPr marL="515520" indent="-16776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 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app: </a:t>
            </a:r>
            <a:r>
              <a:rPr b="0" lang="en-US" sz="1100" spc="-1" strike="noStrike">
                <a:solidFill>
                  <a:srgbClr val="3f3f3f"/>
                </a:solidFill>
                <a:latin typeface="Courier New"/>
                <a:ea typeface="Courier New"/>
              </a:rPr>
              <a:t>payment-processor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439" name="Google Shape;2700;p276"/>
          <p:cNvSpPr/>
          <p:nvPr/>
        </p:nvSpPr>
        <p:spPr>
          <a:xfrm>
            <a:off x="809280" y="3570840"/>
            <a:ext cx="1949400" cy="10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8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role: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api</a:t>
            </a:r>
            <a:endParaRPr b="0" lang="fr-FR" sz="11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ingress:</a:t>
            </a:r>
            <a:endParaRPr b="0" lang="fr-FR" sz="11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- from:</a:t>
            </a:r>
            <a:endParaRPr b="0" lang="fr-FR" sz="1100" spc="-1" strike="noStrike">
              <a:latin typeface="Arial"/>
            </a:endParaRPr>
          </a:p>
          <a:p>
            <a:pPr marL="515520" indent="-335160"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- podSelector:  matchLabels:</a:t>
            </a:r>
            <a:endParaRPr b="0" lang="fr-FR" sz="1100" spc="-1" strike="noStrike">
              <a:latin typeface="Arial"/>
            </a:endParaRPr>
          </a:p>
          <a:p>
            <a:pPr marL="683280" indent="-33516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    </a:t>
            </a:r>
            <a:r>
              <a:rPr b="1" lang="en-US" sz="1100" spc="-1" strike="noStrike">
                <a:solidFill>
                  <a:srgbClr val="4617a1"/>
                </a:solidFill>
                <a:latin typeface="Courier New"/>
                <a:ea typeface="Courier New"/>
              </a:rPr>
              <a:t>app: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coffeeshop</a:t>
            </a:r>
            <a:endParaRPr b="0" lang="fr-FR" sz="1100" spc="-1" strike="noStrike">
              <a:latin typeface="Arial"/>
            </a:endParaRPr>
          </a:p>
        </p:txBody>
      </p:sp>
      <p:grpSp>
        <p:nvGrpSpPr>
          <p:cNvPr id="1440" name="Google Shape;2701;p276"/>
          <p:cNvGrpSpPr/>
          <p:nvPr/>
        </p:nvGrpSpPr>
        <p:grpSpPr>
          <a:xfrm>
            <a:off x="3153240" y="3489120"/>
            <a:ext cx="1183320" cy="985320"/>
            <a:chOff x="3153240" y="3489120"/>
            <a:chExt cx="1183320" cy="985320"/>
          </a:xfrm>
        </p:grpSpPr>
        <p:sp>
          <p:nvSpPr>
            <p:cNvPr id="1441" name="Google Shape;2702;p276"/>
            <p:cNvSpPr/>
            <p:nvPr/>
          </p:nvSpPr>
          <p:spPr>
            <a:xfrm>
              <a:off x="3249000" y="3530160"/>
              <a:ext cx="1087560" cy="360"/>
            </a:xfrm>
            <a:custGeom>
              <a:avLst/>
              <a:gdLst/>
              <a:ahLst/>
              <a:rect l="l" t="t" r="r" b="b"/>
              <a:pathLst>
                <a:path w="1090929" h="120000">
                  <a:moveTo>
                    <a:pt x="1090472" y="0"/>
                  </a:moveTo>
                  <a:lnTo>
                    <a:pt x="0" y="0"/>
                  </a:lnTo>
                </a:path>
              </a:pathLst>
            </a:custGeom>
            <a:noFill/>
            <a:ln w="190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2" name="Google Shape;2703;p276"/>
            <p:cNvSpPr/>
            <p:nvPr/>
          </p:nvSpPr>
          <p:spPr>
            <a:xfrm>
              <a:off x="3153240" y="3489120"/>
              <a:ext cx="102240" cy="78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3" name="Google Shape;2704;p276"/>
            <p:cNvSpPr/>
            <p:nvPr/>
          </p:nvSpPr>
          <p:spPr>
            <a:xfrm>
              <a:off x="3153240" y="4395600"/>
              <a:ext cx="102240" cy="78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44" name="Google Shape;2705;p276"/>
          <p:cNvSpPr/>
          <p:nvPr/>
        </p:nvSpPr>
        <p:spPr>
          <a:xfrm>
            <a:off x="4415760" y="3303360"/>
            <a:ext cx="260208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116280" indent="-104040">
              <a:lnSpc>
                <a:spcPct val="117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Selects the labels of Pods  the rule should apply to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445" name="Google Shape;2706;p276"/>
          <p:cNvSpPr/>
          <p:nvPr/>
        </p:nvSpPr>
        <p:spPr>
          <a:xfrm>
            <a:off x="3236400" y="4209840"/>
            <a:ext cx="28911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0" lang="en-US" sz="14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Only defines rules for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446" name="Google Shape;2707;p276"/>
          <p:cNvSpPr/>
          <p:nvPr/>
        </p:nvSpPr>
        <p:spPr>
          <a:xfrm>
            <a:off x="3985920" y="4419360"/>
            <a:ext cx="12135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incoming traffic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D0B2E60-93AB-4C78-9799-EEDD549679B8}" type="slidenum">
              <a:t>206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34976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Restricting Access to Ports</a:t>
            </a:r>
            <a:endParaRPr b="0" lang="fr-FR" sz="4000" spc="-1" strike="noStrike">
              <a:latin typeface="Arial"/>
            </a:endParaRPr>
          </a:p>
        </p:txBody>
      </p:sp>
      <p:grpSp>
        <p:nvGrpSpPr>
          <p:cNvPr id="1448" name="Google Shape;2713;p277"/>
          <p:cNvGrpSpPr/>
          <p:nvPr/>
        </p:nvGrpSpPr>
        <p:grpSpPr>
          <a:xfrm>
            <a:off x="4980960" y="1453680"/>
            <a:ext cx="3122280" cy="2737080"/>
            <a:chOff x="4980960" y="1453680"/>
            <a:chExt cx="3122280" cy="2737080"/>
          </a:xfrm>
        </p:grpSpPr>
        <p:sp>
          <p:nvSpPr>
            <p:cNvPr id="1449" name="Google Shape;2714;p277"/>
            <p:cNvSpPr/>
            <p:nvPr/>
          </p:nvSpPr>
          <p:spPr>
            <a:xfrm>
              <a:off x="4980960" y="1453680"/>
              <a:ext cx="3122280" cy="27370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0" name="Google Shape;2715;p277"/>
            <p:cNvSpPr/>
            <p:nvPr/>
          </p:nvSpPr>
          <p:spPr>
            <a:xfrm>
              <a:off x="5034600" y="1501920"/>
              <a:ext cx="3007800" cy="2622960"/>
            </a:xfrm>
            <a:custGeom>
              <a:avLst/>
              <a:gdLst/>
              <a:ahLst/>
              <a:rect l="l" t="t" r="r" b="b"/>
              <a:pathLst>
                <a:path w="3011170" h="2626360">
                  <a:moveTo>
                    <a:pt x="3011093" y="2626194"/>
                  </a:moveTo>
                  <a:lnTo>
                    <a:pt x="0" y="2626194"/>
                  </a:lnTo>
                  <a:lnTo>
                    <a:pt x="0" y="0"/>
                  </a:lnTo>
                  <a:lnTo>
                    <a:pt x="3011093" y="0"/>
                  </a:lnTo>
                  <a:lnTo>
                    <a:pt x="3011093" y="2626194"/>
                  </a:lnTo>
                  <a:close/>
                </a:path>
              </a:pathLst>
            </a:custGeom>
            <a:solidFill>
              <a:srgbClr val="f6f6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51" name="Google Shape;2716;p277"/>
          <p:cNvSpPr/>
          <p:nvPr/>
        </p:nvSpPr>
        <p:spPr>
          <a:xfrm>
            <a:off x="5312160" y="1567440"/>
            <a:ext cx="2080080" cy="11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5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ingress:</a:t>
            </a:r>
            <a:endParaRPr b="0" lang="fr-FR" sz="15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from:</a:t>
            </a:r>
            <a:endParaRPr b="0" lang="fr-FR" sz="1500" spc="-1" strike="noStrike">
              <a:latin typeface="Arial"/>
            </a:endParaRPr>
          </a:p>
          <a:p>
            <a:pPr marL="698400" indent="-4579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podSelector:  matchLabels: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452" name="Google Shape;2717;p277"/>
          <p:cNvSpPr/>
          <p:nvPr/>
        </p:nvSpPr>
        <p:spPr>
          <a:xfrm>
            <a:off x="6226920" y="2710440"/>
            <a:ext cx="150876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tier: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backend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453" name="Google Shape;2718;p277"/>
          <p:cNvSpPr/>
          <p:nvPr/>
        </p:nvSpPr>
        <p:spPr>
          <a:xfrm>
            <a:off x="5540760" y="2939040"/>
            <a:ext cx="173736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ports:</a:t>
            </a:r>
            <a:endParaRPr b="0" lang="fr-FR" sz="15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- </a:t>
            </a: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protocol: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TCP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454" name="Google Shape;2719;p277"/>
          <p:cNvSpPr/>
          <p:nvPr/>
        </p:nvSpPr>
        <p:spPr>
          <a:xfrm>
            <a:off x="5312160" y="3396240"/>
            <a:ext cx="162288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698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617a1"/>
                </a:solidFill>
                <a:latin typeface="Courier New"/>
                <a:ea typeface="Courier New"/>
              </a:rPr>
              <a:t>port: </a:t>
            </a: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5432</a:t>
            </a:r>
            <a:endParaRPr b="0" lang="fr-FR" sz="15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455" name="Google Shape;2720;p277"/>
          <p:cNvSpPr/>
          <p:nvPr/>
        </p:nvSpPr>
        <p:spPr>
          <a:xfrm>
            <a:off x="912240" y="3550680"/>
            <a:ext cx="28656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By default all ports are open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456" name="Google Shape;2721;p277"/>
          <p:cNvSpPr/>
          <p:nvPr/>
        </p:nvSpPr>
        <p:spPr>
          <a:xfrm>
            <a:off x="5410800" y="2967840"/>
            <a:ext cx="1955880" cy="754200"/>
          </a:xfrm>
          <a:custGeom>
            <a:avLst/>
            <a:gdLst/>
            <a:ahLst/>
            <a:rect l="l" t="t" r="r" b="b"/>
            <a:pathLst>
              <a:path w="1958975" h="757554">
                <a:moveTo>
                  <a:pt x="0" y="0"/>
                </a:moveTo>
                <a:lnTo>
                  <a:pt x="1958696" y="0"/>
                </a:lnTo>
                <a:lnTo>
                  <a:pt x="1958696" y="757498"/>
                </a:lnTo>
                <a:lnTo>
                  <a:pt x="0" y="757498"/>
                </a:lnTo>
                <a:lnTo>
                  <a:pt x="0" y="0"/>
                </a:lnTo>
                <a:close/>
              </a:path>
            </a:pathLst>
          </a:custGeom>
          <a:noFill/>
          <a:ln w="190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457" name="Google Shape;2722;p277" descr=""/>
          <p:cNvPicPr/>
          <p:nvPr/>
        </p:nvPicPr>
        <p:blipFill>
          <a:blip r:embed="rId2"/>
          <a:stretch/>
        </p:blipFill>
        <p:spPr>
          <a:xfrm>
            <a:off x="546480" y="1881360"/>
            <a:ext cx="3862800" cy="1377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5C660D3-C3F2-468D-806B-B19E23F22994}" type="slidenum">
              <a:t>207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PlaceHolder 1"/>
          <p:cNvSpPr>
            <a:spLocks noGrp="1"/>
          </p:cNvSpPr>
          <p:nvPr>
            <p:ph type="title"/>
          </p:nvPr>
        </p:nvSpPr>
        <p:spPr>
          <a:xfrm>
            <a:off x="385920" y="391320"/>
            <a:ext cx="7500240" cy="8686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Additional Learning Resource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459" name="Google Shape;2728;p278"/>
          <p:cNvSpPr/>
          <p:nvPr/>
        </p:nvSpPr>
        <p:spPr>
          <a:xfrm>
            <a:off x="385920" y="1149840"/>
            <a:ext cx="7351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95959"/>
                </a:solidFill>
                <a:latin typeface="Arial"/>
                <a:ea typeface="Arial"/>
              </a:rPr>
              <a:t>Network Policies explained by use case and visualization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460" name="Google Shape;2729;p278"/>
          <p:cNvSpPr/>
          <p:nvPr/>
        </p:nvSpPr>
        <p:spPr>
          <a:xfrm>
            <a:off x="1595160" y="2064960"/>
            <a:ext cx="6291000" cy="18262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1" name="Google Shape;2730;p278"/>
          <p:cNvSpPr/>
          <p:nvPr/>
        </p:nvSpPr>
        <p:spPr>
          <a:xfrm>
            <a:off x="1245960" y="4188600"/>
            <a:ext cx="61956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 u="sng">
                <a:solidFill>
                  <a:srgbClr val="d3002d"/>
                </a:solidFill>
                <a:uFillTx/>
                <a:latin typeface="Arial"/>
                <a:ea typeface="Arial"/>
                <a:hlinkClick r:id="rId2"/>
              </a:rPr>
              <a:t>https://github.com/ahmetb/kubernetes-network-policy-recipes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C961A70-393E-4FB2-BF10-16B78D10C43E}" type="slidenum">
              <a:t>208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object 68"/>
          <p:cNvSpPr/>
          <p:nvPr/>
        </p:nvSpPr>
        <p:spPr>
          <a:xfrm>
            <a:off x="3557880" y="1953720"/>
            <a:ext cx="313632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algn="ctr">
              <a:lnSpc>
                <a:spcPct val="150000"/>
              </a:lnSpc>
              <a:buNone/>
            </a:pPr>
            <a:r>
              <a:rPr b="0" lang="fr-FR" sz="3000" spc="-1" strike="noStrike">
                <a:solidFill>
                  <a:srgbClr val="000000"/>
                </a:solidFill>
                <a:latin typeface="Arial MT"/>
                <a:ea typeface="DejaVu Sans"/>
              </a:rPr>
              <a:t>Network Policy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1463" name="object 69"/>
          <p:cNvSpPr/>
          <p:nvPr/>
        </p:nvSpPr>
        <p:spPr>
          <a:xfrm>
            <a:off x="385920" y="391320"/>
            <a:ext cx="26690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fr-FR" sz="4000" spc="-7" strike="noStrike">
                <a:solidFill>
                  <a:srgbClr val="000000"/>
                </a:solidFill>
                <a:latin typeface="Arial"/>
                <a:ea typeface="DejaVu Sans"/>
              </a:rPr>
              <a:t>Lab 16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2A9303-8F0E-411E-A261-AC7FB35FB56C}" type="slidenum">
              <a:t>209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3002d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3002d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3002d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3002d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3002d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3002d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2023-06-24T08:49:27Z</dcterms:created>
  <dc:creator/>
  <dc:description/>
  <dc:language>fr-FR</dc:language>
  <cp:lastModifiedBy/>
  <dcterms:modified xsi:type="dcterms:W3CDTF">2023-09-19T20:32:04Z</dcterms:modified>
  <cp:revision>166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2023-06-24T00:00:00Z</vt:filetime>
  </property>
</Properties>
</file>