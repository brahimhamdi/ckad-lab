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5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3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_rels/presentation.xml.rels" ContentType="application/vnd.openxmlformats-package.relationships+xml"/>
  <Override PartName="/ppt/media/image255.png" ContentType="image/png"/>
  <Override PartName="/ppt/media/image254.png" ContentType="image/png"/>
  <Override PartName="/ppt/media/image253.png" ContentType="image/png"/>
  <Override PartName="/ppt/media/image252.png" ContentType="image/png"/>
  <Override PartName="/ppt/media/image250.jpeg" ContentType="image/jpeg"/>
  <Override PartName="/ppt/media/image329.jpeg" ContentType="image/jpeg"/>
  <Override PartName="/ppt/media/image248.png" ContentType="image/png"/>
  <Override PartName="/ppt/media/image247.png" ContentType="image/png"/>
  <Override PartName="/ppt/media/image246.png" ContentType="image/png"/>
  <Override PartName="/ppt/media/image245.png" ContentType="image/png"/>
  <Override PartName="/ppt/media/image90.jpeg" ContentType="image/jpeg"/>
  <Override PartName="/ppt/media/image242.png" ContentType="image/png"/>
  <Override PartName="/ppt/media/image240.png" ContentType="image/png"/>
  <Override PartName="/ppt/media/image238.png" ContentType="image/png"/>
  <Override PartName="/ppt/media/image110.png" ContentType="image/png"/>
  <Override PartName="/ppt/media/image237.jpeg" ContentType="image/jpeg"/>
  <Override PartName="/ppt/media/image236.png" ContentType="image/png"/>
  <Override PartName="/ppt/media/image234.jpeg" ContentType="image/jpeg"/>
  <Override PartName="/ppt/media/image233.png" ContentType="image/png"/>
  <Override PartName="/ppt/media/image232.png" ContentType="image/png"/>
  <Override PartName="/ppt/media/image231.png" ContentType="image/png"/>
  <Override PartName="/ppt/media/image230.png" ContentType="image/png"/>
  <Override PartName="/ppt/media/image229.png" ContentType="image/png"/>
  <Override PartName="/ppt/media/image101.png" ContentType="image/png"/>
  <Override PartName="/ppt/media/image228.png" ContentType="image/png"/>
  <Override PartName="/ppt/media/image227.png" ContentType="image/png"/>
  <Override PartName="/ppt/media/image224.png" ContentType="image/png"/>
  <Override PartName="/ppt/media/image156.jpeg" ContentType="image/jpeg"/>
  <Override PartName="/ppt/media/image223.png" ContentType="image/png"/>
  <Override PartName="/ppt/media/image222.png" ContentType="image/png"/>
  <Override PartName="/ppt/media/image338.jpeg" ContentType="image/jpeg"/>
  <Override PartName="/ppt/media/image221.png" ContentType="image/png"/>
  <Override PartName="/ppt/media/image186.jpeg" ContentType="image/jpeg"/>
  <Override PartName="/ppt/media/image220.png" ContentType="image/png"/>
  <Override PartName="/ppt/media/image217.png" ContentType="image/png"/>
  <Override PartName="/ppt/media/image235.jpeg" ContentType="image/jpeg"/>
  <Override PartName="/ppt/media/image216.png" ContentType="image/png"/>
  <Override PartName="/ppt/media/image214.png" ContentType="image/png"/>
  <Override PartName="/ppt/media/image257.png" ContentType="image/png"/>
  <Override PartName="/ppt/media/image213.jpeg" ContentType="image/jpeg"/>
  <Override PartName="/ppt/media/image212.png" ContentType="image/png"/>
  <Override PartName="/ppt/media/image337.jpeg" ContentType="image/jpeg"/>
  <Override PartName="/ppt/media/image211.png" ContentType="image/png"/>
  <Override PartName="/ppt/media/image210.png" ContentType="image/png"/>
  <Override PartName="/ppt/media/image215.jpeg" ContentType="image/jpeg"/>
  <Override PartName="/ppt/media/image209.png" ContentType="image/png"/>
  <Override PartName="/ppt/media/image207.jpeg" ContentType="image/jpeg"/>
  <Override PartName="/ppt/media/image202.png" ContentType="image/png"/>
  <Override PartName="/ppt/media/image201.png" ContentType="image/png"/>
  <Override PartName="/ppt/media/image184.jpeg" ContentType="image/jpeg"/>
  <Override PartName="/ppt/media/image200.png" ContentType="image/png"/>
  <Override PartName="/ppt/media/image199.png" ContentType="image/png"/>
  <Override PartName="/ppt/media/image197.png" ContentType="image/png"/>
  <Override PartName="/ppt/media/image194.png" ContentType="image/png"/>
  <Override PartName="/ppt/media/image193.png" ContentType="image/png"/>
  <Override PartName="/ppt/media/image359.png" ContentType="image/png"/>
  <Override PartName="/ppt/media/image192.png" ContentType="image/png"/>
  <Override PartName="/ppt/media/image191.png" ContentType="image/png"/>
  <Override PartName="/ppt/media/image357.png" ContentType="image/png"/>
  <Override PartName="/ppt/media/image190.png" ContentType="image/png"/>
  <Override PartName="/ppt/media/image356.png" ContentType="image/png"/>
  <Override PartName="/ppt/media/image188.png" ContentType="image/png"/>
  <Override PartName="/ppt/media/image182.jpeg" ContentType="image/jpeg"/>
  <Override PartName="/ppt/media/image179.png" ContentType="image/png"/>
  <Override PartName="/ppt/media/image178.jpeg" ContentType="image/jpeg"/>
  <Override PartName="/ppt/media/image175.png" ContentType="image/png"/>
  <Override PartName="/ppt/media/image171.jpeg" ContentType="image/jpeg"/>
  <Override PartName="/ppt/media/image170.png" ContentType="image/png"/>
  <Override PartName="/ppt/media/image298.png" ContentType="image/png"/>
  <Override PartName="/ppt/media/image336.png" ContentType="image/png"/>
  <Override PartName="/ppt/media/image169.png" ContentType="image/png"/>
  <Override PartName="/ppt/media/image168.png" ContentType="image/png"/>
  <Override PartName="/ppt/media/image204.jpeg" ContentType="image/jpeg"/>
  <Override PartName="/ppt/media/image167.png" ContentType="image/png"/>
  <Override PartName="/ppt/media/image166.png" ContentType="image/png"/>
  <Override PartName="/ppt/media/image165.png" ContentType="image/png"/>
  <Override PartName="/ppt/media/image163.png" ContentType="image/png"/>
  <Override PartName="/ppt/media/image162.png" ContentType="image/png"/>
  <Override PartName="/ppt/media/image161.png" ContentType="image/png"/>
  <Override PartName="/ppt/media/image327.png" ContentType="image/png"/>
  <Override PartName="/ppt/media/image160.png" ContentType="image/png"/>
  <Override PartName="/ppt/media/image288.png" ContentType="image/png"/>
  <Override PartName="/ppt/media/image154.png" ContentType="image/png"/>
  <Override PartName="/ppt/media/image152.png" ContentType="image/png"/>
  <Override PartName="/ppt/media/image318.png" ContentType="image/png"/>
  <Override PartName="/ppt/media/image151.png" ContentType="image/png"/>
  <Override PartName="/ppt/media/image279.png" ContentType="image/png"/>
  <Override PartName="/ppt/media/image317.png" ContentType="image/png"/>
  <Override PartName="/ppt/media/image149.png" ContentType="image/png"/>
  <Override PartName="/ppt/media/image148.png" ContentType="image/png"/>
  <Override PartName="/ppt/media/image94.jpeg" ContentType="image/jpeg"/>
  <Override PartName="/ppt/media/image147.png" ContentType="image/png"/>
  <Override PartName="/ppt/media/image145.png" ContentType="image/png"/>
  <Override PartName="/ppt/media/image143.png" ContentType="image/png"/>
  <Override PartName="/ppt/media/image309.png" ContentType="image/png"/>
  <Override PartName="/ppt/media/image142.png" ContentType="image/png"/>
  <Override PartName="/ppt/media/image308.png" ContentType="image/png"/>
  <Override PartName="/ppt/media/image141.png" ContentType="image/png"/>
  <Override PartName="/ppt/media/image269.png" ContentType="image/png"/>
  <Override PartName="/ppt/media/image307.png" ContentType="image/png"/>
  <Override PartName="/ppt/media/image140.png" ContentType="image/png"/>
  <Override PartName="/ppt/media/image268.png" ContentType="image/png"/>
  <Override PartName="/ppt/media/image306.png" ContentType="image/png"/>
  <Override PartName="/ppt/media/image208.jpeg" ContentType="image/jpeg"/>
  <Override PartName="/ppt/media/image139.png" ContentType="image/png"/>
  <Override PartName="/ppt/media/image132.png" ContentType="image/png"/>
  <Override PartName="/ppt/media/image131.png" ContentType="image/png"/>
  <Override PartName="/ppt/media/image259.png" ContentType="image/png"/>
  <Override PartName="/ppt/media/image130.png" ContentType="image/png"/>
  <Override PartName="/ppt/media/image258.png" ContentType="image/png"/>
  <Override PartName="/ppt/media/image146.png" ContentType="image/png"/>
  <Override PartName="/ppt/media/image370.jpeg" ContentType="image/jpeg"/>
  <Override PartName="/ppt/media/image129.jpeg" ContentType="image/jpeg"/>
  <Override PartName="/ppt/media/image196.png" ContentType="image/png"/>
  <Override PartName="/ppt/media/image128.png" ContentType="image/png"/>
  <Override PartName="/ppt/media/image59.png" ContentType="image/png"/>
  <Override PartName="/ppt/media/image226.png" ContentType="image/png"/>
  <Override PartName="/ppt/media/image66.jpeg" ContentType="image/jpeg"/>
  <Override PartName="/ppt/media/image64.png" ContentType="image/png"/>
  <Override PartName="/ppt/media/image134.jpeg" ContentType="image/jpeg"/>
  <Override PartName="/ppt/media/image65.png" ContentType="image/png"/>
  <Override PartName="/ppt/media/image100.jpeg" ContentType="image/jpeg"/>
  <Override PartName="/ppt/media/image67.png" ContentType="image/png"/>
  <Override PartName="/ppt/media/image68.png" ContentType="image/png"/>
  <Override PartName="/ppt/media/image69.jpeg" ContentType="image/jpeg"/>
  <Override PartName="/ppt/media/image256.png" ContentType="image/png"/>
  <Override PartName="/ppt/media/image89.png" ContentType="image/png"/>
  <Override PartName="/ppt/media/image76.png" ContentType="image/png"/>
  <Override PartName="/ppt/media/image77.png" ContentType="image/png"/>
  <Override PartName="/ppt/media/image87.png" ContentType="image/png"/>
  <Override PartName="/ppt/media/image19.png" ContentType="image/png"/>
  <Override PartName="/ppt/media/image345.png" ContentType="image/png"/>
  <Override PartName="/ppt/media/image24.png" ContentType="image/png"/>
  <Override PartName="/ppt/media/image350.png" ContentType="image/png"/>
  <Override PartName="/ppt/media/image96.png" ContentType="image/png"/>
  <Override PartName="/ppt/media/image123.jpeg" ContentType="image/jpeg"/>
  <Override PartName="/ppt/media/image172.png" ContentType="image/png"/>
  <Override PartName="/ppt/media/image91.png" ContentType="image/png"/>
  <Override PartName="/ppt/media/image115.png" ContentType="image/png"/>
  <Override PartName="/ppt/media/image183.png" ContentType="image/png"/>
  <Override PartName="/ppt/media/image349.png" ContentType="image/png"/>
  <Override PartName="/ppt/media/image187.png" ContentType="image/png"/>
  <Override PartName="/ppt/media/image119.png" ContentType="image/png"/>
  <Override PartName="/ppt/media/image206.jpeg" ContentType="image/jpeg"/>
  <Override PartName="/ppt/media/image120.jpeg" ContentType="image/jpeg"/>
  <Override PartName="/ppt/media/image205.png" ContentType="image/png"/>
  <Override PartName="/ppt/media/image125.jpeg" ContentType="image/jpeg"/>
  <Override PartName="/ppt/media/image367.png" ContentType="image/png"/>
  <Override PartName="/ppt/media/image195.png" ContentType="image/png"/>
  <Override PartName="/ppt/media/image127.png" ContentType="image/png"/>
  <Override PartName="/ppt/media/image30.jpeg" ContentType="image/jpeg"/>
  <Override PartName="/ppt/media/image260.png" ContentType="image/png"/>
  <Override PartName="/ppt/media/image261.png" ContentType="image/png"/>
  <Override PartName="/ppt/media/image105.png" ContentType="image/png"/>
  <Override PartName="/ppt/media/image366.png" ContentType="image/png"/>
  <Override PartName="/ppt/media/image266.png" ContentType="image/png"/>
  <Override PartName="/ppt/media/image304.png" ContentType="image/png"/>
  <Override PartName="/ppt/media/image372.png" ContentType="image/png"/>
  <Override PartName="/ppt/media/image270.png" ContentType="image/png"/>
  <Override PartName="/ppt/media/image360.jpeg" ContentType="image/jpeg"/>
  <Override PartName="/ppt/media/image262.png" ContentType="image/png"/>
  <Override PartName="/ppt/media/image300.png" ContentType="image/png"/>
  <Override PartName="/ppt/media/image271.png" ContentType="image/png"/>
  <Override PartName="/ppt/media/image263.png" ContentType="image/png"/>
  <Override PartName="/ppt/media/image301.png" ContentType="image/png"/>
  <Override PartName="/ppt/media/image299.png" ContentType="image/png"/>
  <Override PartName="/ppt/media/image265.png" ContentType="image/png"/>
  <Override PartName="/ppt/media/image303.png" ContentType="image/png"/>
  <Override PartName="/ppt/media/image164.jpeg" ContentType="image/jpeg"/>
  <Override PartName="/ppt/media/image264.jpeg" ContentType="image/jpeg"/>
  <Override PartName="/ppt/media/image32.png" ContentType="image/png"/>
  <Override PartName="/ppt/media/image103.png" ContentType="image/png"/>
  <Override PartName="/ppt/media/image144.jpeg" ContentType="image/jpeg"/>
  <Override PartName="/ppt/media/image302.png" ContentType="image/png"/>
  <Override PartName="/ppt/media/image28.jpeg" ContentType="image/jpeg"/>
  <Override PartName="/ppt/media/image176.png" ContentType="image/png"/>
  <Override PartName="/ppt/media/image369.png" ContentType="image/png"/>
  <Override PartName="/ppt/media/image375.png" ContentType="image/png"/>
  <Override PartName="/ppt/media/image114.png" ContentType="image/png"/>
  <Override PartName="/ppt/media/image341.png" ContentType="image/png"/>
  <Override PartName="/ppt/media/image325.jpeg" ContentType="image/jpeg"/>
  <Override PartName="/ppt/media/image344.png" ContentType="image/png"/>
  <Override PartName="/ppt/media/image346.png" ContentType="image/png"/>
  <Override PartName="/ppt/media/image348.jpeg" ContentType="image/jpeg"/>
  <Override PartName="/ppt/media/image275.jpeg" ContentType="image/jpeg"/>
  <Override PartName="/ppt/media/image316.jpeg" ContentType="image/jpeg"/>
  <Override PartName="/ppt/media/image99.png" ContentType="image/png"/>
  <Override PartName="/ppt/media/image365.jpeg" ContentType="image/jpeg"/>
  <Override PartName="/ppt/media/image296.png" ContentType="image/png"/>
  <Override PartName="/ppt/media/image334.png" ContentType="image/png"/>
  <Override PartName="/ppt/media/image73.png" ContentType="image/png"/>
  <Override PartName="/ppt/media/image72.png" ContentType="image/png"/>
  <Override PartName="/ppt/media/image368.png" ContentType="image/png"/>
  <Override PartName="/ppt/media/image289.jpeg" ContentType="image/jpeg"/>
  <Override PartName="/ppt/media/image21.png" ContentType="image/png"/>
  <Override PartName="/ppt/media/image70.png" ContentType="image/png"/>
  <Override PartName="/ppt/media/image4.png" ContentType="image/png"/>
  <Override PartName="/ppt/media/image18.jpeg" ContentType="image/jpeg"/>
  <Override PartName="/ppt/media/image71.png" ContentType="image/png"/>
  <Override PartName="/ppt/media/image292.png" ContentType="image/png"/>
  <Override PartName="/ppt/media/image330.png" ContentType="image/png"/>
  <Override PartName="/ppt/media/image328.jpeg" ContentType="image/jpeg"/>
  <Override PartName="/ppt/media/image180.jpeg" ContentType="image/jpeg"/>
  <Override PartName="/ppt/media/image355.png" ContentType="image/png"/>
  <Override PartName="/ppt/media/image297.png" ContentType="image/png"/>
  <Override PartName="/ppt/media/image335.png" ContentType="image/png"/>
  <Override PartName="/ppt/media/image326.jpeg" ContentType="image/jpeg"/>
  <Override PartName="/ppt/media/image354.png" ContentType="image/png"/>
  <Override PartName="/ppt/media/image351.png" ContentType="image/png"/>
  <Override PartName="/ppt/media/image353.jpeg" ContentType="image/jpeg"/>
  <Override PartName="/ppt/media/image352.png" ContentType="image/png"/>
  <Override PartName="/ppt/media/image124.jpeg" ContentType="image/jpeg"/>
  <Override PartName="/ppt/media/image290.png" ContentType="image/png"/>
  <Override PartName="/ppt/media/image358.jpeg" ContentType="image/jpeg"/>
  <Override PartName="/ppt/media/image277.jpeg" ContentType="image/jpeg"/>
  <Override PartName="/ppt/media/image287.jpeg" ContentType="image/jpeg"/>
  <Override PartName="/ppt/media/image333.png" ContentType="image/png"/>
  <Override PartName="/ppt/media/image295.png" ContentType="image/png"/>
  <Override PartName="/ppt/media/image272.png" ContentType="image/png"/>
  <Override PartName="/ppt/media/image310.png" ContentType="image/png"/>
  <Override PartName="/ppt/media/image281.png" ContentType="image/png"/>
  <Override PartName="/ppt/media/image92.png" ContentType="image/png"/>
  <Override PartName="/ppt/media/image116.png" ContentType="image/png"/>
  <Override PartName="/ppt/media/image347.png" ContentType="image/png"/>
  <Override PartName="/ppt/media/image181.png" ContentType="image/png"/>
  <Override PartName="/ppt/media/image113.png" ContentType="image/png"/>
  <Override PartName="/ppt/media/image22.jpeg" ContentType="image/jpeg"/>
  <Override PartName="/ppt/media/image374.png" ContentType="image/png"/>
  <Override PartName="/ppt/media/image315.png" ContentType="image/png"/>
  <Override PartName="/ppt/media/image324.png" ContentType="image/png"/>
  <Override PartName="/ppt/media/image286.png" ContentType="image/png"/>
  <Override PartName="/ppt/media/image102.jpeg" ContentType="image/jpeg"/>
  <Override PartName="/ppt/media/image218.png" ContentType="image/png"/>
  <Override PartName="/ppt/media/image332.png" ContentType="image/png"/>
  <Override PartName="/ppt/media/image294.png" ContentType="image/png"/>
  <Override PartName="/ppt/media/image280.png" ContentType="image/png"/>
  <Override PartName="/ppt/media/image121.png" ContentType="image/png"/>
  <Override PartName="/ppt/media/image323.png" ContentType="image/png"/>
  <Override PartName="/ppt/media/image285.png" ContentType="image/png"/>
  <Override PartName="/ppt/media/image331.png" ContentType="image/png"/>
  <Override PartName="/ppt/media/image293.png" ContentType="image/png"/>
  <Override PartName="/ppt/media/image122.jpeg" ContentType="image/jpeg"/>
  <Override PartName="/ppt/media/image225.png" ContentType="image/png"/>
  <Override PartName="/ppt/media/image313.png" ContentType="image/png"/>
  <Override PartName="/ppt/media/image322.png" ContentType="image/png"/>
  <Override PartName="/ppt/media/image284.png" ContentType="image/png"/>
  <Override PartName="/ppt/media/image274.png" ContentType="image/png"/>
  <Override PartName="/ppt/media/image312.png" ContentType="image/png"/>
  <Override PartName="/ppt/media/image29.jpeg" ContentType="image/jpeg"/>
  <Override PartName="/ppt/media/image321.png" ContentType="image/png"/>
  <Override PartName="/ppt/media/image283.png" ContentType="image/png"/>
  <Override PartName="/ppt/media/image291.png" ContentType="image/png"/>
  <Override PartName="/ppt/media/image273.png" ContentType="image/png"/>
  <Override PartName="/ppt/media/image311.png" ContentType="image/png"/>
  <Override PartName="/ppt/media/image320.png" ContentType="image/png"/>
  <Override PartName="/ppt/media/image282.png" ContentType="image/png"/>
  <Override PartName="/ppt/media/image278.png" ContentType="image/png"/>
  <Override PartName="/ppt/media/image267.png" ContentType="image/png"/>
  <Override PartName="/ppt/media/image305.png" ContentType="image/png"/>
  <Override PartName="/ppt/media/image112.png" ContentType="image/png"/>
  <Override PartName="/ppt/media/image314.png" ContentType="image/png"/>
  <Override PartName="/ppt/media/image276.png" ContentType="image/png"/>
  <Override PartName="/ppt/media/image63.png" ContentType="image/png"/>
  <Override PartName="/ppt/media/image241.jpeg" ContentType="image/jpeg"/>
  <Override PartName="/ppt/media/image62.png" ContentType="image/png"/>
  <Override PartName="/ppt/media/image74.png" ContentType="image/png"/>
  <Override PartName="/ppt/media/image135.jpeg" ContentType="image/jpeg"/>
  <Override PartName="/ppt/media/image97.png" ContentType="image/png"/>
  <Override PartName="/ppt/media/image61.jpeg" ContentType="image/jpeg"/>
  <Override PartName="/ppt/media/image244.png" ContentType="image/png"/>
  <Override PartName="/ppt/media/image60.png" ContentType="image/png"/>
  <Override PartName="/ppt/media/image42.png" ContentType="image/png"/>
  <Override PartName="/ppt/media/image93.jpeg" ContentType="image/jpeg"/>
  <Override PartName="/ppt/media/image117.png" ContentType="image/png"/>
  <Override PartName="/ppt/media/image185.png" ContentType="image/png"/>
  <Override PartName="/ppt/media/image20.png" ContentType="image/png"/>
  <Override PartName="/ppt/media/image2.jpeg" ContentType="image/jpeg"/>
  <Override PartName="/ppt/media/image57.png" ContentType="image/png"/>
  <Override PartName="/ppt/media/image118.png" ContentType="image/png"/>
  <Override PartName="/ppt/media/image26.jpeg" ContentType="image/jpeg"/>
  <Override PartName="/ppt/media/image88.png" ContentType="image/png"/>
  <Override PartName="/ppt/media/image49.jpeg" ContentType="image/jpeg"/>
  <Override PartName="/ppt/media/image15.jpeg" ContentType="image/jpeg"/>
  <Override PartName="/ppt/media/image219.jpeg" ContentType="image/jpeg"/>
  <Override PartName="/ppt/media/image40.png" ContentType="image/png"/>
  <Override PartName="/ppt/media/image340.png" ContentType="image/png"/>
  <Override PartName="/ppt/media/image14.png" ContentType="image/png"/>
  <Override PartName="/ppt/media/image106.png" ContentType="image/png"/>
  <Override PartName="/ppt/media/image82.png" ContentType="image/png"/>
  <Override PartName="/ppt/media/image11.jpeg" ContentType="image/jpeg"/>
  <Override PartName="/ppt/media/image173.jpeg" ContentType="image/jpeg"/>
  <Override PartName="/ppt/media/image198.png" ContentType="image/png"/>
  <Override PartName="/ppt/media/image177.png" ContentType="image/png"/>
  <Override PartName="/ppt/media/image12.png" ContentType="image/png"/>
  <Override PartName="/ppt/media/image104.png" ContentType="image/png"/>
  <Override PartName="/ppt/media/image80.png" ContentType="image/png"/>
  <Override PartName="/ppt/media/image3.png" ContentType="image/png"/>
  <Override PartName="/ppt/media/image33.png" ContentType="image/png"/>
  <Override PartName="/ppt/media/image157.jpeg" ContentType="image/jpeg"/>
  <Override PartName="/ppt/media/image342.png" ContentType="image/png"/>
  <Override PartName="/ppt/media/image16.png" ContentType="image/png"/>
  <Override PartName="/ppt/media/image108.png" ContentType="image/png"/>
  <Override PartName="/ppt/media/image84.png" ContentType="image/png"/>
  <Override PartName="/ppt/media/image136.jpeg" ContentType="image/jpeg"/>
  <Override PartName="/ppt/media/image34.png" ContentType="image/png"/>
  <Override PartName="/ppt/media/image343.png" ContentType="image/png"/>
  <Override PartName="/ppt/media/image17.png" ContentType="image/png"/>
  <Override PartName="/ppt/media/image109.png" ContentType="image/png"/>
  <Override PartName="/ppt/media/image85.png" ContentType="image/png"/>
  <Override PartName="/ppt/media/image5.png" ContentType="image/png"/>
  <Override PartName="/ppt/media/image203.jpeg" ContentType="image/jpeg"/>
  <Override PartName="/ppt/media/image361.png" ContentType="image/png"/>
  <Override PartName="/ppt/media/image35.png" ContentType="image/png"/>
  <Override PartName="/ppt/media/image98.png" ContentType="image/png"/>
  <Override PartName="/ppt/media/image27.jpeg" ContentType="image/jpeg"/>
  <Override PartName="/ppt/media/image52.png" ContentType="image/png"/>
  <Override PartName="/ppt/media/image10.png" ContentType="image/png"/>
  <Override PartName="/ppt/media/image174.jpeg" ContentType="image/jpeg"/>
  <Override PartName="/ppt/media/image373.png" ContentType="image/png"/>
  <Override PartName="/ppt/media/image47.png" ContentType="image/png"/>
  <Override PartName="/ppt/media/image83.png" ContentType="image/png"/>
  <Override PartName="/ppt/media/image243.jpeg" ContentType="image/jpeg"/>
  <Override PartName="/ppt/media/image6.png" ContentType="image/png"/>
  <Override PartName="/ppt/media/image95.jpeg" ContentType="image/jpeg"/>
  <Override PartName="/ppt/media/image158.png" ContentType="image/png"/>
  <Override PartName="/ppt/media/image362.png" ContentType="image/png"/>
  <Override PartName="/ppt/media/image36.png" ContentType="image/png"/>
  <Override PartName="/ppt/media/image138.jpeg" ContentType="image/jpeg"/>
  <Override PartName="/ppt/media/image155.png" ContentType="image/png"/>
  <Override PartName="/ppt/media/image81.jpeg" ContentType="image/jpeg"/>
  <Override PartName="/ppt/media/image189.jpeg" ContentType="image/jpeg"/>
  <Override PartName="/ppt/media/image251.png" ContentType="image/png"/>
  <Override PartName="/ppt/media/image75.png" ContentType="image/png"/>
  <Override PartName="/ppt/media/image249.jpeg" ContentType="image/jpeg"/>
  <Override PartName="/ppt/media/image79.jpeg" ContentType="image/jpeg"/>
  <Override PartName="/ppt/media/image339.png" ContentType="image/png"/>
  <Override PartName="/ppt/media/image86.png" ContentType="image/png"/>
  <Override PartName="/ppt/media/image9.png" ContentType="image/png"/>
  <Override PartName="/ppt/media/image150.jpeg" ContentType="image/jpeg"/>
  <Override PartName="/ppt/media/image39.png" ContentType="image/png"/>
  <Override PartName="/ppt/media/image126.jpeg" ContentType="image/jpeg"/>
  <Override PartName="/ppt/media/image7.png" ContentType="image/png"/>
  <Override PartName="/ppt/media/image159.png" ContentType="image/png"/>
  <Override PartName="/ppt/media/image363.png" ContentType="image/png"/>
  <Override PartName="/ppt/media/image37.png" ContentType="image/png"/>
  <Override PartName="/ppt/media/image8.png" ContentType="image/png"/>
  <Override PartName="/ppt/media/image364.png" ContentType="image/png"/>
  <Override PartName="/ppt/media/image38.png" ContentType="image/png"/>
  <Override PartName="/ppt/media/image153.png" ContentType="image/png"/>
  <Override PartName="/ppt/media/image319.png" ContentType="image/png"/>
  <Override PartName="/ppt/media/image13.png" ContentType="image/png"/>
  <Override PartName="/ppt/media/image31.jpeg" ContentType="image/jpeg"/>
  <Override PartName="/ppt/media/image137.png" ContentType="image/png"/>
  <Override PartName="/ppt/media/image41.png" ContentType="image/png"/>
  <Override PartName="/ppt/media/image43.png" ContentType="image/png"/>
  <Override PartName="/ppt/media/image44.png" ContentType="image/png"/>
  <Override PartName="/ppt/media/image371.png" ContentType="image/png"/>
  <Override PartName="/ppt/media/image45.png" ContentType="image/png"/>
  <Override PartName="/ppt/media/image23.jpeg" ContentType="image/jpeg"/>
  <Override PartName="/ppt/media/image58.png" ContentType="image/png"/>
  <Override PartName="/ppt/media/image46.jpeg" ContentType="image/jpeg"/>
  <Override PartName="/ppt/media/image25.jpeg" ContentType="image/jpeg"/>
  <Override PartName="/ppt/media/image78.png" ContentType="image/png"/>
  <Override PartName="/ppt/media/image1.png" ContentType="image/png"/>
  <Override PartName="/ppt/media/image48.jpeg" ContentType="image/jpeg"/>
  <Override PartName="/ppt/media/image111.png" ContentType="image/png"/>
  <Override PartName="/ppt/media/image239.png" ContentType="image/png"/>
  <Override PartName="/ppt/media/image50.png" ContentType="image/png"/>
  <Override PartName="/ppt/media/image107.jpeg" ContentType="image/jpeg"/>
  <Override PartName="/ppt/media/image51.png" ContentType="image/png"/>
  <Override PartName="/ppt/media/image53.png" ContentType="image/png"/>
  <Override PartName="/ppt/media/image54.png" ContentType="image/png"/>
  <Override PartName="/ppt/media/image133.jpeg" ContentType="image/jpeg"/>
  <Override PartName="/ppt/media/image55.png" ContentType="image/png"/>
  <Override PartName="/ppt/media/image56.png" ContentType="image/png"/>
  <Override PartName="/ppt/slideLayouts/_rels/slideLayout52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53.xml.rels" ContentType="application/vnd.openxmlformats-package.relationships+xml"/>
  <Override PartName="/ppt/slideLayouts/slideLayout56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presProps.xml" ContentType="application/vnd.openxmlformats-officedocument.presentationml.presProps+xml"/>
  <Override PartName="/ppt/slides/_rels/slide219.xml.rels" ContentType="application/vnd.openxmlformats-package.relationships+xml"/>
  <Override PartName="/ppt/slides/_rels/slide32.xml.rels" ContentType="application/vnd.openxmlformats-package.relationships+xml"/>
  <Override PartName="/ppt/slides/_rels/slide53.xml.rels" ContentType="application/vnd.openxmlformats-package.relationships+xml"/>
  <Override PartName="/ppt/slides/_rels/slide48.xml.rels" ContentType="application/vnd.openxmlformats-package.relationships+xml"/>
  <Override PartName="/ppt/slides/_rels/slide218.xml.rels" ContentType="application/vnd.openxmlformats-package.relationships+xml"/>
  <Override PartName="/ppt/slides/_rels/slide31.xml.rels" ContentType="application/vnd.openxmlformats-package.relationships+xml"/>
  <Override PartName="/ppt/slides/_rels/slide26.xml.rels" ContentType="application/vnd.openxmlformats-package.relationships+xml"/>
  <Override PartName="/ppt/slides/_rels/slide52.xml.rels" ContentType="application/vnd.openxmlformats-package.relationships+xml"/>
  <Override PartName="/ppt/slides/_rels/slide47.xml.rels" ContentType="application/vnd.openxmlformats-package.relationships+xml"/>
  <Override PartName="/ppt/slides/_rels/slide179.xml.rels" ContentType="application/vnd.openxmlformats-package.relationships+xml"/>
  <Override PartName="/ppt/slides/_rels/slide51.xml.rels" ContentType="application/vnd.openxmlformats-package.relationships+xml"/>
  <Override PartName="/ppt/slides/_rels/slide243.xml.rels" ContentType="application/vnd.openxmlformats-package.relationships+xml"/>
  <Override PartName="/ppt/slides/_rels/slide238.xml.rels" ContentType="application/vnd.openxmlformats-package.relationships+xml"/>
  <Override PartName="/ppt/slides/_rels/slide178.xml.rels" ContentType="application/vnd.openxmlformats-package.relationships+xml"/>
  <Override PartName="/ppt/slides/_rels/slide50.xml.rels" ContentType="application/vnd.openxmlformats-package.relationships+xml"/>
  <Override PartName="/ppt/slides/_rels/slide237.xml.rels" ContentType="application/vnd.openxmlformats-package.relationships+xml"/>
  <Override PartName="/ppt/slides/_rels/slide177.xml.rels" ContentType="application/vnd.openxmlformats-package.relationships+xml"/>
  <Override PartName="/ppt/slides/_rels/slide172.xml.rels" ContentType="application/vnd.openxmlformats-package.relationships+xml"/>
  <Override PartName="/ppt/slides/_rels/slide43.xml.rels" ContentType="application/vnd.openxmlformats-package.relationships+xml"/>
  <Override PartName="/ppt/slides/_rels/slide38.xml.rels" ContentType="application/vnd.openxmlformats-package.relationships+xml"/>
  <Override PartName="/ppt/slides/_rels/slide42.xml.rels" ContentType="application/vnd.openxmlformats-package.relationships+xml"/>
  <Override PartName="/ppt/slides/_rels/slide37.xml.rels" ContentType="application/vnd.openxmlformats-package.relationships+xml"/>
  <Override PartName="/ppt/slides/_rels/slide169.xml.rels" ContentType="application/vnd.openxmlformats-package.relationships+xml"/>
  <Override PartName="/ppt/slides/_rels/slide174.xml.rels" ContentType="application/vnd.openxmlformats-package.relationships+xml"/>
  <Override PartName="/ppt/slides/_rels/slide41.xml.rels" ContentType="application/vnd.openxmlformats-package.relationships+xml"/>
  <Override PartName="/ppt/slides/_rels/slide36.xml.rels" ContentType="application/vnd.openxmlformats-package.relationships+xml"/>
  <Override PartName="/ppt/slides/_rels/slide220.xml.rels" ContentType="application/vnd.openxmlformats-package.relationships+xml"/>
  <Override PartName="/ppt/slides/_rels/slide215.xml.rels" ContentType="application/vnd.openxmlformats-package.relationships+xml"/>
  <Override PartName="/ppt/slides/_rels/slide194.xml.rels" ContentType="application/vnd.openxmlformats-package.relationships+xml"/>
  <Override PartName="/ppt/slides/_rels/slide40.xml.rels" ContentType="application/vnd.openxmlformats-package.relationships+xml"/>
  <Override PartName="/ppt/slides/_rels/slide35.xml.rels" ContentType="application/vnd.openxmlformats-package.relationships+xml"/>
  <Override PartName="/ppt/slides/_rels/slide168.xml.rels" ContentType="application/vnd.openxmlformats-package.relationships+xml"/>
  <Override PartName="/ppt/slides/_rels/slide173.xml.rels" ContentType="application/vnd.openxmlformats-package.relationships+xml"/>
  <Override PartName="/ppt/slides/_rels/slide167.xml.rels" ContentType="application/vnd.openxmlformats-package.relationships+xml"/>
  <Override PartName="/ppt/slides/_rels/slide211.xml.rels" ContentType="application/vnd.openxmlformats-package.relationships+xml"/>
  <Override PartName="/ppt/slides/_rels/slide190.xml.rels" ContentType="application/vnd.openxmlformats-package.relationships+xml"/>
  <Override PartName="/ppt/slides/_rels/slide185.xml.rels" ContentType="application/vnd.openxmlformats-package.relationships+xml"/>
  <Override PartName="/ppt/slides/_rels/slide159.xml.rels" ContentType="application/vnd.openxmlformats-package.relationships+xml"/>
  <Override PartName="/ppt/slides/_rels/slide8.xml.rels" ContentType="application/vnd.openxmlformats-package.relationships+xml"/>
  <Override PartName="/ppt/slides/_rels/slide164.xml.rels" ContentType="application/vnd.openxmlformats-package.relationships+xml"/>
  <Override PartName="/ppt/slides/_rels/slide210.xml.rels" ContentType="application/vnd.openxmlformats-package.relationships+xml"/>
  <Override PartName="/ppt/slides/_rels/slide205.xml.rels" ContentType="application/vnd.openxmlformats-package.relationships+xml"/>
  <Override PartName="/ppt/slides/_rels/slide184.xml.rels" ContentType="application/vnd.openxmlformats-package.relationships+xml"/>
  <Override PartName="/ppt/slides/_rels/slide158.xml.rels" ContentType="application/vnd.openxmlformats-package.relationships+xml"/>
  <Override PartName="/ppt/slides/_rels/slide7.xml.rels" ContentType="application/vnd.openxmlformats-package.relationships+xml"/>
  <Override PartName="/ppt/slides/_rels/slide163.xml.rels" ContentType="application/vnd.openxmlformats-package.relationships+xml"/>
  <Override PartName="/ppt/slides/_rels/slide30.xml.rels" ContentType="application/vnd.openxmlformats-package.relationships+xml"/>
  <Override PartName="/ppt/slides/_rels/slide25.xml.rels" ContentType="application/vnd.openxmlformats-package.relationships+xml"/>
  <Override PartName="/ppt/slides/_rels/slide201.xml.rels" ContentType="application/vnd.openxmlformats-package.relationships+xml"/>
  <Override PartName="/ppt/slides/_rels/slide180.xml.rels" ContentType="application/vnd.openxmlformats-package.relationships+xml"/>
  <Override PartName="/ppt/slides/_rels/slide21.xml.rels" ContentType="application/vnd.openxmlformats-package.relationships+xml"/>
  <Override PartName="/ppt/slides/_rels/slide200.xml.rels" ContentType="application/vnd.openxmlformats-package.relationships+xml"/>
  <Override PartName="/ppt/slides/_rels/slide148.xml.rels" ContentType="application/vnd.openxmlformats-package.relationships+xml"/>
  <Override PartName="/ppt/slides/_rels/slide153.xml.rels" ContentType="application/vnd.openxmlformats-package.relationships+xml"/>
  <Override PartName="/ppt/slides/_rels/slide20.xml.rels" ContentType="application/vnd.openxmlformats-package.relationships+xml"/>
  <Override PartName="/ppt/slides/_rels/slide56.xml.rels" ContentType="application/vnd.openxmlformats-package.relationships+xml"/>
  <Override PartName="/ppt/slides/_rels/slide317.xml.rels" ContentType="application/vnd.openxmlformats-package.relationships+xml"/>
  <Override PartName="/ppt/slides/_rels/slide296.xml.rels" ContentType="application/vnd.openxmlformats-package.relationships+xml"/>
  <Override PartName="/ppt/slides/_rels/slide55.xml.rels" ContentType="application/vnd.openxmlformats-package.relationships+xml"/>
  <Override PartName="/ppt/slides/_rels/slide287.xml.rels" ContentType="application/vnd.openxmlformats-package.relationships+xml"/>
  <Override PartName="/ppt/slides/_rels/slide191.xml.rels" ContentType="application/vnd.openxmlformats-package.relationships+xml"/>
  <Override PartName="/ppt/slides/_rels/slide147.xml.rels" ContentType="application/vnd.openxmlformats-package.relationships+xml"/>
  <Override PartName="/ppt/slides/_rels/slide152.xml.rels" ContentType="application/vnd.openxmlformats-package.relationships+xml"/>
  <Override PartName="/ppt/slides/_rels/slide23.xml.rels" ContentType="application/vnd.openxmlformats-package.relationships+xml"/>
  <Override PartName="/ppt/slides/_rels/slide100.xml.rels" ContentType="application/vnd.openxmlformats-package.relationships+xml"/>
  <Override PartName="/ppt/slides/_rels/slide143.xml.rels" ContentType="application/vnd.openxmlformats-package.relationships+xml"/>
  <Override PartName="/ppt/slides/_rels/slide139.xml.rels" ContentType="application/vnd.openxmlformats-package.relationships+xml"/>
  <Override PartName="/ppt/slides/_rels/slide286.xml.rels" ContentType="application/vnd.openxmlformats-package.relationships+xml"/>
  <Override PartName="/ppt/slides/_rels/slide127.xml.rels" ContentType="application/vnd.openxmlformats-package.relationships+xml"/>
  <Override PartName="/ppt/slides/_rels/slide274.xml.rels" ContentType="application/vnd.openxmlformats-package.relationships+xml"/>
  <Override PartName="/ppt/slides/_rels/slide14.xml.rels" ContentType="application/vnd.openxmlformats-package.relationships+xml"/>
  <Override PartName="/ppt/slides/_rels/slide94.xml.rels" ContentType="application/vnd.openxmlformats-package.relationships+xml"/>
  <Override PartName="/ppt/slides/_rels/slide89.xml.rels" ContentType="application/vnd.openxmlformats-package.relationships+xml"/>
  <Override PartName="/ppt/slides/_rels/slide166.xml.rels" ContentType="application/vnd.openxmlformats-package.relationships+xml"/>
  <Override PartName="/ppt/slides/_rels/slide266.xml.rels" ContentType="application/vnd.openxmlformats-package.relationships+xml"/>
  <Override PartName="/ppt/slides/_rels/slide271.xml.rels" ContentType="application/vnd.openxmlformats-package.relationships+xml"/>
  <Override PartName="/ppt/slides/_rels/slide86.xml.rels" ContentType="application/vnd.openxmlformats-package.relationships+xml"/>
  <Override PartName="/ppt/slides/_rels/slide91.xml.rels" ContentType="application/vnd.openxmlformats-package.relationships+xml"/>
  <Override PartName="/ppt/slides/_rels/slide119.xml.rels" ContentType="application/vnd.openxmlformats-package.relationships+xml"/>
  <Override PartName="/ppt/slides/_rels/slide124.xml.rels" ContentType="application/vnd.openxmlformats-package.relationships+xml"/>
  <Override PartName="/ppt/slides/_rels/slide99.xml.rels" ContentType="application/vnd.openxmlformats-package.relationships+xml"/>
  <Override PartName="/ppt/slides/_rels/slide176.xml.rels" ContentType="application/vnd.openxmlformats-package.relationships+xml"/>
  <Override PartName="/ppt/slides/_rels/slide280.xml.rels" ContentType="application/vnd.openxmlformats-package.relationships+xml"/>
  <Override PartName="/ppt/slides/_rels/slide133.xml.rels" ContentType="application/vnd.openxmlformats-package.relationships+xml"/>
  <Override PartName="/ppt/slides/_rels/slide261.xml.rels" ContentType="application/vnd.openxmlformats-package.relationships+xml"/>
  <Override PartName="/ppt/slides/_rels/slide114.xml.rels" ContentType="application/vnd.openxmlformats-package.relationships+xml"/>
  <Override PartName="/ppt/slides/_rels/slide109.xml.rels" ContentType="application/vnd.openxmlformats-package.relationships+xml"/>
  <Override PartName="/ppt/slides/_rels/slide81.xml.rels" ContentType="application/vnd.openxmlformats-package.relationships+xml"/>
  <Override PartName="/ppt/slides/_rels/slide76.xml.rels" ContentType="application/vnd.openxmlformats-package.relationships+xml"/>
  <Override PartName="/ppt/slides/_rels/slide269.xml.rels" ContentType="application/vnd.openxmlformats-package.relationships+xml"/>
  <Override PartName="/ppt/slides/_rels/slide82.xml.rels" ContentType="application/vnd.openxmlformats-package.relationships+xml"/>
  <Override PartName="/ppt/slides/_rels/slide115.xml.rels" ContentType="application/vnd.openxmlformats-package.relationships+xml"/>
  <Override PartName="/ppt/slides/_rels/slide262.xml.rels" ContentType="application/vnd.openxmlformats-package.relationships+xml"/>
  <Override PartName="/ppt/slides/_rels/slide46.xml.rels" ContentType="application/vnd.openxmlformats-package.relationships+xml"/>
  <Override PartName="/ppt/slides/_rels/slide123.xml.rels" ContentType="application/vnd.openxmlformats-package.relationships+xml"/>
  <Override PartName="/ppt/slides/_rels/slide118.xml.rels" ContentType="application/vnd.openxmlformats-package.relationships+xml"/>
  <Override PartName="/ppt/slides/_rels/slide90.xml.rels" ContentType="application/vnd.openxmlformats-package.relationships+xml"/>
  <Override PartName="/ppt/slides/_rels/slide85.xml.rels" ContentType="application/vnd.openxmlformats-package.relationships+xml"/>
  <Override PartName="/ppt/slides/_rels/slide270.xml.rels" ContentType="application/vnd.openxmlformats-package.relationships+xml"/>
  <Override PartName="/ppt/slides/_rels/slide265.xml.rels" ContentType="application/vnd.openxmlformats-package.relationships+xml"/>
  <Override PartName="/ppt/slides/_rels/slide96.xml.rels" ContentType="application/vnd.openxmlformats-package.relationships+xml"/>
  <Override PartName="/ppt/slides/_rels/slide129.xml.rels" ContentType="application/vnd.openxmlformats-package.relationships+xml"/>
  <Override PartName="/ppt/slides/_rels/slide28.xml.rels" ContentType="application/vnd.openxmlformats-package.relationships+xml"/>
  <Override PartName="/ppt/slides/_rels/slide27.xml.rels" ContentType="application/vnd.openxmlformats-package.relationships+xml"/>
  <Override PartName="/ppt/slides/_rels/slide199.xml.rels" ContentType="application/vnd.openxmlformats-package.relationships+xml"/>
  <Override PartName="/ppt/slides/_rels/slide267.xml.rels" ContentType="application/vnd.openxmlformats-package.relationships+xml"/>
  <Override PartName="/ppt/slides/_rels/slide272.xml.rels" ContentType="application/vnd.openxmlformats-package.relationships+xml"/>
  <Override PartName="/ppt/slides/_rels/slide87.xml.rels" ContentType="application/vnd.openxmlformats-package.relationships+xml"/>
  <Override PartName="/ppt/slides/_rels/slide92.xml.rels" ContentType="application/vnd.openxmlformats-package.relationships+xml"/>
  <Override PartName="/ppt/slides/_rels/slide125.xml.rels" ContentType="application/vnd.openxmlformats-package.relationships+xml"/>
  <Override PartName="/ppt/slides/_rels/slide116.xml.rels" ContentType="application/vnd.openxmlformats-package.relationships+xml"/>
  <Override PartName="/ppt/slides/_rels/slide83.xml.rels" ContentType="application/vnd.openxmlformats-package.relationships+xml"/>
  <Override PartName="/ppt/slides/_rels/slide263.xml.rels" ContentType="application/vnd.openxmlformats-package.relationships+xml"/>
  <Override PartName="/ppt/slides/_rels/slide120.xml.rels" ContentType="application/vnd.openxmlformats-package.relationships+xml"/>
  <Override PartName="/ppt/slides/_rels/slide146.xml.rels" ContentType="application/vnd.openxmlformats-package.relationships+xml"/>
  <Override PartName="/ppt/slides/_rels/slide151.xml.rels" ContentType="application/vnd.openxmlformats-package.relationships+xml"/>
  <Override PartName="/ppt/slides/_rels/slide254.xml.rels" ContentType="application/vnd.openxmlformats-package.relationships+xml"/>
  <Override PartName="/ppt/slides/_rels/slide74.xml.rels" ContentType="application/vnd.openxmlformats-package.relationships+xml"/>
  <Override PartName="/ppt/slides/_rels/slide293.xml.rels" ContentType="application/vnd.openxmlformats-package.relationships+xml"/>
  <Override PartName="/ppt/slides/_rels/slide189.xml.rels" ContentType="application/vnd.openxmlformats-package.relationships+xml"/>
  <Override PartName="/ppt/slides/_rels/slide22.xml.rels" ContentType="application/vnd.openxmlformats-package.relationships+xml"/>
  <Override PartName="/ppt/slides/_rels/slide258.xml.rels" ContentType="application/vnd.openxmlformats-package.relationships+xml"/>
  <Override PartName="/ppt/slides/_rels/slide78.xml.rels" ContentType="application/vnd.openxmlformats-package.relationships+xml"/>
  <Override PartName="/ppt/slides/_rels/slide75.xml.rels" ContentType="application/vnd.openxmlformats-package.relationships+xml"/>
  <Override PartName="/ppt/slides/_rels/slide80.xml.rels" ContentType="application/vnd.openxmlformats-package.relationships+xml"/>
  <Override PartName="/ppt/slides/_rels/slide108.xml.rels" ContentType="application/vnd.openxmlformats-package.relationships+xml"/>
  <Override PartName="/ppt/slides/_rels/slide113.xml.rels" ContentType="application/vnd.openxmlformats-package.relationships+xml"/>
  <Override PartName="/ppt/slides/_rels/slide255.xml.rels" ContentType="application/vnd.openxmlformats-package.relationships+xml"/>
  <Override PartName="/ppt/slides/_rels/slide260.xml.rels" ContentType="application/vnd.openxmlformats-package.relationships+xml"/>
  <Override PartName="/ppt/slides/_rels/slide77.xml.rels" ContentType="application/vnd.openxmlformats-package.relationships+xml"/>
  <Override PartName="/ppt/slides/_rels/slide217.xml.rels" ContentType="application/vnd.openxmlformats-package.relationships+xml"/>
  <Override PartName="/ppt/slides/_rels/slide222.xml.rels" ContentType="application/vnd.openxmlformats-package.relationships+xml"/>
  <Override PartName="/ppt/slides/_rels/slide196.xml.rels" ContentType="application/vnd.openxmlformats-package.relationships+xml"/>
  <Override PartName="/ppt/slides/_rels/slide24.xml.rels" ContentType="application/vnd.openxmlformats-package.relationships+xml"/>
  <Override PartName="/ppt/slides/_rels/slide101.xml.rels" ContentType="application/vnd.openxmlformats-package.relationships+xml"/>
  <Override PartName="/ppt/slides/_rels/slide228.xml.rels" ContentType="application/vnd.openxmlformats-package.relationships+xml"/>
  <Override PartName="/ppt/slides/_rels/slide233.xml.rels" ContentType="application/vnd.openxmlformats-package.relationships+xml"/>
  <Override PartName="/ppt/slides/_rels/slide57.xml.rels" ContentType="application/vnd.openxmlformats-package.relationships+xml"/>
  <Override PartName="/ppt/slides/_rels/slide61.xml.rels" ContentType="application/vnd.openxmlformats-package.relationships+xml"/>
  <Override PartName="/ppt/slides/_rels/slide73.xml.rels" ContentType="application/vnd.openxmlformats-package.relationships+xml"/>
  <Override PartName="/ppt/slides/_rels/slide249.xml.rels" ContentType="application/vnd.openxmlformats-package.relationships+xml"/>
  <Override PartName="/ppt/slides/_rels/slide69.xml.rels" ContentType="application/vnd.openxmlformats-package.relationships+xml"/>
  <Override PartName="/ppt/slides/_rels/slide63.xml.rels" ContentType="application/vnd.openxmlformats-package.relationships+xml"/>
  <Override PartName="/ppt/slides/_rels/slide253.xml.rels" ContentType="application/vnd.openxmlformats-package.relationships+xml"/>
  <Override PartName="/ppt/slides/_rels/slide149.xml.rels" ContentType="application/vnd.openxmlformats-package.relationships+xml"/>
  <Override PartName="/ppt/slides/_rels/slide257.xml.rels" ContentType="application/vnd.openxmlformats-package.relationships+xml"/>
  <Override PartName="/ppt/slides/_rels/slide70.xml.rels" ContentType="application/vnd.openxmlformats-package.relationships+xml"/>
  <Override PartName="/ppt/slides/_rels/slide198.xml.rels" ContentType="application/vnd.openxmlformats-package.relationships+xml"/>
  <Override PartName="/ppt/slides/_rels/slide250.xml.rels" ContentType="application/vnd.openxmlformats-package.relationships+xml"/>
  <Override PartName="/ppt/slides/_rels/slide103.xml.rels" ContentType="application/vnd.openxmlformats-package.relationships+xml"/>
  <Override PartName="/ppt/slides/_rels/slide236.xml.rels" ContentType="application/vnd.openxmlformats-package.relationships+xml"/>
  <Override PartName="/ppt/slides/_rels/slide245.xml.rels" ContentType="application/vnd.openxmlformats-package.relationships+xml"/>
  <Override PartName="/ppt/slides/_rels/slide65.xml.rels" ContentType="application/vnd.openxmlformats-package.relationships+xml"/>
  <Override PartName="/ppt/slides/_rels/slide248.xml.rels" ContentType="application/vnd.openxmlformats-package.relationships+xml"/>
  <Override PartName="/ppt/slides/_rels/slide68.xml.rels" ContentType="application/vnd.openxmlformats-package.relationships+xml"/>
  <Override PartName="/ppt/slides/_rels/slide300.xml.rels" ContentType="application/vnd.openxmlformats-package.relationships+xml"/>
  <Override PartName="/ppt/slides/_rels/slide252.xml.rels" ContentType="application/vnd.openxmlformats-package.relationships+xml"/>
  <Override PartName="/ppt/slides/_rels/slide72.xml.rels" ContentType="application/vnd.openxmlformats-package.relationships+xml"/>
  <Override PartName="/ppt/slides/_rels/slide235.xml.rels" ContentType="application/vnd.openxmlformats-package.relationships+xml"/>
  <Override PartName="/ppt/slides/_rels/slide227.xml.rels" ContentType="application/vnd.openxmlformats-package.relationships+xml"/>
  <Override PartName="/ppt/slides/_rels/slide232.xml.rels" ContentType="application/vnd.openxmlformats-package.relationships+xml"/>
  <Override PartName="/ppt/slides/_rels/slide251.xml.rels" ContentType="application/vnd.openxmlformats-package.relationships+xml"/>
  <Override PartName="/ppt/slides/_rels/slide71.xml.rels" ContentType="application/vnd.openxmlformats-package.relationships+xml"/>
  <Override PartName="/ppt/slides/_rels/slide104.xml.rels" ContentType="application/vnd.openxmlformats-package.relationships+xml"/>
  <Override PartName="/ppt/slides/_rels/slide247.xml.rels" ContentType="application/vnd.openxmlformats-package.relationships+xml"/>
  <Override PartName="/ppt/slides/_rels/slide67.xml.rels" ContentType="application/vnd.openxmlformats-package.relationships+xml"/>
  <Override PartName="/ppt/slides/_rels/slide224.xml.rels" ContentType="application/vnd.openxmlformats-package.relationships+xml"/>
  <Override PartName="/ppt/slides/_rels/slide39.xml.rels" ContentType="application/vnd.openxmlformats-package.relationships+xml"/>
  <Override PartName="/ppt/slides/_rels/slide44.xml.rels" ContentType="application/vnd.openxmlformats-package.relationships+xml"/>
  <Override PartName="/ppt/slides/_rels/slide225.xml.rels" ContentType="application/vnd.openxmlformats-package.relationships+xml"/>
  <Override PartName="/ppt/slides/_rels/slide45.xml.rels" ContentType="application/vnd.openxmlformats-package.relationships+xml"/>
  <Override PartName="/ppt/slides/_rels/slide79.xml.rels" ContentType="application/vnd.openxmlformats-package.relationships+xml"/>
  <Override PartName="/ppt/slides/_rels/slide259.xml.rels" ContentType="application/vnd.openxmlformats-package.relationships+xml"/>
  <Override PartName="/ppt/slides/_rels/slide62.xml.rels" ContentType="application/vnd.openxmlformats-package.relationships+xml"/>
  <Override PartName="/ppt/slides/_rels/slide60.xml.rels" ContentType="application/vnd.openxmlformats-package.relationships+xml"/>
  <Override PartName="/ppt/slides/_rels/slide59.xml.rels" ContentType="application/vnd.openxmlformats-package.relationships+xml"/>
  <Override PartName="/ppt/slides/_rels/slide240.xml.rels" ContentType="application/vnd.openxmlformats-package.relationships+xml"/>
  <Override PartName="/ppt/slides/_rels/slide136.xml.rels" ContentType="application/vnd.openxmlformats-package.relationships+xml"/>
  <Override PartName="/ppt/slides/_rels/slide102.xml.rels" ContentType="application/vnd.openxmlformats-package.relationships+xml"/>
  <Override PartName="/ppt/slides/_rels/slide197.xml.rels" ContentType="application/vnd.openxmlformats-package.relationships+xml"/>
  <Override PartName="/ppt/slides/_rels/slide223.xml.rels" ContentType="application/vnd.openxmlformats-package.relationships+xml"/>
  <Override PartName="/ppt/slides/_rels/slide15.xml.rels" ContentType="application/vnd.openxmlformats-package.relationships+xml"/>
  <Override PartName="/ppt/slides/_rels/slide84.xml.rels" ContentType="application/vnd.openxmlformats-package.relationships+xml"/>
  <Override PartName="/ppt/slides/_rels/slide117.xml.rels" ContentType="application/vnd.openxmlformats-package.relationships+xml"/>
  <Override PartName="/ppt/slides/_rels/slide264.xml.rels" ContentType="application/vnd.openxmlformats-package.relationships+xml"/>
  <Override PartName="/ppt/slides/_rels/slide66.xml.rels" ContentType="application/vnd.openxmlformats-package.relationships+xml"/>
  <Override PartName="/ppt/slides/_rels/slide246.xml.rels" ContentType="application/vnd.openxmlformats-package.relationships+xml"/>
  <Override PartName="/ppt/slides/_rels/slide122.xml.rels" ContentType="application/vnd.openxmlformats-package.relationships+xml"/>
  <Override PartName="/ppt/slides/_rels/slide234.xml.rels" ContentType="application/vnd.openxmlformats-package.relationships+xml"/>
  <Override PartName="/ppt/slides/_rels/slide229.xml.rels" ContentType="application/vnd.openxmlformats-package.relationships+xml"/>
  <Override PartName="/ppt/slides/_rels/slide54.xml.rels" ContentType="application/vnd.openxmlformats-package.relationships+xml"/>
  <Override PartName="/ppt/slides/_rels/slide49.xml.rels" ContentType="application/vnd.openxmlformats-package.relationships+xml"/>
  <Override PartName="/ppt/slides/_rels/slide160.xml.rels" ContentType="application/vnd.openxmlformats-package.relationships+xml"/>
  <Override PartName="/ppt/slides/_rels/slide141.xml.rels" ContentType="application/vnd.openxmlformats-package.relationships+xml"/>
  <Override PartName="/ppt/slides/_rels/slide226.xml.rels" ContentType="application/vnd.openxmlformats-package.relationships+xml"/>
  <Override PartName="/ppt/slides/_rels/slide231.xml.rels" ContentType="application/vnd.openxmlformats-package.relationships+xml"/>
  <Override PartName="/ppt/slides/_rels/slide121.xml.rels" ContentType="application/vnd.openxmlformats-package.relationships+xml"/>
  <Override PartName="/ppt/slides/_rels/slide64.xml.rels" ContentType="application/vnd.openxmlformats-package.relationships+xml"/>
  <Override PartName="/ppt/slides/_rels/slide256.xml.rels" ContentType="application/vnd.openxmlformats-package.relationships+xml"/>
  <Override PartName="/ppt/slides/_rels/slide170.xml.rels" ContentType="application/vnd.openxmlformats-package.relationships+xml"/>
  <Override PartName="/ppt/slides/_rels/slide171.xml.rels" ContentType="application/vnd.openxmlformats-package.relationships+xml"/>
  <Override PartName="/ppt/slides/_rels/slide208.xml.rels" ContentType="application/vnd.openxmlformats-package.relationships+xml"/>
  <Override PartName="/ppt/slides/_rels/slide187.xml.rels" ContentType="application/vnd.openxmlformats-package.relationships+xml"/>
  <Override PartName="/ppt/slides/_rels/slide312.xml.rels" ContentType="application/vnd.openxmlformats-package.relationships+xml"/>
  <Override PartName="/ppt/slides/_rels/slide291.xml.rels" ContentType="application/vnd.openxmlformats-package.relationships+xml"/>
  <Override PartName="/ppt/slides/_rels/slide144.xml.rels" ContentType="application/vnd.openxmlformats-package.relationships+xml"/>
  <Override PartName="/ppt/slides/_rels/slide297.xml.rels" ContentType="application/vnd.openxmlformats-package.relationships+xml"/>
  <Override PartName="/ppt/slides/_rels/slide204.xml.rels" ContentType="application/vnd.openxmlformats-package.relationships+xml"/>
  <Override PartName="/ppt/slides/_rels/slide183.xml.rels" ContentType="application/vnd.openxmlformats-package.relationships+xml"/>
  <Override PartName="/ppt/slides/_rels/slide11.xml.rels" ContentType="application/vnd.openxmlformats-package.relationships+xml"/>
  <Override PartName="/ppt/slides/_rels/slide58.xml.rels" ContentType="application/vnd.openxmlformats-package.relationships+xml"/>
  <Override PartName="/ppt/slides/_rels/slide301.xml.rels" ContentType="application/vnd.openxmlformats-package.relationships+xml"/>
  <Override PartName="/ppt/slides/_rels/slide275.xml.rels" ContentType="application/vnd.openxmlformats-package.relationships+xml"/>
  <Override PartName="/ppt/slides/_rels/slide95.xml.rels" ContentType="application/vnd.openxmlformats-package.relationships+xml"/>
  <Override PartName="/ppt/slides/_rels/slide128.xml.rels" ContentType="application/vnd.openxmlformats-package.relationships+xml"/>
  <Override PartName="/ppt/slides/_rels/slide162.xml.rels" ContentType="application/vnd.openxmlformats-package.relationships+xml"/>
  <Override PartName="/ppt/slides/_rels/slide157.xml.rels" ContentType="application/vnd.openxmlformats-package.relationships+xml"/>
  <Override PartName="/ppt/slides/_rels/slide6.xml.rels" ContentType="application/vnd.openxmlformats-package.relationships+xml"/>
  <Override PartName="/ppt/slides/_rels/slide150.xml.rels" ContentType="application/vnd.openxmlformats-package.relationships+xml"/>
  <Override PartName="/ppt/slides/_rels/slide145.xml.rels" ContentType="application/vnd.openxmlformats-package.relationships+xml"/>
  <Override PartName="/ppt/slides/_rels/slide298.xml.rels" ContentType="application/vnd.openxmlformats-package.relationships+xml"/>
  <Override PartName="/ppt/slides/_rels/slide306.xml.rels" ContentType="application/vnd.openxmlformats-package.relationships+xml"/>
  <Override PartName="/ppt/slides/_rels/slide285.xml.rels" ContentType="application/vnd.openxmlformats-package.relationships+xml"/>
  <Override PartName="/ppt/slides/_rels/slide242.xml.rels" ContentType="application/vnd.openxmlformats-package.relationships+xml"/>
  <Override PartName="/ppt/slides/_rels/slide138.xml.rels" ContentType="application/vnd.openxmlformats-package.relationships+xml"/>
  <Override PartName="/ppt/slides/_rels/slide202.xml.rels" ContentType="application/vnd.openxmlformats-package.relationships+xml"/>
  <Override PartName="/ppt/slides/_rels/slide181.xml.rels" ContentType="application/vnd.openxmlformats-package.relationships+xml"/>
  <Override PartName="/ppt/slides/_rels/slide279.xml.rels" ContentType="application/vnd.openxmlformats-package.relationships+xml"/>
  <Override PartName="/ppt/slides/_rels/slide305.xml.rels" ContentType="application/vnd.openxmlformats-package.relationships+xml"/>
  <Override PartName="/ppt/slides/_rels/slide284.xml.rels" ContentType="application/vnd.openxmlformats-package.relationships+xml"/>
  <Override PartName="/ppt/slides/_rels/slide241.xml.rels" ContentType="application/vnd.openxmlformats-package.relationships+xml"/>
  <Override PartName="/ppt/slides/_rels/slide137.xml.rels" ContentType="application/vnd.openxmlformats-package.relationships+xml"/>
  <Override PartName="/ppt/slides/_rels/slide299.xml.rels" ContentType="application/vnd.openxmlformats-package.relationships+xml"/>
  <Override PartName="/ppt/slides/_rels/slide307.xml.rels" ContentType="application/vnd.openxmlformats-package.relationships+xml"/>
  <Override PartName="/ppt/slides/_rels/slide16.xml.rels" ContentType="application/vnd.openxmlformats-package.relationships+xml"/>
  <Override PartName="/ppt/slides/_rels/slide93.xml.rels" ContentType="application/vnd.openxmlformats-package.relationships+xml"/>
  <Override PartName="/ppt/slides/_rels/slide88.xml.rels" ContentType="application/vnd.openxmlformats-package.relationships+xml"/>
  <Override PartName="/ppt/slides/_rels/slide273.xml.rels" ContentType="application/vnd.openxmlformats-package.relationships+xml"/>
  <Override PartName="/ppt/slides/_rels/slide268.xml.rels" ContentType="application/vnd.openxmlformats-package.relationships+xml"/>
  <Override PartName="/ppt/slides/_rels/slide9.xml.rels" ContentType="application/vnd.openxmlformats-package.relationships+xml"/>
  <Override PartName="/ppt/slides/_rels/slide165.xml.rels" ContentType="application/vnd.openxmlformats-package.relationships+xml"/>
  <Override PartName="/ppt/slides/_rels/slide126.xml.rels" ContentType="application/vnd.openxmlformats-package.relationships+xml"/>
  <Override PartName="/ppt/slides/_rels/slide230.xml.rels" ContentType="application/vnd.openxmlformats-package.relationships+xml"/>
  <Override PartName="/ppt/slides/_rels/slide276.xml.rels" ContentType="application/vnd.openxmlformats-package.relationships+xml"/>
  <Override PartName="/ppt/slides/_rels/slide281.xml.rels" ContentType="application/vnd.openxmlformats-package.relationships+xml"/>
  <Override PartName="/ppt/slides/_rels/slide302.xml.rels" ContentType="application/vnd.openxmlformats-package.relationships+xml"/>
  <Override PartName="/ppt/slides/_rels/slide290.xml.rels" ContentType="application/vnd.openxmlformats-package.relationships+xml"/>
  <Override PartName="/ppt/slides/_rels/slide186.xml.rels" ContentType="application/vnd.openxmlformats-package.relationships+xml"/>
  <Override PartName="/ppt/slides/_rels/slide207.xml.rels" ContentType="application/vnd.openxmlformats-package.relationships+xml"/>
  <Override PartName="/ppt/slides/_rels/slide311.xml.rels" ContentType="application/vnd.openxmlformats-package.relationships+xml"/>
  <Override PartName="/ppt/slides/_rels/slide107.xml.rels" ContentType="application/vnd.openxmlformats-package.relationships+xml"/>
  <Override PartName="/ppt/slides/_rels/slide112.xml.rels" ContentType="application/vnd.openxmlformats-package.relationships+xml"/>
  <Override PartName="/ppt/slides/_rels/slide316.xml.rels" ContentType="application/vnd.openxmlformats-package.relationships+xml"/>
  <Override PartName="/ppt/slides/_rels/slide295.xml.rels" ContentType="application/vnd.openxmlformats-package.relationships+xml"/>
  <Override PartName="/ppt/slides/_rels/slide282.xml.rels" ContentType="application/vnd.openxmlformats-package.relationships+xml"/>
  <Override PartName="/ppt/slides/_rels/slide303.xml.rels" ContentType="application/vnd.openxmlformats-package.relationships+xml"/>
  <Override PartName="/ppt/slides/_rels/slide277.xml.rels" ContentType="application/vnd.openxmlformats-package.relationships+xml"/>
  <Override PartName="/ppt/slides/_rels/slide97.xml.rels" ContentType="application/vnd.openxmlformats-package.relationships+xml"/>
  <Override PartName="/ppt/slides/_rels/slide106.xml.rels" ContentType="application/vnd.openxmlformats-package.relationships+xml"/>
  <Override PartName="/ppt/slides/_rels/slide111.xml.rels" ContentType="application/vnd.openxmlformats-package.relationships+xml"/>
  <Override PartName="/ppt/slides/_rels/slide34.xml.rels" ContentType="application/vnd.openxmlformats-package.relationships+xml"/>
  <Override PartName="/ppt/slides/_rels/slide214.xml.rels" ContentType="application/vnd.openxmlformats-package.relationships+xml"/>
  <Override PartName="/ppt/slides/_rels/slide193.xml.rels" ContentType="application/vnd.openxmlformats-package.relationships+xml"/>
  <Override PartName="/ppt/slides/_rels/slide195.xml.rels" ContentType="application/vnd.openxmlformats-package.relationships+xml"/>
  <Override PartName="/ppt/slides/_rels/slide216.xml.rels" ContentType="application/vnd.openxmlformats-package.relationships+xml"/>
  <Override PartName="/ppt/slides/_rels/slide221.xml.rels" ContentType="application/vnd.openxmlformats-package.relationships+xml"/>
  <Override PartName="/ppt/slides/_rels/slide304.xml.rels" ContentType="application/vnd.openxmlformats-package.relationships+xml"/>
  <Override PartName="/ppt/slides/_rels/slide283.xml.rels" ContentType="application/vnd.openxmlformats-package.relationships+xml"/>
  <Override PartName="/ppt/slides/_rels/slide278.xml.rels" ContentType="application/vnd.openxmlformats-package.relationships+xml"/>
  <Override PartName="/ppt/slides/_rels/slide98.xml.rels" ContentType="application/vnd.openxmlformats-package.relationships+xml"/>
  <Override PartName="/ppt/slides/_rels/slide175.xml.rels" ContentType="application/vnd.openxmlformats-package.relationships+xml"/>
  <Override PartName="/ppt/slides/_rels/slide289.xml.rels" ContentType="application/vnd.openxmlformats-package.relationships+xml"/>
  <Override PartName="/ppt/slides/_rels/slide294.xml.rels" ContentType="application/vnd.openxmlformats-package.relationships+xml"/>
  <Override PartName="/ppt/slides/_rels/slide19.xml.rels" ContentType="application/vnd.openxmlformats-package.relationships+xml"/>
  <Override PartName="/ppt/slides/_rels/slide315.xml.rels" ContentType="application/vnd.openxmlformats-package.relationships+xml"/>
  <Override PartName="/ppt/slides/_rels/slide29.xml.rels" ContentType="application/vnd.openxmlformats-package.relationships+xml"/>
  <Override PartName="/ppt/slides/_rels/slide292.xml.rels" ContentType="application/vnd.openxmlformats-package.relationships+xml"/>
  <Override PartName="/ppt/slides/_rels/slide188.xml.rels" ContentType="application/vnd.openxmlformats-package.relationships+xml"/>
  <Override PartName="/ppt/slides/_rels/slide209.xml.rels" ContentType="application/vnd.openxmlformats-package.relationships+xml"/>
  <Override PartName="/ppt/slides/_rels/slide154.xml.rels" ContentType="application/vnd.openxmlformats-package.relationships+xml"/>
  <Override PartName="/ppt/slides/_rels/slide105.xml.rels" ContentType="application/vnd.openxmlformats-package.relationships+xml"/>
  <Override PartName="/ppt/slides/_rels/slide110.xml.rels" ContentType="application/vnd.openxmlformats-package.relationships+xml"/>
  <Override PartName="/ppt/slides/_rels/slide33.xml.rels" ContentType="application/vnd.openxmlformats-package.relationships+xml"/>
  <Override PartName="/ppt/slides/_rels/slide213.xml.rels" ContentType="application/vnd.openxmlformats-package.relationships+xml"/>
  <Override PartName="/ppt/slides/_rels/slide192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18.xml.rels" ContentType="application/vnd.openxmlformats-package.relationships+xml"/>
  <Override PartName="/ppt/slides/_rels/slide288.xml.rels" ContentType="application/vnd.openxmlformats-package.relationships+xml"/>
  <Override PartName="/ppt/slides/_rels/slide314.xml.rels" ContentType="application/vnd.openxmlformats-package.relationships+xml"/>
  <Override PartName="/ppt/slides/_rels/slide309.xml.rels" ContentType="application/vnd.openxmlformats-package.relationships+xml"/>
  <Override PartName="/ppt/slides/_rels/slide206.xml.rels" ContentType="application/vnd.openxmlformats-package.relationships+xml"/>
  <Override PartName="/ppt/slides/_rels/slide310.xml.rels" ContentType="application/vnd.openxmlformats-package.relationships+xml"/>
  <Override PartName="/ppt/slides/_rels/slide12.xml.rels" ContentType="application/vnd.openxmlformats-package.relationships+xml"/>
  <Override PartName="/ppt/slides/_rels/slide10.xml.rels" ContentType="application/vnd.openxmlformats-package.relationships+xml"/>
  <Override PartName="/ppt/slides/_rels/slide203.xml.rels" ContentType="application/vnd.openxmlformats-package.relationships+xml"/>
  <Override PartName="/ppt/slides/_rels/slide182.xml.rels" ContentType="application/vnd.openxmlformats-package.relationships+xml"/>
  <Override PartName="/ppt/slides/_rels/slide239.xml.rels" ContentType="application/vnd.openxmlformats-package.relationships+xml"/>
  <Override PartName="/ppt/slides/_rels/slide244.xml.rels" ContentType="application/vnd.openxmlformats-package.relationships+xml"/>
  <Override PartName="/ppt/slides/_rels/slide155.xml.rels" ContentType="application/vnd.openxmlformats-package.relationships+xml"/>
  <Override PartName="/ppt/slides/_rels/slide4.xml.rels" ContentType="application/vnd.openxmlformats-package.relationships+xml"/>
  <Override PartName="/ppt/slides/_rels/slide134.xml.rels" ContentType="application/vnd.openxmlformats-package.relationships+xml"/>
  <Override PartName="/ppt/slides/_rels/slide13.xml.rels" ContentType="application/vnd.openxmlformats-package.relationships+xml"/>
  <Override PartName="/ppt/slides/_rels/slide161.xml.rels" ContentType="application/vnd.openxmlformats-package.relationships+xml"/>
  <Override PartName="/ppt/slides/_rels/slide156.xml.rels" ContentType="application/vnd.openxmlformats-package.relationships+xml"/>
  <Override PartName="/ppt/slides/_rels/slide5.xml.rels" ContentType="application/vnd.openxmlformats-package.relationships+xml"/>
  <Override PartName="/ppt/slides/_rels/slide140.xml.rels" ContentType="application/vnd.openxmlformats-package.relationships+xml"/>
  <Override PartName="/ppt/slides/_rels/slide135.xml.rels" ContentType="application/vnd.openxmlformats-package.relationships+xml"/>
  <Override PartName="/ppt/slides/_rels/slide212.xml.rels" ContentType="application/vnd.openxmlformats-package.relationships+xml"/>
  <Override PartName="/ppt/slides/_rels/slide130.xml.rels" ContentType="application/vnd.openxmlformats-package.relationships+xml"/>
  <Override PartName="/ppt/slides/_rels/slide131.xml.rels" ContentType="application/vnd.openxmlformats-package.relationships+xml"/>
  <Override PartName="/ppt/slides/_rels/slide132.xml.rels" ContentType="application/vnd.openxmlformats-package.relationships+xml"/>
  <Override PartName="/ppt/slides/_rels/slide17.xml.rels" ContentType="application/vnd.openxmlformats-package.relationships+xml"/>
  <Override PartName="/ppt/slides/_rels/slide313.xml.rels" ContentType="application/vnd.openxmlformats-package.relationships+xml"/>
  <Override PartName="/ppt/slides/_rels/slide308.xml.rels" ContentType="application/vnd.openxmlformats-package.relationships+xml"/>
  <Override PartName="/ppt/slides/_rels/slide142.xml.rels" ContentType="application/vnd.openxmlformats-package.relationships+xml"/>
  <Override PartName="/ppt/slides/slide257.xml" ContentType="application/vnd.openxmlformats-officedocument.presentationml.slide+xml"/>
  <Override PartName="/ppt/slides/slide91.xml" ContentType="application/vnd.openxmlformats-officedocument.presentationml.slide+xml"/>
  <Override PartName="/ppt/slides/slide256.xml" ContentType="application/vnd.openxmlformats-officedocument.presentationml.slide+xml"/>
  <Override PartName="/ppt/slides/slide90.xml" ContentType="application/vnd.openxmlformats-officedocument.presentationml.slide+xml"/>
  <Override PartName="/ppt/slides/slide255.xml" ContentType="application/vnd.openxmlformats-officedocument.presentationml.slide+xml"/>
  <Override PartName="/ppt/slides/slide254.xml" ContentType="application/vnd.openxmlformats-officedocument.presentationml.slide+xml"/>
  <Override PartName="/ppt/slides/slide253.xml" ContentType="application/vnd.openxmlformats-officedocument.presentationml.slide+xml"/>
  <Override PartName="/ppt/slides/slide252.xml" ContentType="application/vnd.openxmlformats-officedocument.presentationml.slide+xml"/>
  <Override PartName="/ppt/slides/slide251.xml" ContentType="application/vnd.openxmlformats-officedocument.presentationml.slide+xml"/>
  <Override PartName="/ppt/slides/slide250.xml" ContentType="application/vnd.openxmlformats-officedocument.presentationml.slide+xml"/>
  <Override PartName="/ppt/slides/slide249.xml" ContentType="application/vnd.openxmlformats-officedocument.presentationml.slide+xml"/>
  <Override PartName="/ppt/slides/slide83.xml" ContentType="application/vnd.openxmlformats-officedocument.presentationml.slide+xml"/>
  <Override PartName="/ppt/slides/slide248.xml" ContentType="application/vnd.openxmlformats-officedocument.presentationml.slide+xml"/>
  <Override PartName="/ppt/slides/slide82.xml" ContentType="application/vnd.openxmlformats-officedocument.presentationml.slide+xml"/>
  <Override PartName="/ppt/slides/slide247.xml" ContentType="application/vnd.openxmlformats-officedocument.presentationml.slide+xml"/>
  <Override PartName="/ppt/slides/slide81.xml" ContentType="application/vnd.openxmlformats-officedocument.presentationml.slide+xml"/>
  <Override PartName="/ppt/slides/slide246.xml" ContentType="application/vnd.openxmlformats-officedocument.presentationml.slide+xml"/>
  <Override PartName="/ppt/slides/slide80.xml" ContentType="application/vnd.openxmlformats-officedocument.presentationml.slide+xml"/>
  <Override PartName="/ppt/slides/slide239.xml" ContentType="application/vnd.openxmlformats-officedocument.presentationml.slide+xml"/>
  <Override PartName="/ppt/slides/slide73.xml" ContentType="application/vnd.openxmlformats-officedocument.presentationml.slide+xml"/>
  <Override PartName="/ppt/slides/slide238.xml" ContentType="application/vnd.openxmlformats-officedocument.presentationml.slide+xml"/>
  <Override PartName="/ppt/slides/slide72.xml" ContentType="application/vnd.openxmlformats-officedocument.presentationml.slide+xml"/>
  <Override PartName="/ppt/slides/slide237.xml" ContentType="application/vnd.openxmlformats-officedocument.presentationml.slide+xml"/>
  <Override PartName="/ppt/slides/slide199.xml" ContentType="application/vnd.openxmlformats-officedocument.presentationml.slide+xml"/>
  <Override PartName="/ppt/slides/slide71.xml" ContentType="application/vnd.openxmlformats-officedocument.presentationml.slide+xml"/>
  <Override PartName="/ppt/slides/slide236.xml" ContentType="application/vnd.openxmlformats-officedocument.presentationml.slide+xml"/>
  <Override PartName="/ppt/slides/slide198.xml" ContentType="application/vnd.openxmlformats-officedocument.presentationml.slide+xml"/>
  <Override PartName="/ppt/slides/slide70.xml" ContentType="application/vnd.openxmlformats-officedocument.presentationml.slide+xml"/>
  <Override PartName="/ppt/slides/slide235.xml" ContentType="application/vnd.openxmlformats-officedocument.presentationml.slide+xml"/>
  <Override PartName="/ppt/slides/slide197.xml" ContentType="application/vnd.openxmlformats-officedocument.presentationml.slide+xml"/>
  <Override PartName="/ppt/slides/slide234.xml" ContentType="application/vnd.openxmlformats-officedocument.presentationml.slide+xml"/>
  <Override PartName="/ppt/slides/slide196.xml" ContentType="application/vnd.openxmlformats-officedocument.presentationml.slide+xml"/>
  <Override PartName="/ppt/slides/slide233.xml" ContentType="application/vnd.openxmlformats-officedocument.presentationml.slide+xml"/>
  <Override PartName="/ppt/slides/slide195.xml" ContentType="application/vnd.openxmlformats-officedocument.presentationml.slide+xml"/>
  <Override PartName="/ppt/slides/slide232.xml" ContentType="application/vnd.openxmlformats-officedocument.presentationml.slide+xml"/>
  <Override PartName="/ppt/slides/slide194.xml" ContentType="application/vnd.openxmlformats-officedocument.presentationml.slide+xml"/>
  <Override PartName="/ppt/slides/slide231.xml" ContentType="application/vnd.openxmlformats-officedocument.presentationml.slide+xml"/>
  <Override PartName="/ppt/slides/slide193.xml" ContentType="application/vnd.openxmlformats-officedocument.presentationml.slide+xml"/>
  <Override PartName="/ppt/slides/slide230.xml" ContentType="application/vnd.openxmlformats-officedocument.presentationml.slide+xml"/>
  <Override PartName="/ppt/slides/slide192.xml" ContentType="application/vnd.openxmlformats-officedocument.presentationml.slide+xml"/>
  <Override PartName="/ppt/slides/slide229.xml" ContentType="application/vnd.openxmlformats-officedocument.presentationml.slide+xml"/>
  <Override PartName="/ppt/slides/slide63.xml" ContentType="application/vnd.openxmlformats-officedocument.presentationml.slide+xml"/>
  <Override PartName="/ppt/slides/slide228.xml" ContentType="application/vnd.openxmlformats-officedocument.presentationml.slide+xml"/>
  <Override PartName="/ppt/slides/slide62.xml" ContentType="application/vnd.openxmlformats-officedocument.presentationml.slide+xml"/>
  <Override PartName="/ppt/slides/slide227.xml" ContentType="application/vnd.openxmlformats-officedocument.presentationml.slide+xml"/>
  <Override PartName="/ppt/slides/slide189.xml" ContentType="application/vnd.openxmlformats-officedocument.presentationml.slide+xml"/>
  <Override PartName="/ppt/slides/slide61.xml" ContentType="application/vnd.openxmlformats-officedocument.presentationml.slide+xml"/>
  <Override PartName="/ppt/slides/slide226.xml" ContentType="application/vnd.openxmlformats-officedocument.presentationml.slide+xml"/>
  <Override PartName="/ppt/slides/slide188.xml" ContentType="application/vnd.openxmlformats-officedocument.presentationml.slide+xml"/>
  <Override PartName="/ppt/slides/slide60.xml" ContentType="application/vnd.openxmlformats-officedocument.presentationml.slide+xml"/>
  <Override PartName="/ppt/slides/slide225.xml" ContentType="application/vnd.openxmlformats-officedocument.presentationml.slide+xml"/>
  <Override PartName="/ppt/slides/slide187.xml" ContentType="application/vnd.openxmlformats-officedocument.presentationml.slide+xml"/>
  <Override PartName="/ppt/slides/slide224.xml" ContentType="application/vnd.openxmlformats-officedocument.presentationml.slide+xml"/>
  <Override PartName="/ppt/slides/slide186.xml" ContentType="application/vnd.openxmlformats-officedocument.presentationml.slide+xml"/>
  <Override PartName="/ppt/slides/slide223.xml" ContentType="application/vnd.openxmlformats-officedocument.presentationml.slide+xml"/>
  <Override PartName="/ppt/slides/slide185.xml" ContentType="application/vnd.openxmlformats-officedocument.presentationml.slide+xml"/>
  <Override PartName="/ppt/slides/slide222.xml" ContentType="application/vnd.openxmlformats-officedocument.presentationml.slide+xml"/>
  <Override PartName="/ppt/slides/slide184.xml" ContentType="application/vnd.openxmlformats-officedocument.presentationml.slide+xml"/>
  <Override PartName="/ppt/slides/slide221.xml" ContentType="application/vnd.openxmlformats-officedocument.presentationml.slide+xml"/>
  <Override PartName="/ppt/slides/slide183.xml" ContentType="application/vnd.openxmlformats-officedocument.presentationml.slide+xml"/>
  <Override PartName="/ppt/slides/slide155.xml" ContentType="application/vnd.openxmlformats-officedocument.presentationml.slide+xml"/>
  <Override PartName="/ppt/slides/slide59.xml" ContentType="application/vnd.openxmlformats-officedocument.presentationml.slide+xml"/>
  <Override PartName="/ppt/slides/slide160.xml" ContentType="application/vnd.openxmlformats-officedocument.presentationml.slide+xml"/>
  <Override PartName="/ppt/slides/slide64.xml" ContentType="application/vnd.openxmlformats-officedocument.presentationml.slide+xml"/>
  <Override PartName="/ppt/slides/slide161.xml" ContentType="application/vnd.openxmlformats-officedocument.presentationml.slide+xml"/>
  <Override PartName="/ppt/slides/slide65.xml" ContentType="application/vnd.openxmlformats-officedocument.presentationml.slide+xml"/>
  <Override PartName="/ppt/slides/slide67.xml" ContentType="application/vnd.openxmlformats-officedocument.presentationml.slide+xml"/>
  <Override PartName="/ppt/slides/slide120.xml" ContentType="application/vnd.openxmlformats-officedocument.presentationml.slide+xml"/>
  <Override PartName="/ppt/slides/slide258.xml" ContentType="application/vnd.openxmlformats-officedocument.presentationml.slide+xml"/>
  <Override PartName="/ppt/slides/slide92.xml" ContentType="application/vnd.openxmlformats-officedocument.presentationml.slide+xml"/>
  <Override PartName="/ppt/slides/slide313.xml" ContentType="application/vnd.openxmlformats-officedocument.presentationml.slide+xml"/>
  <Override PartName="/ppt/slides/slide24.xml" ContentType="application/vnd.openxmlformats-officedocument.presentationml.slide+xml"/>
  <Override PartName="/ppt/slides/slide66.xml" ContentType="application/vnd.openxmlformats-officedocument.presentationml.slide+xml"/>
  <Override PartName="/ppt/slides/slide68.xml" ContentType="application/vnd.openxmlformats-officedocument.presentationml.slide+xml"/>
  <Override PartName="/ppt/slides/slide121.xml" ContentType="application/vnd.openxmlformats-officedocument.presentationml.slide+xml"/>
  <Override PartName="/ppt/slides/slide25.xml" ContentType="application/vnd.openxmlformats-officedocument.presentationml.slide+xml"/>
  <Override PartName="/ppt/slides/slide259.xml" ContentType="application/vnd.openxmlformats-officedocument.presentationml.slide+xml"/>
  <Override PartName="/ppt/slides/slide93.xml" ContentType="application/vnd.openxmlformats-officedocument.presentationml.slide+xml"/>
  <Override PartName="/ppt/slides/slide314.xml" ContentType="application/vnd.openxmlformats-officedocument.presentationml.slide+xml"/>
  <Override PartName="/ppt/slides/slide69.xml" ContentType="application/vnd.openxmlformats-officedocument.presentationml.slide+xml"/>
  <Override PartName="/ppt/slides/slide122.xml" ContentType="application/vnd.openxmlformats-officedocument.presentationml.slide+xml"/>
  <Override PartName="/ppt/slides/slide26.xml" ContentType="application/vnd.openxmlformats-officedocument.presentationml.slide+xml"/>
  <Override PartName="/ppt/slides/slide315.xml" ContentType="application/vnd.openxmlformats-officedocument.presentationml.slide+xml"/>
  <Override PartName="/ppt/slides/slide94.xml" ContentType="application/vnd.openxmlformats-officedocument.presentationml.slide+xml"/>
  <Override PartName="/ppt/slides/slide190.xml" ContentType="application/vnd.openxmlformats-officedocument.presentationml.slide+xml"/>
  <Override PartName="/ppt/slides/slide100.xml" ContentType="application/vnd.openxmlformats-officedocument.presentationml.slide+xml"/>
  <Override PartName="/ppt/slides/slide107.xml" ContentType="application/vnd.openxmlformats-officedocument.presentationml.slide+xml"/>
  <Override PartName="/ppt/slides/slide79.xml" ContentType="application/vnd.openxmlformats-officedocument.presentationml.slide+xml"/>
  <Override PartName="/ppt/slides/slide77.xml" ContentType="application/vnd.openxmlformats-officedocument.presentationml.slide+xml"/>
  <Override PartName="/ppt/slides/slide105.xml" ContentType="application/vnd.openxmlformats-officedocument.presentationml.slide+xml"/>
  <Override PartName="/ppt/slides/slide78.xml" ContentType="application/vnd.openxmlformats-officedocument.presentationml.slide+xml"/>
  <Override PartName="/ppt/slides/slide106.xml" ContentType="application/vnd.openxmlformats-officedocument.presentationml.slide+xml"/>
  <Override PartName="/ppt/slides/slide87.xml" ContentType="application/vnd.openxmlformats-officedocument.presentationml.slide+xml"/>
  <Override PartName="/ppt/slides/slide115.xml" ContentType="application/vnd.openxmlformats-officedocument.presentationml.slide+xml"/>
  <Override PartName="/ppt/slides/slide19.xml" ContentType="application/vnd.openxmlformats-officedocument.presentationml.slide+xml"/>
  <Override PartName="/ppt/slides/slide88.xml" ContentType="application/vnd.openxmlformats-officedocument.presentationml.slide+xml"/>
  <Override PartName="/ppt/slides/slide116.xml" ContentType="application/vnd.openxmlformats-officedocument.presentationml.slide+xml"/>
  <Override PartName="/ppt/slides/slide89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23.xml" ContentType="application/vnd.openxmlformats-officedocument.presentationml.slide+xml"/>
  <Override PartName="/ppt/slides/slide27.xml" ContentType="application/vnd.openxmlformats-officedocument.presentationml.slide+xml"/>
  <Override PartName="/ppt/slides/slide95.xml" ContentType="application/vnd.openxmlformats-officedocument.presentationml.slide+xml"/>
  <Override PartName="/ppt/slides/slide191.xml" ContentType="application/vnd.openxmlformats-officedocument.presentationml.slide+xml"/>
  <Override PartName="/ppt/slides/slide124.xml" ContentType="application/vnd.openxmlformats-officedocument.presentationml.slide+xml"/>
  <Override PartName="/ppt/slides/slide28.xml" ContentType="application/vnd.openxmlformats-officedocument.presentationml.slide+xml"/>
  <Override PartName="/ppt/slides/slide96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101.xml" ContentType="application/vnd.openxmlformats-officedocument.presentationml.slide+xml"/>
  <Override PartName="/ppt/slides/slide300.xml" ContentType="application/vnd.openxmlformats-officedocument.presentationml.slide+xml"/>
  <Override PartName="/ppt/slides/slide285.xml" ContentType="application/vnd.openxmlformats-officedocument.presentationml.slide+xml"/>
  <Override PartName="/ppt/slides/slide102.xml" ContentType="application/vnd.openxmlformats-officedocument.presentationml.slide+xml"/>
  <Override PartName="/ppt/slides/slide170.xml" ContentType="application/vnd.openxmlformats-officedocument.presentationml.slide+xml"/>
  <Override PartName="/ppt/slides/slide74.xml" ContentType="application/vnd.openxmlformats-officedocument.presentationml.slide+xml"/>
  <Override PartName="/ppt/slides/slide301.xml" ContentType="application/vnd.openxmlformats-officedocument.presentationml.slide+xml"/>
  <Override PartName="/ppt/slides/slide12.xml" ContentType="application/vnd.openxmlformats-officedocument.presentationml.slide+xml"/>
  <Override PartName="/ppt/slides/slide286.xml" ContentType="application/vnd.openxmlformats-officedocument.presentationml.slide+xml"/>
  <Override PartName="/ppt/slides/slide103.xml" ContentType="application/vnd.openxmlformats-officedocument.presentationml.slide+xml"/>
  <Override PartName="/ppt/slides/slide171.xml" ContentType="application/vnd.openxmlformats-officedocument.presentationml.slide+xml"/>
  <Override PartName="/ppt/slides/slide75.xml" ContentType="application/vnd.openxmlformats-officedocument.presentationml.slide+xml"/>
  <Override PartName="/ppt/slides/slide302.xml" ContentType="application/vnd.openxmlformats-officedocument.presentationml.slide+xml"/>
  <Override PartName="/ppt/slides/slide13.xml" ContentType="application/vnd.openxmlformats-officedocument.presentationml.slide+xml"/>
  <Override PartName="/ppt/slides/slide104.xml" ContentType="application/vnd.openxmlformats-officedocument.presentationml.slide+xml"/>
  <Override PartName="/ppt/slides/slide76.xml" ContentType="application/vnd.openxmlformats-officedocument.presentationml.slide+xml"/>
  <Override PartName="/ppt/slides/slide303.xml" ContentType="application/vnd.openxmlformats-officedocument.presentationml.slide+xml"/>
  <Override PartName="/ppt/slides/slide110.xml" ContentType="application/vnd.openxmlformats-officedocument.presentationml.slide+xml"/>
  <Override PartName="/ppt/slides/slide14.xml" ContentType="application/vnd.openxmlformats-officedocument.presentationml.slide+xml"/>
  <Override PartName="/ppt/slides/slide288.xml" ContentType="application/vnd.openxmlformats-officedocument.presentationml.slide+xml"/>
  <Override PartName="/ppt/slides/slide304.xml" ContentType="application/vnd.openxmlformats-officedocument.presentationml.slide+xml"/>
  <Override PartName="/ppt/slides/slide111.xml" ContentType="application/vnd.openxmlformats-officedocument.presentationml.slide+xml"/>
  <Override PartName="/ppt/slides/slide15.xml" ContentType="application/vnd.openxmlformats-officedocument.presentationml.slide+xml"/>
  <Override PartName="/ppt/slides/slide290.xml" ContentType="application/vnd.openxmlformats-officedocument.presentationml.slide+xml"/>
  <Override PartName="/ppt/slides/slide126.xml" ContentType="application/vnd.openxmlformats-officedocument.presentationml.slide+xml"/>
  <Override PartName="/ppt/slides/slide98.xml" ContentType="application/vnd.openxmlformats-officedocument.presentationml.slide+xml"/>
  <Override PartName="/ppt/slides/slide297.xml" ContentType="application/vnd.openxmlformats-officedocument.presentationml.slide+xml"/>
  <Override PartName="/ppt/slides/slide114.xml" ContentType="application/vnd.openxmlformats-officedocument.presentationml.slide+xml"/>
  <Override PartName="/ppt/slides/slide86.xml" ContentType="application/vnd.openxmlformats-officedocument.presentationml.slide+xml"/>
  <Override PartName="/ppt/slides/slide18.xml" ContentType="application/vnd.openxmlformats-officedocument.presentationml.slide+xml"/>
  <Override PartName="/ppt/slides/slide260.xml" ContentType="application/vnd.openxmlformats-officedocument.presentationml.slide+xml"/>
  <Override PartName="/ppt/slides/slide298.xml" ContentType="application/vnd.openxmlformats-officedocument.presentationml.slide+xml"/>
  <Override PartName="/ppt/slides/slide180.xml" ContentType="application/vnd.openxmlformats-officedocument.presentationml.slide+xml"/>
  <Override PartName="/ppt/slides/slide305.xml" ContentType="application/vnd.openxmlformats-officedocument.presentationml.slide+xml"/>
  <Override PartName="/ppt/slides/slide112.xml" ContentType="application/vnd.openxmlformats-officedocument.presentationml.slide+xml"/>
  <Override PartName="/ppt/slides/slide84.xml" ContentType="application/vnd.openxmlformats-officedocument.presentationml.slide+xml"/>
  <Override PartName="/ppt/slides/slide16.xml" ContentType="application/vnd.openxmlformats-officedocument.presentationml.slide+xml"/>
  <Override PartName="/ppt/slides/slide261.xml" ContentType="application/vnd.openxmlformats-officedocument.presentationml.slide+xml"/>
  <Override PartName="/ppt/slides/slide181.xml" ContentType="application/vnd.openxmlformats-officedocument.presentationml.slide+xml"/>
  <Override PartName="/ppt/slides/slide113.xml" ContentType="application/vnd.openxmlformats-officedocument.presentationml.slide+xml"/>
  <Override PartName="/ppt/slides/slide85.xml" ContentType="application/vnd.openxmlformats-officedocument.presentationml.slide+xml"/>
  <Override PartName="/ppt/slides/slide17.xml" ContentType="application/vnd.openxmlformats-officedocument.presentationml.slide+xml"/>
  <Override PartName="/ppt/slides/slide299.xml" ContentType="application/vnd.openxmlformats-officedocument.presentationml.slide+xml"/>
  <Override PartName="/ppt/slides/slide262.xml" ContentType="application/vnd.openxmlformats-officedocument.presentationml.slide+xml"/>
  <Override PartName="/ppt/slides/slide294.xml" ContentType="application/vnd.openxmlformats-officedocument.presentationml.slide+xml"/>
  <Override PartName="/ppt/slides/slide310.xml" ContentType="application/vnd.openxmlformats-officedocument.presentationml.slide+xml"/>
  <Override PartName="/ppt/slides/slide293.xml" ContentType="application/vnd.openxmlformats-officedocument.presentationml.slide+xml"/>
  <Override PartName="/ppt/slides/slide292.xml" ContentType="application/vnd.openxmlformats-officedocument.presentationml.slide+xml"/>
  <Override PartName="/ppt/slides/slide312.xml" ContentType="application/vnd.openxmlformats-officedocument.presentationml.slide+xml"/>
  <Override PartName="/ppt/slides/slide23.xml" ContentType="application/vnd.openxmlformats-officedocument.presentationml.slide+xml"/>
  <Override PartName="/ppt/slides/slide296.xml" ContentType="application/vnd.openxmlformats-officedocument.presentationml.slide+xml"/>
  <Override PartName="/ppt/slides/slide289.xml" ContentType="application/vnd.openxmlformats-officedocument.presentationml.slide+xml"/>
  <Override PartName="/ppt/slides/slide291.xml" ContentType="application/vnd.openxmlformats-officedocument.presentationml.slide+xml"/>
  <Override PartName="/ppt/slides/slide127.xml" ContentType="application/vnd.openxmlformats-officedocument.presentationml.slide+xml"/>
  <Override PartName="/ppt/slides/slide99.xml" ContentType="application/vnd.openxmlformats-officedocument.presentationml.slide+xml"/>
  <Override PartName="/ppt/slides/slide311.xml" ContentType="application/vnd.openxmlformats-officedocument.presentationml.slide+xml"/>
  <Override PartName="/ppt/slides/slide22.xml" ContentType="application/vnd.openxmlformats-officedocument.presentationml.slide+xml"/>
  <Override PartName="/ppt/slides/slide295.xml" ContentType="application/vnd.openxmlformats-officedocument.presentationml.slide+xml"/>
  <Override PartName="/ppt/slides/slide282.xml" ContentType="application/vnd.openxmlformats-officedocument.presentationml.slide+xml"/>
  <Override PartName="/ppt/slides/slide281.xml" ContentType="application/vnd.openxmlformats-officedocument.presentationml.slide+xml"/>
  <Override PartName="/ppt/slides/slide175.xml" ContentType="application/vnd.openxmlformats-officedocument.presentationml.slide+xml"/>
  <Override PartName="/ppt/slides/slide213.xml" ContentType="application/vnd.openxmlformats-officedocument.presentationml.slide+xml"/>
  <Override PartName="/ppt/slides/slide280.xml" ContentType="application/vnd.openxmlformats-officedocument.presentationml.slide+xml"/>
  <Override PartName="/ppt/slides/slide174.xml" ContentType="application/vnd.openxmlformats-officedocument.presentationml.slide+xml"/>
  <Override PartName="/ppt/slides/slide212.xml" ContentType="application/vnd.openxmlformats-officedocument.presentationml.slide+xml"/>
  <Override PartName="/ppt/slides/slide287.xml" ContentType="application/vnd.openxmlformats-officedocument.presentationml.slide+xml"/>
  <Override PartName="/ppt/slides/slide29.xml" ContentType="application/vnd.openxmlformats-officedocument.presentationml.slide+xml"/>
  <Override PartName="/ppt/slides/slide125.xml" ContentType="application/vnd.openxmlformats-officedocument.presentationml.slide+xml"/>
  <Override PartName="/ppt/slides/slide97.xml" ContentType="application/vnd.openxmlformats-officedocument.presentationml.slide+xml"/>
  <Override PartName="/ppt/slides/slide279.xml" ContentType="application/vnd.openxmlformats-officedocument.presentationml.slide+xml"/>
  <Override PartName="/ppt/slides/slide278.xml" ContentType="application/vnd.openxmlformats-officedocument.presentationml.slide+xml"/>
  <Override PartName="/ppt/slides/slide277.xml" ContentType="application/vnd.openxmlformats-officedocument.presentationml.slide+xml"/>
  <Override PartName="/ppt/slides/slide276.xml" ContentType="application/vnd.openxmlformats-officedocument.presentationml.slide+xml"/>
  <Override PartName="/ppt/slides/slide275.xml" ContentType="application/vnd.openxmlformats-officedocument.presentationml.slide+xml"/>
  <Override PartName="/ppt/slides/slide274.xml" ContentType="application/vnd.openxmlformats-officedocument.presentationml.slide+xml"/>
  <Override PartName="/ppt/slides/slide273.xml" ContentType="application/vnd.openxmlformats-officedocument.presentationml.slide+xml"/>
  <Override PartName="/ppt/slides/slide272.xml" ContentType="application/vnd.openxmlformats-officedocument.presentationml.slide+xml"/>
  <Override PartName="/ppt/slides/slide271.xml" ContentType="application/vnd.openxmlformats-officedocument.presentationml.slide+xml"/>
  <Override PartName="/ppt/slides/slide165.xml" ContentType="application/vnd.openxmlformats-officedocument.presentationml.slide+xml"/>
  <Override PartName="/ppt/slides/slide203.xml" ContentType="application/vnd.openxmlformats-officedocument.presentationml.slide+xml"/>
  <Override PartName="/ppt/slides/slide270.xml" ContentType="application/vnd.openxmlformats-officedocument.presentationml.slide+xml"/>
  <Override PartName="/ppt/slides/slide164.xml" ContentType="application/vnd.openxmlformats-officedocument.presentationml.slide+xml"/>
  <Override PartName="/ppt/slides/slide202.xml" ContentType="application/vnd.openxmlformats-officedocument.presentationml.slide+xml"/>
  <Override PartName="/ppt/slides/slide269.xml" ContentType="application/vnd.openxmlformats-officedocument.presentationml.slide+xml"/>
  <Override PartName="/ppt/slides/slide268.xml" ContentType="application/vnd.openxmlformats-officedocument.presentationml.slide+xml"/>
  <Override PartName="/ppt/slides/slide267.xml" ContentType="application/vnd.openxmlformats-officedocument.presentationml.slide+xml"/>
  <Override PartName="/ppt/slides/slide266.xml" ContentType="application/vnd.openxmlformats-officedocument.presentationml.slide+xml"/>
  <Override PartName="/ppt/slides/slide265.xml" ContentType="application/vnd.openxmlformats-officedocument.presentationml.slide+xml"/>
  <Override PartName="/ppt/slides/slide264.xml" ContentType="application/vnd.openxmlformats-officedocument.presentationml.slide+xml"/>
  <Override PartName="/ppt/slides/slide263.xml" ContentType="application/vnd.openxmlformats-officedocument.presentationml.slide+xml"/>
  <Override PartName="/ppt/slides/slide58.xml" ContentType="application/vnd.openxmlformats-officedocument.presentationml.slide+xml"/>
  <Override PartName="/ppt/slides/slide154.xml" ContentType="application/vnd.openxmlformats-officedocument.presentationml.slide+xml"/>
  <Override PartName="/ppt/slides/slide119.xml" ContentType="application/vnd.openxmlformats-officedocument.presentationml.slide+xml"/>
  <Override PartName="/ppt/slides/slide57.xml" ContentType="application/vnd.openxmlformats-officedocument.presentationml.slide+xml"/>
  <Override PartName="/ppt/slides/slide153.xml" ContentType="application/vnd.openxmlformats-officedocument.presentationml.slide+xml"/>
  <Override PartName="/ppt/slides/slide1.xml" ContentType="application/vnd.openxmlformats-officedocument.presentationml.slide+xml"/>
  <Override PartName="/ppt/slides/slide205.xml" ContentType="application/vnd.openxmlformats-officedocument.presentationml.slide+xml"/>
  <Override PartName="/ppt/slides/slide167.xml" ContentType="application/vnd.openxmlformats-officedocument.presentationml.slide+xml"/>
  <Override PartName="/ppt/slides/slide108.xml" ContentType="application/vnd.openxmlformats-officedocument.presentationml.slide+xml"/>
  <Override PartName="/ppt/slides/slide214.xml" ContentType="application/vnd.openxmlformats-officedocument.presentationml.slide+xml"/>
  <Override PartName="/ppt/slides/slide176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243.xml" ContentType="application/vnd.openxmlformats-officedocument.presentationml.slide+xml"/>
  <Override PartName="/ppt/slides/slide109.xml" ContentType="application/vnd.openxmlformats-officedocument.presentationml.slide+xml"/>
  <Override PartName="/ppt/slides/slide215.xml" ContentType="application/vnd.openxmlformats-officedocument.presentationml.slide+xml"/>
  <Override PartName="/ppt/slides/slide177.xml" ContentType="application/vnd.openxmlformats-officedocument.presentationml.slide+xml"/>
  <Override PartName="/ppt/slides/slide3.xml" ContentType="application/vnd.openxmlformats-officedocument.presentationml.slide+xml"/>
  <Override PartName="/ppt/slides/slide47.xml" ContentType="application/vnd.openxmlformats-officedocument.presentationml.slide+xml"/>
  <Override PartName="/ppt/slides/slide309.xml" ContentType="application/vnd.openxmlformats-officedocument.presentationml.slide+xml"/>
  <Override PartName="/ppt/slides/slide143.xml" ContentType="application/vnd.openxmlformats-officedocument.presentationml.slide+xml"/>
  <Override PartName="/ppt/slides/slide8.xml" ContentType="application/vnd.openxmlformats-officedocument.presentationml.slide+xml"/>
  <Override PartName="/ppt/slides/slide244.xml" ContentType="application/vnd.openxmlformats-officedocument.presentationml.slide+xml"/>
  <Override PartName="/ppt/slides/slide4.xml" ContentType="application/vnd.openxmlformats-officedocument.presentationml.slide+xml"/>
  <Override PartName="/ppt/slides/slide240.xml" ContentType="application/vnd.openxmlformats-officedocument.presentationml.slide+xml"/>
  <Override PartName="/ppt/slides/slide48.xml" ContentType="application/vnd.openxmlformats-officedocument.presentationml.slide+xml"/>
  <Override PartName="/ppt/slides/slide144.xml" ContentType="application/vnd.openxmlformats-officedocument.presentationml.slide+xml"/>
  <Override PartName="/ppt/slides/slide9.xml" ContentType="application/vnd.openxmlformats-officedocument.presentationml.slide+xml"/>
  <Override PartName="/ppt/slides/slide245.xml" ContentType="application/vnd.openxmlformats-officedocument.presentationml.slide+xml"/>
  <Override PartName="/ppt/slides/slide44.xml" ContentType="application/vnd.openxmlformats-officedocument.presentationml.slide+xml"/>
  <Override PartName="/ppt/slides/slide306.xml" ContentType="application/vnd.openxmlformats-officedocument.presentationml.slide+xml"/>
  <Override PartName="/ppt/slides/slide140.xml" ContentType="application/vnd.openxmlformats-officedocument.presentationml.slide+xml"/>
  <Override PartName="/ppt/slides/slide5.xml" ContentType="application/vnd.openxmlformats-officedocument.presentationml.slide+xml"/>
  <Override PartName="/ppt/slides/slide241.xml" ContentType="application/vnd.openxmlformats-officedocument.presentationml.slide+xml"/>
  <Override PartName="/ppt/slides/slide49.xml" ContentType="application/vnd.openxmlformats-officedocument.presentationml.slide+xml"/>
  <Override PartName="/ppt/slides/slide145.xml" ContentType="application/vnd.openxmlformats-officedocument.presentationml.slide+xml"/>
  <Override PartName="/ppt/slides/slide6.xml" ContentType="application/vnd.openxmlformats-officedocument.presentationml.slide+xml"/>
  <Override PartName="/ppt/slides/slide242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130.xml" ContentType="application/vnd.openxmlformats-officedocument.presentationml.slide+xml"/>
  <Override PartName="/ppt/slides/slide35.xml" ContentType="application/vnd.openxmlformats-officedocument.presentationml.slide+xml"/>
  <Override PartName="/ppt/slides/slide131.xml" ContentType="application/vnd.openxmlformats-officedocument.presentationml.slide+xml"/>
  <Override PartName="/ppt/slides/slide36.xml" ContentType="application/vnd.openxmlformats-officedocument.presentationml.slide+xml"/>
  <Override PartName="/ppt/slides/slide132.xml" ContentType="application/vnd.openxmlformats-officedocument.presentationml.slide+xml"/>
  <Override PartName="/ppt/slides/slide37.xml" ContentType="application/vnd.openxmlformats-officedocument.presentationml.slide+xml"/>
  <Override PartName="/ppt/slides/slide133.xml" ContentType="application/vnd.openxmlformats-officedocument.presentationml.slide+xml"/>
  <Override PartName="/ppt/slides/slide38.xml" ContentType="application/vnd.openxmlformats-officedocument.presentationml.slide+xml"/>
  <Override PartName="/ppt/slides/slide134.xml" ContentType="application/vnd.openxmlformats-officedocument.presentationml.slide+xml"/>
  <Override PartName="/ppt/slides/slide39.xml" ContentType="application/vnd.openxmlformats-officedocument.presentationml.slide+xml"/>
  <Override PartName="/ppt/slides/slide135.xml" ContentType="application/vnd.openxmlformats-officedocument.presentationml.slide+xml"/>
  <Override PartName="/ppt/slides/slide45.xml" ContentType="application/vnd.openxmlformats-officedocument.presentationml.slide+xml"/>
  <Override PartName="/ppt/slides/slide307.xml" ContentType="application/vnd.openxmlformats-officedocument.presentationml.slide+xml"/>
  <Override PartName="/ppt/slides/slide141.xml" ContentType="application/vnd.openxmlformats-officedocument.presentationml.slide+xml"/>
  <Override PartName="/ppt/slides/slide46.xml" ContentType="application/vnd.openxmlformats-officedocument.presentationml.slide+xml"/>
  <Override PartName="/ppt/slides/slide308.xml" ContentType="application/vnd.openxmlformats-officedocument.presentationml.slide+xml"/>
  <Override PartName="/ppt/slides/slide142.xml" ContentType="application/vnd.openxmlformats-officedocument.presentationml.slide+xml"/>
  <Override PartName="/ppt/slides/slide54.xml" ContentType="application/vnd.openxmlformats-officedocument.presentationml.slide+xml"/>
  <Override PartName="/ppt/slides/slide316.xml" ContentType="application/vnd.openxmlformats-officedocument.presentationml.slide+xml"/>
  <Override PartName="/ppt/slides/slide150.xml" ContentType="application/vnd.openxmlformats-officedocument.presentationml.slide+xml"/>
  <Override PartName="/ppt/slides/slide55.xml" ContentType="application/vnd.openxmlformats-officedocument.presentationml.slide+xml"/>
  <Override PartName="/ppt/slides/slide317.xml" ContentType="application/vnd.openxmlformats-officedocument.presentationml.slide+xml"/>
  <Override PartName="/ppt/slides/slide151.xml" ContentType="application/vnd.openxmlformats-officedocument.presentationml.slide+xml"/>
  <Override PartName="/ppt/slides/slide56.xml" ContentType="application/vnd.openxmlformats-officedocument.presentationml.slide+xml"/>
  <Override PartName="/ppt/slides/slide152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0.xml" ContentType="application/vnd.openxmlformats-officedocument.presentationml.slide+xml"/>
  <Override PartName="/ppt/slides/slide138.xml" ContentType="application/vnd.openxmlformats-officedocument.presentationml.slide+xml"/>
  <Override PartName="/ppt/slides/slide11.xml" ContentType="application/vnd.openxmlformats-officedocument.presentationml.slide+xml"/>
  <Override PartName="/ppt/slides/slide139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20.xml" ContentType="application/vnd.openxmlformats-officedocument.presentationml.slide+xml"/>
  <Override PartName="/ppt/slides/slide148.xml" ContentType="application/vnd.openxmlformats-officedocument.presentationml.slide+xml"/>
  <Override PartName="/ppt/slides/slide21.xml" ContentType="application/vnd.openxmlformats-officedocument.presentationml.slide+xml"/>
  <Override PartName="/ppt/slides/slide149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30.xml" ContentType="application/vnd.openxmlformats-officedocument.presentationml.slide+xml"/>
  <Override PartName="/ppt/slides/slide158.xml" ContentType="application/vnd.openxmlformats-officedocument.presentationml.slide+xml"/>
  <Override PartName="/ppt/slides/slide31.xml" ContentType="application/vnd.openxmlformats-officedocument.presentationml.slide+xml"/>
  <Override PartName="/ppt/slides/slide159.xml" ContentType="application/vnd.openxmlformats-officedocument.presentationml.slide+xml"/>
  <Override PartName="/ppt/slides/slide162.xml" ContentType="application/vnd.openxmlformats-officedocument.presentationml.slide+xml"/>
  <Override PartName="/ppt/slides/slide200.xml" ContentType="application/vnd.openxmlformats-officedocument.presentationml.slide+xml"/>
  <Override PartName="/ppt/slides/slide163.xml" ContentType="application/vnd.openxmlformats-officedocument.presentationml.slide+xml"/>
  <Override PartName="/ppt/slides/slide201.xml" ContentType="application/vnd.openxmlformats-officedocument.presentationml.slide+xml"/>
  <Override PartName="/ppt/slides/slide204.xml" ContentType="application/vnd.openxmlformats-officedocument.presentationml.slide+xml"/>
  <Override PartName="/ppt/slides/slide166.xml" ContentType="application/vnd.openxmlformats-officedocument.presentationml.slide+xml"/>
  <Override PartName="/ppt/slides/slide206.xml" ContentType="application/vnd.openxmlformats-officedocument.presentationml.slide+xml"/>
  <Override PartName="/ppt/slides/slide168.xml" ContentType="application/vnd.openxmlformats-officedocument.presentationml.slide+xml"/>
  <Override PartName="/ppt/slides/slide40.xml" ContentType="application/vnd.openxmlformats-officedocument.presentationml.slide+xml"/>
  <Override PartName="/ppt/slides/slide207.xml" ContentType="application/vnd.openxmlformats-officedocument.presentationml.slide+xml"/>
  <Override PartName="/ppt/slides/slide169.xml" ContentType="application/vnd.openxmlformats-officedocument.presentationml.slide+xml"/>
  <Override PartName="/ppt/slides/slide41.xml" ContentType="application/vnd.openxmlformats-officedocument.presentationml.slide+xml"/>
  <Override PartName="/ppt/slides/slide208.xml" ContentType="application/vnd.openxmlformats-officedocument.presentationml.slide+xml"/>
  <Override PartName="/ppt/slides/slide42.xml" ContentType="application/vnd.openxmlformats-officedocument.presentationml.slide+xml"/>
  <Override PartName="/ppt/slides/slide209.xml" ContentType="application/vnd.openxmlformats-officedocument.presentationml.slide+xml"/>
  <Override PartName="/ppt/slides/slide43.xml" ContentType="application/vnd.openxmlformats-officedocument.presentationml.slide+xml"/>
  <Override PartName="/ppt/slides/slide172.xml" ContentType="application/vnd.openxmlformats-officedocument.presentationml.slide+xml"/>
  <Override PartName="/ppt/slides/slide210.xml" ContentType="application/vnd.openxmlformats-officedocument.presentationml.slide+xml"/>
  <Override PartName="/ppt/slides/slide173.xml" ContentType="application/vnd.openxmlformats-officedocument.presentationml.slide+xml"/>
  <Override PartName="/ppt/slides/slide211.xml" ContentType="application/vnd.openxmlformats-officedocument.presentationml.slide+xml"/>
  <Override PartName="/ppt/slides/slide216.xml" ContentType="application/vnd.openxmlformats-officedocument.presentationml.slide+xml"/>
  <Override PartName="/ppt/slides/slide50.xml" ContentType="application/vnd.openxmlformats-officedocument.presentationml.slide+xml"/>
  <Override PartName="/ppt/slides/slide178.xml" ContentType="application/vnd.openxmlformats-officedocument.presentationml.slide+xml"/>
  <Override PartName="/ppt/slides/slide217.xml" ContentType="application/vnd.openxmlformats-officedocument.presentationml.slide+xml"/>
  <Override PartName="/ppt/slides/slide51.xml" ContentType="application/vnd.openxmlformats-officedocument.presentationml.slide+xml"/>
  <Override PartName="/ppt/slides/slide179.xml" ContentType="application/vnd.openxmlformats-officedocument.presentationml.slide+xml"/>
  <Override PartName="/ppt/slides/slide218.xml" ContentType="application/vnd.openxmlformats-officedocument.presentationml.slide+xml"/>
  <Override PartName="/ppt/slides/slide52.xml" ContentType="application/vnd.openxmlformats-officedocument.presentationml.slide+xml"/>
  <Override PartName="/ppt/slides/slide219.xml" ContentType="application/vnd.openxmlformats-officedocument.presentationml.slide+xml"/>
  <Override PartName="/ppt/slides/slide53.xml" ContentType="application/vnd.openxmlformats-officedocument.presentationml.slide+xml"/>
  <Override PartName="/ppt/slides/slide182.xml" ContentType="application/vnd.openxmlformats-officedocument.presentationml.slide+xml"/>
  <Override PartName="/ppt/slides/slide220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  <p:sldId id="512" r:id="rId263"/>
    <p:sldId id="513" r:id="rId264"/>
    <p:sldId id="514" r:id="rId265"/>
    <p:sldId id="515" r:id="rId266"/>
    <p:sldId id="516" r:id="rId267"/>
    <p:sldId id="517" r:id="rId268"/>
    <p:sldId id="518" r:id="rId269"/>
    <p:sldId id="519" r:id="rId270"/>
    <p:sldId id="520" r:id="rId271"/>
    <p:sldId id="521" r:id="rId272"/>
    <p:sldId id="522" r:id="rId273"/>
    <p:sldId id="523" r:id="rId274"/>
    <p:sldId id="524" r:id="rId275"/>
    <p:sldId id="525" r:id="rId276"/>
    <p:sldId id="526" r:id="rId277"/>
    <p:sldId id="527" r:id="rId278"/>
    <p:sldId id="528" r:id="rId279"/>
    <p:sldId id="529" r:id="rId280"/>
    <p:sldId id="530" r:id="rId281"/>
    <p:sldId id="531" r:id="rId282"/>
    <p:sldId id="532" r:id="rId283"/>
    <p:sldId id="533" r:id="rId284"/>
    <p:sldId id="534" r:id="rId285"/>
    <p:sldId id="535" r:id="rId286"/>
    <p:sldId id="536" r:id="rId287"/>
    <p:sldId id="537" r:id="rId288"/>
    <p:sldId id="538" r:id="rId289"/>
    <p:sldId id="539" r:id="rId290"/>
    <p:sldId id="540" r:id="rId291"/>
    <p:sldId id="541" r:id="rId292"/>
    <p:sldId id="542" r:id="rId293"/>
    <p:sldId id="543" r:id="rId294"/>
    <p:sldId id="544" r:id="rId295"/>
    <p:sldId id="545" r:id="rId296"/>
    <p:sldId id="546" r:id="rId297"/>
    <p:sldId id="547" r:id="rId298"/>
    <p:sldId id="548" r:id="rId299"/>
    <p:sldId id="549" r:id="rId300"/>
    <p:sldId id="550" r:id="rId301"/>
    <p:sldId id="551" r:id="rId302"/>
    <p:sldId id="552" r:id="rId303"/>
    <p:sldId id="553" r:id="rId304"/>
    <p:sldId id="554" r:id="rId305"/>
    <p:sldId id="555" r:id="rId306"/>
    <p:sldId id="556" r:id="rId307"/>
    <p:sldId id="557" r:id="rId308"/>
    <p:sldId id="558" r:id="rId309"/>
    <p:sldId id="559" r:id="rId310"/>
    <p:sldId id="560" r:id="rId311"/>
    <p:sldId id="561" r:id="rId312"/>
    <p:sldId id="562" r:id="rId313"/>
    <p:sldId id="563" r:id="rId314"/>
    <p:sldId id="564" r:id="rId315"/>
    <p:sldId id="565" r:id="rId316"/>
    <p:sldId id="566" r:id="rId317"/>
    <p:sldId id="567" r:id="rId318"/>
    <p:sldId id="568" r:id="rId319"/>
    <p:sldId id="569" r:id="rId320"/>
    <p:sldId id="570" r:id="rId321"/>
    <p:sldId id="571" r:id="rId322"/>
    <p:sldId id="572" r:id="rId323"/>
  </p:sldIdLst>
  <p:sldSz cx="9144000" cy="51435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Relationship Id="rId263" Type="http://schemas.openxmlformats.org/officeDocument/2006/relationships/slide" Target="slides/slide257.xml"/><Relationship Id="rId264" Type="http://schemas.openxmlformats.org/officeDocument/2006/relationships/slide" Target="slides/slide258.xml"/><Relationship Id="rId265" Type="http://schemas.openxmlformats.org/officeDocument/2006/relationships/slide" Target="slides/slide259.xml"/><Relationship Id="rId266" Type="http://schemas.openxmlformats.org/officeDocument/2006/relationships/slide" Target="slides/slide260.xml"/><Relationship Id="rId267" Type="http://schemas.openxmlformats.org/officeDocument/2006/relationships/slide" Target="slides/slide261.xml"/><Relationship Id="rId268" Type="http://schemas.openxmlformats.org/officeDocument/2006/relationships/slide" Target="slides/slide262.xml"/><Relationship Id="rId269" Type="http://schemas.openxmlformats.org/officeDocument/2006/relationships/slide" Target="slides/slide263.xml"/><Relationship Id="rId270" Type="http://schemas.openxmlformats.org/officeDocument/2006/relationships/slide" Target="slides/slide264.xml"/><Relationship Id="rId271" Type="http://schemas.openxmlformats.org/officeDocument/2006/relationships/slide" Target="slides/slide265.xml"/><Relationship Id="rId272" Type="http://schemas.openxmlformats.org/officeDocument/2006/relationships/slide" Target="slides/slide266.xml"/><Relationship Id="rId273" Type="http://schemas.openxmlformats.org/officeDocument/2006/relationships/slide" Target="slides/slide267.xml"/><Relationship Id="rId274" Type="http://schemas.openxmlformats.org/officeDocument/2006/relationships/slide" Target="slides/slide268.xml"/><Relationship Id="rId275" Type="http://schemas.openxmlformats.org/officeDocument/2006/relationships/slide" Target="slides/slide269.xml"/><Relationship Id="rId276" Type="http://schemas.openxmlformats.org/officeDocument/2006/relationships/slide" Target="slides/slide270.xml"/><Relationship Id="rId277" Type="http://schemas.openxmlformats.org/officeDocument/2006/relationships/slide" Target="slides/slide271.xml"/><Relationship Id="rId278" Type="http://schemas.openxmlformats.org/officeDocument/2006/relationships/slide" Target="slides/slide272.xml"/><Relationship Id="rId279" Type="http://schemas.openxmlformats.org/officeDocument/2006/relationships/slide" Target="slides/slide273.xml"/><Relationship Id="rId280" Type="http://schemas.openxmlformats.org/officeDocument/2006/relationships/slide" Target="slides/slide274.xml"/><Relationship Id="rId281" Type="http://schemas.openxmlformats.org/officeDocument/2006/relationships/slide" Target="slides/slide275.xml"/><Relationship Id="rId282" Type="http://schemas.openxmlformats.org/officeDocument/2006/relationships/slide" Target="slides/slide276.xml"/><Relationship Id="rId283" Type="http://schemas.openxmlformats.org/officeDocument/2006/relationships/slide" Target="slides/slide277.xml"/><Relationship Id="rId284" Type="http://schemas.openxmlformats.org/officeDocument/2006/relationships/slide" Target="slides/slide278.xml"/><Relationship Id="rId285" Type="http://schemas.openxmlformats.org/officeDocument/2006/relationships/slide" Target="slides/slide279.xml"/><Relationship Id="rId286" Type="http://schemas.openxmlformats.org/officeDocument/2006/relationships/slide" Target="slides/slide280.xml"/><Relationship Id="rId287" Type="http://schemas.openxmlformats.org/officeDocument/2006/relationships/slide" Target="slides/slide281.xml"/><Relationship Id="rId288" Type="http://schemas.openxmlformats.org/officeDocument/2006/relationships/slide" Target="slides/slide282.xml"/><Relationship Id="rId289" Type="http://schemas.openxmlformats.org/officeDocument/2006/relationships/slide" Target="slides/slide283.xml"/><Relationship Id="rId290" Type="http://schemas.openxmlformats.org/officeDocument/2006/relationships/slide" Target="slides/slide284.xml"/><Relationship Id="rId291" Type="http://schemas.openxmlformats.org/officeDocument/2006/relationships/slide" Target="slides/slide285.xml"/><Relationship Id="rId292" Type="http://schemas.openxmlformats.org/officeDocument/2006/relationships/slide" Target="slides/slide286.xml"/><Relationship Id="rId293" Type="http://schemas.openxmlformats.org/officeDocument/2006/relationships/slide" Target="slides/slide287.xml"/><Relationship Id="rId294" Type="http://schemas.openxmlformats.org/officeDocument/2006/relationships/slide" Target="slides/slide288.xml"/><Relationship Id="rId295" Type="http://schemas.openxmlformats.org/officeDocument/2006/relationships/slide" Target="slides/slide289.xml"/><Relationship Id="rId296" Type="http://schemas.openxmlformats.org/officeDocument/2006/relationships/slide" Target="slides/slide290.xml"/><Relationship Id="rId297" Type="http://schemas.openxmlformats.org/officeDocument/2006/relationships/slide" Target="slides/slide291.xml"/><Relationship Id="rId298" Type="http://schemas.openxmlformats.org/officeDocument/2006/relationships/slide" Target="slides/slide292.xml"/><Relationship Id="rId299" Type="http://schemas.openxmlformats.org/officeDocument/2006/relationships/slide" Target="slides/slide293.xml"/><Relationship Id="rId300" Type="http://schemas.openxmlformats.org/officeDocument/2006/relationships/slide" Target="slides/slide294.xml"/><Relationship Id="rId301" Type="http://schemas.openxmlformats.org/officeDocument/2006/relationships/slide" Target="slides/slide295.xml"/><Relationship Id="rId302" Type="http://schemas.openxmlformats.org/officeDocument/2006/relationships/slide" Target="slides/slide296.xml"/><Relationship Id="rId303" Type="http://schemas.openxmlformats.org/officeDocument/2006/relationships/slide" Target="slides/slide297.xml"/><Relationship Id="rId304" Type="http://schemas.openxmlformats.org/officeDocument/2006/relationships/slide" Target="slides/slide298.xml"/><Relationship Id="rId305" Type="http://schemas.openxmlformats.org/officeDocument/2006/relationships/slide" Target="slides/slide299.xml"/><Relationship Id="rId306" Type="http://schemas.openxmlformats.org/officeDocument/2006/relationships/slide" Target="slides/slide300.xml"/><Relationship Id="rId307" Type="http://schemas.openxmlformats.org/officeDocument/2006/relationships/slide" Target="slides/slide301.xml"/><Relationship Id="rId308" Type="http://schemas.openxmlformats.org/officeDocument/2006/relationships/slide" Target="slides/slide302.xml"/><Relationship Id="rId309" Type="http://schemas.openxmlformats.org/officeDocument/2006/relationships/slide" Target="slides/slide303.xml"/><Relationship Id="rId310" Type="http://schemas.openxmlformats.org/officeDocument/2006/relationships/slide" Target="slides/slide304.xml"/><Relationship Id="rId311" Type="http://schemas.openxmlformats.org/officeDocument/2006/relationships/slide" Target="slides/slide305.xml"/><Relationship Id="rId312" Type="http://schemas.openxmlformats.org/officeDocument/2006/relationships/slide" Target="slides/slide306.xml"/><Relationship Id="rId313" Type="http://schemas.openxmlformats.org/officeDocument/2006/relationships/slide" Target="slides/slide307.xml"/><Relationship Id="rId314" Type="http://schemas.openxmlformats.org/officeDocument/2006/relationships/slide" Target="slides/slide308.xml"/><Relationship Id="rId315" Type="http://schemas.openxmlformats.org/officeDocument/2006/relationships/slide" Target="slides/slide309.xml"/><Relationship Id="rId316" Type="http://schemas.openxmlformats.org/officeDocument/2006/relationships/slide" Target="slides/slide310.xml"/><Relationship Id="rId317" Type="http://schemas.openxmlformats.org/officeDocument/2006/relationships/slide" Target="slides/slide311.xml"/><Relationship Id="rId318" Type="http://schemas.openxmlformats.org/officeDocument/2006/relationships/slide" Target="slides/slide312.xml"/><Relationship Id="rId319" Type="http://schemas.openxmlformats.org/officeDocument/2006/relationships/slide" Target="slides/slide313.xml"/><Relationship Id="rId320" Type="http://schemas.openxmlformats.org/officeDocument/2006/relationships/slide" Target="slides/slide314.xml"/><Relationship Id="rId321" Type="http://schemas.openxmlformats.org/officeDocument/2006/relationships/slide" Target="slides/slide315.xml"/><Relationship Id="rId322" Type="http://schemas.openxmlformats.org/officeDocument/2006/relationships/slide" Target="slides/slide316.xml"/><Relationship Id="rId323" Type="http://schemas.openxmlformats.org/officeDocument/2006/relationships/slide" Target="slides/slide317.xml"/><Relationship Id="rId32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DE45D45-DEA0-45FF-84E7-D2C1393F164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37F7025-A57A-47E4-8F20-ECC752E5457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22E57F1-4F3B-475D-822D-99DD76D1454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A20E649-65F4-4287-8F37-D2D22DCF6AA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39D348F-AB5B-433F-A045-30A22463404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D893675-BDCA-4EDA-AA2C-C379796737D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1D3100B-3529-4A5A-9E0B-CE5DCA0BA24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3C2CC09-B0E7-4E0C-AC19-1CDA1E77084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8FF1256-CF70-4964-8D3E-CCB24FD5DC4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E575DED-798F-4502-B525-5414104A80D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BE94818-648F-4640-B803-7C5E8DF5F30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42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B6F5643-B0A6-461D-806D-C33D417ADEF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76AE435-7A75-4D20-979B-0EFA49E7D04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2FA5DBA-0643-48BD-853A-64966B4046D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E3D9B0C-FC19-4755-B7C6-0363FD46525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E9776C2-0CB3-49BE-BE57-07F708D1291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A37931B-F2D7-497A-821A-BD2BD15784B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B1E7A46-07C8-4EF2-99A3-763D84287E9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5B1203A-0742-4CE5-B6A4-57DC2F2C80F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CE18407-B6DA-4B24-9045-73E13630A74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F446244-C7C7-4C59-9AAB-2A15F982E57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D049177-D9A9-4559-9CA9-D80159DBD38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76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77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78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1E57F73-7F65-4640-B127-4FBEED8188B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82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83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84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85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6A054C6-0F88-4DE6-8631-EFA4B8F7E4A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F454035-B537-4154-99CB-ED981C4E61E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17EEB4A-92B1-407D-B956-CC7B47E7618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6F2C7C3-08AB-44A4-ABD3-E3525DD74AB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9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F45285E-0E27-474C-AF0A-C252F4BC70C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8922C95-BEEF-4D40-9C54-EF31B6D0A11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EF10843-FA72-4742-B442-B1F488A9912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05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6C84898-6EF2-4525-BACE-7DBC00A7F13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09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D14FFE9-1111-46AF-9C9A-E41DE72B1F9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12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13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5516F87-BD2D-490E-A3C1-120913E9C55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45C3DD6-09F0-4872-B711-CC5F5F31CF4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20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21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E55B357-803C-4CE7-ACF5-461AB69D608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25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26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27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28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E91E52D-3954-4F25-BC83-BB3750192B3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832DAFB-C45C-4020-AF3A-DA5CA3981E6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7E0EF61-79DB-4712-8927-319FDF9DE4D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C70DDCE-FCE4-4A3D-B86A-00B0F706F48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141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42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8FA7E70-74BF-4003-A18D-3F780EAEFEB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C5014BC-4787-4310-9B19-1A552C40C8C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05FF8FA-4025-4E12-823D-70D8129C835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EEC1368-4780-4C61-8DF2-D593E91BEB1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52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FDC58B9-D3A2-4D21-943A-A8BA072F7A8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15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55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56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D7AAE11-4B53-4FDF-888C-BEAAACECF8A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B8E8995-AA26-4E6F-9E0A-0CA47B1C68C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161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62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63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64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2266139-2C5A-45BB-BD5A-92F114ABB76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67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68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69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70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71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292C629-3CBA-4910-A176-5C2DD7FA7CE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C67155B4-1F87-472D-9E90-613C7E99FF2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B80AE4F2-8409-49FF-848D-906DD783FC6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18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3CDDE137-7F3B-4A9D-BA22-F8895B6E4BF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645985FE-B06A-41FB-8233-EA30ED4757B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52A80BC-3819-4834-BD76-0323872979F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FE9DC54-A360-42D2-836E-99E6A68F06B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19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94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95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16A71817-A8FD-414A-A7ED-FA85F76AC26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19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9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199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177CAB1-8E15-4B7C-9404-4B73A8721D1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201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202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203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E31694C-9547-430D-920C-79868BE5621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20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206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6E4BE05E-97E7-47DE-BF83-B8A9CA9AF90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20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20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210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211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B650E1E-8D6E-4D30-940C-BC12AFC1267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fr-FR" sz="4400" spc="-1" strike="noStrike"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214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215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216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217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218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fr-FR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5257087B-694F-48A8-B321-E2EFC5CC6ED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slideLayout" Target="../slideLayouts/slideLayout1.xml"/><Relationship Id="rId5" Type="http://schemas.openxmlformats.org/officeDocument/2006/relationships/slideLayout" Target="../slideLayouts/slideLayout2.xml"/><Relationship Id="rId6" Type="http://schemas.openxmlformats.org/officeDocument/2006/relationships/slideLayout" Target="../slideLayouts/slideLayout3.xml"/><Relationship Id="rId7" Type="http://schemas.openxmlformats.org/officeDocument/2006/relationships/slideLayout" Target="../slideLayouts/slideLayout4.xml"/><Relationship Id="rId8" Type="http://schemas.openxmlformats.org/officeDocument/2006/relationships/slideLayout" Target="../slideLayouts/slideLayout5.xml"/><Relationship Id="rId9" Type="http://schemas.openxmlformats.org/officeDocument/2006/relationships/slideLayout" Target="../slideLayouts/slideLayout6.xml"/><Relationship Id="rId10" Type="http://schemas.openxmlformats.org/officeDocument/2006/relationships/slideLayout" Target="../slideLayouts/slideLayout7.xml"/><Relationship Id="rId11" Type="http://schemas.openxmlformats.org/officeDocument/2006/relationships/slideLayout" Target="../slideLayouts/slideLayout8.xml"/><Relationship Id="rId12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1.xml"/><Relationship Id="rId15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6.xml"/><Relationship Id="rId8" Type="http://schemas.openxmlformats.org/officeDocument/2006/relationships/slideLayout" Target="../slideLayouts/slideLayout17.xml"/><Relationship Id="rId9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3.xml"/><Relationship Id="rId15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6.xml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<Relationship Id="rId8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2.xml"/><Relationship Id="rId12" Type="http://schemas.openxmlformats.org/officeDocument/2006/relationships/slideLayout" Target="../slideLayouts/slideLayout33.xml"/><Relationship Id="rId13" Type="http://schemas.openxmlformats.org/officeDocument/2006/relationships/slideLayout" Target="../slideLayouts/slideLayout34.xml"/><Relationship Id="rId14" Type="http://schemas.openxmlformats.org/officeDocument/2006/relationships/slideLayout" Target="../slideLayouts/slideLayout35.xml"/><Relationship Id="rId15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9" Type="http://schemas.openxmlformats.org/officeDocument/2006/relationships/slideLayout" Target="../slideLayouts/slideLayout42.xml"/><Relationship Id="rId10" Type="http://schemas.openxmlformats.org/officeDocument/2006/relationships/slideLayout" Target="../slideLayouts/slideLayout43.xml"/><Relationship Id="rId11" Type="http://schemas.openxmlformats.org/officeDocument/2006/relationships/slideLayout" Target="../slideLayouts/slideLayout44.xml"/><Relationship Id="rId12" Type="http://schemas.openxmlformats.org/officeDocument/2006/relationships/slideLayout" Target="../slideLayouts/slideLayout45.xml"/><Relationship Id="rId13" Type="http://schemas.openxmlformats.org/officeDocument/2006/relationships/slideLayout" Target="../slideLayouts/slideLayout46.xml"/><Relationship Id="rId14" Type="http://schemas.openxmlformats.org/officeDocument/2006/relationships/slideLayout" Target="../slideLayouts/slideLayout47.xml"/><Relationship Id="rId15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jpe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slideLayout" Target="../slideLayouts/slideLayout49.xml"/><Relationship Id="rId8" Type="http://schemas.openxmlformats.org/officeDocument/2006/relationships/slideLayout" Target="../slideLayouts/slideLayout50.xml"/><Relationship Id="rId9" Type="http://schemas.openxmlformats.org/officeDocument/2006/relationships/slideLayout" Target="../slideLayouts/slideLayout51.xml"/><Relationship Id="rId10" Type="http://schemas.openxmlformats.org/officeDocument/2006/relationships/slideLayout" Target="../slideLayouts/slideLayout52.xml"/><Relationship Id="rId11" Type="http://schemas.openxmlformats.org/officeDocument/2006/relationships/slideLayout" Target="../slideLayouts/slideLayout53.xml"/><Relationship Id="rId12" Type="http://schemas.openxmlformats.org/officeDocument/2006/relationships/slideLayout" Target="../slideLayouts/slideLayout54.xml"/><Relationship Id="rId13" Type="http://schemas.openxmlformats.org/officeDocument/2006/relationships/slideLayout" Target="../slideLayouts/slideLayout55.xml"/><Relationship Id="rId14" Type="http://schemas.openxmlformats.org/officeDocument/2006/relationships/slideLayout" Target="../slideLayouts/slideLayout56.xml"/><Relationship Id="rId15" Type="http://schemas.openxmlformats.org/officeDocument/2006/relationships/slideLayout" Target="../slideLayouts/slideLayout57.xml"/><Relationship Id="rId16" Type="http://schemas.openxmlformats.org/officeDocument/2006/relationships/slideLayout" Target="../slideLayouts/slideLayout58.xml"/><Relationship Id="rId17" Type="http://schemas.openxmlformats.org/officeDocument/2006/relationships/slideLayout" Target="../slideLayouts/slideLayout59.xml"/><Relationship Id="rId18" Type="http://schemas.openxmlformats.org/officeDocument/2006/relationships/slideLayout" Target="../slideLayouts/slideLayout60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bg object 16" descr=""/>
          <p:cNvPicPr/>
          <p:nvPr/>
        </p:nvPicPr>
        <p:blipFill>
          <a:blip r:embed="rId2"/>
          <a:stretch/>
        </p:blipFill>
        <p:spPr>
          <a:xfrm>
            <a:off x="8463960" y="4493160"/>
            <a:ext cx="408240" cy="328320"/>
          </a:xfrm>
          <a:prstGeom prst="rect">
            <a:avLst/>
          </a:prstGeom>
          <a:ln w="0">
            <a:noFill/>
          </a:ln>
        </p:spPr>
      </p:pic>
      <p:pic>
        <p:nvPicPr>
          <p:cNvPr id="1" name="bg object 17" descr=""/>
          <p:cNvPicPr/>
          <p:nvPr/>
        </p:nvPicPr>
        <p:blipFill>
          <a:blip r:embed="rId3"/>
          <a:stretch/>
        </p:blipFill>
        <p:spPr>
          <a:xfrm>
            <a:off x="397440" y="254160"/>
            <a:ext cx="1425240" cy="36720"/>
          </a:xfrm>
          <a:prstGeom prst="rect">
            <a:avLst/>
          </a:prstGeom>
          <a:ln w="0">
            <a:noFill/>
          </a:ln>
        </p:spPr>
      </p:pic>
      <p:sp>
        <p:nvSpPr>
          <p:cNvPr id="2" name="PlaceHolder 1"/>
          <p:cNvSpPr>
            <a:spLocks noGrp="1"/>
          </p:cNvSpPr>
          <p:nvPr>
            <p:ph type="ftr" idx="1"/>
          </p:nvPr>
        </p:nvSpPr>
        <p:spPr>
          <a:xfrm>
            <a:off x="3108960" y="4783320"/>
            <a:ext cx="2917080" cy="24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ctr">
              <a:lnSpc>
                <a:spcPct val="100000"/>
              </a:lnSpc>
              <a:buNone/>
              <a:defRPr b="0" lang="fr-FR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fr-FR" sz="1400" spc="-1" strike="noStrike">
                <a:latin typeface="Times New Roman"/>
              </a:rPr>
              <a:t>&lt;pied de page&gt;</a:t>
            </a:r>
            <a:endParaRPr b="0" lang="fr-FR" sz="1400" spc="-1" strike="noStrike"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>
          <a:xfrm>
            <a:off x="6583680" y="4783320"/>
            <a:ext cx="2094120" cy="24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lnSpc>
                <a:spcPct val="100000"/>
              </a:lnSpc>
              <a:buNone/>
              <a:defRPr b="0" lang="fr-FR" sz="1400" spc="-1" strike="noStrike">
                <a:solidFill>
                  <a:srgbClr val="b2b2b2"/>
                </a:solidFill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3F977ED-2123-487D-8CFB-E49E06E66EAD}" type="slidenum">
              <a:rPr b="0" lang="fr-FR" sz="1400" spc="-1" strike="noStrike">
                <a:solidFill>
                  <a:srgbClr val="b2b2b2"/>
                </a:solidFill>
                <a:latin typeface="Times New Roman"/>
              </a:rPr>
              <a:t>&lt;numéro&gt;</a:t>
            </a:fld>
            <a:endParaRPr b="0" lang="fr-FR" sz="1400" spc="-1" strike="noStrike"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>
          <a:xfrm>
            <a:off x="457200" y="4783320"/>
            <a:ext cx="2094120" cy="24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>
              <a:defRPr b="0" lang="fr-FR" sz="1400" spc="-1" strike="noStrike">
                <a:latin typeface="Times New Roman"/>
              </a:defRPr>
            </a:lvl1pPr>
          </a:lstStyle>
          <a:p>
            <a:r>
              <a:rPr b="0" lang="fr-FR" sz="1400" spc="-1" strike="noStrike">
                <a:latin typeface="Times New Roman"/>
              </a:rPr>
              <a:t>&lt;date/heure&gt;</a:t>
            </a:r>
            <a:endParaRPr b="0" lang="fr-FR" sz="1400" spc="-1" strike="noStrike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fr-FR" sz="4400" spc="-1" strike="noStrike">
                <a:latin typeface="Arial"/>
              </a:rPr>
              <a:t>C</a:t>
            </a:r>
            <a:r>
              <a:rPr b="0" lang="fr-FR" sz="4400" spc="-1" strike="noStrike">
                <a:latin typeface="Arial"/>
              </a:rPr>
              <a:t>li</a:t>
            </a:r>
            <a:r>
              <a:rPr b="0" lang="fr-FR" sz="4400" spc="-1" strike="noStrike">
                <a:latin typeface="Arial"/>
              </a:rPr>
              <a:t>q</a:t>
            </a:r>
            <a:r>
              <a:rPr b="0" lang="fr-FR" sz="4400" spc="-1" strike="noStrike">
                <a:latin typeface="Arial"/>
              </a:rPr>
              <a:t>u</a:t>
            </a:r>
            <a:r>
              <a:rPr b="0" lang="fr-FR" sz="4400" spc="-1" strike="noStrike">
                <a:latin typeface="Arial"/>
              </a:rPr>
              <a:t>e</a:t>
            </a:r>
            <a:r>
              <a:rPr b="0" lang="fr-FR" sz="4400" spc="-1" strike="noStrike">
                <a:latin typeface="Arial"/>
              </a:rPr>
              <a:t>z</a:t>
            </a:r>
            <a:r>
              <a:rPr b="0" lang="fr-FR" sz="4400" spc="-1" strike="noStrike">
                <a:latin typeface="Arial"/>
              </a:rPr>
              <a:t> </a:t>
            </a:r>
            <a:r>
              <a:rPr b="0" lang="fr-FR" sz="4400" spc="-1" strike="noStrike">
                <a:latin typeface="Arial"/>
              </a:rPr>
              <a:t>p</a:t>
            </a:r>
            <a:r>
              <a:rPr b="0" lang="fr-FR" sz="4400" spc="-1" strike="noStrike">
                <a:latin typeface="Arial"/>
              </a:rPr>
              <a:t>o</a:t>
            </a:r>
            <a:r>
              <a:rPr b="0" lang="fr-FR" sz="4400" spc="-1" strike="noStrike">
                <a:latin typeface="Arial"/>
              </a:rPr>
              <a:t>u</a:t>
            </a:r>
            <a:r>
              <a:rPr b="0" lang="fr-FR" sz="4400" spc="-1" strike="noStrike">
                <a:latin typeface="Arial"/>
              </a:rPr>
              <a:t>r </a:t>
            </a:r>
            <a:r>
              <a:rPr b="0" lang="fr-FR" sz="4400" spc="-1" strike="noStrike">
                <a:latin typeface="Arial"/>
              </a:rPr>
              <a:t>é</a:t>
            </a:r>
            <a:r>
              <a:rPr b="0" lang="fr-FR" sz="4400" spc="-1" strike="noStrike">
                <a:latin typeface="Arial"/>
              </a:rPr>
              <a:t>d</a:t>
            </a:r>
            <a:r>
              <a:rPr b="0" lang="fr-FR" sz="4400" spc="-1" strike="noStrike">
                <a:latin typeface="Arial"/>
              </a:rPr>
              <a:t>i</a:t>
            </a:r>
            <a:r>
              <a:rPr b="0" lang="fr-FR" sz="4400" spc="-1" strike="noStrike">
                <a:latin typeface="Arial"/>
              </a:rPr>
              <a:t>t</a:t>
            </a:r>
            <a:r>
              <a:rPr b="0" lang="fr-FR" sz="4400" spc="-1" strike="noStrike">
                <a:latin typeface="Arial"/>
              </a:rPr>
              <a:t>e</a:t>
            </a:r>
            <a:r>
              <a:rPr b="0" lang="fr-FR" sz="4400" spc="-1" strike="noStrike">
                <a:latin typeface="Arial"/>
              </a:rPr>
              <a:t>r </a:t>
            </a:r>
            <a:r>
              <a:rPr b="0" lang="fr-FR" sz="4400" spc="-1" strike="noStrike">
                <a:latin typeface="Arial"/>
              </a:rPr>
              <a:t>l</a:t>
            </a:r>
            <a:r>
              <a:rPr b="0" lang="fr-FR" sz="4400" spc="-1" strike="noStrike">
                <a:latin typeface="Arial"/>
              </a:rPr>
              <a:t>e</a:t>
            </a:r>
            <a:r>
              <a:rPr b="0" lang="fr-FR" sz="4400" spc="-1" strike="noStrike">
                <a:latin typeface="Arial"/>
              </a:rPr>
              <a:t> </a:t>
            </a:r>
            <a:r>
              <a:rPr b="0" lang="fr-FR" sz="4400" spc="-1" strike="noStrike">
                <a:latin typeface="Arial"/>
              </a:rPr>
              <a:t>f</a:t>
            </a:r>
            <a:r>
              <a:rPr b="0" lang="fr-FR" sz="4400" spc="-1" strike="noStrike">
                <a:latin typeface="Arial"/>
              </a:rPr>
              <a:t>o</a:t>
            </a:r>
            <a:r>
              <a:rPr b="0" lang="fr-FR" sz="4400" spc="-1" strike="noStrike">
                <a:latin typeface="Arial"/>
              </a:rPr>
              <a:t>r</a:t>
            </a:r>
            <a:r>
              <a:rPr b="0" lang="fr-FR" sz="4400" spc="-1" strike="noStrike">
                <a:latin typeface="Arial"/>
              </a:rPr>
              <a:t>m</a:t>
            </a:r>
            <a:r>
              <a:rPr b="0" lang="fr-FR" sz="4400" spc="-1" strike="noStrike">
                <a:latin typeface="Arial"/>
              </a:rPr>
              <a:t>a</a:t>
            </a:r>
            <a:r>
              <a:rPr b="0" lang="fr-FR" sz="4400" spc="-1" strike="noStrike">
                <a:latin typeface="Arial"/>
              </a:rPr>
              <a:t>t </a:t>
            </a:r>
            <a:r>
              <a:rPr b="0" lang="fr-FR" sz="4400" spc="-1" strike="noStrike">
                <a:latin typeface="Arial"/>
              </a:rPr>
              <a:t>d</a:t>
            </a:r>
            <a:r>
              <a:rPr b="0" lang="fr-FR" sz="4400" spc="-1" strike="noStrike">
                <a:latin typeface="Arial"/>
              </a:rPr>
              <a:t>u</a:t>
            </a:r>
            <a:r>
              <a:rPr b="0" lang="fr-FR" sz="4400" spc="-1" strike="noStrike">
                <a:latin typeface="Arial"/>
              </a:rPr>
              <a:t> </a:t>
            </a:r>
            <a:r>
              <a:rPr b="0" lang="fr-FR" sz="4400" spc="-1" strike="noStrike">
                <a:latin typeface="Arial"/>
              </a:rPr>
              <a:t>t</a:t>
            </a:r>
            <a:r>
              <a:rPr b="0" lang="fr-FR" sz="4400" spc="-1" strike="noStrike">
                <a:latin typeface="Arial"/>
              </a:rPr>
              <a:t>e</a:t>
            </a:r>
            <a:r>
              <a:rPr b="0" lang="fr-FR" sz="4400" spc="-1" strike="noStrike">
                <a:latin typeface="Arial"/>
              </a:rPr>
              <a:t>x</a:t>
            </a:r>
            <a:r>
              <a:rPr b="0" lang="fr-FR" sz="4400" spc="-1" strike="noStrike">
                <a:latin typeface="Arial"/>
              </a:rPr>
              <a:t>t</a:t>
            </a:r>
            <a:r>
              <a:rPr b="0" lang="fr-FR" sz="4400" spc="-1" strike="noStrike">
                <a:latin typeface="Arial"/>
              </a:rPr>
              <a:t>e</a:t>
            </a:r>
            <a:r>
              <a:rPr b="0" lang="fr-FR" sz="4400" spc="-1" strike="noStrike">
                <a:latin typeface="Arial"/>
              </a:rPr>
              <a:t>-</a:t>
            </a:r>
            <a:r>
              <a:rPr b="0" lang="fr-FR" sz="4400" spc="-1" strike="noStrike">
                <a:latin typeface="Arial"/>
              </a:rPr>
              <a:t>t</a:t>
            </a:r>
            <a:r>
              <a:rPr b="0" lang="fr-FR" sz="4400" spc="-1" strike="noStrike">
                <a:latin typeface="Arial"/>
              </a:rPr>
              <a:t>i</a:t>
            </a:r>
            <a:r>
              <a:rPr b="0" lang="fr-FR" sz="4400" spc="-1" strike="noStrike">
                <a:latin typeface="Arial"/>
              </a:rPr>
              <a:t>t</a:t>
            </a:r>
            <a:r>
              <a:rPr b="0" lang="fr-FR" sz="4400" spc="-1" strike="noStrike">
                <a:latin typeface="Arial"/>
              </a:rPr>
              <a:t>r</a:t>
            </a:r>
            <a:r>
              <a:rPr b="0" lang="fr-FR" sz="4400" spc="-1" strike="noStrike">
                <a:latin typeface="Arial"/>
              </a:rPr>
              <a:t>e</a:t>
            </a:r>
            <a:endParaRPr b="0" lang="fr-FR" sz="44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6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latin typeface="Arial"/>
              </a:rPr>
              <a:t>Cliquez pour éditer </a:t>
            </a:r>
            <a:r>
              <a:rPr b="0" lang="fr-FR" sz="3200" spc="-1" strike="noStrike">
                <a:latin typeface="Arial"/>
              </a:rPr>
              <a:t>le format du plan de </a:t>
            </a:r>
            <a:r>
              <a:rPr b="0" lang="fr-FR" sz="3200" spc="-1" strike="noStrike">
                <a:latin typeface="Arial"/>
              </a:rPr>
              <a:t>texte</a:t>
            </a:r>
            <a:endParaRPr b="0" lang="fr-FR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latin typeface="Arial"/>
              </a:rPr>
              <a:t>Second niveau de </a:t>
            </a:r>
            <a:r>
              <a:rPr b="0" lang="fr-FR" sz="2800" spc="-1" strike="noStrike">
                <a:latin typeface="Arial"/>
              </a:rPr>
              <a:t>plan</a:t>
            </a:r>
            <a:endParaRPr b="0" lang="fr-FR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latin typeface="Arial"/>
              </a:rPr>
              <a:t>Troisième niveau de </a:t>
            </a:r>
            <a:r>
              <a:rPr b="0" lang="fr-FR" sz="2400" spc="-1" strike="noStrike">
                <a:latin typeface="Arial"/>
              </a:rPr>
              <a:t>plan</a:t>
            </a:r>
            <a:endParaRPr b="0" lang="fr-FR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latin typeface="Arial"/>
              </a:rPr>
              <a:t>Quatrième niveau de </a:t>
            </a:r>
            <a:r>
              <a:rPr b="0" lang="fr-FR" sz="2000" spc="-1" strike="noStrike">
                <a:latin typeface="Arial"/>
              </a:rPr>
              <a:t>plan</a:t>
            </a:r>
            <a:endParaRPr b="0" lang="fr-FR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latin typeface="Arial"/>
              </a:rPr>
              <a:t>Cinquième </a:t>
            </a:r>
            <a:r>
              <a:rPr b="0" lang="fr-FR" sz="2000" spc="-1" strike="noStrike">
                <a:latin typeface="Arial"/>
              </a:rPr>
              <a:t>niveau de plan</a:t>
            </a:r>
            <a:endParaRPr b="0" lang="fr-FR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latin typeface="Arial"/>
              </a:rPr>
              <a:t>Sixième </a:t>
            </a:r>
            <a:r>
              <a:rPr b="0" lang="fr-FR" sz="2000" spc="-1" strike="noStrike">
                <a:latin typeface="Arial"/>
              </a:rPr>
              <a:t>niveau de </a:t>
            </a:r>
            <a:r>
              <a:rPr b="0" lang="fr-FR" sz="2000" spc="-1" strike="noStrike">
                <a:latin typeface="Arial"/>
              </a:rPr>
              <a:t>plan</a:t>
            </a:r>
            <a:endParaRPr b="0" lang="fr-FR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latin typeface="Arial"/>
              </a:rPr>
              <a:t>Septième </a:t>
            </a:r>
            <a:r>
              <a:rPr b="0" lang="fr-FR" sz="2000" spc="-1" strike="noStrike">
                <a:latin typeface="Arial"/>
              </a:rPr>
              <a:t>niveau </a:t>
            </a:r>
            <a:r>
              <a:rPr b="0" lang="fr-FR" sz="2000" spc="-1" strike="noStrike">
                <a:latin typeface="Arial"/>
              </a:rPr>
              <a:t>de plan</a:t>
            </a:r>
            <a:endParaRPr b="0" lang="fr-FR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  <p:sldLayoutId id="2147483660" r:id="rId15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bg object 16" descr=""/>
          <p:cNvPicPr/>
          <p:nvPr/>
        </p:nvPicPr>
        <p:blipFill>
          <a:blip r:embed="rId2"/>
          <a:stretch/>
        </p:blipFill>
        <p:spPr>
          <a:xfrm>
            <a:off x="8714160" y="146160"/>
            <a:ext cx="284400" cy="229680"/>
          </a:xfrm>
          <a:prstGeom prst="rect">
            <a:avLst/>
          </a:prstGeom>
          <a:ln w="0">
            <a:noFill/>
          </a:ln>
        </p:spPr>
      </p:pic>
      <p:pic>
        <p:nvPicPr>
          <p:cNvPr id="44" name="bg object 17" descr=""/>
          <p:cNvPicPr/>
          <p:nvPr/>
        </p:nvPicPr>
        <p:blipFill>
          <a:blip r:embed="rId3"/>
          <a:stretch/>
        </p:blipFill>
        <p:spPr>
          <a:xfrm>
            <a:off x="511200" y="227520"/>
            <a:ext cx="1269720" cy="112320"/>
          </a:xfrm>
          <a:prstGeom prst="rect">
            <a:avLst/>
          </a:prstGeom>
          <a:ln w="0">
            <a:noFill/>
          </a:ln>
        </p:spPr>
      </p:pic>
      <p:sp>
        <p:nvSpPr>
          <p:cNvPr id="45" name="PlaceHolder 1"/>
          <p:cNvSpPr>
            <a:spLocks noGrp="1"/>
          </p:cNvSpPr>
          <p:nvPr>
            <p:ph type="ftr" idx="4"/>
          </p:nvPr>
        </p:nvSpPr>
        <p:spPr>
          <a:xfrm>
            <a:off x="3108960" y="4783320"/>
            <a:ext cx="2922840" cy="253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ctr">
              <a:lnSpc>
                <a:spcPct val="100000"/>
              </a:lnSpc>
              <a:buNone/>
              <a:defRPr b="0" lang="fr-FR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fr-FR" sz="1400" spc="-1" strike="noStrike">
                <a:latin typeface="Times New Roman"/>
              </a:rPr>
              <a:t>&lt;pied de page&gt;</a:t>
            </a:r>
            <a:endParaRPr b="0" lang="fr-FR" sz="1400" spc="-1" strike="noStrike">
              <a:latin typeface="Times New Roman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sldNum" idx="5"/>
          </p:nvPr>
        </p:nvSpPr>
        <p:spPr>
          <a:xfrm>
            <a:off x="8701560" y="4908600"/>
            <a:ext cx="261720" cy="164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47F139F1-DA17-4F24-B743-8DA0EA5917FF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dt" idx="6"/>
          </p:nvPr>
        </p:nvSpPr>
        <p:spPr>
          <a:xfrm>
            <a:off x="457200" y="4783320"/>
            <a:ext cx="2099880" cy="253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>
              <a:defRPr b="0" lang="fr-FR" sz="1400" spc="-1" strike="noStrike">
                <a:latin typeface="Times New Roman"/>
              </a:defRPr>
            </a:lvl1pPr>
          </a:lstStyle>
          <a:p>
            <a:r>
              <a:rPr b="0" lang="fr-FR" sz="1400" spc="-1" strike="noStrike">
                <a:latin typeface="Times New Roman"/>
              </a:rPr>
              <a:t>&lt;date/heure&gt;</a:t>
            </a:r>
            <a:endParaRPr b="0" lang="fr-FR" sz="1400" spc="-1" strike="noStrike"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fr-FR" sz="4400" spc="-1" strike="noStrike">
                <a:latin typeface="Arial"/>
              </a:rPr>
              <a:t>Cli</a:t>
            </a:r>
            <a:r>
              <a:rPr b="0" lang="fr-FR" sz="4400" spc="-1" strike="noStrike">
                <a:latin typeface="Arial"/>
              </a:rPr>
              <a:t>qu</a:t>
            </a:r>
            <a:r>
              <a:rPr b="0" lang="fr-FR" sz="4400" spc="-1" strike="noStrike">
                <a:latin typeface="Arial"/>
              </a:rPr>
              <a:t>ez </a:t>
            </a:r>
            <a:r>
              <a:rPr b="0" lang="fr-FR" sz="4400" spc="-1" strike="noStrike">
                <a:latin typeface="Arial"/>
              </a:rPr>
              <a:t>po</a:t>
            </a:r>
            <a:r>
              <a:rPr b="0" lang="fr-FR" sz="4400" spc="-1" strike="noStrike">
                <a:latin typeface="Arial"/>
              </a:rPr>
              <a:t>ur </a:t>
            </a:r>
            <a:r>
              <a:rPr b="0" lang="fr-FR" sz="4400" spc="-1" strike="noStrike">
                <a:latin typeface="Arial"/>
              </a:rPr>
              <a:t>éd</a:t>
            </a:r>
            <a:r>
              <a:rPr b="0" lang="fr-FR" sz="4400" spc="-1" strike="noStrike">
                <a:latin typeface="Arial"/>
              </a:rPr>
              <a:t>ite</a:t>
            </a:r>
            <a:r>
              <a:rPr b="0" lang="fr-FR" sz="4400" spc="-1" strike="noStrike">
                <a:latin typeface="Arial"/>
              </a:rPr>
              <a:t>r </a:t>
            </a:r>
            <a:r>
              <a:rPr b="0" lang="fr-FR" sz="4400" spc="-1" strike="noStrike">
                <a:latin typeface="Arial"/>
              </a:rPr>
              <a:t>le </a:t>
            </a:r>
            <a:r>
              <a:rPr b="0" lang="fr-FR" sz="4400" spc="-1" strike="noStrike">
                <a:latin typeface="Arial"/>
              </a:rPr>
              <a:t>for</a:t>
            </a:r>
            <a:r>
              <a:rPr b="0" lang="fr-FR" sz="4400" spc="-1" strike="noStrike">
                <a:latin typeface="Arial"/>
              </a:rPr>
              <a:t>m</a:t>
            </a:r>
            <a:r>
              <a:rPr b="0" lang="fr-FR" sz="4400" spc="-1" strike="noStrike">
                <a:latin typeface="Arial"/>
              </a:rPr>
              <a:t>at </a:t>
            </a:r>
            <a:r>
              <a:rPr b="0" lang="fr-FR" sz="4400" spc="-1" strike="noStrike">
                <a:latin typeface="Arial"/>
              </a:rPr>
              <a:t>du </a:t>
            </a:r>
            <a:r>
              <a:rPr b="0" lang="fr-FR" sz="4400" spc="-1" strike="noStrike">
                <a:latin typeface="Arial"/>
              </a:rPr>
              <a:t>te</a:t>
            </a:r>
            <a:r>
              <a:rPr b="0" lang="fr-FR" sz="4400" spc="-1" strike="noStrike">
                <a:latin typeface="Arial"/>
              </a:rPr>
              <a:t>xt</a:t>
            </a:r>
            <a:r>
              <a:rPr b="0" lang="fr-FR" sz="4400" spc="-1" strike="noStrike">
                <a:latin typeface="Arial"/>
              </a:rPr>
              <a:t>e-</a:t>
            </a:r>
            <a:r>
              <a:rPr b="0" lang="fr-FR" sz="4400" spc="-1" strike="noStrike">
                <a:latin typeface="Arial"/>
              </a:rPr>
              <a:t>titr</a:t>
            </a:r>
            <a:r>
              <a:rPr b="0" lang="fr-FR" sz="4400" spc="-1" strike="noStrike">
                <a:latin typeface="Arial"/>
              </a:rPr>
              <a:t>e</a:t>
            </a:r>
            <a:endParaRPr b="0" lang="fr-FR" sz="4400" spc="-1" strike="noStrike">
              <a:latin typeface="Arial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6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latin typeface="Arial"/>
              </a:rPr>
              <a:t>Cliquez pour éditer le format du plan de texte</a:t>
            </a:r>
            <a:endParaRPr b="0" lang="fr-FR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latin typeface="Arial"/>
              </a:rPr>
              <a:t>Second niveau de plan</a:t>
            </a:r>
            <a:endParaRPr b="0" lang="fr-FR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latin typeface="Arial"/>
              </a:rPr>
              <a:t>Troisième niveau de plan</a:t>
            </a:r>
            <a:endParaRPr b="0" lang="fr-FR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latin typeface="Arial"/>
              </a:rPr>
              <a:t>Quatrième niveau de plan</a:t>
            </a:r>
            <a:endParaRPr b="0" lang="fr-FR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latin typeface="Arial"/>
              </a:rPr>
              <a:t>Cinquième niveau de plan</a:t>
            </a:r>
            <a:endParaRPr b="0" lang="fr-FR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latin typeface="Arial"/>
              </a:rPr>
              <a:t>Sixième niveau de plan</a:t>
            </a:r>
            <a:endParaRPr b="0" lang="fr-FR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latin typeface="Arial"/>
              </a:rPr>
              <a:t>Septième niveau de plan</a:t>
            </a:r>
            <a:endParaRPr b="0" lang="fr-FR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bg object 16" descr=""/>
          <p:cNvPicPr/>
          <p:nvPr/>
        </p:nvPicPr>
        <p:blipFill>
          <a:blip r:embed="rId2"/>
          <a:stretch/>
        </p:blipFill>
        <p:spPr>
          <a:xfrm>
            <a:off x="8714160" y="146160"/>
            <a:ext cx="284400" cy="229680"/>
          </a:xfrm>
          <a:prstGeom prst="rect">
            <a:avLst/>
          </a:prstGeom>
          <a:ln w="0">
            <a:noFill/>
          </a:ln>
        </p:spPr>
      </p:pic>
      <p:pic>
        <p:nvPicPr>
          <p:cNvPr id="87" name="bg object 17" descr=""/>
          <p:cNvPicPr/>
          <p:nvPr/>
        </p:nvPicPr>
        <p:blipFill>
          <a:blip r:embed="rId3"/>
          <a:stretch/>
        </p:blipFill>
        <p:spPr>
          <a:xfrm>
            <a:off x="511200" y="227520"/>
            <a:ext cx="1269720" cy="112320"/>
          </a:xfrm>
          <a:prstGeom prst="rect">
            <a:avLst/>
          </a:prstGeom>
          <a:ln w="0">
            <a:noFill/>
          </a:ln>
        </p:spPr>
      </p:pic>
      <p:sp>
        <p:nvSpPr>
          <p:cNvPr id="88" name="PlaceHolder 1"/>
          <p:cNvSpPr>
            <a:spLocks noGrp="1"/>
          </p:cNvSpPr>
          <p:nvPr>
            <p:ph type="ftr" idx="7"/>
          </p:nvPr>
        </p:nvSpPr>
        <p:spPr>
          <a:xfrm>
            <a:off x="3108960" y="4783320"/>
            <a:ext cx="2922840" cy="253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ctr">
              <a:lnSpc>
                <a:spcPct val="100000"/>
              </a:lnSpc>
              <a:buNone/>
              <a:defRPr b="0" lang="fr-FR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fr-FR" sz="1400" spc="-1" strike="noStrike">
                <a:latin typeface="Times New Roman"/>
              </a:rPr>
              <a:t>&lt;pied de page&gt;</a:t>
            </a:r>
            <a:endParaRPr b="0" lang="fr-FR" sz="1400" spc="-1" strike="noStrike">
              <a:latin typeface="Times New Roman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sldNum" idx="8"/>
          </p:nvPr>
        </p:nvSpPr>
        <p:spPr>
          <a:xfrm>
            <a:off x="8701560" y="4908600"/>
            <a:ext cx="261720" cy="164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6BE8AB71-F1C7-4FA2-B6BF-F9FFBD7E64CF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dt" idx="9"/>
          </p:nvPr>
        </p:nvSpPr>
        <p:spPr>
          <a:xfrm>
            <a:off x="457200" y="4783320"/>
            <a:ext cx="2099880" cy="253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>
              <a:defRPr b="0" lang="fr-FR" sz="1400" spc="-1" strike="noStrike">
                <a:latin typeface="Times New Roman"/>
              </a:defRPr>
            </a:lvl1pPr>
          </a:lstStyle>
          <a:p>
            <a:r>
              <a:rPr b="0" lang="fr-FR" sz="1400" spc="-1" strike="noStrike">
                <a:latin typeface="Times New Roman"/>
              </a:rPr>
              <a:t>&lt;date/heure&gt;</a:t>
            </a:r>
            <a:endParaRPr b="0" lang="fr-FR" sz="1400" spc="-1" strike="noStrike">
              <a:latin typeface="Times New Roman"/>
            </a:endParaRPr>
          </a:p>
        </p:txBody>
      </p:sp>
      <p:sp>
        <p:nvSpPr>
          <p:cNvPr id="91" name="PlaceHolder 4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fr-FR" sz="4400" spc="-1" strike="noStrike">
                <a:latin typeface="Arial"/>
              </a:rPr>
              <a:t>Cliquez </a:t>
            </a:r>
            <a:r>
              <a:rPr b="0" lang="fr-FR" sz="4400" spc="-1" strike="noStrike">
                <a:latin typeface="Arial"/>
              </a:rPr>
              <a:t>pour </a:t>
            </a:r>
            <a:r>
              <a:rPr b="0" lang="fr-FR" sz="4400" spc="-1" strike="noStrike">
                <a:latin typeface="Arial"/>
              </a:rPr>
              <a:t>éditer le </a:t>
            </a:r>
            <a:r>
              <a:rPr b="0" lang="fr-FR" sz="4400" spc="-1" strike="noStrike">
                <a:latin typeface="Arial"/>
              </a:rPr>
              <a:t>format </a:t>
            </a:r>
            <a:r>
              <a:rPr b="0" lang="fr-FR" sz="4400" spc="-1" strike="noStrike">
                <a:latin typeface="Arial"/>
              </a:rPr>
              <a:t>du </a:t>
            </a:r>
            <a:r>
              <a:rPr b="0" lang="fr-FR" sz="4400" spc="-1" strike="noStrike">
                <a:latin typeface="Arial"/>
              </a:rPr>
              <a:t>texte-</a:t>
            </a:r>
            <a:r>
              <a:rPr b="0" lang="fr-FR" sz="4400" spc="-1" strike="noStrike">
                <a:latin typeface="Arial"/>
              </a:rPr>
              <a:t>titre</a:t>
            </a:r>
            <a:endParaRPr b="0" lang="fr-FR" sz="4400" spc="-1" strike="noStrike">
              <a:latin typeface="Arial"/>
            </a:endParaRPr>
          </a:p>
        </p:txBody>
      </p:sp>
      <p:sp>
        <p:nvSpPr>
          <p:cNvPr id="92" name="PlaceHolder 5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6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latin typeface="Arial"/>
              </a:rPr>
              <a:t>Cliquez pour éditer le format du plan de texte</a:t>
            </a:r>
            <a:endParaRPr b="0" lang="fr-FR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latin typeface="Arial"/>
              </a:rPr>
              <a:t>Second niveau de plan</a:t>
            </a:r>
            <a:endParaRPr b="0" lang="fr-FR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latin typeface="Arial"/>
              </a:rPr>
              <a:t>Troisième niveau de plan</a:t>
            </a:r>
            <a:endParaRPr b="0" lang="fr-FR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latin typeface="Arial"/>
              </a:rPr>
              <a:t>Quatrième niveau de plan</a:t>
            </a:r>
            <a:endParaRPr b="0" lang="fr-FR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latin typeface="Arial"/>
              </a:rPr>
              <a:t>Cinquième niveau de plan</a:t>
            </a:r>
            <a:endParaRPr b="0" lang="fr-FR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latin typeface="Arial"/>
              </a:rPr>
              <a:t>Sixième niveau de plan</a:t>
            </a:r>
            <a:endParaRPr b="0" lang="fr-FR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latin typeface="Arial"/>
              </a:rPr>
              <a:t>Septième niveau de plan</a:t>
            </a:r>
            <a:endParaRPr b="0" lang="fr-FR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9" name="bg object 16" descr=""/>
          <p:cNvPicPr/>
          <p:nvPr/>
        </p:nvPicPr>
        <p:blipFill>
          <a:blip r:embed="rId2"/>
          <a:stretch/>
        </p:blipFill>
        <p:spPr>
          <a:xfrm>
            <a:off x="8714160" y="146160"/>
            <a:ext cx="284400" cy="229680"/>
          </a:xfrm>
          <a:prstGeom prst="rect">
            <a:avLst/>
          </a:prstGeom>
          <a:ln w="0">
            <a:noFill/>
          </a:ln>
        </p:spPr>
      </p:pic>
      <p:pic>
        <p:nvPicPr>
          <p:cNvPr id="130" name="bg object 17" descr=""/>
          <p:cNvPicPr/>
          <p:nvPr/>
        </p:nvPicPr>
        <p:blipFill>
          <a:blip r:embed="rId3"/>
          <a:stretch/>
        </p:blipFill>
        <p:spPr>
          <a:xfrm>
            <a:off x="511200" y="227520"/>
            <a:ext cx="1269720" cy="112320"/>
          </a:xfrm>
          <a:prstGeom prst="rect">
            <a:avLst/>
          </a:prstGeom>
          <a:ln w="0">
            <a:noFill/>
          </a:ln>
        </p:spPr>
      </p:pic>
      <p:sp>
        <p:nvSpPr>
          <p:cNvPr id="131" name="PlaceHolder 1"/>
          <p:cNvSpPr>
            <a:spLocks noGrp="1"/>
          </p:cNvSpPr>
          <p:nvPr>
            <p:ph type="ftr" idx="10"/>
          </p:nvPr>
        </p:nvSpPr>
        <p:spPr>
          <a:xfrm>
            <a:off x="3108960" y="4783320"/>
            <a:ext cx="2922840" cy="253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ctr">
              <a:lnSpc>
                <a:spcPct val="100000"/>
              </a:lnSpc>
              <a:buNone/>
              <a:defRPr b="0" lang="fr-FR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fr-FR" sz="1400" spc="-1" strike="noStrike">
                <a:latin typeface="Times New Roman"/>
              </a:rPr>
              <a:t>&lt;pied de page&gt;</a:t>
            </a:r>
            <a:endParaRPr b="0" lang="fr-FR" sz="1400" spc="-1" strike="noStrike">
              <a:latin typeface="Times New Roman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 type="sldNum" idx="11"/>
          </p:nvPr>
        </p:nvSpPr>
        <p:spPr>
          <a:xfrm>
            <a:off x="8701560" y="4908600"/>
            <a:ext cx="261720" cy="164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25CEFBF1-D2C1-44DC-AB81-83747A9FFABA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sp>
        <p:nvSpPr>
          <p:cNvPr id="133" name="PlaceHolder 3"/>
          <p:cNvSpPr>
            <a:spLocks noGrp="1"/>
          </p:cNvSpPr>
          <p:nvPr>
            <p:ph type="dt" idx="12"/>
          </p:nvPr>
        </p:nvSpPr>
        <p:spPr>
          <a:xfrm>
            <a:off x="457200" y="4783320"/>
            <a:ext cx="2099880" cy="253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>
              <a:defRPr b="0" lang="fr-FR" sz="1400" spc="-1" strike="noStrike">
                <a:latin typeface="Times New Roman"/>
              </a:defRPr>
            </a:lvl1pPr>
          </a:lstStyle>
          <a:p>
            <a:r>
              <a:rPr b="0" lang="fr-FR" sz="1400" spc="-1" strike="noStrike">
                <a:latin typeface="Times New Roman"/>
              </a:rPr>
              <a:t>&lt;date/heure&gt;</a:t>
            </a:r>
            <a:endParaRPr b="0" lang="fr-FR" sz="1400" spc="-1" strike="noStrike">
              <a:latin typeface="Times New Roman"/>
            </a:endParaRPr>
          </a:p>
        </p:txBody>
      </p:sp>
      <p:sp>
        <p:nvSpPr>
          <p:cNvPr id="134" name="PlaceHolder 4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fr-FR" sz="4400" spc="-1" strike="noStrike">
                <a:latin typeface="Arial"/>
              </a:rPr>
              <a:t>Cliquez pour éditer le format </a:t>
            </a:r>
            <a:r>
              <a:rPr b="0" lang="fr-FR" sz="4400" spc="-1" strike="noStrike">
                <a:latin typeface="Arial"/>
              </a:rPr>
              <a:t>du texte-titre</a:t>
            </a:r>
            <a:endParaRPr b="0" lang="fr-FR" sz="4400" spc="-1" strike="noStrike">
              <a:latin typeface="Arial"/>
            </a:endParaRPr>
          </a:p>
        </p:txBody>
      </p:sp>
      <p:sp>
        <p:nvSpPr>
          <p:cNvPr id="135" name="PlaceHolder 5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6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latin typeface="Arial"/>
              </a:rPr>
              <a:t>Cliquez pour éditer le format du plan de texte</a:t>
            </a:r>
            <a:endParaRPr b="0" lang="fr-FR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latin typeface="Arial"/>
              </a:rPr>
              <a:t>Second niveau de plan</a:t>
            </a:r>
            <a:endParaRPr b="0" lang="fr-FR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latin typeface="Arial"/>
              </a:rPr>
              <a:t>Troisième niveau de plan</a:t>
            </a:r>
            <a:endParaRPr b="0" lang="fr-FR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latin typeface="Arial"/>
              </a:rPr>
              <a:t>Quatrième niveau de plan</a:t>
            </a:r>
            <a:endParaRPr b="0" lang="fr-FR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latin typeface="Arial"/>
              </a:rPr>
              <a:t>Cinquième niveau de plan</a:t>
            </a:r>
            <a:endParaRPr b="0" lang="fr-FR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latin typeface="Arial"/>
              </a:rPr>
              <a:t>Sixième niveau de plan</a:t>
            </a:r>
            <a:endParaRPr b="0" lang="fr-FR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latin typeface="Arial"/>
              </a:rPr>
              <a:t>Septième niveau de plan</a:t>
            </a:r>
            <a:endParaRPr b="0" lang="fr-FR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2147483696" r:id="rId12"/>
    <p:sldLayoutId id="2147483697" r:id="rId13"/>
    <p:sldLayoutId id="2147483698" r:id="rId14"/>
    <p:sldLayoutId id="2147483699" r:id="rId15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bg object 16" descr=""/>
          <p:cNvPicPr/>
          <p:nvPr/>
        </p:nvPicPr>
        <p:blipFill>
          <a:blip r:embed="rId2"/>
          <a:stretch/>
        </p:blipFill>
        <p:spPr>
          <a:xfrm>
            <a:off x="8714160" y="146160"/>
            <a:ext cx="284400" cy="229680"/>
          </a:xfrm>
          <a:prstGeom prst="rect">
            <a:avLst/>
          </a:prstGeom>
          <a:ln w="0">
            <a:noFill/>
          </a:ln>
        </p:spPr>
      </p:pic>
      <p:pic>
        <p:nvPicPr>
          <p:cNvPr id="173" name="bg object 17" descr=""/>
          <p:cNvPicPr/>
          <p:nvPr/>
        </p:nvPicPr>
        <p:blipFill>
          <a:blip r:embed="rId3"/>
          <a:stretch/>
        </p:blipFill>
        <p:spPr>
          <a:xfrm>
            <a:off x="511200" y="227520"/>
            <a:ext cx="1269720" cy="112320"/>
          </a:xfrm>
          <a:prstGeom prst="rect">
            <a:avLst/>
          </a:prstGeom>
          <a:ln w="0">
            <a:noFill/>
          </a:ln>
        </p:spPr>
      </p:pic>
      <p:pic>
        <p:nvPicPr>
          <p:cNvPr id="174" name="bg object 16" descr=""/>
          <p:cNvPicPr/>
          <p:nvPr/>
        </p:nvPicPr>
        <p:blipFill>
          <a:blip r:embed="rId4"/>
          <a:stretch/>
        </p:blipFill>
        <p:spPr>
          <a:xfrm>
            <a:off x="5753160" y="1972440"/>
            <a:ext cx="3387600" cy="3168000"/>
          </a:xfrm>
          <a:prstGeom prst="rect">
            <a:avLst/>
          </a:prstGeom>
          <a:ln w="0">
            <a:noFill/>
          </a:ln>
        </p:spPr>
      </p:pic>
      <p:sp>
        <p:nvSpPr>
          <p:cNvPr id="175" name="bg object 17"/>
          <p:cNvSpPr/>
          <p:nvPr/>
        </p:nvSpPr>
        <p:spPr>
          <a:xfrm>
            <a:off x="0" y="0"/>
            <a:ext cx="9141480" cy="5140440"/>
          </a:xfrm>
          <a:custGeom>
            <a:avLst/>
            <a:gdLst/>
            <a:ahLst/>
            <a:rect l="l" t="t" r="r" b="b"/>
            <a:pathLst>
              <a:path w="9144635" h="5143500">
                <a:moveTo>
                  <a:pt x="6089924" y="5143501"/>
                </a:moveTo>
                <a:lnTo>
                  <a:pt x="0" y="5143501"/>
                </a:lnTo>
                <a:lnTo>
                  <a:pt x="0" y="0"/>
                </a:lnTo>
                <a:lnTo>
                  <a:pt x="9144053" y="0"/>
                </a:lnTo>
                <a:lnTo>
                  <a:pt x="9144053" y="3297182"/>
                </a:lnTo>
                <a:lnTo>
                  <a:pt x="9113763" y="3257530"/>
                </a:lnTo>
                <a:lnTo>
                  <a:pt x="9082482" y="3218858"/>
                </a:lnTo>
                <a:lnTo>
                  <a:pt x="9050233" y="3181181"/>
                </a:lnTo>
                <a:lnTo>
                  <a:pt x="9017043" y="3144510"/>
                </a:lnTo>
                <a:lnTo>
                  <a:pt x="8982935" y="3108858"/>
                </a:lnTo>
                <a:lnTo>
                  <a:pt x="8947935" y="3074236"/>
                </a:lnTo>
                <a:lnTo>
                  <a:pt x="8912067" y="3040659"/>
                </a:lnTo>
                <a:lnTo>
                  <a:pt x="8875356" y="3008137"/>
                </a:lnTo>
                <a:lnTo>
                  <a:pt x="8837826" y="2976684"/>
                </a:lnTo>
                <a:lnTo>
                  <a:pt x="8799504" y="2946312"/>
                </a:lnTo>
                <a:lnTo>
                  <a:pt x="8760412" y="2917033"/>
                </a:lnTo>
                <a:lnTo>
                  <a:pt x="8720577" y="2888860"/>
                </a:lnTo>
                <a:lnTo>
                  <a:pt x="8680023" y="2861806"/>
                </a:lnTo>
                <a:lnTo>
                  <a:pt x="8638774" y="2835882"/>
                </a:lnTo>
                <a:lnTo>
                  <a:pt x="8596856" y="2811101"/>
                </a:lnTo>
                <a:lnTo>
                  <a:pt x="8554293" y="2787476"/>
                </a:lnTo>
                <a:lnTo>
                  <a:pt x="8511110" y="2765019"/>
                </a:lnTo>
                <a:lnTo>
                  <a:pt x="8467332" y="2743743"/>
                </a:lnTo>
                <a:lnTo>
                  <a:pt x="8422984" y="2723660"/>
                </a:lnTo>
                <a:lnTo>
                  <a:pt x="8378090" y="2704782"/>
                </a:lnTo>
                <a:lnTo>
                  <a:pt x="8332674" y="2687122"/>
                </a:lnTo>
                <a:lnTo>
                  <a:pt x="8286763" y="2670693"/>
                </a:lnTo>
                <a:lnTo>
                  <a:pt x="8240381" y="2655506"/>
                </a:lnTo>
                <a:lnTo>
                  <a:pt x="8193552" y="2641574"/>
                </a:lnTo>
                <a:lnTo>
                  <a:pt x="8146301" y="2628911"/>
                </a:lnTo>
                <a:lnTo>
                  <a:pt x="8098653" y="2617527"/>
                </a:lnTo>
                <a:lnTo>
                  <a:pt x="8050633" y="2607436"/>
                </a:lnTo>
                <a:lnTo>
                  <a:pt x="8002265" y="2598650"/>
                </a:lnTo>
                <a:lnTo>
                  <a:pt x="7953575" y="2591182"/>
                </a:lnTo>
                <a:lnTo>
                  <a:pt x="7904586" y="2585043"/>
                </a:lnTo>
                <a:lnTo>
                  <a:pt x="7855325" y="2580247"/>
                </a:lnTo>
                <a:lnTo>
                  <a:pt x="7805815" y="2576806"/>
                </a:lnTo>
                <a:lnTo>
                  <a:pt x="7756082" y="2574732"/>
                </a:lnTo>
                <a:lnTo>
                  <a:pt x="7706149" y="2574038"/>
                </a:lnTo>
                <a:lnTo>
                  <a:pt x="7657585" y="2574683"/>
                </a:lnTo>
                <a:lnTo>
                  <a:pt x="7609341" y="2576604"/>
                </a:lnTo>
                <a:lnTo>
                  <a:pt x="7561432" y="2579787"/>
                </a:lnTo>
                <a:lnTo>
                  <a:pt x="7513876" y="2584215"/>
                </a:lnTo>
                <a:lnTo>
                  <a:pt x="7466688" y="2589872"/>
                </a:lnTo>
                <a:lnTo>
                  <a:pt x="7419885" y="2596742"/>
                </a:lnTo>
                <a:lnTo>
                  <a:pt x="7373483" y="2604807"/>
                </a:lnTo>
                <a:lnTo>
                  <a:pt x="7327498" y="2614053"/>
                </a:lnTo>
                <a:lnTo>
                  <a:pt x="7281946" y="2624462"/>
                </a:lnTo>
                <a:lnTo>
                  <a:pt x="7236844" y="2636019"/>
                </a:lnTo>
                <a:lnTo>
                  <a:pt x="7192207" y="2648707"/>
                </a:lnTo>
                <a:lnTo>
                  <a:pt x="7148053" y="2662511"/>
                </a:lnTo>
                <a:lnTo>
                  <a:pt x="7104397" y="2677412"/>
                </a:lnTo>
                <a:lnTo>
                  <a:pt x="7061256" y="2693397"/>
                </a:lnTo>
                <a:lnTo>
                  <a:pt x="7018645" y="2710448"/>
                </a:lnTo>
                <a:lnTo>
                  <a:pt x="6976582" y="2728548"/>
                </a:lnTo>
                <a:lnTo>
                  <a:pt x="6935081" y="2747683"/>
                </a:lnTo>
                <a:lnTo>
                  <a:pt x="6894160" y="2767834"/>
                </a:lnTo>
                <a:lnTo>
                  <a:pt x="6853835" y="2788987"/>
                </a:lnTo>
                <a:lnTo>
                  <a:pt x="6814122" y="2811125"/>
                </a:lnTo>
                <a:lnTo>
                  <a:pt x="6775037" y="2834232"/>
                </a:lnTo>
                <a:lnTo>
                  <a:pt x="6736596" y="2858291"/>
                </a:lnTo>
                <a:lnTo>
                  <a:pt x="6698816" y="2883287"/>
                </a:lnTo>
                <a:lnTo>
                  <a:pt x="6661713" y="2909202"/>
                </a:lnTo>
                <a:lnTo>
                  <a:pt x="6625303" y="2936021"/>
                </a:lnTo>
                <a:lnTo>
                  <a:pt x="6589603" y="2963728"/>
                </a:lnTo>
                <a:lnTo>
                  <a:pt x="6554628" y="2992305"/>
                </a:lnTo>
                <a:lnTo>
                  <a:pt x="6520395" y="3021738"/>
                </a:lnTo>
                <a:lnTo>
                  <a:pt x="6486920" y="3052009"/>
                </a:lnTo>
                <a:lnTo>
                  <a:pt x="6454219" y="3083103"/>
                </a:lnTo>
                <a:lnTo>
                  <a:pt x="6422309" y="3115003"/>
                </a:lnTo>
                <a:lnTo>
                  <a:pt x="6391206" y="3147693"/>
                </a:lnTo>
                <a:lnTo>
                  <a:pt x="6360925" y="3181156"/>
                </a:lnTo>
                <a:lnTo>
                  <a:pt x="6331484" y="3215377"/>
                </a:lnTo>
                <a:lnTo>
                  <a:pt x="6302899" y="3250339"/>
                </a:lnTo>
                <a:lnTo>
                  <a:pt x="6275185" y="3286026"/>
                </a:lnTo>
                <a:lnTo>
                  <a:pt x="6248359" y="3322422"/>
                </a:lnTo>
                <a:lnTo>
                  <a:pt x="6222437" y="3359510"/>
                </a:lnTo>
                <a:lnTo>
                  <a:pt x="6197436" y="3397274"/>
                </a:lnTo>
                <a:lnTo>
                  <a:pt x="6173371" y="3435698"/>
                </a:lnTo>
                <a:lnTo>
                  <a:pt x="6150260" y="3474766"/>
                </a:lnTo>
                <a:lnTo>
                  <a:pt x="6128117" y="3514461"/>
                </a:lnTo>
                <a:lnTo>
                  <a:pt x="6106960" y="3554767"/>
                </a:lnTo>
                <a:lnTo>
                  <a:pt x="6086804" y="3595668"/>
                </a:lnTo>
                <a:lnTo>
                  <a:pt x="6067667" y="3637148"/>
                </a:lnTo>
                <a:lnTo>
                  <a:pt x="6049563" y="3679190"/>
                </a:lnTo>
                <a:lnTo>
                  <a:pt x="6032509" y="3721778"/>
                </a:lnTo>
                <a:lnTo>
                  <a:pt x="6016523" y="3764896"/>
                </a:lnTo>
                <a:lnTo>
                  <a:pt x="6001619" y="3808527"/>
                </a:lnTo>
                <a:lnTo>
                  <a:pt x="5987814" y="3852656"/>
                </a:lnTo>
                <a:lnTo>
                  <a:pt x="5975124" y="3897266"/>
                </a:lnTo>
                <a:lnTo>
                  <a:pt x="5963566" y="3942341"/>
                </a:lnTo>
                <a:lnTo>
                  <a:pt x="5953155" y="3987864"/>
                </a:lnTo>
                <a:lnTo>
                  <a:pt x="5943909" y="4033820"/>
                </a:lnTo>
                <a:lnTo>
                  <a:pt x="5935842" y="4080192"/>
                </a:lnTo>
                <a:lnTo>
                  <a:pt x="5928972" y="4126964"/>
                </a:lnTo>
                <a:lnTo>
                  <a:pt x="5923315" y="4174119"/>
                </a:lnTo>
                <a:lnTo>
                  <a:pt x="5918887" y="4221641"/>
                </a:lnTo>
                <a:lnTo>
                  <a:pt x="5915704" y="4269515"/>
                </a:lnTo>
                <a:lnTo>
                  <a:pt x="5913782" y="4317723"/>
                </a:lnTo>
                <a:lnTo>
                  <a:pt x="5913137" y="4366250"/>
                </a:lnTo>
                <a:lnTo>
                  <a:pt x="5913713" y="4416647"/>
                </a:lnTo>
                <a:lnTo>
                  <a:pt x="5915710" y="4466942"/>
                </a:lnTo>
                <a:lnTo>
                  <a:pt x="5919124" y="4517105"/>
                </a:lnTo>
                <a:lnTo>
                  <a:pt x="5923950" y="4567106"/>
                </a:lnTo>
                <a:lnTo>
                  <a:pt x="5930181" y="4616914"/>
                </a:lnTo>
                <a:lnTo>
                  <a:pt x="5937812" y="4666500"/>
                </a:lnTo>
                <a:lnTo>
                  <a:pt x="5946839" y="4715833"/>
                </a:lnTo>
                <a:lnTo>
                  <a:pt x="5957254" y="4764883"/>
                </a:lnTo>
                <a:lnTo>
                  <a:pt x="5969053" y="4813621"/>
                </a:lnTo>
                <a:lnTo>
                  <a:pt x="5982230" y="4862016"/>
                </a:lnTo>
                <a:lnTo>
                  <a:pt x="5996780" y="4910038"/>
                </a:lnTo>
                <a:lnTo>
                  <a:pt x="6012697" y="4957657"/>
                </a:lnTo>
                <a:lnTo>
                  <a:pt x="6029975" y="5004843"/>
                </a:lnTo>
                <a:lnTo>
                  <a:pt x="6048609" y="5051566"/>
                </a:lnTo>
                <a:lnTo>
                  <a:pt x="6068594" y="5097795"/>
                </a:lnTo>
                <a:lnTo>
                  <a:pt x="6089924" y="5143501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76" name="bg object 18" descr=""/>
          <p:cNvPicPr/>
          <p:nvPr/>
        </p:nvPicPr>
        <p:blipFill>
          <a:blip r:embed="rId5"/>
          <a:stretch/>
        </p:blipFill>
        <p:spPr>
          <a:xfrm>
            <a:off x="8714160" y="146160"/>
            <a:ext cx="284400" cy="229680"/>
          </a:xfrm>
          <a:prstGeom prst="rect">
            <a:avLst/>
          </a:prstGeom>
          <a:ln w="0">
            <a:noFill/>
          </a:ln>
        </p:spPr>
      </p:pic>
      <p:pic>
        <p:nvPicPr>
          <p:cNvPr id="177" name="bg object 19" descr=""/>
          <p:cNvPicPr/>
          <p:nvPr/>
        </p:nvPicPr>
        <p:blipFill>
          <a:blip r:embed="rId6"/>
          <a:stretch/>
        </p:blipFill>
        <p:spPr>
          <a:xfrm>
            <a:off x="511200" y="227520"/>
            <a:ext cx="1269720" cy="112320"/>
          </a:xfrm>
          <a:prstGeom prst="rect">
            <a:avLst/>
          </a:prstGeom>
          <a:ln w="0">
            <a:noFill/>
          </a:ln>
        </p:spPr>
      </p:pic>
      <p:sp>
        <p:nvSpPr>
          <p:cNvPr id="178" name="PlaceHolder 1"/>
          <p:cNvSpPr>
            <a:spLocks noGrp="1"/>
          </p:cNvSpPr>
          <p:nvPr>
            <p:ph type="ftr" idx="13"/>
          </p:nvPr>
        </p:nvSpPr>
        <p:spPr>
          <a:xfrm>
            <a:off x="3108960" y="4783320"/>
            <a:ext cx="2922840" cy="253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ctr">
              <a:lnSpc>
                <a:spcPct val="100000"/>
              </a:lnSpc>
              <a:buNone/>
              <a:defRPr b="0" lang="fr-FR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fr-FR" sz="1400" spc="-1" strike="noStrike">
                <a:latin typeface="Times New Roman"/>
              </a:rPr>
              <a:t>&lt;pied de page&gt;</a:t>
            </a:r>
            <a:endParaRPr b="0" lang="fr-FR" sz="1400" spc="-1" strike="noStrike">
              <a:latin typeface="Times New Roman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 type="sldNum" idx="14"/>
          </p:nvPr>
        </p:nvSpPr>
        <p:spPr>
          <a:xfrm>
            <a:off x="8701560" y="4908600"/>
            <a:ext cx="261720" cy="164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1D88ECE5-7730-4506-B08C-E050D308EAC4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 type="dt" idx="15"/>
          </p:nvPr>
        </p:nvSpPr>
        <p:spPr>
          <a:xfrm>
            <a:off x="457200" y="4783320"/>
            <a:ext cx="2099880" cy="253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>
              <a:defRPr b="0" lang="fr-FR" sz="1400" spc="-1" strike="noStrike">
                <a:latin typeface="Times New Roman"/>
              </a:defRPr>
            </a:lvl1pPr>
          </a:lstStyle>
          <a:p>
            <a:r>
              <a:rPr b="0" lang="fr-FR" sz="1400" spc="-1" strike="noStrike">
                <a:latin typeface="Times New Roman"/>
              </a:rPr>
              <a:t>&lt;date/heure&gt;</a:t>
            </a:r>
            <a:endParaRPr b="0" lang="fr-FR" sz="1400" spc="-1" strike="noStrike">
              <a:latin typeface="Times New Roman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fr-FR" sz="4400" spc="-1" strike="noStrike">
                <a:latin typeface="Arial"/>
              </a:rPr>
              <a:t>Cliquez pour éditer le format du texte-titre</a:t>
            </a:r>
            <a:endParaRPr b="0" lang="fr-FR" sz="4400" spc="-1" strike="noStrike">
              <a:latin typeface="Arial"/>
            </a:endParaRPr>
          </a:p>
        </p:txBody>
      </p:sp>
      <p:sp>
        <p:nvSpPr>
          <p:cNvPr id="182" name="PlaceHolder 5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6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latin typeface="Arial"/>
              </a:rPr>
              <a:t>Cliquez pour éditer </a:t>
            </a:r>
            <a:r>
              <a:rPr b="0" lang="fr-FR" sz="3200" spc="-1" strike="noStrike">
                <a:latin typeface="Arial"/>
              </a:rPr>
              <a:t>le format du plan de </a:t>
            </a:r>
            <a:r>
              <a:rPr b="0" lang="fr-FR" sz="3200" spc="-1" strike="noStrike">
                <a:latin typeface="Arial"/>
              </a:rPr>
              <a:t>texte</a:t>
            </a:r>
            <a:endParaRPr b="0" lang="fr-FR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latin typeface="Arial"/>
              </a:rPr>
              <a:t>Second niveau de </a:t>
            </a:r>
            <a:r>
              <a:rPr b="0" lang="fr-FR" sz="2800" spc="-1" strike="noStrike">
                <a:latin typeface="Arial"/>
              </a:rPr>
              <a:t>plan</a:t>
            </a:r>
            <a:endParaRPr b="0" lang="fr-FR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latin typeface="Arial"/>
              </a:rPr>
              <a:t>Troisième niveau de </a:t>
            </a:r>
            <a:r>
              <a:rPr b="0" lang="fr-FR" sz="2400" spc="-1" strike="noStrike">
                <a:latin typeface="Arial"/>
              </a:rPr>
              <a:t>plan</a:t>
            </a:r>
            <a:endParaRPr b="0" lang="fr-FR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latin typeface="Arial"/>
              </a:rPr>
              <a:t>Quatrième niveau de </a:t>
            </a:r>
            <a:r>
              <a:rPr b="0" lang="fr-FR" sz="2000" spc="-1" strike="noStrike">
                <a:latin typeface="Arial"/>
              </a:rPr>
              <a:t>plan</a:t>
            </a:r>
            <a:endParaRPr b="0" lang="fr-FR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latin typeface="Arial"/>
              </a:rPr>
              <a:t>Cinquième </a:t>
            </a:r>
            <a:r>
              <a:rPr b="0" lang="fr-FR" sz="2000" spc="-1" strike="noStrike">
                <a:latin typeface="Arial"/>
              </a:rPr>
              <a:t>niveau de plan</a:t>
            </a:r>
            <a:endParaRPr b="0" lang="fr-FR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latin typeface="Arial"/>
              </a:rPr>
              <a:t>Sixième </a:t>
            </a:r>
            <a:r>
              <a:rPr b="0" lang="fr-FR" sz="2000" spc="-1" strike="noStrike">
                <a:latin typeface="Arial"/>
              </a:rPr>
              <a:t>niveau de </a:t>
            </a:r>
            <a:r>
              <a:rPr b="0" lang="fr-FR" sz="2000" spc="-1" strike="noStrike">
                <a:latin typeface="Arial"/>
              </a:rPr>
              <a:t>plan</a:t>
            </a:r>
            <a:endParaRPr b="0" lang="fr-FR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latin typeface="Arial"/>
              </a:rPr>
              <a:t>Septième </a:t>
            </a:r>
            <a:r>
              <a:rPr b="0" lang="fr-FR" sz="2000" spc="-1" strike="noStrike">
                <a:latin typeface="Arial"/>
              </a:rPr>
              <a:t>niveau </a:t>
            </a:r>
            <a:r>
              <a:rPr b="0" lang="fr-FR" sz="2000" spc="-1" strike="noStrike">
                <a:latin typeface="Arial"/>
              </a:rPr>
              <a:t>de plan</a:t>
            </a:r>
            <a:endParaRPr b="0" lang="fr-FR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7"/>
    <p:sldLayoutId id="2147483702" r:id="rId8"/>
    <p:sldLayoutId id="2147483703" r:id="rId9"/>
    <p:sldLayoutId id="2147483704" r:id="rId10"/>
    <p:sldLayoutId id="2147483705" r:id="rId11"/>
    <p:sldLayoutId id="2147483706" r:id="rId12"/>
    <p:sldLayoutId id="2147483707" r:id="rId13"/>
    <p:sldLayoutId id="2147483708" r:id="rId14"/>
    <p:sldLayoutId id="2147483709" r:id="rId15"/>
    <p:sldLayoutId id="2147483710" r:id="rId16"/>
    <p:sldLayoutId id="2147483711" r:id="rId17"/>
    <p:sldLayoutId id="2147483712" r:id="rId18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hyperlink" Target="mailto:brahim.hamdi.consult@gmail.com" TargetMode="External"/><Relationship Id="rId2" Type="http://schemas.openxmlformats.org/officeDocument/2006/relationships/image" Target="../media/image15.jpe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jpe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2.jpeg"/><Relationship Id="rId2" Type="http://schemas.openxmlformats.org/officeDocument/2006/relationships/slideLayout" Target="../slideLayouts/slideLayout2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3.jpeg"/><Relationship Id="rId2" Type="http://schemas.openxmlformats.org/officeDocument/2006/relationships/image" Target="../media/image24.png"/><Relationship Id="rId3" Type="http://schemas.openxmlformats.org/officeDocument/2006/relationships/slideLayout" Target="../slideLayouts/slideLayout2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5.jpeg"/><Relationship Id="rId2" Type="http://schemas.openxmlformats.org/officeDocument/2006/relationships/image" Target="../media/image26.jpeg"/><Relationship Id="rId3" Type="http://schemas.openxmlformats.org/officeDocument/2006/relationships/image" Target="../media/image27.jpeg"/><Relationship Id="rId4" Type="http://schemas.openxmlformats.org/officeDocument/2006/relationships/hyperlink" Target="https://kubernetes.io/" TargetMode="External"/><Relationship Id="rId5" Type="http://schemas.openxmlformats.org/officeDocument/2006/relationships/hyperlink" Target="https://kubernetes.io/" TargetMode="External"/><Relationship Id="rId6" Type="http://schemas.openxmlformats.org/officeDocument/2006/relationships/hyperlink" Target="https://www.nomadproject.io/use-cases/simple-container-orchestration" TargetMode="External"/><Relationship Id="rId7" Type="http://schemas.openxmlformats.org/officeDocument/2006/relationships/hyperlink" Target="https://docs.docker.com/engine/" TargetMode="External"/><Relationship Id="rId8" Type="http://schemas.openxmlformats.org/officeDocument/2006/relationships/hyperlink" Target="https://docs.docker.com/engine/" TargetMode="External"/><Relationship Id="rId9" Type="http://schemas.openxmlformats.org/officeDocument/2006/relationships/hyperlink" Target="https://docs.docker.com/engine/" TargetMode="External"/><Relationship Id="rId10" Type="http://schemas.openxmlformats.org/officeDocument/2006/relationships/hyperlink" Target="https://docs.docker.com/engine/" TargetMode="External"/><Relationship Id="rId11" Type="http://schemas.openxmlformats.org/officeDocument/2006/relationships/hyperlink" Target="https://containerd.io/" TargetMode="External"/><Relationship Id="rId12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8.jpeg"/><Relationship Id="rId2" Type="http://schemas.openxmlformats.org/officeDocument/2006/relationships/image" Target="../media/image29.jpeg"/><Relationship Id="rId3" Type="http://schemas.openxmlformats.org/officeDocument/2006/relationships/image" Target="../media/image30.jpeg"/><Relationship Id="rId4" Type="http://schemas.openxmlformats.org/officeDocument/2006/relationships/hyperlink" Target="https://hub.docker.com/" TargetMode="External"/><Relationship Id="rId5" Type="http://schemas.openxmlformats.org/officeDocument/2006/relationships/hyperlink" Target="https://hub.docker.com/" TargetMode="External"/><Relationship Id="rId6" Type="http://schemas.openxmlformats.org/officeDocument/2006/relationships/hyperlink" Target="https://hub.docker.com/" TargetMode="External"/><Relationship Id="rId7" Type="http://schemas.openxmlformats.org/officeDocument/2006/relationships/hyperlink" Target="https://hub.docker.com/" TargetMode="External"/><Relationship Id="rId8" Type="http://schemas.openxmlformats.org/officeDocument/2006/relationships/hyperlink" Target="https://cloud.google.com/container-registry" TargetMode="External"/><Relationship Id="rId9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1.jpeg"/><Relationship Id="rId2" Type="http://schemas.openxmlformats.org/officeDocument/2006/relationships/slideLayout" Target="../slideLayouts/slideLayout25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hyperlink" Target="https://docs.docker.com/engine/reference/builder/" TargetMode="External"/><Relationship Id="rId2" Type="http://schemas.openxmlformats.org/officeDocument/2006/relationships/slideLayout" Target="../slideLayouts/slideLayout37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slideLayout" Target="../slideLayouts/slideLayout37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image" Target="../media/image36.png"/><Relationship Id="rId3" Type="http://schemas.openxmlformats.org/officeDocument/2006/relationships/slideLayout" Target="../slideLayouts/slideLayout37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slideLayout" Target="../slideLayouts/slideLayout37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image" Target="../media/image39.png"/><Relationship Id="rId3" Type="http://schemas.openxmlformats.org/officeDocument/2006/relationships/slideLayout" Target="../slideLayouts/slideLayout37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40.png"/><Relationship Id="rId2" Type="http://schemas.openxmlformats.org/officeDocument/2006/relationships/slideLayout" Target="../slideLayouts/slideLayout3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41.png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slideLayout" Target="../slideLayouts/slideLayout37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45.png"/><Relationship Id="rId2" Type="http://schemas.openxmlformats.org/officeDocument/2006/relationships/slideLayout" Target="../slideLayouts/slideLayout37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46.jpeg"/><Relationship Id="rId2" Type="http://schemas.openxmlformats.org/officeDocument/2006/relationships/image" Target="../media/image47.png"/><Relationship Id="rId3" Type="http://schemas.openxmlformats.org/officeDocument/2006/relationships/slideLayout" Target="../slideLayouts/slideLayout25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48.jpeg"/><Relationship Id="rId2" Type="http://schemas.openxmlformats.org/officeDocument/2006/relationships/slideLayout" Target="../slideLayouts/slideLayout25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49.jpeg"/><Relationship Id="rId2" Type="http://schemas.openxmlformats.org/officeDocument/2006/relationships/slideLayout" Target="../slideLayouts/slideLayout25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50.png"/><Relationship Id="rId2" Type="http://schemas.openxmlformats.org/officeDocument/2006/relationships/image" Target="../media/image51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slideLayout" Target="../slideLayouts/slideLayout37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54.png"/><Relationship Id="rId2" Type="http://schemas.openxmlformats.org/officeDocument/2006/relationships/image" Target="../media/image55.png"/><Relationship Id="rId3" Type="http://schemas.openxmlformats.org/officeDocument/2006/relationships/image" Target="../media/image56.png"/><Relationship Id="rId4" Type="http://schemas.openxmlformats.org/officeDocument/2006/relationships/image" Target="../media/image57.png"/><Relationship Id="rId5" Type="http://schemas.openxmlformats.org/officeDocument/2006/relationships/slideLayout" Target="../slideLayouts/slideLayout37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58.png"/><Relationship Id="rId2" Type="http://schemas.openxmlformats.org/officeDocument/2006/relationships/image" Target="../media/image59.png"/><Relationship Id="rId3" Type="http://schemas.openxmlformats.org/officeDocument/2006/relationships/image" Target="../media/image60.png"/><Relationship Id="rId4" Type="http://schemas.openxmlformats.org/officeDocument/2006/relationships/slideLayout" Target="../slideLayouts/slideLayout37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61.jpeg"/><Relationship Id="rId2" Type="http://schemas.openxmlformats.org/officeDocument/2006/relationships/image" Target="../media/image62.png"/><Relationship Id="rId3" Type="http://schemas.openxmlformats.org/officeDocument/2006/relationships/slideLayout" Target="../slideLayouts/slideLayout25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63.png"/><Relationship Id="rId2" Type="http://schemas.openxmlformats.org/officeDocument/2006/relationships/image" Target="../media/image64.png"/><Relationship Id="rId3" Type="http://schemas.openxmlformats.org/officeDocument/2006/relationships/image" Target="../media/image65.png"/><Relationship Id="rId4" Type="http://schemas.openxmlformats.org/officeDocument/2006/relationships/slideLayout" Target="../slideLayouts/slideLayout3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66.jpeg"/><Relationship Id="rId2" Type="http://schemas.openxmlformats.org/officeDocument/2006/relationships/slideLayout" Target="../slideLayouts/slideLayout25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67.png"/><Relationship Id="rId2" Type="http://schemas.openxmlformats.org/officeDocument/2006/relationships/image" Target="../media/image68.png"/><Relationship Id="rId3" Type="http://schemas.openxmlformats.org/officeDocument/2006/relationships/slideLayout" Target="../slideLayouts/slideLayout37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69.jpeg"/><Relationship Id="rId2" Type="http://schemas.openxmlformats.org/officeDocument/2006/relationships/slideLayout" Target="../slideLayouts/slideLayout25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70.png"/><Relationship Id="rId2" Type="http://schemas.openxmlformats.org/officeDocument/2006/relationships/image" Target="../media/image71.png"/><Relationship Id="rId3" Type="http://schemas.openxmlformats.org/officeDocument/2006/relationships/slideLayout" Target="../slideLayouts/slideLayout37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72.png"/><Relationship Id="rId2" Type="http://schemas.openxmlformats.org/officeDocument/2006/relationships/image" Target="../media/image73.png"/><Relationship Id="rId3" Type="http://schemas.openxmlformats.org/officeDocument/2006/relationships/image" Target="../media/image74.png"/><Relationship Id="rId4" Type="http://schemas.openxmlformats.org/officeDocument/2006/relationships/slideLayout" Target="../slideLayouts/slideLayout37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75.png"/><Relationship Id="rId2" Type="http://schemas.openxmlformats.org/officeDocument/2006/relationships/image" Target="../media/image76.png"/><Relationship Id="rId3" Type="http://schemas.openxmlformats.org/officeDocument/2006/relationships/image" Target="../media/image77.png"/><Relationship Id="rId4" Type="http://schemas.openxmlformats.org/officeDocument/2006/relationships/slideLayout" Target="../slideLayouts/slideLayout13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78.png"/><Relationship Id="rId2" Type="http://schemas.openxmlformats.org/officeDocument/2006/relationships/slideLayout" Target="../slideLayouts/slideLayout37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79.jpeg"/><Relationship Id="rId2" Type="http://schemas.openxmlformats.org/officeDocument/2006/relationships/image" Target="../media/image80.png"/><Relationship Id="rId3" Type="http://schemas.openxmlformats.org/officeDocument/2006/relationships/slideLayout" Target="../slideLayouts/slideLayout25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81.jpeg"/><Relationship Id="rId2" Type="http://schemas.openxmlformats.org/officeDocument/2006/relationships/slideLayout" Target="../slideLayouts/slideLayout2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82.png"/><Relationship Id="rId2" Type="http://schemas.openxmlformats.org/officeDocument/2006/relationships/image" Target="../media/image83.png"/><Relationship Id="rId3" Type="http://schemas.openxmlformats.org/officeDocument/2006/relationships/image" Target="../media/image84.png"/><Relationship Id="rId4" Type="http://schemas.openxmlformats.org/officeDocument/2006/relationships/image" Target="../media/image85.png"/><Relationship Id="rId5" Type="http://schemas.openxmlformats.org/officeDocument/2006/relationships/slideLayout" Target="../slideLayouts/slideLayout13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86.png"/><Relationship Id="rId2" Type="http://schemas.openxmlformats.org/officeDocument/2006/relationships/slideLayout" Target="../slideLayouts/slideLayout37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image" Target="../media/image87.png"/><Relationship Id="rId2" Type="http://schemas.openxmlformats.org/officeDocument/2006/relationships/slideLayout" Target="../slideLayouts/slideLayout37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image" Target="../media/image88.png"/><Relationship Id="rId2" Type="http://schemas.openxmlformats.org/officeDocument/2006/relationships/image" Target="../media/image89.png"/><Relationship Id="rId3" Type="http://schemas.openxmlformats.org/officeDocument/2006/relationships/image" Target="../media/image90.jpeg"/><Relationship Id="rId4" Type="http://schemas.openxmlformats.org/officeDocument/2006/relationships/slideLayout" Target="../slideLayouts/slideLayout49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91.png"/><Relationship Id="rId2" Type="http://schemas.openxmlformats.org/officeDocument/2006/relationships/image" Target="../media/image92.png"/><Relationship Id="rId3" Type="http://schemas.openxmlformats.org/officeDocument/2006/relationships/image" Target="../media/image93.jpeg"/><Relationship Id="rId4" Type="http://schemas.openxmlformats.org/officeDocument/2006/relationships/slideLayout" Target="../slideLayouts/slideLayout49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image" Target="../media/image94.jpeg"/><Relationship Id="rId2" Type="http://schemas.openxmlformats.org/officeDocument/2006/relationships/slideLayout" Target="../slideLayouts/slideLayout37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image" Target="../media/image95.jpeg"/><Relationship Id="rId2" Type="http://schemas.openxmlformats.org/officeDocument/2006/relationships/slideLayout" Target="../slideLayouts/slideLayout25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image" Target="../media/image96.png"/><Relationship Id="rId2" Type="http://schemas.openxmlformats.org/officeDocument/2006/relationships/image" Target="../media/image97.png"/><Relationship Id="rId3" Type="http://schemas.openxmlformats.org/officeDocument/2006/relationships/image" Target="../media/image98.png"/><Relationship Id="rId4" Type="http://schemas.openxmlformats.org/officeDocument/2006/relationships/slideLayout" Target="../slideLayouts/slideLayout37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image" Target="../media/image99.png"/><Relationship Id="rId2" Type="http://schemas.openxmlformats.org/officeDocument/2006/relationships/slideLayout" Target="../slideLayouts/slideLayout37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image" Target="../media/image100.jpeg"/><Relationship Id="rId2" Type="http://schemas.openxmlformats.org/officeDocument/2006/relationships/image" Target="../media/image101.png"/><Relationship Id="rId3" Type="http://schemas.openxmlformats.org/officeDocument/2006/relationships/slideLayout" Target="../slideLayouts/slideLayout25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image" Target="../media/image102.jpeg"/><Relationship Id="rId2" Type="http://schemas.openxmlformats.org/officeDocument/2006/relationships/slideLayout" Target="../slideLayouts/slideLayout25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image" Target="../media/image103.png"/><Relationship Id="rId2" Type="http://schemas.openxmlformats.org/officeDocument/2006/relationships/image" Target="../media/image104.png"/><Relationship Id="rId3" Type="http://schemas.openxmlformats.org/officeDocument/2006/relationships/image" Target="../media/image105.png"/><Relationship Id="rId4" Type="http://schemas.openxmlformats.org/officeDocument/2006/relationships/slideLayout" Target="../slideLayouts/slideLayout37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image" Target="../media/image106.png"/><Relationship Id="rId2" Type="http://schemas.openxmlformats.org/officeDocument/2006/relationships/slideLayout" Target="../slideLayouts/slideLayout37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image" Target="../media/image107.jpeg"/><Relationship Id="rId2" Type="http://schemas.openxmlformats.org/officeDocument/2006/relationships/slideLayout" Target="../slideLayouts/slideLayout25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image" Target="../media/image108.png"/><Relationship Id="rId2" Type="http://schemas.openxmlformats.org/officeDocument/2006/relationships/slideLayout" Target="../slideLayouts/slideLayout37.xml"/>
</Relationships>
</file>

<file path=ppt/slides/_rels/slide72.xml.rels><?xml version="1.0" encoding="UTF-8"?>
<Relationships xmlns="http://schemas.openxmlformats.org/package/2006/relationships"><Relationship Id="rId1" Type="http://schemas.openxmlformats.org/officeDocument/2006/relationships/image" Target="../media/image109.png"/><Relationship Id="rId2" Type="http://schemas.openxmlformats.org/officeDocument/2006/relationships/slideLayout" Target="../slideLayouts/slideLayout37.xml"/>
</Relationships>
</file>

<file path=ppt/slides/_rels/slide73.xml.rels><?xml version="1.0" encoding="UTF-8"?>
<Relationships xmlns="http://schemas.openxmlformats.org/package/2006/relationships"><Relationship Id="rId1" Type="http://schemas.openxmlformats.org/officeDocument/2006/relationships/image" Target="../media/image110.png"/><Relationship Id="rId2" Type="http://schemas.openxmlformats.org/officeDocument/2006/relationships/image" Target="../media/image111.png"/><Relationship Id="rId3" Type="http://schemas.openxmlformats.org/officeDocument/2006/relationships/slideLayout" Target="../slideLayouts/slideLayout37.xml"/>
</Relationships>
</file>

<file path=ppt/slides/_rels/slide74.xml.rels><?xml version="1.0" encoding="UTF-8"?>
<Relationships xmlns="http://schemas.openxmlformats.org/package/2006/relationships"><Relationship Id="rId1" Type="http://schemas.openxmlformats.org/officeDocument/2006/relationships/image" Target="../media/image112.png"/><Relationship Id="rId2" Type="http://schemas.openxmlformats.org/officeDocument/2006/relationships/slideLayout" Target="../slideLayouts/slideLayout37.xml"/>
</Relationships>
</file>

<file path=ppt/slides/_rels/slide75.xml.rels><?xml version="1.0" encoding="UTF-8"?>
<Relationships xmlns="http://schemas.openxmlformats.org/package/2006/relationships"><Relationship Id="rId1" Type="http://schemas.openxmlformats.org/officeDocument/2006/relationships/image" Target="../media/image113.png"/><Relationship Id="rId2" Type="http://schemas.openxmlformats.org/officeDocument/2006/relationships/slideLayout" Target="../slideLayouts/slideLayout37.xml"/>
</Relationships>
</file>

<file path=ppt/slides/_rels/slide76.xml.rels><?xml version="1.0" encoding="UTF-8"?>
<Relationships xmlns="http://schemas.openxmlformats.org/package/2006/relationships"><Relationship Id="rId1" Type="http://schemas.openxmlformats.org/officeDocument/2006/relationships/image" Target="../media/image114.png"/><Relationship Id="rId2" Type="http://schemas.openxmlformats.org/officeDocument/2006/relationships/image" Target="../media/image115.png"/><Relationship Id="rId3" Type="http://schemas.openxmlformats.org/officeDocument/2006/relationships/slideLayout" Target="../slideLayouts/slideLayout37.xml"/>
</Relationships>
</file>

<file path=ppt/slides/_rels/slide77.xml.rels><?xml version="1.0" encoding="UTF-8"?>
<Relationships xmlns="http://schemas.openxmlformats.org/package/2006/relationships"><Relationship Id="rId1" Type="http://schemas.openxmlformats.org/officeDocument/2006/relationships/image" Target="../media/image116.png"/><Relationship Id="rId2" Type="http://schemas.openxmlformats.org/officeDocument/2006/relationships/image" Target="../media/image117.png"/><Relationship Id="rId3" Type="http://schemas.openxmlformats.org/officeDocument/2006/relationships/slideLayout" Target="../slideLayouts/slideLayout13.xml"/>
</Relationships>
</file>

<file path=ppt/slides/_rels/slide78.xml.rels><?xml version="1.0" encoding="UTF-8"?>
<Relationships xmlns="http://schemas.openxmlformats.org/package/2006/relationships"><Relationship Id="rId1" Type="http://schemas.openxmlformats.org/officeDocument/2006/relationships/image" Target="../media/image118.png"/><Relationship Id="rId2" Type="http://schemas.openxmlformats.org/officeDocument/2006/relationships/image" Target="../media/image119.png"/><Relationship Id="rId3" Type="http://schemas.openxmlformats.org/officeDocument/2006/relationships/slideLayout" Target="../slideLayouts/slideLayout37.xml"/>
</Relationships>
</file>

<file path=ppt/slides/_rels/slide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80.xml.rels><?xml version="1.0" encoding="UTF-8"?>
<Relationships xmlns="http://schemas.openxmlformats.org/package/2006/relationships"><Relationship Id="rId1" Type="http://schemas.openxmlformats.org/officeDocument/2006/relationships/image" Target="../media/image120.jpeg"/><Relationship Id="rId2" Type="http://schemas.openxmlformats.org/officeDocument/2006/relationships/image" Target="../media/image121.png"/><Relationship Id="rId3" Type="http://schemas.openxmlformats.org/officeDocument/2006/relationships/slideLayout" Target="../slideLayouts/slideLayout25.xml"/>
</Relationships>
</file>

<file path=ppt/slides/_rels/slide8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82.xml.rels><?xml version="1.0" encoding="UTF-8"?>
<Relationships xmlns="http://schemas.openxmlformats.org/package/2006/relationships"><Relationship Id="rId1" Type="http://schemas.openxmlformats.org/officeDocument/2006/relationships/image" Target="../media/image122.jpeg"/><Relationship Id="rId2" Type="http://schemas.openxmlformats.org/officeDocument/2006/relationships/image" Target="../media/image123.jpeg"/><Relationship Id="rId3" Type="http://schemas.openxmlformats.org/officeDocument/2006/relationships/image" Target="../media/image124.jpeg"/><Relationship Id="rId4" Type="http://schemas.openxmlformats.org/officeDocument/2006/relationships/image" Target="../media/image125.jpeg"/><Relationship Id="rId5" Type="http://schemas.openxmlformats.org/officeDocument/2006/relationships/slideLayout" Target="../slideLayouts/slideLayout13.xml"/>
</Relationships>
</file>

<file path=ppt/slides/_rels/slide83.xml.rels><?xml version="1.0" encoding="UTF-8"?>
<Relationships xmlns="http://schemas.openxmlformats.org/package/2006/relationships"><Relationship Id="rId1" Type="http://schemas.openxmlformats.org/officeDocument/2006/relationships/image" Target="../media/image126.jpeg"/><Relationship Id="rId2" Type="http://schemas.openxmlformats.org/officeDocument/2006/relationships/slideLayout" Target="../slideLayouts/slideLayout25.xml"/>
</Relationships>
</file>

<file path=ppt/slides/_rels/slide84.xml.rels><?xml version="1.0" encoding="UTF-8"?>
<Relationships xmlns="http://schemas.openxmlformats.org/package/2006/relationships"><Relationship Id="rId1" Type="http://schemas.openxmlformats.org/officeDocument/2006/relationships/image" Target="../media/image127.png"/><Relationship Id="rId2" Type="http://schemas.openxmlformats.org/officeDocument/2006/relationships/slideLayout" Target="../slideLayouts/slideLayout37.xml"/>
</Relationships>
</file>

<file path=ppt/slides/_rels/slide85.xml.rels><?xml version="1.0" encoding="UTF-8"?>
<Relationships xmlns="http://schemas.openxmlformats.org/package/2006/relationships"><Relationship Id="rId1" Type="http://schemas.openxmlformats.org/officeDocument/2006/relationships/image" Target="../media/image128.png"/><Relationship Id="rId2" Type="http://schemas.openxmlformats.org/officeDocument/2006/relationships/slideLayout" Target="../slideLayouts/slideLayout37.xml"/>
</Relationships>
</file>

<file path=ppt/slides/_rels/slide86.xml.rels><?xml version="1.0" encoding="UTF-8"?>
<Relationships xmlns="http://schemas.openxmlformats.org/package/2006/relationships"><Relationship Id="rId1" Type="http://schemas.openxmlformats.org/officeDocument/2006/relationships/image" Target="../media/image129.jpeg"/><Relationship Id="rId2" Type="http://schemas.openxmlformats.org/officeDocument/2006/relationships/slideLayout" Target="../slideLayouts/slideLayout25.xml"/>
</Relationships>
</file>

<file path=ppt/slides/_rels/slide87.xml.rels><?xml version="1.0" encoding="UTF-8"?>
<Relationships xmlns="http://schemas.openxmlformats.org/package/2006/relationships"><Relationship Id="rId1" Type="http://schemas.openxmlformats.org/officeDocument/2006/relationships/image" Target="../media/image130.png"/><Relationship Id="rId2" Type="http://schemas.openxmlformats.org/officeDocument/2006/relationships/slideLayout" Target="../slideLayouts/slideLayout37.xml"/>
</Relationships>
</file>

<file path=ppt/slides/_rels/slide88.xml.rels><?xml version="1.0" encoding="UTF-8"?>
<Relationships xmlns="http://schemas.openxmlformats.org/package/2006/relationships"><Relationship Id="rId1" Type="http://schemas.openxmlformats.org/officeDocument/2006/relationships/image" Target="../media/image131.png"/><Relationship Id="rId2" Type="http://schemas.openxmlformats.org/officeDocument/2006/relationships/slideLayout" Target="../slideLayouts/slideLayout37.xml"/>
</Relationships>
</file>

<file path=ppt/slides/_rels/slide89.xml.rels><?xml version="1.0" encoding="UTF-8"?>
<Relationships xmlns="http://schemas.openxmlformats.org/package/2006/relationships"><Relationship Id="rId1" Type="http://schemas.openxmlformats.org/officeDocument/2006/relationships/image" Target="../media/image132.png"/><Relationship Id="rId2" Type="http://schemas.openxmlformats.org/officeDocument/2006/relationships/slideLayout" Target="../slideLayouts/slideLayout37.xml"/>
</Relationships>
</file>

<file path=ppt/slides/_rels/slide90.xml.rels><?xml version="1.0" encoding="UTF-8"?>
<Relationships xmlns="http://schemas.openxmlformats.org/package/2006/relationships"><Relationship Id="rId1" Type="http://schemas.openxmlformats.org/officeDocument/2006/relationships/image" Target="../media/image133.jpeg"/><Relationship Id="rId2" Type="http://schemas.openxmlformats.org/officeDocument/2006/relationships/slideLayout" Target="../slideLayouts/slideLayout25.xml"/>
</Relationships>
</file>

<file path=ppt/slides/_rels/slide91.xml.rels><?xml version="1.0" encoding="UTF-8"?>
<Relationships xmlns="http://schemas.openxmlformats.org/package/2006/relationships"><Relationship Id="rId1" Type="http://schemas.openxmlformats.org/officeDocument/2006/relationships/image" Target="../media/image134.jpeg"/><Relationship Id="rId2" Type="http://schemas.openxmlformats.org/officeDocument/2006/relationships/slideLayout" Target="../slideLayouts/slideLayout25.xml"/>
</Relationships>
</file>

<file path=ppt/slides/_rels/slide92.xml.rels><?xml version="1.0" encoding="UTF-8"?>
<Relationships xmlns="http://schemas.openxmlformats.org/package/2006/relationships"><Relationship Id="rId1" Type="http://schemas.openxmlformats.org/officeDocument/2006/relationships/image" Target="../media/image135.jpeg"/><Relationship Id="rId2" Type="http://schemas.openxmlformats.org/officeDocument/2006/relationships/slideLayout" Target="../slideLayouts/slideLayout25.xml"/>
</Relationships>
</file>

<file path=ppt/slides/_rels/slide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94.xml.rels><?xml version="1.0" encoding="UTF-8"?>
<Relationships xmlns="http://schemas.openxmlformats.org/package/2006/relationships"><Relationship Id="rId1" Type="http://schemas.openxmlformats.org/officeDocument/2006/relationships/image" Target="../media/image136.jpeg"/><Relationship Id="rId2" Type="http://schemas.openxmlformats.org/officeDocument/2006/relationships/image" Target="../media/image137.png"/><Relationship Id="rId3" Type="http://schemas.openxmlformats.org/officeDocument/2006/relationships/slideLayout" Target="../slideLayouts/slideLayout25.xml"/>
</Relationships>
</file>

<file path=ppt/slides/_rels/slide9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96.xml.rels><?xml version="1.0" encoding="UTF-8"?>
<Relationships xmlns="http://schemas.openxmlformats.org/package/2006/relationships"><Relationship Id="rId1" Type="http://schemas.openxmlformats.org/officeDocument/2006/relationships/image" Target="../media/image138.jpeg"/><Relationship Id="rId2" Type="http://schemas.openxmlformats.org/officeDocument/2006/relationships/slideLayout" Target="../slideLayouts/slideLayout25.xml"/>
</Relationships>
</file>

<file path=ppt/slides/_rels/slide97.xml.rels><?xml version="1.0" encoding="UTF-8"?>
<Relationships xmlns="http://schemas.openxmlformats.org/package/2006/relationships"><Relationship Id="rId1" Type="http://schemas.openxmlformats.org/officeDocument/2006/relationships/image" Target="../media/image139.png"/><Relationship Id="rId2" Type="http://schemas.openxmlformats.org/officeDocument/2006/relationships/image" Target="../media/image140.png"/><Relationship Id="rId3" Type="http://schemas.openxmlformats.org/officeDocument/2006/relationships/image" Target="../media/image141.png"/><Relationship Id="rId4" Type="http://schemas.openxmlformats.org/officeDocument/2006/relationships/slideLayout" Target="../slideLayouts/slideLayout37.xml"/>
</Relationships>
</file>

<file path=ppt/slides/_rels/slide98.xml.rels><?xml version="1.0" encoding="UTF-8"?>
<Relationships xmlns="http://schemas.openxmlformats.org/package/2006/relationships"><Relationship Id="rId1" Type="http://schemas.openxmlformats.org/officeDocument/2006/relationships/image" Target="../media/image142.png"/><Relationship Id="rId2" Type="http://schemas.openxmlformats.org/officeDocument/2006/relationships/slideLayout" Target="../slideLayouts/slideLayout37.xml"/>
</Relationships>
</file>

<file path=ppt/slides/_rels/slide99.xml.rels><?xml version="1.0" encoding="UTF-8"?>
<Relationships xmlns="http://schemas.openxmlformats.org/package/2006/relationships"><Relationship Id="rId1" Type="http://schemas.openxmlformats.org/officeDocument/2006/relationships/hyperlink" Target="https://kubernetes.io/docs/concepts/overview/working-with-objects/common-labels/" TargetMode="External"/><Relationship Id="rId2" Type="http://schemas.openxmlformats.org/officeDocument/2006/relationships/hyperlink" Target="https://kubernetes.io/docs/concepts/overview/working-with-objects/common-labels/" TargetMode="External"/><Relationship Id="rId3" Type="http://schemas.openxmlformats.org/officeDocument/2006/relationships/hyperlink" Target="https://kubernetes.io/docs/concepts/overview/working-with-objects/common-labels/" TargetMode="External"/><Relationship Id="rId4" Type="http://schemas.openxmlformats.org/officeDocument/2006/relationships/hyperlink" Target="https://kubernetes.io/docs/concepts/overview/working-with-objects/common-labels/" TargetMode="External"/><Relationship Id="rId5" Type="http://schemas.openxmlformats.org/officeDocument/2006/relationships/image" Target="../media/image143.png"/><Relationship Id="rId6" Type="http://schemas.openxmlformats.org/officeDocument/2006/relationships/slideLayout" Target="../slideLayouts/slideLayout37.xml"/>
</Relationships>
</file>

<file path=ppt/slides/_rels/slide100.xml.rels><?xml version="1.0" encoding="UTF-8"?>
<Relationships xmlns="http://schemas.openxmlformats.org/package/2006/relationships"><Relationship Id="rId1" Type="http://schemas.openxmlformats.org/officeDocument/2006/relationships/image" Target="../media/image144.jpeg"/><Relationship Id="rId2" Type="http://schemas.openxmlformats.org/officeDocument/2006/relationships/slideLayout" Target="../slideLayouts/slideLayout25.xml"/>
</Relationships>
</file>

<file path=ppt/slides/_rels/slide101.xml.rels><?xml version="1.0" encoding="UTF-8"?>
<Relationships xmlns="http://schemas.openxmlformats.org/package/2006/relationships"><Relationship Id="rId1" Type="http://schemas.openxmlformats.org/officeDocument/2006/relationships/image" Target="../media/image145.png"/><Relationship Id="rId2" Type="http://schemas.openxmlformats.org/officeDocument/2006/relationships/image" Target="../media/image146.png"/><Relationship Id="rId3" Type="http://schemas.openxmlformats.org/officeDocument/2006/relationships/image" Target="../media/image147.png"/><Relationship Id="rId4" Type="http://schemas.openxmlformats.org/officeDocument/2006/relationships/image" Target="../media/image148.png"/><Relationship Id="rId5" Type="http://schemas.openxmlformats.org/officeDocument/2006/relationships/slideLayout" Target="../slideLayouts/slideLayout37.xml"/>
</Relationships>
</file>

<file path=ppt/slides/_rels/slide102.xml.rels><?xml version="1.0" encoding="UTF-8"?>
<Relationships xmlns="http://schemas.openxmlformats.org/package/2006/relationships"><Relationship Id="rId1" Type="http://schemas.openxmlformats.org/officeDocument/2006/relationships/image" Target="../media/image149.png"/><Relationship Id="rId2" Type="http://schemas.openxmlformats.org/officeDocument/2006/relationships/slideLayout" Target="../slideLayouts/slideLayout37.xml"/>
</Relationships>
</file>

<file path=ppt/slides/_rels/slide10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04.xml.rels><?xml version="1.0" encoding="UTF-8"?>
<Relationships xmlns="http://schemas.openxmlformats.org/package/2006/relationships"><Relationship Id="rId1" Type="http://schemas.openxmlformats.org/officeDocument/2006/relationships/image" Target="../media/image150.jpeg"/><Relationship Id="rId2" Type="http://schemas.openxmlformats.org/officeDocument/2006/relationships/slideLayout" Target="../slideLayouts/slideLayout25.xml"/>
</Relationships>
</file>

<file path=ppt/slides/_rels/slide105.xml.rels><?xml version="1.0" encoding="UTF-8"?>
<Relationships xmlns="http://schemas.openxmlformats.org/package/2006/relationships"><Relationship Id="rId1" Type="http://schemas.openxmlformats.org/officeDocument/2006/relationships/image" Target="../media/image151.png"/><Relationship Id="rId2" Type="http://schemas.openxmlformats.org/officeDocument/2006/relationships/image" Target="../media/image152.png"/><Relationship Id="rId3" Type="http://schemas.openxmlformats.org/officeDocument/2006/relationships/image" Target="../media/image153.png"/><Relationship Id="rId4" Type="http://schemas.openxmlformats.org/officeDocument/2006/relationships/slideLayout" Target="../slideLayouts/slideLayout37.xml"/>
</Relationships>
</file>

<file path=ppt/slides/_rels/slide106.xml.rels><?xml version="1.0" encoding="UTF-8"?>
<Relationships xmlns="http://schemas.openxmlformats.org/package/2006/relationships"><Relationship Id="rId1" Type="http://schemas.openxmlformats.org/officeDocument/2006/relationships/image" Target="../media/image154.png"/><Relationship Id="rId2" Type="http://schemas.openxmlformats.org/officeDocument/2006/relationships/slideLayout" Target="../slideLayouts/slideLayout37.xml"/>
</Relationships>
</file>

<file path=ppt/slides/_rels/slide107.xml.rels><?xml version="1.0" encoding="UTF-8"?>
<Relationships xmlns="http://schemas.openxmlformats.org/package/2006/relationships"><Relationship Id="rId1" Type="http://schemas.openxmlformats.org/officeDocument/2006/relationships/hyperlink" Target="https://kubernetes.io/docs/reference/labels-annotations-taints/" TargetMode="External"/><Relationship Id="rId2" Type="http://schemas.openxmlformats.org/officeDocument/2006/relationships/hyperlink" Target="https://kubernetes.io/docs/reference/labels-annotations-taints/" TargetMode="External"/><Relationship Id="rId3" Type="http://schemas.openxmlformats.org/officeDocument/2006/relationships/hyperlink" Target="https://kubernetes.io/docs/reference/labels-annotations-taints/" TargetMode="External"/><Relationship Id="rId4" Type="http://schemas.openxmlformats.org/officeDocument/2006/relationships/hyperlink" Target="https://kubernetes.io/docs/reference/labels-annotations-taints/" TargetMode="External"/><Relationship Id="rId5" Type="http://schemas.openxmlformats.org/officeDocument/2006/relationships/image" Target="../media/image155.png"/><Relationship Id="rId6" Type="http://schemas.openxmlformats.org/officeDocument/2006/relationships/slideLayout" Target="../slideLayouts/slideLayout37.xml"/>
</Relationships>
</file>

<file path=ppt/slides/_rels/slide10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09.xml.rels><?xml version="1.0" encoding="UTF-8"?>
<Relationships xmlns="http://schemas.openxmlformats.org/package/2006/relationships"><Relationship Id="rId1" Type="http://schemas.openxmlformats.org/officeDocument/2006/relationships/image" Target="../media/image156.jpeg"/><Relationship Id="rId2" Type="http://schemas.openxmlformats.org/officeDocument/2006/relationships/slideLayout" Target="../slideLayouts/slideLayout25.xml"/>
</Relationships>
</file>

<file path=ppt/slides/_rels/slide1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11.xml.rels><?xml version="1.0" encoding="UTF-8"?>
<Relationships xmlns="http://schemas.openxmlformats.org/package/2006/relationships"><Relationship Id="rId1" Type="http://schemas.openxmlformats.org/officeDocument/2006/relationships/image" Target="../media/image157.jpeg"/><Relationship Id="rId2" Type="http://schemas.openxmlformats.org/officeDocument/2006/relationships/slideLayout" Target="../slideLayouts/slideLayout25.xml"/>
</Relationships>
</file>

<file path=ppt/slides/_rels/slide112.xml.rels><?xml version="1.0" encoding="UTF-8"?>
<Relationships xmlns="http://schemas.openxmlformats.org/package/2006/relationships"><Relationship Id="rId1" Type="http://schemas.openxmlformats.org/officeDocument/2006/relationships/image" Target="../media/image158.png"/><Relationship Id="rId2" Type="http://schemas.openxmlformats.org/officeDocument/2006/relationships/image" Target="../media/image159.png"/><Relationship Id="rId3" Type="http://schemas.openxmlformats.org/officeDocument/2006/relationships/slideLayout" Target="../slideLayouts/slideLayout37.xml"/>
</Relationships>
</file>

<file path=ppt/slides/_rels/slide113.xml.rels><?xml version="1.0" encoding="UTF-8"?>
<Relationships xmlns="http://schemas.openxmlformats.org/package/2006/relationships"><Relationship Id="rId1" Type="http://schemas.openxmlformats.org/officeDocument/2006/relationships/image" Target="../media/image160.png"/><Relationship Id="rId2" Type="http://schemas.openxmlformats.org/officeDocument/2006/relationships/slideLayout" Target="../slideLayouts/slideLayout37.xml"/>
</Relationships>
</file>

<file path=ppt/slides/_rels/slide114.xml.rels><?xml version="1.0" encoding="UTF-8"?>
<Relationships xmlns="http://schemas.openxmlformats.org/package/2006/relationships"><Relationship Id="rId1" Type="http://schemas.openxmlformats.org/officeDocument/2006/relationships/image" Target="../media/image161.png"/><Relationship Id="rId2" Type="http://schemas.openxmlformats.org/officeDocument/2006/relationships/slideLayout" Target="../slideLayouts/slideLayout37.xml"/>
</Relationships>
</file>

<file path=ppt/slides/_rels/slide115.xml.rels><?xml version="1.0" encoding="UTF-8"?>
<Relationships xmlns="http://schemas.openxmlformats.org/package/2006/relationships"><Relationship Id="rId1" Type="http://schemas.openxmlformats.org/officeDocument/2006/relationships/image" Target="../media/image162.png"/><Relationship Id="rId2" Type="http://schemas.openxmlformats.org/officeDocument/2006/relationships/slideLayout" Target="../slideLayouts/slideLayout37.xml"/>
</Relationships>
</file>

<file path=ppt/slides/_rels/slide116.xml.rels><?xml version="1.0" encoding="UTF-8"?>
<Relationships xmlns="http://schemas.openxmlformats.org/package/2006/relationships"><Relationship Id="rId1" Type="http://schemas.openxmlformats.org/officeDocument/2006/relationships/image" Target="../media/image163.png"/><Relationship Id="rId2" Type="http://schemas.openxmlformats.org/officeDocument/2006/relationships/slideLayout" Target="../slideLayouts/slideLayout37.xml"/>
</Relationships>
</file>

<file path=ppt/slides/_rels/slide117.xml.rels><?xml version="1.0" encoding="UTF-8"?>
<Relationships xmlns="http://schemas.openxmlformats.org/package/2006/relationships"><Relationship Id="rId1" Type="http://schemas.openxmlformats.org/officeDocument/2006/relationships/image" Target="../media/image164.jpeg"/><Relationship Id="rId2" Type="http://schemas.openxmlformats.org/officeDocument/2006/relationships/slideLayout" Target="../slideLayouts/slideLayout25.xml"/>
</Relationships>
</file>

<file path=ppt/slides/_rels/slide118.xml.rels><?xml version="1.0" encoding="UTF-8"?>
<Relationships xmlns="http://schemas.openxmlformats.org/package/2006/relationships"><Relationship Id="rId1" Type="http://schemas.openxmlformats.org/officeDocument/2006/relationships/image" Target="../media/image165.png"/><Relationship Id="rId2" Type="http://schemas.openxmlformats.org/officeDocument/2006/relationships/image" Target="../media/image166.png"/><Relationship Id="rId3" Type="http://schemas.openxmlformats.org/officeDocument/2006/relationships/slideLayout" Target="../slideLayouts/slideLayout37.xml"/>
</Relationships>
</file>

<file path=ppt/slides/_rels/slide119.xml.rels><?xml version="1.0" encoding="UTF-8"?>
<Relationships xmlns="http://schemas.openxmlformats.org/package/2006/relationships"><Relationship Id="rId1" Type="http://schemas.openxmlformats.org/officeDocument/2006/relationships/image" Target="../media/image167.png"/><Relationship Id="rId2" Type="http://schemas.openxmlformats.org/officeDocument/2006/relationships/image" Target="../media/image168.png"/><Relationship Id="rId3" Type="http://schemas.openxmlformats.org/officeDocument/2006/relationships/slideLayout" Target="../slideLayouts/slideLayout37.xml"/>
</Relationships>
</file>

<file path=ppt/slides/_rels/slide120.xml.rels><?xml version="1.0" encoding="UTF-8"?>
<Relationships xmlns="http://schemas.openxmlformats.org/package/2006/relationships"><Relationship Id="rId1" Type="http://schemas.openxmlformats.org/officeDocument/2006/relationships/image" Target="../media/image169.png"/><Relationship Id="rId2" Type="http://schemas.openxmlformats.org/officeDocument/2006/relationships/image" Target="../media/image170.png"/><Relationship Id="rId3" Type="http://schemas.openxmlformats.org/officeDocument/2006/relationships/slideLayout" Target="../slideLayouts/slideLayout37.xml"/>
</Relationships>
</file>

<file path=ppt/slides/_rels/slide121.xml.rels><?xml version="1.0" encoding="UTF-8"?>
<Relationships xmlns="http://schemas.openxmlformats.org/package/2006/relationships"><Relationship Id="rId1" Type="http://schemas.openxmlformats.org/officeDocument/2006/relationships/image" Target="../media/image171.jpeg"/><Relationship Id="rId2" Type="http://schemas.openxmlformats.org/officeDocument/2006/relationships/slideLayout" Target="../slideLayouts/slideLayout25.xml"/>
</Relationships>
</file>

<file path=ppt/slides/_rels/slide122.xml.rels><?xml version="1.0" encoding="UTF-8"?>
<Relationships xmlns="http://schemas.openxmlformats.org/package/2006/relationships"><Relationship Id="rId1" Type="http://schemas.openxmlformats.org/officeDocument/2006/relationships/image" Target="../media/image172.png"/><Relationship Id="rId2" Type="http://schemas.openxmlformats.org/officeDocument/2006/relationships/slideLayout" Target="../slideLayouts/slideLayout37.xml"/>
</Relationships>
</file>

<file path=ppt/slides/_rels/slide1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24.xml.rels><?xml version="1.0" encoding="UTF-8"?>
<Relationships xmlns="http://schemas.openxmlformats.org/package/2006/relationships"><Relationship Id="rId1" Type="http://schemas.openxmlformats.org/officeDocument/2006/relationships/hyperlink" Target="https://github.com/kubernetes-sigs/metrics-server" TargetMode="External"/><Relationship Id="rId2" Type="http://schemas.openxmlformats.org/officeDocument/2006/relationships/hyperlink" Target="https://github.com/kubernetes-sigs/metrics-server" TargetMode="External"/><Relationship Id="rId3" Type="http://schemas.openxmlformats.org/officeDocument/2006/relationships/slideLayout" Target="../slideLayouts/slideLayout37.xml"/>
</Relationships>
</file>

<file path=ppt/slides/_rels/slide125.xml.rels><?xml version="1.0" encoding="UTF-8"?>
<Relationships xmlns="http://schemas.openxmlformats.org/package/2006/relationships"><Relationship Id="rId1" Type="http://schemas.openxmlformats.org/officeDocument/2006/relationships/image" Target="../media/image173.jpeg"/><Relationship Id="rId2" Type="http://schemas.openxmlformats.org/officeDocument/2006/relationships/slideLayout" Target="../slideLayouts/slideLayout25.xml"/>
</Relationships>
</file>

<file path=ppt/slides/_rels/slide126.xml.rels><?xml version="1.0" encoding="UTF-8"?>
<Relationships xmlns="http://schemas.openxmlformats.org/package/2006/relationships"><Relationship Id="rId1" Type="http://schemas.openxmlformats.org/officeDocument/2006/relationships/image" Target="../media/image174.jpeg"/><Relationship Id="rId2" Type="http://schemas.openxmlformats.org/officeDocument/2006/relationships/slideLayout" Target="../slideLayouts/slideLayout25.xml"/>
</Relationships>
</file>

<file path=ppt/slides/_rels/slide127.xml.rels><?xml version="1.0" encoding="UTF-8"?>
<Relationships xmlns="http://schemas.openxmlformats.org/package/2006/relationships"><Relationship Id="rId1" Type="http://schemas.openxmlformats.org/officeDocument/2006/relationships/image" Target="../media/image175.png"/><Relationship Id="rId2" Type="http://schemas.openxmlformats.org/officeDocument/2006/relationships/slideLayout" Target="../slideLayouts/slideLayout37.xml"/>
</Relationships>
</file>

<file path=ppt/slides/_rels/slide128.xml.rels><?xml version="1.0" encoding="UTF-8"?>
<Relationships xmlns="http://schemas.openxmlformats.org/package/2006/relationships"><Relationship Id="rId1" Type="http://schemas.openxmlformats.org/officeDocument/2006/relationships/image" Target="../media/image176.png"/><Relationship Id="rId2" Type="http://schemas.openxmlformats.org/officeDocument/2006/relationships/image" Target="../media/image177.png"/><Relationship Id="rId3" Type="http://schemas.openxmlformats.org/officeDocument/2006/relationships/slideLayout" Target="../slideLayouts/slideLayout37.xml"/>
</Relationships>
</file>

<file path=ppt/slides/_rels/slide1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31.xml.rels><?xml version="1.0" encoding="UTF-8"?>
<Relationships xmlns="http://schemas.openxmlformats.org/package/2006/relationships"><Relationship Id="rId1" Type="http://schemas.openxmlformats.org/officeDocument/2006/relationships/image" Target="../media/image178.jpeg"/><Relationship Id="rId2" Type="http://schemas.openxmlformats.org/officeDocument/2006/relationships/slideLayout" Target="../slideLayouts/slideLayout25.xml"/>
</Relationships>
</file>

<file path=ppt/slides/_rels/slide132.xml.rels><?xml version="1.0" encoding="UTF-8"?>
<Relationships xmlns="http://schemas.openxmlformats.org/package/2006/relationships"><Relationship Id="rId1" Type="http://schemas.openxmlformats.org/officeDocument/2006/relationships/image" Target="../media/image179.png"/><Relationship Id="rId2" Type="http://schemas.openxmlformats.org/officeDocument/2006/relationships/slideLayout" Target="../slideLayouts/slideLayout37.xml"/>
</Relationships>
</file>

<file path=ppt/slides/_rels/slide133.xml.rels><?xml version="1.0" encoding="UTF-8"?>
<Relationships xmlns="http://schemas.openxmlformats.org/package/2006/relationships"><Relationship Id="rId1" Type="http://schemas.openxmlformats.org/officeDocument/2006/relationships/image" Target="../media/image180.jpeg"/><Relationship Id="rId2" Type="http://schemas.openxmlformats.org/officeDocument/2006/relationships/slideLayout" Target="../slideLayouts/slideLayout25.xml"/>
</Relationships>
</file>

<file path=ppt/slides/_rels/slide134.xml.rels><?xml version="1.0" encoding="UTF-8"?>
<Relationships xmlns="http://schemas.openxmlformats.org/package/2006/relationships"><Relationship Id="rId1" Type="http://schemas.openxmlformats.org/officeDocument/2006/relationships/image" Target="../media/image181.png"/><Relationship Id="rId2" Type="http://schemas.openxmlformats.org/officeDocument/2006/relationships/slideLayout" Target="../slideLayouts/slideLayout37.xml"/>
</Relationships>
</file>

<file path=ppt/slides/_rels/slide135.xml.rels><?xml version="1.0" encoding="UTF-8"?>
<Relationships xmlns="http://schemas.openxmlformats.org/package/2006/relationships"><Relationship Id="rId1" Type="http://schemas.openxmlformats.org/officeDocument/2006/relationships/image" Target="../media/image182.jpeg"/><Relationship Id="rId2" Type="http://schemas.openxmlformats.org/officeDocument/2006/relationships/slideLayout" Target="../slideLayouts/slideLayout25.xml"/>
</Relationships>
</file>

<file path=ppt/slides/_rels/slide136.xml.rels><?xml version="1.0" encoding="UTF-8"?>
<Relationships xmlns="http://schemas.openxmlformats.org/package/2006/relationships"><Relationship Id="rId1" Type="http://schemas.openxmlformats.org/officeDocument/2006/relationships/image" Target="../media/image183.png"/><Relationship Id="rId2" Type="http://schemas.openxmlformats.org/officeDocument/2006/relationships/slideLayout" Target="../slideLayouts/slideLayout37.xml"/>
</Relationships>
</file>

<file path=ppt/slides/_rels/slide137.xml.rels><?xml version="1.0" encoding="UTF-8"?>
<Relationships xmlns="http://schemas.openxmlformats.org/package/2006/relationships"><Relationship Id="rId1" Type="http://schemas.openxmlformats.org/officeDocument/2006/relationships/image" Target="../media/image184.jpeg"/><Relationship Id="rId2" Type="http://schemas.openxmlformats.org/officeDocument/2006/relationships/slideLayout" Target="../slideLayouts/slideLayout25.xml"/>
</Relationships>
</file>

<file path=ppt/slides/_rels/slide138.xml.rels><?xml version="1.0" encoding="UTF-8"?>
<Relationships xmlns="http://schemas.openxmlformats.org/package/2006/relationships"><Relationship Id="rId1" Type="http://schemas.openxmlformats.org/officeDocument/2006/relationships/image" Target="../media/image185.png"/><Relationship Id="rId2" Type="http://schemas.openxmlformats.org/officeDocument/2006/relationships/slideLayout" Target="../slideLayouts/slideLayout37.xml"/>
</Relationships>
</file>

<file path=ppt/slides/_rels/slide139.xml.rels><?xml version="1.0" encoding="UTF-8"?>
<Relationships xmlns="http://schemas.openxmlformats.org/package/2006/relationships"><Relationship Id="rId1" Type="http://schemas.openxmlformats.org/officeDocument/2006/relationships/image" Target="../media/image186.jpeg"/><Relationship Id="rId2" Type="http://schemas.openxmlformats.org/officeDocument/2006/relationships/image" Target="../media/image187.png"/><Relationship Id="rId3" Type="http://schemas.openxmlformats.org/officeDocument/2006/relationships/image" Target="../media/image188.png"/><Relationship Id="rId4" Type="http://schemas.openxmlformats.org/officeDocument/2006/relationships/slideLayout" Target="../slideLayouts/slideLayout37.xml"/>
</Relationships>
</file>

<file path=ppt/slides/_rels/slide140.xml.rels><?xml version="1.0" encoding="UTF-8"?>
<Relationships xmlns="http://schemas.openxmlformats.org/package/2006/relationships"><Relationship Id="rId1" Type="http://schemas.openxmlformats.org/officeDocument/2006/relationships/image" Target="../media/image189.jpeg"/><Relationship Id="rId2" Type="http://schemas.openxmlformats.org/officeDocument/2006/relationships/image" Target="../media/image190.png"/><Relationship Id="rId3" Type="http://schemas.openxmlformats.org/officeDocument/2006/relationships/slideLayout" Target="../slideLayouts/slideLayout25.xml"/>
</Relationships>
</file>

<file path=ppt/slides/_rels/slide141.xml.rels><?xml version="1.0" encoding="UTF-8"?>
<Relationships xmlns="http://schemas.openxmlformats.org/package/2006/relationships"><Relationship Id="rId1" Type="http://schemas.openxmlformats.org/officeDocument/2006/relationships/hyperlink" Target="https://artifacthub.io/packages/search?kind=0" TargetMode="External"/><Relationship Id="rId2" Type="http://schemas.openxmlformats.org/officeDocument/2006/relationships/hyperlink" Target="https://artifacthub.io/packages/search?kind=0" TargetMode="External"/><Relationship Id="rId3" Type="http://schemas.openxmlformats.org/officeDocument/2006/relationships/image" Target="../media/image191.png"/><Relationship Id="rId4" Type="http://schemas.openxmlformats.org/officeDocument/2006/relationships/slideLayout" Target="../slideLayouts/slideLayout37.xml"/>
</Relationships>
</file>

<file path=ppt/slides/_rels/slide142.xml.rels><?xml version="1.0" encoding="UTF-8"?>
<Relationships xmlns="http://schemas.openxmlformats.org/package/2006/relationships"><Relationship Id="rId1" Type="http://schemas.openxmlformats.org/officeDocument/2006/relationships/image" Target="../media/image192.png"/><Relationship Id="rId2" Type="http://schemas.openxmlformats.org/officeDocument/2006/relationships/image" Target="../media/image193.png"/><Relationship Id="rId3" Type="http://schemas.openxmlformats.org/officeDocument/2006/relationships/image" Target="../media/image194.png"/><Relationship Id="rId4" Type="http://schemas.openxmlformats.org/officeDocument/2006/relationships/slideLayout" Target="../slideLayouts/slideLayout37.xml"/>
</Relationships>
</file>

<file path=ppt/slides/_rels/slide1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44.xml.rels><?xml version="1.0" encoding="UTF-8"?>
<Relationships xmlns="http://schemas.openxmlformats.org/package/2006/relationships"><Relationship Id="rId1" Type="http://schemas.openxmlformats.org/officeDocument/2006/relationships/image" Target="../media/image195.png"/><Relationship Id="rId2" Type="http://schemas.openxmlformats.org/officeDocument/2006/relationships/slideLayout" Target="../slideLayouts/slideLayout37.xml"/>
</Relationships>
</file>

<file path=ppt/slides/_rels/slide1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46.xml.rels><?xml version="1.0" encoding="UTF-8"?>
<Relationships xmlns="http://schemas.openxmlformats.org/package/2006/relationships"><Relationship Id="rId1" Type="http://schemas.openxmlformats.org/officeDocument/2006/relationships/image" Target="../media/image196.png"/><Relationship Id="rId2" Type="http://schemas.openxmlformats.org/officeDocument/2006/relationships/slideLayout" Target="../slideLayouts/slideLayout37.xml"/>
</Relationships>
</file>

<file path=ppt/slides/_rels/slide1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48.xml.rels><?xml version="1.0" encoding="UTF-8"?>
<Relationships xmlns="http://schemas.openxmlformats.org/package/2006/relationships"><Relationship Id="rId1" Type="http://schemas.openxmlformats.org/officeDocument/2006/relationships/hyperlink" Target="https://helm.sh/docs/chart_template_guide/builtin_objects/" TargetMode="External"/><Relationship Id="rId2" Type="http://schemas.openxmlformats.org/officeDocument/2006/relationships/hyperlink" Target="https://helm.sh/docs/chart_template_guide/builtin_objects/" TargetMode="External"/><Relationship Id="rId3" Type="http://schemas.openxmlformats.org/officeDocument/2006/relationships/hyperlink" Target="https://helm.sh/docs/chart_template_guide/builtin_objects/" TargetMode="External"/><Relationship Id="rId4" Type="http://schemas.openxmlformats.org/officeDocument/2006/relationships/hyperlink" Target="https://helm.sh/docs/chart_template_guide/builtin_objects/" TargetMode="External"/><Relationship Id="rId5" Type="http://schemas.openxmlformats.org/officeDocument/2006/relationships/slideLayout" Target="../slideLayouts/slideLayout37.xml"/>
</Relationships>
</file>

<file path=ppt/slides/_rels/slide149.xml.rels><?xml version="1.0" encoding="UTF-8"?>
<Relationships xmlns="http://schemas.openxmlformats.org/package/2006/relationships"><Relationship Id="rId1" Type="http://schemas.openxmlformats.org/officeDocument/2006/relationships/image" Target="../media/image197.png"/><Relationship Id="rId2" Type="http://schemas.openxmlformats.org/officeDocument/2006/relationships/slideLayout" Target="../slideLayouts/slideLayout37.xml"/>
</Relationships>
</file>

<file path=ppt/slides/_rels/slide150.xml.rels><?xml version="1.0" encoding="UTF-8"?>
<Relationships xmlns="http://schemas.openxmlformats.org/package/2006/relationships"><Relationship Id="rId1" Type="http://schemas.openxmlformats.org/officeDocument/2006/relationships/image" Target="../media/image198.png"/><Relationship Id="rId2" Type="http://schemas.openxmlformats.org/officeDocument/2006/relationships/slideLayout" Target="../slideLayouts/slideLayout37.xml"/>
</Relationships>
</file>

<file path=ppt/slides/_rels/slide151.xml.rels><?xml version="1.0" encoding="UTF-8"?>
<Relationships xmlns="http://schemas.openxmlformats.org/package/2006/relationships"><Relationship Id="rId1" Type="http://schemas.openxmlformats.org/officeDocument/2006/relationships/image" Target="../media/image199.png"/><Relationship Id="rId2" Type="http://schemas.openxmlformats.org/officeDocument/2006/relationships/slideLayout" Target="../slideLayouts/slideLayout37.xml"/>
</Relationships>
</file>

<file path=ppt/slides/_rels/slide152.xml.rels><?xml version="1.0" encoding="UTF-8"?>
<Relationships xmlns="http://schemas.openxmlformats.org/package/2006/relationships"><Relationship Id="rId1" Type="http://schemas.openxmlformats.org/officeDocument/2006/relationships/image" Target="../media/image200.png"/><Relationship Id="rId2" Type="http://schemas.openxmlformats.org/officeDocument/2006/relationships/image" Target="../media/image201.png"/><Relationship Id="rId3" Type="http://schemas.openxmlformats.org/officeDocument/2006/relationships/image" Target="../media/image202.png"/><Relationship Id="rId4" Type="http://schemas.openxmlformats.org/officeDocument/2006/relationships/slideLayout" Target="../slideLayouts/slideLayout37.xml"/>
</Relationships>
</file>

<file path=ppt/slides/_rels/slide1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55.xml.rels><?xml version="1.0" encoding="UTF-8"?>
<Relationships xmlns="http://schemas.openxmlformats.org/package/2006/relationships"><Relationship Id="rId1" Type="http://schemas.openxmlformats.org/officeDocument/2006/relationships/image" Target="../media/image203.jpeg"/><Relationship Id="rId2" Type="http://schemas.openxmlformats.org/officeDocument/2006/relationships/slideLayout" Target="../slideLayouts/slideLayout25.xml"/>
</Relationships>
</file>

<file path=ppt/slides/_rels/slide156.xml.rels><?xml version="1.0" encoding="UTF-8"?>
<Relationships xmlns="http://schemas.openxmlformats.org/package/2006/relationships"><Relationship Id="rId1" Type="http://schemas.openxmlformats.org/officeDocument/2006/relationships/image" Target="../media/image204.jpeg"/><Relationship Id="rId2" Type="http://schemas.openxmlformats.org/officeDocument/2006/relationships/image" Target="../media/image205.png"/><Relationship Id="rId3" Type="http://schemas.openxmlformats.org/officeDocument/2006/relationships/slideLayout" Target="../slideLayouts/slideLayout25.xml"/>
</Relationships>
</file>

<file path=ppt/slides/_rels/slide1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58.xml.rels><?xml version="1.0" encoding="UTF-8"?>
<Relationships xmlns="http://schemas.openxmlformats.org/package/2006/relationships"><Relationship Id="rId1" Type="http://schemas.openxmlformats.org/officeDocument/2006/relationships/image" Target="../media/image206.jpeg"/><Relationship Id="rId2" Type="http://schemas.openxmlformats.org/officeDocument/2006/relationships/slideLayout" Target="../slideLayouts/slideLayout25.xml"/>
</Relationships>
</file>

<file path=ppt/slides/_rels/slide159.xml.rels><?xml version="1.0" encoding="UTF-8"?>
<Relationships xmlns="http://schemas.openxmlformats.org/package/2006/relationships"><Relationship Id="rId1" Type="http://schemas.openxmlformats.org/officeDocument/2006/relationships/image" Target="../media/image207.jpeg"/><Relationship Id="rId2" Type="http://schemas.openxmlformats.org/officeDocument/2006/relationships/slideLayout" Target="../slideLayouts/slideLayout25.xml"/>
</Relationships>
</file>

<file path=ppt/slides/_rels/slide160.xml.rels><?xml version="1.0" encoding="UTF-8"?>
<Relationships xmlns="http://schemas.openxmlformats.org/package/2006/relationships"><Relationship Id="rId1" Type="http://schemas.openxmlformats.org/officeDocument/2006/relationships/image" Target="../media/image208.jpeg"/><Relationship Id="rId2" Type="http://schemas.openxmlformats.org/officeDocument/2006/relationships/slideLayout" Target="../slideLayouts/slideLayout25.xml"/>
</Relationships>
</file>

<file path=ppt/slides/_rels/slide161.xml.rels><?xml version="1.0" encoding="UTF-8"?>
<Relationships xmlns="http://schemas.openxmlformats.org/package/2006/relationships"><Relationship Id="rId1" Type="http://schemas.openxmlformats.org/officeDocument/2006/relationships/hyperlink" Target="https://github.com/grpc/grpc/blob/master/doc/health-checking.md" TargetMode="External"/><Relationship Id="rId2" Type="http://schemas.openxmlformats.org/officeDocument/2006/relationships/slideLayout" Target="../slideLayouts/slideLayout37.xml"/>
</Relationships>
</file>

<file path=ppt/slides/_rels/slide1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63.xml.rels><?xml version="1.0" encoding="UTF-8"?>
<Relationships xmlns="http://schemas.openxmlformats.org/package/2006/relationships"><Relationship Id="rId1" Type="http://schemas.openxmlformats.org/officeDocument/2006/relationships/image" Target="../media/image209.png"/><Relationship Id="rId2" Type="http://schemas.openxmlformats.org/officeDocument/2006/relationships/slideLayout" Target="../slideLayouts/slideLayout37.xml"/>
</Relationships>
</file>

<file path=ppt/slides/_rels/slide164.xml.rels><?xml version="1.0" encoding="UTF-8"?>
<Relationships xmlns="http://schemas.openxmlformats.org/package/2006/relationships"><Relationship Id="rId1" Type="http://schemas.openxmlformats.org/officeDocument/2006/relationships/image" Target="../media/image210.png"/><Relationship Id="rId2" Type="http://schemas.openxmlformats.org/officeDocument/2006/relationships/slideLayout" Target="../slideLayouts/slideLayout37.xml"/>
</Relationships>
</file>

<file path=ppt/slides/_rels/slide165.xml.rels><?xml version="1.0" encoding="UTF-8"?>
<Relationships xmlns="http://schemas.openxmlformats.org/package/2006/relationships"><Relationship Id="rId1" Type="http://schemas.openxmlformats.org/officeDocument/2006/relationships/image" Target="../media/image211.png"/><Relationship Id="rId2" Type="http://schemas.openxmlformats.org/officeDocument/2006/relationships/slideLayout" Target="../slideLayouts/slideLayout37.xml"/>
</Relationships>
</file>

<file path=ppt/slides/_rels/slide166.xml.rels><?xml version="1.0" encoding="UTF-8"?>
<Relationships xmlns="http://schemas.openxmlformats.org/package/2006/relationships"><Relationship Id="rId1" Type="http://schemas.openxmlformats.org/officeDocument/2006/relationships/image" Target="../media/image212.png"/><Relationship Id="rId2" Type="http://schemas.openxmlformats.org/officeDocument/2006/relationships/slideLayout" Target="../slideLayouts/slideLayout37.xml"/>
</Relationships>
</file>

<file path=ppt/slides/_rels/slide1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68.xml.rels><?xml version="1.0" encoding="UTF-8"?>
<Relationships xmlns="http://schemas.openxmlformats.org/package/2006/relationships"><Relationship Id="rId1" Type="http://schemas.openxmlformats.org/officeDocument/2006/relationships/image" Target="../media/image213.jpeg"/><Relationship Id="rId2" Type="http://schemas.openxmlformats.org/officeDocument/2006/relationships/image" Target="../media/image214.png"/><Relationship Id="rId3" Type="http://schemas.openxmlformats.org/officeDocument/2006/relationships/slideLayout" Target="../slideLayouts/slideLayout25.xml"/>
</Relationships>
</file>

<file path=ppt/slides/_rels/slide169.xml.rels><?xml version="1.0" encoding="UTF-8"?>
<Relationships xmlns="http://schemas.openxmlformats.org/package/2006/relationships"><Relationship Id="rId1" Type="http://schemas.openxmlformats.org/officeDocument/2006/relationships/hyperlink" Target="https://kubernetes.io/docs/tasks/debug/debug-cluster/resource-metrics-pipeline/" TargetMode="External"/><Relationship Id="rId2" Type="http://schemas.openxmlformats.org/officeDocument/2006/relationships/hyperlink" Target="https://kubernetes.io/docs/tasks/debug/debug-cluster/resource-metrics-pipeline/" TargetMode="External"/><Relationship Id="rId3" Type="http://schemas.openxmlformats.org/officeDocument/2006/relationships/hyperlink" Target="https://kubernetes.io/docs/tasks/debug/debug-cluster/resource-metrics-pipeline/" TargetMode="External"/><Relationship Id="rId4" Type="http://schemas.openxmlformats.org/officeDocument/2006/relationships/image" Target="../media/image215.jpeg"/><Relationship Id="rId5" Type="http://schemas.openxmlformats.org/officeDocument/2006/relationships/slideLayout" Target="../slideLayouts/slideLayout37.xml"/>
</Relationships>
</file>

<file path=ppt/slides/_rels/slide170.xml.rels><?xml version="1.0" encoding="UTF-8"?>
<Relationships xmlns="http://schemas.openxmlformats.org/package/2006/relationships"><Relationship Id="rId1" Type="http://schemas.openxmlformats.org/officeDocument/2006/relationships/image" Target="../media/image216.png"/><Relationship Id="rId2" Type="http://schemas.openxmlformats.org/officeDocument/2006/relationships/image" Target="../media/image217.png"/><Relationship Id="rId3" Type="http://schemas.openxmlformats.org/officeDocument/2006/relationships/slideLayout" Target="../slideLayouts/slideLayout37.xml"/>
</Relationships>
</file>

<file path=ppt/slides/_rels/slide171.xml.rels><?xml version="1.0" encoding="UTF-8"?>
<Relationships xmlns="http://schemas.openxmlformats.org/package/2006/relationships"><Relationship Id="rId1" Type="http://schemas.openxmlformats.org/officeDocument/2006/relationships/image" Target="../media/image218.png"/><Relationship Id="rId2" Type="http://schemas.openxmlformats.org/officeDocument/2006/relationships/slideLayout" Target="../slideLayouts/slideLayout37.xml"/>
</Relationships>
</file>

<file path=ppt/slides/_rels/slide172.xml.rels><?xml version="1.0" encoding="UTF-8"?>
<Relationships xmlns="http://schemas.openxmlformats.org/package/2006/relationships"><Relationship Id="rId1" Type="http://schemas.openxmlformats.org/officeDocument/2006/relationships/hyperlink" Target="https://github.com/kubernetes/design-proposals-archive/blob/main/instrumentation/resource-metrics-api.md#main-use-cases" TargetMode="External"/><Relationship Id="rId2" Type="http://schemas.openxmlformats.org/officeDocument/2006/relationships/slideLayout" Target="../slideLayouts/slideLayout37.xml"/>
</Relationships>
</file>

<file path=ppt/slides/_rels/slide173.xml.rels><?xml version="1.0" encoding="UTF-8"?>
<Relationships xmlns="http://schemas.openxmlformats.org/package/2006/relationships"><Relationship Id="rId1" Type="http://schemas.openxmlformats.org/officeDocument/2006/relationships/image" Target="../media/image219.jpeg"/><Relationship Id="rId2" Type="http://schemas.openxmlformats.org/officeDocument/2006/relationships/image" Target="../media/image220.png"/><Relationship Id="rId3" Type="http://schemas.openxmlformats.org/officeDocument/2006/relationships/slideLayout" Target="../slideLayouts/slideLayout25.xml"/>
</Relationships>
</file>

<file path=ppt/slides/_rels/slide174.xml.rels><?xml version="1.0" encoding="UTF-8"?>
<Relationships xmlns="http://schemas.openxmlformats.org/package/2006/relationships"><Relationship Id="rId1" Type="http://schemas.openxmlformats.org/officeDocument/2006/relationships/image" Target="../media/image221.png"/><Relationship Id="rId2" Type="http://schemas.openxmlformats.org/officeDocument/2006/relationships/image" Target="../media/image222.png"/><Relationship Id="rId3" Type="http://schemas.openxmlformats.org/officeDocument/2006/relationships/image" Target="../media/image223.png"/><Relationship Id="rId4" Type="http://schemas.openxmlformats.org/officeDocument/2006/relationships/slideLayout" Target="../slideLayouts/slideLayout37.xml"/>
</Relationships>
</file>

<file path=ppt/slides/_rels/slide175.xml.rels><?xml version="1.0" encoding="UTF-8"?>
<Relationships xmlns="http://schemas.openxmlformats.org/package/2006/relationships"><Relationship Id="rId1" Type="http://schemas.openxmlformats.org/officeDocument/2006/relationships/image" Target="../media/image224.png"/><Relationship Id="rId2" Type="http://schemas.openxmlformats.org/officeDocument/2006/relationships/slideLayout" Target="../slideLayouts/slideLayout37.xml"/>
</Relationships>
</file>

<file path=ppt/slides/_rels/slide176.xml.rels><?xml version="1.0" encoding="UTF-8"?>
<Relationships xmlns="http://schemas.openxmlformats.org/package/2006/relationships"><Relationship Id="rId1" Type="http://schemas.openxmlformats.org/officeDocument/2006/relationships/image" Target="../media/image225.png"/><Relationship Id="rId2" Type="http://schemas.openxmlformats.org/officeDocument/2006/relationships/slideLayout" Target="../slideLayouts/slideLayout37.xml"/>
</Relationships>
</file>

<file path=ppt/slides/_rels/slide177.xml.rels><?xml version="1.0" encoding="UTF-8"?>
<Relationships xmlns="http://schemas.openxmlformats.org/package/2006/relationships"><Relationship Id="rId1" Type="http://schemas.openxmlformats.org/officeDocument/2006/relationships/image" Target="../media/image226.png"/><Relationship Id="rId2" Type="http://schemas.openxmlformats.org/officeDocument/2006/relationships/slideLayout" Target="../slideLayouts/slideLayout37.xml"/>
</Relationships>
</file>

<file path=ppt/slides/_rels/slide178.xml.rels><?xml version="1.0" encoding="UTF-8"?>
<Relationships xmlns="http://schemas.openxmlformats.org/package/2006/relationships"><Relationship Id="rId1" Type="http://schemas.openxmlformats.org/officeDocument/2006/relationships/image" Target="../media/image227.png"/><Relationship Id="rId2" Type="http://schemas.openxmlformats.org/officeDocument/2006/relationships/slideLayout" Target="../slideLayouts/slideLayout37.xml"/>
</Relationships>
</file>

<file path=ppt/slides/_rels/slide1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80.xml.rels><?xml version="1.0" encoding="UTF-8"?>
<Relationships xmlns="http://schemas.openxmlformats.org/package/2006/relationships"><Relationship Id="rId1" Type="http://schemas.openxmlformats.org/officeDocument/2006/relationships/image" Target="../media/image228.png"/><Relationship Id="rId2" Type="http://schemas.openxmlformats.org/officeDocument/2006/relationships/slideLayout" Target="../slideLayouts/slideLayout37.xml"/>
</Relationships>
</file>

<file path=ppt/slides/_rels/slide181.xml.rels><?xml version="1.0" encoding="UTF-8"?>
<Relationships xmlns="http://schemas.openxmlformats.org/package/2006/relationships"><Relationship Id="rId1" Type="http://schemas.openxmlformats.org/officeDocument/2006/relationships/image" Target="../media/image229.png"/><Relationship Id="rId2" Type="http://schemas.openxmlformats.org/officeDocument/2006/relationships/slideLayout" Target="../slideLayouts/slideLayout37.xml"/>
</Relationships>
</file>

<file path=ppt/slides/_rels/slide182.xml.rels><?xml version="1.0" encoding="UTF-8"?>
<Relationships xmlns="http://schemas.openxmlformats.org/package/2006/relationships"><Relationship Id="rId1" Type="http://schemas.openxmlformats.org/officeDocument/2006/relationships/image" Target="../media/image230.png"/><Relationship Id="rId2" Type="http://schemas.openxmlformats.org/officeDocument/2006/relationships/image" Target="../media/image231.png"/><Relationship Id="rId3" Type="http://schemas.openxmlformats.org/officeDocument/2006/relationships/image" Target="../media/image232.png"/><Relationship Id="rId4" Type="http://schemas.openxmlformats.org/officeDocument/2006/relationships/image" Target="../media/image233.png"/><Relationship Id="rId5" Type="http://schemas.openxmlformats.org/officeDocument/2006/relationships/slideLayout" Target="../slideLayouts/slideLayout37.xml"/>
</Relationships>
</file>

<file path=ppt/slides/_rels/slide18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84.xml.rels><?xml version="1.0" encoding="UTF-8"?>
<Relationships xmlns="http://schemas.openxmlformats.org/package/2006/relationships"><Relationship Id="rId1" Type="http://schemas.openxmlformats.org/officeDocument/2006/relationships/image" Target="../media/image234.jpeg"/><Relationship Id="rId2" Type="http://schemas.openxmlformats.org/officeDocument/2006/relationships/slideLayout" Target="../slideLayouts/slideLayout25.xml"/>
</Relationships>
</file>

<file path=ppt/slides/_rels/slide185.xml.rels><?xml version="1.0" encoding="UTF-8"?>
<Relationships xmlns="http://schemas.openxmlformats.org/package/2006/relationships"><Relationship Id="rId1" Type="http://schemas.openxmlformats.org/officeDocument/2006/relationships/image" Target="../media/image235.jpeg"/><Relationship Id="rId2" Type="http://schemas.openxmlformats.org/officeDocument/2006/relationships/image" Target="../media/image236.png"/><Relationship Id="rId3" Type="http://schemas.openxmlformats.org/officeDocument/2006/relationships/slideLayout" Target="../slideLayouts/slideLayout25.xml"/>
</Relationships>
</file>

<file path=ppt/slides/_rels/slide1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87.xml.rels><?xml version="1.0" encoding="UTF-8"?>
<Relationships xmlns="http://schemas.openxmlformats.org/package/2006/relationships"><Relationship Id="rId1" Type="http://schemas.openxmlformats.org/officeDocument/2006/relationships/image" Target="../media/image237.jpeg"/><Relationship Id="rId2" Type="http://schemas.openxmlformats.org/officeDocument/2006/relationships/slideLayout" Target="../slideLayouts/slideLayout25.xml"/>
</Relationships>
</file>

<file path=ppt/slides/_rels/slide18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89.xml.rels><?xml version="1.0" encoding="UTF-8"?>
<Relationships xmlns="http://schemas.openxmlformats.org/package/2006/relationships"><Relationship Id="rId1" Type="http://schemas.openxmlformats.org/officeDocument/2006/relationships/image" Target="../media/image238.png"/><Relationship Id="rId2" Type="http://schemas.openxmlformats.org/officeDocument/2006/relationships/slideLayout" Target="../slideLayouts/slideLayout37.xml"/>
</Relationships>
</file>

<file path=ppt/slides/_rels/slide190.xml.rels><?xml version="1.0" encoding="UTF-8"?>
<Relationships xmlns="http://schemas.openxmlformats.org/package/2006/relationships"><Relationship Id="rId1" Type="http://schemas.openxmlformats.org/officeDocument/2006/relationships/image" Target="../media/image239.png"/><Relationship Id="rId2" Type="http://schemas.openxmlformats.org/officeDocument/2006/relationships/slideLayout" Target="../slideLayouts/slideLayout37.xml"/>
</Relationships>
</file>

<file path=ppt/slides/_rels/slide19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92.xml.rels><?xml version="1.0" encoding="UTF-8"?>
<Relationships xmlns="http://schemas.openxmlformats.org/package/2006/relationships"><Relationship Id="rId1" Type="http://schemas.openxmlformats.org/officeDocument/2006/relationships/image" Target="../media/image240.png"/><Relationship Id="rId2" Type="http://schemas.openxmlformats.org/officeDocument/2006/relationships/slideLayout" Target="../slideLayouts/slideLayout37.xml"/>
</Relationships>
</file>

<file path=ppt/slides/_rels/slide193.xml.rels><?xml version="1.0" encoding="UTF-8"?>
<Relationships xmlns="http://schemas.openxmlformats.org/package/2006/relationships"><Relationship Id="rId1" Type="http://schemas.openxmlformats.org/officeDocument/2006/relationships/hyperlink" Target="https://kubernetes.io/docs/reference/using-api/client-libraries/" TargetMode="External"/><Relationship Id="rId2" Type="http://schemas.openxmlformats.org/officeDocument/2006/relationships/hyperlink" Target="https://kubernetes.io/docs/reference/using-api/client-libraries/" TargetMode="External"/><Relationship Id="rId3" Type="http://schemas.openxmlformats.org/officeDocument/2006/relationships/slideLayout" Target="../slideLayouts/slideLayout37.xml"/>
</Relationships>
</file>

<file path=ppt/slides/_rels/slide19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95.xml.rels><?xml version="1.0" encoding="UTF-8"?>
<Relationships xmlns="http://schemas.openxmlformats.org/package/2006/relationships"><Relationship Id="rId1" Type="http://schemas.openxmlformats.org/officeDocument/2006/relationships/image" Target="../media/image241.jpeg"/><Relationship Id="rId2" Type="http://schemas.openxmlformats.org/officeDocument/2006/relationships/image" Target="../media/image242.png"/><Relationship Id="rId3" Type="http://schemas.openxmlformats.org/officeDocument/2006/relationships/slideLayout" Target="../slideLayouts/slideLayout25.xml"/>
</Relationships>
</file>

<file path=ppt/slides/_rels/slide196.xml.rels><?xml version="1.0" encoding="UTF-8"?>
<Relationships xmlns="http://schemas.openxmlformats.org/package/2006/relationships"><Relationship Id="rId1" Type="http://schemas.openxmlformats.org/officeDocument/2006/relationships/image" Target="../media/image243.jpeg"/><Relationship Id="rId2" Type="http://schemas.openxmlformats.org/officeDocument/2006/relationships/slideLayout" Target="../slideLayouts/slideLayout25.xml"/>
</Relationships>
</file>

<file path=ppt/slides/_rels/slide19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98.xml.rels><?xml version="1.0" encoding="UTF-8"?>
<Relationships xmlns="http://schemas.openxmlformats.org/package/2006/relationships"><Relationship Id="rId1" Type="http://schemas.openxmlformats.org/officeDocument/2006/relationships/image" Target="../media/image244.png"/><Relationship Id="rId2" Type="http://schemas.openxmlformats.org/officeDocument/2006/relationships/slideLayout" Target="../slideLayouts/slideLayout37.xml"/>
</Relationships>
</file>

<file path=ppt/slides/_rels/slide199.xml.rels><?xml version="1.0" encoding="UTF-8"?>
<Relationships xmlns="http://schemas.openxmlformats.org/package/2006/relationships"><Relationship Id="rId1" Type="http://schemas.openxmlformats.org/officeDocument/2006/relationships/image" Target="../media/image245.png"/><Relationship Id="rId2" Type="http://schemas.openxmlformats.org/officeDocument/2006/relationships/image" Target="../media/image246.png"/><Relationship Id="rId3" Type="http://schemas.openxmlformats.org/officeDocument/2006/relationships/image" Target="../media/image247.png"/><Relationship Id="rId4" Type="http://schemas.openxmlformats.org/officeDocument/2006/relationships/image" Target="../media/image248.png"/><Relationship Id="rId5" Type="http://schemas.openxmlformats.org/officeDocument/2006/relationships/slideLayout" Target="../slideLayouts/slideLayout13.xml"/>
</Relationships>
</file>

<file path=ppt/slides/_rels/slide20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01.xml.rels><?xml version="1.0" encoding="UTF-8"?>
<Relationships xmlns="http://schemas.openxmlformats.org/package/2006/relationships"><Relationship Id="rId1" Type="http://schemas.openxmlformats.org/officeDocument/2006/relationships/image" Target="../media/image249.jpeg"/><Relationship Id="rId2" Type="http://schemas.openxmlformats.org/officeDocument/2006/relationships/slideLayout" Target="../slideLayouts/slideLayout25.xml"/>
</Relationships>
</file>

<file path=ppt/slides/_rels/slide202.xml.rels><?xml version="1.0" encoding="UTF-8"?>
<Relationships xmlns="http://schemas.openxmlformats.org/package/2006/relationships"><Relationship Id="rId1" Type="http://schemas.openxmlformats.org/officeDocument/2006/relationships/image" Target="../media/image250.jpeg"/><Relationship Id="rId2" Type="http://schemas.openxmlformats.org/officeDocument/2006/relationships/slideLayout" Target="../slideLayouts/slideLayout25.xml"/>
</Relationships>
</file>

<file path=ppt/slides/_rels/slide20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04.xml.rels><?xml version="1.0" encoding="UTF-8"?>
<Relationships xmlns="http://schemas.openxmlformats.org/package/2006/relationships"><Relationship Id="rId1" Type="http://schemas.openxmlformats.org/officeDocument/2006/relationships/image" Target="../media/image251.png"/><Relationship Id="rId2" Type="http://schemas.openxmlformats.org/officeDocument/2006/relationships/image" Target="../media/image252.png"/><Relationship Id="rId3" Type="http://schemas.openxmlformats.org/officeDocument/2006/relationships/image" Target="../media/image253.png"/><Relationship Id="rId4" Type="http://schemas.openxmlformats.org/officeDocument/2006/relationships/slideLayout" Target="../slideLayouts/slideLayout37.xml"/>
</Relationships>
</file>

<file path=ppt/slides/_rels/slide205.xml.rels><?xml version="1.0" encoding="UTF-8"?>
<Relationships xmlns="http://schemas.openxmlformats.org/package/2006/relationships"><Relationship Id="rId1" Type="http://schemas.openxmlformats.org/officeDocument/2006/relationships/image" Target="../media/image254.png"/><Relationship Id="rId2" Type="http://schemas.openxmlformats.org/officeDocument/2006/relationships/image" Target="../media/image255.png"/><Relationship Id="rId3" Type="http://schemas.openxmlformats.org/officeDocument/2006/relationships/slideLayout" Target="../slideLayouts/slideLayout37.xml"/>
</Relationships>
</file>

<file path=ppt/slides/_rels/slide206.xml.rels><?xml version="1.0" encoding="UTF-8"?>
<Relationships xmlns="http://schemas.openxmlformats.org/package/2006/relationships"><Relationship Id="rId1" Type="http://schemas.openxmlformats.org/officeDocument/2006/relationships/image" Target="../media/image256.png"/><Relationship Id="rId2" Type="http://schemas.openxmlformats.org/officeDocument/2006/relationships/slideLayout" Target="../slideLayouts/slideLayout37.xml"/>
</Relationships>
</file>

<file path=ppt/slides/_rels/slide207.xml.rels><?xml version="1.0" encoding="UTF-8"?>
<Relationships xmlns="http://schemas.openxmlformats.org/package/2006/relationships"><Relationship Id="rId1" Type="http://schemas.openxmlformats.org/officeDocument/2006/relationships/image" Target="../media/image257.png"/><Relationship Id="rId2" Type="http://schemas.openxmlformats.org/officeDocument/2006/relationships/image" Target="../media/image258.png"/><Relationship Id="rId3" Type="http://schemas.openxmlformats.org/officeDocument/2006/relationships/image" Target="../media/image259.png"/><Relationship Id="rId4" Type="http://schemas.openxmlformats.org/officeDocument/2006/relationships/slideLayout" Target="../slideLayouts/slideLayout37.xml"/>
</Relationships>
</file>

<file path=ppt/slides/_rels/slide208.xml.rels><?xml version="1.0" encoding="UTF-8"?>
<Relationships xmlns="http://schemas.openxmlformats.org/package/2006/relationships"><Relationship Id="rId1" Type="http://schemas.openxmlformats.org/officeDocument/2006/relationships/image" Target="../media/image260.png"/><Relationship Id="rId2" Type="http://schemas.openxmlformats.org/officeDocument/2006/relationships/image" Target="../media/image261.png"/><Relationship Id="rId3" Type="http://schemas.openxmlformats.org/officeDocument/2006/relationships/image" Target="../media/image262.png"/><Relationship Id="rId4" Type="http://schemas.openxmlformats.org/officeDocument/2006/relationships/slideLayout" Target="../slideLayouts/slideLayout37.xml"/>
</Relationships>
</file>

<file path=ppt/slides/_rels/slide209.xml.rels><?xml version="1.0" encoding="UTF-8"?>
<Relationships xmlns="http://schemas.openxmlformats.org/package/2006/relationships"><Relationship Id="rId1" Type="http://schemas.openxmlformats.org/officeDocument/2006/relationships/image" Target="../media/image263.png"/><Relationship Id="rId2" Type="http://schemas.openxmlformats.org/officeDocument/2006/relationships/slideLayout" Target="../slideLayouts/slideLayout37.xml"/>
</Relationships>
</file>

<file path=ppt/slides/_rels/slide2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11.xml.rels><?xml version="1.0" encoding="UTF-8"?>
<Relationships xmlns="http://schemas.openxmlformats.org/package/2006/relationships"><Relationship Id="rId1" Type="http://schemas.openxmlformats.org/officeDocument/2006/relationships/image" Target="../media/image264.jpeg"/><Relationship Id="rId2" Type="http://schemas.openxmlformats.org/officeDocument/2006/relationships/slideLayout" Target="../slideLayouts/slideLayout25.xml"/>
</Relationships>
</file>

<file path=ppt/slides/_rels/slide212.xml.rels><?xml version="1.0" encoding="UTF-8"?>
<Relationships xmlns="http://schemas.openxmlformats.org/package/2006/relationships"><Relationship Id="rId1" Type="http://schemas.openxmlformats.org/officeDocument/2006/relationships/image" Target="../media/image265.png"/><Relationship Id="rId2" Type="http://schemas.openxmlformats.org/officeDocument/2006/relationships/image" Target="../media/image266.png"/><Relationship Id="rId3" Type="http://schemas.openxmlformats.org/officeDocument/2006/relationships/image" Target="../media/image267.png"/><Relationship Id="rId4" Type="http://schemas.openxmlformats.org/officeDocument/2006/relationships/slideLayout" Target="../slideLayouts/slideLayout37.xml"/>
</Relationships>
</file>

<file path=ppt/slides/_rels/slide213.xml.rels><?xml version="1.0" encoding="UTF-8"?>
<Relationships xmlns="http://schemas.openxmlformats.org/package/2006/relationships"><Relationship Id="rId1" Type="http://schemas.openxmlformats.org/officeDocument/2006/relationships/image" Target="../media/image268.png"/><Relationship Id="rId2" Type="http://schemas.openxmlformats.org/officeDocument/2006/relationships/image" Target="../media/image269.png"/><Relationship Id="rId3" Type="http://schemas.openxmlformats.org/officeDocument/2006/relationships/image" Target="../media/image270.png"/><Relationship Id="rId4" Type="http://schemas.openxmlformats.org/officeDocument/2006/relationships/slideLayout" Target="../slideLayouts/slideLayout13.xml"/>
</Relationships>
</file>

<file path=ppt/slides/_rels/slide214.xml.rels><?xml version="1.0" encoding="UTF-8"?>
<Relationships xmlns="http://schemas.openxmlformats.org/package/2006/relationships"><Relationship Id="rId1" Type="http://schemas.openxmlformats.org/officeDocument/2006/relationships/image" Target="../media/image271.png"/><Relationship Id="rId2" Type="http://schemas.openxmlformats.org/officeDocument/2006/relationships/slideLayout" Target="../slideLayouts/slideLayout37.xml"/>
</Relationships>
</file>

<file path=ppt/slides/_rels/slide215.xml.rels><?xml version="1.0" encoding="UTF-8"?>
<Relationships xmlns="http://schemas.openxmlformats.org/package/2006/relationships"><Relationship Id="rId1" Type="http://schemas.openxmlformats.org/officeDocument/2006/relationships/image" Target="../media/image272.png"/><Relationship Id="rId2" Type="http://schemas.openxmlformats.org/officeDocument/2006/relationships/slideLayout" Target="../slideLayouts/slideLayout37.xml"/>
</Relationships>
</file>

<file path=ppt/slides/_rels/slide216.xml.rels><?xml version="1.0" encoding="UTF-8"?>
<Relationships xmlns="http://schemas.openxmlformats.org/package/2006/relationships"><Relationship Id="rId1" Type="http://schemas.openxmlformats.org/officeDocument/2006/relationships/image" Target="../media/image273.png"/><Relationship Id="rId2" Type="http://schemas.openxmlformats.org/officeDocument/2006/relationships/image" Target="../media/image274.png"/><Relationship Id="rId3" Type="http://schemas.openxmlformats.org/officeDocument/2006/relationships/slideLayout" Target="../slideLayouts/slideLayout37.xml"/>
</Relationships>
</file>

<file path=ppt/slides/_rels/slide2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218.xml.rels><?xml version="1.0" encoding="UTF-8"?>
<Relationships xmlns="http://schemas.openxmlformats.org/package/2006/relationships"><Relationship Id="rId1" Type="http://schemas.openxmlformats.org/officeDocument/2006/relationships/image" Target="../media/image275.jpeg"/><Relationship Id="rId2" Type="http://schemas.openxmlformats.org/officeDocument/2006/relationships/image" Target="../media/image276.png"/><Relationship Id="rId3" Type="http://schemas.openxmlformats.org/officeDocument/2006/relationships/slideLayout" Target="../slideLayouts/slideLayout25.xml"/>
</Relationships>
</file>

<file path=ppt/slides/_rels/slide2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20.xml.rels><?xml version="1.0" encoding="UTF-8"?>
<Relationships xmlns="http://schemas.openxmlformats.org/package/2006/relationships"><Relationship Id="rId1" Type="http://schemas.openxmlformats.org/officeDocument/2006/relationships/hyperlink" Target="https://kubernetes.io/docs/concepts/configuration/manage-resources-containers/#resource-units-in-kubernetes" TargetMode="External"/><Relationship Id="rId2" Type="http://schemas.openxmlformats.org/officeDocument/2006/relationships/hyperlink" Target="https://kubernetes.io/docs/concepts/configuration/manage-resources-containers/#resource-units-in-kubernetes" TargetMode="External"/><Relationship Id="rId3" Type="http://schemas.openxmlformats.org/officeDocument/2006/relationships/hyperlink" Target="https://kubernetes.io/docs/concepts/configuration/manage-resources-containers/#resource-units-in-kubernetes" TargetMode="External"/><Relationship Id="rId4" Type="http://schemas.openxmlformats.org/officeDocument/2006/relationships/hyperlink" Target="https://kubernetes.io/docs/concepts/configuration/manage-resources-containers/#resource-units-in-kubernetes" TargetMode="External"/><Relationship Id="rId5" Type="http://schemas.openxmlformats.org/officeDocument/2006/relationships/slideLayout" Target="../slideLayouts/slideLayout37.xml"/>
</Relationships>
</file>

<file path=ppt/slides/_rels/slide2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22.xml.rels><?xml version="1.0" encoding="UTF-8"?>
<Relationships xmlns="http://schemas.openxmlformats.org/package/2006/relationships"><Relationship Id="rId1" Type="http://schemas.openxmlformats.org/officeDocument/2006/relationships/image" Target="../media/image277.jpeg"/><Relationship Id="rId2" Type="http://schemas.openxmlformats.org/officeDocument/2006/relationships/slideLayout" Target="../slideLayouts/slideLayout25.xml"/>
</Relationships>
</file>

<file path=ppt/slides/_rels/slide223.xml.rels><?xml version="1.0" encoding="UTF-8"?>
<Relationships xmlns="http://schemas.openxmlformats.org/package/2006/relationships"><Relationship Id="rId1" Type="http://schemas.openxmlformats.org/officeDocument/2006/relationships/image" Target="../media/image278.png"/><Relationship Id="rId2" Type="http://schemas.openxmlformats.org/officeDocument/2006/relationships/slideLayout" Target="../slideLayouts/slideLayout37.xml"/>
</Relationships>
</file>

<file path=ppt/slides/_rels/slide224.xml.rels><?xml version="1.0" encoding="UTF-8"?>
<Relationships xmlns="http://schemas.openxmlformats.org/package/2006/relationships"><Relationship Id="rId1" Type="http://schemas.openxmlformats.org/officeDocument/2006/relationships/image" Target="../media/image279.png"/><Relationship Id="rId2" Type="http://schemas.openxmlformats.org/officeDocument/2006/relationships/slideLayout" Target="../slideLayouts/slideLayout37.xml"/>
</Relationships>
</file>

<file path=ppt/slides/_rels/slide2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26.xml.rels><?xml version="1.0" encoding="UTF-8"?>
<Relationships xmlns="http://schemas.openxmlformats.org/package/2006/relationships"><Relationship Id="rId1" Type="http://schemas.openxmlformats.org/officeDocument/2006/relationships/image" Target="../media/image280.png"/><Relationship Id="rId2" Type="http://schemas.openxmlformats.org/officeDocument/2006/relationships/slideLayout" Target="../slideLayouts/slideLayout37.xml"/>
</Relationships>
</file>

<file path=ppt/slides/_rels/slide227.xml.rels><?xml version="1.0" encoding="UTF-8"?>
<Relationships xmlns="http://schemas.openxmlformats.org/package/2006/relationships"><Relationship Id="rId1" Type="http://schemas.openxmlformats.org/officeDocument/2006/relationships/image" Target="../media/image281.png"/><Relationship Id="rId2" Type="http://schemas.openxmlformats.org/officeDocument/2006/relationships/slideLayout" Target="../slideLayouts/slideLayout37.xml"/>
</Relationships>
</file>

<file path=ppt/slides/_rels/slide2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29.xml.rels><?xml version="1.0" encoding="UTF-8"?>
<Relationships xmlns="http://schemas.openxmlformats.org/package/2006/relationships"><Relationship Id="rId1" Type="http://schemas.openxmlformats.org/officeDocument/2006/relationships/image" Target="../media/image282.png"/><Relationship Id="rId2" Type="http://schemas.openxmlformats.org/officeDocument/2006/relationships/slideLayout" Target="../slideLayouts/slideLayout37.xml"/>
</Relationships>
</file>

<file path=ppt/slides/_rels/slide2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31.xml.rels><?xml version="1.0" encoding="UTF-8"?>
<Relationships xmlns="http://schemas.openxmlformats.org/package/2006/relationships"><Relationship Id="rId1" Type="http://schemas.openxmlformats.org/officeDocument/2006/relationships/image" Target="../media/image283.png"/><Relationship Id="rId2" Type="http://schemas.openxmlformats.org/officeDocument/2006/relationships/slideLayout" Target="../slideLayouts/slideLayout37.xml"/>
</Relationships>
</file>

<file path=ppt/slides/_rels/slide2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34.xml.rels><?xml version="1.0" encoding="UTF-8"?>
<Relationships xmlns="http://schemas.openxmlformats.org/package/2006/relationships"><Relationship Id="rId1" Type="http://schemas.openxmlformats.org/officeDocument/2006/relationships/image" Target="../media/image284.png"/><Relationship Id="rId2" Type="http://schemas.openxmlformats.org/officeDocument/2006/relationships/slideLayout" Target="../slideLayouts/slideLayout37.xml"/>
</Relationships>
</file>

<file path=ppt/slides/_rels/slide2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36.xml.rels><?xml version="1.0" encoding="UTF-8"?>
<Relationships xmlns="http://schemas.openxmlformats.org/package/2006/relationships"><Relationship Id="rId1" Type="http://schemas.openxmlformats.org/officeDocument/2006/relationships/image" Target="../media/image285.png"/><Relationship Id="rId2" Type="http://schemas.openxmlformats.org/officeDocument/2006/relationships/slideLayout" Target="../slideLayouts/slideLayout37.xml"/>
</Relationships>
</file>

<file path=ppt/slides/_rels/slide237.xml.rels><?xml version="1.0" encoding="UTF-8"?>
<Relationships xmlns="http://schemas.openxmlformats.org/package/2006/relationships"><Relationship Id="rId1" Type="http://schemas.openxmlformats.org/officeDocument/2006/relationships/image" Target="../media/image286.png"/><Relationship Id="rId2" Type="http://schemas.openxmlformats.org/officeDocument/2006/relationships/slideLayout" Target="../slideLayouts/slideLayout37.xml"/>
</Relationships>
</file>

<file path=ppt/slides/_rels/slide2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240.xml.rels><?xml version="1.0" encoding="UTF-8"?>
<Relationships xmlns="http://schemas.openxmlformats.org/package/2006/relationships"><Relationship Id="rId1" Type="http://schemas.openxmlformats.org/officeDocument/2006/relationships/image" Target="../media/image287.jpeg"/><Relationship Id="rId2" Type="http://schemas.openxmlformats.org/officeDocument/2006/relationships/image" Target="../media/image288.png"/><Relationship Id="rId3" Type="http://schemas.openxmlformats.org/officeDocument/2006/relationships/slideLayout" Target="../slideLayouts/slideLayout25.xml"/>
</Relationships>
</file>

<file path=ppt/slides/_rels/slide241.xml.rels><?xml version="1.0" encoding="UTF-8"?>
<Relationships xmlns="http://schemas.openxmlformats.org/package/2006/relationships"><Relationship Id="rId1" Type="http://schemas.openxmlformats.org/officeDocument/2006/relationships/hyperlink" Target="https://kubernetes.io/docs/tasks/administer-cluster/encrypt-data/" TargetMode="External"/><Relationship Id="rId2" Type="http://schemas.openxmlformats.org/officeDocument/2006/relationships/slideLayout" Target="../slideLayouts/slideLayout37.xml"/>
</Relationships>
</file>

<file path=ppt/slides/_rels/slide242.xml.rels><?xml version="1.0" encoding="UTF-8"?>
<Relationships xmlns="http://schemas.openxmlformats.org/package/2006/relationships"><Relationship Id="rId1" Type="http://schemas.openxmlformats.org/officeDocument/2006/relationships/image" Target="../media/image289.jpeg"/><Relationship Id="rId2" Type="http://schemas.openxmlformats.org/officeDocument/2006/relationships/slideLayout" Target="../slideLayouts/slideLayout25.xml"/>
</Relationships>
</file>

<file path=ppt/slides/_rels/slide243.xml.rels><?xml version="1.0" encoding="UTF-8"?>
<Relationships xmlns="http://schemas.openxmlformats.org/package/2006/relationships"><Relationship Id="rId1" Type="http://schemas.openxmlformats.org/officeDocument/2006/relationships/image" Target="../media/image290.png"/><Relationship Id="rId2" Type="http://schemas.openxmlformats.org/officeDocument/2006/relationships/slideLayout" Target="../slideLayouts/slideLayout37.xml"/>
</Relationships>
</file>

<file path=ppt/slides/_rels/slide244.xml.rels><?xml version="1.0" encoding="UTF-8"?>
<Relationships xmlns="http://schemas.openxmlformats.org/package/2006/relationships"><Relationship Id="rId1" Type="http://schemas.openxmlformats.org/officeDocument/2006/relationships/image" Target="../media/image291.png"/><Relationship Id="rId2" Type="http://schemas.openxmlformats.org/officeDocument/2006/relationships/slideLayout" Target="../slideLayouts/slideLayout37.xml"/>
</Relationships>
</file>

<file path=ppt/slides/_rels/slide245.xml.rels><?xml version="1.0" encoding="UTF-8"?>
<Relationships xmlns="http://schemas.openxmlformats.org/package/2006/relationships"><Relationship Id="rId1" Type="http://schemas.openxmlformats.org/officeDocument/2006/relationships/image" Target="../media/image292.png"/><Relationship Id="rId2" Type="http://schemas.openxmlformats.org/officeDocument/2006/relationships/slideLayout" Target="../slideLayouts/slideLayout37.xml"/>
</Relationships>
</file>

<file path=ppt/slides/_rels/slide246.xml.rels><?xml version="1.0" encoding="UTF-8"?>
<Relationships xmlns="http://schemas.openxmlformats.org/package/2006/relationships"><Relationship Id="rId1" Type="http://schemas.openxmlformats.org/officeDocument/2006/relationships/image" Target="../media/image293.png"/><Relationship Id="rId2" Type="http://schemas.openxmlformats.org/officeDocument/2006/relationships/slideLayout" Target="../slideLayouts/slideLayout37.xml"/>
</Relationships>
</file>

<file path=ppt/slides/_rels/slide247.xml.rels><?xml version="1.0" encoding="UTF-8"?>
<Relationships xmlns="http://schemas.openxmlformats.org/package/2006/relationships"><Relationship Id="rId1" Type="http://schemas.openxmlformats.org/officeDocument/2006/relationships/image" Target="../media/image294.png"/><Relationship Id="rId2" Type="http://schemas.openxmlformats.org/officeDocument/2006/relationships/image" Target="../media/image295.png"/><Relationship Id="rId3" Type="http://schemas.openxmlformats.org/officeDocument/2006/relationships/slideLayout" Target="../slideLayouts/slideLayout13.xml"/>
</Relationships>
</file>

<file path=ppt/slides/_rels/slide248.xml.rels><?xml version="1.0" encoding="UTF-8"?>
<Relationships xmlns="http://schemas.openxmlformats.org/package/2006/relationships"><Relationship Id="rId1" Type="http://schemas.openxmlformats.org/officeDocument/2006/relationships/image" Target="../media/image296.png"/><Relationship Id="rId2" Type="http://schemas.openxmlformats.org/officeDocument/2006/relationships/image" Target="../media/image297.png"/><Relationship Id="rId3" Type="http://schemas.openxmlformats.org/officeDocument/2006/relationships/image" Target="../media/image298.png"/><Relationship Id="rId4" Type="http://schemas.openxmlformats.org/officeDocument/2006/relationships/slideLayout" Target="../slideLayouts/slideLayout37.xml"/>
</Relationships>
</file>

<file path=ppt/slides/_rels/slide249.xml.rels><?xml version="1.0" encoding="UTF-8"?>
<Relationships xmlns="http://schemas.openxmlformats.org/package/2006/relationships"><Relationship Id="rId1" Type="http://schemas.openxmlformats.org/officeDocument/2006/relationships/image" Target="../media/image299.png"/><Relationship Id="rId2" Type="http://schemas.openxmlformats.org/officeDocument/2006/relationships/image" Target="../media/image300.png"/><Relationship Id="rId3" Type="http://schemas.openxmlformats.org/officeDocument/2006/relationships/slideLayout" Target="../slideLayouts/slideLayout37.xml"/>
</Relationships>
</file>

<file path=ppt/slides/_rels/slide250.xml.rels><?xml version="1.0" encoding="UTF-8"?>
<Relationships xmlns="http://schemas.openxmlformats.org/package/2006/relationships"><Relationship Id="rId1" Type="http://schemas.openxmlformats.org/officeDocument/2006/relationships/image" Target="../media/image301.png"/><Relationship Id="rId2" Type="http://schemas.openxmlformats.org/officeDocument/2006/relationships/slideLayout" Target="../slideLayouts/slideLayout37.xml"/>
</Relationships>
</file>

<file path=ppt/slides/_rels/slide251.xml.rels><?xml version="1.0" encoding="UTF-8"?>
<Relationships xmlns="http://schemas.openxmlformats.org/package/2006/relationships"><Relationship Id="rId1" Type="http://schemas.openxmlformats.org/officeDocument/2006/relationships/image" Target="../media/image302.png"/><Relationship Id="rId2" Type="http://schemas.openxmlformats.org/officeDocument/2006/relationships/slideLayout" Target="../slideLayouts/slideLayout37.xml"/>
</Relationships>
</file>

<file path=ppt/slides/_rels/slide2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53.xml.rels><?xml version="1.0" encoding="UTF-8"?>
<Relationships xmlns="http://schemas.openxmlformats.org/package/2006/relationships"><Relationship Id="rId1" Type="http://schemas.openxmlformats.org/officeDocument/2006/relationships/image" Target="../media/image303.png"/><Relationship Id="rId2" Type="http://schemas.openxmlformats.org/officeDocument/2006/relationships/slideLayout" Target="../slideLayouts/slideLayout37.xml"/>
</Relationships>
</file>

<file path=ppt/slides/_rels/slide254.xml.rels><?xml version="1.0" encoding="UTF-8"?>
<Relationships xmlns="http://schemas.openxmlformats.org/package/2006/relationships"><Relationship Id="rId1" Type="http://schemas.openxmlformats.org/officeDocument/2006/relationships/image" Target="../media/image304.png"/><Relationship Id="rId2" Type="http://schemas.openxmlformats.org/officeDocument/2006/relationships/slideLayout" Target="../slideLayouts/slideLayout37.xml"/>
</Relationships>
</file>

<file path=ppt/slides/_rels/slide255.xml.rels><?xml version="1.0" encoding="UTF-8"?>
<Relationships xmlns="http://schemas.openxmlformats.org/package/2006/relationships"><Relationship Id="rId1" Type="http://schemas.openxmlformats.org/officeDocument/2006/relationships/image" Target="../media/image305.png"/><Relationship Id="rId2" Type="http://schemas.openxmlformats.org/officeDocument/2006/relationships/slideLayout" Target="../slideLayouts/slideLayout37.xml"/>
</Relationships>
</file>

<file path=ppt/slides/_rels/slide256.xml.rels><?xml version="1.0" encoding="UTF-8"?>
<Relationships xmlns="http://schemas.openxmlformats.org/package/2006/relationships"><Relationship Id="rId1" Type="http://schemas.openxmlformats.org/officeDocument/2006/relationships/hyperlink" Target="https://kubernetes.io/docs/concepts/configuration/secret/#secret-types" TargetMode="External"/><Relationship Id="rId2" Type="http://schemas.openxmlformats.org/officeDocument/2006/relationships/image" Target="../media/image306.png"/><Relationship Id="rId3" Type="http://schemas.openxmlformats.org/officeDocument/2006/relationships/slideLayout" Target="../slideLayouts/slideLayout37.xml"/>
</Relationships>
</file>

<file path=ppt/slides/_rels/slide257.xml.rels><?xml version="1.0" encoding="UTF-8"?>
<Relationships xmlns="http://schemas.openxmlformats.org/package/2006/relationships"><Relationship Id="rId1" Type="http://schemas.openxmlformats.org/officeDocument/2006/relationships/image" Target="../media/image307.png"/><Relationship Id="rId2" Type="http://schemas.openxmlformats.org/officeDocument/2006/relationships/slideLayout" Target="../slideLayouts/slideLayout37.xml"/>
</Relationships>
</file>

<file path=ppt/slides/_rels/slide258.xml.rels><?xml version="1.0" encoding="UTF-8"?>
<Relationships xmlns="http://schemas.openxmlformats.org/package/2006/relationships"><Relationship Id="rId1" Type="http://schemas.openxmlformats.org/officeDocument/2006/relationships/image" Target="../media/image308.png"/><Relationship Id="rId2" Type="http://schemas.openxmlformats.org/officeDocument/2006/relationships/image" Target="../media/image309.png"/><Relationship Id="rId3" Type="http://schemas.openxmlformats.org/officeDocument/2006/relationships/slideLayout" Target="../slideLayouts/slideLayout13.xml"/>
</Relationships>
</file>

<file path=ppt/slides/_rels/slide259.xml.rels><?xml version="1.0" encoding="UTF-8"?>
<Relationships xmlns="http://schemas.openxmlformats.org/package/2006/relationships"><Relationship Id="rId1" Type="http://schemas.openxmlformats.org/officeDocument/2006/relationships/image" Target="../media/image310.png"/><Relationship Id="rId2" Type="http://schemas.openxmlformats.org/officeDocument/2006/relationships/image" Target="../media/image311.png"/><Relationship Id="rId3" Type="http://schemas.openxmlformats.org/officeDocument/2006/relationships/slideLayout" Target="../slideLayouts/slideLayout37.xml"/>
</Relationships>
</file>

<file path=ppt/slides/_rels/slide260.xml.rels><?xml version="1.0" encoding="UTF-8"?>
<Relationships xmlns="http://schemas.openxmlformats.org/package/2006/relationships"><Relationship Id="rId1" Type="http://schemas.openxmlformats.org/officeDocument/2006/relationships/image" Target="../media/image312.png"/><Relationship Id="rId2" Type="http://schemas.openxmlformats.org/officeDocument/2006/relationships/image" Target="../media/image313.png"/><Relationship Id="rId3" Type="http://schemas.openxmlformats.org/officeDocument/2006/relationships/slideLayout" Target="../slideLayouts/slideLayout37.xml"/>
</Relationships>
</file>

<file path=ppt/slides/_rels/slide261.xml.rels><?xml version="1.0" encoding="UTF-8"?>
<Relationships xmlns="http://schemas.openxmlformats.org/package/2006/relationships"><Relationship Id="rId1" Type="http://schemas.openxmlformats.org/officeDocument/2006/relationships/image" Target="../media/image314.png"/><Relationship Id="rId2" Type="http://schemas.openxmlformats.org/officeDocument/2006/relationships/slideLayout" Target="../slideLayouts/slideLayout13.xml"/>
</Relationships>
</file>

<file path=ppt/slides/_rels/slide262.xml.rels><?xml version="1.0" encoding="UTF-8"?>
<Relationships xmlns="http://schemas.openxmlformats.org/package/2006/relationships"><Relationship Id="rId1" Type="http://schemas.openxmlformats.org/officeDocument/2006/relationships/image" Target="../media/image315.png"/><Relationship Id="rId2" Type="http://schemas.openxmlformats.org/officeDocument/2006/relationships/slideLayout" Target="../slideLayouts/slideLayout13.xml"/>
</Relationships>
</file>

<file path=ppt/slides/_rels/slide2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264.xml.rels><?xml version="1.0" encoding="UTF-8"?>
<Relationships xmlns="http://schemas.openxmlformats.org/package/2006/relationships"><Relationship Id="rId1" Type="http://schemas.openxmlformats.org/officeDocument/2006/relationships/image" Target="../media/image316.jpeg"/><Relationship Id="rId2" Type="http://schemas.openxmlformats.org/officeDocument/2006/relationships/image" Target="../media/image317.png"/><Relationship Id="rId3" Type="http://schemas.openxmlformats.org/officeDocument/2006/relationships/slideLayout" Target="../slideLayouts/slideLayout25.xml"/>
</Relationships>
</file>

<file path=ppt/slides/_rels/slide265.xml.rels><?xml version="1.0" encoding="UTF-8"?>
<Relationships xmlns="http://schemas.openxmlformats.org/package/2006/relationships"><Relationship Id="rId1" Type="http://schemas.openxmlformats.org/officeDocument/2006/relationships/hyperlink" Target="https://kubernetes.io/docs/tasks/configure-pod-container/security-context/" TargetMode="External"/><Relationship Id="rId2" Type="http://schemas.openxmlformats.org/officeDocument/2006/relationships/hyperlink" Target="https://kubernetes.io/docs/tasks/configure-pod-container/security-context/" TargetMode="External"/><Relationship Id="rId3" Type="http://schemas.openxmlformats.org/officeDocument/2006/relationships/hyperlink" Target="https://kubernetes.io/docs/tasks/configure-pod-container/security-context/" TargetMode="External"/><Relationship Id="rId4" Type="http://schemas.openxmlformats.org/officeDocument/2006/relationships/slideLayout" Target="../slideLayouts/slideLayout37.xml"/>
</Relationships>
</file>

<file path=ppt/slides/_rels/slide266.xml.rels><?xml version="1.0" encoding="UTF-8"?>
<Relationships xmlns="http://schemas.openxmlformats.org/package/2006/relationships"><Relationship Id="rId1" Type="http://schemas.openxmlformats.org/officeDocument/2006/relationships/hyperlink" Target="https://kubernetes.io/docs/reference/kubernetes-api/workload-resources/pod-v1/#security-context" TargetMode="External"/><Relationship Id="rId2" Type="http://schemas.openxmlformats.org/officeDocument/2006/relationships/hyperlink" Target="https://kubernetes.io/docs/reference/kubernetes-api/workload-resources/pod-v1/#security-context-1" TargetMode="External"/><Relationship Id="rId3" Type="http://schemas.openxmlformats.org/officeDocument/2006/relationships/slideLayout" Target="../slideLayouts/slideLayout37.xml"/>
</Relationships>
</file>

<file path=ppt/slides/_rels/slide267.xml.rels><?xml version="1.0" encoding="UTF-8"?>
<Relationships xmlns="http://schemas.openxmlformats.org/package/2006/relationships"><Relationship Id="rId1" Type="http://schemas.openxmlformats.org/officeDocument/2006/relationships/image" Target="../media/image318.png"/><Relationship Id="rId2" Type="http://schemas.openxmlformats.org/officeDocument/2006/relationships/slideLayout" Target="../slideLayouts/slideLayout37.xml"/>
</Relationships>
</file>

<file path=ppt/slides/_rels/slide268.xml.rels><?xml version="1.0" encoding="UTF-8"?>
<Relationships xmlns="http://schemas.openxmlformats.org/package/2006/relationships"><Relationship Id="rId1" Type="http://schemas.openxmlformats.org/officeDocument/2006/relationships/image" Target="../media/image319.png"/><Relationship Id="rId2" Type="http://schemas.openxmlformats.org/officeDocument/2006/relationships/image" Target="../media/image320.png"/><Relationship Id="rId3" Type="http://schemas.openxmlformats.org/officeDocument/2006/relationships/slideLayout" Target="../slideLayouts/slideLayout37.xml"/>
</Relationships>
</file>

<file path=ppt/slides/_rels/slide269.xml.rels><?xml version="1.0" encoding="UTF-8"?>
<Relationships xmlns="http://schemas.openxmlformats.org/package/2006/relationships"><Relationship Id="rId1" Type="http://schemas.openxmlformats.org/officeDocument/2006/relationships/image" Target="../media/image321.png"/><Relationship Id="rId2" Type="http://schemas.openxmlformats.org/officeDocument/2006/relationships/image" Target="../media/image322.png"/><Relationship Id="rId3" Type="http://schemas.openxmlformats.org/officeDocument/2006/relationships/slideLayout" Target="../slideLayouts/slideLayout37.xml"/>
</Relationships>
</file>

<file path=ppt/slides/_rels/slide270.xml.rels><?xml version="1.0" encoding="UTF-8"?>
<Relationships xmlns="http://schemas.openxmlformats.org/package/2006/relationships"><Relationship Id="rId1" Type="http://schemas.openxmlformats.org/officeDocument/2006/relationships/image" Target="../media/image323.png"/><Relationship Id="rId2" Type="http://schemas.openxmlformats.org/officeDocument/2006/relationships/image" Target="../media/image324.png"/><Relationship Id="rId3" Type="http://schemas.openxmlformats.org/officeDocument/2006/relationships/slideLayout" Target="../slideLayouts/slideLayout37.xml"/>
</Relationships>
</file>

<file path=ppt/slides/_rels/slide2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272.xml.rels><?xml version="1.0" encoding="UTF-8"?>
<Relationships xmlns="http://schemas.openxmlformats.org/package/2006/relationships"><Relationship Id="rId1" Type="http://schemas.openxmlformats.org/officeDocument/2006/relationships/image" Target="../media/image325.jpeg"/><Relationship Id="rId2" Type="http://schemas.openxmlformats.org/officeDocument/2006/relationships/slideLayout" Target="../slideLayouts/slideLayout25.xml"/>
</Relationships>
</file>

<file path=ppt/slides/_rels/slide273.xml.rels><?xml version="1.0" encoding="UTF-8"?>
<Relationships xmlns="http://schemas.openxmlformats.org/package/2006/relationships"><Relationship Id="rId1" Type="http://schemas.openxmlformats.org/officeDocument/2006/relationships/image" Target="../media/image326.jpeg"/><Relationship Id="rId2" Type="http://schemas.openxmlformats.org/officeDocument/2006/relationships/image" Target="../media/image327.png"/><Relationship Id="rId3" Type="http://schemas.openxmlformats.org/officeDocument/2006/relationships/slideLayout" Target="../slideLayouts/slideLayout25.xml"/>
</Relationships>
</file>

<file path=ppt/slides/_rels/slide2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75.xml.rels><?xml version="1.0" encoding="UTF-8"?>
<Relationships xmlns="http://schemas.openxmlformats.org/package/2006/relationships"><Relationship Id="rId1" Type="http://schemas.openxmlformats.org/officeDocument/2006/relationships/image" Target="../media/image328.jpeg"/><Relationship Id="rId2" Type="http://schemas.openxmlformats.org/officeDocument/2006/relationships/slideLayout" Target="../slideLayouts/slideLayout25.xml"/>
</Relationships>
</file>

<file path=ppt/slides/_rels/slide276.xml.rels><?xml version="1.0" encoding="UTF-8"?>
<Relationships xmlns="http://schemas.openxmlformats.org/package/2006/relationships"><Relationship Id="rId1" Type="http://schemas.openxmlformats.org/officeDocument/2006/relationships/image" Target="../media/image329.jpeg"/><Relationship Id="rId2" Type="http://schemas.openxmlformats.org/officeDocument/2006/relationships/slideLayout" Target="../slideLayouts/slideLayout25.xml"/>
</Relationships>
</file>

<file path=ppt/slides/_rels/slide277.xml.rels><?xml version="1.0" encoding="UTF-8"?>
<Relationships xmlns="http://schemas.openxmlformats.org/package/2006/relationships"><Relationship Id="rId1" Type="http://schemas.openxmlformats.org/officeDocument/2006/relationships/image" Target="../media/image330.png"/><Relationship Id="rId2" Type="http://schemas.openxmlformats.org/officeDocument/2006/relationships/image" Target="../media/image331.png"/><Relationship Id="rId3" Type="http://schemas.openxmlformats.org/officeDocument/2006/relationships/image" Target="../media/image332.png"/><Relationship Id="rId4" Type="http://schemas.openxmlformats.org/officeDocument/2006/relationships/image" Target="../media/image333.png"/><Relationship Id="rId5" Type="http://schemas.openxmlformats.org/officeDocument/2006/relationships/slideLayout" Target="../slideLayouts/slideLayout13.xml"/>
</Relationships>
</file>

<file path=ppt/slides/_rels/slide278.xml.rels><?xml version="1.0" encoding="UTF-8"?>
<Relationships xmlns="http://schemas.openxmlformats.org/package/2006/relationships"><Relationship Id="rId1" Type="http://schemas.openxmlformats.org/officeDocument/2006/relationships/image" Target="../media/image334.png"/><Relationship Id="rId2" Type="http://schemas.openxmlformats.org/officeDocument/2006/relationships/image" Target="../media/image335.png"/><Relationship Id="rId3" Type="http://schemas.openxmlformats.org/officeDocument/2006/relationships/image" Target="../media/image336.png"/><Relationship Id="rId4" Type="http://schemas.openxmlformats.org/officeDocument/2006/relationships/slideLayout" Target="../slideLayouts/slideLayout37.xml"/>
</Relationships>
</file>

<file path=ppt/slides/_rels/slide2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80.xml.rels><?xml version="1.0" encoding="UTF-8"?>
<Relationships xmlns="http://schemas.openxmlformats.org/package/2006/relationships"><Relationship Id="rId1" Type="http://schemas.openxmlformats.org/officeDocument/2006/relationships/image" Target="../media/image337.jpeg"/><Relationship Id="rId2" Type="http://schemas.openxmlformats.org/officeDocument/2006/relationships/slideLayout" Target="../slideLayouts/slideLayout25.xml"/>
</Relationships>
</file>

<file path=ppt/slides/_rels/slide281.xml.rels><?xml version="1.0" encoding="UTF-8"?>
<Relationships xmlns="http://schemas.openxmlformats.org/package/2006/relationships"><Relationship Id="rId1" Type="http://schemas.openxmlformats.org/officeDocument/2006/relationships/image" Target="../media/image338.jpeg"/><Relationship Id="rId2" Type="http://schemas.openxmlformats.org/officeDocument/2006/relationships/slideLayout" Target="../slideLayouts/slideLayout25.xml"/>
</Relationships>
</file>

<file path=ppt/slides/_rels/slide282.xml.rels><?xml version="1.0" encoding="UTF-8"?>
<Relationships xmlns="http://schemas.openxmlformats.org/package/2006/relationships"><Relationship Id="rId1" Type="http://schemas.openxmlformats.org/officeDocument/2006/relationships/image" Target="../media/image339.png"/><Relationship Id="rId2" Type="http://schemas.openxmlformats.org/officeDocument/2006/relationships/slideLayout" Target="../slideLayouts/slideLayout37.xml"/>
</Relationships>
</file>

<file path=ppt/slides/_rels/slide283.xml.rels><?xml version="1.0" encoding="UTF-8"?>
<Relationships xmlns="http://schemas.openxmlformats.org/package/2006/relationships"><Relationship Id="rId1" Type="http://schemas.openxmlformats.org/officeDocument/2006/relationships/image" Target="../media/image340.png"/><Relationship Id="rId2" Type="http://schemas.openxmlformats.org/officeDocument/2006/relationships/image" Target="../media/image341.png"/><Relationship Id="rId3" Type="http://schemas.openxmlformats.org/officeDocument/2006/relationships/image" Target="../media/image342.png"/><Relationship Id="rId4" Type="http://schemas.openxmlformats.org/officeDocument/2006/relationships/slideLayout" Target="../slideLayouts/slideLayout37.xml"/>
</Relationships>
</file>

<file path=ppt/slides/_rels/slide2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85.xml.rels><?xml version="1.0" encoding="UTF-8"?>
<Relationships xmlns="http://schemas.openxmlformats.org/package/2006/relationships"><Relationship Id="rId1" Type="http://schemas.openxmlformats.org/officeDocument/2006/relationships/image" Target="../media/image343.png"/><Relationship Id="rId2" Type="http://schemas.openxmlformats.org/officeDocument/2006/relationships/image" Target="../media/image344.png"/><Relationship Id="rId3" Type="http://schemas.openxmlformats.org/officeDocument/2006/relationships/image" Target="../media/image345.png"/><Relationship Id="rId4" Type="http://schemas.openxmlformats.org/officeDocument/2006/relationships/image" Target="../media/image346.png"/><Relationship Id="rId5" Type="http://schemas.openxmlformats.org/officeDocument/2006/relationships/image" Target="../media/image347.png"/><Relationship Id="rId6" Type="http://schemas.openxmlformats.org/officeDocument/2006/relationships/slideLayout" Target="../slideLayouts/slideLayout37.xml"/>
</Relationships>
</file>

<file path=ppt/slides/_rels/slide286.xml.rels><?xml version="1.0" encoding="UTF-8"?>
<Relationships xmlns="http://schemas.openxmlformats.org/package/2006/relationships"><Relationship Id="rId1" Type="http://schemas.openxmlformats.org/officeDocument/2006/relationships/image" Target="../media/image348.jpeg"/><Relationship Id="rId2" Type="http://schemas.openxmlformats.org/officeDocument/2006/relationships/slideLayout" Target="../slideLayouts/slideLayout25.xml"/>
</Relationships>
</file>

<file path=ppt/slides/_rels/slide287.xml.rels><?xml version="1.0" encoding="UTF-8"?>
<Relationships xmlns="http://schemas.openxmlformats.org/package/2006/relationships"><Relationship Id="rId1" Type="http://schemas.openxmlformats.org/officeDocument/2006/relationships/image" Target="../media/image349.png"/><Relationship Id="rId2" Type="http://schemas.openxmlformats.org/officeDocument/2006/relationships/slideLayout" Target="../slideLayouts/slideLayout37.xml"/>
</Relationships>
</file>

<file path=ppt/slides/_rels/slide288.xml.rels><?xml version="1.0" encoding="UTF-8"?>
<Relationships xmlns="http://schemas.openxmlformats.org/package/2006/relationships"><Relationship Id="rId1" Type="http://schemas.openxmlformats.org/officeDocument/2006/relationships/image" Target="../media/image350.png"/><Relationship Id="rId2" Type="http://schemas.openxmlformats.org/officeDocument/2006/relationships/image" Target="../media/image351.png"/><Relationship Id="rId3" Type="http://schemas.openxmlformats.org/officeDocument/2006/relationships/image" Target="../media/image352.png"/><Relationship Id="rId4" Type="http://schemas.openxmlformats.org/officeDocument/2006/relationships/slideLayout" Target="../slideLayouts/slideLayout37.xml"/>
</Relationships>
</file>

<file path=ppt/slides/_rels/slide289.xml.rels><?xml version="1.0" encoding="UTF-8"?>
<Relationships xmlns="http://schemas.openxmlformats.org/package/2006/relationships"><Relationship Id="rId1" Type="http://schemas.openxmlformats.org/officeDocument/2006/relationships/image" Target="../media/image353.jpeg"/><Relationship Id="rId2" Type="http://schemas.openxmlformats.org/officeDocument/2006/relationships/slideLayout" Target="../slideLayouts/slideLayout25.xml"/>
</Relationships>
</file>

<file path=ppt/slides/_rels/slide290.xml.rels><?xml version="1.0" encoding="UTF-8"?>
<Relationships xmlns="http://schemas.openxmlformats.org/package/2006/relationships"><Relationship Id="rId1" Type="http://schemas.openxmlformats.org/officeDocument/2006/relationships/image" Target="../media/image354.png"/><Relationship Id="rId2" Type="http://schemas.openxmlformats.org/officeDocument/2006/relationships/slideLayout" Target="../slideLayouts/slideLayout37.xml"/>
</Relationships>
</file>

<file path=ppt/slides/_rels/slide291.xml.rels><?xml version="1.0" encoding="UTF-8"?>
<Relationships xmlns="http://schemas.openxmlformats.org/package/2006/relationships"><Relationship Id="rId1" Type="http://schemas.openxmlformats.org/officeDocument/2006/relationships/image" Target="../media/image355.png"/><Relationship Id="rId2" Type="http://schemas.openxmlformats.org/officeDocument/2006/relationships/image" Target="../media/image356.png"/><Relationship Id="rId3" Type="http://schemas.openxmlformats.org/officeDocument/2006/relationships/image" Target="../media/image357.png"/><Relationship Id="rId4" Type="http://schemas.openxmlformats.org/officeDocument/2006/relationships/slideLayout" Target="../slideLayouts/slideLayout37.xml"/>
</Relationships>
</file>

<file path=ppt/slides/_rels/slide29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293.xml.rels><?xml version="1.0" encoding="UTF-8"?>
<Relationships xmlns="http://schemas.openxmlformats.org/package/2006/relationships"><Relationship Id="rId1" Type="http://schemas.openxmlformats.org/officeDocument/2006/relationships/image" Target="../media/image358.jpeg"/><Relationship Id="rId2" Type="http://schemas.openxmlformats.org/officeDocument/2006/relationships/image" Target="../media/image359.png"/><Relationship Id="rId3" Type="http://schemas.openxmlformats.org/officeDocument/2006/relationships/slideLayout" Target="../slideLayouts/slideLayout25.xml"/>
</Relationships>
</file>

<file path=ppt/slides/_rels/slide294.xml.rels><?xml version="1.0" encoding="UTF-8"?>
<Relationships xmlns="http://schemas.openxmlformats.org/package/2006/relationships"><Relationship Id="rId1" Type="http://schemas.openxmlformats.org/officeDocument/2006/relationships/hyperlink" Target="https://kubernetes.io/docs/concepts/services-networking/ingress/#tls" TargetMode="External"/><Relationship Id="rId2" Type="http://schemas.openxmlformats.org/officeDocument/2006/relationships/hyperlink" Target="https://kubernetes.io/docs/concepts/services-networking/ingress/#tls" TargetMode="External"/><Relationship Id="rId3" Type="http://schemas.openxmlformats.org/officeDocument/2006/relationships/slideLayout" Target="../slideLayouts/slideLayout37.xml"/>
</Relationships>
</file>

<file path=ppt/slides/_rels/slide295.xml.rels><?xml version="1.0" encoding="UTF-8"?>
<Relationships xmlns="http://schemas.openxmlformats.org/package/2006/relationships"><Relationship Id="rId1" Type="http://schemas.openxmlformats.org/officeDocument/2006/relationships/hyperlink" Target="https://kubernetes.io/docs/concepts/services-networking/ingress-controllers/" TargetMode="External"/><Relationship Id="rId2" Type="http://schemas.openxmlformats.org/officeDocument/2006/relationships/hyperlink" Target="https://kubernetes.io/docs/concepts/services-networking/ingress-controllers/" TargetMode="External"/><Relationship Id="rId3" Type="http://schemas.openxmlformats.org/officeDocument/2006/relationships/slideLayout" Target="../slideLayouts/slideLayout37.xml"/>
</Relationships>
</file>

<file path=ppt/slides/_rels/slide296.xml.rels><?xml version="1.0" encoding="UTF-8"?>
<Relationships xmlns="http://schemas.openxmlformats.org/package/2006/relationships"><Relationship Id="rId1" Type="http://schemas.openxmlformats.org/officeDocument/2006/relationships/image" Target="../media/image360.jpeg"/><Relationship Id="rId2" Type="http://schemas.openxmlformats.org/officeDocument/2006/relationships/slideLayout" Target="../slideLayouts/slideLayout25.xml"/>
</Relationships>
</file>

<file path=ppt/slides/_rels/slide297.xml.rels><?xml version="1.0" encoding="UTF-8"?>
<Relationships xmlns="http://schemas.openxmlformats.org/package/2006/relationships"><Relationship Id="rId1" Type="http://schemas.openxmlformats.org/officeDocument/2006/relationships/image" Target="../media/image361.png"/><Relationship Id="rId2" Type="http://schemas.openxmlformats.org/officeDocument/2006/relationships/slideLayout" Target="../slideLayouts/slideLayout37.xml"/>
</Relationships>
</file>

<file path=ppt/slides/_rels/slide298.xml.rels><?xml version="1.0" encoding="UTF-8"?>
<Relationships xmlns="http://schemas.openxmlformats.org/package/2006/relationships"><Relationship Id="rId1" Type="http://schemas.openxmlformats.org/officeDocument/2006/relationships/image" Target="../media/image362.png"/><Relationship Id="rId2" Type="http://schemas.openxmlformats.org/officeDocument/2006/relationships/slideLayout" Target="../slideLayouts/slideLayout37.xml"/>
</Relationships>
</file>

<file path=ppt/slides/_rels/slide29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30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301.xml.rels><?xml version="1.0" encoding="UTF-8"?>
<Relationships xmlns="http://schemas.openxmlformats.org/package/2006/relationships"><Relationship Id="rId1" Type="http://schemas.openxmlformats.org/officeDocument/2006/relationships/image" Target="../media/image363.png"/><Relationship Id="rId2" Type="http://schemas.openxmlformats.org/officeDocument/2006/relationships/slideLayout" Target="../slideLayouts/slideLayout37.xml"/>
</Relationships>
</file>

<file path=ppt/slides/_rels/slide302.xml.rels><?xml version="1.0" encoding="UTF-8"?>
<Relationships xmlns="http://schemas.openxmlformats.org/package/2006/relationships"><Relationship Id="rId1" Type="http://schemas.openxmlformats.org/officeDocument/2006/relationships/hyperlink" Target="https://github.com/kubernetes-sigs/external-dns" TargetMode="External"/><Relationship Id="rId2" Type="http://schemas.openxmlformats.org/officeDocument/2006/relationships/slideLayout" Target="../slideLayouts/slideLayout37.xml"/>
</Relationships>
</file>

<file path=ppt/slides/_rels/slide303.xml.rels><?xml version="1.0" encoding="UTF-8"?>
<Relationships xmlns="http://schemas.openxmlformats.org/package/2006/relationships"><Relationship Id="rId1" Type="http://schemas.openxmlformats.org/officeDocument/2006/relationships/image" Target="../media/image364.png"/><Relationship Id="rId2" Type="http://schemas.openxmlformats.org/officeDocument/2006/relationships/hyperlink" Target="http://star-alliance.com/corellian/api" TargetMode="External"/><Relationship Id="rId3" Type="http://schemas.openxmlformats.org/officeDocument/2006/relationships/hyperlink" Target="http://star-alliance.com/corellian/api/" TargetMode="External"/><Relationship Id="rId4" Type="http://schemas.openxmlformats.org/officeDocument/2006/relationships/slideLayout" Target="../slideLayouts/slideLayout37.xml"/>
</Relationships>
</file>

<file path=ppt/slides/_rels/slide30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305.xml.rels><?xml version="1.0" encoding="UTF-8"?>
<Relationships xmlns="http://schemas.openxmlformats.org/package/2006/relationships"><Relationship Id="rId1" Type="http://schemas.openxmlformats.org/officeDocument/2006/relationships/image" Target="../media/image365.jpeg"/><Relationship Id="rId2" Type="http://schemas.openxmlformats.org/officeDocument/2006/relationships/image" Target="../media/image366.png"/><Relationship Id="rId3" Type="http://schemas.openxmlformats.org/officeDocument/2006/relationships/slideLayout" Target="../slideLayouts/slideLayout25.xml"/>
</Relationships>
</file>

<file path=ppt/slides/_rels/slide306.xml.rels><?xml version="1.0" encoding="UTF-8"?>
<Relationships xmlns="http://schemas.openxmlformats.org/package/2006/relationships"><Relationship Id="rId1" Type="http://schemas.openxmlformats.org/officeDocument/2006/relationships/hyperlink" Target="https://kubernetes.io/docs/concepts/extend-kubernetes/compute-storage-net/network-plugins/" TargetMode="External"/><Relationship Id="rId2" Type="http://schemas.openxmlformats.org/officeDocument/2006/relationships/hyperlink" Target="https://kubernetes.io/docs/concepts/extend-kubernetes/compute-storage-net/network-plugins/" TargetMode="External"/><Relationship Id="rId3" Type="http://schemas.openxmlformats.org/officeDocument/2006/relationships/hyperlink" Target="https://kubernetes.io/docs/concepts/extend-kubernetes/compute-storage-net/network-plugins/" TargetMode="External"/><Relationship Id="rId4" Type="http://schemas.openxmlformats.org/officeDocument/2006/relationships/hyperlink" Target="https://kubernetes.io/docs/concepts/extend-kubernetes/compute-storage-net/network-plugins/" TargetMode="External"/><Relationship Id="rId5" Type="http://schemas.openxmlformats.org/officeDocument/2006/relationships/slideLayout" Target="../slideLayouts/slideLayout37.xml"/>
</Relationships>
</file>

<file path=ppt/slides/_rels/slide307.xml.rels><?xml version="1.0" encoding="UTF-8"?>
<Relationships xmlns="http://schemas.openxmlformats.org/package/2006/relationships"><Relationship Id="rId1" Type="http://schemas.openxmlformats.org/officeDocument/2006/relationships/hyperlink" Target="https://kubernetes.io/docs/tasks/administer-cluster/network-policy-provider/cilium-network-policy/" TargetMode="External"/><Relationship Id="rId2" Type="http://schemas.openxmlformats.org/officeDocument/2006/relationships/slideLayout" Target="../slideLayouts/slideLayout37.xml"/>
</Relationships>
</file>

<file path=ppt/slides/_rels/slide308.xml.rels><?xml version="1.0" encoding="UTF-8"?>
<Relationships xmlns="http://schemas.openxmlformats.org/package/2006/relationships"><Relationship Id="rId1" Type="http://schemas.openxmlformats.org/officeDocument/2006/relationships/image" Target="../media/image367.png"/><Relationship Id="rId2" Type="http://schemas.openxmlformats.org/officeDocument/2006/relationships/slideLayout" Target="../slideLayouts/slideLayout37.xml"/>
</Relationships>
</file>

<file path=ppt/slides/_rels/slide309.xml.rels><?xml version="1.0" encoding="UTF-8"?>
<Relationships xmlns="http://schemas.openxmlformats.org/package/2006/relationships"><Relationship Id="rId1" Type="http://schemas.openxmlformats.org/officeDocument/2006/relationships/image" Target="../media/image368.png"/><Relationship Id="rId2" Type="http://schemas.openxmlformats.org/officeDocument/2006/relationships/slideLayout" Target="../slideLayouts/slideLayout37.xml"/>
</Relationships>
</file>

<file path=ppt/slides/_rels/slide310.xml.rels><?xml version="1.0" encoding="UTF-8"?>
<Relationships xmlns="http://schemas.openxmlformats.org/package/2006/relationships"><Relationship Id="rId1" Type="http://schemas.openxmlformats.org/officeDocument/2006/relationships/image" Target="../media/image369.png"/><Relationship Id="rId2" Type="http://schemas.openxmlformats.org/officeDocument/2006/relationships/slideLayout" Target="../slideLayouts/slideLayout37.xml"/>
</Relationships>
</file>

<file path=ppt/slides/_rels/slide311.xml.rels><?xml version="1.0" encoding="UTF-8"?>
<Relationships xmlns="http://schemas.openxmlformats.org/package/2006/relationships"><Relationship Id="rId1" Type="http://schemas.openxmlformats.org/officeDocument/2006/relationships/image" Target="../media/image370.jpeg"/><Relationship Id="rId2" Type="http://schemas.openxmlformats.org/officeDocument/2006/relationships/slideLayout" Target="../slideLayouts/slideLayout25.xml"/>
</Relationships>
</file>

<file path=ppt/slides/_rels/slide312.xml.rels><?xml version="1.0" encoding="UTF-8"?>
<Relationships xmlns="http://schemas.openxmlformats.org/package/2006/relationships"><Relationship Id="rId1" Type="http://schemas.openxmlformats.org/officeDocument/2006/relationships/image" Target="../media/image371.png"/><Relationship Id="rId2" Type="http://schemas.openxmlformats.org/officeDocument/2006/relationships/slideLayout" Target="../slideLayouts/slideLayout37.xml"/>
</Relationships>
</file>

<file path=ppt/slides/_rels/slide313.xml.rels><?xml version="1.0" encoding="UTF-8"?>
<Relationships xmlns="http://schemas.openxmlformats.org/package/2006/relationships"><Relationship Id="rId1" Type="http://schemas.openxmlformats.org/officeDocument/2006/relationships/image" Target="../media/image372.png"/><Relationship Id="rId2" Type="http://schemas.openxmlformats.org/officeDocument/2006/relationships/slideLayout" Target="../slideLayouts/slideLayout37.xml"/>
</Relationships>
</file>

<file path=ppt/slides/_rels/slide314.xml.rels><?xml version="1.0" encoding="UTF-8"?>
<Relationships xmlns="http://schemas.openxmlformats.org/package/2006/relationships"><Relationship Id="rId1" Type="http://schemas.openxmlformats.org/officeDocument/2006/relationships/image" Target="../media/image373.png"/><Relationship Id="rId2" Type="http://schemas.openxmlformats.org/officeDocument/2006/relationships/slideLayout" Target="../slideLayouts/slideLayout37.xml"/>
</Relationships>
</file>

<file path=ppt/slides/_rels/slide315.xml.rels><?xml version="1.0" encoding="UTF-8"?>
<Relationships xmlns="http://schemas.openxmlformats.org/package/2006/relationships"><Relationship Id="rId1" Type="http://schemas.openxmlformats.org/officeDocument/2006/relationships/image" Target="../media/image374.png"/><Relationship Id="rId2" Type="http://schemas.openxmlformats.org/officeDocument/2006/relationships/slideLayout" Target="../slideLayouts/slideLayout37.xml"/>
</Relationships>
</file>

<file path=ppt/slides/_rels/slide316.xml.rels><?xml version="1.0" encoding="UTF-8"?>
<Relationships xmlns="http://schemas.openxmlformats.org/package/2006/relationships"><Relationship Id="rId1" Type="http://schemas.openxmlformats.org/officeDocument/2006/relationships/image" Target="../media/image375.png"/><Relationship Id="rId2" Type="http://schemas.openxmlformats.org/officeDocument/2006/relationships/slideLayout" Target="../slideLayouts/slideLayout37.xml"/>
</Relationships>
</file>

<file path=ppt/slides/_rels/slide3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object 32"/>
          <p:cNvSpPr/>
          <p:nvPr/>
        </p:nvSpPr>
        <p:spPr>
          <a:xfrm>
            <a:off x="8412840" y="4408200"/>
            <a:ext cx="548640" cy="464760"/>
          </a:xfrm>
          <a:custGeom>
            <a:avLst/>
            <a:gdLst/>
            <a:ahLst/>
            <a:rect l="l" t="t" r="r" b="b"/>
            <a:pathLst>
              <a:path w="557529" h="473710">
                <a:moveTo>
                  <a:pt x="557099" y="473399"/>
                </a:moveTo>
                <a:lnTo>
                  <a:pt x="0" y="473399"/>
                </a:lnTo>
                <a:lnTo>
                  <a:pt x="0" y="0"/>
                </a:lnTo>
                <a:lnTo>
                  <a:pt x="557099" y="0"/>
                </a:lnTo>
                <a:lnTo>
                  <a:pt x="557099" y="473399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220" name="object 33" descr=""/>
          <p:cNvPicPr/>
          <p:nvPr/>
        </p:nvPicPr>
        <p:blipFill>
          <a:blip r:embed="rId1"/>
          <a:stretch/>
        </p:blipFill>
        <p:spPr>
          <a:xfrm>
            <a:off x="3893040" y="1324800"/>
            <a:ext cx="5241960" cy="3809880"/>
          </a:xfrm>
          <a:prstGeom prst="rect">
            <a:avLst/>
          </a:prstGeom>
          <a:ln w="0">
            <a:noFill/>
          </a:ln>
        </p:spPr>
      </p:pic>
      <p:sp>
        <p:nvSpPr>
          <p:cNvPr id="221" name="object 34"/>
          <p:cNvSpPr/>
          <p:nvPr/>
        </p:nvSpPr>
        <p:spPr>
          <a:xfrm>
            <a:off x="587880" y="1167840"/>
            <a:ext cx="3615480" cy="10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50040" bIns="0" anchor="t">
            <a:spAutoFit/>
          </a:bodyPr>
          <a:p>
            <a:pPr marL="12600">
              <a:lnSpc>
                <a:spcPts val="2631"/>
              </a:lnSpc>
              <a:spcBef>
                <a:spcPts val="394"/>
              </a:spcBef>
              <a:buNone/>
            </a:pPr>
            <a:r>
              <a:rPr b="0" lang="fr-FR" sz="2400" spc="-7" strike="noStrike">
                <a:solidFill>
                  <a:srgbClr val="6c6c6c"/>
                </a:solidFill>
                <a:latin typeface="Arial MT"/>
                <a:ea typeface="DejaVu Sans"/>
              </a:rPr>
              <a:t>Certified Kubernetes </a:t>
            </a:r>
            <a:r>
              <a:rPr b="0" lang="fr-FR" sz="2400" spc="-1" strike="noStrike">
                <a:solidFill>
                  <a:srgbClr val="6c6c6c"/>
                </a:solidFill>
                <a:latin typeface="Arial MT"/>
                <a:ea typeface="DejaVu Sans"/>
              </a:rPr>
              <a:t> </a:t>
            </a:r>
            <a:r>
              <a:rPr b="0" lang="fr-FR" sz="2400" spc="-7" strike="noStrike">
                <a:solidFill>
                  <a:srgbClr val="6c6c6c"/>
                </a:solidFill>
                <a:latin typeface="Arial MT"/>
                <a:ea typeface="DejaVu Sans"/>
              </a:rPr>
              <a:t>Application Developer</a:t>
            </a:r>
            <a:r>
              <a:rPr b="0" lang="fr-FR" sz="2400" spc="-60" strike="noStrike">
                <a:solidFill>
                  <a:srgbClr val="6c6c6c"/>
                </a:solidFill>
                <a:latin typeface="Arial MT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6c6c6c"/>
                </a:solidFill>
                <a:latin typeface="Arial MT"/>
                <a:ea typeface="DejaVu Sans"/>
              </a:rPr>
              <a:t>(CKAD)</a:t>
            </a:r>
            <a:r>
              <a:rPr b="0" lang="fr-FR" sz="2400" spc="-52" strike="noStrike">
                <a:solidFill>
                  <a:srgbClr val="6c6c6c"/>
                </a:solidFill>
                <a:latin typeface="Arial MT"/>
                <a:ea typeface="DejaVu Sans"/>
              </a:rPr>
              <a:t> </a:t>
            </a:r>
            <a:endParaRPr b="0" lang="fr-FR" sz="2400" spc="-1" strike="noStrike">
              <a:latin typeface="Arial"/>
            </a:endParaRPr>
          </a:p>
        </p:txBody>
      </p:sp>
      <p:sp>
        <p:nvSpPr>
          <p:cNvPr id="222" name="object 35"/>
          <p:cNvSpPr/>
          <p:nvPr/>
        </p:nvSpPr>
        <p:spPr>
          <a:xfrm>
            <a:off x="223920" y="163800"/>
            <a:ext cx="1861200" cy="207000"/>
          </a:xfrm>
          <a:custGeom>
            <a:avLst/>
            <a:gdLst/>
            <a:ahLst/>
            <a:rect l="l" t="t" r="r" b="b"/>
            <a:pathLst>
              <a:path w="1870075" h="215900">
                <a:moveTo>
                  <a:pt x="1869599" y="215399"/>
                </a:moveTo>
                <a:lnTo>
                  <a:pt x="0" y="215399"/>
                </a:lnTo>
                <a:lnTo>
                  <a:pt x="0" y="0"/>
                </a:lnTo>
                <a:lnTo>
                  <a:pt x="1869599" y="0"/>
                </a:lnTo>
                <a:lnTo>
                  <a:pt x="1869599" y="215399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23" name="object 36"/>
          <p:cNvSpPr/>
          <p:nvPr/>
        </p:nvSpPr>
        <p:spPr>
          <a:xfrm>
            <a:off x="587880" y="2426400"/>
            <a:ext cx="2643480" cy="3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i="1" lang="fr-FR" sz="2200" spc="-446" strike="noStrike">
                <a:solidFill>
                  <a:srgbClr val="d3002d"/>
                </a:solidFill>
                <a:latin typeface="Trebuchet MS"/>
                <a:ea typeface="DejaVu Sans"/>
              </a:rPr>
              <a:t>K</a:t>
            </a:r>
            <a:r>
              <a:rPr b="1" i="1" lang="fr-FR" sz="2200" spc="-440" strike="noStrike">
                <a:solidFill>
                  <a:srgbClr val="d3002d"/>
                </a:solidFill>
                <a:latin typeface="Trebuchet MS"/>
                <a:ea typeface="DejaVu Sans"/>
              </a:rPr>
              <a:t>u</a:t>
            </a:r>
            <a:r>
              <a:rPr b="1" i="1" lang="fr-FR" sz="2200" spc="-335" strike="noStrike">
                <a:solidFill>
                  <a:srgbClr val="d3002d"/>
                </a:solidFill>
                <a:latin typeface="Trebuchet MS"/>
                <a:ea typeface="DejaVu Sans"/>
              </a:rPr>
              <a:t>bernetes</a:t>
            </a:r>
            <a:r>
              <a:rPr b="1" i="1" lang="fr-FR" sz="2200" spc="-137" strike="noStrike">
                <a:solidFill>
                  <a:srgbClr val="d3002d"/>
                </a:solidFill>
                <a:latin typeface="Trebuchet MS"/>
                <a:ea typeface="DejaVu Sans"/>
              </a:rPr>
              <a:t> </a:t>
            </a:r>
            <a:r>
              <a:rPr b="1" i="1" lang="fr-FR" sz="2200" spc="-330" strike="noStrike">
                <a:solidFill>
                  <a:srgbClr val="d3002d"/>
                </a:solidFill>
                <a:latin typeface="Trebuchet MS"/>
                <a:ea typeface="DejaVu Sans"/>
              </a:rPr>
              <a:t>1.31</a:t>
            </a:r>
            <a:r>
              <a:rPr b="1" i="1" lang="fr-FR" sz="2200" spc="-137" strike="noStrike">
                <a:solidFill>
                  <a:srgbClr val="d3002d"/>
                </a:solidFill>
                <a:latin typeface="Trebuchet MS"/>
                <a:ea typeface="DejaVu Sans"/>
              </a:rPr>
              <a:t> </a:t>
            </a:r>
            <a:r>
              <a:rPr b="1" i="1" lang="fr-FR" sz="2200" spc="-296" strike="noStrike">
                <a:solidFill>
                  <a:srgbClr val="d3002d"/>
                </a:solidFill>
                <a:latin typeface="Trebuchet MS"/>
                <a:ea typeface="DejaVu Sans"/>
              </a:rPr>
              <a:t>Edition</a:t>
            </a:r>
            <a:endParaRPr b="0" lang="fr-FR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xfrm>
            <a:off x="385920" y="391320"/>
            <a:ext cx="5726520" cy="862200"/>
          </a:xfrm>
          <a:prstGeom prst="rect">
            <a:avLst/>
          </a:prstGeom>
          <a:noFill/>
          <a:ln w="0">
            <a:noFill/>
          </a:ln>
        </p:spPr>
        <p:txBody>
          <a:bodyPr lIns="0" rIns="0" tIns="12600" bIns="0" anchor="t">
            <a:no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4000" spc="-1" strike="noStrike">
                <a:solidFill>
                  <a:srgbClr val="000000"/>
                </a:solidFill>
                <a:latin typeface="Arial"/>
              </a:rPr>
              <a:t>About the trainer</a:t>
            </a:r>
            <a:endParaRPr b="0" lang="fr-FR" sz="4000" spc="-1" strike="noStrike">
              <a:latin typeface="Arial"/>
            </a:endParaRPr>
          </a:p>
        </p:txBody>
      </p:sp>
      <p:sp>
        <p:nvSpPr>
          <p:cNvPr id="225" name="object 1"/>
          <p:cNvSpPr/>
          <p:nvPr/>
        </p:nvSpPr>
        <p:spPr>
          <a:xfrm>
            <a:off x="441720" y="1289880"/>
            <a:ext cx="5580720" cy="136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8080" bIns="0" anchor="t">
            <a:spAutoFit/>
          </a:bodyPr>
          <a:p>
            <a:pPr marL="96480" indent="-84600">
              <a:lnSpc>
                <a:spcPts val="2849"/>
              </a:lnSpc>
              <a:spcBef>
                <a:spcPts val="221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595959"/>
                </a:solidFill>
                <a:latin typeface="Arial"/>
                <a:ea typeface="DejaVu Sans"/>
              </a:rPr>
              <a:t>Brahim HAMDI</a:t>
            </a:r>
            <a:endParaRPr b="0" lang="fr-FR" sz="2400" spc="-1" strike="noStrike">
              <a:latin typeface="Arial"/>
            </a:endParaRPr>
          </a:p>
          <a:p>
            <a:pPr marL="134640" indent="-84600">
              <a:lnSpc>
                <a:spcPct val="100000"/>
              </a:lnSpc>
              <a:spcBef>
                <a:spcPts val="6"/>
              </a:spcBef>
              <a:buNone/>
              <a:tabLst>
                <a:tab algn="l" pos="0"/>
              </a:tabLst>
            </a:pPr>
            <a:r>
              <a:rPr b="0" lang="fr-FR" sz="1200" spc="-12" strike="noStrike" u="heavy">
                <a:solidFill>
                  <a:srgbClr val="0000ff"/>
                </a:solidFill>
                <a:uFill>
                  <a:solidFill>
                    <a:srgbClr val="d3002d"/>
                  </a:solidFill>
                </a:uFill>
                <a:latin typeface="Arial MT"/>
                <a:ea typeface="DejaVu Sans"/>
                <a:hlinkClick r:id="rId1"/>
              </a:rPr>
              <a:t>brahim.hamdi.consult@gmail.com</a:t>
            </a:r>
            <a:endParaRPr b="0" lang="fr-FR" sz="1200" spc="-1" strike="noStrike">
              <a:latin typeface="Arial"/>
            </a:endParaRPr>
          </a:p>
          <a:p>
            <a:pPr marL="134640" indent="-84600">
              <a:lnSpc>
                <a:spcPct val="100000"/>
              </a:lnSpc>
              <a:spcBef>
                <a:spcPts val="6"/>
              </a:spcBef>
              <a:buNone/>
              <a:tabLst>
                <a:tab algn="l" pos="0"/>
              </a:tabLst>
            </a:pPr>
            <a:endParaRPr b="0" lang="fr-FR" sz="1200" spc="-1" strike="noStrike">
              <a:latin typeface="Arial"/>
            </a:endParaRPr>
          </a:p>
          <a:p>
            <a:pPr marL="98280" indent="-846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fr-FR" sz="2000" spc="-1" strike="noStrike">
                <a:solidFill>
                  <a:srgbClr val="000000"/>
                </a:solidFill>
                <a:latin typeface="Arial"/>
                <a:ea typeface="DejaVu Sans"/>
              </a:rPr>
              <a:t>Consultant / Trainer</a:t>
            </a:r>
            <a:endParaRPr b="0" lang="fr-FR" sz="2000" spc="-1" strike="noStrike">
              <a:latin typeface="Arial"/>
            </a:endParaRPr>
          </a:p>
          <a:p>
            <a:pPr marL="98280" indent="-846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fr-FR" sz="2000" spc="-1" strike="noStrike">
                <a:solidFill>
                  <a:srgbClr val="000000"/>
                </a:solidFill>
                <a:latin typeface="Arial"/>
                <a:ea typeface="DejaVu Sans"/>
              </a:rPr>
              <a:t>DevOps &amp; Cloud Expert</a:t>
            </a:r>
            <a:endParaRPr b="0" lang="fr-FR" sz="2000" spc="-1" strike="noStrike">
              <a:latin typeface="Arial"/>
            </a:endParaRPr>
          </a:p>
        </p:txBody>
      </p:sp>
      <p:pic>
        <p:nvPicPr>
          <p:cNvPr id="226" name="" descr=""/>
          <p:cNvPicPr/>
          <p:nvPr/>
        </p:nvPicPr>
        <p:blipFill>
          <a:blip r:embed="rId2"/>
          <a:stretch/>
        </p:blipFill>
        <p:spPr>
          <a:xfrm>
            <a:off x="2274840" y="3402720"/>
            <a:ext cx="707040" cy="654840"/>
          </a:xfrm>
          <a:prstGeom prst="rect">
            <a:avLst/>
          </a:prstGeom>
          <a:ln w="0">
            <a:noFill/>
          </a:ln>
        </p:spPr>
      </p:pic>
      <p:pic>
        <p:nvPicPr>
          <p:cNvPr id="227" name="" descr=""/>
          <p:cNvPicPr/>
          <p:nvPr/>
        </p:nvPicPr>
        <p:blipFill>
          <a:blip r:embed="rId3"/>
          <a:stretch/>
        </p:blipFill>
        <p:spPr>
          <a:xfrm>
            <a:off x="6579000" y="3204000"/>
            <a:ext cx="1008720" cy="981000"/>
          </a:xfrm>
          <a:prstGeom prst="rect">
            <a:avLst/>
          </a:prstGeom>
          <a:ln w="0">
            <a:noFill/>
          </a:ln>
        </p:spPr>
      </p:pic>
      <p:pic>
        <p:nvPicPr>
          <p:cNvPr id="228" name="" descr=""/>
          <p:cNvPicPr/>
          <p:nvPr/>
        </p:nvPicPr>
        <p:blipFill>
          <a:blip r:embed="rId4"/>
          <a:stretch/>
        </p:blipFill>
        <p:spPr>
          <a:xfrm>
            <a:off x="4330080" y="3357360"/>
            <a:ext cx="1514520" cy="696600"/>
          </a:xfrm>
          <a:prstGeom prst="rect">
            <a:avLst/>
          </a:prstGeom>
          <a:ln w="0">
            <a:noFill/>
          </a:ln>
        </p:spPr>
      </p:pic>
      <p:pic>
        <p:nvPicPr>
          <p:cNvPr id="229" name="" descr=""/>
          <p:cNvPicPr/>
          <p:nvPr/>
        </p:nvPicPr>
        <p:blipFill>
          <a:blip r:embed="rId5"/>
          <a:stretch/>
        </p:blipFill>
        <p:spPr>
          <a:xfrm>
            <a:off x="5878800" y="3389760"/>
            <a:ext cx="696240" cy="641160"/>
          </a:xfrm>
          <a:prstGeom prst="rect">
            <a:avLst/>
          </a:prstGeom>
          <a:ln w="0">
            <a:noFill/>
          </a:ln>
        </p:spPr>
      </p:pic>
      <p:pic>
        <p:nvPicPr>
          <p:cNvPr id="230" name="" descr=""/>
          <p:cNvPicPr/>
          <p:nvPr/>
        </p:nvPicPr>
        <p:blipFill>
          <a:blip r:embed="rId6"/>
          <a:stretch/>
        </p:blipFill>
        <p:spPr>
          <a:xfrm>
            <a:off x="3658680" y="3402720"/>
            <a:ext cx="685080" cy="666360"/>
          </a:xfrm>
          <a:prstGeom prst="rect">
            <a:avLst/>
          </a:prstGeom>
          <a:ln w="0">
            <a:noFill/>
          </a:ln>
        </p:spPr>
      </p:pic>
      <p:pic>
        <p:nvPicPr>
          <p:cNvPr id="231" name="" descr=""/>
          <p:cNvPicPr/>
          <p:nvPr/>
        </p:nvPicPr>
        <p:blipFill>
          <a:blip r:embed="rId7"/>
          <a:stretch/>
        </p:blipFill>
        <p:spPr>
          <a:xfrm>
            <a:off x="3018960" y="3383280"/>
            <a:ext cx="680400" cy="661680"/>
          </a:xfrm>
          <a:prstGeom prst="rect">
            <a:avLst/>
          </a:prstGeom>
          <a:ln w="0">
            <a:noFill/>
          </a:ln>
        </p:spPr>
      </p:pic>
      <p:pic>
        <p:nvPicPr>
          <p:cNvPr id="232" name="" descr=""/>
          <p:cNvPicPr/>
          <p:nvPr/>
        </p:nvPicPr>
        <p:blipFill>
          <a:blip r:embed="rId8"/>
          <a:stretch/>
        </p:blipFill>
        <p:spPr>
          <a:xfrm>
            <a:off x="1008000" y="3377160"/>
            <a:ext cx="1177200" cy="65664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93043D5-FAFF-402B-AE90-EF7101862084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3" name="object 2" descr=""/>
          <p:cNvPicPr/>
          <p:nvPr/>
        </p:nvPicPr>
        <p:blipFill>
          <a:blip r:embed="rId1"/>
          <a:stretch/>
        </p:blipFill>
        <p:spPr>
          <a:xfrm>
            <a:off x="0" y="0"/>
            <a:ext cx="9140760" cy="5140080"/>
          </a:xfrm>
          <a:prstGeom prst="rect">
            <a:avLst/>
          </a:prstGeom>
          <a:ln w="0">
            <a:noFill/>
          </a:ln>
        </p:spPr>
      </p:pic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494280" y="1767960"/>
            <a:ext cx="3921120" cy="1886040"/>
          </a:xfrm>
          <a:prstGeom prst="rect">
            <a:avLst/>
          </a:prstGeom>
          <a:noFill/>
          <a:ln w="0">
            <a:noFill/>
          </a:ln>
        </p:spPr>
        <p:txBody>
          <a:bodyPr lIns="0" rIns="0" tIns="12600" bIns="0" anchor="t">
            <a:noAutofit/>
          </a:bodyPr>
          <a:p>
            <a:pPr marL="12600">
              <a:lnSpc>
                <a:spcPct val="114000"/>
              </a:lnSpc>
              <a:spcBef>
                <a:spcPts val="99"/>
              </a:spcBef>
              <a:buNone/>
            </a:pPr>
            <a:r>
              <a:rPr b="1" lang="fr-FR" sz="3600" spc="26" strike="noStrike">
                <a:solidFill>
                  <a:srgbClr val="ffffff"/>
                </a:solidFill>
                <a:latin typeface="Tahoma"/>
              </a:rPr>
              <a:t>Applic</a:t>
            </a:r>
            <a:r>
              <a:rPr b="1" lang="fr-FR" sz="3600" spc="26" strike="noStrike">
                <a:solidFill>
                  <a:srgbClr val="ffffff"/>
                </a:solidFill>
                <a:latin typeface="Tahoma"/>
              </a:rPr>
              <a:t>ation </a:t>
            </a:r>
            <a:r>
              <a:rPr b="1" lang="fr-FR" sz="3600" spc="29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600" spc="-1" strike="noStrike">
                <a:solidFill>
                  <a:srgbClr val="ffffff"/>
                </a:solidFill>
                <a:latin typeface="Tahoma"/>
              </a:rPr>
              <a:t>Design</a:t>
            </a:r>
            <a:r>
              <a:rPr b="1" lang="fr-FR" sz="3600" spc="-222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600" spc="66" strike="noStrike">
                <a:solidFill>
                  <a:srgbClr val="ffffff"/>
                </a:solidFill>
                <a:latin typeface="Tahoma"/>
              </a:rPr>
              <a:t>and</a:t>
            </a:r>
            <a:r>
              <a:rPr b="1" lang="fr-FR" sz="3600" spc="-222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600" spc="-21" strike="noStrike">
                <a:solidFill>
                  <a:srgbClr val="ffffff"/>
                </a:solidFill>
                <a:latin typeface="Tahoma"/>
              </a:rPr>
              <a:t>Build</a:t>
            </a:r>
            <a:endParaRPr b="0" lang="fr-FR" sz="3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5" name="object 2"/>
          <p:cNvGrpSpPr/>
          <p:nvPr/>
        </p:nvGrpSpPr>
        <p:grpSpPr>
          <a:xfrm>
            <a:off x="0" y="0"/>
            <a:ext cx="9140760" cy="5140080"/>
            <a:chOff x="0" y="0"/>
            <a:chExt cx="9140760" cy="5140080"/>
          </a:xfrm>
        </p:grpSpPr>
        <p:pic>
          <p:nvPicPr>
            <p:cNvPr id="236" name="object 3" descr=""/>
            <p:cNvPicPr/>
            <p:nvPr/>
          </p:nvPicPr>
          <p:blipFill>
            <a:blip r:embed="rId1"/>
            <a:stretch/>
          </p:blipFill>
          <p:spPr>
            <a:xfrm>
              <a:off x="0" y="0"/>
              <a:ext cx="9140760" cy="514008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237" name="object 4" descr=""/>
            <p:cNvPicPr/>
            <p:nvPr/>
          </p:nvPicPr>
          <p:blipFill>
            <a:blip r:embed="rId2"/>
            <a:stretch/>
          </p:blipFill>
          <p:spPr>
            <a:xfrm>
              <a:off x="8714160" y="146160"/>
              <a:ext cx="284400" cy="22968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238" name="PlaceHolder 1"/>
          <p:cNvSpPr>
            <a:spLocks noGrp="1"/>
          </p:cNvSpPr>
          <p:nvPr>
            <p:ph type="title"/>
          </p:nvPr>
        </p:nvSpPr>
        <p:spPr>
          <a:xfrm>
            <a:off x="494280" y="1685160"/>
            <a:ext cx="8503200" cy="1483560"/>
          </a:xfrm>
          <a:prstGeom prst="rect">
            <a:avLst/>
          </a:prstGeom>
          <a:noFill/>
          <a:ln w="0">
            <a:noFill/>
          </a:ln>
        </p:spPr>
        <p:txBody>
          <a:bodyPr lIns="0" rIns="0" tIns="182160" bIns="0" anchor="t">
            <a:noAutofit/>
          </a:bodyPr>
          <a:p>
            <a:pPr marL="12600">
              <a:lnSpc>
                <a:spcPct val="100000"/>
              </a:lnSpc>
              <a:spcBef>
                <a:spcPts val="1434"/>
              </a:spcBef>
              <a:buNone/>
            </a:pPr>
            <a:r>
              <a:rPr b="1" lang="fr-FR" sz="3200" spc="26" strike="noStrike">
                <a:solidFill>
                  <a:srgbClr val="ffffff"/>
                </a:solidFill>
                <a:latin typeface="Tahoma"/>
              </a:rPr>
              <a:t>Image</a:t>
            </a:r>
            <a:r>
              <a:rPr b="1" lang="fr-FR" sz="3200" spc="-182" strike="noStrike">
                <a:solidFill>
                  <a:srgbClr val="ffffff"/>
                </a:solidFill>
                <a:latin typeface="Tahoma"/>
              </a:rPr>
              <a:t> an</a:t>
            </a:r>
            <a:r>
              <a:rPr b="1" lang="fr-FR" sz="3200" spc="75" strike="noStrike">
                <a:solidFill>
                  <a:srgbClr val="ffffff"/>
                </a:solidFill>
                <a:latin typeface="Tahoma"/>
              </a:rPr>
              <a:t>d</a:t>
            </a:r>
            <a:r>
              <a:rPr b="1" lang="fr-FR" sz="3200" spc="-177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200" spc="21" strike="noStrike">
                <a:solidFill>
                  <a:srgbClr val="ffffff"/>
                </a:solidFill>
                <a:latin typeface="Tahoma"/>
              </a:rPr>
              <a:t>Container</a:t>
            </a:r>
            <a:r>
              <a:rPr b="1" lang="fr-FR" sz="3200" spc="-177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200" spc="72" strike="noStrike">
                <a:solidFill>
                  <a:srgbClr val="ffffff"/>
                </a:solidFill>
                <a:latin typeface="Tahoma"/>
              </a:rPr>
              <a:t>Management</a:t>
            </a:r>
            <a:endParaRPr b="0" lang="fr-FR" sz="32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675"/>
              </a:spcBef>
              <a:buNone/>
            </a:pPr>
            <a:r>
              <a:rPr b="0" lang="fr-FR" sz="1600" spc="-15" strike="noStrike">
                <a:solidFill>
                  <a:srgbClr val="ffffff"/>
                </a:solidFill>
                <a:latin typeface="Lucida Sans Unicode"/>
              </a:rPr>
              <a:t>Defining,</a:t>
            </a:r>
            <a:r>
              <a:rPr b="0" lang="fr-FR" sz="1600" spc="-75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ffffff"/>
                </a:solidFill>
                <a:latin typeface="Lucida Sans Unicode"/>
              </a:rPr>
              <a:t>building,</a:t>
            </a:r>
            <a:r>
              <a:rPr b="0" lang="fr-FR" sz="1600" spc="-7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600" spc="86" strike="noStrike">
                <a:solidFill>
                  <a:srgbClr val="ffffff"/>
                </a:solidFill>
                <a:latin typeface="Lucida Sans Unicode"/>
              </a:rPr>
              <a:t>and</a:t>
            </a:r>
            <a:r>
              <a:rPr b="0" lang="fr-FR" sz="1600" spc="-7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ffffff"/>
                </a:solidFill>
                <a:latin typeface="Lucida Sans Unicode"/>
              </a:rPr>
              <a:t>modifying</a:t>
            </a:r>
            <a:r>
              <a:rPr b="0" lang="fr-FR" sz="1600" spc="-7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ffffff"/>
                </a:solidFill>
                <a:latin typeface="Lucida Sans Unicode"/>
              </a:rPr>
              <a:t>container</a:t>
            </a:r>
            <a:r>
              <a:rPr b="0" lang="fr-FR" sz="1600" spc="-75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600" spc="66" strike="noStrike">
                <a:solidFill>
                  <a:srgbClr val="ffffff"/>
                </a:solidFill>
                <a:latin typeface="Lucida Sans Unicode"/>
              </a:rPr>
              <a:t>images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08320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ner</a:t>
            </a:r>
            <a:r>
              <a:rPr b="1" lang="fr-FR" sz="2400" spc="-17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Termin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ology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container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its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runtime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environment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240" name="object 3" descr=""/>
          <p:cNvPicPr/>
          <p:nvPr/>
        </p:nvPicPr>
        <p:blipFill>
          <a:blip r:embed="rId1"/>
          <a:stretch/>
        </p:blipFill>
        <p:spPr>
          <a:xfrm>
            <a:off x="506880" y="3209760"/>
            <a:ext cx="146160" cy="343800"/>
          </a:xfrm>
          <a:prstGeom prst="rect">
            <a:avLst/>
          </a:prstGeom>
          <a:ln w="0">
            <a:noFill/>
          </a:ln>
        </p:spPr>
      </p:pic>
      <p:pic>
        <p:nvPicPr>
          <p:cNvPr id="241" name="object 4" descr=""/>
          <p:cNvPicPr/>
          <p:nvPr/>
        </p:nvPicPr>
        <p:blipFill>
          <a:blip r:embed="rId2"/>
          <a:stretch/>
        </p:blipFill>
        <p:spPr>
          <a:xfrm>
            <a:off x="4615560" y="1436040"/>
            <a:ext cx="146160" cy="343800"/>
          </a:xfrm>
          <a:prstGeom prst="rect">
            <a:avLst/>
          </a:prstGeom>
          <a:ln w="0">
            <a:noFill/>
          </a:ln>
        </p:spPr>
      </p:pic>
      <p:pic>
        <p:nvPicPr>
          <p:cNvPr id="242" name="object 5" descr=""/>
          <p:cNvPicPr/>
          <p:nvPr/>
        </p:nvPicPr>
        <p:blipFill>
          <a:blip r:embed="rId3"/>
          <a:stretch/>
        </p:blipFill>
        <p:spPr>
          <a:xfrm>
            <a:off x="506880" y="1434600"/>
            <a:ext cx="146160" cy="343800"/>
          </a:xfrm>
          <a:prstGeom prst="rect">
            <a:avLst/>
          </a:prstGeom>
          <a:ln w="0">
            <a:noFill/>
          </a:ln>
        </p:spPr>
      </p:pic>
      <p:sp>
        <p:nvSpPr>
          <p:cNvPr id="243" name="object 6"/>
          <p:cNvSpPr/>
          <p:nvPr/>
        </p:nvSpPr>
        <p:spPr>
          <a:xfrm>
            <a:off x="760680" y="1383840"/>
            <a:ext cx="3918240" cy="340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Container</a:t>
            </a:r>
            <a:endParaRPr b="0" lang="fr-FR" sz="1600" spc="-1" strike="noStrike">
              <a:latin typeface="Arial"/>
            </a:endParaRPr>
          </a:p>
          <a:p>
            <a:pPr marL="332640" indent="-199440">
              <a:lnSpc>
                <a:spcPct val="116000"/>
              </a:lnSpc>
              <a:spcBef>
                <a:spcPts val="1040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3264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Packages an application into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a single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unit </a:t>
            </a:r>
            <a:r>
              <a:rPr b="0" lang="fr-FR" sz="1400" spc="-37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of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software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including its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runtime 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environment, application 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binary, </a:t>
            </a:r>
            <a:r>
              <a:rPr b="0" lang="fr-FR" sz="14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dependencies,</a:t>
            </a:r>
            <a:r>
              <a:rPr b="0" lang="fr-FR" sz="14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and</a:t>
            </a:r>
            <a:r>
              <a:rPr b="0" lang="fr-FR" sz="14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configuration.</a:t>
            </a:r>
            <a:endParaRPr b="0" lang="fr-FR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332640"/>
              </a:tabLst>
            </a:pPr>
            <a:endParaRPr b="0" lang="fr-FR" sz="15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332640"/>
              </a:tabLst>
            </a:pPr>
            <a:endParaRPr b="0" lang="fr-FR" sz="125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6"/>
              </a:spcBef>
              <a:buNone/>
              <a:tabLst>
                <a:tab algn="l" pos="332640"/>
              </a:tabLst>
            </a:pPr>
            <a:r>
              <a:rPr b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Container</a:t>
            </a:r>
            <a:r>
              <a:rPr b="1" lang="fr-FR" sz="1600" spc="-52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Orchestrator</a:t>
            </a:r>
            <a:endParaRPr b="0" lang="fr-FR" sz="1600" spc="-1" strike="noStrike">
              <a:latin typeface="Arial"/>
            </a:endParaRPr>
          </a:p>
          <a:p>
            <a:pPr marL="355680" indent="-222120">
              <a:lnSpc>
                <a:spcPct val="116000"/>
              </a:lnSpc>
              <a:spcBef>
                <a:spcPts val="1040"/>
              </a:spcBef>
              <a:buClr>
                <a:srgbClr val="000000"/>
              </a:buClr>
              <a:buFont typeface="Arial MT"/>
              <a:buChar char="●"/>
              <a:tabLst>
                <a:tab algn="l" pos="35568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Uses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container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runtime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engine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to </a:t>
            </a:r>
            <a:r>
              <a:rPr b="0" lang="fr-FR" sz="1400" spc="-37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instantiate</a:t>
            </a:r>
            <a:r>
              <a:rPr b="0" lang="fr-FR" sz="14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400" spc="-12" strike="noStrike">
                <a:solidFill>
                  <a:srgbClr val="000000"/>
                </a:solidFill>
                <a:latin typeface="Arial MT"/>
                <a:ea typeface="DejaVu Sans"/>
              </a:rPr>
              <a:t> container.</a:t>
            </a:r>
            <a:endParaRPr b="0" lang="fr-FR" sz="1400" spc="-1" strike="noStrike">
              <a:latin typeface="Arial"/>
            </a:endParaRPr>
          </a:p>
          <a:p>
            <a:pPr marL="355680" indent="-222120">
              <a:lnSpc>
                <a:spcPct val="116000"/>
              </a:lnSpc>
              <a:buClr>
                <a:srgbClr val="000000"/>
              </a:buClr>
              <a:buFont typeface="Arial MT"/>
              <a:buChar char="●"/>
              <a:tabLst>
                <a:tab algn="l" pos="35568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Automates and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manages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workload with </a:t>
            </a:r>
            <a:r>
              <a:rPr b="0" lang="fr-FR" sz="1400" spc="-38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features</a:t>
            </a:r>
            <a:r>
              <a:rPr b="0" lang="fr-FR" sz="14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like</a:t>
            </a:r>
            <a:r>
              <a:rPr b="0" lang="fr-FR" sz="1400" spc="-12" strike="noStrike">
                <a:solidFill>
                  <a:srgbClr val="000000"/>
                </a:solidFill>
                <a:latin typeface="Arial MT"/>
                <a:ea typeface="DejaVu Sans"/>
              </a:rPr>
              <a:t> scalability,</a:t>
            </a:r>
            <a:r>
              <a:rPr b="0" lang="fr-FR" sz="14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networking.</a:t>
            </a:r>
            <a:endParaRPr b="0" lang="fr-FR" sz="1400" spc="-1" strike="noStrike">
              <a:latin typeface="Arial"/>
            </a:endParaRPr>
          </a:p>
          <a:p>
            <a:pPr marL="355680" indent="-22212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 MT"/>
              <a:buChar char="●"/>
              <a:tabLst>
                <a:tab algn="l" pos="35568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Example:</a:t>
            </a:r>
            <a:r>
              <a:rPr b="0" lang="fr-FR" sz="1400" spc="-12" strike="noStrike">
                <a:solidFill>
                  <a:srgbClr val="d3002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4"/>
              </a:rPr>
              <a:t>Kubernetes</a:t>
            </a:r>
            <a:r>
              <a:rPr b="0" lang="fr-FR" sz="1400" spc="-15" strike="noStrike" u="sng">
                <a:solidFill>
                  <a:srgbClr val="0000ff"/>
                </a:solidFill>
                <a:uFillTx/>
                <a:latin typeface="Arial MT"/>
                <a:ea typeface="DejaVu Sans"/>
                <a:hlinkClick r:id="rId5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or</a:t>
            </a:r>
            <a:r>
              <a:rPr b="0" lang="fr-FR" sz="1400" spc="-21" strike="noStrike">
                <a:solidFill>
                  <a:srgbClr val="d3002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6"/>
              </a:rPr>
              <a:t>Nomad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244" name="object 8"/>
          <p:cNvSpPr/>
          <p:nvPr/>
        </p:nvSpPr>
        <p:spPr>
          <a:xfrm>
            <a:off x="8701560" y="4908600"/>
            <a:ext cx="1969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FF00801B-DC7B-4332-A1AA-7C81633F9254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245" name="object 7"/>
          <p:cNvSpPr/>
          <p:nvPr/>
        </p:nvSpPr>
        <p:spPr>
          <a:xfrm>
            <a:off x="4869360" y="1371240"/>
            <a:ext cx="3948120" cy="11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Container</a:t>
            </a:r>
            <a:r>
              <a:rPr b="1" lang="fr-FR" sz="1600" spc="-35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Runtime</a:t>
            </a:r>
            <a:r>
              <a:rPr b="1" lang="fr-FR" sz="1600" spc="-35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Engine</a:t>
            </a:r>
            <a:endParaRPr b="0" lang="fr-FR" sz="1600" spc="-1" strike="noStrike">
              <a:latin typeface="Arial"/>
            </a:endParaRPr>
          </a:p>
          <a:p>
            <a:pPr marL="332640" indent="-199440">
              <a:lnSpc>
                <a:spcPct val="116000"/>
              </a:lnSpc>
              <a:spcBef>
                <a:spcPts val="1040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3264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A software component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that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can run  containers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on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host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operating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system.</a:t>
            </a:r>
            <a:endParaRPr b="0" lang="fr-FR" sz="1400" spc="-1" strike="noStrike">
              <a:latin typeface="Arial"/>
            </a:endParaRPr>
          </a:p>
          <a:p>
            <a:pPr marL="332640" indent="-19944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3264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Example:</a:t>
            </a:r>
            <a:r>
              <a:rPr b="0" lang="fr-FR" sz="1400" spc="-1" strike="noStrike">
                <a:solidFill>
                  <a:srgbClr val="d3002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7"/>
              </a:rPr>
              <a:t>Docker</a:t>
            </a:r>
            <a:r>
              <a:rPr b="0" lang="fr-FR" sz="1400" spc="-12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8"/>
              </a:rPr>
              <a:t> </a:t>
            </a:r>
            <a:r>
              <a:rPr b="0" lang="fr-FR" sz="1400" spc="-7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9"/>
              </a:rPr>
              <a:t>Engine</a:t>
            </a:r>
            <a:r>
              <a:rPr b="0" lang="fr-FR" sz="1400" spc="-7" strike="noStrike" u="sng">
                <a:solidFill>
                  <a:srgbClr val="0000ff"/>
                </a:solidFill>
                <a:uFillTx/>
                <a:latin typeface="Arial MT"/>
                <a:ea typeface="DejaVu Sans"/>
                <a:hlinkClick r:id="rId10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or</a:t>
            </a:r>
            <a:r>
              <a:rPr b="0" lang="fr-FR" sz="1400" spc="-7" strike="noStrike">
                <a:solidFill>
                  <a:srgbClr val="d3002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11"/>
              </a:rPr>
              <a:t>containerd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.</a:t>
            </a:r>
            <a:endParaRPr b="0" lang="fr-FR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06320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</a:t>
            </a:r>
            <a:r>
              <a:rPr b="1" lang="fr-FR" sz="2400" spc="-17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Terminology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Building,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running,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publishing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container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6" strike="noStrike">
                <a:solidFill>
                  <a:srgbClr val="666666"/>
                </a:solidFill>
                <a:latin typeface="Lucida Sans Unicode"/>
              </a:rPr>
              <a:t>image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247" name="object 3" descr=""/>
          <p:cNvPicPr/>
          <p:nvPr/>
        </p:nvPicPr>
        <p:blipFill>
          <a:blip r:embed="rId1"/>
          <a:stretch/>
        </p:blipFill>
        <p:spPr>
          <a:xfrm>
            <a:off x="506880" y="3209760"/>
            <a:ext cx="146160" cy="343800"/>
          </a:xfrm>
          <a:prstGeom prst="rect">
            <a:avLst/>
          </a:prstGeom>
          <a:ln w="0">
            <a:noFill/>
          </a:ln>
        </p:spPr>
      </p:pic>
      <p:pic>
        <p:nvPicPr>
          <p:cNvPr id="248" name="object 4" descr=""/>
          <p:cNvPicPr/>
          <p:nvPr/>
        </p:nvPicPr>
        <p:blipFill>
          <a:blip r:embed="rId2"/>
          <a:stretch/>
        </p:blipFill>
        <p:spPr>
          <a:xfrm>
            <a:off x="4615560" y="1436040"/>
            <a:ext cx="146160" cy="343800"/>
          </a:xfrm>
          <a:prstGeom prst="rect">
            <a:avLst/>
          </a:prstGeom>
          <a:ln w="0">
            <a:noFill/>
          </a:ln>
        </p:spPr>
      </p:pic>
      <p:pic>
        <p:nvPicPr>
          <p:cNvPr id="249" name="object 5" descr=""/>
          <p:cNvPicPr/>
          <p:nvPr/>
        </p:nvPicPr>
        <p:blipFill>
          <a:blip r:embed="rId3"/>
          <a:stretch/>
        </p:blipFill>
        <p:spPr>
          <a:xfrm>
            <a:off x="506880" y="1434600"/>
            <a:ext cx="146160" cy="343800"/>
          </a:xfrm>
          <a:prstGeom prst="rect">
            <a:avLst/>
          </a:prstGeom>
          <a:ln w="0">
            <a:noFill/>
          </a:ln>
        </p:spPr>
      </p:pic>
      <p:sp>
        <p:nvSpPr>
          <p:cNvPr id="250" name="object 6"/>
          <p:cNvSpPr/>
          <p:nvPr/>
        </p:nvSpPr>
        <p:spPr>
          <a:xfrm>
            <a:off x="760680" y="1383840"/>
            <a:ext cx="3736800" cy="316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Containerfile</a:t>
            </a:r>
            <a:endParaRPr b="0" lang="fr-FR" sz="1600" spc="-1" strike="noStrike">
              <a:latin typeface="Arial"/>
            </a:endParaRPr>
          </a:p>
          <a:p>
            <a:pPr marL="332640" indent="-199440">
              <a:lnSpc>
                <a:spcPct val="116000"/>
              </a:lnSpc>
              <a:spcBef>
                <a:spcPts val="1040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3264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Spells out what needs to happen when the </a:t>
            </a:r>
            <a:r>
              <a:rPr b="0" lang="fr-FR" sz="1400" spc="-37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software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is built in the form of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list of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instructions.</a:t>
            </a:r>
            <a:endParaRPr b="0" lang="fr-FR" sz="1400" spc="-1" strike="noStrike">
              <a:latin typeface="Arial"/>
            </a:endParaRPr>
          </a:p>
          <a:p>
            <a:pPr marL="332640" indent="-19944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3264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Synonymous</a:t>
            </a:r>
            <a:r>
              <a:rPr b="0" lang="fr-FR" sz="14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with</a:t>
            </a:r>
            <a:r>
              <a:rPr b="0" lang="fr-FR" sz="14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Dockerfile.</a:t>
            </a:r>
            <a:endParaRPr b="0" lang="fr-FR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332640"/>
              </a:tabLst>
            </a:pPr>
            <a:endParaRPr b="0" lang="fr-FR" sz="15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332640"/>
              </a:tabLst>
            </a:pPr>
            <a:endParaRPr b="0" lang="fr-FR" sz="125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6"/>
              </a:spcBef>
              <a:buNone/>
              <a:tabLst>
                <a:tab algn="l" pos="332640"/>
              </a:tabLst>
            </a:pPr>
            <a:r>
              <a:rPr b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Container</a:t>
            </a:r>
            <a:r>
              <a:rPr b="1" lang="fr-FR" sz="1600" spc="-52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Registry</a:t>
            </a:r>
            <a:endParaRPr b="0" lang="fr-FR" sz="1600" spc="-1" strike="noStrike">
              <a:latin typeface="Arial"/>
            </a:endParaRPr>
          </a:p>
          <a:p>
            <a:pPr marL="355680" indent="-222120">
              <a:lnSpc>
                <a:spcPct val="116000"/>
              </a:lnSpc>
              <a:spcBef>
                <a:spcPts val="1040"/>
              </a:spcBef>
              <a:buClr>
                <a:srgbClr val="000000"/>
              </a:buClr>
              <a:buFont typeface="Arial MT"/>
              <a:buChar char="●"/>
              <a:tabLst>
                <a:tab algn="l" pos="35568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Shares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container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images in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a central 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location and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makes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them available for </a:t>
            </a:r>
            <a:r>
              <a:rPr b="0" lang="fr-FR" sz="1400" spc="-37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consumption.</a:t>
            </a:r>
            <a:endParaRPr b="0" lang="fr-FR" sz="1400" spc="-1" strike="noStrike">
              <a:latin typeface="Arial"/>
            </a:endParaRPr>
          </a:p>
          <a:p>
            <a:pPr marL="355680" indent="-22212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 MT"/>
              <a:buChar char="●"/>
              <a:tabLst>
                <a:tab algn="l" pos="35568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Example:</a:t>
            </a:r>
            <a:r>
              <a:rPr b="0" lang="fr-FR" sz="1400" spc="-7" strike="noStrike">
                <a:solidFill>
                  <a:srgbClr val="d3002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4"/>
              </a:rPr>
              <a:t>Docker</a:t>
            </a:r>
            <a:r>
              <a:rPr b="0" lang="fr-FR" sz="1400" spc="-21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5"/>
              </a:rPr>
              <a:t> </a:t>
            </a:r>
            <a:r>
              <a:rPr b="0" lang="fr-FR" sz="1400" spc="-7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6"/>
              </a:rPr>
              <a:t>Hub</a:t>
            </a:r>
            <a:r>
              <a:rPr b="0" lang="fr-FR" sz="1400" spc="-21" strike="noStrike" u="sng">
                <a:solidFill>
                  <a:srgbClr val="0000ff"/>
                </a:solidFill>
                <a:uFillTx/>
                <a:latin typeface="Arial MT"/>
                <a:ea typeface="DejaVu Sans"/>
                <a:hlinkClick r:id="rId7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or</a:t>
            </a:r>
            <a:r>
              <a:rPr b="0" lang="fr-FR" sz="1400" spc="-15" strike="noStrike">
                <a:solidFill>
                  <a:srgbClr val="d3002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8"/>
              </a:rPr>
              <a:t>GCR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251" name="object 8"/>
          <p:cNvSpPr/>
          <p:nvPr/>
        </p:nvSpPr>
        <p:spPr>
          <a:xfrm>
            <a:off x="8701560" y="4908600"/>
            <a:ext cx="1969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BD524B04-E9BF-4F13-BE7E-E36AC05087B4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252" name="object 7"/>
          <p:cNvSpPr/>
          <p:nvPr/>
        </p:nvSpPr>
        <p:spPr>
          <a:xfrm>
            <a:off x="4869360" y="1371240"/>
            <a:ext cx="3948120" cy="13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Container</a:t>
            </a:r>
            <a:r>
              <a:rPr b="1" lang="fr-FR" sz="1600" spc="-52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Image</a:t>
            </a:r>
            <a:endParaRPr b="0" lang="fr-FR" sz="1600" spc="-1" strike="noStrike">
              <a:latin typeface="Arial"/>
            </a:endParaRPr>
          </a:p>
          <a:p>
            <a:pPr marL="332640" indent="-199440">
              <a:lnSpc>
                <a:spcPct val="116000"/>
              </a:lnSpc>
              <a:spcBef>
                <a:spcPts val="1040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3264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Packages an application into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a single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unit </a:t>
            </a:r>
            <a:r>
              <a:rPr b="0" lang="fr-FR" sz="1400" spc="-37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of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software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including its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runtime 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environment</a:t>
            </a:r>
            <a:r>
              <a:rPr b="0" lang="fr-FR" sz="14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and</a:t>
            </a:r>
            <a:r>
              <a:rPr b="0" lang="fr-FR" sz="14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configuration.</a:t>
            </a:r>
            <a:endParaRPr b="0" lang="fr-FR" sz="1400" spc="-1" strike="noStrike">
              <a:latin typeface="Arial"/>
            </a:endParaRPr>
          </a:p>
          <a:p>
            <a:pPr marL="332640" indent="-19944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3264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Built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from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Containerfile.</a:t>
            </a:r>
            <a:endParaRPr b="0" lang="fr-FR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24320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Containerization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7" strike="noStrike">
                <a:solidFill>
                  <a:srgbClr val="000000"/>
                </a:solidFill>
                <a:latin typeface="Tahoma"/>
              </a:rPr>
              <a:t>Process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Building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publishing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6" strike="noStrike">
                <a:solidFill>
                  <a:srgbClr val="666666"/>
                </a:solidFill>
                <a:latin typeface="Lucida Sans Unicode"/>
              </a:rPr>
              <a:t>an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image,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running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6" strike="noStrike">
                <a:solidFill>
                  <a:srgbClr val="666666"/>
                </a:solidFill>
                <a:latin typeface="Lucida Sans Unicode"/>
              </a:rPr>
              <a:t>image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container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254" name="object 3" descr=""/>
          <p:cNvPicPr/>
          <p:nvPr/>
        </p:nvPicPr>
        <p:blipFill>
          <a:blip r:embed="rId1"/>
          <a:stretch/>
        </p:blipFill>
        <p:spPr>
          <a:xfrm>
            <a:off x="925920" y="1716840"/>
            <a:ext cx="7289280" cy="2658240"/>
          </a:xfrm>
          <a:prstGeom prst="rect">
            <a:avLst/>
          </a:prstGeom>
          <a:ln w="0">
            <a:noFill/>
          </a:ln>
        </p:spPr>
      </p:pic>
      <p:sp>
        <p:nvSpPr>
          <p:cNvPr id="255" name="object 4"/>
          <p:cNvSpPr/>
          <p:nvPr/>
        </p:nvSpPr>
        <p:spPr>
          <a:xfrm>
            <a:off x="8701560" y="4908600"/>
            <a:ext cx="1969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61FBD6E3-E483-4030-9EB8-5C6C147E0101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343200" cy="1276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Image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Building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35" strike="noStrike">
                <a:solidFill>
                  <a:srgbClr val="000000"/>
                </a:solidFill>
                <a:latin typeface="Tahoma"/>
              </a:rPr>
              <a:t>Instructions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Dockerfile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is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plain-text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file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Lucida Sans Unicode"/>
                <a:hlinkClick r:id="rId1"/>
              </a:rPr>
              <a:t>instructions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257" name="object 4"/>
          <p:cNvSpPr/>
          <p:nvPr/>
        </p:nvSpPr>
        <p:spPr>
          <a:xfrm>
            <a:off x="506880" y="1491840"/>
            <a:ext cx="8132040" cy="137628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49400" bIns="0" anchor="t">
            <a:spAutoFit/>
          </a:bodyPr>
          <a:p>
            <a:pPr marL="208440">
              <a:lnSpc>
                <a:spcPct val="100000"/>
              </a:lnSpc>
              <a:spcBef>
                <a:spcPts val="1176"/>
              </a:spcBef>
              <a:buNone/>
            </a:pPr>
            <a:r>
              <a:rPr b="1" lang="fr-FR" sz="1600" spc="-7" strike="noStrike">
                <a:solidFill>
                  <a:srgbClr val="4618a2"/>
                </a:solidFill>
                <a:latin typeface="Courier New"/>
                <a:ea typeface="DejaVu Sans"/>
              </a:rPr>
              <a:t>FROM</a:t>
            </a:r>
            <a:r>
              <a:rPr b="1" lang="fr-FR" sz="16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1" lang="fr-FR" sz="1600" spc="-72" strike="noStrike">
                <a:solidFill>
                  <a:srgbClr val="4618a2"/>
                </a:solidFill>
                <a:latin typeface="Courier New"/>
                <a:ea typeface="DejaVu Sans"/>
              </a:rPr>
              <a:t>	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openjdk:11-jre-slim</a:t>
            </a:r>
            <a:endParaRPr b="0" lang="fr-FR" sz="1600" spc="-1" strike="noStrike">
              <a:latin typeface="Arial"/>
            </a:endParaRPr>
          </a:p>
          <a:p>
            <a:pPr marL="208440">
              <a:lnSpc>
                <a:spcPct val="100000"/>
              </a:lnSpc>
              <a:spcBef>
                <a:spcPts val="31"/>
              </a:spcBef>
              <a:buNone/>
            </a:pPr>
            <a:r>
              <a:rPr b="1" lang="fr-FR" sz="1600" spc="-7" strike="noStrike">
                <a:solidFill>
                  <a:srgbClr val="4618a2"/>
                </a:solidFill>
                <a:latin typeface="Courier New"/>
                <a:ea typeface="DejaVu Sans"/>
              </a:rPr>
              <a:t>WORKDIR</a:t>
            </a:r>
            <a:r>
              <a:rPr b="1" lang="fr-FR" sz="16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/app</a:t>
            </a:r>
            <a:endParaRPr b="0" lang="fr-FR" sz="1600" spc="-1" strike="noStrike">
              <a:latin typeface="Arial"/>
            </a:endParaRPr>
          </a:p>
          <a:p>
            <a:pPr marL="208440">
              <a:lnSpc>
                <a:spcPct val="101000"/>
              </a:lnSpc>
              <a:buNone/>
            </a:pPr>
            <a:r>
              <a:rPr b="1" lang="fr-FR" sz="1600" spc="-7" strike="noStrike">
                <a:solidFill>
                  <a:srgbClr val="4618a2"/>
                </a:solidFill>
                <a:latin typeface="Courier New"/>
                <a:ea typeface="DejaVu Sans"/>
              </a:rPr>
              <a:t>COPY </a:t>
            </a:r>
            <a:r>
              <a:rPr b="1" lang="fr-FR" sz="1600" spc="-7" strike="noStrike">
                <a:solidFill>
                  <a:srgbClr val="4618a2"/>
                </a:solidFill>
                <a:latin typeface="Courier New"/>
                <a:ea typeface="DejaVu Sans"/>
              </a:rPr>
              <a:t>	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target/java-hello-world-0.0.1.jar java-hello-world.jar </a:t>
            </a:r>
            <a:r>
              <a:rPr b="0" lang="fr-FR" sz="1600" spc="-95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600" spc="-7" strike="noStrike">
                <a:solidFill>
                  <a:srgbClr val="4618a2"/>
                </a:solidFill>
                <a:latin typeface="Courier New"/>
                <a:ea typeface="DejaVu Sans"/>
              </a:rPr>
              <a:t>ENTRYPOINT </a:t>
            </a:r>
            <a:r>
              <a:rPr b="0" lang="fr-FR" sz="1600" spc="-12" strike="noStrike">
                <a:solidFill>
                  <a:srgbClr val="000000"/>
                </a:solidFill>
                <a:latin typeface="Courier New"/>
                <a:ea typeface="DejaVu Sans"/>
              </a:rPr>
              <a:t>[</a:t>
            </a:r>
            <a:r>
              <a:rPr b="1" lang="fr-FR" sz="1600" spc="-12" strike="noStrike">
                <a:solidFill>
                  <a:srgbClr val="d15e35"/>
                </a:solidFill>
                <a:latin typeface="Courier New"/>
                <a:ea typeface="DejaVu Sans"/>
              </a:rPr>
              <a:t>"java"</a:t>
            </a:r>
            <a:r>
              <a:rPr b="0" lang="fr-FR" sz="1600" spc="-12" strike="noStrike">
                <a:solidFill>
                  <a:srgbClr val="000000"/>
                </a:solidFill>
                <a:latin typeface="Courier New"/>
                <a:ea typeface="DejaVu Sans"/>
              </a:rPr>
              <a:t>, </a:t>
            </a:r>
            <a:r>
              <a:rPr b="1" lang="fr-FR" sz="1600" spc="-7" strike="noStrike">
                <a:solidFill>
                  <a:srgbClr val="d15e35"/>
                </a:solidFill>
                <a:latin typeface="Courier New"/>
                <a:ea typeface="DejaVu Sans"/>
              </a:rPr>
              <a:t>"-jar"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, </a:t>
            </a:r>
            <a:r>
              <a:rPr b="1" lang="fr-FR" sz="1600" spc="-7" strike="noStrike">
                <a:solidFill>
                  <a:srgbClr val="d15e35"/>
                </a:solidFill>
                <a:latin typeface="Courier New"/>
                <a:ea typeface="DejaVu Sans"/>
              </a:rPr>
              <a:t>"/app/java-hello-world.jar"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]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600" spc="-1" strike="noStrike">
              <a:latin typeface="Arial"/>
            </a:endParaRPr>
          </a:p>
          <a:p>
            <a:pPr marL="208440">
              <a:lnSpc>
                <a:spcPct val="101000"/>
              </a:lnSpc>
              <a:buNone/>
            </a:pPr>
            <a:r>
              <a:rPr b="1" lang="fr-FR" sz="1600" spc="-7" strike="noStrike">
                <a:solidFill>
                  <a:srgbClr val="4618a2"/>
                </a:solidFill>
                <a:latin typeface="Courier New"/>
                <a:ea typeface="DejaVu Sans"/>
              </a:rPr>
              <a:t>EXPOSE</a:t>
            </a:r>
            <a:r>
              <a:rPr b="1" lang="fr-FR" sz="1600" spc="-1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8080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258" name="object 5"/>
          <p:cNvSpPr/>
          <p:nvPr/>
        </p:nvSpPr>
        <p:spPr>
          <a:xfrm>
            <a:off x="8701560" y="4908600"/>
            <a:ext cx="1969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070E15FB-10F9-457B-ACBD-77B22DA1F8D4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80320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Building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the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Image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Provide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4" strike="noStrike">
                <a:solidFill>
                  <a:srgbClr val="666666"/>
                </a:solidFill>
                <a:latin typeface="Lucida Sans Unicode"/>
              </a:rPr>
              <a:t>name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0" strike="noStrike">
                <a:solidFill>
                  <a:srgbClr val="666666"/>
                </a:solidFill>
                <a:latin typeface="Lucida Sans Unicode"/>
              </a:rPr>
              <a:t>tag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6" strike="noStrike">
                <a:solidFill>
                  <a:srgbClr val="666666"/>
                </a:solidFill>
                <a:latin typeface="Lucida Sans Unicode"/>
              </a:rPr>
              <a:t>image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82" strike="noStrike">
                <a:solidFill>
                  <a:srgbClr val="666666"/>
                </a:solidFill>
                <a:latin typeface="Lucida Sans Unicode"/>
              </a:rPr>
              <a:t>+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context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directory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260" name="object 3"/>
          <p:cNvGrpSpPr/>
          <p:nvPr/>
        </p:nvGrpSpPr>
        <p:grpSpPr>
          <a:xfrm>
            <a:off x="453240" y="1443240"/>
            <a:ext cx="5178960" cy="2476800"/>
            <a:chOff x="453240" y="1443240"/>
            <a:chExt cx="5178960" cy="2476800"/>
          </a:xfrm>
        </p:grpSpPr>
        <p:pic>
          <p:nvPicPr>
            <p:cNvPr id="261" name="object 4" descr=""/>
            <p:cNvPicPr/>
            <p:nvPr/>
          </p:nvPicPr>
          <p:blipFill>
            <a:blip r:embed="rId1"/>
            <a:stretch/>
          </p:blipFill>
          <p:spPr>
            <a:xfrm>
              <a:off x="453240" y="1443240"/>
              <a:ext cx="5178960" cy="24768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262" name="object 5"/>
            <p:cNvSpPr/>
            <p:nvPr/>
          </p:nvSpPr>
          <p:spPr>
            <a:xfrm>
              <a:off x="506880" y="1491840"/>
              <a:ext cx="5064840" cy="2362680"/>
            </a:xfrm>
            <a:custGeom>
              <a:avLst/>
              <a:gdLst/>
              <a:ahLst/>
              <a:rect l="l" t="t" r="r" b="b"/>
              <a:pathLst>
                <a:path w="5067935" h="2366010">
                  <a:moveTo>
                    <a:pt x="5067899" y="2365799"/>
                  </a:moveTo>
                  <a:lnTo>
                    <a:pt x="0" y="2365799"/>
                  </a:lnTo>
                  <a:lnTo>
                    <a:pt x="0" y="0"/>
                  </a:lnTo>
                  <a:lnTo>
                    <a:pt x="5067899" y="0"/>
                  </a:lnTo>
                  <a:lnTo>
                    <a:pt x="5067899" y="23657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263" name="object 6"/>
          <p:cNvSpPr/>
          <p:nvPr/>
        </p:nvSpPr>
        <p:spPr>
          <a:xfrm>
            <a:off x="2531160" y="3216600"/>
            <a:ext cx="1358280" cy="22356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25920" bIns="0" anchor="t">
            <a:spAutoFit/>
          </a:bodyPr>
          <a:p>
            <a:pPr marL="65880">
              <a:lnSpc>
                <a:spcPct val="100000"/>
              </a:lnSpc>
              <a:spcBef>
                <a:spcPts val="20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3e9c22451a17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264" name="object 7"/>
          <p:cNvSpPr/>
          <p:nvPr/>
        </p:nvSpPr>
        <p:spPr>
          <a:xfrm>
            <a:off x="506880" y="1491840"/>
            <a:ext cx="5064840" cy="21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48680" bIns="0" anchor="t">
            <a:spAutoFit/>
          </a:bodyPr>
          <a:p>
            <a:pPr marL="208440">
              <a:lnSpc>
                <a:spcPct val="101000"/>
              </a:lnSpc>
              <a:spcBef>
                <a:spcPts val="1171"/>
              </a:spcBef>
              <a:buNone/>
              <a:tabLst>
                <a:tab algn="l" pos="4269240"/>
              </a:tabLst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docker build -t java-hello-world:1.0.0 </a:t>
            </a: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. 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Sendin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g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 buil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d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 contex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t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 t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o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 Docke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r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 daemo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n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8.32MB  Step</a:t>
            </a:r>
            <a:r>
              <a:rPr b="0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1/5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: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FROM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openjdk:11-jre-slim</a:t>
            </a:r>
            <a:endParaRPr b="0" lang="fr-FR" sz="1300" spc="-1" strike="noStrike">
              <a:latin typeface="Arial"/>
            </a:endParaRPr>
          </a:p>
          <a:p>
            <a:pPr marL="307440">
              <a:lnSpc>
                <a:spcPct val="100000"/>
              </a:lnSpc>
              <a:spcBef>
                <a:spcPts val="14"/>
              </a:spcBef>
              <a:buNone/>
              <a:tabLst>
                <a:tab algn="l" pos="426924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---&gt;</a:t>
            </a:r>
            <a:r>
              <a:rPr b="0" lang="fr-FR" sz="13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973c18dbf567</a:t>
            </a:r>
            <a:endParaRPr b="0" lang="fr-FR" sz="1300" spc="-1" strike="noStrike">
              <a:latin typeface="Arial"/>
            </a:endParaRPr>
          </a:p>
          <a:p>
            <a:pPr marL="208440">
              <a:lnSpc>
                <a:spcPct val="100000"/>
              </a:lnSpc>
              <a:spcBef>
                <a:spcPts val="14"/>
              </a:spcBef>
              <a:buNone/>
              <a:tabLst>
                <a:tab algn="l" pos="426924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Step</a:t>
            </a:r>
            <a:r>
              <a:rPr b="0" lang="fr-FR" sz="13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2/5</a:t>
            </a:r>
            <a:r>
              <a:rPr b="0" lang="fr-FR" sz="13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:</a:t>
            </a:r>
            <a:r>
              <a:rPr b="0" lang="fr-FR" sz="13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WORKDIR</a:t>
            </a:r>
            <a:r>
              <a:rPr b="0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/app</a:t>
            </a:r>
            <a:endParaRPr b="0" lang="fr-FR" sz="1300" spc="-1" strike="noStrike">
              <a:latin typeface="Arial"/>
            </a:endParaRPr>
          </a:p>
          <a:p>
            <a:pPr marL="307440">
              <a:lnSpc>
                <a:spcPct val="100000"/>
              </a:lnSpc>
              <a:spcBef>
                <a:spcPts val="14"/>
              </a:spcBef>
              <a:buNone/>
              <a:tabLst>
                <a:tab algn="l" pos="426924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---&gt;</a:t>
            </a:r>
            <a:r>
              <a:rPr b="0" lang="fr-FR" sz="13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Using</a:t>
            </a:r>
            <a:r>
              <a:rPr b="0" lang="fr-FR" sz="13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cache</a:t>
            </a:r>
            <a:endParaRPr b="0" lang="fr-FR" sz="1300" spc="-1" strike="noStrike">
              <a:latin typeface="Arial"/>
            </a:endParaRPr>
          </a:p>
          <a:p>
            <a:pPr marL="307440">
              <a:lnSpc>
                <a:spcPct val="100000"/>
              </a:lnSpc>
              <a:spcBef>
                <a:spcPts val="14"/>
              </a:spcBef>
              <a:buNone/>
              <a:tabLst>
                <a:tab algn="l" pos="426924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---&gt;</a:t>
            </a:r>
            <a:r>
              <a:rPr b="0" lang="fr-FR" sz="13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31f9c5f2a019</a:t>
            </a:r>
            <a:endParaRPr b="0" lang="fr-FR" sz="1300" spc="-1" strike="noStrike">
              <a:latin typeface="Arial"/>
            </a:endParaRPr>
          </a:p>
          <a:p>
            <a:pPr marL="208440">
              <a:lnSpc>
                <a:spcPct val="100000"/>
              </a:lnSpc>
              <a:spcBef>
                <a:spcPts val="14"/>
              </a:spcBef>
              <a:buNone/>
              <a:tabLst>
                <a:tab algn="l" pos="426924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300" spc="-1" strike="noStrike">
              <a:latin typeface="Arial"/>
            </a:endParaRPr>
          </a:p>
          <a:p>
            <a:pPr marL="208440">
              <a:lnSpc>
                <a:spcPct val="100000"/>
              </a:lnSpc>
              <a:spcBef>
                <a:spcPts val="14"/>
              </a:spcBef>
              <a:buNone/>
              <a:tabLst>
                <a:tab algn="l" pos="426924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Successfully</a:t>
            </a:r>
            <a:r>
              <a:rPr b="0" lang="fr-FR" sz="13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built</a:t>
            </a:r>
            <a:endParaRPr b="0" lang="fr-FR" sz="1300" spc="-1" strike="noStrike">
              <a:latin typeface="Arial"/>
            </a:endParaRPr>
          </a:p>
          <a:p>
            <a:pPr marL="208440">
              <a:lnSpc>
                <a:spcPct val="100000"/>
              </a:lnSpc>
              <a:spcBef>
                <a:spcPts val="14"/>
              </a:spcBef>
              <a:buNone/>
              <a:tabLst>
                <a:tab algn="l" pos="426924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Successfully</a:t>
            </a:r>
            <a:r>
              <a:rPr b="0" lang="fr-FR" sz="13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tagged</a:t>
            </a:r>
            <a:r>
              <a:rPr b="0" lang="fr-FR" sz="13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java-hello-world:1.0.0</a:t>
            </a:r>
            <a:endParaRPr b="0" lang="fr-FR" sz="1300" spc="-1" strike="noStrike">
              <a:latin typeface="Arial"/>
            </a:endParaRPr>
          </a:p>
        </p:txBody>
      </p:sp>
      <p:grpSp>
        <p:nvGrpSpPr>
          <p:cNvPr id="265" name="object 8"/>
          <p:cNvGrpSpPr/>
          <p:nvPr/>
        </p:nvGrpSpPr>
        <p:grpSpPr>
          <a:xfrm>
            <a:off x="4105800" y="1654560"/>
            <a:ext cx="1758600" cy="1744920"/>
            <a:chOff x="4105800" y="1654560"/>
            <a:chExt cx="1758600" cy="1744920"/>
          </a:xfrm>
        </p:grpSpPr>
        <p:sp>
          <p:nvSpPr>
            <p:cNvPr id="266" name="object 9"/>
            <p:cNvSpPr/>
            <p:nvPr/>
          </p:nvSpPr>
          <p:spPr>
            <a:xfrm>
              <a:off x="4201560" y="3361680"/>
              <a:ext cx="1662480" cy="360"/>
            </a:xfrm>
            <a:custGeom>
              <a:avLst/>
              <a:gdLst/>
              <a:ahLst/>
              <a:rect l="l" t="t" r="r" b="b"/>
              <a:pathLst>
                <a:path w="1665604" h="1904">
                  <a:moveTo>
                    <a:pt x="1664999" y="1684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267" name="object 10" descr=""/>
            <p:cNvPicPr/>
            <p:nvPr/>
          </p:nvPicPr>
          <p:blipFill>
            <a:blip r:embed="rId2"/>
            <a:stretch/>
          </p:blipFill>
          <p:spPr>
            <a:xfrm>
              <a:off x="4105800" y="3320640"/>
              <a:ext cx="102240" cy="788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268" name="object 11"/>
            <p:cNvSpPr/>
            <p:nvPr/>
          </p:nvSpPr>
          <p:spPr>
            <a:xfrm>
              <a:off x="4715640" y="1654560"/>
              <a:ext cx="222120" cy="238680"/>
            </a:xfrm>
            <a:custGeom>
              <a:avLst/>
              <a:gdLst/>
              <a:ahLst/>
              <a:rect l="l" t="t" r="r" b="b"/>
              <a:pathLst>
                <a:path w="225425" h="241935">
                  <a:moveTo>
                    <a:pt x="0" y="0"/>
                  </a:moveTo>
                  <a:lnTo>
                    <a:pt x="225299" y="0"/>
                  </a:lnTo>
                  <a:lnTo>
                    <a:pt x="225299" y="241799"/>
                  </a:lnTo>
                  <a:lnTo>
                    <a:pt x="0" y="24179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9049">
              <a:solidFill>
                <a:srgbClr val="ff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69" name="object 12"/>
            <p:cNvSpPr/>
            <p:nvPr/>
          </p:nvSpPr>
          <p:spPr>
            <a:xfrm>
              <a:off x="5191200" y="1746000"/>
              <a:ext cx="673200" cy="360"/>
            </a:xfrm>
            <a:custGeom>
              <a:avLst/>
              <a:gdLst/>
              <a:ahLst/>
              <a:rect l="l" t="t" r="r" b="b"/>
              <a:pathLst>
                <a:path w="676275" h="0">
                  <a:moveTo>
                    <a:pt x="6761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270" name="object 13" descr=""/>
            <p:cNvPicPr/>
            <p:nvPr/>
          </p:nvPicPr>
          <p:blipFill>
            <a:blip r:embed="rId3"/>
            <a:stretch/>
          </p:blipFill>
          <p:spPr>
            <a:xfrm>
              <a:off x="5095080" y="1704960"/>
              <a:ext cx="102240" cy="788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271" name="object 14"/>
          <p:cNvSpPr/>
          <p:nvPr/>
        </p:nvSpPr>
        <p:spPr>
          <a:xfrm>
            <a:off x="6013800" y="3228480"/>
            <a:ext cx="190368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Container</a:t>
            </a:r>
            <a:r>
              <a:rPr b="0" lang="fr-FR" sz="1400" spc="-4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Image</a:t>
            </a:r>
            <a:r>
              <a:rPr b="0" lang="fr-FR" sz="1400" spc="-4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ID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272" name="object 16"/>
          <p:cNvSpPr/>
          <p:nvPr/>
        </p:nvSpPr>
        <p:spPr>
          <a:xfrm>
            <a:off x="8701560" y="4908600"/>
            <a:ext cx="1969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76213AC4-22AE-4A51-956F-D560C2EF3221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273" name="object 15"/>
          <p:cNvSpPr/>
          <p:nvPr/>
        </p:nvSpPr>
        <p:spPr>
          <a:xfrm>
            <a:off x="6011280" y="1608840"/>
            <a:ext cx="19062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Context</a:t>
            </a:r>
            <a:r>
              <a:rPr b="0" lang="fr-FR" sz="1400" spc="-7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directory</a:t>
            </a:r>
            <a:endParaRPr b="0" lang="fr-FR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16320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Listing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" strike="noStrike">
                <a:solidFill>
                  <a:srgbClr val="000000"/>
                </a:solidFill>
                <a:latin typeface="Tahoma"/>
              </a:rPr>
              <a:t>Images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Render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all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local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5" strike="noStrike">
                <a:solidFill>
                  <a:srgbClr val="666666"/>
                </a:solidFill>
                <a:latin typeface="Lucida Sans Unicode"/>
              </a:rPr>
              <a:t>images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including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their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4" strike="noStrike">
                <a:solidFill>
                  <a:srgbClr val="666666"/>
                </a:solidFill>
                <a:latin typeface="Lucida Sans Unicode"/>
              </a:rPr>
              <a:t>name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82" strike="noStrike">
                <a:solidFill>
                  <a:srgbClr val="666666"/>
                </a:solidFill>
                <a:latin typeface="Lucida Sans Unicode"/>
              </a:rPr>
              <a:t>+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hash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275" name="object 3"/>
          <p:cNvGrpSpPr/>
          <p:nvPr/>
        </p:nvGrpSpPr>
        <p:grpSpPr>
          <a:xfrm>
            <a:off x="446040" y="1451880"/>
            <a:ext cx="7877520" cy="1306440"/>
            <a:chOff x="446040" y="1451880"/>
            <a:chExt cx="7877520" cy="1306440"/>
          </a:xfrm>
        </p:grpSpPr>
        <p:pic>
          <p:nvPicPr>
            <p:cNvPr id="276" name="object 4" descr=""/>
            <p:cNvPicPr/>
            <p:nvPr/>
          </p:nvPicPr>
          <p:blipFill>
            <a:blip r:embed="rId1"/>
            <a:stretch/>
          </p:blipFill>
          <p:spPr>
            <a:xfrm>
              <a:off x="446040" y="1451880"/>
              <a:ext cx="7877520" cy="13064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277" name="object 5"/>
            <p:cNvSpPr/>
            <p:nvPr/>
          </p:nvSpPr>
          <p:spPr>
            <a:xfrm>
              <a:off x="499680" y="1500120"/>
              <a:ext cx="7763400" cy="1192320"/>
            </a:xfrm>
            <a:custGeom>
              <a:avLst/>
              <a:gdLst/>
              <a:ahLst/>
              <a:rect l="l" t="t" r="r" b="b"/>
              <a:pathLst>
                <a:path w="7766684" h="1195705">
                  <a:moveTo>
                    <a:pt x="7766399" y="1195199"/>
                  </a:moveTo>
                  <a:lnTo>
                    <a:pt x="0" y="1195199"/>
                  </a:lnTo>
                  <a:lnTo>
                    <a:pt x="0" y="0"/>
                  </a:lnTo>
                  <a:lnTo>
                    <a:pt x="7766399" y="0"/>
                  </a:lnTo>
                  <a:lnTo>
                    <a:pt x="7766399" y="11951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278" name="object 6"/>
          <p:cNvSpPr/>
          <p:nvPr/>
        </p:nvSpPr>
        <p:spPr>
          <a:xfrm>
            <a:off x="695520" y="1638360"/>
            <a:ext cx="1607040" cy="60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docker</a:t>
            </a:r>
            <a:r>
              <a:rPr b="1" lang="fr-FR" sz="13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images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REPOSITORY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java-hello-world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279" name="object 7"/>
          <p:cNvSpPr/>
          <p:nvPr/>
        </p:nvSpPr>
        <p:spPr>
          <a:xfrm>
            <a:off x="2577600" y="1838160"/>
            <a:ext cx="517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800" bIns="0" anchor="t">
            <a:spAutoFit/>
          </a:bodyPr>
          <a:p>
            <a:pPr marL="12600">
              <a:lnSpc>
                <a:spcPct val="101000"/>
              </a:lnSpc>
              <a:spcBef>
                <a:spcPts val="85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TAG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1.0.0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280" name="object 8"/>
          <p:cNvSpPr/>
          <p:nvPr/>
        </p:nvSpPr>
        <p:spPr>
          <a:xfrm>
            <a:off x="695520" y="2238120"/>
            <a:ext cx="71568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openjdk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281" name="object 9"/>
          <p:cNvSpPr/>
          <p:nvPr/>
        </p:nvSpPr>
        <p:spPr>
          <a:xfrm>
            <a:off x="2577600" y="2238120"/>
            <a:ext cx="111168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11-jre-slim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282" name="object 10"/>
          <p:cNvSpPr/>
          <p:nvPr/>
        </p:nvSpPr>
        <p:spPr>
          <a:xfrm>
            <a:off x="3964320" y="1838160"/>
            <a:ext cx="1211040" cy="60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800" bIns="0" anchor="t">
            <a:spAutoFit/>
          </a:bodyPr>
          <a:p>
            <a:pPr marL="12600">
              <a:lnSpc>
                <a:spcPct val="101000"/>
              </a:lnSpc>
              <a:spcBef>
                <a:spcPts val="85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IMAGE ID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3e9c22451a17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973c18dbf567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283" name="object 11"/>
          <p:cNvSpPr/>
          <p:nvPr/>
        </p:nvSpPr>
        <p:spPr>
          <a:xfrm>
            <a:off x="5450040" y="1838160"/>
            <a:ext cx="1805400" cy="60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About</a:t>
            </a:r>
            <a:r>
              <a:rPr b="0" lang="fr-FR" sz="13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a</a:t>
            </a:r>
            <a:r>
              <a:rPr b="0" lang="fr-FR" sz="13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minute</a:t>
            </a:r>
            <a:r>
              <a:rPr b="0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ago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20</a:t>
            </a:r>
            <a:r>
              <a:rPr b="0" lang="fr-FR" sz="13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hours</a:t>
            </a:r>
            <a:r>
              <a:rPr b="0" lang="fr-FR" sz="13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ago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284" name="object 12"/>
          <p:cNvSpPr/>
          <p:nvPr/>
        </p:nvSpPr>
        <p:spPr>
          <a:xfrm>
            <a:off x="7530120" y="1838160"/>
            <a:ext cx="518040" cy="60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800" bIns="0" anchor="t">
            <a:spAutoFit/>
          </a:bodyPr>
          <a:p>
            <a:pPr marL="12600">
              <a:lnSpc>
                <a:spcPct val="101000"/>
              </a:lnSpc>
              <a:spcBef>
                <a:spcPts val="85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SIZE </a:t>
            </a:r>
            <a:r>
              <a:rPr b="0" lang="fr-FR" sz="1300" spc="-7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213MB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204MB</a:t>
            </a:r>
            <a:endParaRPr b="0" lang="fr-FR" sz="1300" spc="-1" strike="noStrike">
              <a:latin typeface="Arial"/>
            </a:endParaRPr>
          </a:p>
        </p:txBody>
      </p:sp>
      <p:grpSp>
        <p:nvGrpSpPr>
          <p:cNvPr id="285" name="object 13"/>
          <p:cNvGrpSpPr/>
          <p:nvPr/>
        </p:nvGrpSpPr>
        <p:grpSpPr>
          <a:xfrm>
            <a:off x="666360" y="2249640"/>
            <a:ext cx="3110040" cy="1182240"/>
            <a:chOff x="666360" y="2249640"/>
            <a:chExt cx="3110040" cy="1182240"/>
          </a:xfrm>
        </p:grpSpPr>
        <p:sp>
          <p:nvSpPr>
            <p:cNvPr id="286" name="object 14"/>
            <p:cNvSpPr/>
            <p:nvPr/>
          </p:nvSpPr>
          <p:spPr>
            <a:xfrm>
              <a:off x="666360" y="2249640"/>
              <a:ext cx="3110040" cy="264240"/>
            </a:xfrm>
            <a:custGeom>
              <a:avLst/>
              <a:gdLst/>
              <a:ahLst/>
              <a:rect l="l" t="t" r="r" b="b"/>
              <a:pathLst>
                <a:path w="3113404" h="267335">
                  <a:moveTo>
                    <a:pt x="0" y="0"/>
                  </a:moveTo>
                  <a:lnTo>
                    <a:pt x="3113099" y="0"/>
                  </a:lnTo>
                  <a:lnTo>
                    <a:pt x="3113099" y="266999"/>
                  </a:lnTo>
                  <a:lnTo>
                    <a:pt x="0" y="26699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9049">
              <a:solidFill>
                <a:srgbClr val="ff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87" name="object 15"/>
            <p:cNvSpPr/>
            <p:nvPr/>
          </p:nvSpPr>
          <p:spPr>
            <a:xfrm>
              <a:off x="2137320" y="2728440"/>
              <a:ext cx="1356840" cy="703440"/>
            </a:xfrm>
            <a:custGeom>
              <a:avLst/>
              <a:gdLst/>
              <a:ahLst/>
              <a:rect l="l" t="t" r="r" b="b"/>
              <a:pathLst>
                <a:path w="1360170" h="706754">
                  <a:moveTo>
                    <a:pt x="1359949" y="706423"/>
                  </a:moveTo>
                  <a:lnTo>
                    <a:pt x="0" y="706423"/>
                  </a:ln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288" name="object 16" descr=""/>
            <p:cNvPicPr/>
            <p:nvPr/>
          </p:nvPicPr>
          <p:blipFill>
            <a:blip r:embed="rId2"/>
            <a:stretch/>
          </p:blipFill>
          <p:spPr>
            <a:xfrm>
              <a:off x="2096280" y="2632680"/>
              <a:ext cx="78480" cy="1040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289" name="object 17"/>
          <p:cNvSpPr/>
          <p:nvPr/>
        </p:nvSpPr>
        <p:spPr>
          <a:xfrm>
            <a:off x="3638520" y="3197520"/>
            <a:ext cx="37404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Base image is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downloaded</a:t>
            </a:r>
            <a:r>
              <a:rPr b="0" lang="fr-FR" sz="1400" spc="-80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automatically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290" name="object 18"/>
          <p:cNvSpPr/>
          <p:nvPr/>
        </p:nvSpPr>
        <p:spPr>
          <a:xfrm>
            <a:off x="8701560" y="4908600"/>
            <a:ext cx="1969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7F4D40AB-220D-4C47-8519-8C58D054F245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80320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32" strike="noStrike">
                <a:solidFill>
                  <a:srgbClr val="000000"/>
                </a:solidFill>
                <a:latin typeface="Tahoma"/>
              </a:rPr>
              <a:t>Running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the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You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00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interact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container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5" strike="noStrike">
                <a:solidFill>
                  <a:srgbClr val="666666"/>
                </a:solidFill>
                <a:latin typeface="Lucida Sans Unicode"/>
              </a:rPr>
              <a:t>once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its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running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292" name="object 3"/>
          <p:cNvGrpSpPr/>
          <p:nvPr/>
        </p:nvGrpSpPr>
        <p:grpSpPr>
          <a:xfrm>
            <a:off x="446040" y="1451880"/>
            <a:ext cx="5934960" cy="2549880"/>
            <a:chOff x="446040" y="1451880"/>
            <a:chExt cx="5934960" cy="2549880"/>
          </a:xfrm>
        </p:grpSpPr>
        <p:pic>
          <p:nvPicPr>
            <p:cNvPr id="293" name="object 4" descr=""/>
            <p:cNvPicPr/>
            <p:nvPr/>
          </p:nvPicPr>
          <p:blipFill>
            <a:blip r:embed="rId1"/>
            <a:stretch/>
          </p:blipFill>
          <p:spPr>
            <a:xfrm>
              <a:off x="446040" y="1451880"/>
              <a:ext cx="5934960" cy="25498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294" name="object 5"/>
            <p:cNvSpPr/>
            <p:nvPr/>
          </p:nvSpPr>
          <p:spPr>
            <a:xfrm>
              <a:off x="499680" y="1500120"/>
              <a:ext cx="5820840" cy="2435760"/>
            </a:xfrm>
            <a:custGeom>
              <a:avLst/>
              <a:gdLst/>
              <a:ahLst/>
              <a:rect l="l" t="t" r="r" b="b"/>
              <a:pathLst>
                <a:path w="5824220" h="2439035">
                  <a:moveTo>
                    <a:pt x="5823899" y="2438699"/>
                  </a:moveTo>
                  <a:lnTo>
                    <a:pt x="0" y="2438699"/>
                  </a:lnTo>
                  <a:lnTo>
                    <a:pt x="0" y="0"/>
                  </a:lnTo>
                  <a:lnTo>
                    <a:pt x="5823899" y="0"/>
                  </a:lnTo>
                  <a:lnTo>
                    <a:pt x="5823899" y="24386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295" name="object 6"/>
          <p:cNvSpPr/>
          <p:nvPr/>
        </p:nvSpPr>
        <p:spPr>
          <a:xfrm>
            <a:off x="695520" y="1637640"/>
            <a:ext cx="5463000" cy="21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docker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run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-d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-p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8080:8080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java-hello-world:1.0.0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b0ee04accf078ea7c...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31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spcBef>
                <a:spcPts val="6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docker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logs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b0ee04accf078ea7c...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Hello</a:t>
            </a:r>
            <a:r>
              <a:rPr b="0" lang="fr-FR" sz="14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World!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31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docker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exec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-it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b0ee04accf078ea7c...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bash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50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root@b0ee04accf078ea7c:/#</a:t>
            </a:r>
            <a:r>
              <a:rPr b="0" lang="fr-FR" sz="14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pwd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50"/>
              </a:lnSpc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/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root@b0ee04accf078ea7c:/#</a:t>
            </a:r>
            <a:r>
              <a:rPr b="0" lang="fr-FR" sz="14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exit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296" name="object 7"/>
          <p:cNvSpPr/>
          <p:nvPr/>
        </p:nvSpPr>
        <p:spPr>
          <a:xfrm>
            <a:off x="8701560" y="4908600"/>
            <a:ext cx="1969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9507EEA1-69F5-48E3-BEB1-C8759705F2C3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80320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5" strike="noStrike">
                <a:solidFill>
                  <a:srgbClr val="000000"/>
                </a:solidFill>
                <a:latin typeface="Tahoma"/>
              </a:rPr>
              <a:t>Tagging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the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Image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72" strike="noStrike">
                <a:solidFill>
                  <a:srgbClr val="666666"/>
                </a:solidFill>
                <a:latin typeface="Lucida Sans Unicode"/>
              </a:rPr>
              <a:t>Name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82" strike="noStrike">
                <a:solidFill>
                  <a:srgbClr val="666666"/>
                </a:solidFill>
                <a:latin typeface="Lucida Sans Unicode"/>
              </a:rPr>
              <a:t>+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0" strike="noStrike">
                <a:solidFill>
                  <a:srgbClr val="666666"/>
                </a:solidFill>
                <a:latin typeface="Lucida Sans Unicode"/>
              </a:rPr>
              <a:t>tag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need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conform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registry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conventions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298" name="object 3"/>
          <p:cNvGrpSpPr/>
          <p:nvPr/>
        </p:nvGrpSpPr>
        <p:grpSpPr>
          <a:xfrm>
            <a:off x="446040" y="1451880"/>
            <a:ext cx="7655760" cy="1907640"/>
            <a:chOff x="446040" y="1451880"/>
            <a:chExt cx="7655760" cy="1907640"/>
          </a:xfrm>
        </p:grpSpPr>
        <p:pic>
          <p:nvPicPr>
            <p:cNvPr id="299" name="object 4" descr=""/>
            <p:cNvPicPr/>
            <p:nvPr/>
          </p:nvPicPr>
          <p:blipFill>
            <a:blip r:embed="rId1"/>
            <a:stretch/>
          </p:blipFill>
          <p:spPr>
            <a:xfrm>
              <a:off x="446040" y="1451880"/>
              <a:ext cx="7655760" cy="19076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300" name="object 5"/>
            <p:cNvSpPr/>
            <p:nvPr/>
          </p:nvSpPr>
          <p:spPr>
            <a:xfrm>
              <a:off x="499680" y="1500120"/>
              <a:ext cx="7542000" cy="1793880"/>
            </a:xfrm>
            <a:custGeom>
              <a:avLst/>
              <a:gdLst/>
              <a:ahLst/>
              <a:rect l="l" t="t" r="r" b="b"/>
              <a:pathLst>
                <a:path w="7545070" h="1797050">
                  <a:moveTo>
                    <a:pt x="7544699" y="1796699"/>
                  </a:moveTo>
                  <a:lnTo>
                    <a:pt x="0" y="1796699"/>
                  </a:lnTo>
                  <a:lnTo>
                    <a:pt x="0" y="0"/>
                  </a:lnTo>
                  <a:lnTo>
                    <a:pt x="7544699" y="0"/>
                  </a:lnTo>
                  <a:lnTo>
                    <a:pt x="7544699" y="17966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301" name="object 6"/>
          <p:cNvSpPr/>
          <p:nvPr/>
        </p:nvSpPr>
        <p:spPr>
          <a:xfrm>
            <a:off x="708480" y="1637640"/>
            <a:ext cx="71571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docker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tag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java-hello-world:1.0.0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bhamdi/java-hello-world:1.0.0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302" name="object 7"/>
          <p:cNvSpPr/>
          <p:nvPr/>
        </p:nvSpPr>
        <p:spPr>
          <a:xfrm>
            <a:off x="708480" y="2057400"/>
            <a:ext cx="1594440" cy="80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docker</a:t>
            </a:r>
            <a:r>
              <a:rPr b="1" lang="fr-FR" sz="13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images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REPOSITORY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1000"/>
              </a:lnSpc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java-hello-world openjdk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303" name="object 8"/>
          <p:cNvSpPr/>
          <p:nvPr/>
        </p:nvSpPr>
        <p:spPr>
          <a:xfrm>
            <a:off x="3481560" y="2257200"/>
            <a:ext cx="109908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800" bIns="0" anchor="t">
            <a:spAutoFit/>
          </a:bodyPr>
          <a:p>
            <a:pPr>
              <a:lnSpc>
                <a:spcPct val="101000"/>
              </a:lnSpc>
              <a:spcBef>
                <a:spcPts val="85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TAG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1000"/>
              </a:lnSpc>
              <a:spcBef>
                <a:spcPts val="85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1.0.0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11-jre-slim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304" name="object 9"/>
          <p:cNvSpPr/>
          <p:nvPr/>
        </p:nvSpPr>
        <p:spPr>
          <a:xfrm>
            <a:off x="642240" y="2859120"/>
            <a:ext cx="3403080" cy="20844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10800" bIns="0" anchor="t">
            <a:spAutoFit/>
          </a:bodyPr>
          <a:p>
            <a:pPr marL="65880">
              <a:lnSpc>
                <a:spcPct val="100000"/>
              </a:lnSpc>
              <a:spcBef>
                <a:spcPts val="85"/>
              </a:spcBef>
              <a:buNone/>
              <a:tabLst>
                <a:tab algn="l" pos="283896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bhamdi/java-hello-world     1.0.0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305" name="object 10"/>
          <p:cNvSpPr/>
          <p:nvPr/>
        </p:nvSpPr>
        <p:spPr>
          <a:xfrm>
            <a:off x="4868280" y="2257200"/>
            <a:ext cx="1793160" cy="80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800" bIns="0" anchor="t">
            <a:spAutoFit/>
          </a:bodyPr>
          <a:p>
            <a:pPr>
              <a:lnSpc>
                <a:spcPct val="101000"/>
              </a:lnSpc>
              <a:spcBef>
                <a:spcPts val="85"/>
              </a:spcBef>
              <a:buNone/>
              <a:tabLst>
                <a:tab algn="l" pos="148536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IMAG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E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 I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D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... 3e9c22451a1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7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148536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973c18dbf56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7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148536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3e9c22451a1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7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306" name="object 11"/>
          <p:cNvSpPr/>
          <p:nvPr/>
        </p:nvSpPr>
        <p:spPr>
          <a:xfrm>
            <a:off x="3185640" y="3717720"/>
            <a:ext cx="149184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160" strike="noStrike">
                <a:solidFill>
                  <a:srgbClr val="000000"/>
                </a:solidFill>
                <a:latin typeface="Arial MT"/>
                <a:ea typeface="DejaVu Sans"/>
              </a:rPr>
              <a:t>T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agge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d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 image</a:t>
            </a:r>
            <a:endParaRPr b="0" lang="fr-FR" sz="1400" spc="-1" strike="noStrike">
              <a:latin typeface="Arial"/>
            </a:endParaRPr>
          </a:p>
        </p:txBody>
      </p:sp>
      <p:grpSp>
        <p:nvGrpSpPr>
          <p:cNvPr id="307" name="object 12"/>
          <p:cNvGrpSpPr/>
          <p:nvPr/>
        </p:nvGrpSpPr>
        <p:grpSpPr>
          <a:xfrm>
            <a:off x="2161800" y="3266280"/>
            <a:ext cx="907920" cy="580680"/>
            <a:chOff x="2161800" y="3266280"/>
            <a:chExt cx="907920" cy="580680"/>
          </a:xfrm>
        </p:grpSpPr>
        <p:sp>
          <p:nvSpPr>
            <p:cNvPr id="308" name="object 13"/>
            <p:cNvSpPr/>
            <p:nvPr/>
          </p:nvSpPr>
          <p:spPr>
            <a:xfrm>
              <a:off x="2202840" y="3362400"/>
              <a:ext cx="866880" cy="484560"/>
            </a:xfrm>
            <a:custGeom>
              <a:avLst/>
              <a:gdLst/>
              <a:ahLst/>
              <a:rect l="l" t="t" r="r" b="b"/>
              <a:pathLst>
                <a:path w="869950" h="487679">
                  <a:moveTo>
                    <a:pt x="869673" y="487199"/>
                  </a:moveTo>
                  <a:lnTo>
                    <a:pt x="0" y="487199"/>
                  </a:ln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309" name="object 14" descr=""/>
            <p:cNvPicPr/>
            <p:nvPr/>
          </p:nvPicPr>
          <p:blipFill>
            <a:blip r:embed="rId2"/>
            <a:stretch/>
          </p:blipFill>
          <p:spPr>
            <a:xfrm>
              <a:off x="2161800" y="3266280"/>
              <a:ext cx="78840" cy="1022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310" name="object 15"/>
          <p:cNvSpPr/>
          <p:nvPr/>
        </p:nvSpPr>
        <p:spPr>
          <a:xfrm>
            <a:off x="8701560" y="4908600"/>
            <a:ext cx="1969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DD498D64-8258-4B30-A4DA-EA4E0AF0E984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52320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Publishing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the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Image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Authenticate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5" strike="noStrike">
                <a:solidFill>
                  <a:srgbClr val="666666"/>
                </a:solidFill>
                <a:latin typeface="Lucida Sans Unicode"/>
              </a:rPr>
              <a:t>against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registry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push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0" strike="noStrike">
                <a:solidFill>
                  <a:srgbClr val="666666"/>
                </a:solidFill>
                <a:latin typeface="Lucida Sans Unicode"/>
              </a:rPr>
              <a:t>tag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312" name="object 3"/>
          <p:cNvGrpSpPr/>
          <p:nvPr/>
        </p:nvGrpSpPr>
        <p:grpSpPr>
          <a:xfrm>
            <a:off x="446040" y="1451880"/>
            <a:ext cx="5276520" cy="1159920"/>
            <a:chOff x="446040" y="1451880"/>
            <a:chExt cx="5276520" cy="1159920"/>
          </a:xfrm>
        </p:grpSpPr>
        <p:pic>
          <p:nvPicPr>
            <p:cNvPr id="313" name="object 4" descr=""/>
            <p:cNvPicPr/>
            <p:nvPr/>
          </p:nvPicPr>
          <p:blipFill>
            <a:blip r:embed="rId1"/>
            <a:stretch/>
          </p:blipFill>
          <p:spPr>
            <a:xfrm>
              <a:off x="446040" y="1451880"/>
              <a:ext cx="5276520" cy="115992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314" name="object 5"/>
            <p:cNvSpPr/>
            <p:nvPr/>
          </p:nvSpPr>
          <p:spPr>
            <a:xfrm>
              <a:off x="499680" y="1500120"/>
              <a:ext cx="5162400" cy="1045800"/>
            </a:xfrm>
            <a:custGeom>
              <a:avLst/>
              <a:gdLst/>
              <a:ahLst/>
              <a:rect l="l" t="t" r="r" b="b"/>
              <a:pathLst>
                <a:path w="5165725" h="1049020">
                  <a:moveTo>
                    <a:pt x="5165399" y="1048799"/>
                  </a:moveTo>
                  <a:lnTo>
                    <a:pt x="0" y="1048799"/>
                  </a:lnTo>
                  <a:lnTo>
                    <a:pt x="0" y="0"/>
                  </a:lnTo>
                  <a:lnTo>
                    <a:pt x="5165399" y="0"/>
                  </a:lnTo>
                  <a:lnTo>
                    <a:pt x="5165399" y="10487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315" name="object 6"/>
          <p:cNvSpPr/>
          <p:nvPr/>
        </p:nvSpPr>
        <p:spPr>
          <a:xfrm>
            <a:off x="695520" y="1637640"/>
            <a:ext cx="4822920" cy="65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docker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login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--username=bhamdi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31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6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docker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push</a:t>
            </a:r>
            <a:r>
              <a:rPr b="1" lang="fr-FR" sz="14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bhamdi/java-hello-world:1.0.0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316" name="object 12"/>
          <p:cNvSpPr/>
          <p:nvPr/>
        </p:nvSpPr>
        <p:spPr>
          <a:xfrm>
            <a:off x="8701560" y="4908600"/>
            <a:ext cx="1969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71AFAF8E-07F5-44D3-9656-0C2DA051E815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16320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" strike="noStrike">
                <a:solidFill>
                  <a:srgbClr val="000000"/>
                </a:solidFill>
                <a:latin typeface="Tahoma"/>
              </a:rPr>
              <a:t>Saving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Image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Produces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backup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TAR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5" strike="noStrike">
                <a:solidFill>
                  <a:srgbClr val="666666"/>
                </a:solidFill>
                <a:latin typeface="Lucida Sans Unicode"/>
              </a:rPr>
              <a:t>archive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file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all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parent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layers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318" name="object 4"/>
          <p:cNvSpPr/>
          <p:nvPr/>
        </p:nvSpPr>
        <p:spPr>
          <a:xfrm>
            <a:off x="499680" y="1500120"/>
            <a:ext cx="6858720" cy="100260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49760" bIns="0" anchor="t">
            <a:spAutoFit/>
          </a:bodyPr>
          <a:p>
            <a:pPr marL="208440">
              <a:lnSpc>
                <a:spcPct val="100000"/>
              </a:lnSpc>
              <a:spcBef>
                <a:spcPts val="117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docker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save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-o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java-hello-world.tar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java-hello-world:1.0.0</a:t>
            </a:r>
            <a:endParaRPr b="0" lang="fr-FR" sz="1400" spc="-1" strike="noStrike">
              <a:latin typeface="Arial"/>
            </a:endParaRPr>
          </a:p>
          <a:p>
            <a:pPr marL="208440">
              <a:lnSpc>
                <a:spcPct val="100000"/>
              </a:lnSpc>
              <a:spcBef>
                <a:spcPts val="34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208440">
              <a:lnSpc>
                <a:spcPts val="1664"/>
              </a:lnSpc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ls</a:t>
            </a:r>
            <a:endParaRPr b="0" lang="fr-FR" sz="1400" spc="-1" strike="noStrike">
              <a:latin typeface="Arial"/>
            </a:endParaRPr>
          </a:p>
          <a:p>
            <a:pPr marL="20844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java-hello-world.tar</a:t>
            </a:r>
            <a:endParaRPr b="0" lang="fr-FR" sz="1400" spc="-1" strike="noStrike">
              <a:latin typeface="Arial"/>
            </a:endParaRPr>
          </a:p>
        </p:txBody>
      </p:sp>
      <p:grpSp>
        <p:nvGrpSpPr>
          <p:cNvPr id="319" name="object 5"/>
          <p:cNvGrpSpPr/>
          <p:nvPr/>
        </p:nvGrpSpPr>
        <p:grpSpPr>
          <a:xfrm>
            <a:off x="2094840" y="3133440"/>
            <a:ext cx="808200" cy="1061280"/>
            <a:chOff x="2094840" y="3133440"/>
            <a:chExt cx="808200" cy="1061280"/>
          </a:xfrm>
        </p:grpSpPr>
        <p:pic>
          <p:nvPicPr>
            <p:cNvPr id="320" name="object 6" descr=""/>
            <p:cNvPicPr/>
            <p:nvPr/>
          </p:nvPicPr>
          <p:blipFill>
            <a:blip r:embed="rId1"/>
            <a:stretch/>
          </p:blipFill>
          <p:spPr>
            <a:xfrm>
              <a:off x="2094840" y="3133440"/>
              <a:ext cx="808200" cy="106128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321" name="object 7" descr=""/>
            <p:cNvPicPr/>
            <p:nvPr/>
          </p:nvPicPr>
          <p:blipFill>
            <a:blip r:embed="rId2"/>
            <a:stretch/>
          </p:blipFill>
          <p:spPr>
            <a:xfrm>
              <a:off x="2152080" y="3171600"/>
              <a:ext cx="693720" cy="947160"/>
            </a:xfrm>
            <a:prstGeom prst="rect">
              <a:avLst/>
            </a:prstGeom>
            <a:ln w="0">
              <a:noFill/>
            </a:ln>
          </p:spPr>
        </p:pic>
      </p:grpSp>
      <p:grpSp>
        <p:nvGrpSpPr>
          <p:cNvPr id="322" name="object 8"/>
          <p:cNvGrpSpPr/>
          <p:nvPr/>
        </p:nvGrpSpPr>
        <p:grpSpPr>
          <a:xfrm>
            <a:off x="3153960" y="3345840"/>
            <a:ext cx="1099080" cy="78840"/>
            <a:chOff x="3153960" y="3345840"/>
            <a:chExt cx="1099080" cy="78840"/>
          </a:xfrm>
        </p:grpSpPr>
        <p:sp>
          <p:nvSpPr>
            <p:cNvPr id="323" name="object 9"/>
            <p:cNvSpPr/>
            <p:nvPr/>
          </p:nvSpPr>
          <p:spPr>
            <a:xfrm>
              <a:off x="3249720" y="3386880"/>
              <a:ext cx="1003320" cy="360"/>
            </a:xfrm>
            <a:custGeom>
              <a:avLst/>
              <a:gdLst/>
              <a:ahLst/>
              <a:rect l="l" t="t" r="r" b="b"/>
              <a:pathLst>
                <a:path w="1006475" h="0">
                  <a:moveTo>
                    <a:pt x="10061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324" name="object 10" descr=""/>
            <p:cNvPicPr/>
            <p:nvPr/>
          </p:nvPicPr>
          <p:blipFill>
            <a:blip r:embed="rId3"/>
            <a:stretch/>
          </p:blipFill>
          <p:spPr>
            <a:xfrm>
              <a:off x="3153960" y="3345840"/>
              <a:ext cx="102240" cy="788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325" name="object 11"/>
          <p:cNvSpPr/>
          <p:nvPr/>
        </p:nvSpPr>
        <p:spPr>
          <a:xfrm>
            <a:off x="4345560" y="3237480"/>
            <a:ext cx="2369160" cy="75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21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openjdk:11-jre-slim</a:t>
            </a:r>
            <a:endParaRPr b="0" lang="fr-FR" sz="1400" spc="-1" strike="noStrike">
              <a:latin typeface="Arial"/>
            </a:endParaRPr>
          </a:p>
          <a:p>
            <a:pPr marL="21600">
              <a:lnSpc>
                <a:spcPct val="100000"/>
              </a:lnSpc>
              <a:spcBef>
                <a:spcPts val="51"/>
              </a:spcBef>
              <a:buNone/>
            </a:pPr>
            <a:endParaRPr b="0" lang="fr-FR" sz="205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6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java-hello-world:1.0.0</a:t>
            </a:r>
            <a:endParaRPr b="0" lang="fr-FR" sz="1400" spc="-1" strike="noStrike">
              <a:latin typeface="Arial"/>
            </a:endParaRPr>
          </a:p>
        </p:txBody>
      </p:sp>
      <p:grpSp>
        <p:nvGrpSpPr>
          <p:cNvPr id="326" name="object 12"/>
          <p:cNvGrpSpPr/>
          <p:nvPr/>
        </p:nvGrpSpPr>
        <p:grpSpPr>
          <a:xfrm>
            <a:off x="3153960" y="3861000"/>
            <a:ext cx="1099080" cy="78840"/>
            <a:chOff x="3153960" y="3861000"/>
            <a:chExt cx="1099080" cy="78840"/>
          </a:xfrm>
        </p:grpSpPr>
        <p:sp>
          <p:nvSpPr>
            <p:cNvPr id="327" name="object 13"/>
            <p:cNvSpPr/>
            <p:nvPr/>
          </p:nvSpPr>
          <p:spPr>
            <a:xfrm>
              <a:off x="3249720" y="3902040"/>
              <a:ext cx="1003320" cy="360"/>
            </a:xfrm>
            <a:custGeom>
              <a:avLst/>
              <a:gdLst/>
              <a:ahLst/>
              <a:rect l="l" t="t" r="r" b="b"/>
              <a:pathLst>
                <a:path w="1006475" h="0">
                  <a:moveTo>
                    <a:pt x="10061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328" name="object 14" descr=""/>
            <p:cNvPicPr/>
            <p:nvPr/>
          </p:nvPicPr>
          <p:blipFill>
            <a:blip r:embed="rId4"/>
            <a:stretch/>
          </p:blipFill>
          <p:spPr>
            <a:xfrm>
              <a:off x="3153960" y="3861000"/>
              <a:ext cx="102240" cy="788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329" name="object 15"/>
          <p:cNvSpPr/>
          <p:nvPr/>
        </p:nvSpPr>
        <p:spPr>
          <a:xfrm>
            <a:off x="8701560" y="4908600"/>
            <a:ext cx="1969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F36D2329-5D2D-4178-BCCC-2EF88B51BF51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490320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Loading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Image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Restores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6" strike="noStrike">
                <a:solidFill>
                  <a:srgbClr val="666666"/>
                </a:solidFill>
                <a:latin typeface="Lucida Sans Unicode"/>
              </a:rPr>
              <a:t>image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from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TAR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5" strike="noStrike">
                <a:solidFill>
                  <a:srgbClr val="666666"/>
                </a:solidFill>
                <a:latin typeface="Lucida Sans Unicode"/>
              </a:rPr>
              <a:t>archive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file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331" name="object 3"/>
          <p:cNvGrpSpPr/>
          <p:nvPr/>
        </p:nvGrpSpPr>
        <p:grpSpPr>
          <a:xfrm>
            <a:off x="446040" y="1451880"/>
            <a:ext cx="6521760" cy="1940040"/>
            <a:chOff x="446040" y="1451880"/>
            <a:chExt cx="6521760" cy="1940040"/>
          </a:xfrm>
        </p:grpSpPr>
        <p:pic>
          <p:nvPicPr>
            <p:cNvPr id="332" name="object 4" descr=""/>
            <p:cNvPicPr/>
            <p:nvPr/>
          </p:nvPicPr>
          <p:blipFill>
            <a:blip r:embed="rId1"/>
            <a:stretch/>
          </p:blipFill>
          <p:spPr>
            <a:xfrm>
              <a:off x="446040" y="1451880"/>
              <a:ext cx="6521760" cy="19400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333" name="object 5"/>
            <p:cNvSpPr/>
            <p:nvPr/>
          </p:nvSpPr>
          <p:spPr>
            <a:xfrm>
              <a:off x="499680" y="1500120"/>
              <a:ext cx="6407640" cy="1825560"/>
            </a:xfrm>
            <a:custGeom>
              <a:avLst/>
              <a:gdLst/>
              <a:ahLst/>
              <a:rect l="l" t="t" r="r" b="b"/>
              <a:pathLst>
                <a:path w="6410959" h="1828800">
                  <a:moveTo>
                    <a:pt x="6410699" y="1828799"/>
                  </a:moveTo>
                  <a:lnTo>
                    <a:pt x="0" y="1828799"/>
                  </a:lnTo>
                  <a:lnTo>
                    <a:pt x="0" y="0"/>
                  </a:lnTo>
                  <a:lnTo>
                    <a:pt x="6410699" y="0"/>
                  </a:lnTo>
                  <a:lnTo>
                    <a:pt x="6410699" y="18287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334" name="object 6"/>
          <p:cNvSpPr/>
          <p:nvPr/>
        </p:nvSpPr>
        <p:spPr>
          <a:xfrm>
            <a:off x="708480" y="1637640"/>
            <a:ext cx="448992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ts val="1664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docker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load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--input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java-hello-world.tar</a:t>
            </a:r>
            <a:endParaRPr b="0" lang="fr-FR" sz="1400" spc="-1" strike="noStrike">
              <a:latin typeface="Arial"/>
            </a:endParaRPr>
          </a:p>
          <a:p>
            <a:pPr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Loaded</a:t>
            </a:r>
            <a:r>
              <a:rPr b="0" lang="fr-FR" sz="14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image:</a:t>
            </a:r>
            <a:r>
              <a:rPr b="0" lang="fr-FR" sz="1400" spc="15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java-hello-world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:</a:t>
            </a:r>
            <a:r>
              <a:rPr b="0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1.0.0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335" name="object 10"/>
          <p:cNvSpPr/>
          <p:nvPr/>
        </p:nvSpPr>
        <p:spPr>
          <a:xfrm>
            <a:off x="8701560" y="4908600"/>
            <a:ext cx="1969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E610C7F3-FBB9-4525-8B36-0AA4FFC54D3D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336" name="object 7"/>
          <p:cNvSpPr/>
          <p:nvPr/>
        </p:nvSpPr>
        <p:spPr>
          <a:xfrm>
            <a:off x="708480" y="2266200"/>
            <a:ext cx="1609560" cy="81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ts val="1664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5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docker</a:t>
            </a:r>
            <a:r>
              <a:rPr b="1" lang="fr-FR" sz="1400" spc="-5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images</a:t>
            </a:r>
            <a:endParaRPr b="0" lang="fr-FR" sz="1400" spc="-1" strike="noStrike">
              <a:latin typeface="Arial"/>
            </a:endParaRPr>
          </a:p>
          <a:p>
            <a:pPr>
              <a:lnSpc>
                <a:spcPts val="1545"/>
              </a:lnSpc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REPOSITORY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1000"/>
              </a:lnSpc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java-hello-world openjdk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337" name="object 8"/>
          <p:cNvSpPr/>
          <p:nvPr/>
        </p:nvSpPr>
        <p:spPr>
          <a:xfrm>
            <a:off x="3481560" y="2476440"/>
            <a:ext cx="109908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800" bIns="0" anchor="t">
            <a:spAutoFit/>
          </a:bodyPr>
          <a:p>
            <a:pPr>
              <a:lnSpc>
                <a:spcPct val="101000"/>
              </a:lnSpc>
              <a:spcBef>
                <a:spcPts val="85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TAG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1000"/>
              </a:lnSpc>
              <a:spcBef>
                <a:spcPts val="85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1.0.0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11-jre-slim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338" name="object 9"/>
          <p:cNvSpPr/>
          <p:nvPr/>
        </p:nvSpPr>
        <p:spPr>
          <a:xfrm>
            <a:off x="4868640" y="2476440"/>
            <a:ext cx="1793160" cy="60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800" bIns="0" anchor="t">
            <a:spAutoFit/>
          </a:bodyPr>
          <a:p>
            <a:pPr>
              <a:lnSpc>
                <a:spcPct val="101000"/>
              </a:lnSpc>
              <a:spcBef>
                <a:spcPts val="85"/>
              </a:spcBef>
              <a:buNone/>
              <a:tabLst>
                <a:tab algn="l" pos="148536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IMAG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E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 I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D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... 3e9c22451a1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7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148536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973c18dbf56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7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object 2"/>
          <p:cNvSpPr/>
          <p:nvPr/>
        </p:nvSpPr>
        <p:spPr>
          <a:xfrm>
            <a:off x="494280" y="371880"/>
            <a:ext cx="148320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2400" spc="-15" strike="noStrike">
                <a:solidFill>
                  <a:srgbClr val="000000"/>
                </a:solidFill>
                <a:latin typeface="Tahoma"/>
                <a:ea typeface="DejaVu Sans"/>
              </a:rPr>
              <a:t>Lab 01</a:t>
            </a:r>
            <a:endParaRPr b="0" lang="fr-FR" sz="2400" spc="-1" strike="noStrike">
              <a:latin typeface="Arial"/>
            </a:endParaRPr>
          </a:p>
        </p:txBody>
      </p:sp>
      <p:sp>
        <p:nvSpPr>
          <p:cNvPr id="340" name="object 3"/>
          <p:cNvSpPr/>
          <p:nvPr/>
        </p:nvSpPr>
        <p:spPr>
          <a:xfrm>
            <a:off x="494280" y="1323360"/>
            <a:ext cx="5263200" cy="101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14000"/>
              </a:lnSpc>
              <a:spcBef>
                <a:spcPts val="99"/>
              </a:spcBef>
              <a:buNone/>
            </a:pP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Defining, building, and </a:t>
            </a:r>
            <a:r>
              <a:rPr b="0" lang="fr-FR" sz="2900" spc="-1" strike="noStrike">
                <a:solidFill>
                  <a:srgbClr val="000000"/>
                </a:solidFill>
                <a:latin typeface="Arial MT"/>
                <a:ea typeface="DejaVu Sans"/>
              </a:rPr>
              <a:t> running</a:t>
            </a:r>
            <a:r>
              <a:rPr b="0" lang="fr-FR" sz="2900" spc="-4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2900" spc="-4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1" strike="noStrike">
                <a:solidFill>
                  <a:srgbClr val="000000"/>
                </a:solidFill>
                <a:latin typeface="Arial MT"/>
                <a:ea typeface="DejaVu Sans"/>
              </a:rPr>
              <a:t>container</a:t>
            </a:r>
            <a:r>
              <a:rPr b="0" lang="fr-FR" sz="29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image</a:t>
            </a:r>
            <a:endParaRPr b="0" lang="fr-FR" sz="2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1" name="object 2"/>
          <p:cNvGrpSpPr/>
          <p:nvPr/>
        </p:nvGrpSpPr>
        <p:grpSpPr>
          <a:xfrm>
            <a:off x="0" y="0"/>
            <a:ext cx="9140760" cy="5140080"/>
            <a:chOff x="0" y="0"/>
            <a:chExt cx="9140760" cy="5140080"/>
          </a:xfrm>
        </p:grpSpPr>
        <p:pic>
          <p:nvPicPr>
            <p:cNvPr id="342" name="object 3" descr=""/>
            <p:cNvPicPr/>
            <p:nvPr/>
          </p:nvPicPr>
          <p:blipFill>
            <a:blip r:embed="rId1"/>
            <a:stretch/>
          </p:blipFill>
          <p:spPr>
            <a:xfrm>
              <a:off x="0" y="0"/>
              <a:ext cx="9140760" cy="514008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343" name="object 4" descr=""/>
            <p:cNvPicPr/>
            <p:nvPr/>
          </p:nvPicPr>
          <p:blipFill>
            <a:blip r:embed="rId2"/>
            <a:stretch/>
          </p:blipFill>
          <p:spPr>
            <a:xfrm>
              <a:off x="8714160" y="146160"/>
              <a:ext cx="284400" cy="22968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344" name="PlaceHolder 1"/>
          <p:cNvSpPr>
            <a:spLocks noGrp="1"/>
          </p:cNvSpPr>
          <p:nvPr>
            <p:ph type="title"/>
          </p:nvPr>
        </p:nvSpPr>
        <p:spPr>
          <a:xfrm>
            <a:off x="494280" y="1665000"/>
            <a:ext cx="7423200" cy="1416600"/>
          </a:xfrm>
          <a:prstGeom prst="rect">
            <a:avLst/>
          </a:prstGeom>
          <a:noFill/>
          <a:ln w="0">
            <a:noFill/>
          </a:ln>
        </p:spPr>
        <p:txBody>
          <a:bodyPr lIns="0" rIns="0" tIns="195480" bIns="0" anchor="t">
            <a:noAutofit/>
          </a:bodyPr>
          <a:p>
            <a:pPr marL="12600">
              <a:lnSpc>
                <a:spcPct val="100000"/>
              </a:lnSpc>
              <a:spcBef>
                <a:spcPts val="1539"/>
              </a:spcBef>
              <a:buNone/>
            </a:pPr>
            <a:r>
              <a:rPr b="1" lang="fr-FR" sz="3600" spc="1" strike="noStrike">
                <a:solidFill>
                  <a:srgbClr val="ffffff"/>
                </a:solidFill>
                <a:latin typeface="Tahoma"/>
              </a:rPr>
              <a:t>Object</a:t>
            </a:r>
            <a:r>
              <a:rPr b="1" lang="fr-FR" sz="3600" spc="-216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600" spc="55" strike="noStrike">
                <a:solidFill>
                  <a:srgbClr val="ffffff"/>
                </a:solidFill>
                <a:latin typeface="Tahoma"/>
              </a:rPr>
              <a:t>Management</a:t>
            </a:r>
            <a:endParaRPr b="0" lang="fr-FR" sz="3600" spc="-1" strike="noStrike">
              <a:latin typeface="Arial"/>
            </a:endParaRPr>
          </a:p>
          <a:p>
            <a:pPr marL="12600">
              <a:lnSpc>
                <a:spcPct val="114000"/>
              </a:lnSpc>
              <a:spcBef>
                <a:spcPts val="394"/>
              </a:spcBef>
              <a:buNone/>
            </a:pPr>
            <a:r>
              <a:rPr b="0" lang="fr-FR" sz="1800" spc="7" strike="noStrike">
                <a:solidFill>
                  <a:srgbClr val="ffffff"/>
                </a:solidFill>
                <a:latin typeface="Lucida Sans Unicode"/>
              </a:rPr>
              <a:t>Kubernetes</a:t>
            </a:r>
            <a:r>
              <a:rPr b="0" lang="fr-FR" sz="1800" spc="-75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12" strike="noStrike">
                <a:solidFill>
                  <a:srgbClr val="ffffff"/>
                </a:solidFill>
                <a:latin typeface="Lucida Sans Unicode"/>
              </a:rPr>
              <a:t>primitives,</a:t>
            </a:r>
            <a:r>
              <a:rPr b="0" lang="fr-FR" sz="1800" spc="-75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7" strike="noStrike">
                <a:solidFill>
                  <a:srgbClr val="ffffff"/>
                </a:solidFill>
                <a:latin typeface="Lucida Sans Unicode"/>
              </a:rPr>
              <a:t>interaction</a:t>
            </a:r>
            <a:r>
              <a:rPr b="0" lang="fr-FR" sz="1800" spc="-7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1" strike="noStrike">
                <a:solidFill>
                  <a:srgbClr val="ffffff"/>
                </a:solidFill>
                <a:latin typeface="Lucida Sans Unicode"/>
              </a:rPr>
              <a:t>with</a:t>
            </a:r>
            <a:r>
              <a:rPr b="0" lang="fr-FR" sz="1800" spc="-75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7" strike="noStrike">
                <a:solidFill>
                  <a:srgbClr val="ffffff"/>
                </a:solidFill>
                <a:latin typeface="Lucida Sans Unicode"/>
              </a:rPr>
              <a:t>kubectl,</a:t>
            </a:r>
            <a:r>
              <a:rPr b="0" lang="fr-FR" sz="1800" spc="-75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26" strike="noStrike">
                <a:solidFill>
                  <a:srgbClr val="ffffff"/>
                </a:solidFill>
                <a:latin typeface="Lucida Sans Unicode"/>
              </a:rPr>
              <a:t>imperative</a:t>
            </a:r>
            <a:r>
              <a:rPr b="0" lang="fr-FR" sz="1800" spc="-7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35" strike="noStrike">
                <a:solidFill>
                  <a:srgbClr val="ffffff"/>
                </a:solidFill>
                <a:latin typeface="Lucida Sans Unicode"/>
              </a:rPr>
              <a:t>vs. </a:t>
            </a:r>
            <a:r>
              <a:rPr b="0" lang="fr-FR" sz="1800" spc="-557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41" strike="noStrike">
                <a:solidFill>
                  <a:srgbClr val="ffffff"/>
                </a:solidFill>
                <a:latin typeface="Lucida Sans Unicode"/>
              </a:rPr>
              <a:t>declarative</a:t>
            </a:r>
            <a:r>
              <a:rPr b="0" lang="fr-FR" sz="1800" spc="-97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75" strike="noStrike">
                <a:solidFill>
                  <a:srgbClr val="ffffff"/>
                </a:solidFill>
                <a:latin typeface="Lucida Sans Unicode"/>
              </a:rPr>
              <a:t>approach</a:t>
            </a:r>
            <a:endParaRPr b="0" lang="fr-FR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623200" cy="1276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Kubernetes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Object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Structure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General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structure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followed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346" name="object 3" descr=""/>
          <p:cNvPicPr/>
          <p:nvPr/>
        </p:nvPicPr>
        <p:blipFill>
          <a:blip r:embed="rId1"/>
          <a:stretch/>
        </p:blipFill>
        <p:spPr>
          <a:xfrm>
            <a:off x="2009160" y="1485000"/>
            <a:ext cx="5122800" cy="3145320"/>
          </a:xfrm>
          <a:prstGeom prst="rect">
            <a:avLst/>
          </a:prstGeom>
          <a:ln w="0">
            <a:noFill/>
          </a:ln>
        </p:spPr>
      </p:pic>
      <p:sp>
        <p:nvSpPr>
          <p:cNvPr id="347" name="object 4"/>
          <p:cNvSpPr/>
          <p:nvPr/>
        </p:nvSpPr>
        <p:spPr>
          <a:xfrm>
            <a:off x="8701560" y="4908600"/>
            <a:ext cx="2012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61AF97DD-0C00-476D-B66B-CD131A008321}" type="slidenum">
              <a:rPr b="0" lang="fr-FR" sz="800" spc="-7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44320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General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Sections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55" strike="noStrike">
                <a:solidFill>
                  <a:srgbClr val="666666"/>
                </a:solidFill>
                <a:latin typeface="Lucida Sans Unicode"/>
              </a:rPr>
              <a:t>Each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section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5" strike="noStrike">
                <a:solidFill>
                  <a:srgbClr val="666666"/>
                </a:solidFill>
                <a:latin typeface="Lucida Sans Unicode"/>
              </a:rPr>
              <a:t>has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specific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function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349" name="object 4"/>
          <p:cNvSpPr/>
          <p:nvPr/>
        </p:nvSpPr>
        <p:spPr>
          <a:xfrm>
            <a:off x="8701560" y="4908600"/>
            <a:ext cx="2012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49B5973C-AEEF-423F-943C-200B6BBBE6D9}" type="slidenum">
              <a:rPr b="0" lang="fr-FR" sz="800" spc="-7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350" name="object 3"/>
          <p:cNvSpPr/>
          <p:nvPr/>
        </p:nvSpPr>
        <p:spPr>
          <a:xfrm>
            <a:off x="600120" y="1360440"/>
            <a:ext cx="8217360" cy="28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API </a:t>
            </a:r>
            <a:r>
              <a:rPr b="0" i="1" lang="fr-FR" sz="1600" spc="-1" strike="noStrike">
                <a:solidFill>
                  <a:srgbClr val="000000"/>
                </a:solidFill>
                <a:latin typeface="Arial"/>
                <a:ea typeface="DejaVu Sans"/>
              </a:rPr>
              <a:t>version: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Defines 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structure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nd uses it to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validate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correctness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 the data.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1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Kind: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Defines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kind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,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e.g.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Pod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or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Service.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1" strike="noStrike">
                <a:solidFill>
                  <a:srgbClr val="000000"/>
                </a:solidFill>
                <a:latin typeface="Arial"/>
                <a:ea typeface="DejaVu Sans"/>
              </a:rPr>
              <a:t>Metadata:</a:t>
            </a:r>
            <a:r>
              <a:rPr b="0" i="1" lang="fr-FR" sz="1600" spc="-2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Describes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higher-level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information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about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object.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Spec:</a:t>
            </a:r>
            <a:r>
              <a:rPr b="0" i="1" lang="fr-FR" sz="1600" spc="-2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Desired</a:t>
            </a:r>
            <a:r>
              <a:rPr b="0" lang="fr-FR" sz="16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state</a:t>
            </a:r>
            <a:r>
              <a:rPr b="0" lang="fr-FR" sz="16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</a:t>
            </a:r>
            <a:r>
              <a:rPr b="0" lang="fr-FR" sz="16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object.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Status:</a:t>
            </a:r>
            <a:r>
              <a:rPr b="0" i="1" lang="fr-FR" sz="1600" spc="-97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Actual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state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object.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Empty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if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not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created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yet.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06320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7" strike="noStrike">
                <a:solidFill>
                  <a:srgbClr val="000000"/>
                </a:solidFill>
                <a:latin typeface="Tahoma"/>
              </a:rPr>
              <a:t>Using</a:t>
            </a:r>
            <a:r>
              <a:rPr b="1" lang="fr-FR" sz="2400" spc="-17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7" strike="noStrike">
                <a:solidFill>
                  <a:srgbClr val="000000"/>
                </a:solidFill>
                <a:latin typeface="Tahoma"/>
              </a:rPr>
              <a:t>kubectl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Primary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tool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interact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Kubernetes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clusters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from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5" strike="noStrike">
                <a:solidFill>
                  <a:srgbClr val="666666"/>
                </a:solidFill>
                <a:latin typeface="Lucida Sans Unicode"/>
              </a:rPr>
              <a:t>CLI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352" name="object 3" descr=""/>
          <p:cNvPicPr/>
          <p:nvPr/>
        </p:nvPicPr>
        <p:blipFill>
          <a:blip r:embed="rId1"/>
          <a:stretch/>
        </p:blipFill>
        <p:spPr>
          <a:xfrm>
            <a:off x="803160" y="2694600"/>
            <a:ext cx="7378560" cy="939600"/>
          </a:xfrm>
          <a:prstGeom prst="rect">
            <a:avLst/>
          </a:prstGeom>
          <a:ln w="0">
            <a:noFill/>
          </a:ln>
        </p:spPr>
      </p:pic>
      <p:sp>
        <p:nvSpPr>
          <p:cNvPr id="353" name="object 4"/>
          <p:cNvSpPr/>
          <p:nvPr/>
        </p:nvSpPr>
        <p:spPr>
          <a:xfrm>
            <a:off x="8701560" y="4908600"/>
            <a:ext cx="2012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F83F6863-4809-467A-BE8B-DCBEE92CDDC4}" type="slidenum">
              <a:rPr b="0" lang="fr-FR" sz="800" spc="-7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063200" cy="1276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Imperative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Object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9" strike="noStrike">
                <a:solidFill>
                  <a:srgbClr val="000000"/>
                </a:solidFill>
                <a:latin typeface="Tahoma"/>
              </a:rPr>
              <a:t>Management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Fast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but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requires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detailed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knowledge,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no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track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record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355" name="object 3"/>
          <p:cNvGrpSpPr/>
          <p:nvPr/>
        </p:nvGrpSpPr>
        <p:grpSpPr>
          <a:xfrm>
            <a:off x="446040" y="1375560"/>
            <a:ext cx="5080320" cy="2237760"/>
            <a:chOff x="446040" y="1375560"/>
            <a:chExt cx="5080320" cy="2237760"/>
          </a:xfrm>
        </p:grpSpPr>
        <p:pic>
          <p:nvPicPr>
            <p:cNvPr id="356" name="object 4" descr=""/>
            <p:cNvPicPr/>
            <p:nvPr/>
          </p:nvPicPr>
          <p:blipFill>
            <a:blip r:embed="rId1"/>
            <a:stretch/>
          </p:blipFill>
          <p:spPr>
            <a:xfrm>
              <a:off x="446040" y="1375560"/>
              <a:ext cx="5080320" cy="223776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357" name="object 5"/>
            <p:cNvSpPr/>
            <p:nvPr/>
          </p:nvSpPr>
          <p:spPr>
            <a:xfrm>
              <a:off x="499680" y="1424160"/>
              <a:ext cx="4966200" cy="2124000"/>
            </a:xfrm>
            <a:custGeom>
              <a:avLst/>
              <a:gdLst/>
              <a:ahLst/>
              <a:rect l="l" t="t" r="r" b="b"/>
              <a:pathLst>
                <a:path w="4969510" h="2127250">
                  <a:moveTo>
                    <a:pt x="4969199" y="2126699"/>
                  </a:moveTo>
                  <a:lnTo>
                    <a:pt x="0" y="2126699"/>
                  </a:lnTo>
                  <a:lnTo>
                    <a:pt x="0" y="0"/>
                  </a:lnTo>
                  <a:lnTo>
                    <a:pt x="4969199" y="0"/>
                  </a:lnTo>
                  <a:lnTo>
                    <a:pt x="4969199" y="21266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358" name="object 6"/>
          <p:cNvSpPr/>
          <p:nvPr/>
        </p:nvSpPr>
        <p:spPr>
          <a:xfrm>
            <a:off x="752400" y="1602360"/>
            <a:ext cx="332928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namespace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ckad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359" name="object 7"/>
          <p:cNvSpPr/>
          <p:nvPr/>
        </p:nvSpPr>
        <p:spPr>
          <a:xfrm>
            <a:off x="752400" y="1811880"/>
            <a:ext cx="23691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namespace/ckad</a:t>
            </a:r>
            <a:r>
              <a:rPr b="0" lang="fr-FR" sz="1400" spc="-8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360" name="object 8"/>
          <p:cNvSpPr/>
          <p:nvPr/>
        </p:nvSpPr>
        <p:spPr>
          <a:xfrm>
            <a:off x="752400" y="2230920"/>
            <a:ext cx="439596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run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nginx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--image=nginx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-n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ckad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pod/nginx</a:t>
            </a:r>
            <a:r>
              <a:rPr b="0" lang="fr-FR" sz="14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361" name="object 9"/>
          <p:cNvSpPr/>
          <p:nvPr/>
        </p:nvSpPr>
        <p:spPr>
          <a:xfrm>
            <a:off x="752400" y="2859480"/>
            <a:ext cx="343584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edit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nginx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-n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ckad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362" name="object 10"/>
          <p:cNvSpPr/>
          <p:nvPr/>
        </p:nvSpPr>
        <p:spPr>
          <a:xfrm>
            <a:off x="752400" y="3069000"/>
            <a:ext cx="172908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pod/nginx</a:t>
            </a:r>
            <a:r>
              <a:rPr b="0" lang="fr-FR" sz="1400" spc="-8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edited</a:t>
            </a:r>
            <a:endParaRPr b="0" lang="fr-FR" sz="1400" spc="-1" strike="noStrike">
              <a:latin typeface="Arial"/>
            </a:endParaRPr>
          </a:p>
        </p:txBody>
      </p:sp>
      <p:grpSp>
        <p:nvGrpSpPr>
          <p:cNvPr id="363" name="object 11"/>
          <p:cNvGrpSpPr/>
          <p:nvPr/>
        </p:nvGrpSpPr>
        <p:grpSpPr>
          <a:xfrm>
            <a:off x="4342320" y="1716840"/>
            <a:ext cx="2094480" cy="1328400"/>
            <a:chOff x="4342320" y="1716840"/>
            <a:chExt cx="2094480" cy="1328400"/>
          </a:xfrm>
        </p:grpSpPr>
        <p:sp>
          <p:nvSpPr>
            <p:cNvPr id="364" name="object 12"/>
            <p:cNvSpPr/>
            <p:nvPr/>
          </p:nvSpPr>
          <p:spPr>
            <a:xfrm>
              <a:off x="4438440" y="1757880"/>
              <a:ext cx="1998360" cy="360"/>
            </a:xfrm>
            <a:custGeom>
              <a:avLst/>
              <a:gdLst/>
              <a:ahLst/>
              <a:rect l="l" t="t" r="r" b="b"/>
              <a:pathLst>
                <a:path w="2001520" h="1269">
                  <a:moveTo>
                    <a:pt x="2000999" y="851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365" name="object 13" descr=""/>
            <p:cNvPicPr/>
            <p:nvPr/>
          </p:nvPicPr>
          <p:blipFill>
            <a:blip r:embed="rId2"/>
            <a:stretch/>
          </p:blipFill>
          <p:spPr>
            <a:xfrm>
              <a:off x="4342320" y="1716840"/>
              <a:ext cx="102240" cy="788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366" name="object 14"/>
            <p:cNvSpPr/>
            <p:nvPr/>
          </p:nvSpPr>
          <p:spPr>
            <a:xfrm>
              <a:off x="5714280" y="2400120"/>
              <a:ext cx="720000" cy="360"/>
            </a:xfrm>
            <a:custGeom>
              <a:avLst/>
              <a:gdLst/>
              <a:ahLst/>
              <a:rect l="l" t="t" r="r" b="b"/>
              <a:pathLst>
                <a:path w="723264" h="0">
                  <a:moveTo>
                    <a:pt x="7229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367" name="object 15" descr=""/>
            <p:cNvPicPr/>
            <p:nvPr/>
          </p:nvPicPr>
          <p:blipFill>
            <a:blip r:embed="rId3"/>
            <a:stretch/>
          </p:blipFill>
          <p:spPr>
            <a:xfrm>
              <a:off x="5618520" y="2359080"/>
              <a:ext cx="102240" cy="788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368" name="object 16"/>
            <p:cNvSpPr/>
            <p:nvPr/>
          </p:nvSpPr>
          <p:spPr>
            <a:xfrm>
              <a:off x="4536000" y="3007440"/>
              <a:ext cx="1890360" cy="360"/>
            </a:xfrm>
            <a:custGeom>
              <a:avLst/>
              <a:gdLst/>
              <a:ahLst/>
              <a:rect l="l" t="t" r="r" b="b"/>
              <a:pathLst>
                <a:path w="1893570" h="0">
                  <a:moveTo>
                    <a:pt x="18932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369" name="object 17" descr=""/>
            <p:cNvPicPr/>
            <p:nvPr/>
          </p:nvPicPr>
          <p:blipFill>
            <a:blip r:embed="rId4"/>
            <a:stretch/>
          </p:blipFill>
          <p:spPr>
            <a:xfrm>
              <a:off x="4439880" y="2966400"/>
              <a:ext cx="102240" cy="788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370" name="object 18"/>
          <p:cNvSpPr/>
          <p:nvPr/>
        </p:nvSpPr>
        <p:spPr>
          <a:xfrm>
            <a:off x="6573960" y="1503000"/>
            <a:ext cx="206352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22320">
              <a:lnSpc>
                <a:spcPts val="1664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Creates</a:t>
            </a:r>
            <a:r>
              <a:rPr b="0" lang="fr-FR" sz="1400" spc="-5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an</a:t>
            </a:r>
            <a:r>
              <a:rPr b="0" lang="fr-FR" sz="1400" spc="-5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object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e.g.</a:t>
            </a:r>
            <a:r>
              <a:rPr b="0" lang="fr-FR" sz="1400" spc="-5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400" spc="-5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namespace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371" name="object 21"/>
          <p:cNvSpPr/>
          <p:nvPr/>
        </p:nvSpPr>
        <p:spPr>
          <a:xfrm>
            <a:off x="8701560" y="4908600"/>
            <a:ext cx="2012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74C0C648-4B18-4E23-89F7-58588D258B6F}" type="slidenum">
              <a:rPr b="0" lang="fr-FR" sz="800" spc="-7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372" name="object 19"/>
          <p:cNvSpPr/>
          <p:nvPr/>
        </p:nvSpPr>
        <p:spPr>
          <a:xfrm>
            <a:off x="6600960" y="2183760"/>
            <a:ext cx="203652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214560" indent="-202680">
              <a:lnSpc>
                <a:spcPts val="165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Creates</a:t>
            </a:r>
            <a:r>
              <a:rPr b="0" lang="fr-FR" sz="14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4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Pod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object </a:t>
            </a:r>
            <a:r>
              <a:rPr b="0" lang="fr-FR" sz="1400" spc="-37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in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namespace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373" name="object 20"/>
          <p:cNvSpPr/>
          <p:nvPr/>
        </p:nvSpPr>
        <p:spPr>
          <a:xfrm>
            <a:off x="6588720" y="2791440"/>
            <a:ext cx="186876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2600" indent="29160">
              <a:lnSpc>
                <a:spcPts val="165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Modifies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the live </a:t>
            </a:r>
            <a:r>
              <a:rPr b="0" lang="fr-FR" sz="1400" spc="-37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object</a:t>
            </a:r>
            <a:r>
              <a:rPr b="0" lang="fr-FR" sz="14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e.g.</a:t>
            </a:r>
            <a:r>
              <a:rPr b="0" lang="fr-FR" sz="14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Pod</a:t>
            </a:r>
            <a:endParaRPr b="0" lang="fr-FR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703200" cy="1276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7" strike="noStrike">
                <a:solidFill>
                  <a:srgbClr val="000000"/>
                </a:solidFill>
                <a:latin typeface="Tahoma"/>
              </a:rPr>
              <a:t>Declarative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Object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9" strike="noStrike">
                <a:solidFill>
                  <a:srgbClr val="000000"/>
                </a:solidFill>
                <a:latin typeface="Tahoma"/>
              </a:rPr>
              <a:t>Management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Suitable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more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5" strike="noStrike">
                <a:solidFill>
                  <a:srgbClr val="666666"/>
                </a:solidFill>
                <a:latin typeface="Lucida Sans Unicode"/>
              </a:rPr>
              <a:t>elaborate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changes,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tracks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0" strike="noStrike">
                <a:solidFill>
                  <a:srgbClr val="666666"/>
                </a:solidFill>
                <a:latin typeface="Lucida Sans Unicode"/>
              </a:rPr>
              <a:t>changes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375" name="object 3"/>
          <p:cNvGrpSpPr/>
          <p:nvPr/>
        </p:nvGrpSpPr>
        <p:grpSpPr>
          <a:xfrm>
            <a:off x="446040" y="1388880"/>
            <a:ext cx="5226840" cy="2251440"/>
            <a:chOff x="446040" y="1388880"/>
            <a:chExt cx="5226840" cy="2251440"/>
          </a:xfrm>
        </p:grpSpPr>
        <p:pic>
          <p:nvPicPr>
            <p:cNvPr id="376" name="object 4" descr=""/>
            <p:cNvPicPr/>
            <p:nvPr/>
          </p:nvPicPr>
          <p:blipFill>
            <a:blip r:embed="rId1"/>
            <a:stretch/>
          </p:blipFill>
          <p:spPr>
            <a:xfrm>
              <a:off x="446040" y="1388880"/>
              <a:ext cx="5226840" cy="22514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377" name="object 5"/>
            <p:cNvSpPr/>
            <p:nvPr/>
          </p:nvSpPr>
          <p:spPr>
            <a:xfrm>
              <a:off x="499680" y="1437120"/>
              <a:ext cx="5113080" cy="2137320"/>
            </a:xfrm>
            <a:custGeom>
              <a:avLst/>
              <a:gdLst/>
              <a:ahLst/>
              <a:rect l="l" t="t" r="r" b="b"/>
              <a:pathLst>
                <a:path w="5116195" h="2140585">
                  <a:moveTo>
                    <a:pt x="5115599" y="2140199"/>
                  </a:moveTo>
                  <a:lnTo>
                    <a:pt x="0" y="2140199"/>
                  </a:lnTo>
                  <a:lnTo>
                    <a:pt x="0" y="0"/>
                  </a:lnTo>
                  <a:lnTo>
                    <a:pt x="5115599" y="0"/>
                  </a:lnTo>
                  <a:lnTo>
                    <a:pt x="5115599" y="21401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378" name="object 6"/>
          <p:cNvSpPr/>
          <p:nvPr/>
        </p:nvSpPr>
        <p:spPr>
          <a:xfrm>
            <a:off x="752400" y="1615320"/>
            <a:ext cx="439596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-f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nginx-deployment.yaml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deployment.apps/nginx-deployment</a:t>
            </a:r>
            <a:r>
              <a:rPr b="0" lang="fr-FR" sz="14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379" name="object 7"/>
          <p:cNvSpPr/>
          <p:nvPr/>
        </p:nvSpPr>
        <p:spPr>
          <a:xfrm>
            <a:off x="752400" y="2243880"/>
            <a:ext cx="460944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apply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-f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nginx-deployment.yaml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deployment.apps/nginx-deployment</a:t>
            </a:r>
            <a:r>
              <a:rPr b="0" lang="fr-FR" sz="1400" spc="-7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configured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380" name="object 8"/>
          <p:cNvSpPr/>
          <p:nvPr/>
        </p:nvSpPr>
        <p:spPr>
          <a:xfrm>
            <a:off x="752400" y="2872800"/>
            <a:ext cx="450288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delete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-f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nginx-deployment.yaml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deployment.apps</a:t>
            </a:r>
            <a:r>
              <a:rPr b="0" lang="fr-FR" sz="14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"nginx-deployment"</a:t>
            </a:r>
            <a:r>
              <a:rPr b="0" lang="fr-FR" sz="14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deleted</a:t>
            </a:r>
            <a:endParaRPr b="0" lang="fr-FR" sz="1400" spc="-1" strike="noStrike">
              <a:latin typeface="Arial"/>
            </a:endParaRPr>
          </a:p>
        </p:txBody>
      </p:sp>
      <p:grpSp>
        <p:nvGrpSpPr>
          <p:cNvPr id="381" name="object 9"/>
          <p:cNvGrpSpPr/>
          <p:nvPr/>
        </p:nvGrpSpPr>
        <p:grpSpPr>
          <a:xfrm>
            <a:off x="5400360" y="1717560"/>
            <a:ext cx="1035720" cy="1660680"/>
            <a:chOff x="5400360" y="1717560"/>
            <a:chExt cx="1035720" cy="1660680"/>
          </a:xfrm>
        </p:grpSpPr>
        <p:sp>
          <p:nvSpPr>
            <p:cNvPr id="382" name="object 10"/>
            <p:cNvSpPr/>
            <p:nvPr/>
          </p:nvSpPr>
          <p:spPr>
            <a:xfrm>
              <a:off x="5496480" y="1758600"/>
              <a:ext cx="939600" cy="360"/>
            </a:xfrm>
            <a:custGeom>
              <a:avLst/>
              <a:gdLst/>
              <a:ahLst/>
              <a:rect l="l" t="t" r="r" b="b"/>
              <a:pathLst>
                <a:path w="942975" h="0">
                  <a:moveTo>
                    <a:pt x="9428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383" name="object 11" descr=""/>
            <p:cNvPicPr/>
            <p:nvPr/>
          </p:nvPicPr>
          <p:blipFill>
            <a:blip r:embed="rId2"/>
            <a:stretch/>
          </p:blipFill>
          <p:spPr>
            <a:xfrm>
              <a:off x="5400360" y="1717560"/>
              <a:ext cx="102240" cy="788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384" name="object 12"/>
            <p:cNvSpPr/>
            <p:nvPr/>
          </p:nvSpPr>
          <p:spPr>
            <a:xfrm>
              <a:off x="5496480" y="2382480"/>
              <a:ext cx="939600" cy="360"/>
            </a:xfrm>
            <a:custGeom>
              <a:avLst/>
              <a:gdLst/>
              <a:ahLst/>
              <a:rect l="l" t="t" r="r" b="b"/>
              <a:pathLst>
                <a:path w="942975" h="0">
                  <a:moveTo>
                    <a:pt x="9428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385" name="object 13" descr=""/>
            <p:cNvPicPr/>
            <p:nvPr/>
          </p:nvPicPr>
          <p:blipFill>
            <a:blip r:embed="rId3"/>
            <a:stretch/>
          </p:blipFill>
          <p:spPr>
            <a:xfrm>
              <a:off x="5400360" y="2341440"/>
              <a:ext cx="102240" cy="788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386" name="object 14"/>
            <p:cNvSpPr/>
            <p:nvPr/>
          </p:nvSpPr>
          <p:spPr>
            <a:xfrm>
              <a:off x="5496480" y="3013920"/>
              <a:ext cx="939600" cy="364320"/>
            </a:xfrm>
            <a:custGeom>
              <a:avLst/>
              <a:gdLst/>
              <a:ahLst/>
              <a:rect l="l" t="t" r="r" b="b"/>
              <a:pathLst>
                <a:path w="942975" h="367664">
                  <a:moveTo>
                    <a:pt x="942899" y="367499"/>
                  </a:moveTo>
                  <a:lnTo>
                    <a:pt x="414299" y="367499"/>
                  </a:lnTo>
                  <a:lnTo>
                    <a:pt x="414299" y="0"/>
                  </a:ln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387" name="object 15" descr=""/>
            <p:cNvPicPr/>
            <p:nvPr/>
          </p:nvPicPr>
          <p:blipFill>
            <a:blip r:embed="rId4"/>
            <a:stretch/>
          </p:blipFill>
          <p:spPr>
            <a:xfrm>
              <a:off x="5400360" y="2972880"/>
              <a:ext cx="102240" cy="788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388" name="object 16"/>
          <p:cNvSpPr/>
          <p:nvPr/>
        </p:nvSpPr>
        <p:spPr>
          <a:xfrm>
            <a:off x="6569280" y="1503000"/>
            <a:ext cx="170820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86400" indent="-74160">
              <a:lnSpc>
                <a:spcPts val="165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Creates</a:t>
            </a:r>
            <a:r>
              <a:rPr b="0" lang="fr-FR" sz="14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object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if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it </a:t>
            </a:r>
            <a:r>
              <a:rPr b="0" lang="fr-FR" sz="1400" spc="-37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doesn’t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exist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yet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389" name="object 19"/>
          <p:cNvSpPr/>
          <p:nvPr/>
        </p:nvSpPr>
        <p:spPr>
          <a:xfrm>
            <a:off x="8701560" y="4908600"/>
            <a:ext cx="2012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C61530B0-9B4D-4A31-8D38-9E1CDFB45FCF}" type="slidenum">
              <a:rPr b="0" lang="fr-FR" sz="800" spc="-7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390" name="object 17"/>
          <p:cNvSpPr/>
          <p:nvPr/>
        </p:nvSpPr>
        <p:spPr>
          <a:xfrm>
            <a:off x="6554520" y="2126880"/>
            <a:ext cx="244440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2600" algn="ctr">
              <a:lnSpc>
                <a:spcPts val="1650"/>
              </a:lnSpc>
              <a:spcBef>
                <a:spcPts val="181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Creates object or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update</a:t>
            </a:r>
            <a:r>
              <a:rPr b="0" lang="fr-FR" sz="14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if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it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already </a:t>
            </a:r>
            <a:r>
              <a:rPr b="0" lang="fr-FR" sz="1400" spc="-37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exists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391" name="object 18"/>
          <p:cNvSpPr/>
          <p:nvPr/>
        </p:nvSpPr>
        <p:spPr>
          <a:xfrm>
            <a:off x="6545520" y="3240720"/>
            <a:ext cx="15519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Deletes</a:t>
            </a:r>
            <a:r>
              <a:rPr b="0" lang="fr-FR" sz="1400" spc="-7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object</a:t>
            </a:r>
            <a:endParaRPr b="0" lang="fr-FR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34320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Hybrid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60" strike="noStrike">
                <a:solidFill>
                  <a:srgbClr val="000000"/>
                </a:solidFill>
                <a:latin typeface="Tahoma"/>
              </a:rPr>
              <a:t>Approach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Generate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YAML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file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kubect</a:t>
            </a:r>
            <a:r>
              <a:rPr b="0" lang="fr-FR" sz="1600" spc="-1" strike="noStrike">
                <a:solidFill>
                  <a:srgbClr val="666666"/>
                </a:solidFill>
                <a:latin typeface="Courier New"/>
              </a:rPr>
              <a:t>l</a:t>
            </a:r>
            <a:r>
              <a:rPr b="0" lang="fr-FR" sz="1600" spc="-642" strike="noStrike">
                <a:solidFill>
                  <a:srgbClr val="666666"/>
                </a:solidFill>
                <a:latin typeface="Courier New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but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0" strike="noStrike">
                <a:solidFill>
                  <a:srgbClr val="666666"/>
                </a:solidFill>
                <a:latin typeface="Lucida Sans Unicode"/>
              </a:rPr>
              <a:t>make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further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edits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393" name="object 41"/>
          <p:cNvGrpSpPr/>
          <p:nvPr/>
        </p:nvGrpSpPr>
        <p:grpSpPr>
          <a:xfrm>
            <a:off x="446040" y="1391760"/>
            <a:ext cx="5219640" cy="2054520"/>
            <a:chOff x="446040" y="1391760"/>
            <a:chExt cx="5219640" cy="2054520"/>
          </a:xfrm>
        </p:grpSpPr>
        <p:pic>
          <p:nvPicPr>
            <p:cNvPr id="394" name="object 42" descr=""/>
            <p:cNvPicPr/>
            <p:nvPr/>
          </p:nvPicPr>
          <p:blipFill>
            <a:blip r:embed="rId1"/>
            <a:stretch/>
          </p:blipFill>
          <p:spPr>
            <a:xfrm>
              <a:off x="446040" y="1391760"/>
              <a:ext cx="5219640" cy="205452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395" name="object 43"/>
            <p:cNvSpPr/>
            <p:nvPr/>
          </p:nvSpPr>
          <p:spPr>
            <a:xfrm>
              <a:off x="499680" y="1440000"/>
              <a:ext cx="5105880" cy="1940400"/>
            </a:xfrm>
            <a:custGeom>
              <a:avLst/>
              <a:gdLst/>
              <a:ahLst/>
              <a:rect l="l" t="t" r="r" b="b"/>
              <a:pathLst>
                <a:path w="5109210" h="1943735">
                  <a:moveTo>
                    <a:pt x="5108699" y="1943399"/>
                  </a:moveTo>
                  <a:lnTo>
                    <a:pt x="0" y="1943399"/>
                  </a:lnTo>
                  <a:lnTo>
                    <a:pt x="0" y="0"/>
                  </a:lnTo>
                  <a:lnTo>
                    <a:pt x="5108699" y="0"/>
                  </a:lnTo>
                  <a:lnTo>
                    <a:pt x="5108699" y="19433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396" name="object 44"/>
          <p:cNvSpPr/>
          <p:nvPr/>
        </p:nvSpPr>
        <p:spPr>
          <a:xfrm>
            <a:off x="752400" y="1618200"/>
            <a:ext cx="460944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run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nginx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--image=nginx</a:t>
            </a:r>
            <a:endParaRPr b="0" lang="fr-FR" sz="1400" spc="-1" strike="noStrike">
              <a:latin typeface="Arial"/>
            </a:endParaRPr>
          </a:p>
          <a:p>
            <a:pPr marL="226080">
              <a:lnSpc>
                <a:spcPts val="1664"/>
              </a:lnSpc>
              <a:buNone/>
            </a:pP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--dry-run=client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-o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yaml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&gt;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nginx-pod.yaml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397" name="object 45"/>
          <p:cNvSpPr/>
          <p:nvPr/>
        </p:nvSpPr>
        <p:spPr>
          <a:xfrm>
            <a:off x="752400" y="2246760"/>
            <a:ext cx="215568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5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vim</a:t>
            </a:r>
            <a:r>
              <a:rPr b="1" lang="fr-FR" sz="1400" spc="-5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nginx-pod.yaml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398" name="object 46"/>
          <p:cNvSpPr/>
          <p:nvPr/>
        </p:nvSpPr>
        <p:spPr>
          <a:xfrm>
            <a:off x="752400" y="2665800"/>
            <a:ext cx="364932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-f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nginx-pod.yaml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399" name="object 47"/>
          <p:cNvSpPr/>
          <p:nvPr/>
        </p:nvSpPr>
        <p:spPr>
          <a:xfrm>
            <a:off x="752400" y="2875320"/>
            <a:ext cx="183564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pod/nginx</a:t>
            </a:r>
            <a:r>
              <a:rPr b="0" lang="fr-FR" sz="1400" spc="-8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400" spc="-1" strike="noStrike">
              <a:latin typeface="Arial"/>
            </a:endParaRPr>
          </a:p>
        </p:txBody>
      </p:sp>
      <p:grpSp>
        <p:nvGrpSpPr>
          <p:cNvPr id="400" name="object 48"/>
          <p:cNvGrpSpPr/>
          <p:nvPr/>
        </p:nvGrpSpPr>
        <p:grpSpPr>
          <a:xfrm>
            <a:off x="4651200" y="2774520"/>
            <a:ext cx="2084400" cy="78840"/>
            <a:chOff x="4651200" y="2774520"/>
            <a:chExt cx="2084400" cy="78840"/>
          </a:xfrm>
        </p:grpSpPr>
        <p:sp>
          <p:nvSpPr>
            <p:cNvPr id="401" name="object 49"/>
            <p:cNvSpPr/>
            <p:nvPr/>
          </p:nvSpPr>
          <p:spPr>
            <a:xfrm>
              <a:off x="4747320" y="2815560"/>
              <a:ext cx="1988280" cy="360"/>
            </a:xfrm>
            <a:custGeom>
              <a:avLst/>
              <a:gdLst/>
              <a:ahLst/>
              <a:rect l="l" t="t" r="r" b="b"/>
              <a:pathLst>
                <a:path w="1991359" h="0">
                  <a:moveTo>
                    <a:pt x="19907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402" name="object 50" descr=""/>
            <p:cNvPicPr/>
            <p:nvPr/>
          </p:nvPicPr>
          <p:blipFill>
            <a:blip r:embed="rId2"/>
            <a:stretch/>
          </p:blipFill>
          <p:spPr>
            <a:xfrm>
              <a:off x="4651200" y="2774520"/>
              <a:ext cx="102240" cy="788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403" name="object 51"/>
          <p:cNvSpPr/>
          <p:nvPr/>
        </p:nvSpPr>
        <p:spPr>
          <a:xfrm>
            <a:off x="6902640" y="2586960"/>
            <a:ext cx="155484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18080" indent="-106200">
              <a:lnSpc>
                <a:spcPts val="165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Create</a:t>
            </a:r>
            <a:r>
              <a:rPr b="0" lang="fr-FR" sz="1400" spc="-5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400" spc="-4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object </a:t>
            </a:r>
            <a:r>
              <a:rPr b="0" lang="fr-FR" sz="1400" spc="-37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fro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m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06" strike="noStrike">
                <a:solidFill>
                  <a:srgbClr val="000000"/>
                </a:solidFill>
                <a:latin typeface="Arial MT"/>
                <a:ea typeface="DejaVu Sans"/>
              </a:rPr>
              <a:t>Y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AM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L</a:t>
            </a:r>
            <a:r>
              <a:rPr b="0" lang="fr-FR" sz="1400" spc="-5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file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404" name="object 52"/>
          <p:cNvSpPr/>
          <p:nvPr/>
        </p:nvSpPr>
        <p:spPr>
          <a:xfrm>
            <a:off x="8701560" y="4908600"/>
            <a:ext cx="2012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E8ECD351-E9FD-4F32-916A-94373FEF10E8}" type="slidenum">
              <a:rPr b="0" lang="fr-FR" sz="800" spc="-7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grpSp>
        <p:nvGrpSpPr>
          <p:cNvPr id="405" name="object 53"/>
          <p:cNvGrpSpPr/>
          <p:nvPr/>
        </p:nvGrpSpPr>
        <p:grpSpPr>
          <a:xfrm>
            <a:off x="5556240" y="1802520"/>
            <a:ext cx="1101240" cy="78840"/>
            <a:chOff x="5556240" y="1802520"/>
            <a:chExt cx="1101240" cy="78840"/>
          </a:xfrm>
        </p:grpSpPr>
        <p:sp>
          <p:nvSpPr>
            <p:cNvPr id="406" name="object 54"/>
            <p:cNvSpPr/>
            <p:nvPr/>
          </p:nvSpPr>
          <p:spPr>
            <a:xfrm>
              <a:off x="5607000" y="1843560"/>
              <a:ext cx="1050480" cy="360"/>
            </a:xfrm>
            <a:custGeom>
              <a:avLst/>
              <a:gdLst/>
              <a:ahLst/>
              <a:rect l="l" t="t" r="r" b="b"/>
              <a:pathLst>
                <a:path w="1991359" h="0">
                  <a:moveTo>
                    <a:pt x="19907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407" name="object 55" descr=""/>
            <p:cNvPicPr/>
            <p:nvPr/>
          </p:nvPicPr>
          <p:blipFill>
            <a:blip r:embed="rId3"/>
            <a:stretch/>
          </p:blipFill>
          <p:spPr>
            <a:xfrm>
              <a:off x="5556240" y="1802520"/>
              <a:ext cx="52920" cy="788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408" name="object 56"/>
          <p:cNvSpPr/>
          <p:nvPr/>
        </p:nvSpPr>
        <p:spPr>
          <a:xfrm>
            <a:off x="6903360" y="1650960"/>
            <a:ext cx="1554840" cy="46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18080" indent="-106200">
              <a:lnSpc>
                <a:spcPts val="165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Capture YAML for</a:t>
            </a:r>
            <a:endParaRPr b="0" lang="fr-FR" sz="1400" spc="-1" strike="noStrike">
              <a:latin typeface="Arial"/>
            </a:endParaRPr>
          </a:p>
          <a:p>
            <a:pPr marL="118080" indent="-106200">
              <a:lnSpc>
                <a:spcPts val="165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Pod object in file</a:t>
            </a:r>
            <a:endParaRPr b="0" lang="fr-FR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9" name="object 2"/>
          <p:cNvGrpSpPr/>
          <p:nvPr/>
        </p:nvGrpSpPr>
        <p:grpSpPr>
          <a:xfrm>
            <a:off x="0" y="0"/>
            <a:ext cx="9140760" cy="5140080"/>
            <a:chOff x="0" y="0"/>
            <a:chExt cx="9140760" cy="5140080"/>
          </a:xfrm>
        </p:grpSpPr>
        <p:pic>
          <p:nvPicPr>
            <p:cNvPr id="410" name="object 3" descr=""/>
            <p:cNvPicPr/>
            <p:nvPr/>
          </p:nvPicPr>
          <p:blipFill>
            <a:blip r:embed="rId1"/>
            <a:stretch/>
          </p:blipFill>
          <p:spPr>
            <a:xfrm>
              <a:off x="0" y="0"/>
              <a:ext cx="9140760" cy="514008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411" name="object 4" descr=""/>
            <p:cNvPicPr/>
            <p:nvPr/>
          </p:nvPicPr>
          <p:blipFill>
            <a:blip r:embed="rId2"/>
            <a:stretch/>
          </p:blipFill>
          <p:spPr>
            <a:xfrm>
              <a:off x="8714160" y="146160"/>
              <a:ext cx="284400" cy="22968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412" name="PlaceHolder 1"/>
          <p:cNvSpPr>
            <a:spLocks noGrp="1"/>
          </p:cNvSpPr>
          <p:nvPr>
            <p:ph type="title"/>
          </p:nvPr>
        </p:nvSpPr>
        <p:spPr>
          <a:xfrm>
            <a:off x="494280" y="1665000"/>
            <a:ext cx="6523200" cy="1381680"/>
          </a:xfrm>
          <a:prstGeom prst="rect">
            <a:avLst/>
          </a:prstGeom>
          <a:noFill/>
          <a:ln w="0">
            <a:noFill/>
          </a:ln>
        </p:spPr>
        <p:txBody>
          <a:bodyPr lIns="0" rIns="0" tIns="195480" bIns="0" anchor="t">
            <a:noAutofit/>
          </a:bodyPr>
          <a:p>
            <a:pPr marL="12600">
              <a:lnSpc>
                <a:spcPct val="100000"/>
              </a:lnSpc>
              <a:spcBef>
                <a:spcPts val="1539"/>
              </a:spcBef>
              <a:buNone/>
            </a:pPr>
            <a:r>
              <a:rPr b="1" lang="fr-FR" sz="3600" spc="21" strike="noStrike">
                <a:solidFill>
                  <a:srgbClr val="ffffff"/>
                </a:solidFill>
                <a:latin typeface="Tahoma"/>
              </a:rPr>
              <a:t>Pods</a:t>
            </a:r>
            <a:r>
              <a:rPr b="1" lang="fr-FR" sz="3600" spc="-222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600" spc="66" strike="noStrike">
                <a:solidFill>
                  <a:srgbClr val="ffffff"/>
                </a:solidFill>
                <a:latin typeface="Tahoma"/>
              </a:rPr>
              <a:t>and</a:t>
            </a:r>
            <a:r>
              <a:rPr b="1" lang="fr-FR" sz="3600" spc="-222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600" spc="134" strike="noStrike">
                <a:solidFill>
                  <a:srgbClr val="ffffff"/>
                </a:solidFill>
                <a:latin typeface="Tahoma"/>
              </a:rPr>
              <a:t>Namespaces</a:t>
            </a:r>
            <a:endParaRPr b="0" lang="fr-FR" sz="36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720"/>
              </a:spcBef>
              <a:buNone/>
            </a:pPr>
            <a:r>
              <a:rPr b="0" lang="fr-FR" sz="1800" spc="-1" strike="noStrike">
                <a:solidFill>
                  <a:srgbClr val="ffffff"/>
                </a:solidFill>
                <a:latin typeface="Lucida Sans Unicode"/>
              </a:rPr>
              <a:t>Running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86" strike="noStrike">
                <a:solidFill>
                  <a:srgbClr val="ffffff"/>
                </a:solidFill>
                <a:latin typeface="Lucida Sans Unicode"/>
              </a:rPr>
              <a:t>and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9" strike="noStrike">
                <a:solidFill>
                  <a:srgbClr val="ffffff"/>
                </a:solidFill>
                <a:latin typeface="Lucida Sans Unicode"/>
              </a:rPr>
              <a:t>inspecting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1" strike="noStrike">
                <a:solidFill>
                  <a:srgbClr val="ffffff"/>
                </a:solidFill>
                <a:latin typeface="Lucida Sans Unicode"/>
              </a:rPr>
              <a:t>workload,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1" strike="noStrike">
                <a:solidFill>
                  <a:srgbClr val="ffffff"/>
                </a:solidFill>
                <a:latin typeface="Lucida Sans Unicode"/>
              </a:rPr>
              <a:t>organizing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21" strike="noStrike">
                <a:solidFill>
                  <a:srgbClr val="ffffff"/>
                </a:solidFill>
                <a:latin typeface="Lucida Sans Unicode"/>
              </a:rPr>
              <a:t>objects</a:t>
            </a:r>
            <a:endParaRPr b="0" lang="fr-FR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26320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5" strike="noStrike">
                <a:solidFill>
                  <a:srgbClr val="000000"/>
                </a:solidFill>
                <a:latin typeface="Tahoma"/>
              </a:rPr>
              <a:t>What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is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" strike="noStrike">
                <a:solidFill>
                  <a:srgbClr val="000000"/>
                </a:solidFill>
                <a:latin typeface="Tahoma"/>
              </a:rPr>
              <a:t>Pod?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Runs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process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or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application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6" strike="noStrike">
                <a:solidFill>
                  <a:srgbClr val="666666"/>
                </a:solidFill>
                <a:latin typeface="Lucida Sans Unicode"/>
              </a:rPr>
              <a:t>container(s)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414" name="object 4"/>
          <p:cNvSpPr/>
          <p:nvPr/>
        </p:nvSpPr>
        <p:spPr>
          <a:xfrm>
            <a:off x="8701560" y="4908600"/>
            <a:ext cx="2019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CF7DF1D4-400F-41D6-BE5E-E648BAC2390A}" type="slidenum">
              <a:rPr b="0" lang="fr-FR" sz="800" spc="-7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415" name="object 3"/>
          <p:cNvSpPr/>
          <p:nvPr/>
        </p:nvSpPr>
        <p:spPr>
          <a:xfrm>
            <a:off x="600120" y="1392840"/>
            <a:ext cx="8037360" cy="19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00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smallest,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most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basic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deployable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objects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Kubernetes.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It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contains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one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more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containers,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executed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by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configured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container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runtime.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Kubernetes enhances the basic functionality of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container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with features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such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as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security,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storage,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and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more.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60320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9" strike="noStrike">
                <a:solidFill>
                  <a:srgbClr val="000000"/>
                </a:solidFill>
                <a:latin typeface="Tahoma"/>
              </a:rPr>
              <a:t>Creating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Pod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52" strike="noStrike">
                <a:solidFill>
                  <a:srgbClr val="000000"/>
                </a:solidFill>
                <a:latin typeface="Tahoma"/>
              </a:rPr>
              <a:t>with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Imperative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94" strike="noStrike">
                <a:solidFill>
                  <a:srgbClr val="000000"/>
                </a:solidFill>
                <a:latin typeface="Tahoma"/>
              </a:rPr>
              <a:t>Command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"Execute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Hazelcast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configure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46" strike="noStrike">
                <a:solidFill>
                  <a:srgbClr val="666666"/>
                </a:solidFill>
                <a:latin typeface="Lucida Sans Unicode"/>
              </a:rPr>
              <a:t>it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using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parameters"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417" name="object 4"/>
          <p:cNvSpPr/>
          <p:nvPr/>
        </p:nvSpPr>
        <p:spPr>
          <a:xfrm>
            <a:off x="536400" y="1419480"/>
            <a:ext cx="4178160" cy="146844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520" bIns="0" anchor="t">
            <a:spAutoFit/>
          </a:bodyPr>
          <a:p>
            <a:pPr>
              <a:lnSpc>
                <a:spcPct val="100000"/>
              </a:lnSpc>
              <a:spcBef>
                <a:spcPts val="20"/>
              </a:spcBef>
              <a:buNone/>
            </a:pPr>
            <a:endParaRPr b="0" lang="fr-FR" sz="1350" spc="-1" strike="noStrike">
              <a:latin typeface="Arial"/>
            </a:endParaRPr>
          </a:p>
          <a:p>
            <a:pPr marL="237600">
              <a:lnSpc>
                <a:spcPts val="1664"/>
              </a:lnSpc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run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hazelcast</a:t>
            </a:r>
            <a:r>
              <a:rPr b="0" lang="fr-FR" sz="1400" spc="-7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400" spc="-1" strike="noStrike">
              <a:latin typeface="Arial"/>
            </a:endParaRPr>
          </a:p>
          <a:p>
            <a:pPr marL="450720">
              <a:lnSpc>
                <a:spcPts val="1650"/>
              </a:lnSpc>
              <a:buNone/>
            </a:pP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--image=hazelcast/hazelcast</a:t>
            </a:r>
            <a:r>
              <a:rPr b="0" lang="fr-FR" sz="1400" spc="-7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400" spc="-1" strike="noStrike">
              <a:latin typeface="Arial"/>
            </a:endParaRPr>
          </a:p>
          <a:p>
            <a:pPr marL="450720">
              <a:lnSpc>
                <a:spcPts val="1650"/>
              </a:lnSpc>
              <a:buNone/>
            </a:pP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--port=5701</a:t>
            </a:r>
            <a:r>
              <a:rPr b="0" lang="fr-FR" sz="1400" spc="-7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400" spc="-1" strike="noStrike">
              <a:latin typeface="Arial"/>
            </a:endParaRPr>
          </a:p>
          <a:p>
            <a:pPr marL="450720">
              <a:lnSpc>
                <a:spcPts val="1650"/>
              </a:lnSpc>
              <a:buNone/>
            </a:pP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--env="DNS_DOMAIN=cluster"</a:t>
            </a:r>
            <a:r>
              <a:rPr b="0" lang="fr-FR" sz="1400" spc="-7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400" spc="-1" strike="noStrike">
              <a:latin typeface="Arial"/>
            </a:endParaRPr>
          </a:p>
          <a:p>
            <a:pPr marL="450720">
              <a:lnSpc>
                <a:spcPts val="1650"/>
              </a:lnSpc>
              <a:buNone/>
            </a:pP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--labels="app=hazelcast,env=prod"</a:t>
            </a:r>
            <a:endParaRPr b="0" lang="fr-FR" sz="1400" spc="-1" strike="noStrike">
              <a:latin typeface="Arial"/>
            </a:endParaRPr>
          </a:p>
          <a:p>
            <a:pPr marL="237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pod/hazelcast</a:t>
            </a:r>
            <a:r>
              <a:rPr b="0" lang="fr-FR" sz="14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418" name="object 5"/>
          <p:cNvSpPr/>
          <p:nvPr/>
        </p:nvSpPr>
        <p:spPr>
          <a:xfrm>
            <a:off x="8701560" y="4908600"/>
            <a:ext cx="2019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AB68CE78-54B5-48BE-9F83-AC95D90C4806}" type="slidenum">
              <a:rPr b="0" lang="fr-FR" sz="800" spc="-7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06320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Pod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YAML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Manifest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"Execute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Hazelcast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configure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46" strike="noStrike">
                <a:solidFill>
                  <a:srgbClr val="666666"/>
                </a:solidFill>
                <a:latin typeface="Lucida Sans Unicode"/>
              </a:rPr>
              <a:t>it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using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parameters"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420" name="object 3"/>
          <p:cNvGrpSpPr/>
          <p:nvPr/>
        </p:nvGrpSpPr>
        <p:grpSpPr>
          <a:xfrm>
            <a:off x="446040" y="1375560"/>
            <a:ext cx="3488400" cy="2679840"/>
            <a:chOff x="446040" y="1375560"/>
            <a:chExt cx="3488400" cy="2679840"/>
          </a:xfrm>
        </p:grpSpPr>
        <p:pic>
          <p:nvPicPr>
            <p:cNvPr id="421" name="object 4" descr=""/>
            <p:cNvPicPr/>
            <p:nvPr/>
          </p:nvPicPr>
          <p:blipFill>
            <a:blip r:embed="rId1"/>
            <a:stretch/>
          </p:blipFill>
          <p:spPr>
            <a:xfrm>
              <a:off x="446040" y="1375560"/>
              <a:ext cx="3488400" cy="26798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422" name="object 5"/>
            <p:cNvSpPr/>
            <p:nvPr/>
          </p:nvSpPr>
          <p:spPr>
            <a:xfrm>
              <a:off x="499680" y="1424160"/>
              <a:ext cx="3374280" cy="2566080"/>
            </a:xfrm>
            <a:custGeom>
              <a:avLst/>
              <a:gdLst/>
              <a:ahLst/>
              <a:rect l="l" t="t" r="r" b="b"/>
              <a:pathLst>
                <a:path w="3377565" h="2569210">
                  <a:moveTo>
                    <a:pt x="3377399" y="2568899"/>
                  </a:moveTo>
                  <a:lnTo>
                    <a:pt x="0" y="2568899"/>
                  </a:lnTo>
                  <a:lnTo>
                    <a:pt x="0" y="0"/>
                  </a:lnTo>
                  <a:lnTo>
                    <a:pt x="3377399" y="0"/>
                  </a:lnTo>
                  <a:lnTo>
                    <a:pt x="3377399" y="25688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423" name="object 6"/>
          <p:cNvSpPr/>
          <p:nvPr/>
        </p:nvSpPr>
        <p:spPr>
          <a:xfrm>
            <a:off x="695520" y="1562040"/>
            <a:ext cx="2986200" cy="20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800" bIns="0" anchor="t">
            <a:spAutoFit/>
          </a:bodyPr>
          <a:p>
            <a:pPr marL="12600">
              <a:lnSpc>
                <a:spcPct val="101000"/>
              </a:lnSpc>
              <a:spcBef>
                <a:spcPts val="85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apiVersion:</a:t>
            </a:r>
            <a:r>
              <a:rPr b="1" lang="fr-FR" sz="1300" spc="-97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v1 </a:t>
            </a:r>
            <a:r>
              <a:rPr b="0" lang="fr-FR" sz="1300" spc="-76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1000"/>
              </a:lnSpc>
              <a:spcBef>
                <a:spcPts val="85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Pod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1000"/>
              </a:lnSpc>
              <a:spcBef>
                <a:spcPts val="85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metadata:</a:t>
            </a:r>
            <a:endParaRPr b="0" lang="fr-FR" sz="1300" spc="-1" strike="noStrike">
              <a:latin typeface="Arial"/>
            </a:endParaRPr>
          </a:p>
          <a:p>
            <a:pPr marL="20700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hazelcast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spec:</a:t>
            </a:r>
            <a:endParaRPr b="0" lang="fr-FR" sz="1300" spc="-1" strike="noStrike">
              <a:latin typeface="Arial"/>
            </a:endParaRPr>
          </a:p>
          <a:p>
            <a:pPr marL="20700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containers:</a:t>
            </a:r>
            <a:endParaRPr b="0" lang="fr-FR" sz="1300" spc="-1" strike="noStrike">
              <a:latin typeface="Arial"/>
            </a:endParaRPr>
          </a:p>
          <a:p>
            <a:pPr marL="21096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-</a:t>
            </a:r>
            <a:r>
              <a:rPr b="0" lang="fr-FR" sz="1300" spc="-100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image:</a:t>
            </a:r>
            <a:r>
              <a:rPr b="1" lang="fr-FR" sz="1300" spc="-5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hazelcast/hazelcast</a:t>
            </a:r>
            <a:endParaRPr b="0" lang="fr-FR" sz="1300" spc="-1" strike="noStrike">
              <a:latin typeface="Arial"/>
            </a:endParaRPr>
          </a:p>
          <a:p>
            <a:pPr marL="40140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hazelcast</a:t>
            </a:r>
            <a:endParaRPr b="0" lang="fr-FR" sz="1300" spc="-1" strike="noStrike">
              <a:latin typeface="Arial"/>
            </a:endParaRPr>
          </a:p>
          <a:p>
            <a:pPr marL="40140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ports:</a:t>
            </a:r>
            <a:endParaRPr b="0" lang="fr-FR" sz="1300" spc="-1" strike="noStrike">
              <a:latin typeface="Arial"/>
            </a:endParaRPr>
          </a:p>
          <a:p>
            <a:pPr marL="40896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-</a:t>
            </a:r>
            <a:r>
              <a:rPr b="0" lang="fr-FR" sz="1300" spc="-1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containerPort:</a:t>
            </a:r>
            <a:r>
              <a:rPr b="1" lang="fr-FR" sz="1300" spc="-4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5701</a:t>
            </a:r>
            <a:endParaRPr b="0" lang="fr-FR" sz="1300" spc="-1" strike="noStrike">
              <a:latin typeface="Arial"/>
            </a:endParaRPr>
          </a:p>
        </p:txBody>
      </p:sp>
      <p:grpSp>
        <p:nvGrpSpPr>
          <p:cNvPr id="424" name="object 8"/>
          <p:cNvGrpSpPr/>
          <p:nvPr/>
        </p:nvGrpSpPr>
        <p:grpSpPr>
          <a:xfrm>
            <a:off x="3984840" y="2854800"/>
            <a:ext cx="815760" cy="78840"/>
            <a:chOff x="3984840" y="2854800"/>
            <a:chExt cx="815760" cy="78840"/>
          </a:xfrm>
        </p:grpSpPr>
        <p:sp>
          <p:nvSpPr>
            <p:cNvPr id="425" name="object 9"/>
            <p:cNvSpPr/>
            <p:nvPr/>
          </p:nvSpPr>
          <p:spPr>
            <a:xfrm>
              <a:off x="4080600" y="2895840"/>
              <a:ext cx="720000" cy="360"/>
            </a:xfrm>
            <a:custGeom>
              <a:avLst/>
              <a:gdLst/>
              <a:ahLst/>
              <a:rect l="l" t="t" r="r" b="b"/>
              <a:pathLst>
                <a:path w="723264" h="0">
                  <a:moveTo>
                    <a:pt x="7229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426" name="object 10" descr=""/>
            <p:cNvPicPr/>
            <p:nvPr/>
          </p:nvPicPr>
          <p:blipFill>
            <a:blip r:embed="rId2"/>
            <a:stretch/>
          </p:blipFill>
          <p:spPr>
            <a:xfrm>
              <a:off x="3984840" y="2854800"/>
              <a:ext cx="102240" cy="788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427" name="object 11"/>
          <p:cNvSpPr/>
          <p:nvPr/>
        </p:nvSpPr>
        <p:spPr>
          <a:xfrm>
            <a:off x="4932000" y="2760840"/>
            <a:ext cx="172548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Container</a:t>
            </a:r>
            <a:r>
              <a:rPr b="0" lang="fr-FR" sz="1400" spc="-7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image</a:t>
            </a:r>
            <a:endParaRPr b="0" lang="fr-FR" sz="1400" spc="-1" strike="noStrike">
              <a:latin typeface="Arial"/>
            </a:endParaRPr>
          </a:p>
        </p:txBody>
      </p:sp>
      <p:grpSp>
        <p:nvGrpSpPr>
          <p:cNvPr id="428" name="object 12"/>
          <p:cNvGrpSpPr/>
          <p:nvPr/>
        </p:nvGrpSpPr>
        <p:grpSpPr>
          <a:xfrm>
            <a:off x="3391560" y="3454200"/>
            <a:ext cx="1409400" cy="78840"/>
            <a:chOff x="3391560" y="3454200"/>
            <a:chExt cx="1409400" cy="78840"/>
          </a:xfrm>
        </p:grpSpPr>
        <p:sp>
          <p:nvSpPr>
            <p:cNvPr id="429" name="object 13"/>
            <p:cNvSpPr/>
            <p:nvPr/>
          </p:nvSpPr>
          <p:spPr>
            <a:xfrm>
              <a:off x="3487680" y="3495240"/>
              <a:ext cx="1313280" cy="360"/>
            </a:xfrm>
            <a:custGeom>
              <a:avLst/>
              <a:gdLst/>
              <a:ahLst/>
              <a:rect l="l" t="t" r="r" b="b"/>
              <a:pathLst>
                <a:path w="1316354" h="0">
                  <a:moveTo>
                    <a:pt x="13160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430" name="object 14" descr=""/>
            <p:cNvPicPr/>
            <p:nvPr/>
          </p:nvPicPr>
          <p:blipFill>
            <a:blip r:embed="rId3"/>
            <a:stretch/>
          </p:blipFill>
          <p:spPr>
            <a:xfrm>
              <a:off x="3391560" y="3454200"/>
              <a:ext cx="102240" cy="788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431" name="object 15"/>
          <p:cNvSpPr/>
          <p:nvPr/>
        </p:nvSpPr>
        <p:spPr>
          <a:xfrm>
            <a:off x="4944600" y="3360600"/>
            <a:ext cx="261288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Exposed</a:t>
            </a:r>
            <a:r>
              <a:rPr b="0" lang="fr-FR" sz="1400" spc="-4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container</a:t>
            </a:r>
            <a:r>
              <a:rPr b="0" lang="fr-FR" sz="1400" spc="-4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port(s)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432" name="object 16"/>
          <p:cNvSpPr/>
          <p:nvPr/>
        </p:nvSpPr>
        <p:spPr>
          <a:xfrm>
            <a:off x="8701560" y="4908600"/>
            <a:ext cx="2019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3C8178A6-8395-43E6-8685-150D0B8A7FF3}" type="slidenum">
              <a:rPr b="0" lang="fr-FR" sz="800" spc="-7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88320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Image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5" strike="noStrike">
                <a:solidFill>
                  <a:srgbClr val="000000"/>
                </a:solidFill>
                <a:latin typeface="Tahoma"/>
              </a:rPr>
              <a:t>Retrieval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Downloads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container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6" strike="noStrike">
                <a:solidFill>
                  <a:srgbClr val="666666"/>
                </a:solidFill>
                <a:latin typeface="Lucida Sans Unicode"/>
              </a:rPr>
              <a:t>image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from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registry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upon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Pod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creation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434" name="object 3" descr=""/>
          <p:cNvPicPr/>
          <p:nvPr/>
        </p:nvPicPr>
        <p:blipFill>
          <a:blip r:embed="rId1"/>
          <a:stretch/>
        </p:blipFill>
        <p:spPr>
          <a:xfrm>
            <a:off x="2043720" y="1677960"/>
            <a:ext cx="4966200" cy="2954160"/>
          </a:xfrm>
          <a:prstGeom prst="rect">
            <a:avLst/>
          </a:prstGeom>
          <a:ln w="0">
            <a:noFill/>
          </a:ln>
        </p:spPr>
      </p:pic>
      <p:sp>
        <p:nvSpPr>
          <p:cNvPr id="435" name="object 4"/>
          <p:cNvSpPr/>
          <p:nvPr/>
        </p:nvSpPr>
        <p:spPr>
          <a:xfrm>
            <a:off x="8701560" y="4908600"/>
            <a:ext cx="2019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329E9146-972C-4436-B963-F4289CF8EDB2}" type="slidenum">
              <a:rPr b="0" lang="fr-FR" sz="800" spc="-7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52320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Listing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7" strike="noStrike">
                <a:solidFill>
                  <a:srgbClr val="000000"/>
                </a:solidFill>
                <a:latin typeface="Tahoma"/>
              </a:rPr>
              <a:t>Pods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Get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high-level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information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all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Pods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or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specific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one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437" name="object 3"/>
          <p:cNvGrpSpPr/>
          <p:nvPr/>
        </p:nvGrpSpPr>
        <p:grpSpPr>
          <a:xfrm>
            <a:off x="446040" y="1375560"/>
            <a:ext cx="5311440" cy="1972440"/>
            <a:chOff x="446040" y="1375560"/>
            <a:chExt cx="5311440" cy="1972440"/>
          </a:xfrm>
        </p:grpSpPr>
        <p:pic>
          <p:nvPicPr>
            <p:cNvPr id="438" name="object 4" descr=""/>
            <p:cNvPicPr/>
            <p:nvPr/>
          </p:nvPicPr>
          <p:blipFill>
            <a:blip r:embed="rId1"/>
            <a:stretch/>
          </p:blipFill>
          <p:spPr>
            <a:xfrm>
              <a:off x="446040" y="1375560"/>
              <a:ext cx="5311440" cy="19724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439" name="object 5"/>
            <p:cNvSpPr/>
            <p:nvPr/>
          </p:nvSpPr>
          <p:spPr>
            <a:xfrm>
              <a:off x="501120" y="1424160"/>
              <a:ext cx="5194080" cy="1858680"/>
            </a:xfrm>
            <a:custGeom>
              <a:avLst/>
              <a:gdLst/>
              <a:ahLst/>
              <a:rect l="l" t="t" r="r" b="b"/>
              <a:pathLst>
                <a:path w="5067935" h="1861820">
                  <a:moveTo>
                    <a:pt x="5067899" y="1861499"/>
                  </a:moveTo>
                  <a:lnTo>
                    <a:pt x="0" y="1861499"/>
                  </a:lnTo>
                  <a:lnTo>
                    <a:pt x="0" y="0"/>
                  </a:lnTo>
                  <a:lnTo>
                    <a:pt x="5067899" y="0"/>
                  </a:lnTo>
                  <a:lnTo>
                    <a:pt x="5067899" y="18614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aphicFrame>
        <p:nvGraphicFramePr>
          <p:cNvPr id="440" name="object 6"/>
          <p:cNvGraphicFramePr/>
          <p:nvPr/>
        </p:nvGraphicFramePr>
        <p:xfrm>
          <a:off x="501120" y="1603800"/>
          <a:ext cx="5180760" cy="619920"/>
        </p:xfrm>
        <a:graphic>
          <a:graphicData uri="http://schemas.openxmlformats.org/drawingml/2006/table">
            <a:tbl>
              <a:tblPr/>
              <a:tblGrid>
                <a:gridCol w="1240560"/>
                <a:gridCol w="1135080"/>
                <a:gridCol w="1041480"/>
                <a:gridCol w="1195200"/>
                <a:gridCol w="568800"/>
              </a:tblGrid>
              <a:tr h="205200">
                <a:tc>
                  <a:txBody>
                    <a:bodyPr anchor="t">
                      <a:noAutofit/>
                    </a:bodyPr>
                    <a:p>
                      <a:pPr marL="31680">
                        <a:lnSpc>
                          <a:spcPts val="1446"/>
                        </a:lnSpc>
                        <a:buNone/>
                      </a:pPr>
                      <a:r>
                        <a:rPr b="1" lang="fr-FR" sz="1400" spc="-1" strike="noStrike">
                          <a:solidFill>
                            <a:srgbClr val="000000"/>
                          </a:solidFill>
                          <a:latin typeface="Courier New"/>
                        </a:rPr>
                        <a:t>$</a:t>
                      </a:r>
                      <a:r>
                        <a:rPr b="1" lang="fr-FR" sz="1400" spc="-72" strike="noStrike">
                          <a:solidFill>
                            <a:srgbClr val="000000"/>
                          </a:solidFill>
                          <a:latin typeface="Courier New"/>
                        </a:rPr>
                        <a:t> </a:t>
                      </a:r>
                      <a:r>
                        <a:rPr b="1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kubectl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53280">
                        <a:lnSpc>
                          <a:spcPts val="1446"/>
                        </a:lnSpc>
                        <a:buNone/>
                      </a:pPr>
                      <a:r>
                        <a:rPr b="1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get</a:t>
                      </a:r>
                      <a:r>
                        <a:rPr b="1" lang="fr-FR" sz="1400" spc="-72" strike="noStrike">
                          <a:solidFill>
                            <a:srgbClr val="000000"/>
                          </a:solidFill>
                          <a:latin typeface="Courier New"/>
                        </a:rPr>
                        <a:t> </a:t>
                      </a:r>
                      <a:r>
                        <a:rPr b="1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pods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  <a:tc gridSpan="3"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  <a:tc hMerge="1"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209520">
                <a:tc>
                  <a:txBody>
                    <a:bodyPr anchor="t">
                      <a:noAutofit/>
                    </a:bodyPr>
                    <a:p>
                      <a:pPr marL="31680">
                        <a:lnSpc>
                          <a:spcPts val="1480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NAME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266760">
                        <a:lnSpc>
                          <a:spcPts val="1480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READY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106560">
                        <a:lnSpc>
                          <a:spcPts val="1480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STATUS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160200">
                        <a:lnSpc>
                          <a:spcPts val="1480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RESTARTS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>
                        <a:lnSpc>
                          <a:spcPts val="1480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AGE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</a:tr>
              <a:tr h="205560">
                <a:tc>
                  <a:txBody>
                    <a:bodyPr anchor="t">
                      <a:noAutofit/>
                    </a:bodyPr>
                    <a:p>
                      <a:pPr marL="31680">
                        <a:lnSpc>
                          <a:spcPts val="1480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hazelcast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266040">
                        <a:lnSpc>
                          <a:spcPts val="1480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1/1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106200">
                        <a:lnSpc>
                          <a:spcPts val="1480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Running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160200">
                        <a:lnSpc>
                          <a:spcPts val="1480"/>
                        </a:lnSpc>
                        <a:buNone/>
                      </a:pPr>
                      <a:r>
                        <a:rPr b="0" lang="fr-FR" sz="1400" spc="-1" strike="noStrike">
                          <a:solidFill>
                            <a:srgbClr val="000000"/>
                          </a:solidFill>
                          <a:latin typeface="Courier New"/>
                        </a:rPr>
                        <a:t>0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>
                        <a:lnSpc>
                          <a:spcPts val="1480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17s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</a:tr>
            </a:tbl>
          </a:graphicData>
        </a:graphic>
      </p:graphicFrame>
      <p:sp>
        <p:nvSpPr>
          <p:cNvPr id="441" name="object 7"/>
          <p:cNvSpPr/>
          <p:nvPr/>
        </p:nvSpPr>
        <p:spPr>
          <a:xfrm>
            <a:off x="2639880" y="2412720"/>
            <a:ext cx="1095840" cy="21312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62280">
              <a:lnSpc>
                <a:spcPts val="1681"/>
              </a:lnSpc>
              <a:buNone/>
            </a:pP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hazelcast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442" name="object 8"/>
          <p:cNvSpPr/>
          <p:nvPr/>
        </p:nvSpPr>
        <p:spPr>
          <a:xfrm>
            <a:off x="612000" y="2399760"/>
            <a:ext cx="3345480" cy="64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ts val="1664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get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pods</a:t>
            </a:r>
            <a:endParaRPr b="0" lang="fr-FR" sz="1400" spc="-1" strike="noStrike">
              <a:latin typeface="Arial"/>
            </a:endParaRPr>
          </a:p>
          <a:p>
            <a:pPr>
              <a:lnSpc>
                <a:spcPts val="1650"/>
              </a:lnSpc>
              <a:buNone/>
              <a:tabLst>
                <a:tab algn="l" pos="1279440"/>
                <a:tab algn="l" pos="213300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  READY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   STATUS</a:t>
            </a:r>
            <a:endParaRPr b="0" lang="fr-FR" sz="1400" spc="-1" strike="noStrike">
              <a:latin typeface="Arial"/>
            </a:endParaRPr>
          </a:p>
          <a:p>
            <a:pPr>
              <a:lnSpc>
                <a:spcPts val="1664"/>
              </a:lnSpc>
              <a:buNone/>
              <a:tabLst>
                <a:tab algn="l" pos="1279440"/>
                <a:tab algn="l" pos="213300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hazelcas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t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 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1/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1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  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Running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443" name="object 9"/>
          <p:cNvSpPr/>
          <p:nvPr/>
        </p:nvSpPr>
        <p:spPr>
          <a:xfrm>
            <a:off x="4127760" y="2609280"/>
            <a:ext cx="150300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ts val="1664"/>
              </a:lnSpc>
              <a:spcBef>
                <a:spcPts val="99"/>
              </a:spcBef>
              <a:buNone/>
              <a:tabLst>
                <a:tab algn="l" pos="117288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RESTART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S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AGE</a:t>
            </a:r>
            <a:endParaRPr b="0" lang="fr-FR" sz="1400" spc="-1" strike="noStrike">
              <a:latin typeface="Arial"/>
            </a:endParaRPr>
          </a:p>
          <a:p>
            <a:pPr>
              <a:lnSpc>
                <a:spcPts val="1664"/>
              </a:lnSpc>
              <a:buNone/>
              <a:tabLst>
                <a:tab algn="l" pos="117288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0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17s</a:t>
            </a:r>
            <a:endParaRPr b="0" lang="fr-FR" sz="1400" spc="-1" strike="noStrike">
              <a:latin typeface="Arial"/>
            </a:endParaRPr>
          </a:p>
        </p:txBody>
      </p:sp>
      <p:grpSp>
        <p:nvGrpSpPr>
          <p:cNvPr id="444" name="object 10"/>
          <p:cNvGrpSpPr/>
          <p:nvPr/>
        </p:nvGrpSpPr>
        <p:grpSpPr>
          <a:xfrm>
            <a:off x="3849120" y="2505240"/>
            <a:ext cx="2081520" cy="78840"/>
            <a:chOff x="3849120" y="2505240"/>
            <a:chExt cx="2081520" cy="78840"/>
          </a:xfrm>
        </p:grpSpPr>
        <p:sp>
          <p:nvSpPr>
            <p:cNvPr id="445" name="object 11"/>
            <p:cNvSpPr/>
            <p:nvPr/>
          </p:nvSpPr>
          <p:spPr>
            <a:xfrm>
              <a:off x="3944880" y="2546280"/>
              <a:ext cx="1985760" cy="360"/>
            </a:xfrm>
            <a:custGeom>
              <a:avLst/>
              <a:gdLst/>
              <a:ahLst/>
              <a:rect l="l" t="t" r="r" b="b"/>
              <a:pathLst>
                <a:path w="1988820" h="0">
                  <a:moveTo>
                    <a:pt x="19883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446" name="object 12" descr=""/>
            <p:cNvPicPr/>
            <p:nvPr/>
          </p:nvPicPr>
          <p:blipFill>
            <a:blip r:embed="rId2"/>
            <a:stretch/>
          </p:blipFill>
          <p:spPr>
            <a:xfrm>
              <a:off x="3849120" y="2505240"/>
              <a:ext cx="102240" cy="788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447" name="object 13"/>
          <p:cNvSpPr/>
          <p:nvPr/>
        </p:nvSpPr>
        <p:spPr>
          <a:xfrm>
            <a:off x="6072120" y="2404080"/>
            <a:ext cx="20253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Specific</a:t>
            </a:r>
            <a:r>
              <a:rPr b="0" lang="fr-FR" sz="1400" spc="-4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Pod</a:t>
            </a:r>
            <a:r>
              <a:rPr b="0" lang="fr-FR" sz="1400" spc="-4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name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448" name="object 14"/>
          <p:cNvSpPr/>
          <p:nvPr/>
        </p:nvSpPr>
        <p:spPr>
          <a:xfrm>
            <a:off x="8701560" y="4908600"/>
            <a:ext cx="2019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78B53CD1-EEB1-42BF-83D8-28D5390F3A7A}" type="slidenum">
              <a:rPr b="0" lang="fr-FR" sz="800" spc="-7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4543200" cy="1276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Pod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97" strike="noStrike">
                <a:solidFill>
                  <a:srgbClr val="000000"/>
                </a:solidFill>
                <a:latin typeface="Tahoma"/>
              </a:rPr>
              <a:t>Life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72" strike="noStrike">
                <a:solidFill>
                  <a:srgbClr val="000000"/>
                </a:solidFill>
                <a:latin typeface="Tahoma"/>
              </a:rPr>
              <a:t>Cycle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6" strike="noStrike">
                <a:solidFill>
                  <a:srgbClr val="000000"/>
                </a:solidFill>
                <a:latin typeface="Tahoma"/>
              </a:rPr>
              <a:t>Phases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Indicates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operational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status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Pod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450" name="object 3" descr=""/>
          <p:cNvPicPr/>
          <p:nvPr/>
        </p:nvPicPr>
        <p:blipFill>
          <a:blip r:embed="rId1"/>
          <a:stretch/>
        </p:blipFill>
        <p:spPr>
          <a:xfrm>
            <a:off x="2164680" y="1680120"/>
            <a:ext cx="4811760" cy="2861640"/>
          </a:xfrm>
          <a:prstGeom prst="rect">
            <a:avLst/>
          </a:prstGeom>
          <a:ln w="0">
            <a:noFill/>
          </a:ln>
        </p:spPr>
      </p:pic>
      <p:sp>
        <p:nvSpPr>
          <p:cNvPr id="451" name="object 4"/>
          <p:cNvSpPr/>
          <p:nvPr/>
        </p:nvSpPr>
        <p:spPr>
          <a:xfrm>
            <a:off x="8701560" y="4908600"/>
            <a:ext cx="2019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31881A44-CE36-4DCB-8D65-27DBCF07FB81}" type="slidenum">
              <a:rPr b="0" lang="fr-FR" sz="800" spc="-7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08320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Rendering</a:t>
            </a:r>
            <a:r>
              <a:rPr b="1" lang="fr-FR" sz="2400" spc="-16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Pod</a:t>
            </a:r>
            <a:r>
              <a:rPr b="1" lang="fr-FR" sz="2400" spc="-16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Details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Shows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Pod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configuration,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events,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status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453" name="object 3"/>
          <p:cNvGrpSpPr/>
          <p:nvPr/>
        </p:nvGrpSpPr>
        <p:grpSpPr>
          <a:xfrm>
            <a:off x="446040" y="1375560"/>
            <a:ext cx="4016880" cy="2582640"/>
            <a:chOff x="446040" y="1375560"/>
            <a:chExt cx="4016880" cy="2582640"/>
          </a:xfrm>
        </p:grpSpPr>
        <p:pic>
          <p:nvPicPr>
            <p:cNvPr id="454" name="object 4" descr=""/>
            <p:cNvPicPr/>
            <p:nvPr/>
          </p:nvPicPr>
          <p:blipFill>
            <a:blip r:embed="rId1"/>
            <a:stretch/>
          </p:blipFill>
          <p:spPr>
            <a:xfrm>
              <a:off x="446040" y="1375560"/>
              <a:ext cx="4016880" cy="25826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455" name="object 5"/>
            <p:cNvSpPr/>
            <p:nvPr/>
          </p:nvSpPr>
          <p:spPr>
            <a:xfrm>
              <a:off x="499680" y="1424160"/>
              <a:ext cx="3902760" cy="2468160"/>
            </a:xfrm>
            <a:custGeom>
              <a:avLst/>
              <a:gdLst/>
              <a:ahLst/>
              <a:rect l="l" t="t" r="r" b="b"/>
              <a:pathLst>
                <a:path w="3905885" h="2471420">
                  <a:moveTo>
                    <a:pt x="3905699" y="2471399"/>
                  </a:moveTo>
                  <a:lnTo>
                    <a:pt x="0" y="2471399"/>
                  </a:lnTo>
                  <a:lnTo>
                    <a:pt x="0" y="0"/>
                  </a:lnTo>
                  <a:lnTo>
                    <a:pt x="3905699" y="0"/>
                  </a:lnTo>
                  <a:lnTo>
                    <a:pt x="3905699" y="24713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456" name="object 6"/>
          <p:cNvSpPr/>
          <p:nvPr/>
        </p:nvSpPr>
        <p:spPr>
          <a:xfrm>
            <a:off x="663120" y="1561320"/>
            <a:ext cx="35427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describe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pods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hazelcast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457" name="object 7"/>
          <p:cNvSpPr/>
          <p:nvPr/>
        </p:nvSpPr>
        <p:spPr>
          <a:xfrm>
            <a:off x="2796480" y="1771200"/>
            <a:ext cx="98280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2600">
              <a:lnSpc>
                <a:spcPts val="1650"/>
              </a:lnSpc>
              <a:spcBef>
                <a:spcPts val="181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hazelcast  default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458" name="object 8"/>
          <p:cNvSpPr/>
          <p:nvPr/>
        </p:nvSpPr>
        <p:spPr>
          <a:xfrm>
            <a:off x="2796480" y="2399760"/>
            <a:ext cx="7689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Running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459" name="object 9"/>
          <p:cNvSpPr/>
          <p:nvPr/>
        </p:nvSpPr>
        <p:spPr>
          <a:xfrm>
            <a:off x="2731680" y="2621160"/>
            <a:ext cx="1107360" cy="21348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720" bIns="0" anchor="t">
            <a:spAutoFit/>
          </a:bodyPr>
          <a:p>
            <a:pPr marL="77400">
              <a:lnSpc>
                <a:spcPct val="100000"/>
              </a:lnSpc>
              <a:spcBef>
                <a:spcPts val="6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10.1.0.41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460" name="object 10"/>
          <p:cNvSpPr/>
          <p:nvPr/>
        </p:nvSpPr>
        <p:spPr>
          <a:xfrm>
            <a:off x="663120" y="1771200"/>
            <a:ext cx="1195560" cy="190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2600">
              <a:lnSpc>
                <a:spcPts val="1650"/>
              </a:lnSpc>
              <a:spcBef>
                <a:spcPts val="181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Name: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Namespace: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585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50"/>
              </a:lnSpc>
              <a:spcBef>
                <a:spcPts val="65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Status:  IP:</a:t>
            </a:r>
            <a:endParaRPr b="0" lang="fr-FR" sz="1400" spc="-1" strike="noStrike">
              <a:latin typeface="Arial"/>
            </a:endParaRPr>
          </a:p>
          <a:p>
            <a:pPr marL="12600" algn="ctr">
              <a:lnSpc>
                <a:spcPts val="1585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Containers:</a:t>
            </a:r>
            <a:endParaRPr b="0" lang="fr-FR" sz="1400" spc="-1" strike="noStrike">
              <a:latin typeface="Arial"/>
            </a:endParaRPr>
          </a:p>
          <a:p>
            <a:pPr marL="12600" algn="ctr">
              <a:lnSpc>
                <a:spcPts val="1650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400" spc="-1" strike="noStrike">
              <a:latin typeface="Arial"/>
            </a:endParaRPr>
          </a:p>
          <a:p>
            <a:pPr marL="12600" algn="ctr">
              <a:lnSpc>
                <a:spcPts val="1650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Events:</a:t>
            </a:r>
            <a:endParaRPr b="0" lang="fr-FR" sz="1400" spc="-1" strike="noStrike">
              <a:latin typeface="Arial"/>
            </a:endParaRPr>
          </a:p>
          <a:p>
            <a:pPr marL="12600" algn="ctr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400" spc="-1" strike="noStrike">
              <a:latin typeface="Arial"/>
            </a:endParaRPr>
          </a:p>
        </p:txBody>
      </p:sp>
      <p:pic>
        <p:nvPicPr>
          <p:cNvPr id="461" name="object 11" descr=""/>
          <p:cNvPicPr/>
          <p:nvPr/>
        </p:nvPicPr>
        <p:blipFill>
          <a:blip r:embed="rId2"/>
          <a:stretch/>
        </p:blipFill>
        <p:spPr>
          <a:xfrm>
            <a:off x="4030200" y="2722320"/>
            <a:ext cx="102240" cy="78840"/>
          </a:xfrm>
          <a:prstGeom prst="rect">
            <a:avLst/>
          </a:prstGeom>
          <a:ln w="0">
            <a:noFill/>
          </a:ln>
        </p:spPr>
      </p:pic>
      <p:sp>
        <p:nvSpPr>
          <p:cNvPr id="462" name="object 12"/>
          <p:cNvSpPr/>
          <p:nvPr/>
        </p:nvSpPr>
        <p:spPr>
          <a:xfrm>
            <a:off x="4509360" y="2549520"/>
            <a:ext cx="394812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  <a:tabLst>
                <a:tab algn="l" pos="1273320"/>
              </a:tabLst>
            </a:pPr>
            <a:r>
              <a:rPr b="0" lang="fr-FR" sz="1400" spc="-12" strike="noStrike">
                <a:solidFill>
                  <a:srgbClr val="000000"/>
                </a:solidFill>
                <a:latin typeface="Arial MT"/>
                <a:ea typeface="DejaVu Sans"/>
              </a:rPr>
              <a:t>Virtual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IP</a:t>
            </a:r>
            <a:r>
              <a:rPr b="0" lang="fr-FR" sz="1400" spc="-4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address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assigned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to Pod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to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communicate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with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it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463" name="object 14"/>
          <p:cNvSpPr/>
          <p:nvPr/>
        </p:nvSpPr>
        <p:spPr>
          <a:xfrm>
            <a:off x="8701560" y="4908600"/>
            <a:ext cx="2019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6C45724B-EC4A-4E6E-B79F-D8C3B08ABDAB}" type="slidenum">
              <a:rPr b="0" lang="fr-FR" sz="800" spc="-7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78320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35" strike="noStrike">
                <a:solidFill>
                  <a:srgbClr val="000000"/>
                </a:solidFill>
                <a:latin typeface="Tahoma"/>
              </a:rPr>
              <a:t>Accessing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Logs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Renders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logs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5" strike="noStrike">
                <a:solidFill>
                  <a:srgbClr val="666666"/>
                </a:solidFill>
                <a:latin typeface="Lucida Sans Unicode"/>
              </a:rPr>
              <a:t>produced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by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application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process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running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container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465" name="object 4"/>
          <p:cNvSpPr/>
          <p:nvPr/>
        </p:nvSpPr>
        <p:spPr>
          <a:xfrm>
            <a:off x="499680" y="1424160"/>
            <a:ext cx="7187040" cy="99108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49760" bIns="0" anchor="t">
            <a:spAutoFit/>
          </a:bodyPr>
          <a:p>
            <a:pPr marL="176040">
              <a:lnSpc>
                <a:spcPts val="1664"/>
              </a:lnSpc>
              <a:spcBef>
                <a:spcPts val="117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logs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hazelcast</a:t>
            </a:r>
            <a:endParaRPr b="0" lang="fr-FR" sz="1400" spc="-1" strike="noStrike">
              <a:latin typeface="Arial"/>
            </a:endParaRPr>
          </a:p>
          <a:p>
            <a:pPr marL="176040">
              <a:lnSpc>
                <a:spcPts val="1650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400" spc="-1" strike="noStrike">
              <a:latin typeface="Arial"/>
            </a:endParaRPr>
          </a:p>
          <a:p>
            <a:pPr marL="176040">
              <a:lnSpc>
                <a:spcPts val="1650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May</a:t>
            </a:r>
            <a:r>
              <a:rPr b="0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25,</a:t>
            </a:r>
            <a:r>
              <a:rPr b="0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2020</a:t>
            </a:r>
            <a:r>
              <a:rPr b="0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3:36:26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PM</a:t>
            </a:r>
            <a:r>
              <a:rPr b="0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com.hazelcast.core.LifecycleService</a:t>
            </a:r>
            <a:endParaRPr b="0" lang="fr-FR" sz="1400" spc="-1" strike="noStrike">
              <a:latin typeface="Arial"/>
            </a:endParaRPr>
          </a:p>
          <a:p>
            <a:pPr marL="17604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INFO:</a:t>
            </a:r>
            <a:r>
              <a:rPr b="0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[10.1.0.46]:5701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[dev]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[4.0.1]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[10.1.0.46]:5701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is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STARTED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466" name="object 6"/>
          <p:cNvSpPr/>
          <p:nvPr/>
        </p:nvSpPr>
        <p:spPr>
          <a:xfrm>
            <a:off x="8701560" y="4908600"/>
            <a:ext cx="2019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5D4ACD53-3891-4603-8369-10A5E86C060F}" type="slidenum">
              <a:rPr b="0" lang="fr-FR" sz="800" spc="-7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467" name="object 5"/>
          <p:cNvSpPr/>
          <p:nvPr/>
        </p:nvSpPr>
        <p:spPr>
          <a:xfrm>
            <a:off x="600120" y="3112920"/>
            <a:ext cx="8037360" cy="14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55" strike="noStrike">
                <a:solidFill>
                  <a:srgbClr val="000000"/>
                </a:solidFill>
                <a:latin typeface="Arial MT"/>
                <a:ea typeface="DejaVu Sans"/>
              </a:rPr>
              <a:t>You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stream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logs with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command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line option</a:t>
            </a:r>
            <a:r>
              <a:rPr b="0" lang="fr-FR" sz="1600" spc="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5" strike="noStrike">
                <a:solidFill>
                  <a:srgbClr val="000000"/>
                </a:solidFill>
                <a:latin typeface="Courier New"/>
                <a:ea typeface="DejaVu Sans"/>
              </a:rPr>
              <a:t>-f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.</a:t>
            </a:r>
            <a:r>
              <a:rPr b="0" lang="fr-FR" sz="1600" spc="-4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This option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is helpful if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you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want to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see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logs in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real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time.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1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55" strike="noStrike">
                <a:solidFill>
                  <a:srgbClr val="000000"/>
                </a:solidFill>
                <a:latin typeface="Arial MT"/>
                <a:ea typeface="DejaVu Sans"/>
              </a:rPr>
              <a:t>You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still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get back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 the logs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 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previous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container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by adding the</a:t>
            </a:r>
            <a:r>
              <a:rPr b="0" lang="fr-FR" sz="1600" spc="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-p</a:t>
            </a:r>
            <a:endParaRPr b="0" lang="fr-FR" sz="1600" spc="-1" strike="noStrike">
              <a:latin typeface="Arial"/>
            </a:endParaRPr>
          </a:p>
          <a:p>
            <a:pPr marL="363960">
              <a:lnSpc>
                <a:spcPct val="100000"/>
              </a:lnSpc>
              <a:spcBef>
                <a:spcPts val="255"/>
              </a:spcBef>
              <a:buNone/>
              <a:tabLst>
                <a:tab algn="l" pos="363960"/>
                <a:tab algn="l" pos="36432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command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line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option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case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container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crashes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or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restarted.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50320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5" strike="noStrike">
                <a:solidFill>
                  <a:srgbClr val="000000"/>
                </a:solidFill>
                <a:latin typeface="Tahoma"/>
              </a:rPr>
              <a:t>Executing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94" strike="noStrike">
                <a:solidFill>
                  <a:srgbClr val="000000"/>
                </a:solidFill>
                <a:latin typeface="Tahoma"/>
              </a:rPr>
              <a:t>Command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in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Interactive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exploration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container,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or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seeing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direct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effect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9" strike="noStrike">
                <a:solidFill>
                  <a:srgbClr val="666666"/>
                </a:solidFill>
                <a:latin typeface="Lucida Sans Unicode"/>
              </a:rPr>
              <a:t>command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469" name="object 4"/>
          <p:cNvSpPr/>
          <p:nvPr/>
        </p:nvSpPr>
        <p:spPr>
          <a:xfrm>
            <a:off x="499680" y="1424160"/>
            <a:ext cx="7187040" cy="142164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49760" bIns="0" anchor="t">
            <a:spAutoFit/>
          </a:bodyPr>
          <a:p>
            <a:pPr marL="176040">
              <a:lnSpc>
                <a:spcPts val="1664"/>
              </a:lnSpc>
              <a:spcBef>
                <a:spcPts val="117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exec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-it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hazelcast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/bin/sh</a:t>
            </a:r>
            <a:endParaRPr b="0" lang="fr-FR" sz="1400" spc="-1" strike="noStrike">
              <a:latin typeface="Arial"/>
            </a:endParaRPr>
          </a:p>
          <a:p>
            <a:pPr marL="176040">
              <a:lnSpc>
                <a:spcPts val="1664"/>
              </a:lnSpc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#</a:t>
            </a:r>
            <a:r>
              <a:rPr b="0" lang="fr-FR" sz="14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400" spc="-1" strike="noStrike">
              <a:latin typeface="Arial"/>
            </a:endParaRPr>
          </a:p>
          <a:p>
            <a:pPr marL="176040">
              <a:lnSpc>
                <a:spcPct val="100000"/>
              </a:lnSpc>
              <a:spcBef>
                <a:spcPts val="34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176040">
              <a:lnSpc>
                <a:spcPts val="1664"/>
              </a:lnSpc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exec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hazelcast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env</a:t>
            </a:r>
            <a:endParaRPr b="0" lang="fr-FR" sz="1400" spc="-1" strike="noStrike">
              <a:latin typeface="Arial"/>
            </a:endParaRPr>
          </a:p>
          <a:p>
            <a:pPr marL="176040">
              <a:lnSpc>
                <a:spcPts val="1650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400" spc="-1" strike="noStrike">
              <a:latin typeface="Arial"/>
            </a:endParaRPr>
          </a:p>
          <a:p>
            <a:pPr marL="17604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DNS_DOMAIN=cluster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470" name="object 6"/>
          <p:cNvSpPr/>
          <p:nvPr/>
        </p:nvSpPr>
        <p:spPr>
          <a:xfrm>
            <a:off x="8701560" y="4908600"/>
            <a:ext cx="2019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44273E08-7A28-435E-AA12-15E7EF9A5F90}" type="slidenum">
              <a:rPr b="0" lang="fr-FR" sz="800" spc="-7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471" name="object 5"/>
          <p:cNvSpPr/>
          <p:nvPr/>
        </p:nvSpPr>
        <p:spPr>
          <a:xfrm>
            <a:off x="600120" y="3341520"/>
            <a:ext cx="8217360" cy="14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command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lin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optio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n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-i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  <a:ea typeface="DejaVu Sans"/>
              </a:rPr>
              <a:t>t</a:t>
            </a:r>
            <a:r>
              <a:rPr b="0" lang="fr-FR" sz="1600" spc="-56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open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a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n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interactiv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shell.</a:t>
            </a:r>
            <a:r>
              <a:rPr b="0" lang="fr-FR" sz="16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Thi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i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usefu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l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i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f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you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want  to inspect 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configuration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your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application or debug 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current state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your 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application.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1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direct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execution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command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container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simply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append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</a:t>
            </a:r>
            <a:r>
              <a:rPr b="0" lang="fr-FR" sz="1600" spc="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5" strike="noStrike">
                <a:solidFill>
                  <a:srgbClr val="000000"/>
                </a:solidFill>
                <a:latin typeface="Courier New"/>
                <a:ea typeface="DejaVu Sans"/>
              </a:rPr>
              <a:t>--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80320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Declaring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5" strike="noStrike">
                <a:solidFill>
                  <a:srgbClr val="000000"/>
                </a:solidFill>
                <a:latin typeface="Tahoma"/>
              </a:rPr>
              <a:t>Environment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9" strike="noStrike">
                <a:solidFill>
                  <a:srgbClr val="000000"/>
                </a:solidFill>
                <a:latin typeface="Tahoma"/>
              </a:rPr>
              <a:t>Variables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Define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zero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6" strike="noStrike">
                <a:solidFill>
                  <a:srgbClr val="666666"/>
                </a:solidFill>
                <a:latin typeface="Lucida Sans Unicode"/>
              </a:rPr>
              <a:t>many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key-value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pairs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473" name="object 3"/>
          <p:cNvGrpSpPr/>
          <p:nvPr/>
        </p:nvGrpSpPr>
        <p:grpSpPr>
          <a:xfrm>
            <a:off x="446040" y="1375560"/>
            <a:ext cx="4276440" cy="2809800"/>
            <a:chOff x="446040" y="1375560"/>
            <a:chExt cx="4276440" cy="2809800"/>
          </a:xfrm>
        </p:grpSpPr>
        <p:pic>
          <p:nvPicPr>
            <p:cNvPr id="474" name="object 4" descr=""/>
            <p:cNvPicPr/>
            <p:nvPr/>
          </p:nvPicPr>
          <p:blipFill>
            <a:blip r:embed="rId1"/>
            <a:stretch/>
          </p:blipFill>
          <p:spPr>
            <a:xfrm>
              <a:off x="446040" y="1375560"/>
              <a:ext cx="4276440" cy="28098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475" name="object 5"/>
            <p:cNvSpPr/>
            <p:nvPr/>
          </p:nvSpPr>
          <p:spPr>
            <a:xfrm>
              <a:off x="499680" y="1424160"/>
              <a:ext cx="4162320" cy="2696040"/>
            </a:xfrm>
            <a:custGeom>
              <a:avLst/>
              <a:gdLst/>
              <a:ahLst/>
              <a:rect l="l" t="t" r="r" b="b"/>
              <a:pathLst>
                <a:path w="4165600" h="2699385">
                  <a:moveTo>
                    <a:pt x="4165499" y="2698799"/>
                  </a:moveTo>
                  <a:lnTo>
                    <a:pt x="0" y="2698799"/>
                  </a:lnTo>
                  <a:lnTo>
                    <a:pt x="0" y="0"/>
                  </a:lnTo>
                  <a:lnTo>
                    <a:pt x="4165499" y="0"/>
                  </a:lnTo>
                  <a:lnTo>
                    <a:pt x="4165499" y="26987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476" name="object 6"/>
          <p:cNvSpPr/>
          <p:nvPr/>
        </p:nvSpPr>
        <p:spPr>
          <a:xfrm>
            <a:off x="695520" y="1562400"/>
            <a:ext cx="3771720" cy="150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0880" bIns="0" anchor="t">
            <a:spAutoFit/>
          </a:bodyPr>
          <a:p>
            <a:pPr marL="12600">
              <a:lnSpc>
                <a:spcPts val="1420"/>
              </a:lnSpc>
              <a:spcBef>
                <a:spcPts val="164"/>
              </a:spcBef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apiVersion:</a:t>
            </a:r>
            <a:r>
              <a:rPr b="1" lang="fr-FR" sz="1200" spc="-9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v1 </a:t>
            </a:r>
            <a:r>
              <a:rPr b="0" lang="fr-FR" sz="1200" spc="-707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20"/>
              </a:lnSpc>
              <a:spcBef>
                <a:spcPts val="164"/>
              </a:spcBef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Pod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20"/>
              </a:lnSpc>
              <a:spcBef>
                <a:spcPts val="164"/>
              </a:spcBef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metadata:</a:t>
            </a:r>
            <a:endParaRPr b="0" lang="fr-FR" sz="1200" spc="-1" strike="noStrike">
              <a:latin typeface="Arial"/>
            </a:endParaRPr>
          </a:p>
          <a:p>
            <a:pPr marL="195480">
              <a:lnSpc>
                <a:spcPts val="1386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200" spc="-6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spring-boot-app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26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spec:</a:t>
            </a:r>
            <a:endParaRPr b="0" lang="fr-FR" sz="1200" spc="-1" strike="noStrike">
              <a:latin typeface="Arial"/>
            </a:endParaRPr>
          </a:p>
          <a:p>
            <a:pPr marL="195480">
              <a:lnSpc>
                <a:spcPts val="1426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containers:</a:t>
            </a:r>
            <a:endParaRPr b="0" lang="fr-FR" sz="1200" spc="-1" strike="noStrike">
              <a:latin typeface="Arial"/>
            </a:endParaRPr>
          </a:p>
          <a:p>
            <a:pPr marL="195480">
              <a:lnSpc>
                <a:spcPts val="1426"/>
              </a:lnSpc>
              <a:buNone/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-</a:t>
            </a:r>
            <a:r>
              <a:rPr b="0" lang="fr-FR" sz="12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image:</a:t>
            </a:r>
            <a:r>
              <a:rPr b="1" lang="fr-FR" sz="1200" spc="-41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bhamdi/spring-boot-app:1.5.3</a:t>
            </a:r>
            <a:endParaRPr b="0" lang="fr-FR" sz="1200" spc="-1" strike="noStrike">
              <a:latin typeface="Arial"/>
            </a:endParaRPr>
          </a:p>
          <a:p>
            <a:pPr marL="378360">
              <a:lnSpc>
                <a:spcPts val="1434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200" spc="-6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spring-boot-app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477" name="object 7"/>
          <p:cNvSpPr/>
          <p:nvPr/>
        </p:nvSpPr>
        <p:spPr>
          <a:xfrm>
            <a:off x="1061280" y="3010320"/>
            <a:ext cx="662760" cy="3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429"/>
              </a:lnSpc>
              <a:spcBef>
                <a:spcPts val="99"/>
              </a:spcBef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env: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34"/>
              </a:lnSpc>
              <a:buNone/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-</a:t>
            </a:r>
            <a:r>
              <a:rPr b="0" lang="fr-FR" sz="1200" spc="-8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478" name="object 8"/>
          <p:cNvSpPr/>
          <p:nvPr/>
        </p:nvSpPr>
        <p:spPr>
          <a:xfrm>
            <a:off x="1762200" y="3168720"/>
            <a:ext cx="2144160" cy="21708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34920" bIns="0" anchor="t">
            <a:spAutoFit/>
          </a:bodyPr>
          <a:p>
            <a:pPr marL="43200">
              <a:lnSpc>
                <a:spcPct val="100000"/>
              </a:lnSpc>
              <a:spcBef>
                <a:spcPts val="275"/>
              </a:spcBef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SPRING_PROFILES_ACTIVE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479" name="object 9"/>
          <p:cNvSpPr/>
          <p:nvPr/>
        </p:nvSpPr>
        <p:spPr>
          <a:xfrm>
            <a:off x="1244160" y="3372120"/>
            <a:ext cx="102852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value:</a:t>
            </a:r>
            <a:r>
              <a:rPr b="1" lang="fr-FR" sz="1200" spc="-80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prod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480" name="object 10"/>
          <p:cNvSpPr/>
          <p:nvPr/>
        </p:nvSpPr>
        <p:spPr>
          <a:xfrm>
            <a:off x="1061280" y="3553200"/>
            <a:ext cx="66276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-</a:t>
            </a:r>
            <a:r>
              <a:rPr b="0" lang="fr-FR" sz="1200" spc="-8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481" name="object 11"/>
          <p:cNvSpPr/>
          <p:nvPr/>
        </p:nvSpPr>
        <p:spPr>
          <a:xfrm>
            <a:off x="1762200" y="3556800"/>
            <a:ext cx="762480" cy="19116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9000" bIns="0" anchor="t">
            <a:spAutoFit/>
          </a:bodyPr>
          <a:p>
            <a:pPr marL="43200">
              <a:lnSpc>
                <a:spcPct val="100000"/>
              </a:lnSpc>
              <a:spcBef>
                <a:spcPts val="71"/>
              </a:spcBef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VERSION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482" name="object 12"/>
          <p:cNvSpPr/>
          <p:nvPr/>
        </p:nvSpPr>
        <p:spPr>
          <a:xfrm>
            <a:off x="1244160" y="3734280"/>
            <a:ext cx="130284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value:</a:t>
            </a:r>
            <a:r>
              <a:rPr b="1" lang="fr-FR" sz="1200" spc="-80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d15e35"/>
                </a:solidFill>
                <a:latin typeface="Courier New"/>
                <a:ea typeface="DejaVu Sans"/>
              </a:rPr>
              <a:t>'1.5.3'</a:t>
            </a:r>
            <a:endParaRPr b="0" lang="fr-FR" sz="1200" spc="-1" strike="noStrike">
              <a:latin typeface="Arial"/>
            </a:endParaRPr>
          </a:p>
        </p:txBody>
      </p:sp>
      <p:grpSp>
        <p:nvGrpSpPr>
          <p:cNvPr id="483" name="object 13"/>
          <p:cNvGrpSpPr/>
          <p:nvPr/>
        </p:nvGrpSpPr>
        <p:grpSpPr>
          <a:xfrm>
            <a:off x="2634840" y="3260880"/>
            <a:ext cx="3409200" cy="452520"/>
            <a:chOff x="2634840" y="3260880"/>
            <a:chExt cx="3409200" cy="452520"/>
          </a:xfrm>
        </p:grpSpPr>
        <p:sp>
          <p:nvSpPr>
            <p:cNvPr id="484" name="object 14"/>
            <p:cNvSpPr/>
            <p:nvPr/>
          </p:nvSpPr>
          <p:spPr>
            <a:xfrm>
              <a:off x="4161960" y="3301920"/>
              <a:ext cx="1216080" cy="360"/>
            </a:xfrm>
            <a:custGeom>
              <a:avLst/>
              <a:gdLst/>
              <a:ahLst/>
              <a:rect l="l" t="t" r="r" b="b"/>
              <a:pathLst>
                <a:path w="1219200" h="0">
                  <a:moveTo>
                    <a:pt x="12185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485" name="object 15" descr=""/>
            <p:cNvPicPr/>
            <p:nvPr/>
          </p:nvPicPr>
          <p:blipFill>
            <a:blip r:embed="rId2"/>
            <a:stretch/>
          </p:blipFill>
          <p:spPr>
            <a:xfrm>
              <a:off x="4066200" y="3260880"/>
              <a:ext cx="102240" cy="788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486" name="object 16"/>
            <p:cNvSpPr/>
            <p:nvPr/>
          </p:nvSpPr>
          <p:spPr>
            <a:xfrm>
              <a:off x="2730600" y="3529440"/>
              <a:ext cx="3313440" cy="142920"/>
            </a:xfrm>
            <a:custGeom>
              <a:avLst/>
              <a:gdLst/>
              <a:ahLst/>
              <a:rect l="l" t="t" r="r" b="b"/>
              <a:pathLst>
                <a:path w="3316604" h="146050">
                  <a:moveTo>
                    <a:pt x="3316499" y="0"/>
                  </a:moveTo>
                  <a:lnTo>
                    <a:pt x="3316499" y="145799"/>
                  </a:lnTo>
                  <a:lnTo>
                    <a:pt x="0" y="145799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487" name="object 17" descr=""/>
            <p:cNvPicPr/>
            <p:nvPr/>
          </p:nvPicPr>
          <p:blipFill>
            <a:blip r:embed="rId3"/>
            <a:stretch/>
          </p:blipFill>
          <p:spPr>
            <a:xfrm>
              <a:off x="2634840" y="3634560"/>
              <a:ext cx="102240" cy="788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488" name="object 18"/>
          <p:cNvSpPr/>
          <p:nvPr/>
        </p:nvSpPr>
        <p:spPr>
          <a:xfrm>
            <a:off x="5461200" y="3020760"/>
            <a:ext cx="263628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21320" indent="-109080">
              <a:lnSpc>
                <a:spcPts val="165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0" lang="fr-FR" sz="1400" spc="-15" strike="noStrike">
                <a:solidFill>
                  <a:srgbClr val="000000"/>
                </a:solidFill>
                <a:latin typeface="Arial MT"/>
                <a:ea typeface="DejaVu Sans"/>
              </a:rPr>
              <a:t>Typical</a:t>
            </a:r>
            <a:r>
              <a:rPr b="0" lang="fr-FR" sz="1400" spc="-4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naming</a:t>
            </a:r>
            <a:r>
              <a:rPr b="0" lang="fr-FR" sz="1400" spc="-4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conventions </a:t>
            </a:r>
            <a:r>
              <a:rPr b="0" lang="fr-FR" sz="1400" spc="-37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for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keys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are</a:t>
            </a:r>
            <a:r>
              <a:rPr b="0" lang="fr-FR" sz="14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not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enforced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489" name="object 19"/>
          <p:cNvSpPr/>
          <p:nvPr/>
        </p:nvSpPr>
        <p:spPr>
          <a:xfrm>
            <a:off x="8701560" y="4908600"/>
            <a:ext cx="2019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D293AEAB-6CCD-4576-A59C-F275F87F17F3}" type="slidenum">
              <a:rPr b="0" lang="fr-FR" sz="800" spc="-7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70320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Declaring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94" strike="noStrike">
                <a:solidFill>
                  <a:srgbClr val="000000"/>
                </a:solidFill>
                <a:latin typeface="Tahoma"/>
              </a:rPr>
              <a:t>Command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35" strike="noStrike">
                <a:solidFill>
                  <a:srgbClr val="000000"/>
                </a:solidFill>
                <a:latin typeface="Tahoma"/>
              </a:rPr>
              <a:t>and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1" strike="noStrike">
                <a:solidFill>
                  <a:srgbClr val="000000"/>
                </a:solidFill>
                <a:latin typeface="Tahoma"/>
              </a:rPr>
              <a:t>Args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Assign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or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overwrite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container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entrypoint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5" strike="noStrike">
                <a:solidFill>
                  <a:srgbClr val="666666"/>
                </a:solidFill>
                <a:latin typeface="Lucida Sans Unicode"/>
              </a:rPr>
              <a:t>arguments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491" name="object 4"/>
          <p:cNvSpPr/>
          <p:nvPr/>
        </p:nvSpPr>
        <p:spPr>
          <a:xfrm>
            <a:off x="499680" y="1424160"/>
            <a:ext cx="5861520" cy="214092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48680" bIns="0" anchor="t">
            <a:spAutoFit/>
          </a:bodyPr>
          <a:p>
            <a:pPr marL="208440">
              <a:lnSpc>
                <a:spcPct val="100000"/>
              </a:lnSpc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apiVersion:</a:t>
            </a:r>
            <a:r>
              <a:rPr b="1" lang="fr-FR" sz="1300" spc="-97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v1 </a:t>
            </a:r>
            <a:r>
              <a:rPr b="0" lang="fr-FR" sz="1300" spc="-76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300" spc="-1" strike="noStrike">
              <a:latin typeface="Arial"/>
            </a:endParaRPr>
          </a:p>
          <a:p>
            <a:pPr marL="208440">
              <a:lnSpc>
                <a:spcPct val="100000"/>
              </a:lnSpc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Pod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300" spc="-1" strike="noStrike">
              <a:latin typeface="Arial"/>
            </a:endParaRPr>
          </a:p>
          <a:p>
            <a:pPr marL="208440">
              <a:lnSpc>
                <a:spcPct val="100000"/>
              </a:lnSpc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metadata:</a:t>
            </a:r>
            <a:endParaRPr b="0" lang="fr-FR" sz="1300" spc="-1" strike="noStrike">
              <a:latin typeface="Arial"/>
            </a:endParaRPr>
          </a:p>
          <a:p>
            <a:pPr marL="40248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spring-boot-app</a:t>
            </a:r>
            <a:endParaRPr b="0" lang="fr-FR" sz="1300" spc="-1" strike="noStrike">
              <a:latin typeface="Arial"/>
            </a:endParaRPr>
          </a:p>
          <a:p>
            <a:pPr marL="20844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spec:</a:t>
            </a:r>
            <a:endParaRPr b="0" lang="fr-FR" sz="1300" spc="-1" strike="noStrike">
              <a:latin typeface="Arial"/>
            </a:endParaRPr>
          </a:p>
          <a:p>
            <a:pPr marL="40248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containers:</a:t>
            </a:r>
            <a:endParaRPr b="0" lang="fr-FR" sz="1300" spc="-1" strike="noStrike">
              <a:latin typeface="Arial"/>
            </a:endParaRPr>
          </a:p>
          <a:p>
            <a:pPr marL="40644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-</a:t>
            </a:r>
            <a:r>
              <a:rPr b="0" lang="fr-FR" sz="1300" spc="-100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image:</a:t>
            </a:r>
            <a:r>
              <a:rPr b="1" lang="fr-FR" sz="1300" spc="-41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bhamdi/spring-boot-app:1.5.3</a:t>
            </a:r>
            <a:endParaRPr b="0" lang="fr-FR" sz="1300" spc="-1" strike="noStrike">
              <a:latin typeface="Arial"/>
            </a:endParaRPr>
          </a:p>
          <a:p>
            <a:pPr marL="59688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spring-boot-app</a:t>
            </a:r>
            <a:endParaRPr b="0" lang="fr-FR" sz="1300" spc="-1" strike="noStrike">
              <a:latin typeface="Arial"/>
            </a:endParaRPr>
          </a:p>
          <a:p>
            <a:pPr marL="59688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command:</a:t>
            </a:r>
            <a:r>
              <a:rPr b="1" lang="fr-FR" sz="1300" spc="-4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[</a:t>
            </a:r>
            <a:r>
              <a:rPr b="1" lang="fr-FR" sz="1300" spc="-12" strike="noStrike">
                <a:solidFill>
                  <a:srgbClr val="d15e35"/>
                </a:solidFill>
                <a:latin typeface="Courier New"/>
                <a:ea typeface="DejaVu Sans"/>
              </a:rPr>
              <a:t>"/bin/sh"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]</a:t>
            </a:r>
            <a:endParaRPr b="0" lang="fr-FR" sz="1300" spc="-1" strike="noStrike">
              <a:latin typeface="Arial"/>
            </a:endParaRPr>
          </a:p>
          <a:p>
            <a:pPr marL="60444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args:</a:t>
            </a:r>
            <a:r>
              <a:rPr b="1" lang="fr-FR" sz="1300" spc="-15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[</a:t>
            </a:r>
            <a:r>
              <a:rPr b="1" lang="fr-FR" sz="1300" spc="-12" strike="noStrike">
                <a:solidFill>
                  <a:srgbClr val="d15e35"/>
                </a:solidFill>
                <a:latin typeface="Courier New"/>
                <a:ea typeface="DejaVu Sans"/>
              </a:rPr>
              <a:t>"-c"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,</a:t>
            </a:r>
            <a:r>
              <a:rPr b="0" lang="fr-FR" sz="13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d15e35"/>
                </a:solidFill>
                <a:latin typeface="Courier New"/>
                <a:ea typeface="DejaVu Sans"/>
              </a:rPr>
              <a:t>"while</a:t>
            </a:r>
            <a:r>
              <a:rPr b="1" lang="fr-FR" sz="1300" spc="-12" strike="noStrike">
                <a:solidFill>
                  <a:srgbClr val="d15e35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d15e35"/>
                </a:solidFill>
                <a:latin typeface="Courier New"/>
                <a:ea typeface="DejaVu Sans"/>
              </a:rPr>
              <a:t>true;</a:t>
            </a:r>
            <a:r>
              <a:rPr b="1" lang="fr-FR" sz="1300" spc="-12" strike="noStrike">
                <a:solidFill>
                  <a:srgbClr val="d15e35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d15e35"/>
                </a:solidFill>
                <a:latin typeface="Courier New"/>
                <a:ea typeface="DejaVu Sans"/>
              </a:rPr>
              <a:t>do</a:t>
            </a:r>
            <a:r>
              <a:rPr b="1" lang="fr-FR" sz="1300" spc="-12" strike="noStrike">
                <a:solidFill>
                  <a:srgbClr val="d15e35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d15e35"/>
                </a:solidFill>
                <a:latin typeface="Courier New"/>
                <a:ea typeface="DejaVu Sans"/>
              </a:rPr>
              <a:t>date;</a:t>
            </a:r>
            <a:r>
              <a:rPr b="1" lang="fr-FR" sz="1300" spc="-12" strike="noStrike">
                <a:solidFill>
                  <a:srgbClr val="d15e35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d15e35"/>
                </a:solidFill>
                <a:latin typeface="Courier New"/>
                <a:ea typeface="DejaVu Sans"/>
              </a:rPr>
              <a:t>sleep</a:t>
            </a:r>
            <a:r>
              <a:rPr b="1" lang="fr-FR" sz="1300" spc="-15" strike="noStrike">
                <a:solidFill>
                  <a:srgbClr val="d15e35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d15e35"/>
                </a:solidFill>
                <a:latin typeface="Courier New"/>
                <a:ea typeface="DejaVu Sans"/>
              </a:rPr>
              <a:t>10;</a:t>
            </a:r>
            <a:r>
              <a:rPr b="1" lang="fr-FR" sz="1300" spc="-12" strike="noStrike">
                <a:solidFill>
                  <a:srgbClr val="d15e35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d15e35"/>
                </a:solidFill>
                <a:latin typeface="Courier New"/>
                <a:ea typeface="DejaVu Sans"/>
              </a:rPr>
              <a:t>done"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]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492" name="object 5"/>
          <p:cNvSpPr/>
          <p:nvPr/>
        </p:nvSpPr>
        <p:spPr>
          <a:xfrm>
            <a:off x="8701560" y="4908600"/>
            <a:ext cx="2019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32B1C83D-7527-48D3-BDCE-6794017051FD}" type="slidenum">
              <a:rPr b="0" lang="fr-FR" sz="800" spc="-7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34320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5" strike="noStrike">
                <a:solidFill>
                  <a:srgbClr val="000000"/>
                </a:solidFill>
                <a:latin typeface="Tahoma"/>
              </a:rPr>
              <a:t>Deleting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Pod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Graceful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deletion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workload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00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take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up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41" strike="noStrike">
                <a:solidFill>
                  <a:srgbClr val="666666"/>
                </a:solidFill>
                <a:latin typeface="Lucida Sans Unicode"/>
              </a:rPr>
              <a:t>30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5" strike="noStrike">
                <a:solidFill>
                  <a:srgbClr val="666666"/>
                </a:solidFill>
                <a:latin typeface="Lucida Sans Unicode"/>
              </a:rPr>
              <a:t>seconds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494" name="object 4"/>
          <p:cNvSpPr/>
          <p:nvPr/>
        </p:nvSpPr>
        <p:spPr>
          <a:xfrm>
            <a:off x="499680" y="1424160"/>
            <a:ext cx="4025880" cy="185220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49760" bIns="0" anchor="t">
            <a:spAutoFit/>
          </a:bodyPr>
          <a:p>
            <a:pPr marL="176040">
              <a:lnSpc>
                <a:spcPts val="1664"/>
              </a:lnSpc>
              <a:spcBef>
                <a:spcPts val="117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delete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hazelcast</a:t>
            </a:r>
            <a:endParaRPr b="0" lang="fr-FR" sz="1400" spc="-1" strike="noStrike">
              <a:latin typeface="Arial"/>
            </a:endParaRPr>
          </a:p>
          <a:p>
            <a:pPr marL="17604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</a:t>
            </a:r>
            <a:r>
              <a:rPr b="0" lang="fr-FR" sz="14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"hazelcast"</a:t>
            </a:r>
            <a:r>
              <a:rPr b="0" lang="fr-FR" sz="14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deleted</a:t>
            </a:r>
            <a:endParaRPr b="0" lang="fr-FR" sz="1400" spc="-1" strike="noStrike">
              <a:latin typeface="Arial"/>
            </a:endParaRPr>
          </a:p>
          <a:p>
            <a:pPr marL="176040">
              <a:lnSpc>
                <a:spcPct val="100000"/>
              </a:lnSpc>
              <a:spcBef>
                <a:spcPts val="34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176040">
              <a:lnSpc>
                <a:spcPts val="1664"/>
              </a:lnSpc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delete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-f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pod.yaml</a:t>
            </a:r>
            <a:endParaRPr b="0" lang="fr-FR" sz="1400" spc="-1" strike="noStrike">
              <a:latin typeface="Arial"/>
            </a:endParaRPr>
          </a:p>
          <a:p>
            <a:pPr marL="17604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</a:t>
            </a:r>
            <a:r>
              <a:rPr b="0" lang="fr-FR" sz="14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"hazelcast"</a:t>
            </a:r>
            <a:r>
              <a:rPr b="0" lang="fr-FR" sz="14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deleted</a:t>
            </a:r>
            <a:endParaRPr b="0" lang="fr-FR" sz="1400" spc="-1" strike="noStrike">
              <a:latin typeface="Arial"/>
            </a:endParaRPr>
          </a:p>
          <a:p>
            <a:pPr marL="176040">
              <a:lnSpc>
                <a:spcPct val="100000"/>
              </a:lnSpc>
              <a:spcBef>
                <a:spcPts val="34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176040">
              <a:lnSpc>
                <a:spcPts val="1664"/>
              </a:lnSpc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delete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-f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pod.yaml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--now</a:t>
            </a:r>
            <a:endParaRPr b="0" lang="fr-FR" sz="1400" spc="-1" strike="noStrike">
              <a:latin typeface="Arial"/>
            </a:endParaRPr>
          </a:p>
          <a:p>
            <a:pPr marL="17604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</a:t>
            </a:r>
            <a:r>
              <a:rPr b="0" lang="fr-FR" sz="14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"hazelcast"</a:t>
            </a:r>
            <a:r>
              <a:rPr b="0" lang="fr-FR" sz="14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deleted</a:t>
            </a:r>
            <a:endParaRPr b="0" lang="fr-FR" sz="1400" spc="-1" strike="noStrike">
              <a:latin typeface="Arial"/>
            </a:endParaRPr>
          </a:p>
        </p:txBody>
      </p:sp>
      <p:grpSp>
        <p:nvGrpSpPr>
          <p:cNvPr id="495" name="object 5"/>
          <p:cNvGrpSpPr/>
          <p:nvPr/>
        </p:nvGrpSpPr>
        <p:grpSpPr>
          <a:xfrm>
            <a:off x="4683240" y="1662480"/>
            <a:ext cx="959760" cy="78840"/>
            <a:chOff x="4683240" y="1662480"/>
            <a:chExt cx="959760" cy="78840"/>
          </a:xfrm>
        </p:grpSpPr>
        <p:sp>
          <p:nvSpPr>
            <p:cNvPr id="496" name="object 6"/>
            <p:cNvSpPr/>
            <p:nvPr/>
          </p:nvSpPr>
          <p:spPr>
            <a:xfrm>
              <a:off x="4779360" y="1703520"/>
              <a:ext cx="863640" cy="360"/>
            </a:xfrm>
            <a:custGeom>
              <a:avLst/>
              <a:gdLst/>
              <a:ahLst/>
              <a:rect l="l" t="t" r="r" b="b"/>
              <a:pathLst>
                <a:path w="866775" h="0">
                  <a:moveTo>
                    <a:pt x="8666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497" name="object 7" descr=""/>
            <p:cNvPicPr/>
            <p:nvPr/>
          </p:nvPicPr>
          <p:blipFill>
            <a:blip r:embed="rId1"/>
            <a:stretch/>
          </p:blipFill>
          <p:spPr>
            <a:xfrm>
              <a:off x="4683240" y="1662480"/>
              <a:ext cx="102240" cy="788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498" name="object 8"/>
          <p:cNvSpPr/>
          <p:nvPr/>
        </p:nvSpPr>
        <p:spPr>
          <a:xfrm>
            <a:off x="5716440" y="1561320"/>
            <a:ext cx="3102480" cy="161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2808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Imperative</a:t>
            </a:r>
            <a:r>
              <a:rPr b="0" lang="fr-FR" sz="1400" spc="-5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approach</a:t>
            </a:r>
            <a:endParaRPr b="0" lang="fr-FR" sz="1400" spc="-1" strike="noStrike">
              <a:latin typeface="Arial"/>
            </a:endParaRPr>
          </a:p>
          <a:p>
            <a:pPr marL="264240" indent="-252000">
              <a:lnSpc>
                <a:spcPct val="26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Declarative approach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Force-kills</a:t>
            </a:r>
            <a:r>
              <a:rPr b="0" lang="fr-FR" sz="1400" spc="-5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Pod</a:t>
            </a:r>
            <a:r>
              <a:rPr b="0" lang="fr-FR" sz="1400" spc="-4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without</a:t>
            </a:r>
            <a:endParaRPr b="0" lang="fr-FR" sz="1400" spc="-1" strike="noStrike">
              <a:latin typeface="Arial"/>
            </a:endParaRPr>
          </a:p>
          <a:p>
            <a:pPr marL="26640" indent="-252000">
              <a:lnSpc>
                <a:spcPts val="1650"/>
              </a:lnSpc>
              <a:buNone/>
              <a:tabLst>
                <a:tab algn="l" pos="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graceful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deletion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of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workload</a:t>
            </a:r>
            <a:endParaRPr b="0" lang="fr-FR" sz="1400" spc="-1" strike="noStrike">
              <a:latin typeface="Arial"/>
            </a:endParaRPr>
          </a:p>
        </p:txBody>
      </p:sp>
      <p:grpSp>
        <p:nvGrpSpPr>
          <p:cNvPr id="499" name="object 9"/>
          <p:cNvGrpSpPr/>
          <p:nvPr/>
        </p:nvGrpSpPr>
        <p:grpSpPr>
          <a:xfrm>
            <a:off x="4683240" y="2294280"/>
            <a:ext cx="959760" cy="78840"/>
            <a:chOff x="4683240" y="2294280"/>
            <a:chExt cx="959760" cy="78840"/>
          </a:xfrm>
        </p:grpSpPr>
        <p:sp>
          <p:nvSpPr>
            <p:cNvPr id="500" name="object 10"/>
            <p:cNvSpPr/>
            <p:nvPr/>
          </p:nvSpPr>
          <p:spPr>
            <a:xfrm>
              <a:off x="4779360" y="2335320"/>
              <a:ext cx="863640" cy="360"/>
            </a:xfrm>
            <a:custGeom>
              <a:avLst/>
              <a:gdLst/>
              <a:ahLst/>
              <a:rect l="l" t="t" r="r" b="b"/>
              <a:pathLst>
                <a:path w="866775" h="0">
                  <a:moveTo>
                    <a:pt x="8666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501" name="object 11" descr=""/>
            <p:cNvPicPr/>
            <p:nvPr/>
          </p:nvPicPr>
          <p:blipFill>
            <a:blip r:embed="rId2"/>
            <a:stretch/>
          </p:blipFill>
          <p:spPr>
            <a:xfrm>
              <a:off x="4683240" y="2294280"/>
              <a:ext cx="102240" cy="78840"/>
            </a:xfrm>
            <a:prstGeom prst="rect">
              <a:avLst/>
            </a:prstGeom>
            <a:ln w="0">
              <a:noFill/>
            </a:ln>
          </p:spPr>
        </p:pic>
      </p:grpSp>
      <p:grpSp>
        <p:nvGrpSpPr>
          <p:cNvPr id="502" name="object 12"/>
          <p:cNvGrpSpPr/>
          <p:nvPr/>
        </p:nvGrpSpPr>
        <p:grpSpPr>
          <a:xfrm>
            <a:off x="4683240" y="2935080"/>
            <a:ext cx="959760" cy="78840"/>
            <a:chOff x="4683240" y="2935080"/>
            <a:chExt cx="959760" cy="78840"/>
          </a:xfrm>
        </p:grpSpPr>
        <p:sp>
          <p:nvSpPr>
            <p:cNvPr id="503" name="object 13"/>
            <p:cNvSpPr/>
            <p:nvPr/>
          </p:nvSpPr>
          <p:spPr>
            <a:xfrm>
              <a:off x="4779360" y="2976120"/>
              <a:ext cx="863640" cy="360"/>
            </a:xfrm>
            <a:custGeom>
              <a:avLst/>
              <a:gdLst/>
              <a:ahLst/>
              <a:rect l="l" t="t" r="r" b="b"/>
              <a:pathLst>
                <a:path w="866775" h="0">
                  <a:moveTo>
                    <a:pt x="8666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504" name="object 14" descr=""/>
            <p:cNvPicPr/>
            <p:nvPr/>
          </p:nvPicPr>
          <p:blipFill>
            <a:blip r:embed="rId3"/>
            <a:stretch/>
          </p:blipFill>
          <p:spPr>
            <a:xfrm>
              <a:off x="4683240" y="2935080"/>
              <a:ext cx="102240" cy="788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505" name="object 15"/>
          <p:cNvSpPr/>
          <p:nvPr/>
        </p:nvSpPr>
        <p:spPr>
          <a:xfrm>
            <a:off x="8701560" y="4908600"/>
            <a:ext cx="2019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E374FB2C-8C62-41E6-AD92-F9D0585B8279}" type="slidenum">
              <a:rPr b="0" lang="fr-FR" sz="800" spc="-7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88320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5" strike="noStrike">
                <a:solidFill>
                  <a:srgbClr val="000000"/>
                </a:solidFill>
                <a:latin typeface="Tahoma"/>
              </a:rPr>
              <a:t>What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is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66" strike="noStrike">
                <a:solidFill>
                  <a:srgbClr val="000000"/>
                </a:solidFill>
                <a:latin typeface="Tahoma"/>
              </a:rPr>
              <a:t>Namespace?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Organizes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isolates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Kubernetes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object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that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belong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together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507" name="object 4"/>
          <p:cNvSpPr/>
          <p:nvPr/>
        </p:nvSpPr>
        <p:spPr>
          <a:xfrm>
            <a:off x="8701560" y="4908600"/>
            <a:ext cx="2019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35202FAC-186B-4C94-9629-0A74E0495EA3}" type="slidenum">
              <a:rPr b="0" lang="fr-FR" sz="800" spc="-7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508" name="object 3"/>
          <p:cNvSpPr/>
          <p:nvPr/>
        </p:nvSpPr>
        <p:spPr>
          <a:xfrm>
            <a:off x="600120" y="1360440"/>
            <a:ext cx="8038800" cy="335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</a:t>
            </a:r>
            <a:r>
              <a:rPr b="0" lang="fr-FR" sz="1600" spc="-100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API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construct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avoid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naming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collisions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represent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scope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object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names.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00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good use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case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for namespaces is to isolate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objects by team or 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responsibility.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defaul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  <a:ea typeface="DejaVu Sans"/>
              </a:rPr>
              <a:t>t</a:t>
            </a:r>
            <a:r>
              <a:rPr b="0" lang="fr-FR" sz="1600" spc="-62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namespac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host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objec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t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tha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t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haven’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t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bee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n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assigne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d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o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a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n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explicit  namespace.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Namespace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starting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wit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h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th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prefi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x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  <a:ea typeface="DejaVu Sans"/>
              </a:rPr>
              <a:t>-</a:t>
            </a:r>
            <a:r>
              <a:rPr b="0" lang="fr-FR" sz="1600" spc="-59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ar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no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t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considered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end</a:t>
            </a:r>
            <a:endParaRPr b="0" lang="fr-FR" sz="1600" spc="-1" strike="noStrike">
              <a:latin typeface="Arial"/>
            </a:endParaRPr>
          </a:p>
          <a:p>
            <a:pPr marL="363960">
              <a:lnSpc>
                <a:spcPct val="113000"/>
              </a:lnSpc>
              <a:buNone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user-namespaces. They have been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created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by the Kubernetes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system. </a:t>
            </a:r>
            <a:r>
              <a:rPr b="0" lang="fr-FR" sz="1600" spc="-55" strike="noStrike">
                <a:solidFill>
                  <a:srgbClr val="000000"/>
                </a:solidFill>
                <a:latin typeface="Arial MT"/>
                <a:ea typeface="DejaVu Sans"/>
              </a:rPr>
              <a:t>You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will not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have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 interact with them as an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application 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developer.</a:t>
            </a:r>
            <a:endParaRPr b="0" lang="fr-FR" sz="1600" spc="-1" strike="noStrike">
              <a:latin typeface="Arial"/>
            </a:endParaRPr>
          </a:p>
          <a:p>
            <a:pPr marL="363960">
              <a:lnSpc>
                <a:spcPct val="100000"/>
              </a:lnSpc>
              <a:spcBef>
                <a:spcPts val="14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Referenc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namespac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wit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h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th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command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lin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optio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n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--namespac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  <a:ea typeface="DejaVu Sans"/>
              </a:rPr>
              <a:t>e</a:t>
            </a:r>
            <a:r>
              <a:rPr b="0" lang="fr-FR" sz="1600" spc="-687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-</a:t>
            </a:r>
            <a:r>
              <a:rPr b="0" lang="fr-FR" sz="1600" spc="-32" strike="noStrike">
                <a:solidFill>
                  <a:srgbClr val="000000"/>
                </a:solidFill>
                <a:latin typeface="Courier New"/>
                <a:ea typeface="DejaVu Sans"/>
              </a:rPr>
              <a:t>n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86320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200" spc="9" strike="noStrike">
                <a:solidFill>
                  <a:srgbClr val="000000"/>
                </a:solidFill>
                <a:latin typeface="Tahoma"/>
              </a:rPr>
              <a:t>Creating</a:t>
            </a:r>
            <a:r>
              <a:rPr b="1" lang="fr-FR" sz="22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2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2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200" spc="86" strike="noStrike">
                <a:solidFill>
                  <a:srgbClr val="000000"/>
                </a:solidFill>
                <a:latin typeface="Tahoma"/>
              </a:rPr>
              <a:t>Namespace</a:t>
            </a:r>
            <a:r>
              <a:rPr b="1" lang="fr-FR" sz="22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200" spc="-52" strike="noStrike">
                <a:solidFill>
                  <a:srgbClr val="000000"/>
                </a:solidFill>
                <a:latin typeface="Tahoma"/>
              </a:rPr>
              <a:t>with</a:t>
            </a:r>
            <a:r>
              <a:rPr b="1" lang="fr-FR" sz="22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200" spc="-1" strike="noStrike">
                <a:solidFill>
                  <a:srgbClr val="000000"/>
                </a:solidFill>
                <a:latin typeface="Tahoma"/>
              </a:rPr>
              <a:t>Imperative</a:t>
            </a:r>
            <a:r>
              <a:rPr b="1" lang="fr-FR" sz="22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200" spc="94" strike="noStrike">
                <a:solidFill>
                  <a:srgbClr val="000000"/>
                </a:solidFill>
                <a:latin typeface="Tahoma"/>
              </a:rPr>
              <a:t>Command</a:t>
            </a:r>
            <a:endParaRPr b="0" lang="fr-FR" sz="22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"Organize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objects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6" strike="noStrike">
                <a:solidFill>
                  <a:srgbClr val="666666"/>
                </a:solidFill>
                <a:latin typeface="Lucida Sans Unicode"/>
              </a:rPr>
              <a:t>namespace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5" strike="noStrike">
                <a:solidFill>
                  <a:srgbClr val="666666"/>
                </a:solidFill>
                <a:latin typeface="Lucida Sans Unicode"/>
              </a:rPr>
              <a:t>called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5" strike="noStrike">
                <a:solidFill>
                  <a:srgbClr val="666666"/>
                </a:solidFill>
                <a:latin typeface="Courier New"/>
              </a:rPr>
              <a:t>code-red</a:t>
            </a:r>
            <a:r>
              <a:rPr b="0" lang="fr-FR" sz="1600" spc="-35" strike="noStrike">
                <a:solidFill>
                  <a:srgbClr val="666666"/>
                </a:solidFill>
                <a:latin typeface="Lucida Sans Unicode"/>
              </a:rPr>
              <a:t>"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510" name="object 4"/>
          <p:cNvSpPr/>
          <p:nvPr/>
        </p:nvSpPr>
        <p:spPr>
          <a:xfrm>
            <a:off x="499680" y="1424160"/>
            <a:ext cx="6885720" cy="206172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49760" bIns="0" anchor="t">
            <a:spAutoFit/>
          </a:bodyPr>
          <a:p>
            <a:pPr marL="176040">
              <a:lnSpc>
                <a:spcPts val="1664"/>
              </a:lnSpc>
              <a:spcBef>
                <a:spcPts val="117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namespace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code-red</a:t>
            </a:r>
            <a:endParaRPr b="0" lang="fr-FR" sz="1400" spc="-1" strike="noStrike">
              <a:latin typeface="Arial"/>
            </a:endParaRPr>
          </a:p>
          <a:p>
            <a:pPr marL="17604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namespace/code-red</a:t>
            </a:r>
            <a:r>
              <a:rPr b="0" lang="fr-FR" sz="14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400" spc="-1" strike="noStrike">
              <a:latin typeface="Arial"/>
            </a:endParaRPr>
          </a:p>
          <a:p>
            <a:pPr marL="176040">
              <a:lnSpc>
                <a:spcPct val="100000"/>
              </a:lnSpc>
              <a:spcBef>
                <a:spcPts val="34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176040">
              <a:lnSpc>
                <a:spcPts val="1664"/>
              </a:lnSpc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run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nginx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--image=nginx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--restart=Never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-n</a:t>
            </a:r>
            <a:r>
              <a:rPr b="1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code-red</a:t>
            </a:r>
            <a:endParaRPr b="0" lang="fr-FR" sz="1400" spc="-1" strike="noStrike">
              <a:latin typeface="Arial"/>
            </a:endParaRPr>
          </a:p>
          <a:p>
            <a:pPr marL="17604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pod/nginx</a:t>
            </a:r>
            <a:r>
              <a:rPr b="0" lang="fr-FR" sz="14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400" spc="-1" strike="noStrike">
              <a:latin typeface="Arial"/>
            </a:endParaRPr>
          </a:p>
          <a:p>
            <a:pPr marL="176040">
              <a:lnSpc>
                <a:spcPct val="100000"/>
              </a:lnSpc>
              <a:spcBef>
                <a:spcPts val="34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176040">
              <a:lnSpc>
                <a:spcPts val="1664"/>
              </a:lnSpc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get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pods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-n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code-red</a:t>
            </a:r>
            <a:endParaRPr b="0" lang="fr-FR" sz="1400" spc="-1" strike="noStrike">
              <a:latin typeface="Arial"/>
            </a:endParaRPr>
          </a:p>
          <a:p>
            <a:pPr marL="176040">
              <a:lnSpc>
                <a:spcPts val="1650"/>
              </a:lnSpc>
              <a:buNone/>
              <a:tabLst>
                <a:tab algn="l" pos="1029240"/>
                <a:tab algn="l" pos="1882080"/>
                <a:tab algn="l" pos="2949120"/>
                <a:tab algn="l" pos="412236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READY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STATUS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RESTARTS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AGE</a:t>
            </a:r>
            <a:endParaRPr b="0" lang="fr-FR" sz="1400" spc="-1" strike="noStrike">
              <a:latin typeface="Arial"/>
            </a:endParaRPr>
          </a:p>
          <a:p>
            <a:pPr marL="176040">
              <a:lnSpc>
                <a:spcPts val="1664"/>
              </a:lnSpc>
              <a:buNone/>
              <a:tabLst>
                <a:tab algn="l" pos="1029240"/>
                <a:tab algn="l" pos="1882080"/>
                <a:tab algn="l" pos="2949120"/>
                <a:tab algn="l" pos="412236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nginx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1/1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Running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0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13s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511" name="object 5"/>
          <p:cNvSpPr/>
          <p:nvPr/>
        </p:nvSpPr>
        <p:spPr>
          <a:xfrm>
            <a:off x="8701560" y="4908600"/>
            <a:ext cx="2019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5EB29D38-E006-4CB9-B504-C13D211BD45E}" type="slidenum">
              <a:rPr b="0" lang="fr-FR" sz="800" spc="-7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06320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Listing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80" strike="noStrike">
                <a:solidFill>
                  <a:srgbClr val="000000"/>
                </a:solidFill>
                <a:latin typeface="Tahoma"/>
              </a:rPr>
              <a:t>Namespaces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Includes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46" strike="noStrike">
                <a:solidFill>
                  <a:srgbClr val="666666"/>
                </a:solidFill>
                <a:latin typeface="Courier New"/>
              </a:rPr>
              <a:t>default</a:t>
            </a:r>
            <a:r>
              <a:rPr b="0" lang="fr-FR" sz="1600" spc="-46" strike="noStrike">
                <a:solidFill>
                  <a:srgbClr val="666666"/>
                </a:solidFill>
                <a:latin typeface="Lucida Sans Unicode"/>
              </a:rPr>
              <a:t>,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Kubernetes-internal,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5" strike="noStrike">
                <a:solidFill>
                  <a:srgbClr val="666666"/>
                </a:solidFill>
                <a:latin typeface="Lucida Sans Unicode"/>
              </a:rPr>
              <a:t>custom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namespaces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513" name="object 3"/>
          <p:cNvGrpSpPr/>
          <p:nvPr/>
        </p:nvGrpSpPr>
        <p:grpSpPr>
          <a:xfrm>
            <a:off x="446040" y="1375560"/>
            <a:ext cx="4951440" cy="1804320"/>
            <a:chOff x="446040" y="1375560"/>
            <a:chExt cx="4951440" cy="1804320"/>
          </a:xfrm>
        </p:grpSpPr>
        <p:pic>
          <p:nvPicPr>
            <p:cNvPr id="514" name="object 4" descr=""/>
            <p:cNvPicPr/>
            <p:nvPr/>
          </p:nvPicPr>
          <p:blipFill>
            <a:blip r:embed="rId1"/>
            <a:stretch/>
          </p:blipFill>
          <p:spPr>
            <a:xfrm>
              <a:off x="446040" y="1375560"/>
              <a:ext cx="4951440" cy="180432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515" name="object 5"/>
            <p:cNvSpPr/>
            <p:nvPr/>
          </p:nvSpPr>
          <p:spPr>
            <a:xfrm>
              <a:off x="514800" y="1424160"/>
              <a:ext cx="4804560" cy="1690200"/>
            </a:xfrm>
            <a:custGeom>
              <a:avLst/>
              <a:gdLst/>
              <a:ahLst/>
              <a:rect l="l" t="t" r="r" b="b"/>
              <a:pathLst>
                <a:path w="3745229" h="1693545">
                  <a:moveTo>
                    <a:pt x="3745199" y="1693199"/>
                  </a:moveTo>
                  <a:lnTo>
                    <a:pt x="0" y="1693199"/>
                  </a:lnTo>
                  <a:lnTo>
                    <a:pt x="0" y="0"/>
                  </a:lnTo>
                  <a:lnTo>
                    <a:pt x="3745199" y="0"/>
                  </a:lnTo>
                  <a:lnTo>
                    <a:pt x="3745199" y="16931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aphicFrame>
        <p:nvGraphicFramePr>
          <p:cNvPr id="516" name="object 6"/>
          <p:cNvGraphicFramePr/>
          <p:nvPr/>
        </p:nvGraphicFramePr>
        <p:xfrm>
          <a:off x="644040" y="1495800"/>
          <a:ext cx="4188240" cy="1248480"/>
        </p:xfrm>
        <a:graphic>
          <a:graphicData uri="http://schemas.openxmlformats.org/drawingml/2006/table">
            <a:tbl>
              <a:tblPr/>
              <a:tblGrid>
                <a:gridCol w="1292760"/>
                <a:gridCol w="562320"/>
                <a:gridCol w="218880"/>
                <a:gridCol w="1338840"/>
                <a:gridCol w="775800"/>
              </a:tblGrid>
              <a:tr h="205200">
                <a:tc>
                  <a:txBody>
                    <a:bodyPr anchor="t">
                      <a:noAutofit/>
                    </a:bodyPr>
                    <a:p>
                      <a:pPr marL="31680">
                        <a:lnSpc>
                          <a:spcPts val="1446"/>
                        </a:lnSpc>
                        <a:buNone/>
                      </a:pPr>
                      <a:r>
                        <a:rPr b="1" lang="fr-FR" sz="1400" spc="-1" strike="noStrike">
                          <a:solidFill>
                            <a:srgbClr val="000000"/>
                          </a:solidFill>
                          <a:latin typeface="Courier New"/>
                        </a:rPr>
                        <a:t>$</a:t>
                      </a:r>
                      <a:r>
                        <a:rPr b="1" lang="fr-FR" sz="1400" spc="-72" strike="noStrike">
                          <a:solidFill>
                            <a:srgbClr val="000000"/>
                          </a:solidFill>
                          <a:latin typeface="Courier New"/>
                        </a:rPr>
                        <a:t> </a:t>
                      </a:r>
                      <a:r>
                        <a:rPr b="1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kubectl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53280">
                        <a:lnSpc>
                          <a:spcPts val="1446"/>
                        </a:lnSpc>
                        <a:buNone/>
                      </a:pPr>
                      <a:r>
                        <a:rPr b="1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get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  <a:tc gridSpan="2">
                  <a:txBody>
                    <a:bodyPr anchor="t">
                      <a:noAutofit/>
                    </a:bodyPr>
                    <a:p>
                      <a:pPr marL="53280">
                        <a:lnSpc>
                          <a:spcPts val="1446"/>
                        </a:lnSpc>
                        <a:buNone/>
                      </a:pPr>
                      <a:r>
                        <a:rPr b="1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namespaces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  <a:tc hMerge="1"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</a:tr>
              <a:tr h="414720">
                <a:tc>
                  <a:txBody>
                    <a:bodyPr anchor="t">
                      <a:noAutofit/>
                    </a:bodyPr>
                    <a:p>
                      <a:pPr marL="31680">
                        <a:lnSpc>
                          <a:spcPts val="1466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NAME</a:t>
                      </a:r>
                      <a:endParaRPr b="0" lang="fr-FR" sz="1400" spc="-1" strike="noStrike">
                        <a:latin typeface="Arial"/>
                      </a:endParaRPr>
                    </a:p>
                    <a:p>
                      <a:pPr marL="31680">
                        <a:lnSpc>
                          <a:spcPts val="1664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default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  <a:tc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  <a:tc gridSpan="2">
                  <a:txBody>
                    <a:bodyPr anchor="t">
                      <a:noAutofit/>
                    </a:bodyPr>
                    <a:p>
                      <a:pPr marL="479880">
                        <a:lnSpc>
                          <a:spcPts val="1466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STATUS</a:t>
                      </a:r>
                      <a:endParaRPr b="0" lang="fr-FR" sz="1400" spc="-1" strike="noStrike">
                        <a:latin typeface="Arial"/>
                      </a:endParaRPr>
                    </a:p>
                    <a:p>
                      <a:pPr marL="479880">
                        <a:lnSpc>
                          <a:spcPts val="1664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Active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  <a:tc hMerge="1"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160200">
                        <a:lnSpc>
                          <a:spcPts val="1466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AGE</a:t>
                      </a:r>
                      <a:endParaRPr b="0" lang="fr-FR" sz="1400" spc="-1" strike="noStrike">
                        <a:latin typeface="Arial"/>
                      </a:endParaRPr>
                    </a:p>
                    <a:p>
                      <a:pPr marL="160200">
                        <a:lnSpc>
                          <a:spcPts val="1664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157d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</a:tr>
              <a:tr h="213480">
                <a:tc gridSpan="3">
                  <a:txBody>
                    <a:bodyPr anchor="t">
                      <a:noAutofit/>
                    </a:bodyPr>
                    <a:p>
                      <a:pPr marL="31680">
                        <a:lnSpc>
                          <a:spcPts val="1446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kube-node-lease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  <a:tc hMerge="1"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ts val="1446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Active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>
                        <a:lnSpc>
                          <a:spcPts val="1446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157d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</a:tr>
              <a:tr h="209520">
                <a:tc gridSpan="3">
                  <a:txBody>
                    <a:bodyPr anchor="t">
                      <a:noAutofit/>
                    </a:bodyPr>
                    <a:p>
                      <a:pPr marL="31680">
                        <a:lnSpc>
                          <a:spcPts val="1480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kube-public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  <a:tc hMerge="1"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ts val="1480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Active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>
                        <a:lnSpc>
                          <a:spcPts val="1480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157d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</a:tr>
              <a:tr h="205920">
                <a:tc gridSpan="3">
                  <a:txBody>
                    <a:bodyPr anchor="t">
                      <a:noAutofit/>
                    </a:bodyPr>
                    <a:p>
                      <a:pPr marL="31680">
                        <a:lnSpc>
                          <a:spcPts val="1480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kube-system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  <a:tc hMerge="1"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ts val="1480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Active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>
                        <a:lnSpc>
                          <a:spcPts val="1480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157d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6f7"/>
                    </a:solidFill>
                  </a:tcPr>
                </a:tc>
              </a:tr>
            </a:tbl>
          </a:graphicData>
        </a:graphic>
      </p:graphicFrame>
      <p:sp>
        <p:nvSpPr>
          <p:cNvPr id="517" name="object 7"/>
          <p:cNvSpPr/>
          <p:nvPr/>
        </p:nvSpPr>
        <p:spPr>
          <a:xfrm>
            <a:off x="8701560" y="4908600"/>
            <a:ext cx="2019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35A60B2A-E54E-48A2-AD37-720A5930610B}" type="slidenum">
              <a:rPr b="0" lang="fr-FR" sz="800" spc="-7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62320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86" strike="noStrike">
                <a:solidFill>
                  <a:srgbClr val="000000"/>
                </a:solidFill>
                <a:latin typeface="Tahoma"/>
              </a:rPr>
              <a:t>Namespace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YAML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Manifest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"Organize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objects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6" strike="noStrike">
                <a:solidFill>
                  <a:srgbClr val="666666"/>
                </a:solidFill>
                <a:latin typeface="Lucida Sans Unicode"/>
              </a:rPr>
              <a:t>namespace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5" strike="noStrike">
                <a:solidFill>
                  <a:srgbClr val="666666"/>
                </a:solidFill>
                <a:latin typeface="Lucida Sans Unicode"/>
              </a:rPr>
              <a:t>called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5" strike="noStrike">
                <a:solidFill>
                  <a:srgbClr val="666666"/>
                </a:solidFill>
                <a:latin typeface="Courier New"/>
              </a:rPr>
              <a:t>code-red</a:t>
            </a:r>
            <a:r>
              <a:rPr b="0" lang="fr-FR" sz="1600" spc="-35" strike="noStrike">
                <a:solidFill>
                  <a:srgbClr val="666666"/>
                </a:solidFill>
                <a:latin typeface="Lucida Sans Unicode"/>
              </a:rPr>
              <a:t>"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519" name="object 4"/>
          <p:cNvSpPr/>
          <p:nvPr/>
        </p:nvSpPr>
        <p:spPr>
          <a:xfrm>
            <a:off x="499680" y="1424160"/>
            <a:ext cx="2016720" cy="94752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48680" bIns="0" anchor="t">
            <a:spAutoFit/>
          </a:bodyPr>
          <a:p>
            <a:pPr marL="208440">
              <a:lnSpc>
                <a:spcPct val="101000"/>
              </a:lnSpc>
              <a:spcBef>
                <a:spcPts val="1171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apiVersion: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v1 </a:t>
            </a:r>
            <a:r>
              <a:rPr b="0" lang="fr-FR" sz="1300" spc="-7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</a:t>
            </a:r>
            <a:r>
              <a:rPr b="1" lang="fr-FR" sz="1300" spc="-97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Namespace </a:t>
            </a:r>
            <a:r>
              <a:rPr b="0" lang="fr-FR" sz="1300" spc="-76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metadata:</a:t>
            </a:r>
            <a:endParaRPr b="0" lang="fr-FR" sz="1300" spc="-1" strike="noStrike">
              <a:latin typeface="Arial"/>
            </a:endParaRPr>
          </a:p>
          <a:p>
            <a:pPr marL="40248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code-red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520" name="object 5"/>
          <p:cNvSpPr/>
          <p:nvPr/>
        </p:nvSpPr>
        <p:spPr>
          <a:xfrm>
            <a:off x="8701560" y="4908600"/>
            <a:ext cx="2019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D5A79795-4B1D-4547-A833-B73520951079}" type="slidenum">
              <a:rPr b="0" lang="fr-FR" sz="800" spc="-7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443200" cy="1276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5" strike="noStrike">
                <a:solidFill>
                  <a:srgbClr val="000000"/>
                </a:solidFill>
                <a:latin typeface="Tahoma"/>
              </a:rPr>
              <a:t>Deleting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86" strike="noStrike">
                <a:solidFill>
                  <a:srgbClr val="000000"/>
                </a:solidFill>
                <a:latin typeface="Tahoma"/>
              </a:rPr>
              <a:t>Namespace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Cascade-deletes</a:t>
            </a:r>
            <a:r>
              <a:rPr b="0" lang="fr-FR" sz="1600" spc="-114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containing</a:t>
            </a:r>
            <a:r>
              <a:rPr b="0" lang="fr-FR" sz="1600" spc="-111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objects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522" name="object 4"/>
          <p:cNvSpPr/>
          <p:nvPr/>
        </p:nvSpPr>
        <p:spPr>
          <a:xfrm>
            <a:off x="499680" y="1424160"/>
            <a:ext cx="4731840" cy="121212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49760" bIns="0" anchor="t">
            <a:spAutoFit/>
          </a:bodyPr>
          <a:p>
            <a:pPr marL="176040">
              <a:lnSpc>
                <a:spcPts val="1664"/>
              </a:lnSpc>
              <a:spcBef>
                <a:spcPts val="117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delete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namespace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code-red</a:t>
            </a:r>
            <a:endParaRPr b="0" lang="fr-FR" sz="1400" spc="-1" strike="noStrike">
              <a:latin typeface="Arial"/>
            </a:endParaRPr>
          </a:p>
          <a:p>
            <a:pPr marL="17604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namespace</a:t>
            </a:r>
            <a:r>
              <a:rPr b="0" lang="fr-FR" sz="14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"code-red"</a:t>
            </a:r>
            <a:r>
              <a:rPr b="0" lang="fr-FR" sz="14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deleted</a:t>
            </a:r>
            <a:endParaRPr b="0" lang="fr-FR" sz="1400" spc="-1" strike="noStrike">
              <a:latin typeface="Arial"/>
            </a:endParaRPr>
          </a:p>
          <a:p>
            <a:pPr marL="176040">
              <a:lnSpc>
                <a:spcPct val="100000"/>
              </a:lnSpc>
              <a:spcBef>
                <a:spcPts val="34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176040">
              <a:lnSpc>
                <a:spcPts val="1664"/>
              </a:lnSpc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get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pods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-n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code-red</a:t>
            </a:r>
            <a:endParaRPr b="0" lang="fr-FR" sz="1400" spc="-1" strike="noStrike">
              <a:latin typeface="Arial"/>
            </a:endParaRPr>
          </a:p>
          <a:p>
            <a:pPr marL="17604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No</a:t>
            </a:r>
            <a:r>
              <a:rPr b="0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resources</a:t>
            </a:r>
            <a:r>
              <a:rPr b="0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found</a:t>
            </a:r>
            <a:r>
              <a:rPr b="0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in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code-red</a:t>
            </a:r>
            <a:r>
              <a:rPr b="0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namespace.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523" name="object 5"/>
          <p:cNvSpPr/>
          <p:nvPr/>
        </p:nvSpPr>
        <p:spPr>
          <a:xfrm>
            <a:off x="8701560" y="4908600"/>
            <a:ext cx="2019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32E96EF2-D963-41CB-BF4F-9D02F3B3E54E}" type="slidenum">
              <a:rPr b="0" lang="fr-FR" sz="800" spc="-7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object 2"/>
          <p:cNvSpPr/>
          <p:nvPr/>
        </p:nvSpPr>
        <p:spPr>
          <a:xfrm>
            <a:off x="494280" y="371880"/>
            <a:ext cx="148320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2400" spc="-15" strike="noStrike">
                <a:solidFill>
                  <a:srgbClr val="000000"/>
                </a:solidFill>
                <a:latin typeface="Tahoma"/>
                <a:ea typeface="DejaVu Sans"/>
              </a:rPr>
              <a:t>Lab 02</a:t>
            </a:r>
            <a:endParaRPr b="0" lang="fr-FR" sz="2400" spc="-1" strike="noStrike">
              <a:latin typeface="Arial"/>
            </a:endParaRPr>
          </a:p>
        </p:txBody>
      </p:sp>
      <p:sp>
        <p:nvSpPr>
          <p:cNvPr id="525" name="object 3"/>
          <p:cNvSpPr/>
          <p:nvPr/>
        </p:nvSpPr>
        <p:spPr>
          <a:xfrm>
            <a:off x="494280" y="1323360"/>
            <a:ext cx="5263200" cy="152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14000"/>
              </a:lnSpc>
              <a:spcBef>
                <a:spcPts val="99"/>
              </a:spcBef>
              <a:buNone/>
            </a:pP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Creating, inspecting, and </a:t>
            </a:r>
            <a:r>
              <a:rPr b="0" lang="fr-FR" sz="29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interacting</a:t>
            </a:r>
            <a:r>
              <a:rPr b="0" lang="fr-FR" sz="29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with</a:t>
            </a:r>
            <a:r>
              <a:rPr b="0" lang="fr-FR" sz="29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29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12" strike="noStrike">
                <a:solidFill>
                  <a:srgbClr val="000000"/>
                </a:solidFill>
                <a:latin typeface="Arial MT"/>
                <a:ea typeface="DejaVu Sans"/>
              </a:rPr>
              <a:t>Pod</a:t>
            </a:r>
            <a:r>
              <a:rPr b="0" lang="fr-FR" sz="29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in</a:t>
            </a:r>
            <a:r>
              <a:rPr b="0" lang="fr-FR" sz="29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2900" spc="-79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Namespace</a:t>
            </a:r>
            <a:endParaRPr b="0" lang="fr-FR" sz="2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6" name="object 2"/>
          <p:cNvGrpSpPr/>
          <p:nvPr/>
        </p:nvGrpSpPr>
        <p:grpSpPr>
          <a:xfrm>
            <a:off x="0" y="0"/>
            <a:ext cx="9140760" cy="5140080"/>
            <a:chOff x="0" y="0"/>
            <a:chExt cx="9140760" cy="5140080"/>
          </a:xfrm>
        </p:grpSpPr>
        <p:pic>
          <p:nvPicPr>
            <p:cNvPr id="527" name="object 3" descr=""/>
            <p:cNvPicPr/>
            <p:nvPr/>
          </p:nvPicPr>
          <p:blipFill>
            <a:blip r:embed="rId1"/>
            <a:stretch/>
          </p:blipFill>
          <p:spPr>
            <a:xfrm>
              <a:off x="0" y="0"/>
              <a:ext cx="9140760" cy="514008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528" name="object 4" descr=""/>
            <p:cNvPicPr/>
            <p:nvPr/>
          </p:nvPicPr>
          <p:blipFill>
            <a:blip r:embed="rId2"/>
            <a:stretch/>
          </p:blipFill>
          <p:spPr>
            <a:xfrm>
              <a:off x="8714160" y="146160"/>
              <a:ext cx="284400" cy="22968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529" name="PlaceHolder 1"/>
          <p:cNvSpPr>
            <a:spLocks noGrp="1"/>
          </p:cNvSpPr>
          <p:nvPr>
            <p:ph type="title"/>
          </p:nvPr>
        </p:nvSpPr>
        <p:spPr>
          <a:xfrm>
            <a:off x="494280" y="1665000"/>
            <a:ext cx="6703200" cy="1381680"/>
          </a:xfrm>
          <a:prstGeom prst="rect">
            <a:avLst/>
          </a:prstGeom>
          <a:noFill/>
          <a:ln w="0">
            <a:noFill/>
          </a:ln>
        </p:spPr>
        <p:txBody>
          <a:bodyPr lIns="0" rIns="0" tIns="195480" bIns="0" anchor="t">
            <a:noAutofit/>
          </a:bodyPr>
          <a:p>
            <a:pPr marL="12600">
              <a:lnSpc>
                <a:spcPct val="100000"/>
              </a:lnSpc>
              <a:spcBef>
                <a:spcPts val="1539"/>
              </a:spcBef>
              <a:buNone/>
            </a:pPr>
            <a:r>
              <a:rPr b="1" lang="fr-FR" sz="3600" spc="126" strike="noStrike">
                <a:solidFill>
                  <a:srgbClr val="ffffff"/>
                </a:solidFill>
                <a:latin typeface="Tahoma"/>
              </a:rPr>
              <a:t>Jobs</a:t>
            </a:r>
            <a:r>
              <a:rPr b="1" lang="fr-FR" sz="3600" spc="-216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600" spc="66" strike="noStrike">
                <a:solidFill>
                  <a:srgbClr val="ffffff"/>
                </a:solidFill>
                <a:latin typeface="Tahoma"/>
              </a:rPr>
              <a:t>and</a:t>
            </a:r>
            <a:r>
              <a:rPr b="1" lang="fr-FR" sz="3600" spc="-216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600" spc="66" strike="noStrike">
                <a:solidFill>
                  <a:srgbClr val="ffffff"/>
                </a:solidFill>
                <a:latin typeface="Tahoma"/>
              </a:rPr>
              <a:t>CronJobs</a:t>
            </a:r>
            <a:endParaRPr b="0" lang="fr-FR" sz="36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720"/>
              </a:spcBef>
              <a:buNone/>
            </a:pPr>
            <a:r>
              <a:rPr b="0" lang="fr-FR" sz="1800" spc="9" strike="noStrike">
                <a:solidFill>
                  <a:srgbClr val="ffffff"/>
                </a:solidFill>
                <a:latin typeface="Lucida Sans Unicode"/>
              </a:rPr>
              <a:t>One-time</a:t>
            </a:r>
            <a:r>
              <a:rPr b="0" lang="fr-FR" sz="1800" spc="-97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15" strike="noStrike">
                <a:solidFill>
                  <a:srgbClr val="ffffff"/>
                </a:solidFill>
                <a:latin typeface="Lucida Sans Unicode"/>
              </a:rPr>
              <a:t>operations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86" strike="noStrike">
                <a:solidFill>
                  <a:srgbClr val="ffffff"/>
                </a:solidFill>
                <a:latin typeface="Lucida Sans Unicode"/>
              </a:rPr>
              <a:t>and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35" strike="noStrike">
                <a:solidFill>
                  <a:srgbClr val="ffffff"/>
                </a:solidFill>
                <a:latin typeface="Lucida Sans Unicode"/>
              </a:rPr>
              <a:t>scheduled</a:t>
            </a:r>
            <a:r>
              <a:rPr b="0" lang="fr-FR" sz="1800" spc="-97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15" strike="noStrike">
                <a:solidFill>
                  <a:srgbClr val="ffffff"/>
                </a:solidFill>
                <a:latin typeface="Lucida Sans Unicode"/>
              </a:rPr>
              <a:t>operations</a:t>
            </a:r>
            <a:endParaRPr b="0" lang="fr-FR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16320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5" strike="noStrike">
                <a:solidFill>
                  <a:srgbClr val="000000"/>
                </a:solidFill>
                <a:latin typeface="Tahoma"/>
              </a:rPr>
              <a:t>What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is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35" strike="noStrike">
                <a:solidFill>
                  <a:srgbClr val="000000"/>
                </a:solidFill>
                <a:latin typeface="Tahoma"/>
              </a:rPr>
              <a:t>Job?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Kubernete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primitive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executing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one-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time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operation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531" name="object 4"/>
          <p:cNvSpPr/>
          <p:nvPr/>
        </p:nvSpPr>
        <p:spPr>
          <a:xfrm>
            <a:off x="8701560" y="4908600"/>
            <a:ext cx="2019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9B8882FE-9566-4004-88E5-3E9FD6A7DA30}" type="slidenum">
              <a:rPr b="0" lang="fr-FR" sz="800" spc="-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532" name="object 3"/>
          <p:cNvSpPr/>
          <p:nvPr/>
        </p:nvSpPr>
        <p:spPr>
          <a:xfrm>
            <a:off x="600120" y="1392840"/>
            <a:ext cx="8397360" cy="275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00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It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runs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functionality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until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specified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number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completions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has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been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reached.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actual work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managed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by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Job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still running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inside of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Pod. Therefore,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you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think of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Job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higher-level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coordination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instance for Pods executing 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workload.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Upon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completion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Job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and its Pods, Kubernetes does not automatically delete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objects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-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they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will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stay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until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they’re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explicitly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deleted.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Keeping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those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objects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helps with debugging 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command run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inside of the Pod and gives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you a chance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inspect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logs.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454320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80" strike="noStrike">
                <a:solidFill>
                  <a:srgbClr val="000000"/>
                </a:solidFill>
                <a:latin typeface="Tahoma"/>
              </a:rPr>
              <a:t>Job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Object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" strike="noStrike">
                <a:solidFill>
                  <a:srgbClr val="000000"/>
                </a:solidFill>
                <a:latin typeface="Tahoma"/>
              </a:rPr>
              <a:t>Hierarchy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31" strike="noStrike">
                <a:solidFill>
                  <a:srgbClr val="666666"/>
                </a:solidFill>
                <a:latin typeface="Lucida Sans Unicode"/>
              </a:rPr>
              <a:t>Job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6" strike="noStrike">
                <a:solidFill>
                  <a:srgbClr val="666666"/>
                </a:solidFill>
                <a:latin typeface="Lucida Sans Unicode"/>
              </a:rPr>
              <a:t>manages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Pods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workload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534" name="object 3" descr=""/>
          <p:cNvPicPr/>
          <p:nvPr/>
        </p:nvPicPr>
        <p:blipFill>
          <a:blip r:embed="rId1"/>
          <a:stretch/>
        </p:blipFill>
        <p:spPr>
          <a:xfrm>
            <a:off x="3031200" y="1707120"/>
            <a:ext cx="2991240" cy="2514600"/>
          </a:xfrm>
          <a:prstGeom prst="rect">
            <a:avLst/>
          </a:prstGeom>
          <a:ln w="0">
            <a:noFill/>
          </a:ln>
        </p:spPr>
      </p:pic>
      <p:sp>
        <p:nvSpPr>
          <p:cNvPr id="535" name="object 4"/>
          <p:cNvSpPr/>
          <p:nvPr/>
        </p:nvSpPr>
        <p:spPr>
          <a:xfrm>
            <a:off x="8701560" y="4908600"/>
            <a:ext cx="2019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FC2A0D9E-403D-4F70-9B64-BD01CD3734BB}" type="slidenum">
              <a:rPr b="0" lang="fr-FR" sz="800" spc="-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60320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9" strike="noStrike">
                <a:solidFill>
                  <a:srgbClr val="000000"/>
                </a:solidFill>
                <a:latin typeface="Tahoma"/>
              </a:rPr>
              <a:t>Creating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80" strike="noStrike">
                <a:solidFill>
                  <a:srgbClr val="000000"/>
                </a:solidFill>
                <a:latin typeface="Tahoma"/>
              </a:rPr>
              <a:t>Job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52" strike="noStrike">
                <a:solidFill>
                  <a:srgbClr val="000000"/>
                </a:solidFill>
                <a:latin typeface="Tahoma"/>
              </a:rPr>
              <a:t>with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Imperative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94" strike="noStrike">
                <a:solidFill>
                  <a:srgbClr val="000000"/>
                </a:solidFill>
                <a:latin typeface="Tahoma"/>
              </a:rPr>
              <a:t>Command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"Increment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counter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render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its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value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terminal"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537" name="object 4"/>
          <p:cNvSpPr/>
          <p:nvPr/>
        </p:nvSpPr>
        <p:spPr>
          <a:xfrm>
            <a:off x="536400" y="1419480"/>
            <a:ext cx="7008480" cy="146844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5040" bIns="0" anchor="t">
            <a:spAutoFit/>
          </a:bodyPr>
          <a:p>
            <a:pPr>
              <a:lnSpc>
                <a:spcPct val="100000"/>
              </a:lnSpc>
              <a:spcBef>
                <a:spcPts val="40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450720" indent="-213480">
              <a:lnSpc>
                <a:spcPts val="1650"/>
              </a:lnSpc>
              <a:buNone/>
              <a:tabLst>
                <a:tab algn="l" pos="0"/>
              </a:tabLst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</a:t>
            </a:r>
            <a:r>
              <a:rPr b="1" lang="fr-FR" sz="14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job</a:t>
            </a:r>
            <a:r>
              <a:rPr b="0" lang="fr-FR" sz="1400" spc="-7" strike="noStrike">
                <a:solidFill>
                  <a:srgbClr val="000000"/>
                </a:solidFill>
                <a:latin typeface="MS Gothic"/>
                <a:ea typeface="DejaVu Sans"/>
              </a:rPr>
              <a:t>↵ </a:t>
            </a:r>
            <a:r>
              <a:rPr b="0" lang="fr-FR" sz="1400" spc="-687" strike="noStrike">
                <a:solidFill>
                  <a:srgbClr val="000000"/>
                </a:solidFill>
                <a:latin typeface="MS Gothic"/>
                <a:ea typeface="DejaVu Sans"/>
              </a:rPr>
              <a:t> </a:t>
            </a:r>
            <a:endParaRPr b="0" lang="fr-FR" sz="1400" spc="-1" strike="noStrike">
              <a:latin typeface="Arial"/>
            </a:endParaRPr>
          </a:p>
          <a:p>
            <a:pPr marL="450720" indent="-213480">
              <a:lnSpc>
                <a:spcPts val="1650"/>
              </a:lnSpc>
              <a:buNone/>
              <a:tabLst>
                <a:tab algn="l" pos="0"/>
              </a:tabLst>
            </a:pPr>
            <a:r>
              <a:rPr b="0" lang="fr-FR" sz="1400" spc="-687" strike="noStrike">
                <a:solidFill>
                  <a:srgbClr val="000000"/>
                </a:solidFill>
                <a:latin typeface="MS Gothic"/>
                <a:ea typeface="DejaVu Sans"/>
              </a:rPr>
              <a:t>	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counter</a:t>
            </a:r>
            <a:r>
              <a:rPr b="0" lang="fr-FR" sz="1400" spc="-7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400" spc="-1" strike="noStrike">
              <a:latin typeface="Arial"/>
            </a:endParaRPr>
          </a:p>
          <a:p>
            <a:pPr marL="450720" indent="-213480">
              <a:lnSpc>
                <a:spcPts val="1585"/>
              </a:lnSpc>
              <a:buNone/>
              <a:tabLst>
                <a:tab algn="l" pos="0"/>
              </a:tabLst>
            </a:pP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--image=nginx:1.24.0</a:t>
            </a:r>
            <a:endParaRPr b="0" lang="fr-FR" sz="1400" spc="-1" strike="noStrike">
              <a:latin typeface="Arial"/>
            </a:endParaRPr>
          </a:p>
          <a:p>
            <a:pPr marL="770760" indent="-320040">
              <a:lnSpc>
                <a:spcPts val="1650"/>
              </a:lnSpc>
              <a:spcBef>
                <a:spcPts val="65"/>
              </a:spcBef>
              <a:buNone/>
              <a:tabLst>
                <a:tab algn="l" pos="0"/>
              </a:tabLst>
            </a:pP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 /bin/sh -c 'counter=0; while </a:t>
            </a: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[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$counter -lt </a:t>
            </a: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3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]; </a:t>
            </a:r>
            <a:r>
              <a:rPr b="1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do</a:t>
            </a:r>
            <a:r>
              <a:rPr b="0" lang="fr-FR" sz="1400" spc="-12" strike="noStrike">
                <a:solidFill>
                  <a:srgbClr val="000000"/>
                </a:solidFill>
                <a:latin typeface="MS Gothic"/>
                <a:ea typeface="DejaVu Sans"/>
              </a:rPr>
              <a:t>↵ </a:t>
            </a:r>
            <a:r>
              <a:rPr b="0" lang="fr-FR" sz="1400" spc="-7" strike="noStrike">
                <a:solidFill>
                  <a:srgbClr val="000000"/>
                </a:solidFill>
                <a:latin typeface="MS Gothic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counter=$((counter+1));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echo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"$counter";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sleep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3;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done;'</a:t>
            </a:r>
            <a:endParaRPr b="0" lang="fr-FR" sz="1400" spc="-1" strike="noStrike">
              <a:latin typeface="Arial"/>
            </a:endParaRPr>
          </a:p>
          <a:p>
            <a:pPr marL="237600" indent="-320040">
              <a:lnSpc>
                <a:spcPts val="1599"/>
              </a:lnSpc>
              <a:buNone/>
              <a:tabLst>
                <a:tab algn="l" pos="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job.batch/counter</a:t>
            </a:r>
            <a:r>
              <a:rPr b="0" lang="fr-FR" sz="14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538" name="object 5"/>
          <p:cNvSpPr/>
          <p:nvPr/>
        </p:nvSpPr>
        <p:spPr>
          <a:xfrm>
            <a:off x="8701560" y="4908600"/>
            <a:ext cx="2019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8787AEC9-48CC-4D72-975B-3CCC1D730CFA}" type="slidenum">
              <a:rPr b="0" lang="fr-FR" sz="800" spc="-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24320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80" strike="noStrike">
                <a:solidFill>
                  <a:srgbClr val="000000"/>
                </a:solidFill>
                <a:latin typeface="Tahoma"/>
              </a:rPr>
              <a:t>Job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YAML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Manifest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"Increment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counter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render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its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value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terminal"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540" name="object 3"/>
          <p:cNvGrpSpPr/>
          <p:nvPr/>
        </p:nvGrpSpPr>
        <p:grpSpPr>
          <a:xfrm>
            <a:off x="460440" y="1212840"/>
            <a:ext cx="3783600" cy="3750480"/>
            <a:chOff x="460440" y="1212840"/>
            <a:chExt cx="3783600" cy="3750480"/>
          </a:xfrm>
        </p:grpSpPr>
        <p:pic>
          <p:nvPicPr>
            <p:cNvPr id="541" name="object 4" descr=""/>
            <p:cNvPicPr/>
            <p:nvPr/>
          </p:nvPicPr>
          <p:blipFill>
            <a:blip r:embed="rId1"/>
            <a:stretch/>
          </p:blipFill>
          <p:spPr>
            <a:xfrm>
              <a:off x="460440" y="1212840"/>
              <a:ext cx="3783600" cy="37504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542" name="object 5"/>
            <p:cNvSpPr/>
            <p:nvPr/>
          </p:nvSpPr>
          <p:spPr>
            <a:xfrm>
              <a:off x="514080" y="1261080"/>
              <a:ext cx="3669480" cy="3636720"/>
            </a:xfrm>
            <a:custGeom>
              <a:avLst/>
              <a:gdLst/>
              <a:ahLst/>
              <a:rect l="l" t="t" r="r" b="b"/>
              <a:pathLst>
                <a:path w="3672840" h="3639820">
                  <a:moveTo>
                    <a:pt x="3672599" y="3639299"/>
                  </a:moveTo>
                  <a:lnTo>
                    <a:pt x="0" y="3639299"/>
                  </a:lnTo>
                  <a:lnTo>
                    <a:pt x="0" y="0"/>
                  </a:lnTo>
                  <a:lnTo>
                    <a:pt x="3672599" y="0"/>
                  </a:lnTo>
                  <a:lnTo>
                    <a:pt x="3672599" y="36392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543" name="object 6"/>
          <p:cNvSpPr/>
          <p:nvPr/>
        </p:nvSpPr>
        <p:spPr>
          <a:xfrm>
            <a:off x="705240" y="1419480"/>
            <a:ext cx="1851480" cy="91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429"/>
              </a:lnSpc>
              <a:spcBef>
                <a:spcPts val="99"/>
              </a:spcBef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apiVersion:</a:t>
            </a:r>
            <a:r>
              <a:rPr b="1" lang="fr-FR" sz="1200" spc="-75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batch/v1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26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</a:t>
            </a:r>
            <a:r>
              <a:rPr b="1" lang="fr-FR" sz="1200" spc="-97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Job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26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metadata:</a:t>
            </a:r>
            <a:endParaRPr b="0" lang="fr-FR" sz="1200" spc="-1" strike="noStrike">
              <a:latin typeface="Arial"/>
            </a:endParaRPr>
          </a:p>
          <a:p>
            <a:pPr marL="195480">
              <a:lnSpc>
                <a:spcPts val="1426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200" spc="-6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counter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34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spec: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544" name="object 7"/>
          <p:cNvSpPr/>
          <p:nvPr/>
        </p:nvSpPr>
        <p:spPr>
          <a:xfrm>
            <a:off x="841320" y="2345400"/>
            <a:ext cx="1514520" cy="53640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59040">
              <a:lnSpc>
                <a:spcPts val="1366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completions:</a:t>
            </a:r>
            <a:r>
              <a:rPr b="1" lang="fr-FR" sz="1200" spc="-97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1</a:t>
            </a:r>
            <a:endParaRPr b="0" lang="fr-FR" sz="1200" spc="-1" strike="noStrike">
              <a:latin typeface="Arial"/>
            </a:endParaRPr>
          </a:p>
          <a:p>
            <a:pPr marL="59040">
              <a:lnSpc>
                <a:spcPts val="1426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parallelism:</a:t>
            </a:r>
            <a:r>
              <a:rPr b="1" lang="fr-FR" sz="1200" spc="-97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1</a:t>
            </a:r>
            <a:endParaRPr b="0" lang="fr-FR" sz="1200" spc="-1" strike="noStrike">
              <a:latin typeface="Arial"/>
            </a:endParaRPr>
          </a:p>
          <a:p>
            <a:pPr marL="59040">
              <a:lnSpc>
                <a:spcPts val="1434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backoffLimit:</a:t>
            </a:r>
            <a:r>
              <a:rPr b="1" lang="fr-FR" sz="1200" spc="-6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6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545" name="object 8"/>
          <p:cNvSpPr/>
          <p:nvPr/>
        </p:nvSpPr>
        <p:spPr>
          <a:xfrm>
            <a:off x="888120" y="2867040"/>
            <a:ext cx="845280" cy="38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9800" bIns="0" anchor="t">
            <a:spAutoFit/>
          </a:bodyPr>
          <a:p>
            <a:pPr marL="195480" indent="-183600">
              <a:lnSpc>
                <a:spcPts val="1429"/>
              </a:lnSpc>
              <a:spcBef>
                <a:spcPts val="156"/>
              </a:spcBef>
              <a:buNone/>
              <a:tabLst>
                <a:tab algn="l" pos="0"/>
              </a:tabLst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template:  spec: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546" name="object 9"/>
          <p:cNvSpPr/>
          <p:nvPr/>
        </p:nvSpPr>
        <p:spPr>
          <a:xfrm>
            <a:off x="1190880" y="3225240"/>
            <a:ext cx="2340000" cy="19872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16560" bIns="0" anchor="t">
            <a:spAutoFit/>
          </a:bodyPr>
          <a:p>
            <a:pPr marL="75600">
              <a:lnSpc>
                <a:spcPct val="100000"/>
              </a:lnSpc>
              <a:spcBef>
                <a:spcPts val="130"/>
              </a:spcBef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restartPolicy:</a:t>
            </a:r>
            <a:r>
              <a:rPr b="1" lang="fr-FR" sz="1200" spc="-6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OnFailure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547" name="object 10"/>
          <p:cNvSpPr/>
          <p:nvPr/>
        </p:nvSpPr>
        <p:spPr>
          <a:xfrm>
            <a:off x="1253880" y="3409920"/>
            <a:ext cx="102816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containers: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548" name="object 11"/>
          <p:cNvSpPr/>
          <p:nvPr/>
        </p:nvSpPr>
        <p:spPr>
          <a:xfrm>
            <a:off x="1253880" y="3591000"/>
            <a:ext cx="1942920" cy="11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95480" indent="-183600">
              <a:lnSpc>
                <a:spcPts val="1434"/>
              </a:lnSpc>
              <a:spcBef>
                <a:spcPts val="99"/>
              </a:spcBef>
              <a:buClr>
                <a:srgbClr val="000000"/>
              </a:buClr>
              <a:buFont typeface="Courier New"/>
              <a:buChar char="-"/>
              <a:tabLst>
                <a:tab algn="l" pos="196200"/>
              </a:tabLst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args:</a:t>
            </a:r>
            <a:endParaRPr b="0" lang="fr-FR" sz="1200" spc="-1" strike="noStrike">
              <a:latin typeface="Arial"/>
            </a:endParaRPr>
          </a:p>
          <a:p>
            <a:pPr lvl="1" marL="378000" indent="-182880">
              <a:lnSpc>
                <a:spcPts val="1426"/>
              </a:lnSpc>
              <a:buClr>
                <a:srgbClr val="000000"/>
              </a:buClr>
              <a:buFont typeface="StarSymbol"/>
              <a:buChar char="-"/>
              <a:tabLst>
                <a:tab algn="l" pos="37836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/bin/sh</a:t>
            </a:r>
            <a:endParaRPr b="0" lang="fr-FR" sz="1200" spc="-1" strike="noStrike">
              <a:latin typeface="Arial"/>
            </a:endParaRPr>
          </a:p>
          <a:p>
            <a:pPr lvl="1" marL="378000" indent="-182880">
              <a:lnSpc>
                <a:spcPts val="1426"/>
              </a:lnSpc>
              <a:buClr>
                <a:srgbClr val="000000"/>
              </a:buClr>
              <a:buFont typeface="StarSymbol"/>
              <a:buChar char="-"/>
              <a:tabLst>
                <a:tab algn="l" pos="37836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-c</a:t>
            </a:r>
            <a:endParaRPr b="0" lang="fr-FR" sz="1200" spc="-1" strike="noStrike">
              <a:latin typeface="Arial"/>
            </a:endParaRPr>
          </a:p>
          <a:p>
            <a:pPr marL="195480">
              <a:lnSpc>
                <a:spcPts val="1426"/>
              </a:lnSpc>
              <a:buNone/>
              <a:tabLst>
                <a:tab algn="l" pos="37836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-</a:t>
            </a:r>
            <a:r>
              <a:rPr b="0" lang="fr-FR" sz="12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200" spc="-1" strike="noStrike">
              <a:latin typeface="Arial"/>
            </a:endParaRPr>
          </a:p>
          <a:p>
            <a:pPr marL="195480">
              <a:lnSpc>
                <a:spcPts val="1426"/>
              </a:lnSpc>
              <a:buNone/>
              <a:tabLst>
                <a:tab algn="l" pos="378360"/>
              </a:tabLst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image:</a:t>
            </a:r>
            <a:r>
              <a:rPr b="1" lang="fr-FR" sz="1200" spc="-80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nginx:1.24.0</a:t>
            </a:r>
            <a:endParaRPr b="0" lang="fr-FR" sz="1200" spc="-1" strike="noStrike">
              <a:latin typeface="Arial"/>
            </a:endParaRPr>
          </a:p>
          <a:p>
            <a:pPr marL="195480">
              <a:lnSpc>
                <a:spcPts val="1429"/>
              </a:lnSpc>
              <a:buNone/>
              <a:tabLst>
                <a:tab algn="l" pos="378360"/>
              </a:tabLst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200" spc="-6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counter</a:t>
            </a:r>
            <a:endParaRPr b="0" lang="fr-FR" sz="1200" spc="-1" strike="noStrike">
              <a:latin typeface="Arial"/>
            </a:endParaRPr>
          </a:p>
        </p:txBody>
      </p:sp>
      <p:grpSp>
        <p:nvGrpSpPr>
          <p:cNvPr id="549" name="object 12"/>
          <p:cNvGrpSpPr/>
          <p:nvPr/>
        </p:nvGrpSpPr>
        <p:grpSpPr>
          <a:xfrm>
            <a:off x="2428920" y="1837080"/>
            <a:ext cx="2584440" cy="1559520"/>
            <a:chOff x="2428920" y="1837080"/>
            <a:chExt cx="2584440" cy="1559520"/>
          </a:xfrm>
        </p:grpSpPr>
        <p:sp>
          <p:nvSpPr>
            <p:cNvPr id="550" name="object 13"/>
            <p:cNvSpPr/>
            <p:nvPr/>
          </p:nvSpPr>
          <p:spPr>
            <a:xfrm>
              <a:off x="2522160" y="1837080"/>
              <a:ext cx="2385000" cy="629280"/>
            </a:xfrm>
            <a:custGeom>
              <a:avLst/>
              <a:gdLst/>
              <a:ahLst/>
              <a:rect l="l" t="t" r="r" b="b"/>
              <a:pathLst>
                <a:path w="2388235" h="632460">
                  <a:moveTo>
                    <a:pt x="2387607" y="0"/>
                  </a:moveTo>
                  <a:lnTo>
                    <a:pt x="0" y="632241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551" name="object 14" descr=""/>
            <p:cNvPicPr/>
            <p:nvPr/>
          </p:nvPicPr>
          <p:blipFill>
            <a:blip r:embed="rId2"/>
            <a:stretch/>
          </p:blipFill>
          <p:spPr>
            <a:xfrm>
              <a:off x="2428920" y="2429280"/>
              <a:ext cx="107280" cy="766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552" name="object 15"/>
            <p:cNvSpPr/>
            <p:nvPr/>
          </p:nvSpPr>
          <p:spPr>
            <a:xfrm>
              <a:off x="3741480" y="3358800"/>
              <a:ext cx="1271880" cy="360"/>
            </a:xfrm>
            <a:custGeom>
              <a:avLst/>
              <a:gdLst/>
              <a:ahLst/>
              <a:rect l="l" t="t" r="r" b="b"/>
              <a:pathLst>
                <a:path w="1275079" h="0">
                  <a:moveTo>
                    <a:pt x="12749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553" name="object 16" descr=""/>
            <p:cNvPicPr/>
            <p:nvPr/>
          </p:nvPicPr>
          <p:blipFill>
            <a:blip r:embed="rId3"/>
            <a:stretch/>
          </p:blipFill>
          <p:spPr>
            <a:xfrm>
              <a:off x="3645720" y="3317760"/>
              <a:ext cx="102240" cy="788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554" name="object 17"/>
            <p:cNvSpPr/>
            <p:nvPr/>
          </p:nvSpPr>
          <p:spPr>
            <a:xfrm>
              <a:off x="2525760" y="2802960"/>
              <a:ext cx="2461320" cy="360"/>
            </a:xfrm>
            <a:custGeom>
              <a:avLst/>
              <a:gdLst/>
              <a:ahLst/>
              <a:rect l="l" t="t" r="r" b="b"/>
              <a:pathLst>
                <a:path w="2464435" h="0">
                  <a:moveTo>
                    <a:pt x="24638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555" name="object 18" descr=""/>
            <p:cNvPicPr/>
            <p:nvPr/>
          </p:nvPicPr>
          <p:blipFill>
            <a:blip r:embed="rId4"/>
            <a:stretch/>
          </p:blipFill>
          <p:spPr>
            <a:xfrm>
              <a:off x="2430000" y="2762280"/>
              <a:ext cx="102240" cy="788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556" name="object 19"/>
          <p:cNvSpPr/>
          <p:nvPr/>
        </p:nvSpPr>
        <p:spPr>
          <a:xfrm>
            <a:off x="5153040" y="1474560"/>
            <a:ext cx="3124440" cy="21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 indent="1440" algn="ctr">
              <a:lnSpc>
                <a:spcPct val="100000"/>
              </a:lnSpc>
              <a:spcBef>
                <a:spcPts val="99"/>
              </a:spcBef>
              <a:buNone/>
              <a:tabLst>
                <a:tab algn="l" pos="0"/>
              </a:tabLst>
            </a:pP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Define 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#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of 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successful  completions</a:t>
            </a:r>
            <a:r>
              <a:rPr b="0" lang="fr-FR" sz="15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and</a:t>
            </a:r>
            <a:r>
              <a:rPr b="0" lang="fr-FR" sz="15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whether</a:t>
            </a:r>
            <a:r>
              <a:rPr b="0" lang="fr-FR" sz="15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task </a:t>
            </a:r>
            <a:r>
              <a:rPr b="0" lang="fr-FR" sz="1500" spc="-40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should</a:t>
            </a:r>
            <a:r>
              <a:rPr b="0" lang="fr-FR" sz="15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be</a:t>
            </a:r>
            <a:r>
              <a:rPr b="0" lang="fr-FR" sz="15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run</a:t>
            </a:r>
            <a:r>
              <a:rPr b="0" lang="fr-FR" sz="15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in</a:t>
            </a:r>
            <a:r>
              <a:rPr b="0" lang="fr-FR" sz="15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parallel</a:t>
            </a:r>
            <a:endParaRPr b="0" lang="fr-FR" sz="1500" spc="-1" strike="noStrike">
              <a:latin typeface="Arial"/>
            </a:endParaRPr>
          </a:p>
          <a:p>
            <a:pPr marL="12600" indent="1440">
              <a:lnSpc>
                <a:spcPct val="100000"/>
              </a:lnSpc>
              <a:buNone/>
              <a:tabLst>
                <a:tab algn="l" pos="0"/>
              </a:tabLst>
            </a:pPr>
            <a:endParaRPr b="0" lang="fr-FR" sz="1700" spc="-1" strike="noStrike">
              <a:latin typeface="Arial"/>
            </a:endParaRPr>
          </a:p>
          <a:p>
            <a:pPr marL="176040" indent="79200">
              <a:lnSpc>
                <a:spcPct val="100000"/>
              </a:lnSpc>
              <a:spcBef>
                <a:spcPts val="1066"/>
              </a:spcBef>
              <a:buNone/>
              <a:tabLst>
                <a:tab algn="l" pos="0"/>
              </a:tabLst>
            </a:pP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How 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many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times do we try 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before</a:t>
            </a:r>
            <a:r>
              <a:rPr b="0" lang="fr-FR" sz="15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Job</a:t>
            </a:r>
            <a:r>
              <a:rPr b="0" lang="fr-FR" sz="15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is</a:t>
            </a:r>
            <a:r>
              <a:rPr b="0" lang="fr-FR" sz="15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marked</a:t>
            </a:r>
            <a:r>
              <a:rPr b="0" lang="fr-FR" sz="15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failed?</a:t>
            </a:r>
            <a:endParaRPr b="0" lang="fr-FR" sz="1500" spc="-1" strike="noStrike">
              <a:latin typeface="Arial"/>
            </a:endParaRPr>
          </a:p>
          <a:p>
            <a:pPr marL="644040" indent="-477000">
              <a:lnSpc>
                <a:spcPct val="100000"/>
              </a:lnSpc>
              <a:spcBef>
                <a:spcPts val="1236"/>
              </a:spcBef>
              <a:buNone/>
              <a:tabLst>
                <a:tab algn="l" pos="0"/>
              </a:tabLst>
            </a:pP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Restart Pod upon failure or </a:t>
            </a:r>
            <a:r>
              <a:rPr b="0" lang="fr-FR" sz="1500" spc="-40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start</a:t>
            </a:r>
            <a:r>
              <a:rPr b="0" lang="fr-FR" sz="15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5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new</a:t>
            </a:r>
            <a:r>
              <a:rPr b="0" lang="fr-FR" sz="15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Pod</a:t>
            </a:r>
            <a:endParaRPr b="0" lang="fr-FR" sz="1500" spc="-1" strike="noStrike">
              <a:latin typeface="Arial"/>
            </a:endParaRPr>
          </a:p>
        </p:txBody>
      </p:sp>
      <p:sp>
        <p:nvSpPr>
          <p:cNvPr id="557" name="object 20"/>
          <p:cNvSpPr/>
          <p:nvPr/>
        </p:nvSpPr>
        <p:spPr>
          <a:xfrm>
            <a:off x="8701560" y="4908600"/>
            <a:ext cx="2019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D3FC3C63-BA57-4BD4-B34F-E65A9A9C3B1F}" type="slidenum">
              <a:rPr b="0" lang="fr-FR" sz="800" spc="-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60320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Inspecting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80" strike="noStrike">
                <a:solidFill>
                  <a:srgbClr val="000000"/>
                </a:solidFill>
                <a:latin typeface="Tahoma"/>
              </a:rPr>
              <a:t>Job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31" strike="noStrike">
                <a:solidFill>
                  <a:srgbClr val="666666"/>
                </a:solidFill>
                <a:latin typeface="Lucida Sans Unicode"/>
              </a:rPr>
              <a:t>Job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is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completed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5" strike="noStrike">
                <a:solidFill>
                  <a:srgbClr val="666666"/>
                </a:solidFill>
                <a:latin typeface="Lucida Sans Unicode"/>
              </a:rPr>
              <a:t>when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configured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04" strike="noStrike">
                <a:solidFill>
                  <a:srgbClr val="666666"/>
                </a:solidFill>
                <a:latin typeface="Lucida Sans Unicode"/>
              </a:rPr>
              <a:t>#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executions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5" strike="noStrike">
                <a:solidFill>
                  <a:srgbClr val="666666"/>
                </a:solidFill>
                <a:latin typeface="Lucida Sans Unicode"/>
              </a:rPr>
              <a:t>has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been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0" strike="noStrike">
                <a:solidFill>
                  <a:srgbClr val="666666"/>
                </a:solidFill>
                <a:latin typeface="Lucida Sans Unicode"/>
              </a:rPr>
              <a:t>reached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559" name="object 6"/>
          <p:cNvSpPr/>
          <p:nvPr/>
        </p:nvSpPr>
        <p:spPr>
          <a:xfrm>
            <a:off x="8701560" y="4908600"/>
            <a:ext cx="2019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BEA52F95-9323-49D8-A35E-76D04D127F6E}" type="slidenum">
              <a:rPr b="0" lang="fr-FR" sz="800" spc="-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560" name="" descr=""/>
          <p:cNvPicPr/>
          <p:nvPr/>
        </p:nvPicPr>
        <p:blipFill>
          <a:blip r:embed="rId1"/>
          <a:stretch/>
        </p:blipFill>
        <p:spPr>
          <a:xfrm>
            <a:off x="494280" y="1256040"/>
            <a:ext cx="5230440" cy="25711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52320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Inspecting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Pod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Logs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Workload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00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0" strike="noStrike">
                <a:solidFill>
                  <a:srgbClr val="666666"/>
                </a:solidFill>
                <a:latin typeface="Lucida Sans Unicode"/>
              </a:rPr>
              <a:t>be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inspected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during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after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execution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562" name="object 4"/>
          <p:cNvSpPr/>
          <p:nvPr/>
        </p:nvSpPr>
        <p:spPr>
          <a:xfrm>
            <a:off x="489240" y="1495800"/>
            <a:ext cx="3473280" cy="104940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520" bIns="0" anchor="t">
            <a:spAutoFit/>
          </a:bodyPr>
          <a:p>
            <a:pPr>
              <a:lnSpc>
                <a:spcPct val="100000"/>
              </a:lnSpc>
              <a:spcBef>
                <a:spcPts val="20"/>
              </a:spcBef>
              <a:buNone/>
            </a:pPr>
            <a:endParaRPr b="0" lang="fr-FR" sz="1350" spc="-1" strike="noStrike">
              <a:latin typeface="Arial"/>
            </a:endParaRPr>
          </a:p>
          <a:p>
            <a:pPr marL="237600">
              <a:lnSpc>
                <a:spcPts val="1664"/>
              </a:lnSpc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logs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counter-z6kdj</a:t>
            </a:r>
            <a:endParaRPr b="0" lang="fr-FR" sz="1400" spc="-1" strike="noStrike">
              <a:latin typeface="Arial"/>
            </a:endParaRPr>
          </a:p>
          <a:p>
            <a:pPr marL="237600">
              <a:lnSpc>
                <a:spcPts val="1650"/>
              </a:lnSpc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1</a:t>
            </a:r>
            <a:endParaRPr b="0" lang="fr-FR" sz="1400" spc="-1" strike="noStrike">
              <a:latin typeface="Arial"/>
            </a:endParaRPr>
          </a:p>
          <a:p>
            <a:pPr marL="237600">
              <a:lnSpc>
                <a:spcPts val="1650"/>
              </a:lnSpc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2</a:t>
            </a:r>
            <a:endParaRPr b="0" lang="fr-FR" sz="1400" spc="-1" strike="noStrike">
              <a:latin typeface="Arial"/>
            </a:endParaRPr>
          </a:p>
          <a:p>
            <a:pPr marL="237600">
              <a:lnSpc>
                <a:spcPts val="1664"/>
              </a:lnSpc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3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563" name="object 5"/>
          <p:cNvSpPr/>
          <p:nvPr/>
        </p:nvSpPr>
        <p:spPr>
          <a:xfrm>
            <a:off x="8701560" y="4908600"/>
            <a:ext cx="2019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A1C3672B-7823-4937-B665-08459A3E26C9}" type="slidenum">
              <a:rPr b="0" lang="fr-FR" sz="800" spc="-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06320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80" strike="noStrike">
                <a:solidFill>
                  <a:srgbClr val="000000"/>
                </a:solidFill>
                <a:latin typeface="Tahoma"/>
              </a:rPr>
              <a:t>Job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Opera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tion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1" strike="noStrike">
                <a:solidFill>
                  <a:srgbClr val="000000"/>
                </a:solidFill>
                <a:latin typeface="Tahoma"/>
              </a:rPr>
              <a:t>Types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Execution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runtime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behavior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workload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00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0" strike="noStrike">
                <a:solidFill>
                  <a:srgbClr val="666666"/>
                </a:solidFill>
                <a:latin typeface="Lucida Sans Unicode"/>
              </a:rPr>
              <a:t>be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fine-tuned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565" name="object 4"/>
          <p:cNvSpPr/>
          <p:nvPr/>
        </p:nvSpPr>
        <p:spPr>
          <a:xfrm>
            <a:off x="8701560" y="4908600"/>
            <a:ext cx="2019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C3A47E09-E861-4B9D-98DA-1279540B6091}" type="slidenum">
              <a:rPr b="0" lang="fr-FR" sz="800" spc="-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566" name="object 3"/>
          <p:cNvSpPr/>
          <p:nvPr/>
        </p:nvSpPr>
        <p:spPr>
          <a:xfrm>
            <a:off x="600120" y="1360440"/>
            <a:ext cx="8217360" cy="223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default behavior of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Job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is to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run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workload in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single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Pod and expect one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successful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completion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(non-parallel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Job).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attribut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spec.completion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  <a:ea typeface="DejaVu Sans"/>
              </a:rPr>
              <a:t>s</a:t>
            </a:r>
            <a:r>
              <a:rPr b="0" lang="fr-FR" sz="1600" spc="-75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controls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th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numbe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o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f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required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successful  completion.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attribut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spec.parallelis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  <a:ea typeface="DejaVu Sans"/>
              </a:rPr>
              <a:t>m</a:t>
            </a:r>
            <a:r>
              <a:rPr b="0" lang="fr-FR" sz="1600" spc="-75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allow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fo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executin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g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th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workloa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d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b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y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multiple 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pods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 parallel.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32320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80" strike="noStrike">
                <a:solidFill>
                  <a:srgbClr val="000000"/>
                </a:solidFill>
                <a:latin typeface="Tahoma"/>
              </a:rPr>
              <a:t>Job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Operation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1" strike="noStrike">
                <a:solidFill>
                  <a:srgbClr val="000000"/>
                </a:solidFill>
                <a:latin typeface="Tahoma"/>
              </a:rPr>
              <a:t>Types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Pick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combination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completions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parallelism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6" strike="noStrike">
                <a:solidFill>
                  <a:srgbClr val="666666"/>
                </a:solidFill>
                <a:latin typeface="Lucida Sans Unicode"/>
              </a:rPr>
              <a:t>based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workload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use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9" strike="noStrike">
                <a:solidFill>
                  <a:srgbClr val="666666"/>
                </a:solidFill>
                <a:latin typeface="Lucida Sans Unicode"/>
              </a:rPr>
              <a:t>case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568" name="object 5"/>
          <p:cNvSpPr/>
          <p:nvPr/>
        </p:nvSpPr>
        <p:spPr>
          <a:xfrm>
            <a:off x="8701560" y="4908600"/>
            <a:ext cx="2019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77721A05-D3E5-4742-BEDD-BFF7EBB86BB5}" type="slidenum">
              <a:rPr b="0" lang="fr-FR" sz="800" spc="-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569" name="" descr=""/>
          <p:cNvPicPr/>
          <p:nvPr/>
        </p:nvPicPr>
        <p:blipFill>
          <a:blip r:embed="rId1"/>
          <a:stretch/>
        </p:blipFill>
        <p:spPr>
          <a:xfrm>
            <a:off x="540000" y="1390680"/>
            <a:ext cx="8189280" cy="23868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06320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5" strike="noStrike">
                <a:solidFill>
                  <a:srgbClr val="000000"/>
                </a:solidFill>
                <a:latin typeface="Tahoma"/>
              </a:rPr>
              <a:t>Restart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Behavior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Re-running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workload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if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execution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is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unsuccessful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571" name="object 4"/>
          <p:cNvSpPr/>
          <p:nvPr/>
        </p:nvSpPr>
        <p:spPr>
          <a:xfrm>
            <a:off x="8701560" y="4908600"/>
            <a:ext cx="2019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249F7799-058B-4857-8D25-01B08BF17E9B}" type="slidenum">
              <a:rPr b="0" lang="fr-FR" sz="800" spc="-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572" name="object 3"/>
          <p:cNvSpPr/>
          <p:nvPr/>
        </p:nvSpPr>
        <p:spPr>
          <a:xfrm>
            <a:off x="600120" y="1360440"/>
            <a:ext cx="8397360" cy="194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attribut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spec.backoffLimi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  <a:ea typeface="DejaVu Sans"/>
              </a:rPr>
              <a:t>t</a:t>
            </a:r>
            <a:r>
              <a:rPr b="0" lang="fr-FR" sz="1600" spc="-7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determine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th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numbe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o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f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retries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Job 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attempts to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successfully complete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workload until the executed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command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finishes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with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exit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code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0.</a:t>
            </a:r>
            <a:r>
              <a:rPr b="0" lang="fr-FR" sz="16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default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is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6,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which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means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it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will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execute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workload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6 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times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before 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Job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is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considered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unsuccessful.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attribute</a:t>
            </a:r>
            <a:r>
              <a:rPr b="0" lang="fr-FR" sz="1600" spc="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2" strike="noStrike">
                <a:solidFill>
                  <a:srgbClr val="000000"/>
                </a:solidFill>
                <a:latin typeface="Courier New"/>
                <a:ea typeface="DejaVu Sans"/>
              </a:rPr>
              <a:t>spec.template.spec.restartPolicy 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needs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be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declared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explicitl</a:t>
            </a:r>
            <a:r>
              <a:rPr b="0" lang="fr-FR" sz="1600" spc="-120" strike="noStrike">
                <a:solidFill>
                  <a:srgbClr val="000000"/>
                </a:solidFill>
                <a:latin typeface="Arial MT"/>
                <a:ea typeface="DejaVu Sans"/>
              </a:rPr>
              <a:t>y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.</a:t>
            </a:r>
            <a:r>
              <a:rPr b="0" lang="fr-FR" sz="16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restart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polic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y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o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f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Job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onl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y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b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OnFailur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  <a:ea typeface="DejaVu Sans"/>
              </a:rPr>
              <a:t>e</a:t>
            </a:r>
            <a:r>
              <a:rPr b="0" lang="fr-FR" sz="1600" spc="-65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Neve</a:t>
            </a:r>
            <a:r>
              <a:rPr b="0" lang="fr-FR" sz="1600" spc="-75" strike="noStrike">
                <a:solidFill>
                  <a:srgbClr val="000000"/>
                </a:solidFill>
                <a:latin typeface="Courier New"/>
                <a:ea typeface="DejaVu Sans"/>
              </a:rPr>
              <a:t>r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3" name="object 2" descr=""/>
          <p:cNvPicPr/>
          <p:nvPr/>
        </p:nvPicPr>
        <p:blipFill>
          <a:blip r:embed="rId1"/>
          <a:stretch/>
        </p:blipFill>
        <p:spPr>
          <a:xfrm>
            <a:off x="8714160" y="146160"/>
            <a:ext cx="284400" cy="229680"/>
          </a:xfrm>
          <a:prstGeom prst="rect">
            <a:avLst/>
          </a:prstGeom>
          <a:ln w="0">
            <a:noFill/>
          </a:ln>
        </p:spPr>
      </p:pic>
      <p:pic>
        <p:nvPicPr>
          <p:cNvPr id="574" name="object 3" descr=""/>
          <p:cNvPicPr/>
          <p:nvPr/>
        </p:nvPicPr>
        <p:blipFill>
          <a:blip r:embed="rId2"/>
          <a:stretch/>
        </p:blipFill>
        <p:spPr>
          <a:xfrm>
            <a:off x="511200" y="227520"/>
            <a:ext cx="1269720" cy="112320"/>
          </a:xfrm>
          <a:prstGeom prst="rect">
            <a:avLst/>
          </a:prstGeom>
          <a:ln w="0">
            <a:noFill/>
          </a:ln>
        </p:spPr>
      </p:pic>
      <p:sp>
        <p:nvSpPr>
          <p:cNvPr id="575" name="object 4"/>
          <p:cNvSpPr/>
          <p:nvPr/>
        </p:nvSpPr>
        <p:spPr>
          <a:xfrm>
            <a:off x="494280" y="342720"/>
            <a:ext cx="5983200" cy="66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1760" bIns="0" anchor="t">
            <a:sp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2" strike="noStrike">
                <a:solidFill>
                  <a:srgbClr val="000000"/>
                </a:solidFill>
                <a:latin typeface="Tahoma"/>
                <a:ea typeface="DejaVu Sans"/>
              </a:rPr>
              <a:t>Restarting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  <a:ea typeface="DejaVu Sans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  <a:ea typeface="DejaVu Sans"/>
              </a:rPr>
              <a:t>a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  <a:ea typeface="DejaVu Sans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  <a:ea typeface="DejaVu Sans"/>
              </a:rPr>
              <a:t>Container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  <a:ea typeface="DejaVu Sans"/>
              </a:rPr>
              <a:t> </a:t>
            </a:r>
            <a:r>
              <a:rPr b="1" lang="fr-FR" sz="2400" spc="-7" strike="noStrike">
                <a:solidFill>
                  <a:srgbClr val="000000"/>
                </a:solidFill>
                <a:latin typeface="Tahoma"/>
                <a:ea typeface="DejaVu Sans"/>
              </a:rPr>
              <a:t>on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  <a:ea typeface="DejaVu Sans"/>
              </a:rPr>
              <a:t> </a:t>
            </a:r>
            <a:r>
              <a:rPr b="1" lang="fr-FR" sz="2400" spc="-7" strike="noStrike">
                <a:solidFill>
                  <a:srgbClr val="000000"/>
                </a:solidFill>
                <a:latin typeface="Tahoma"/>
                <a:ea typeface="DejaVu Sans"/>
              </a:rPr>
              <a:t>Failure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" strike="noStrike">
                <a:solidFill>
                  <a:srgbClr val="666666"/>
                </a:solidFill>
                <a:latin typeface="Lucida Sans Unicode"/>
                <a:ea typeface="DejaVu Sans"/>
              </a:rPr>
              <a:t>Restart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  <a:ea typeface="DejaVu Sans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  <a:ea typeface="DejaVu Sans"/>
              </a:rPr>
              <a:t>container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  <a:ea typeface="DejaVu Sans"/>
              </a:rPr>
              <a:t> 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  <a:ea typeface="DejaVu Sans"/>
              </a:rPr>
              <a:t>if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  <a:ea typeface="DejaVu Sans"/>
              </a:rPr>
              <a:t> </a:t>
            </a:r>
            <a:r>
              <a:rPr b="0" lang="fr-FR" sz="1600" spc="-46" strike="noStrike">
                <a:solidFill>
                  <a:srgbClr val="666666"/>
                </a:solidFill>
                <a:latin typeface="Lucida Sans Unicode"/>
                <a:ea typeface="DejaVu Sans"/>
              </a:rPr>
              <a:t>it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  <a:ea typeface="DejaVu Sans"/>
              </a:rPr>
              <a:t> </a:t>
            </a:r>
            <a:r>
              <a:rPr b="0" lang="fr-FR" sz="1600" spc="-41" strike="noStrike">
                <a:solidFill>
                  <a:srgbClr val="666666"/>
                </a:solidFill>
                <a:latin typeface="Lucida Sans Unicode"/>
                <a:ea typeface="DejaVu Sans"/>
              </a:rPr>
              <a:t>exits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  <a:ea typeface="DejaVu Sans"/>
              </a:rPr>
              <a:t>with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  <a:ea typeface="DejaVu Sans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  <a:ea typeface="DejaVu Sans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  <a:ea typeface="DejaVu Sans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  <a:ea typeface="DejaVu Sans"/>
              </a:rPr>
              <a:t>non-zero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  <a:ea typeface="DejaVu Sans"/>
              </a:rPr>
              <a:t> </a:t>
            </a:r>
            <a:r>
              <a:rPr b="0" lang="fr-FR" sz="1600" spc="-52" strike="noStrike">
                <a:solidFill>
                  <a:srgbClr val="666666"/>
                </a:solidFill>
                <a:latin typeface="Lucida Sans Unicode"/>
                <a:ea typeface="DejaVu Sans"/>
              </a:rPr>
              <a:t>exit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  <a:ea typeface="DejaVu Sans"/>
              </a:rPr>
              <a:t> </a:t>
            </a:r>
            <a:r>
              <a:rPr b="0" lang="fr-FR" sz="1600" spc="66" strike="noStrike">
                <a:solidFill>
                  <a:srgbClr val="666666"/>
                </a:solidFill>
                <a:latin typeface="Lucida Sans Unicode"/>
                <a:ea typeface="DejaVu Sans"/>
              </a:rPr>
              <a:t>code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576" name="object 5" descr=""/>
          <p:cNvPicPr/>
          <p:nvPr/>
        </p:nvPicPr>
        <p:blipFill>
          <a:blip r:embed="rId3"/>
          <a:stretch/>
        </p:blipFill>
        <p:spPr>
          <a:xfrm>
            <a:off x="1044720" y="2541960"/>
            <a:ext cx="7051680" cy="1368360"/>
          </a:xfrm>
          <a:prstGeom prst="rect">
            <a:avLst/>
          </a:prstGeom>
          <a:ln w="0">
            <a:noFill/>
          </a:ln>
        </p:spPr>
      </p:pic>
      <p:sp>
        <p:nvSpPr>
          <p:cNvPr id="577" name="object 6"/>
          <p:cNvSpPr/>
          <p:nvPr/>
        </p:nvSpPr>
        <p:spPr>
          <a:xfrm>
            <a:off x="1837440" y="1735560"/>
            <a:ext cx="52639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spec.template.spec.restartPolicy:</a:t>
            </a:r>
            <a:r>
              <a:rPr b="1" lang="fr-FR" sz="1600" spc="-80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OnFailure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578" name="object 7"/>
          <p:cNvSpPr/>
          <p:nvPr/>
        </p:nvSpPr>
        <p:spPr>
          <a:xfrm>
            <a:off x="8701560" y="4908600"/>
            <a:ext cx="2019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A1E73C09-AFC0-492E-8006-3B6675598F5A}" type="slidenum">
              <a:rPr b="0" lang="fr-FR" sz="800" spc="-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9" name="object 2" descr=""/>
          <p:cNvPicPr/>
          <p:nvPr/>
        </p:nvPicPr>
        <p:blipFill>
          <a:blip r:embed="rId1"/>
          <a:stretch/>
        </p:blipFill>
        <p:spPr>
          <a:xfrm>
            <a:off x="8714160" y="146160"/>
            <a:ext cx="284400" cy="229680"/>
          </a:xfrm>
          <a:prstGeom prst="rect">
            <a:avLst/>
          </a:prstGeom>
          <a:ln w="0">
            <a:noFill/>
          </a:ln>
        </p:spPr>
      </p:pic>
      <p:pic>
        <p:nvPicPr>
          <p:cNvPr id="580" name="object 3" descr=""/>
          <p:cNvPicPr/>
          <p:nvPr/>
        </p:nvPicPr>
        <p:blipFill>
          <a:blip r:embed="rId2"/>
          <a:stretch/>
        </p:blipFill>
        <p:spPr>
          <a:xfrm>
            <a:off x="511200" y="227520"/>
            <a:ext cx="1269720" cy="112320"/>
          </a:xfrm>
          <a:prstGeom prst="rect">
            <a:avLst/>
          </a:prstGeom>
          <a:ln w="0">
            <a:noFill/>
          </a:ln>
        </p:spPr>
      </p:pic>
      <p:sp>
        <p:nvSpPr>
          <p:cNvPr id="581" name="object 4"/>
          <p:cNvSpPr/>
          <p:nvPr/>
        </p:nvSpPr>
        <p:spPr>
          <a:xfrm>
            <a:off x="511200" y="342720"/>
            <a:ext cx="7946280" cy="66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1760" bIns="0" anchor="t">
            <a:sp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2" strike="noStrike">
                <a:solidFill>
                  <a:srgbClr val="000000"/>
                </a:solidFill>
                <a:latin typeface="Tahoma"/>
                <a:ea typeface="DejaVu Sans"/>
              </a:rPr>
              <a:t>Starting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  <a:ea typeface="DejaVu Sans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  <a:ea typeface="DejaVu Sans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  <a:ea typeface="DejaVu Sans"/>
              </a:rPr>
              <a:t> </a:t>
            </a:r>
            <a:r>
              <a:rPr b="1" lang="fr-FR" sz="2400" spc="-52" strike="noStrike">
                <a:solidFill>
                  <a:srgbClr val="000000"/>
                </a:solidFill>
                <a:latin typeface="Tahoma"/>
                <a:ea typeface="DejaVu Sans"/>
              </a:rPr>
              <a:t>New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  <a:ea typeface="DejaVu Sans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  <a:ea typeface="DejaVu Sans"/>
              </a:rPr>
              <a:t>Pod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  <a:ea typeface="DejaVu Sans"/>
              </a:rPr>
              <a:t> </a:t>
            </a:r>
            <a:r>
              <a:rPr b="1" lang="fr-FR" sz="2400" spc="-7" strike="noStrike">
                <a:solidFill>
                  <a:srgbClr val="000000"/>
                </a:solidFill>
                <a:latin typeface="Tahoma"/>
                <a:ea typeface="DejaVu Sans"/>
              </a:rPr>
              <a:t>on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  <a:ea typeface="DejaVu Sans"/>
              </a:rPr>
              <a:t> </a:t>
            </a:r>
            <a:r>
              <a:rPr b="1" lang="fr-FR" sz="2400" spc="-7" strike="noStrike">
                <a:solidFill>
                  <a:srgbClr val="000000"/>
                </a:solidFill>
                <a:latin typeface="Tahoma"/>
                <a:ea typeface="DejaVu Sans"/>
              </a:rPr>
              <a:t>Failure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7" strike="noStrike">
                <a:solidFill>
                  <a:srgbClr val="666666"/>
                </a:solidFill>
                <a:latin typeface="Lucida Sans Unicode"/>
                <a:ea typeface="DejaVu Sans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  <a:ea typeface="DejaVu Sans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  <a:ea typeface="DejaVu Sans"/>
              </a:rPr>
              <a:t>policy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  <a:ea typeface="DejaVu Sans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  <a:ea typeface="DejaVu Sans"/>
              </a:rPr>
              <a:t>does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  <a:ea typeface="DejaVu Sans"/>
              </a:rPr>
              <a:t>not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  <a:ea typeface="DejaVu Sans"/>
              </a:rPr>
              <a:t>restart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  <a:ea typeface="DejaVu Sans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  <a:ea typeface="DejaVu Sans"/>
              </a:rPr>
              <a:t>the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  <a:ea typeface="DejaVu Sans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  <a:ea typeface="DejaVu Sans"/>
              </a:rPr>
              <a:t>container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  <a:ea typeface="DejaVu Sans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  <a:ea typeface="DejaVu Sans"/>
              </a:rPr>
              <a:t>upon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  <a:ea typeface="DejaVu Sans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  <a:ea typeface="DejaVu Sans"/>
              </a:rPr>
              <a:t>a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  <a:ea typeface="DejaVu Sans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  <a:ea typeface="DejaVu Sans"/>
              </a:rPr>
              <a:t>failure,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  <a:ea typeface="DejaVu Sans"/>
              </a:rPr>
              <a:t> </a:t>
            </a:r>
            <a:r>
              <a:rPr b="0" lang="fr-FR" sz="1600" spc="-46" strike="noStrike">
                <a:solidFill>
                  <a:srgbClr val="666666"/>
                </a:solidFill>
                <a:latin typeface="Lucida Sans Unicode"/>
                <a:ea typeface="DejaVu Sans"/>
              </a:rPr>
              <a:t>it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  <a:ea typeface="DejaVu Sans"/>
              </a:rPr>
              <a:t>starts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  <a:ea typeface="DejaVu Sans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  <a:ea typeface="DejaVu Sans"/>
              </a:rPr>
              <a:t>a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  <a:ea typeface="DejaVu Sans"/>
              </a:rPr>
              <a:t> </a:t>
            </a:r>
            <a:r>
              <a:rPr b="0" lang="fr-FR" sz="1600" spc="46" strike="noStrike">
                <a:solidFill>
                  <a:srgbClr val="666666"/>
                </a:solidFill>
                <a:latin typeface="Lucida Sans Unicode"/>
                <a:ea typeface="DejaVu Sans"/>
              </a:rPr>
              <a:t>new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Lucida Sans Unicode"/>
                <a:ea typeface="DejaVu Sans"/>
              </a:rPr>
              <a:t>Pod.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582" name="object 5"/>
          <p:cNvSpPr/>
          <p:nvPr/>
        </p:nvSpPr>
        <p:spPr>
          <a:xfrm>
            <a:off x="1837440" y="1735560"/>
            <a:ext cx="47764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spec.template.spec.restartPolicy:</a:t>
            </a:r>
            <a:r>
              <a:rPr b="1" lang="fr-FR" sz="1600" spc="-80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Never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583" name="object 6" descr=""/>
          <p:cNvPicPr/>
          <p:nvPr/>
        </p:nvPicPr>
        <p:blipFill>
          <a:blip r:embed="rId3"/>
          <a:stretch/>
        </p:blipFill>
        <p:spPr>
          <a:xfrm>
            <a:off x="1008360" y="2563560"/>
            <a:ext cx="7124400" cy="1382400"/>
          </a:xfrm>
          <a:prstGeom prst="rect">
            <a:avLst/>
          </a:prstGeom>
          <a:ln w="0">
            <a:noFill/>
          </a:ln>
        </p:spPr>
      </p:pic>
      <p:sp>
        <p:nvSpPr>
          <p:cNvPr id="584" name="object 7"/>
          <p:cNvSpPr/>
          <p:nvPr/>
        </p:nvSpPr>
        <p:spPr>
          <a:xfrm>
            <a:off x="8701560" y="4908600"/>
            <a:ext cx="2019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DEB4F6FD-646C-4230-8016-1B2D7E15880B}" type="slidenum">
              <a:rPr b="0" lang="fr-FR" sz="800" spc="-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96320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5" strike="noStrike">
                <a:solidFill>
                  <a:srgbClr val="000000"/>
                </a:solidFill>
                <a:latin typeface="Tahoma"/>
              </a:rPr>
              <a:t>What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is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1" strike="noStrike">
                <a:solidFill>
                  <a:srgbClr val="000000"/>
                </a:solidFill>
                <a:latin typeface="Tahoma"/>
              </a:rPr>
              <a:t>CronJob?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Kubernetes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primitive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executing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workload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periodically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6" strike="noStrike">
                <a:solidFill>
                  <a:srgbClr val="666666"/>
                </a:solidFill>
                <a:latin typeface="Lucida Sans Unicode"/>
              </a:rPr>
              <a:t>based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schedule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586" name="object 3"/>
          <p:cNvSpPr/>
          <p:nvPr/>
        </p:nvSpPr>
        <p:spPr>
          <a:xfrm>
            <a:off x="600120" y="1392840"/>
            <a:ext cx="8037360" cy="10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00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0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CronJob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essentially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Job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with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similar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characteristics.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schedule can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be defined with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cron-expression you may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already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know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from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Unix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cron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jobs.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587" name="object 4" descr=""/>
          <p:cNvPicPr/>
          <p:nvPr/>
        </p:nvPicPr>
        <p:blipFill>
          <a:blip r:embed="rId1"/>
          <a:stretch/>
        </p:blipFill>
        <p:spPr>
          <a:xfrm>
            <a:off x="1557360" y="3007800"/>
            <a:ext cx="6128280" cy="1499400"/>
          </a:xfrm>
          <a:prstGeom prst="rect">
            <a:avLst/>
          </a:prstGeom>
          <a:ln w="0">
            <a:noFill/>
          </a:ln>
        </p:spPr>
      </p:pic>
      <p:sp>
        <p:nvSpPr>
          <p:cNvPr id="588" name="object 5"/>
          <p:cNvSpPr/>
          <p:nvPr/>
        </p:nvSpPr>
        <p:spPr>
          <a:xfrm>
            <a:off x="8701560" y="4908600"/>
            <a:ext cx="2019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53D7577D-83AC-49EE-B659-A74898DE69D5}" type="slidenum">
              <a:rPr b="0" lang="fr-FR" sz="800" spc="-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06320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35" strike="noStrike">
                <a:solidFill>
                  <a:srgbClr val="000000"/>
                </a:solidFill>
                <a:latin typeface="Tahoma"/>
              </a:rPr>
              <a:t>CronJob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Object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" strike="noStrike">
                <a:solidFill>
                  <a:srgbClr val="000000"/>
                </a:solidFill>
                <a:latin typeface="Tahoma"/>
              </a:rPr>
              <a:t>Hierarchy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0" strike="noStrike">
                <a:solidFill>
                  <a:srgbClr val="666666"/>
                </a:solidFill>
                <a:latin typeface="Lucida Sans Unicode"/>
              </a:rPr>
              <a:t>CronJob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6" strike="noStrike">
                <a:solidFill>
                  <a:srgbClr val="666666"/>
                </a:solidFill>
                <a:latin typeface="Lucida Sans Unicode"/>
              </a:rPr>
              <a:t>manages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4" strike="noStrike">
                <a:solidFill>
                  <a:srgbClr val="666666"/>
                </a:solidFill>
                <a:latin typeface="Lucida Sans Unicode"/>
              </a:rPr>
              <a:t>Jobs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which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6" strike="noStrike">
                <a:solidFill>
                  <a:srgbClr val="666666"/>
                </a:solidFill>
                <a:latin typeface="Lucida Sans Unicode"/>
              </a:rPr>
              <a:t>delegate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workload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Pods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590" name="object 3" descr=""/>
          <p:cNvPicPr/>
          <p:nvPr/>
        </p:nvPicPr>
        <p:blipFill>
          <a:blip r:embed="rId1"/>
          <a:stretch/>
        </p:blipFill>
        <p:spPr>
          <a:xfrm>
            <a:off x="3468240" y="1656720"/>
            <a:ext cx="2203920" cy="2911680"/>
          </a:xfrm>
          <a:prstGeom prst="rect">
            <a:avLst/>
          </a:prstGeom>
          <a:ln w="0">
            <a:noFill/>
          </a:ln>
        </p:spPr>
      </p:pic>
      <p:sp>
        <p:nvSpPr>
          <p:cNvPr id="591" name="object 4"/>
          <p:cNvSpPr/>
          <p:nvPr/>
        </p:nvSpPr>
        <p:spPr>
          <a:xfrm>
            <a:off x="8701560" y="4908600"/>
            <a:ext cx="2019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94AC6DB9-0F12-4056-887F-6EEFB600F5CD}" type="slidenum">
              <a:rPr b="0" lang="fr-FR" sz="800" spc="-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32320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9" strike="noStrike">
                <a:solidFill>
                  <a:srgbClr val="000000"/>
                </a:solidFill>
                <a:latin typeface="Tahoma"/>
              </a:rPr>
              <a:t>Creating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35" strike="noStrike">
                <a:solidFill>
                  <a:srgbClr val="000000"/>
                </a:solidFill>
                <a:latin typeface="Tahoma"/>
              </a:rPr>
              <a:t>CronJob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52" strike="noStrike">
                <a:solidFill>
                  <a:srgbClr val="000000"/>
                </a:solidFill>
                <a:latin typeface="Tahoma"/>
              </a:rPr>
              <a:t>with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Imperative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94" strike="noStrike">
                <a:solidFill>
                  <a:srgbClr val="000000"/>
                </a:solidFill>
                <a:latin typeface="Tahoma"/>
              </a:rPr>
              <a:t>Command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"Render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current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0" strike="noStrike">
                <a:solidFill>
                  <a:srgbClr val="666666"/>
                </a:solidFill>
                <a:latin typeface="Lucida Sans Unicode"/>
              </a:rPr>
              <a:t>date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standard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output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every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hour"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593" name="object 4"/>
          <p:cNvSpPr/>
          <p:nvPr/>
        </p:nvSpPr>
        <p:spPr>
          <a:xfrm>
            <a:off x="536400" y="1419480"/>
            <a:ext cx="7008480" cy="146844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5040" bIns="0" anchor="t">
            <a:spAutoFit/>
          </a:bodyPr>
          <a:p>
            <a:pPr>
              <a:lnSpc>
                <a:spcPct val="100000"/>
              </a:lnSpc>
              <a:spcBef>
                <a:spcPts val="40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450720" indent="-213480">
              <a:lnSpc>
                <a:spcPts val="1650"/>
              </a:lnSpc>
              <a:buNone/>
              <a:tabLst>
                <a:tab algn="l" pos="0"/>
              </a:tabLst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 create cronjob</a:t>
            </a:r>
            <a:r>
              <a:rPr b="0" lang="fr-FR" sz="1400" spc="-7" strike="noStrike">
                <a:solidFill>
                  <a:srgbClr val="000000"/>
                </a:solidFill>
                <a:latin typeface="MS Gothic"/>
                <a:ea typeface="DejaVu Sans"/>
              </a:rPr>
              <a:t>↵ </a:t>
            </a:r>
            <a:r>
              <a:rPr b="0" lang="fr-FR" sz="1400" spc="-687" strike="noStrike">
                <a:solidFill>
                  <a:srgbClr val="000000"/>
                </a:solidFill>
                <a:latin typeface="MS Gothic"/>
                <a:ea typeface="DejaVu Sans"/>
              </a:rPr>
              <a:t> </a:t>
            </a:r>
            <a:endParaRPr b="0" lang="fr-FR" sz="1400" spc="-1" strike="noStrike">
              <a:latin typeface="Arial"/>
            </a:endParaRPr>
          </a:p>
          <a:p>
            <a:pPr marL="450720" indent="-213480">
              <a:lnSpc>
                <a:spcPts val="1650"/>
              </a:lnSpc>
              <a:buNone/>
              <a:tabLst>
                <a:tab algn="l" pos="0"/>
              </a:tabLst>
            </a:pPr>
            <a:r>
              <a:rPr b="0" lang="fr-FR" sz="1400" spc="-687" strike="noStrike">
                <a:solidFill>
                  <a:srgbClr val="000000"/>
                </a:solidFill>
                <a:latin typeface="MS Gothic"/>
                <a:ea typeface="DejaVu Sans"/>
              </a:rPr>
              <a:t>	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current-date</a:t>
            </a:r>
            <a:r>
              <a:rPr b="0" lang="fr-FR" sz="1400" spc="-7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400" spc="-1" strike="noStrike">
              <a:latin typeface="Arial"/>
            </a:endParaRPr>
          </a:p>
          <a:p>
            <a:pPr marL="450720" indent="-213480">
              <a:lnSpc>
                <a:spcPts val="1585"/>
              </a:lnSpc>
              <a:buNone/>
              <a:tabLst>
                <a:tab algn="l" pos="0"/>
              </a:tabLst>
            </a:pP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--schedule="*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*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*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*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*"</a:t>
            </a:r>
            <a:r>
              <a:rPr b="0" lang="fr-FR" sz="1400" spc="-7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400" spc="-1" strike="noStrike">
              <a:latin typeface="Arial"/>
            </a:endParaRPr>
          </a:p>
          <a:p>
            <a:pPr marL="450720" indent="-213480">
              <a:lnSpc>
                <a:spcPts val="1650"/>
              </a:lnSpc>
              <a:buNone/>
              <a:tabLst>
                <a:tab algn="l" pos="0"/>
              </a:tabLst>
            </a:pP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--image=nginx:1.24.0</a:t>
            </a:r>
            <a:endParaRPr b="0" lang="fr-FR" sz="1400" spc="-1" strike="noStrike">
              <a:latin typeface="Arial"/>
            </a:endParaRPr>
          </a:p>
          <a:p>
            <a:pPr marL="450720" indent="-213480">
              <a:lnSpc>
                <a:spcPts val="1650"/>
              </a:lnSpc>
              <a:buNone/>
              <a:tabLst>
                <a:tab algn="l" pos="0"/>
              </a:tabLst>
            </a:pP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/bin/sh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-c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'echo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"Current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date: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$(date)"'</a:t>
            </a:r>
            <a:endParaRPr b="0" lang="fr-FR" sz="1400" spc="-1" strike="noStrike">
              <a:latin typeface="Arial"/>
            </a:endParaRPr>
          </a:p>
          <a:p>
            <a:pPr marL="237600" indent="-213480">
              <a:lnSpc>
                <a:spcPts val="1664"/>
              </a:lnSpc>
              <a:buNone/>
              <a:tabLst>
                <a:tab algn="l" pos="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cronjob.batch/current-date</a:t>
            </a:r>
            <a:r>
              <a:rPr b="0" lang="fr-FR" sz="14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594" name="object 5"/>
          <p:cNvSpPr/>
          <p:nvPr/>
        </p:nvSpPr>
        <p:spPr>
          <a:xfrm>
            <a:off x="8701560" y="4908600"/>
            <a:ext cx="2019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EBB7C493-B277-4E58-9A67-7E75A352404E}" type="slidenum">
              <a:rPr b="0" lang="fr-FR" sz="800" spc="-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24320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35" strike="noStrike">
                <a:solidFill>
                  <a:srgbClr val="000000"/>
                </a:solidFill>
                <a:latin typeface="Tahoma"/>
              </a:rPr>
              <a:t>CronJob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YAML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Manifest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"Increment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counter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render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its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value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terminal"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596" name="object 3"/>
          <p:cNvGrpSpPr/>
          <p:nvPr/>
        </p:nvGrpSpPr>
        <p:grpSpPr>
          <a:xfrm>
            <a:off x="373680" y="1212840"/>
            <a:ext cx="3783600" cy="3800880"/>
            <a:chOff x="373680" y="1212840"/>
            <a:chExt cx="3783600" cy="3800880"/>
          </a:xfrm>
        </p:grpSpPr>
        <p:pic>
          <p:nvPicPr>
            <p:cNvPr id="597" name="object 4" descr=""/>
            <p:cNvPicPr/>
            <p:nvPr/>
          </p:nvPicPr>
          <p:blipFill>
            <a:blip r:embed="rId1"/>
            <a:stretch/>
          </p:blipFill>
          <p:spPr>
            <a:xfrm>
              <a:off x="373680" y="1212840"/>
              <a:ext cx="3783600" cy="38008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598" name="object 5"/>
            <p:cNvSpPr/>
            <p:nvPr/>
          </p:nvSpPr>
          <p:spPr>
            <a:xfrm>
              <a:off x="427320" y="1261080"/>
              <a:ext cx="3669480" cy="3686760"/>
            </a:xfrm>
            <a:custGeom>
              <a:avLst/>
              <a:gdLst/>
              <a:ahLst/>
              <a:rect l="l" t="t" r="r" b="b"/>
              <a:pathLst>
                <a:path w="3672840" h="3689985">
                  <a:moveTo>
                    <a:pt x="3672599" y="3689699"/>
                  </a:moveTo>
                  <a:lnTo>
                    <a:pt x="0" y="3689699"/>
                  </a:lnTo>
                  <a:lnTo>
                    <a:pt x="0" y="0"/>
                  </a:lnTo>
                  <a:lnTo>
                    <a:pt x="3672599" y="0"/>
                  </a:lnTo>
                  <a:lnTo>
                    <a:pt x="3672599" y="36896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599" name="object 6"/>
          <p:cNvSpPr/>
          <p:nvPr/>
        </p:nvSpPr>
        <p:spPr>
          <a:xfrm>
            <a:off x="618480" y="1419480"/>
            <a:ext cx="1851480" cy="91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9800" bIns="0" anchor="t">
            <a:spAutoFit/>
          </a:bodyPr>
          <a:p>
            <a:pPr marL="12600">
              <a:lnSpc>
                <a:spcPts val="1429"/>
              </a:lnSpc>
              <a:spcBef>
                <a:spcPts val="156"/>
              </a:spcBef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apiVersion: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batch/v1 </a:t>
            </a: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CronJob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metadata:</a:t>
            </a:r>
            <a:endParaRPr b="0" lang="fr-FR" sz="1200" spc="-1" strike="noStrike">
              <a:latin typeface="Arial"/>
            </a:endParaRPr>
          </a:p>
          <a:p>
            <a:pPr marL="195480">
              <a:lnSpc>
                <a:spcPts val="1361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200" spc="-6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counter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34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spec: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600" name="object 7"/>
          <p:cNvSpPr/>
          <p:nvPr/>
        </p:nvSpPr>
        <p:spPr>
          <a:xfrm>
            <a:off x="756720" y="2311560"/>
            <a:ext cx="2233080" cy="20772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25560" bIns="0" anchor="t">
            <a:spAutoFit/>
          </a:bodyPr>
          <a:p>
            <a:pPr marL="57240">
              <a:lnSpc>
                <a:spcPct val="100000"/>
              </a:lnSpc>
              <a:spcBef>
                <a:spcPts val="201"/>
              </a:spcBef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schedule:</a:t>
            </a:r>
            <a:r>
              <a:rPr b="1" lang="fr-FR" sz="1200" spc="-21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d15e35"/>
                </a:solidFill>
                <a:latin typeface="Courier New"/>
                <a:ea typeface="DejaVu Sans"/>
              </a:rPr>
              <a:t>"*/1</a:t>
            </a:r>
            <a:r>
              <a:rPr b="1" lang="fr-FR" sz="1200" spc="-21" strike="noStrike">
                <a:solidFill>
                  <a:srgbClr val="d15e35"/>
                </a:solidFill>
                <a:latin typeface="Courier New"/>
                <a:ea typeface="DejaVu Sans"/>
              </a:rPr>
              <a:t> </a:t>
            </a:r>
            <a:r>
              <a:rPr b="1" lang="fr-FR" sz="1200" spc="-1" strike="noStrike">
                <a:solidFill>
                  <a:srgbClr val="d15e35"/>
                </a:solidFill>
                <a:latin typeface="Courier New"/>
                <a:ea typeface="DejaVu Sans"/>
              </a:rPr>
              <a:t>*</a:t>
            </a:r>
            <a:r>
              <a:rPr b="1" lang="fr-FR" sz="1200" spc="-21" strike="noStrike">
                <a:solidFill>
                  <a:srgbClr val="d15e35"/>
                </a:solidFill>
                <a:latin typeface="Courier New"/>
                <a:ea typeface="DejaVu Sans"/>
              </a:rPr>
              <a:t> </a:t>
            </a:r>
            <a:r>
              <a:rPr b="1" lang="fr-FR" sz="1200" spc="-1" strike="noStrike">
                <a:solidFill>
                  <a:srgbClr val="d15e35"/>
                </a:solidFill>
                <a:latin typeface="Courier New"/>
                <a:ea typeface="DejaVu Sans"/>
              </a:rPr>
              <a:t>*</a:t>
            </a:r>
            <a:r>
              <a:rPr b="1" lang="fr-FR" sz="1200" spc="-21" strike="noStrike">
                <a:solidFill>
                  <a:srgbClr val="d15e35"/>
                </a:solidFill>
                <a:latin typeface="Courier New"/>
                <a:ea typeface="DejaVu Sans"/>
              </a:rPr>
              <a:t> </a:t>
            </a:r>
            <a:r>
              <a:rPr b="1" lang="fr-FR" sz="1200" spc="-1" strike="noStrike">
                <a:solidFill>
                  <a:srgbClr val="d15e35"/>
                </a:solidFill>
                <a:latin typeface="Courier New"/>
                <a:ea typeface="DejaVu Sans"/>
              </a:rPr>
              <a:t>*</a:t>
            </a:r>
            <a:r>
              <a:rPr b="1" lang="fr-FR" sz="1200" spc="-26" strike="noStrike">
                <a:solidFill>
                  <a:srgbClr val="d15e35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d15e35"/>
                </a:solidFill>
                <a:latin typeface="Courier New"/>
                <a:ea typeface="DejaVu Sans"/>
              </a:rPr>
              <a:t>*"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601" name="object 8"/>
          <p:cNvSpPr/>
          <p:nvPr/>
        </p:nvSpPr>
        <p:spPr>
          <a:xfrm>
            <a:off x="801360" y="2505240"/>
            <a:ext cx="111960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jobTemplate: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602" name="object 9"/>
          <p:cNvSpPr/>
          <p:nvPr/>
        </p:nvSpPr>
        <p:spPr>
          <a:xfrm>
            <a:off x="984240" y="2686320"/>
            <a:ext cx="1028520" cy="56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429"/>
              </a:lnSpc>
              <a:spcBef>
                <a:spcPts val="99"/>
              </a:spcBef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spec:</a:t>
            </a:r>
            <a:endParaRPr b="0" lang="fr-FR" sz="1200" spc="-1" strike="noStrike">
              <a:latin typeface="Arial"/>
            </a:endParaRPr>
          </a:p>
          <a:p>
            <a:pPr marL="378360" indent="-183600">
              <a:lnSpc>
                <a:spcPts val="1429"/>
              </a:lnSpc>
              <a:spcBef>
                <a:spcPts val="45"/>
              </a:spcBef>
              <a:buNone/>
              <a:tabLst>
                <a:tab algn="l" pos="0"/>
              </a:tabLst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template:  spec: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603" name="object 10"/>
          <p:cNvSpPr/>
          <p:nvPr/>
        </p:nvSpPr>
        <p:spPr>
          <a:xfrm>
            <a:off x="1483560" y="3225240"/>
            <a:ext cx="2005200" cy="19872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16560" bIns="0" anchor="t">
            <a:spAutoFit/>
          </a:bodyPr>
          <a:p>
            <a:pPr marL="61560">
              <a:lnSpc>
                <a:spcPct val="100000"/>
              </a:lnSpc>
              <a:spcBef>
                <a:spcPts val="130"/>
              </a:spcBef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restartPolicy:</a:t>
            </a:r>
            <a:r>
              <a:rPr b="1" lang="fr-FR" sz="1200" spc="-6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Never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604" name="object 11"/>
          <p:cNvSpPr/>
          <p:nvPr/>
        </p:nvSpPr>
        <p:spPr>
          <a:xfrm>
            <a:off x="1532880" y="3409920"/>
            <a:ext cx="102816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containers: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605" name="object 12"/>
          <p:cNvSpPr/>
          <p:nvPr/>
        </p:nvSpPr>
        <p:spPr>
          <a:xfrm>
            <a:off x="1532880" y="3591000"/>
            <a:ext cx="1942920" cy="11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95480" indent="-183600">
              <a:lnSpc>
                <a:spcPts val="1434"/>
              </a:lnSpc>
              <a:spcBef>
                <a:spcPts val="99"/>
              </a:spcBef>
              <a:buClr>
                <a:srgbClr val="000000"/>
              </a:buClr>
              <a:buFont typeface="Courier New"/>
              <a:buChar char="-"/>
              <a:tabLst>
                <a:tab algn="l" pos="196200"/>
              </a:tabLst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args:</a:t>
            </a:r>
            <a:endParaRPr b="0" lang="fr-FR" sz="1200" spc="-1" strike="noStrike">
              <a:latin typeface="Arial"/>
            </a:endParaRPr>
          </a:p>
          <a:p>
            <a:pPr lvl="1" marL="378000" indent="-182880">
              <a:lnSpc>
                <a:spcPts val="1426"/>
              </a:lnSpc>
              <a:buClr>
                <a:srgbClr val="000000"/>
              </a:buClr>
              <a:buFont typeface="StarSymbol"/>
              <a:buChar char="-"/>
              <a:tabLst>
                <a:tab algn="l" pos="37836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/bin/sh</a:t>
            </a:r>
            <a:endParaRPr b="0" lang="fr-FR" sz="1200" spc="-1" strike="noStrike">
              <a:latin typeface="Arial"/>
            </a:endParaRPr>
          </a:p>
          <a:p>
            <a:pPr lvl="1" marL="378000" indent="-182880">
              <a:lnSpc>
                <a:spcPts val="1426"/>
              </a:lnSpc>
              <a:buClr>
                <a:srgbClr val="000000"/>
              </a:buClr>
              <a:buFont typeface="StarSymbol"/>
              <a:buChar char="-"/>
              <a:tabLst>
                <a:tab algn="l" pos="37836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-c</a:t>
            </a:r>
            <a:endParaRPr b="0" lang="fr-FR" sz="1200" spc="-1" strike="noStrike">
              <a:latin typeface="Arial"/>
            </a:endParaRPr>
          </a:p>
          <a:p>
            <a:pPr marL="195480">
              <a:lnSpc>
                <a:spcPts val="1426"/>
              </a:lnSpc>
              <a:buNone/>
              <a:tabLst>
                <a:tab algn="l" pos="37836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-</a:t>
            </a:r>
            <a:r>
              <a:rPr b="0" lang="fr-FR" sz="12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200" spc="-1" strike="noStrike">
              <a:latin typeface="Arial"/>
            </a:endParaRPr>
          </a:p>
          <a:p>
            <a:pPr marL="195480">
              <a:lnSpc>
                <a:spcPts val="1426"/>
              </a:lnSpc>
              <a:buNone/>
              <a:tabLst>
                <a:tab algn="l" pos="378360"/>
              </a:tabLst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image:</a:t>
            </a:r>
            <a:r>
              <a:rPr b="1" lang="fr-FR" sz="1200" spc="-80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nginx:1.24.0</a:t>
            </a:r>
            <a:endParaRPr b="0" lang="fr-FR" sz="1200" spc="-1" strike="noStrike">
              <a:latin typeface="Arial"/>
            </a:endParaRPr>
          </a:p>
          <a:p>
            <a:pPr marL="195480">
              <a:lnSpc>
                <a:spcPts val="1429"/>
              </a:lnSpc>
              <a:buNone/>
              <a:tabLst>
                <a:tab algn="l" pos="378360"/>
              </a:tabLst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200" spc="-6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counter</a:t>
            </a:r>
            <a:endParaRPr b="0" lang="fr-FR" sz="1200" spc="-1" strike="noStrike">
              <a:latin typeface="Arial"/>
            </a:endParaRPr>
          </a:p>
        </p:txBody>
      </p:sp>
      <p:grpSp>
        <p:nvGrpSpPr>
          <p:cNvPr id="606" name="object 13"/>
          <p:cNvGrpSpPr/>
          <p:nvPr/>
        </p:nvGrpSpPr>
        <p:grpSpPr>
          <a:xfrm>
            <a:off x="3104280" y="2404080"/>
            <a:ext cx="1902960" cy="992520"/>
            <a:chOff x="3104280" y="2404080"/>
            <a:chExt cx="1902960" cy="992520"/>
          </a:xfrm>
        </p:grpSpPr>
        <p:sp>
          <p:nvSpPr>
            <p:cNvPr id="607" name="object 14"/>
            <p:cNvSpPr/>
            <p:nvPr/>
          </p:nvSpPr>
          <p:spPr>
            <a:xfrm>
              <a:off x="3200400" y="2444760"/>
              <a:ext cx="1806480" cy="360"/>
            </a:xfrm>
            <a:custGeom>
              <a:avLst/>
              <a:gdLst/>
              <a:ahLst/>
              <a:rect l="l" t="t" r="r" b="b"/>
              <a:pathLst>
                <a:path w="1809750" h="0">
                  <a:moveTo>
                    <a:pt x="18095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608" name="object 15" descr=""/>
            <p:cNvPicPr/>
            <p:nvPr/>
          </p:nvPicPr>
          <p:blipFill>
            <a:blip r:embed="rId2"/>
            <a:stretch/>
          </p:blipFill>
          <p:spPr>
            <a:xfrm>
              <a:off x="3104280" y="2404080"/>
              <a:ext cx="102240" cy="788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609" name="object 16"/>
            <p:cNvSpPr/>
            <p:nvPr/>
          </p:nvSpPr>
          <p:spPr>
            <a:xfrm>
              <a:off x="3767760" y="3358800"/>
              <a:ext cx="1239480" cy="360"/>
            </a:xfrm>
            <a:custGeom>
              <a:avLst/>
              <a:gdLst/>
              <a:ahLst/>
              <a:rect l="l" t="t" r="r" b="b"/>
              <a:pathLst>
                <a:path w="1242695" h="0">
                  <a:moveTo>
                    <a:pt x="12422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610" name="object 17" descr=""/>
            <p:cNvPicPr/>
            <p:nvPr/>
          </p:nvPicPr>
          <p:blipFill>
            <a:blip r:embed="rId3"/>
            <a:stretch/>
          </p:blipFill>
          <p:spPr>
            <a:xfrm>
              <a:off x="3671640" y="3317760"/>
              <a:ext cx="102240" cy="788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611" name="object 18"/>
          <p:cNvSpPr/>
          <p:nvPr/>
        </p:nvSpPr>
        <p:spPr>
          <a:xfrm>
            <a:off x="5198400" y="2169360"/>
            <a:ext cx="2899080" cy="46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08000" indent="-95760">
              <a:lnSpc>
                <a:spcPct val="100000"/>
              </a:lnSpc>
              <a:spcBef>
                <a:spcPts val="99"/>
              </a:spcBef>
              <a:buNone/>
              <a:tabLst>
                <a:tab algn="l" pos="0"/>
              </a:tabLst>
            </a:pP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5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crontab</a:t>
            </a:r>
            <a:r>
              <a:rPr b="0" lang="fr-FR" sz="15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expression</a:t>
            </a:r>
            <a:r>
              <a:rPr b="0" lang="fr-FR" sz="15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used </a:t>
            </a:r>
            <a:r>
              <a:rPr b="0" lang="fr-FR" sz="1500" spc="-40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to</a:t>
            </a:r>
            <a:r>
              <a:rPr b="0" lang="fr-FR" sz="15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run</a:t>
            </a:r>
            <a:r>
              <a:rPr b="0" lang="fr-FR" sz="15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CronJob</a:t>
            </a:r>
            <a:r>
              <a:rPr b="0" lang="fr-FR" sz="15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periodically</a:t>
            </a:r>
            <a:endParaRPr b="0" lang="fr-FR" sz="1500" spc="-1" strike="noStrike">
              <a:latin typeface="Arial"/>
            </a:endParaRPr>
          </a:p>
        </p:txBody>
      </p:sp>
      <p:sp>
        <p:nvSpPr>
          <p:cNvPr id="612" name="object 20"/>
          <p:cNvSpPr/>
          <p:nvPr/>
        </p:nvSpPr>
        <p:spPr>
          <a:xfrm>
            <a:off x="8701560" y="4908600"/>
            <a:ext cx="2019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B61F1D23-7EBC-470C-8B64-845AE2940B62}" type="slidenum">
              <a:rPr b="0" lang="fr-FR" sz="800" spc="-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613" name="object 19"/>
          <p:cNvSpPr/>
          <p:nvPr/>
        </p:nvSpPr>
        <p:spPr>
          <a:xfrm>
            <a:off x="5276520" y="3233160"/>
            <a:ext cx="1920960" cy="24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Run</a:t>
            </a:r>
            <a:r>
              <a:rPr b="0" lang="fr-FR" sz="15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in</a:t>
            </a:r>
            <a:r>
              <a:rPr b="0" lang="fr-FR" sz="15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5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new</a:t>
            </a:r>
            <a:r>
              <a:rPr b="0" lang="fr-FR" sz="15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Pod</a:t>
            </a:r>
            <a:endParaRPr b="0" lang="fr-FR" sz="15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44320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Inspecting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35" strike="noStrike">
                <a:solidFill>
                  <a:srgbClr val="000000"/>
                </a:solidFill>
                <a:latin typeface="Tahoma"/>
              </a:rPr>
              <a:t>CronJob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Keeps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history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failed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successful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Pods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615" name="object 9"/>
          <p:cNvSpPr/>
          <p:nvPr/>
        </p:nvSpPr>
        <p:spPr>
          <a:xfrm>
            <a:off x="8701560" y="4908600"/>
            <a:ext cx="2019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2FB543EE-AD7A-4CA6-BA8F-172A6481C945}" type="slidenum">
              <a:rPr b="0" lang="fr-FR" sz="800" spc="-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616" name="" descr=""/>
          <p:cNvPicPr/>
          <p:nvPr/>
        </p:nvPicPr>
        <p:blipFill>
          <a:blip r:embed="rId1"/>
          <a:stretch/>
        </p:blipFill>
        <p:spPr>
          <a:xfrm>
            <a:off x="434880" y="1152360"/>
            <a:ext cx="8055360" cy="2826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96320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Configuring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Retained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History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Being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able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know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6" strike="noStrike">
                <a:solidFill>
                  <a:srgbClr val="666666"/>
                </a:solidFill>
                <a:latin typeface="Lucida Sans Unicode"/>
              </a:rPr>
              <a:t>what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0" strike="noStrike">
                <a:solidFill>
                  <a:srgbClr val="666666"/>
                </a:solidFill>
                <a:latin typeface="Lucida Sans Unicode"/>
              </a:rPr>
              <a:t>happened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during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workload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execution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retroactively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618" name="object 4"/>
          <p:cNvSpPr/>
          <p:nvPr/>
        </p:nvSpPr>
        <p:spPr>
          <a:xfrm>
            <a:off x="8701560" y="4908600"/>
            <a:ext cx="2019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F2BA24FC-EC7B-4E3C-8E37-9241F00084EB}" type="slidenum">
              <a:rPr b="0" lang="fr-FR" sz="800" spc="-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619" name="object 3"/>
          <p:cNvSpPr/>
          <p:nvPr/>
        </p:nvSpPr>
        <p:spPr>
          <a:xfrm>
            <a:off x="600120" y="1360440"/>
            <a:ext cx="8398800" cy="251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Even after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completing 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task in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Pod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controlled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by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CronJob, it will not be deleted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automatically.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Keeping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historical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record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 Pods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be tremendously helpful for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troubleshooting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failed workloads 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inspecting the logs.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attribute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spec.successfulJobsHistoryLimit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configures the number of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successful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executions. Defaults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3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successful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Jobs.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attribute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spec.failedJobsHistoryLimit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configures the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number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 failed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executions.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Defaults to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1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failed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Job.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object 2"/>
          <p:cNvSpPr/>
          <p:nvPr/>
        </p:nvSpPr>
        <p:spPr>
          <a:xfrm>
            <a:off x="494280" y="371880"/>
            <a:ext cx="130320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2400" spc="-15" strike="noStrike">
                <a:solidFill>
                  <a:srgbClr val="000000"/>
                </a:solidFill>
                <a:latin typeface="Tahoma"/>
                <a:ea typeface="DejaVu Sans"/>
              </a:rPr>
              <a:t>Lab 03</a:t>
            </a:r>
            <a:endParaRPr b="0" lang="fr-FR" sz="2400" spc="-1" strike="noStrike">
              <a:latin typeface="Arial"/>
            </a:endParaRPr>
          </a:p>
        </p:txBody>
      </p:sp>
      <p:sp>
        <p:nvSpPr>
          <p:cNvPr id="621" name="object 3"/>
          <p:cNvSpPr/>
          <p:nvPr/>
        </p:nvSpPr>
        <p:spPr>
          <a:xfrm>
            <a:off x="494280" y="1323360"/>
            <a:ext cx="4723200" cy="152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14000"/>
              </a:lnSpc>
              <a:spcBef>
                <a:spcPts val="99"/>
              </a:spcBef>
              <a:buNone/>
            </a:pP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Creating and inspecting </a:t>
            </a:r>
            <a:r>
              <a:rPr b="0" lang="fr-FR" sz="29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2900" spc="-79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periodic operation using </a:t>
            </a:r>
            <a:r>
              <a:rPr b="0" lang="fr-FR" sz="29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2900" spc="-800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CronJob</a:t>
            </a:r>
            <a:endParaRPr b="0" lang="fr-FR" sz="2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2" name="object 2"/>
          <p:cNvGrpSpPr/>
          <p:nvPr/>
        </p:nvGrpSpPr>
        <p:grpSpPr>
          <a:xfrm>
            <a:off x="0" y="0"/>
            <a:ext cx="9140760" cy="5140080"/>
            <a:chOff x="0" y="0"/>
            <a:chExt cx="9140760" cy="5140080"/>
          </a:xfrm>
        </p:grpSpPr>
        <p:pic>
          <p:nvPicPr>
            <p:cNvPr id="623" name="object 3" descr=""/>
            <p:cNvPicPr/>
            <p:nvPr/>
          </p:nvPicPr>
          <p:blipFill>
            <a:blip r:embed="rId1"/>
            <a:stretch/>
          </p:blipFill>
          <p:spPr>
            <a:xfrm>
              <a:off x="0" y="0"/>
              <a:ext cx="9140760" cy="514008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624" name="object 4" descr=""/>
            <p:cNvPicPr/>
            <p:nvPr/>
          </p:nvPicPr>
          <p:blipFill>
            <a:blip r:embed="rId2"/>
            <a:stretch/>
          </p:blipFill>
          <p:spPr>
            <a:xfrm>
              <a:off x="8714160" y="146160"/>
              <a:ext cx="284400" cy="22968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625" name="PlaceHolder 1"/>
          <p:cNvSpPr>
            <a:spLocks noGrp="1"/>
          </p:cNvSpPr>
          <p:nvPr>
            <p:ph type="title"/>
          </p:nvPr>
        </p:nvSpPr>
        <p:spPr>
          <a:xfrm>
            <a:off x="494280" y="1665000"/>
            <a:ext cx="5443200" cy="1381680"/>
          </a:xfrm>
          <a:prstGeom prst="rect">
            <a:avLst/>
          </a:prstGeom>
          <a:noFill/>
          <a:ln w="0">
            <a:noFill/>
          </a:ln>
        </p:spPr>
        <p:txBody>
          <a:bodyPr lIns="0" rIns="0" tIns="195480" bIns="0" anchor="t">
            <a:noAutofit/>
          </a:bodyPr>
          <a:p>
            <a:pPr marL="12600">
              <a:lnSpc>
                <a:spcPct val="100000"/>
              </a:lnSpc>
              <a:spcBef>
                <a:spcPts val="1539"/>
              </a:spcBef>
              <a:buNone/>
            </a:pPr>
            <a:r>
              <a:rPr b="1" lang="fr-FR" sz="3600" spc="75" strike="noStrike">
                <a:solidFill>
                  <a:srgbClr val="ffffff"/>
                </a:solidFill>
                <a:latin typeface="Tahoma"/>
              </a:rPr>
              <a:t>Volumes</a:t>
            </a:r>
            <a:endParaRPr b="0" lang="fr-FR" sz="36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720"/>
              </a:spcBef>
              <a:buNone/>
            </a:pPr>
            <a:r>
              <a:rPr b="0" lang="fr-FR" sz="1800" spc="35" strike="noStrike">
                <a:solidFill>
                  <a:srgbClr val="ffffff"/>
                </a:solidFill>
                <a:latin typeface="Lucida Sans Unicode"/>
              </a:rPr>
              <a:t>Ephemeral</a:t>
            </a:r>
            <a:r>
              <a:rPr b="0" lang="fr-FR" sz="1800" spc="-97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86" strike="noStrike">
                <a:solidFill>
                  <a:srgbClr val="ffffff"/>
                </a:solidFill>
                <a:latin typeface="Lucida Sans Unicode"/>
              </a:rPr>
              <a:t>and</a:t>
            </a:r>
            <a:r>
              <a:rPr b="0" lang="fr-FR" sz="1800" spc="-97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1" strike="noStrike">
                <a:solidFill>
                  <a:srgbClr val="ffffff"/>
                </a:solidFill>
                <a:latin typeface="Lucida Sans Unicode"/>
              </a:rPr>
              <a:t>persistent</a:t>
            </a:r>
            <a:r>
              <a:rPr b="0" lang="fr-FR" sz="1800" spc="-97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29" strike="noStrike">
                <a:solidFill>
                  <a:srgbClr val="ffffff"/>
                </a:solidFill>
                <a:latin typeface="Lucida Sans Unicode"/>
              </a:rPr>
              <a:t>storage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32" strike="noStrike">
                <a:solidFill>
                  <a:srgbClr val="ffffff"/>
                </a:solidFill>
                <a:latin typeface="Lucida Sans Unicode"/>
              </a:rPr>
              <a:t>for</a:t>
            </a:r>
            <a:r>
              <a:rPr b="0" lang="fr-FR" sz="1800" spc="-97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21" strike="noStrike">
                <a:solidFill>
                  <a:srgbClr val="ffffff"/>
                </a:solidFill>
                <a:latin typeface="Lucida Sans Unicode"/>
              </a:rPr>
              <a:t>Pods</a:t>
            </a:r>
            <a:endParaRPr b="0" lang="fr-FR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32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5" strike="noStrike">
                <a:solidFill>
                  <a:srgbClr val="000000"/>
                </a:solidFill>
                <a:latin typeface="Tahoma"/>
              </a:rPr>
              <a:t>What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is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1" strike="noStrike">
                <a:solidFill>
                  <a:srgbClr val="000000"/>
                </a:solidFill>
                <a:latin typeface="Tahoma"/>
              </a:rPr>
              <a:t>Volume?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directory,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possibly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some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6" strike="noStrike">
                <a:solidFill>
                  <a:srgbClr val="666666"/>
                </a:solidFill>
                <a:latin typeface="Lucida Sans Unicode"/>
              </a:rPr>
              <a:t>data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46" strike="noStrike">
                <a:solidFill>
                  <a:srgbClr val="666666"/>
                </a:solidFill>
                <a:latin typeface="Lucida Sans Unicode"/>
              </a:rPr>
              <a:t>it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accessible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containers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Pod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627" name="object 4"/>
          <p:cNvSpPr/>
          <p:nvPr/>
        </p:nvSpPr>
        <p:spPr>
          <a:xfrm>
            <a:off x="8701560" y="4908600"/>
            <a:ext cx="2012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7F2CC3A9-EA26-491E-A615-09E80A25B8B0}" type="slidenum">
              <a:rPr b="0" lang="fr-FR" sz="800" spc="-7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628" name="object 3"/>
          <p:cNvSpPr/>
          <p:nvPr/>
        </p:nvSpPr>
        <p:spPr>
          <a:xfrm>
            <a:off x="600120" y="1360440"/>
            <a:ext cx="8217720" cy="362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Each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container manages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files in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temporary file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system.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Data written to the file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system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is lost when 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container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is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restarted.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Ephemeral </a:t>
            </a:r>
            <a:r>
              <a:rPr b="0" i="1" lang="fr-FR" sz="1600" spc="-15" strike="noStrike">
                <a:solidFill>
                  <a:srgbClr val="000000"/>
                </a:solidFill>
                <a:latin typeface="Arial"/>
                <a:ea typeface="DejaVu Sans"/>
              </a:rPr>
              <a:t>Volumes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exist for the lifespan of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Pod. They are useful if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you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want to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share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data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between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multiple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containers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running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Pod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caching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 data.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Persistent </a:t>
            </a:r>
            <a:r>
              <a:rPr b="0" i="1" lang="fr-FR" sz="1600" spc="-15" strike="noStrike">
                <a:solidFill>
                  <a:srgbClr val="000000"/>
                </a:solidFill>
                <a:latin typeface="Arial"/>
                <a:ea typeface="DejaVu Sans"/>
              </a:rPr>
              <a:t>Volumes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preserve data beyond the lifespan of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Pod. They are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good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option for applications that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require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data to exist </a:t>
            </a:r>
            <a:r>
              <a:rPr b="0" lang="fr-FR" sz="1600" spc="-21" strike="noStrike">
                <a:solidFill>
                  <a:srgbClr val="000000"/>
                </a:solidFill>
                <a:latin typeface="Arial MT"/>
                <a:ea typeface="DejaVu Sans"/>
              </a:rPr>
              <a:t>longer,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e.g. in the form of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storage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for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database-driven application.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Defin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th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92" strike="noStrike">
                <a:solidFill>
                  <a:srgbClr val="000000"/>
                </a:solidFill>
                <a:latin typeface="Arial MT"/>
                <a:ea typeface="DejaVu Sans"/>
              </a:rPr>
              <a:t>V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olum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typ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wit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h</a:t>
            </a:r>
            <a:r>
              <a:rPr b="0" lang="fr-FR" sz="1600" spc="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spec.volumes[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  <a:ea typeface="DejaVu Sans"/>
              </a:rPr>
              <a:t>]</a:t>
            </a:r>
            <a:r>
              <a:rPr b="0" lang="fr-FR" sz="1600" spc="-727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d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the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n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reference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i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t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i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n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container 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with </a:t>
            </a:r>
            <a:r>
              <a:rPr b="0" lang="fr-FR" sz="1600" spc="-21" strike="noStrike">
                <a:solidFill>
                  <a:srgbClr val="000000"/>
                </a:solidFill>
                <a:latin typeface="Courier New"/>
                <a:ea typeface="DejaVu Sans"/>
              </a:rPr>
              <a:t>spec.containers[].volume.volumeMounts</a:t>
            </a:r>
            <a:r>
              <a:rPr b="0" lang="fr-FR" sz="1600" spc="-21" strike="noStrike">
                <a:solidFill>
                  <a:srgbClr val="000000"/>
                </a:solidFill>
                <a:latin typeface="Arial MT"/>
                <a:ea typeface="DejaVu Sans"/>
              </a:rPr>
              <a:t>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78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41" strike="noStrike">
                <a:solidFill>
                  <a:srgbClr val="000000"/>
                </a:solidFill>
                <a:latin typeface="Tahoma"/>
              </a:rPr>
              <a:t>Volum</a:t>
            </a:r>
            <a:r>
              <a:rPr b="1" lang="fr-FR" sz="2400" spc="41" strike="noStrike">
                <a:solidFill>
                  <a:srgbClr val="000000"/>
                </a:solidFill>
                <a:latin typeface="Tahoma"/>
              </a:rPr>
              <a:t>e</a:t>
            </a:r>
            <a:r>
              <a:rPr b="1" lang="fr-FR" sz="2400" spc="-16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1" strike="noStrike">
                <a:solidFill>
                  <a:srgbClr val="000000"/>
                </a:solidFill>
                <a:latin typeface="Tahoma"/>
              </a:rPr>
              <a:t>Types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Determines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6" strike="noStrike">
                <a:solidFill>
                  <a:srgbClr val="666666"/>
                </a:solidFill>
                <a:latin typeface="Lucida Sans Unicode"/>
              </a:rPr>
              <a:t>medium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that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backs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Volume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its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runtime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behavior</a:t>
            </a:r>
            <a:endParaRPr b="0" lang="fr-FR" sz="1600" spc="-1" strike="noStrike">
              <a:latin typeface="Arial"/>
            </a:endParaRPr>
          </a:p>
        </p:txBody>
      </p:sp>
      <p:graphicFrame>
        <p:nvGraphicFramePr>
          <p:cNvPr id="630" name="object 3"/>
          <p:cNvGraphicFramePr/>
          <p:nvPr/>
        </p:nvGraphicFramePr>
        <p:xfrm>
          <a:off x="502200" y="1408680"/>
          <a:ext cx="8317440" cy="3296520"/>
        </p:xfrm>
        <a:graphic>
          <a:graphicData uri="http://schemas.openxmlformats.org/drawingml/2006/table">
            <a:tbl>
              <a:tblPr/>
              <a:tblGrid>
                <a:gridCol w="2409480"/>
                <a:gridCol w="5908320"/>
              </a:tblGrid>
              <a:tr h="553320">
                <a:tc>
                  <a:txBody>
                    <a:bodyPr anchor="t">
                      <a:noAutofit/>
                    </a:bodyPr>
                    <a:p>
                      <a:pPr marL="90000">
                        <a:lnSpc>
                          <a:spcPct val="100000"/>
                        </a:lnSpc>
                        <a:spcBef>
                          <a:spcPts val="1315"/>
                        </a:spcBef>
                        <a:buNone/>
                      </a:pPr>
                      <a:r>
                        <a:rPr b="0" lang="fr-FR" sz="1400" spc="-21" strike="noStrike">
                          <a:solidFill>
                            <a:srgbClr val="ffffff"/>
                          </a:solidFill>
                          <a:latin typeface="Arial MT"/>
                        </a:rPr>
                        <a:t>Type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 w="38160">
                      <a:solidFill>
                        <a:srgbClr val="660000"/>
                      </a:solidFill>
                    </a:lnB>
                    <a:solidFill>
                      <a:srgbClr val="d3002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ct val="100000"/>
                        </a:lnSpc>
                        <a:spcBef>
                          <a:spcPts val="1315"/>
                        </a:spcBef>
                        <a:buNone/>
                      </a:pPr>
                      <a:r>
                        <a:rPr b="0" lang="fr-FR" sz="1400" spc="-7" strike="noStrike">
                          <a:solidFill>
                            <a:srgbClr val="ffffff"/>
                          </a:solidFill>
                          <a:latin typeface="Arial MT"/>
                        </a:rPr>
                        <a:t>Description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 w="38160">
                      <a:solidFill>
                        <a:srgbClr val="660000"/>
                      </a:solidFill>
                    </a:lnB>
                    <a:solidFill>
                      <a:srgbClr val="d30020"/>
                    </a:solidFill>
                  </a:tcPr>
                </a:tc>
              </a:tr>
              <a:tr h="543960">
                <a:tc>
                  <a:txBody>
                    <a:bodyPr anchor="t">
                      <a:noAutofit/>
                    </a:bodyPr>
                    <a:p>
                      <a:pPr marL="90000">
                        <a:lnSpc>
                          <a:spcPct val="100000"/>
                        </a:lnSpc>
                        <a:spcBef>
                          <a:spcPts val="624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emptyDir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 w="9360">
                      <a:solidFill>
                        <a:srgbClr val="f3f3f3"/>
                      </a:solidFill>
                    </a:lnR>
                    <a:lnT w="38160">
                      <a:solidFill>
                        <a:srgbClr val="660000"/>
                      </a:solidFill>
                    </a:lnT>
                    <a:lnB w="38160">
                      <a:solidFill>
                        <a:srgbClr val="660000"/>
                      </a:solidFill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ts val="1429"/>
                        </a:lnSpc>
                        <a:spcBef>
                          <a:spcPts val="680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Empty directory in Pod with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read/write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access. Only persisted for the </a:t>
                      </a:r>
                      <a:r>
                        <a:rPr b="0" lang="fr-FR" sz="1200" spc="-321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lifespan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of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a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 Pod.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 w="38160">
                      <a:solidFill>
                        <a:srgbClr val="660000"/>
                      </a:solidFill>
                    </a:lnT>
                    <a:lnB w="38160">
                      <a:solidFill>
                        <a:srgbClr val="660000"/>
                      </a:solidFill>
                    </a:lnB>
                    <a:noFill/>
                  </a:tcPr>
                </a:tc>
              </a:tr>
              <a:tr h="464760">
                <a:tc>
                  <a:txBody>
                    <a:bodyPr anchor="t">
                      <a:noAutofit/>
                    </a:bodyPr>
                    <a:p>
                      <a:pPr marL="90000">
                        <a:lnSpc>
                          <a:spcPct val="100000"/>
                        </a:lnSpc>
                        <a:spcBef>
                          <a:spcPts val="660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hostPath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 w="9360">
                      <a:solidFill>
                        <a:srgbClr val="ffffff"/>
                      </a:solidFill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ct val="100000"/>
                        </a:lnSpc>
                        <a:spcBef>
                          <a:spcPts val="660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File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or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directory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from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the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host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node’s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filesystem.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endParaRPr b="0" lang="fr-FR" sz="1150" spc="-1" strike="noStrike">
                        <a:latin typeface="Arial"/>
                      </a:endParaRPr>
                    </a:p>
                    <a:p>
                      <a:pPr marL="90000">
                        <a:lnSpc>
                          <a:spcPct val="100000"/>
                        </a:lnSpc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configMap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,</a:t>
                      </a:r>
                      <a:r>
                        <a:rPr b="0" lang="fr-FR" sz="1200" spc="-46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secret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endParaRPr b="0" lang="fr-FR" sz="115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ct val="100000"/>
                        </a:lnSpc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Provides</a:t>
                      </a:r>
                      <a:r>
                        <a:rPr b="0" lang="fr-FR" sz="1200" spc="-21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a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way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to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inject</a:t>
                      </a:r>
                      <a:r>
                        <a:rPr b="0" lang="fr-FR" sz="1200" spc="-21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configuration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data.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6321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endParaRPr b="0" lang="fr-FR" sz="1150" spc="-1" strike="noStrike">
                        <a:latin typeface="Arial"/>
                      </a:endParaRPr>
                    </a:p>
                    <a:p>
                      <a:pPr marL="90000">
                        <a:lnSpc>
                          <a:spcPct val="100000"/>
                        </a:lnSpc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nfs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54"/>
                        </a:spcBef>
                        <a:buNone/>
                      </a:pPr>
                      <a:endParaRPr b="0" lang="fr-FR" sz="115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ts val="1429"/>
                        </a:lnSpc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An existing NFS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(Network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File System)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share.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Preserves data after Pod </a:t>
                      </a:r>
                      <a:r>
                        <a:rPr b="0" lang="fr-FR" sz="1200" spc="-321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restart.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554040">
                <a:tc>
                  <a:txBody>
                    <a:bodyPr anchor="t">
                      <a:noAutofit/>
                    </a:bodyPr>
                    <a:p>
                      <a:pPr marL="90000">
                        <a:lnSpc>
                          <a:spcPct val="100000"/>
                        </a:lnSpc>
                        <a:spcBef>
                          <a:spcPts val="660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persistentVolumeClaim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 w="9360">
                      <a:solidFill>
                        <a:srgbClr val="f3f3f3"/>
                      </a:solidFill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ct val="100000"/>
                        </a:lnSpc>
                        <a:spcBef>
                          <a:spcPts val="660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Claims</a:t>
                      </a:r>
                      <a:r>
                        <a:rPr b="0" lang="fr-FR" sz="1200" spc="-3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a</a:t>
                      </a:r>
                      <a:r>
                        <a:rPr b="0" lang="fr-FR" sz="1200" spc="-26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Persistent</a:t>
                      </a:r>
                      <a:r>
                        <a:rPr b="0" lang="fr-FR" sz="1200" spc="-26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Volume.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 w="9360">
                      <a:solidFill>
                        <a:srgbClr val="f3f3f3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31" name="object 6"/>
          <p:cNvSpPr/>
          <p:nvPr/>
        </p:nvSpPr>
        <p:spPr>
          <a:xfrm>
            <a:off x="8701560" y="4908600"/>
            <a:ext cx="2012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7BD11608-DC12-497D-9F56-BF5E0EBA3AB3}" type="slidenum">
              <a:rPr b="0" lang="fr-FR" sz="800" spc="-7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60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5" strike="noStrike">
                <a:solidFill>
                  <a:srgbClr val="000000"/>
                </a:solidFill>
                <a:latin typeface="Tahoma"/>
              </a:rPr>
              <a:t>Ephemeral</a:t>
            </a:r>
            <a:r>
              <a:rPr b="1" lang="fr-FR" sz="2400" spc="-16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1" strike="noStrike">
                <a:solidFill>
                  <a:srgbClr val="000000"/>
                </a:solidFill>
                <a:latin typeface="Tahoma"/>
              </a:rPr>
              <a:t>Volume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Useful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sharing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6" strike="noStrike">
                <a:solidFill>
                  <a:srgbClr val="666666"/>
                </a:solidFill>
                <a:latin typeface="Lucida Sans Unicode"/>
              </a:rPr>
              <a:t>data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between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containers,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5" strike="noStrike">
                <a:solidFill>
                  <a:srgbClr val="666666"/>
                </a:solidFill>
                <a:latin typeface="Lucida Sans Unicode"/>
              </a:rPr>
              <a:t>caching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6" strike="noStrike">
                <a:solidFill>
                  <a:srgbClr val="666666"/>
                </a:solidFill>
                <a:latin typeface="Lucida Sans Unicode"/>
              </a:rPr>
              <a:t>data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633" name="object 3" descr=""/>
          <p:cNvPicPr/>
          <p:nvPr/>
        </p:nvPicPr>
        <p:blipFill>
          <a:blip r:embed="rId1"/>
          <a:stretch/>
        </p:blipFill>
        <p:spPr>
          <a:xfrm>
            <a:off x="636120" y="2280600"/>
            <a:ext cx="7712280" cy="1642680"/>
          </a:xfrm>
          <a:prstGeom prst="rect">
            <a:avLst/>
          </a:prstGeom>
          <a:ln w="0">
            <a:noFill/>
          </a:ln>
        </p:spPr>
      </p:pic>
      <p:sp>
        <p:nvSpPr>
          <p:cNvPr id="634" name="object 4"/>
          <p:cNvSpPr/>
          <p:nvPr/>
        </p:nvSpPr>
        <p:spPr>
          <a:xfrm>
            <a:off x="8701560" y="4908600"/>
            <a:ext cx="2012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4831E2E6-D21D-4A92-BF65-E8D8E5E7A200}" type="slidenum">
              <a:rPr b="0" lang="fr-FR" sz="800" spc="-7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063560" cy="1276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6" strike="noStrike">
                <a:solidFill>
                  <a:srgbClr val="000000"/>
                </a:solidFill>
                <a:latin typeface="Tahoma"/>
              </a:rPr>
              <a:t>Defining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1" strike="noStrike">
                <a:solidFill>
                  <a:srgbClr val="000000"/>
                </a:solidFill>
                <a:latin typeface="Tahoma"/>
              </a:rPr>
              <a:t>an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5" strike="noStrike">
                <a:solidFill>
                  <a:srgbClr val="000000"/>
                </a:solidFill>
                <a:latin typeface="Tahoma"/>
              </a:rPr>
              <a:t>Ephemeral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1" strike="noStrike">
                <a:solidFill>
                  <a:srgbClr val="000000"/>
                </a:solidFill>
                <a:latin typeface="Tahoma"/>
              </a:rPr>
              <a:t>Volume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Provide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type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assign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mount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6" strike="noStrike">
                <a:solidFill>
                  <a:srgbClr val="666666"/>
                </a:solidFill>
                <a:latin typeface="Lucida Sans Unicode"/>
              </a:rPr>
              <a:t>path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per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container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636" name="object 3"/>
          <p:cNvGrpSpPr/>
          <p:nvPr/>
        </p:nvGrpSpPr>
        <p:grpSpPr>
          <a:xfrm>
            <a:off x="446040" y="1375560"/>
            <a:ext cx="2724480" cy="2858760"/>
            <a:chOff x="446040" y="1375560"/>
            <a:chExt cx="2724480" cy="2858760"/>
          </a:xfrm>
        </p:grpSpPr>
        <p:pic>
          <p:nvPicPr>
            <p:cNvPr id="637" name="object 4" descr=""/>
            <p:cNvPicPr/>
            <p:nvPr/>
          </p:nvPicPr>
          <p:blipFill>
            <a:blip r:embed="rId1"/>
            <a:stretch/>
          </p:blipFill>
          <p:spPr>
            <a:xfrm>
              <a:off x="446040" y="1375560"/>
              <a:ext cx="2724480" cy="285876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638" name="object 5"/>
            <p:cNvSpPr/>
            <p:nvPr/>
          </p:nvSpPr>
          <p:spPr>
            <a:xfrm>
              <a:off x="499680" y="1424160"/>
              <a:ext cx="2610360" cy="2745000"/>
            </a:xfrm>
            <a:custGeom>
              <a:avLst/>
              <a:gdLst/>
              <a:ahLst/>
              <a:rect l="l" t="t" r="r" b="b"/>
              <a:pathLst>
                <a:path w="2613660" h="2748279">
                  <a:moveTo>
                    <a:pt x="2613299" y="2747699"/>
                  </a:moveTo>
                  <a:lnTo>
                    <a:pt x="0" y="2747699"/>
                  </a:lnTo>
                  <a:lnTo>
                    <a:pt x="0" y="0"/>
                  </a:lnTo>
                  <a:lnTo>
                    <a:pt x="2613299" y="0"/>
                  </a:lnTo>
                  <a:lnTo>
                    <a:pt x="2613299" y="27476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639" name="object 6"/>
          <p:cNvSpPr/>
          <p:nvPr/>
        </p:nvSpPr>
        <p:spPr>
          <a:xfrm>
            <a:off x="695520" y="1563120"/>
            <a:ext cx="1702440" cy="87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9000" bIns="0" anchor="t">
            <a:spAutoFit/>
          </a:bodyPr>
          <a:p>
            <a:pPr marL="12600">
              <a:lnSpc>
                <a:spcPct val="102000"/>
              </a:lnSpc>
              <a:spcBef>
                <a:spcPts val="71"/>
              </a:spcBef>
              <a:buNone/>
            </a:pPr>
            <a:r>
              <a:rPr b="1" lang="fr-FR" sz="1100" spc="-7" strike="noStrike">
                <a:solidFill>
                  <a:srgbClr val="4618a2"/>
                </a:solidFill>
                <a:latin typeface="Courier New"/>
                <a:ea typeface="DejaVu Sans"/>
              </a:rPr>
              <a:t>apiVersion:</a:t>
            </a:r>
            <a:r>
              <a:rPr b="1" lang="fr-FR" sz="1100" spc="-97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v1 </a:t>
            </a:r>
            <a:r>
              <a:rPr b="0" lang="fr-FR" sz="1100" spc="-647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Pod 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100" spc="-1" strike="noStrike">
              <a:latin typeface="Arial"/>
            </a:endParaRPr>
          </a:p>
          <a:p>
            <a:pPr marL="12600">
              <a:lnSpc>
                <a:spcPct val="102000"/>
              </a:lnSpc>
              <a:spcBef>
                <a:spcPts val="71"/>
              </a:spcBef>
              <a:buNone/>
            </a:pPr>
            <a:r>
              <a:rPr b="1" lang="fr-FR" sz="1100" spc="-7" strike="noStrike">
                <a:solidFill>
                  <a:srgbClr val="4618a2"/>
                </a:solidFill>
                <a:latin typeface="Courier New"/>
                <a:ea typeface="DejaVu Sans"/>
              </a:rPr>
              <a:t>metadata:</a:t>
            </a:r>
            <a:endParaRPr b="0" lang="fr-FR" sz="1100" spc="-1" strike="noStrike">
              <a:latin typeface="Arial"/>
            </a:endParaRPr>
          </a:p>
          <a:p>
            <a:pPr marL="184320">
              <a:lnSpc>
                <a:spcPct val="100000"/>
              </a:lnSpc>
              <a:spcBef>
                <a:spcPts val="31"/>
              </a:spcBef>
              <a:buNone/>
            </a:pPr>
            <a:r>
              <a:rPr b="1" lang="fr-FR" sz="11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100" spc="-80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my-container</a:t>
            </a:r>
            <a:endParaRPr b="0" lang="fr-FR" sz="11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31"/>
              </a:spcBef>
              <a:buNone/>
            </a:pPr>
            <a:r>
              <a:rPr b="1" lang="fr-FR" sz="1100" spc="-7" strike="noStrike">
                <a:solidFill>
                  <a:srgbClr val="4618a2"/>
                </a:solidFill>
                <a:latin typeface="Courier New"/>
                <a:ea typeface="DejaVu Sans"/>
              </a:rPr>
              <a:t>spec: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640" name="object 7"/>
          <p:cNvSpPr/>
          <p:nvPr/>
        </p:nvSpPr>
        <p:spPr>
          <a:xfrm>
            <a:off x="811080" y="2440440"/>
            <a:ext cx="1762560" cy="50256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68760">
              <a:lnSpc>
                <a:spcPts val="1261"/>
              </a:lnSpc>
              <a:buNone/>
            </a:pPr>
            <a:r>
              <a:rPr b="1" lang="fr-FR" sz="1100" spc="-7" strike="noStrike">
                <a:solidFill>
                  <a:srgbClr val="4618a2"/>
                </a:solidFill>
                <a:latin typeface="Courier New"/>
                <a:ea typeface="DejaVu Sans"/>
              </a:rPr>
              <a:t>volumes:</a:t>
            </a:r>
            <a:endParaRPr b="0" lang="fr-FR" sz="1100" spc="-1" strike="noStrike">
              <a:latin typeface="Arial"/>
            </a:endParaRPr>
          </a:p>
          <a:p>
            <a:pPr marL="64800">
              <a:lnSpc>
                <a:spcPct val="100000"/>
              </a:lnSpc>
              <a:spcBef>
                <a:spcPts val="31"/>
              </a:spcBef>
              <a:buNone/>
            </a:pP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- </a:t>
            </a:r>
            <a:r>
              <a:rPr b="1" lang="fr-FR" sz="11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100" spc="-41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logs-volume</a:t>
            </a:r>
            <a:endParaRPr b="0" lang="fr-FR" sz="1100" spc="-1" strike="noStrike">
              <a:latin typeface="Arial"/>
            </a:endParaRPr>
          </a:p>
          <a:p>
            <a:pPr marL="240120">
              <a:lnSpc>
                <a:spcPct val="100000"/>
              </a:lnSpc>
              <a:spcBef>
                <a:spcPts val="31"/>
              </a:spcBef>
              <a:buNone/>
            </a:pPr>
            <a:r>
              <a:rPr b="1" lang="fr-FR" sz="1100" spc="-7" strike="noStrike">
                <a:solidFill>
                  <a:srgbClr val="4618a2"/>
                </a:solidFill>
                <a:latin typeface="Courier New"/>
                <a:ea typeface="DejaVu Sans"/>
              </a:rPr>
              <a:t>emptyDir:</a:t>
            </a:r>
            <a:r>
              <a:rPr b="1" lang="fr-FR" sz="11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{}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641" name="object 8"/>
          <p:cNvSpPr/>
          <p:nvPr/>
        </p:nvSpPr>
        <p:spPr>
          <a:xfrm>
            <a:off x="863280" y="2934720"/>
            <a:ext cx="170604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656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100" spc="-7" strike="noStrike">
                <a:solidFill>
                  <a:srgbClr val="4618a2"/>
                </a:solidFill>
                <a:latin typeface="Courier New"/>
                <a:ea typeface="DejaVu Sans"/>
              </a:rPr>
              <a:t>containers:</a:t>
            </a:r>
            <a:endParaRPr b="0" lang="fr-FR" sz="11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31"/>
              </a:spcBef>
              <a:buNone/>
            </a:pP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- </a:t>
            </a:r>
            <a:r>
              <a:rPr b="1" lang="fr-FR" sz="1100" spc="-7" strike="noStrike">
                <a:solidFill>
                  <a:srgbClr val="4618a2"/>
                </a:solidFill>
                <a:latin typeface="Courier New"/>
                <a:ea typeface="DejaVu Sans"/>
              </a:rPr>
              <a:t>image:</a:t>
            </a:r>
            <a:r>
              <a:rPr b="1" lang="fr-FR" sz="1100" spc="-41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nginx</a:t>
            </a:r>
            <a:endParaRPr b="0" lang="fr-FR" sz="1100" spc="-1" strike="noStrike">
              <a:latin typeface="Arial"/>
            </a:endParaRPr>
          </a:p>
          <a:p>
            <a:pPr marL="187920">
              <a:lnSpc>
                <a:spcPct val="100000"/>
              </a:lnSpc>
              <a:spcBef>
                <a:spcPts val="31"/>
              </a:spcBef>
              <a:buNone/>
            </a:pPr>
            <a:r>
              <a:rPr b="1" lang="fr-FR" sz="11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100" spc="-80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my-container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642" name="object 9"/>
          <p:cNvSpPr/>
          <p:nvPr/>
        </p:nvSpPr>
        <p:spPr>
          <a:xfrm>
            <a:off x="998280" y="3446280"/>
            <a:ext cx="1965960" cy="52488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15120" bIns="0" anchor="t">
            <a:spAutoFit/>
          </a:bodyPr>
          <a:p>
            <a:pPr marL="52560">
              <a:lnSpc>
                <a:spcPct val="100000"/>
              </a:lnSpc>
              <a:spcBef>
                <a:spcPts val="119"/>
              </a:spcBef>
              <a:buNone/>
            </a:pPr>
            <a:r>
              <a:rPr b="1" lang="fr-FR" sz="1100" spc="-7" strike="noStrike">
                <a:solidFill>
                  <a:srgbClr val="4618a2"/>
                </a:solidFill>
                <a:latin typeface="Courier New"/>
                <a:ea typeface="DejaVu Sans"/>
              </a:rPr>
              <a:t>volumeMounts:</a:t>
            </a:r>
            <a:endParaRPr b="0" lang="fr-FR" sz="1100" spc="-1" strike="noStrike">
              <a:latin typeface="Arial"/>
            </a:endParaRPr>
          </a:p>
          <a:p>
            <a:pPr marL="45000">
              <a:lnSpc>
                <a:spcPct val="100000"/>
              </a:lnSpc>
              <a:spcBef>
                <a:spcPts val="31"/>
              </a:spcBef>
              <a:buNone/>
            </a:pP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-</a:t>
            </a:r>
            <a:r>
              <a:rPr b="0" lang="fr-FR" sz="1100" spc="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4618a2"/>
                </a:solidFill>
                <a:latin typeface="Courier New"/>
                <a:ea typeface="DejaVu Sans"/>
              </a:rPr>
              <a:t>mountPath:</a:t>
            </a:r>
            <a:r>
              <a:rPr b="1" lang="fr-FR" sz="1100" spc="-41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/var/logs</a:t>
            </a:r>
            <a:endParaRPr b="0" lang="fr-FR" sz="1100" spc="-1" strike="noStrike">
              <a:latin typeface="Arial"/>
            </a:endParaRPr>
          </a:p>
          <a:p>
            <a:pPr marL="224280">
              <a:lnSpc>
                <a:spcPct val="100000"/>
              </a:lnSpc>
              <a:spcBef>
                <a:spcPts val="31"/>
              </a:spcBef>
              <a:buNone/>
            </a:pPr>
            <a:r>
              <a:rPr b="1" lang="fr-FR" sz="11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1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logs-volume</a:t>
            </a:r>
            <a:endParaRPr b="0" lang="fr-FR" sz="1100" spc="-1" strike="noStrike">
              <a:latin typeface="Arial"/>
            </a:endParaRPr>
          </a:p>
        </p:txBody>
      </p:sp>
      <p:grpSp>
        <p:nvGrpSpPr>
          <p:cNvPr id="643" name="object 10"/>
          <p:cNvGrpSpPr/>
          <p:nvPr/>
        </p:nvGrpSpPr>
        <p:grpSpPr>
          <a:xfrm>
            <a:off x="2782080" y="2675880"/>
            <a:ext cx="1319760" cy="1114200"/>
            <a:chOff x="2782080" y="2675880"/>
            <a:chExt cx="1319760" cy="1114200"/>
          </a:xfrm>
        </p:grpSpPr>
        <p:sp>
          <p:nvSpPr>
            <p:cNvPr id="644" name="object 11"/>
            <p:cNvSpPr/>
            <p:nvPr/>
          </p:nvSpPr>
          <p:spPr>
            <a:xfrm>
              <a:off x="2877840" y="2716560"/>
              <a:ext cx="1216080" cy="360"/>
            </a:xfrm>
            <a:custGeom>
              <a:avLst/>
              <a:gdLst/>
              <a:ahLst/>
              <a:rect l="l" t="t" r="r" b="b"/>
              <a:pathLst>
                <a:path w="1219200" h="0">
                  <a:moveTo>
                    <a:pt x="12185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645" name="object 12" descr=""/>
            <p:cNvPicPr/>
            <p:nvPr/>
          </p:nvPicPr>
          <p:blipFill>
            <a:blip r:embed="rId2"/>
            <a:stretch/>
          </p:blipFill>
          <p:spPr>
            <a:xfrm>
              <a:off x="2782080" y="2675880"/>
              <a:ext cx="102240" cy="788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646" name="object 13"/>
            <p:cNvSpPr/>
            <p:nvPr/>
          </p:nvSpPr>
          <p:spPr>
            <a:xfrm>
              <a:off x="3170520" y="3752280"/>
              <a:ext cx="931320" cy="360"/>
            </a:xfrm>
            <a:custGeom>
              <a:avLst/>
              <a:gdLst/>
              <a:ahLst/>
              <a:rect l="l" t="t" r="r" b="b"/>
              <a:pathLst>
                <a:path w="934720" h="0">
                  <a:moveTo>
                    <a:pt x="9341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647" name="object 14" descr=""/>
            <p:cNvPicPr/>
            <p:nvPr/>
          </p:nvPicPr>
          <p:blipFill>
            <a:blip r:embed="rId3"/>
            <a:stretch/>
          </p:blipFill>
          <p:spPr>
            <a:xfrm>
              <a:off x="3074400" y="3711240"/>
              <a:ext cx="102240" cy="788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648" name="object 15"/>
          <p:cNvSpPr/>
          <p:nvPr/>
        </p:nvSpPr>
        <p:spPr>
          <a:xfrm>
            <a:off x="4208040" y="2583000"/>
            <a:ext cx="29898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Define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Volume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name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and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type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649" name="object 17"/>
          <p:cNvSpPr/>
          <p:nvPr/>
        </p:nvSpPr>
        <p:spPr>
          <a:xfrm>
            <a:off x="8701560" y="4908600"/>
            <a:ext cx="2012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FBE0A8CA-5DEE-439A-B5F8-226C8B633EDA}" type="slidenum">
              <a:rPr b="0" lang="fr-FR" sz="800" spc="-7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650" name="object 16"/>
          <p:cNvSpPr/>
          <p:nvPr/>
        </p:nvSpPr>
        <p:spPr>
          <a:xfrm>
            <a:off x="4200840" y="3610080"/>
            <a:ext cx="29970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Specify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mount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path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in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container</a:t>
            </a:r>
            <a:endParaRPr b="0" lang="fr-FR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70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7" strike="noStrike">
                <a:solidFill>
                  <a:srgbClr val="000000"/>
                </a:solidFill>
                <a:latin typeface="Tahoma"/>
              </a:rPr>
              <a:t>Using</a:t>
            </a:r>
            <a:r>
              <a:rPr b="1" lang="fr-FR" sz="2400" spc="-16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1" strike="noStrike">
                <a:solidFill>
                  <a:srgbClr val="000000"/>
                </a:solidFill>
                <a:latin typeface="Tahoma"/>
              </a:rPr>
              <a:t>Volume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You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00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shell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into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container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6" strike="noStrike">
                <a:solidFill>
                  <a:srgbClr val="666666"/>
                </a:solidFill>
                <a:latin typeface="Lucida Sans Unicode"/>
              </a:rPr>
              <a:t>navigate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mount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6" strike="noStrike">
                <a:solidFill>
                  <a:srgbClr val="666666"/>
                </a:solidFill>
                <a:latin typeface="Lucida Sans Unicode"/>
              </a:rPr>
              <a:t>path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652" name="object 3"/>
          <p:cNvGrpSpPr/>
          <p:nvPr/>
        </p:nvGrpSpPr>
        <p:grpSpPr>
          <a:xfrm>
            <a:off x="446040" y="1375560"/>
            <a:ext cx="4959720" cy="2590560"/>
            <a:chOff x="446040" y="1375560"/>
            <a:chExt cx="4959720" cy="2590560"/>
          </a:xfrm>
        </p:grpSpPr>
        <p:pic>
          <p:nvPicPr>
            <p:cNvPr id="653" name="object 4" descr=""/>
            <p:cNvPicPr/>
            <p:nvPr/>
          </p:nvPicPr>
          <p:blipFill>
            <a:blip r:embed="rId1"/>
            <a:stretch/>
          </p:blipFill>
          <p:spPr>
            <a:xfrm>
              <a:off x="446040" y="1375560"/>
              <a:ext cx="4959720" cy="259056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654" name="object 5"/>
            <p:cNvSpPr/>
            <p:nvPr/>
          </p:nvSpPr>
          <p:spPr>
            <a:xfrm>
              <a:off x="499680" y="1424160"/>
              <a:ext cx="4845600" cy="2476440"/>
            </a:xfrm>
            <a:custGeom>
              <a:avLst/>
              <a:gdLst/>
              <a:ahLst/>
              <a:rect l="l" t="t" r="r" b="b"/>
              <a:pathLst>
                <a:path w="4848860" h="2479675">
                  <a:moveTo>
                    <a:pt x="4848599" y="2479499"/>
                  </a:moveTo>
                  <a:lnTo>
                    <a:pt x="0" y="2479499"/>
                  </a:lnTo>
                  <a:lnTo>
                    <a:pt x="0" y="0"/>
                  </a:lnTo>
                  <a:lnTo>
                    <a:pt x="4848599" y="0"/>
                  </a:lnTo>
                  <a:lnTo>
                    <a:pt x="4848599" y="24794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655" name="object 6"/>
          <p:cNvSpPr/>
          <p:nvPr/>
        </p:nvSpPr>
        <p:spPr>
          <a:xfrm>
            <a:off x="663120" y="1561320"/>
            <a:ext cx="4502880" cy="86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-f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pod-with-vol.yaml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pod/my-container</a:t>
            </a:r>
            <a:r>
              <a:rPr b="0" lang="fr-FR" sz="14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31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6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exec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-it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my-container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/bin/sh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656" name="object 7"/>
          <p:cNvSpPr/>
          <p:nvPr/>
        </p:nvSpPr>
        <p:spPr>
          <a:xfrm>
            <a:off x="663120" y="2399760"/>
            <a:ext cx="44892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#</a:t>
            </a:r>
            <a:r>
              <a:rPr b="0" lang="fr-FR" sz="1400" spc="-97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cd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657" name="object 8"/>
          <p:cNvSpPr/>
          <p:nvPr/>
        </p:nvSpPr>
        <p:spPr>
          <a:xfrm>
            <a:off x="1160640" y="2422080"/>
            <a:ext cx="1095840" cy="20340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48240">
              <a:lnSpc>
                <a:spcPts val="160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/var/logs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658" name="object 9"/>
          <p:cNvSpPr/>
          <p:nvPr/>
        </p:nvSpPr>
        <p:spPr>
          <a:xfrm>
            <a:off x="663120" y="2609280"/>
            <a:ext cx="98244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#</a:t>
            </a:r>
            <a:r>
              <a:rPr b="0" lang="fr-FR" sz="14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pwd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/var/logs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659" name="object 10"/>
          <p:cNvSpPr/>
          <p:nvPr/>
        </p:nvSpPr>
        <p:spPr>
          <a:xfrm>
            <a:off x="663120" y="3028320"/>
            <a:ext cx="2155680" cy="64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2600">
              <a:lnSpc>
                <a:spcPts val="1650"/>
              </a:lnSpc>
              <a:spcBef>
                <a:spcPts val="181"/>
              </a:spcBef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#</a:t>
            </a:r>
            <a:r>
              <a:rPr b="0" lang="fr-FR" sz="1400" spc="-5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touch</a:t>
            </a:r>
            <a:r>
              <a:rPr b="0" lang="fr-FR" sz="1400" spc="-5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app-logs.txt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#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ls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599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app-logs.txt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660" name="object 13"/>
          <p:cNvSpPr/>
          <p:nvPr/>
        </p:nvSpPr>
        <p:spPr>
          <a:xfrm>
            <a:off x="8701560" y="4908600"/>
            <a:ext cx="2012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7CB68471-D5D3-42C1-BD22-E65938DC6AB0}" type="slidenum">
              <a:rPr b="0" lang="fr-FR" sz="800" spc="-7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98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Persistent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1" strike="noStrike">
                <a:solidFill>
                  <a:srgbClr val="000000"/>
                </a:solidFill>
                <a:latin typeface="Tahoma"/>
              </a:rPr>
              <a:t>Volume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Persist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6" strike="noStrike">
                <a:solidFill>
                  <a:srgbClr val="666666"/>
                </a:solidFill>
                <a:latin typeface="Lucida Sans Unicode"/>
              </a:rPr>
              <a:t>data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that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outlives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Pod,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node,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cluster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restart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662" name="object 3" descr=""/>
          <p:cNvPicPr/>
          <p:nvPr/>
        </p:nvPicPr>
        <p:blipFill>
          <a:blip r:embed="rId1"/>
          <a:stretch/>
        </p:blipFill>
        <p:spPr>
          <a:xfrm>
            <a:off x="1246680" y="2601000"/>
            <a:ext cx="6627600" cy="1262160"/>
          </a:xfrm>
          <a:prstGeom prst="rect">
            <a:avLst/>
          </a:prstGeom>
          <a:ln w="0">
            <a:noFill/>
          </a:ln>
        </p:spPr>
      </p:pic>
      <p:sp>
        <p:nvSpPr>
          <p:cNvPr id="663" name="object 4"/>
          <p:cNvSpPr/>
          <p:nvPr/>
        </p:nvSpPr>
        <p:spPr>
          <a:xfrm>
            <a:off x="8701560" y="4908600"/>
            <a:ext cx="2343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235ECC46-4DE0-4D86-B1B7-1C7546ECFA59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06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Static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" strike="noStrike">
                <a:solidFill>
                  <a:srgbClr val="000000"/>
                </a:solidFill>
                <a:latin typeface="Tahoma"/>
              </a:rPr>
              <a:t>vs.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9" strike="noStrike">
                <a:solidFill>
                  <a:srgbClr val="000000"/>
                </a:solidFill>
                <a:latin typeface="Tahoma"/>
              </a:rPr>
              <a:t>Dynamic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Provisioning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PersistentVolume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object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is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created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manually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5" strike="noStrike">
                <a:solidFill>
                  <a:srgbClr val="666666"/>
                </a:solidFill>
                <a:latin typeface="Lucida Sans Unicode"/>
              </a:rPr>
              <a:t>automatically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665" name="object 4"/>
          <p:cNvSpPr/>
          <p:nvPr/>
        </p:nvSpPr>
        <p:spPr>
          <a:xfrm>
            <a:off x="8701560" y="4908600"/>
            <a:ext cx="2343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41D822BC-AE46-4BDC-9ED8-C48DE92F7312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666" name="object 3"/>
          <p:cNvSpPr/>
          <p:nvPr/>
        </p:nvSpPr>
        <p:spPr>
          <a:xfrm>
            <a:off x="600120" y="1360440"/>
            <a:ext cx="8398800" cy="251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Static Provisioning:</a:t>
            </a:r>
            <a:r>
              <a:rPr b="0" i="1" lang="fr-FR" sz="1600" spc="7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Storage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device needs to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created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first.</a:t>
            </a:r>
            <a:r>
              <a:rPr b="0" lang="fr-FR" sz="16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PersistentVolume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object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references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storage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device and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needs to be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created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manually.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Dynamic Provisioning: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PersistentVolumeClaim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object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references a storage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class.</a:t>
            </a:r>
            <a:r>
              <a:rPr b="0" lang="fr-FR" sz="1600" spc="-4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PersistentVolume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object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created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automatically.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Storage Class: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Object that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knows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how to provision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storage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device with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specific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performance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requirements.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16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6" strike="noStrike">
                <a:solidFill>
                  <a:srgbClr val="000000"/>
                </a:solidFill>
                <a:latin typeface="Tahoma"/>
              </a:rPr>
              <a:t>Defining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PersistentVolume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Define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storage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5" strike="noStrike">
                <a:solidFill>
                  <a:srgbClr val="666666"/>
                </a:solidFill>
                <a:latin typeface="Lucida Sans Unicode"/>
              </a:rPr>
              <a:t>capacity,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0" strike="noStrike">
                <a:solidFill>
                  <a:srgbClr val="666666"/>
                </a:solidFill>
                <a:latin typeface="Lucida Sans Unicode"/>
              </a:rPr>
              <a:t>access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mode,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host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6" strike="noStrike">
                <a:solidFill>
                  <a:srgbClr val="666666"/>
                </a:solidFill>
                <a:latin typeface="Lucida Sans Unicode"/>
              </a:rPr>
              <a:t>path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668" name="object 4"/>
          <p:cNvSpPr/>
          <p:nvPr/>
        </p:nvSpPr>
        <p:spPr>
          <a:xfrm>
            <a:off x="499680" y="1424160"/>
            <a:ext cx="2610360" cy="234612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50480" bIns="0" anchor="t">
            <a:spAutoFit/>
          </a:bodyPr>
          <a:p>
            <a:pPr marL="208440">
              <a:lnSpc>
                <a:spcPct val="100000"/>
              </a:lnSpc>
              <a:spcBef>
                <a:spcPts val="1185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apiVersion: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v1</a:t>
            </a:r>
            <a:endParaRPr b="0" lang="fr-FR" sz="1300" spc="-1" strike="noStrike">
              <a:latin typeface="Arial"/>
            </a:endParaRPr>
          </a:p>
          <a:p>
            <a:pPr marL="20844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PersistentVolume</a:t>
            </a:r>
            <a:endParaRPr b="0" lang="fr-FR" sz="1300" spc="-1" strike="noStrike">
              <a:latin typeface="Arial"/>
            </a:endParaRPr>
          </a:p>
          <a:p>
            <a:pPr marL="402480" indent="-195120">
              <a:lnSpc>
                <a:spcPct val="101000"/>
              </a:lnSpc>
              <a:buNone/>
              <a:tabLst>
                <a:tab algn="l" pos="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metadata:</a:t>
            </a:r>
            <a:endParaRPr b="0" lang="fr-FR" sz="1300" spc="-1" strike="noStrike">
              <a:latin typeface="Arial"/>
            </a:endParaRPr>
          </a:p>
          <a:p>
            <a:pPr marL="402480" indent="-195120">
              <a:lnSpc>
                <a:spcPct val="101000"/>
              </a:lnSpc>
              <a:buNone/>
              <a:tabLst>
                <a:tab algn="l" pos="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1" lang="fr-FR" sz="1300" spc="-1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300" spc="-97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db-pv</a:t>
            </a:r>
            <a:endParaRPr b="0" lang="fr-FR" sz="1300" spc="-1" strike="noStrike">
              <a:latin typeface="Arial"/>
            </a:endParaRPr>
          </a:p>
          <a:p>
            <a:pPr marL="208440" indent="-195120">
              <a:lnSpc>
                <a:spcPct val="100000"/>
              </a:lnSpc>
              <a:spcBef>
                <a:spcPts val="14"/>
              </a:spcBef>
              <a:buNone/>
              <a:tabLst>
                <a:tab algn="l" pos="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  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spec:</a:t>
            </a:r>
            <a:endParaRPr b="0" lang="fr-FR" sz="1300" spc="-1" strike="noStrike">
              <a:latin typeface="Arial"/>
            </a:endParaRPr>
          </a:p>
          <a:p>
            <a:pPr marL="596880" indent="-195120">
              <a:lnSpc>
                <a:spcPct val="101000"/>
              </a:lnSpc>
              <a:buNone/>
              <a:tabLst>
                <a:tab algn="l" pos="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capacity:</a:t>
            </a:r>
            <a:endParaRPr b="0" lang="fr-FR" sz="1300" spc="-1" strike="noStrike">
              <a:latin typeface="Arial"/>
            </a:endParaRPr>
          </a:p>
          <a:p>
            <a:pPr marL="596880" indent="-195120">
              <a:lnSpc>
                <a:spcPct val="101000"/>
              </a:lnSpc>
              <a:buNone/>
              <a:tabLst>
                <a:tab algn="l" pos="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1" lang="fr-FR" sz="1300" spc="-1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storage:</a:t>
            </a:r>
            <a:r>
              <a:rPr b="1" lang="fr-FR" sz="1300" spc="-97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1Gi</a:t>
            </a:r>
            <a:endParaRPr b="0" lang="fr-FR" sz="1300" spc="-1" strike="noStrike">
              <a:latin typeface="Arial"/>
            </a:endParaRPr>
          </a:p>
          <a:p>
            <a:pPr marL="402480" indent="-195120">
              <a:lnSpc>
                <a:spcPct val="100000"/>
              </a:lnSpc>
              <a:spcBef>
                <a:spcPts val="14"/>
              </a:spcBef>
              <a:buNone/>
              <a:tabLst>
                <a:tab algn="l" pos="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	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accessModes:</a:t>
            </a:r>
            <a:endParaRPr b="0" lang="fr-FR" sz="1300" spc="-1" strike="noStrike">
              <a:latin typeface="Arial"/>
            </a:endParaRPr>
          </a:p>
          <a:p>
            <a:pPr marL="604440" indent="-195120">
              <a:lnSpc>
                <a:spcPct val="100000"/>
              </a:lnSpc>
              <a:spcBef>
                <a:spcPts val="14"/>
              </a:spcBef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-</a:t>
            </a:r>
            <a:r>
              <a:rPr b="0" lang="fr-FR" sz="13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ReadWriteOnce</a:t>
            </a:r>
            <a:endParaRPr b="0" lang="fr-FR" sz="1300" spc="-1" strike="noStrike">
              <a:latin typeface="Arial"/>
            </a:endParaRPr>
          </a:p>
          <a:p>
            <a:pPr marL="402480" indent="-195120">
              <a:lnSpc>
                <a:spcPct val="100000"/>
              </a:lnSpc>
              <a:spcBef>
                <a:spcPts val="14"/>
              </a:spcBef>
              <a:buNone/>
              <a:tabLst>
                <a:tab algn="l" pos="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	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hostPath:</a:t>
            </a:r>
            <a:endParaRPr b="0" lang="fr-FR" sz="1300" spc="-1" strike="noStrike">
              <a:latin typeface="Arial"/>
            </a:endParaRPr>
          </a:p>
          <a:p>
            <a:pPr marL="596880" indent="-195120">
              <a:lnSpc>
                <a:spcPct val="100000"/>
              </a:lnSpc>
              <a:spcBef>
                <a:spcPts val="14"/>
              </a:spcBef>
              <a:buNone/>
              <a:tabLst>
                <a:tab algn="l" pos="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	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path: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/data/db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669" name="object 5"/>
          <p:cNvSpPr/>
          <p:nvPr/>
        </p:nvSpPr>
        <p:spPr>
          <a:xfrm>
            <a:off x="8701560" y="4908600"/>
            <a:ext cx="2343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D2135893-434A-4518-8FD5-A0DB6EC1F314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62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80" strike="noStrike">
                <a:solidFill>
                  <a:srgbClr val="000000"/>
                </a:solidFill>
                <a:latin typeface="Tahoma"/>
              </a:rPr>
              <a:t>Access</a:t>
            </a:r>
            <a:r>
              <a:rPr b="1" lang="fr-FR" sz="2400" spc="-17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9" strike="noStrike">
                <a:solidFill>
                  <a:srgbClr val="000000"/>
                </a:solidFill>
                <a:latin typeface="Tahoma"/>
              </a:rPr>
              <a:t>Mode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Defines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read/write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capabilities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Volume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671" name="object 6"/>
          <p:cNvSpPr/>
          <p:nvPr/>
        </p:nvSpPr>
        <p:spPr>
          <a:xfrm>
            <a:off x="8701560" y="4908600"/>
            <a:ext cx="2343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460EB6A2-FB19-4A1A-90C8-F6CEDA64CABE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672" name="" descr=""/>
          <p:cNvPicPr/>
          <p:nvPr/>
        </p:nvPicPr>
        <p:blipFill>
          <a:blip r:embed="rId1"/>
          <a:stretch/>
        </p:blipFill>
        <p:spPr>
          <a:xfrm>
            <a:off x="540000" y="1393200"/>
            <a:ext cx="8097840" cy="2924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42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21" strike="noStrike">
                <a:solidFill>
                  <a:srgbClr val="000000"/>
                </a:solidFill>
                <a:latin typeface="Tahoma"/>
              </a:rPr>
              <a:t>Reclaim</a:t>
            </a:r>
            <a:r>
              <a:rPr b="1" lang="fr-FR" sz="2400" spc="-17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Policy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What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should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0" strike="noStrike">
                <a:solidFill>
                  <a:srgbClr val="666666"/>
                </a:solidFill>
                <a:latin typeface="Lucida Sans Unicode"/>
              </a:rPr>
              <a:t>happen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PersistentVolume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5" strike="noStrike">
                <a:solidFill>
                  <a:srgbClr val="666666"/>
                </a:solidFill>
                <a:latin typeface="Lucida Sans Unicode"/>
              </a:rPr>
              <a:t>when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Claim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is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deleted?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674" name="object 5"/>
          <p:cNvSpPr/>
          <p:nvPr/>
        </p:nvSpPr>
        <p:spPr>
          <a:xfrm>
            <a:off x="8701560" y="4908600"/>
            <a:ext cx="2343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66B2AA82-4F00-4AFC-97A3-A25A8DB1989C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675" name="" descr=""/>
          <p:cNvPicPr/>
          <p:nvPr/>
        </p:nvPicPr>
        <p:blipFill>
          <a:blip r:embed="rId1"/>
          <a:stretch/>
        </p:blipFill>
        <p:spPr>
          <a:xfrm>
            <a:off x="504000" y="1391400"/>
            <a:ext cx="8277840" cy="2386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34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9" strike="noStrike">
                <a:solidFill>
                  <a:srgbClr val="000000"/>
                </a:solidFill>
                <a:latin typeface="Tahoma"/>
              </a:rPr>
              <a:t>Creating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PersistentVolume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Summarized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most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important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configuration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status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677" name="object 3"/>
          <p:cNvGrpSpPr/>
          <p:nvPr/>
        </p:nvGrpSpPr>
        <p:grpSpPr>
          <a:xfrm>
            <a:off x="446040" y="1375560"/>
            <a:ext cx="8011800" cy="1731240"/>
            <a:chOff x="446040" y="1375560"/>
            <a:chExt cx="8011800" cy="1731240"/>
          </a:xfrm>
        </p:grpSpPr>
        <p:pic>
          <p:nvPicPr>
            <p:cNvPr id="678" name="object 4" descr=""/>
            <p:cNvPicPr/>
            <p:nvPr/>
          </p:nvPicPr>
          <p:blipFill>
            <a:blip r:embed="rId1"/>
            <a:stretch/>
          </p:blipFill>
          <p:spPr>
            <a:xfrm>
              <a:off x="446040" y="1375560"/>
              <a:ext cx="8011800" cy="17312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679" name="object 5"/>
            <p:cNvSpPr/>
            <p:nvPr/>
          </p:nvSpPr>
          <p:spPr>
            <a:xfrm>
              <a:off x="504000" y="1424160"/>
              <a:ext cx="7888680" cy="1617120"/>
            </a:xfrm>
            <a:custGeom>
              <a:avLst/>
              <a:gdLst/>
              <a:ahLst/>
              <a:rect l="l" t="t" r="r" b="b"/>
              <a:pathLst>
                <a:path w="7292340" h="1620520">
                  <a:moveTo>
                    <a:pt x="7291799" y="1619999"/>
                  </a:moveTo>
                  <a:lnTo>
                    <a:pt x="0" y="1619999"/>
                  </a:lnTo>
                  <a:lnTo>
                    <a:pt x="0" y="0"/>
                  </a:lnTo>
                  <a:lnTo>
                    <a:pt x="7291799" y="0"/>
                  </a:lnTo>
                  <a:lnTo>
                    <a:pt x="7291799" y="16199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680" name="object 6"/>
          <p:cNvSpPr/>
          <p:nvPr/>
        </p:nvSpPr>
        <p:spPr>
          <a:xfrm>
            <a:off x="663120" y="1561320"/>
            <a:ext cx="322272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-f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db-pv.yaml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persistentvolume/db-pv</a:t>
            </a:r>
            <a:r>
              <a:rPr b="0" lang="fr-FR" sz="1400" spc="-100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400" spc="-1" strike="noStrike">
              <a:latin typeface="Arial"/>
            </a:endParaRPr>
          </a:p>
        </p:txBody>
      </p:sp>
      <p:graphicFrame>
        <p:nvGraphicFramePr>
          <p:cNvPr id="681" name="object 7"/>
          <p:cNvGraphicFramePr/>
          <p:nvPr/>
        </p:nvGraphicFramePr>
        <p:xfrm>
          <a:off x="644040" y="2232720"/>
          <a:ext cx="7873920" cy="659880"/>
        </p:xfrm>
        <a:graphic>
          <a:graphicData uri="http://schemas.openxmlformats.org/drawingml/2006/table">
            <a:tbl>
              <a:tblPr/>
              <a:tblGrid>
                <a:gridCol w="2020320"/>
                <a:gridCol w="1046520"/>
                <a:gridCol w="799200"/>
                <a:gridCol w="1935720"/>
                <a:gridCol w="1255320"/>
                <a:gridCol w="817200"/>
              </a:tblGrid>
              <a:tr h="202680">
                <a:tc>
                  <a:txBody>
                    <a:bodyPr anchor="t">
                      <a:noAutofit/>
                    </a:bodyPr>
                    <a:p>
                      <a:pPr marL="31680">
                        <a:lnSpc>
                          <a:spcPts val="1446"/>
                        </a:lnSpc>
                        <a:buNone/>
                      </a:pPr>
                      <a:r>
                        <a:rPr b="1" lang="fr-FR" sz="1400" spc="-1" strike="noStrike">
                          <a:solidFill>
                            <a:srgbClr val="000000"/>
                          </a:solidFill>
                          <a:latin typeface="Courier New"/>
                        </a:rPr>
                        <a:t>$</a:t>
                      </a:r>
                      <a:r>
                        <a:rPr b="1" lang="fr-FR" sz="1400" spc="-35" strike="noStrike">
                          <a:solidFill>
                            <a:srgbClr val="000000"/>
                          </a:solidFill>
                          <a:latin typeface="Courier New"/>
                        </a:rPr>
                        <a:t> </a:t>
                      </a:r>
                      <a:r>
                        <a:rPr b="1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kubectl</a:t>
                      </a:r>
                      <a:r>
                        <a:rPr b="1" lang="fr-FR" sz="1400" spc="-32" strike="noStrike">
                          <a:solidFill>
                            <a:srgbClr val="000000"/>
                          </a:solidFill>
                          <a:latin typeface="Courier New"/>
                        </a:rPr>
                        <a:t> </a:t>
                      </a:r>
                      <a:r>
                        <a:rPr b="1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get</a:t>
                      </a:r>
                      <a:r>
                        <a:rPr b="1" lang="fr-FR" sz="1400" spc="-32" strike="noStrike">
                          <a:solidFill>
                            <a:srgbClr val="000000"/>
                          </a:solidFill>
                          <a:latin typeface="Courier New"/>
                        </a:rPr>
                        <a:t> </a:t>
                      </a:r>
                      <a:r>
                        <a:rPr b="1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pv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53280">
                        <a:lnSpc>
                          <a:spcPts val="1446"/>
                        </a:lnSpc>
                        <a:buNone/>
                      </a:pPr>
                      <a:r>
                        <a:rPr b="1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db-pv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gridSpan="4"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hMerge="1"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457560">
                <a:tc>
                  <a:txBody>
                    <a:bodyPr anchor="t">
                      <a:noAutofit/>
                    </a:bodyPr>
                    <a:p>
                      <a:pPr marL="31680">
                        <a:lnSpc>
                          <a:spcPts val="1485"/>
                        </a:lnSpc>
                        <a:buNone/>
                        <a:tabLst>
                          <a:tab algn="l" pos="777960"/>
                        </a:tabLst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NAME</a:t>
                      </a: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	</a:t>
                      </a: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CAPACITY</a:t>
                      </a:r>
                      <a:endParaRPr b="0" lang="fr-FR" sz="1400" spc="-1" strike="noStrike">
                        <a:latin typeface="Arial"/>
                      </a:endParaRPr>
                    </a:p>
                    <a:p>
                      <a:pPr marL="31680">
                        <a:lnSpc>
                          <a:spcPts val="1664"/>
                        </a:lnSpc>
                        <a:buNone/>
                        <a:tabLst>
                          <a:tab algn="l" pos="777960"/>
                        </a:tabLst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db-pv</a:t>
                      </a: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	</a:t>
                      </a: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1Gi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160200">
                        <a:lnSpc>
                          <a:spcPts val="1485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ACCESS</a:t>
                      </a:r>
                      <a:endParaRPr b="0" lang="fr-FR" sz="1400" spc="-1" strike="noStrike">
                        <a:latin typeface="Arial"/>
                      </a:endParaRPr>
                    </a:p>
                    <a:p>
                      <a:pPr marL="160200">
                        <a:lnSpc>
                          <a:spcPts val="1664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RWO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53280">
                        <a:lnSpc>
                          <a:spcPts val="1500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MODES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160200">
                        <a:lnSpc>
                          <a:spcPts val="1485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RECLAIM</a:t>
                      </a:r>
                      <a:r>
                        <a:rPr b="0" lang="fr-FR" sz="1400" spc="-72" strike="noStrike">
                          <a:solidFill>
                            <a:srgbClr val="000000"/>
                          </a:solidFill>
                          <a:latin typeface="Courier New"/>
                        </a:rPr>
                        <a:t> </a:t>
                      </a: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POLICY</a:t>
                      </a:r>
                      <a:endParaRPr b="0" lang="fr-FR" sz="1400" spc="-1" strike="noStrike">
                        <a:latin typeface="Arial"/>
                      </a:endParaRPr>
                    </a:p>
                    <a:p>
                      <a:pPr marL="160200">
                        <a:lnSpc>
                          <a:spcPts val="1664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Retain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 w="18720">
                      <a:solidFill>
                        <a:srgbClr val="ff0000"/>
                      </a:solidFill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93960">
                        <a:lnSpc>
                          <a:spcPts val="1485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STATUS</a:t>
                      </a:r>
                      <a:endParaRPr b="0" lang="fr-FR" sz="1400" spc="-1" strike="noStrike">
                        <a:latin typeface="Arial"/>
                      </a:endParaRPr>
                    </a:p>
                    <a:p>
                      <a:pPr marL="93960">
                        <a:lnSpc>
                          <a:spcPts val="1664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Available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 w="18720">
                      <a:solidFill>
                        <a:srgbClr val="ff0000"/>
                      </a:solidFill>
                    </a:lnL>
                    <a:lnR w="18720">
                      <a:solidFill>
                        <a:srgbClr val="ff0000"/>
                      </a:solidFill>
                    </a:lnR>
                    <a:lnT w="18720">
                      <a:solidFill>
                        <a:srgbClr val="ff0000"/>
                      </a:solidFill>
                    </a:lnT>
                    <a:lnB w="18720">
                      <a:solidFill>
                        <a:srgbClr val="ff0000"/>
                      </a:solidFill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242640">
                        <a:lnSpc>
                          <a:spcPts val="1485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...</a:t>
                      </a:r>
                      <a:endParaRPr b="0" lang="fr-FR" sz="1400" spc="-1" strike="noStrike">
                        <a:latin typeface="Arial"/>
                      </a:endParaRPr>
                    </a:p>
                    <a:p>
                      <a:pPr marL="242640">
                        <a:lnSpc>
                          <a:spcPts val="1664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...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 w="18720">
                      <a:solidFill>
                        <a:srgbClr val="ff0000"/>
                      </a:solidFill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pic>
        <p:nvPicPr>
          <p:cNvPr id="682" name="object 8" descr=""/>
          <p:cNvPicPr/>
          <p:nvPr/>
        </p:nvPicPr>
        <p:blipFill>
          <a:blip r:embed="rId2"/>
          <a:stretch/>
        </p:blipFill>
        <p:spPr>
          <a:xfrm>
            <a:off x="7052040" y="3170160"/>
            <a:ext cx="78840" cy="301680"/>
          </a:xfrm>
          <a:prstGeom prst="rect">
            <a:avLst/>
          </a:prstGeom>
          <a:ln w="0">
            <a:noFill/>
          </a:ln>
        </p:spPr>
      </p:pic>
      <p:sp>
        <p:nvSpPr>
          <p:cNvPr id="683" name="object 9"/>
          <p:cNvSpPr/>
          <p:nvPr/>
        </p:nvSpPr>
        <p:spPr>
          <a:xfrm>
            <a:off x="6039360" y="3549600"/>
            <a:ext cx="238248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2600" indent="78840">
              <a:lnSpc>
                <a:spcPts val="165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The object hasn’t been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 consumed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by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claim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yet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684" name="object 10"/>
          <p:cNvSpPr/>
          <p:nvPr/>
        </p:nvSpPr>
        <p:spPr>
          <a:xfrm>
            <a:off x="8701560" y="4908600"/>
            <a:ext cx="2343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B66D5808-CA3A-46EA-AE3B-586452C21662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883560" cy="1276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6" strike="noStrike">
                <a:solidFill>
                  <a:srgbClr val="000000"/>
                </a:solidFill>
                <a:latin typeface="Tahoma"/>
              </a:rPr>
              <a:t>Defining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9" strike="noStrike">
                <a:solidFill>
                  <a:srgbClr val="000000"/>
                </a:solidFill>
                <a:latin typeface="Tahoma"/>
              </a:rPr>
              <a:t>PersistentVolumeClaim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Will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bind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PersistentVolume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6" strike="noStrike">
                <a:solidFill>
                  <a:srgbClr val="666666"/>
                </a:solidFill>
                <a:latin typeface="Lucida Sans Unicode"/>
              </a:rPr>
              <a:t>based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resource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request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686" name="object 3"/>
          <p:cNvGrpSpPr/>
          <p:nvPr/>
        </p:nvGrpSpPr>
        <p:grpSpPr>
          <a:xfrm>
            <a:off x="446040" y="1375560"/>
            <a:ext cx="3195720" cy="2673360"/>
            <a:chOff x="446040" y="1375560"/>
            <a:chExt cx="3195720" cy="2673360"/>
          </a:xfrm>
        </p:grpSpPr>
        <p:pic>
          <p:nvPicPr>
            <p:cNvPr id="687" name="object 4" descr=""/>
            <p:cNvPicPr/>
            <p:nvPr/>
          </p:nvPicPr>
          <p:blipFill>
            <a:blip r:embed="rId1"/>
            <a:stretch/>
          </p:blipFill>
          <p:spPr>
            <a:xfrm>
              <a:off x="446040" y="1375560"/>
              <a:ext cx="3195720" cy="267336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688" name="object 5"/>
            <p:cNvSpPr/>
            <p:nvPr/>
          </p:nvSpPr>
          <p:spPr>
            <a:xfrm>
              <a:off x="499680" y="1424160"/>
              <a:ext cx="3081600" cy="2559600"/>
            </a:xfrm>
            <a:custGeom>
              <a:avLst/>
              <a:gdLst/>
              <a:ahLst/>
              <a:rect l="l" t="t" r="r" b="b"/>
              <a:pathLst>
                <a:path w="3084829" h="2562860">
                  <a:moveTo>
                    <a:pt x="3084599" y="2562299"/>
                  </a:moveTo>
                  <a:lnTo>
                    <a:pt x="0" y="2562299"/>
                  </a:lnTo>
                  <a:lnTo>
                    <a:pt x="0" y="0"/>
                  </a:lnTo>
                  <a:lnTo>
                    <a:pt x="3084599" y="0"/>
                  </a:lnTo>
                  <a:lnTo>
                    <a:pt x="3084599" y="25622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689" name="object 6"/>
          <p:cNvSpPr/>
          <p:nvPr/>
        </p:nvSpPr>
        <p:spPr>
          <a:xfrm>
            <a:off x="695520" y="1562040"/>
            <a:ext cx="2696760" cy="200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apiVersion: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v1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</a:t>
            </a:r>
            <a:r>
              <a:rPr b="1" lang="fr-FR" sz="1300" spc="-80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PersistentVolumeClaim</a:t>
            </a:r>
            <a:endParaRPr b="0" lang="fr-FR" sz="1300" spc="-1" strike="noStrike">
              <a:latin typeface="Arial"/>
            </a:endParaRPr>
          </a:p>
          <a:p>
            <a:pPr marL="207000" indent="-195120">
              <a:lnSpc>
                <a:spcPct val="101000"/>
              </a:lnSpc>
              <a:buNone/>
              <a:tabLst>
                <a:tab algn="l" pos="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metadata:</a:t>
            </a:r>
            <a:endParaRPr b="0" lang="fr-FR" sz="1300" spc="-1" strike="noStrike">
              <a:latin typeface="Arial"/>
            </a:endParaRPr>
          </a:p>
          <a:p>
            <a:pPr marL="207000" indent="-195120">
              <a:lnSpc>
                <a:spcPct val="101000"/>
              </a:lnSpc>
              <a:buNone/>
              <a:tabLst>
                <a:tab algn="l" pos="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1" lang="fr-FR" sz="1300" spc="-1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300" spc="-97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db-pvc</a:t>
            </a:r>
            <a:endParaRPr b="0" lang="fr-FR" sz="1300" spc="-1" strike="noStrike">
              <a:latin typeface="Arial"/>
            </a:endParaRPr>
          </a:p>
          <a:p>
            <a:pPr marL="12600" indent="-195120">
              <a:lnSpc>
                <a:spcPct val="100000"/>
              </a:lnSpc>
              <a:spcBef>
                <a:spcPts val="14"/>
              </a:spcBef>
              <a:buNone/>
              <a:tabLst>
                <a:tab algn="l" pos="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spec:</a:t>
            </a:r>
            <a:endParaRPr b="0" lang="fr-FR" sz="1300" spc="-1" strike="noStrike">
              <a:latin typeface="Arial"/>
            </a:endParaRPr>
          </a:p>
          <a:p>
            <a:pPr marL="207000" indent="-195120">
              <a:lnSpc>
                <a:spcPct val="100000"/>
              </a:lnSpc>
              <a:spcBef>
                <a:spcPts val="14"/>
              </a:spcBef>
              <a:buNone/>
              <a:tabLst>
                <a:tab algn="l" pos="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	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accessModes:</a:t>
            </a:r>
            <a:endParaRPr b="0" lang="fr-FR" sz="1300" spc="-1" strike="noStrike">
              <a:latin typeface="Arial"/>
            </a:endParaRPr>
          </a:p>
          <a:p>
            <a:pPr marL="408960" indent="-195120">
              <a:lnSpc>
                <a:spcPct val="100000"/>
              </a:lnSpc>
              <a:spcBef>
                <a:spcPts val="14"/>
              </a:spcBef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-</a:t>
            </a:r>
            <a:r>
              <a:rPr b="0" lang="fr-FR" sz="13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ReadWriteOnce</a:t>
            </a:r>
            <a:endParaRPr b="0" lang="fr-FR" sz="1300" spc="-1" strike="noStrike">
              <a:latin typeface="Arial"/>
            </a:endParaRPr>
          </a:p>
          <a:p>
            <a:pPr marL="408960" indent="-201960">
              <a:lnSpc>
                <a:spcPct val="101000"/>
              </a:lnSpc>
              <a:buNone/>
              <a:tabLst>
                <a:tab algn="l" pos="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resources:</a:t>
            </a:r>
            <a:endParaRPr b="0" lang="fr-FR" sz="1300" spc="-1" strike="noStrike">
              <a:latin typeface="Arial"/>
            </a:endParaRPr>
          </a:p>
          <a:p>
            <a:pPr marL="408960" indent="-201960">
              <a:lnSpc>
                <a:spcPct val="101000"/>
              </a:lnSpc>
              <a:buNone/>
              <a:tabLst>
                <a:tab algn="l" pos="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1" lang="fr-FR" sz="1300" spc="-7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requests:</a:t>
            </a:r>
            <a:endParaRPr b="0" lang="fr-FR" sz="1300" spc="-1" strike="noStrike">
              <a:latin typeface="Arial"/>
            </a:endParaRPr>
          </a:p>
          <a:p>
            <a:pPr marL="606960" indent="-201960">
              <a:lnSpc>
                <a:spcPct val="100000"/>
              </a:lnSpc>
              <a:spcBef>
                <a:spcPts val="11"/>
              </a:spcBef>
              <a:buNone/>
              <a:tabLst>
                <a:tab algn="l" pos="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	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storage: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256Mi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690" name="object 7"/>
          <p:cNvSpPr/>
          <p:nvPr/>
        </p:nvSpPr>
        <p:spPr>
          <a:xfrm>
            <a:off x="853560" y="3566520"/>
            <a:ext cx="2126520" cy="20592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8280" bIns="0" anchor="t">
            <a:spAutoFit/>
          </a:bodyPr>
          <a:p>
            <a:pPr marL="48960">
              <a:lnSpc>
                <a:spcPct val="100000"/>
              </a:lnSpc>
              <a:spcBef>
                <a:spcPts val="65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storageClassName:</a:t>
            </a:r>
            <a:r>
              <a:rPr b="1" lang="fr-FR" sz="1300" spc="-8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d15e35"/>
                </a:solidFill>
                <a:latin typeface="Courier New"/>
                <a:ea typeface="DejaVu Sans"/>
              </a:rPr>
              <a:t>""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691" name="object 10"/>
          <p:cNvSpPr/>
          <p:nvPr/>
        </p:nvSpPr>
        <p:spPr>
          <a:xfrm>
            <a:off x="8701560" y="4908600"/>
            <a:ext cx="2343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B096F6FE-7D0A-4CD2-943E-93BEA60D88EE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243560" cy="1276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9" strike="noStrike">
                <a:solidFill>
                  <a:srgbClr val="000000"/>
                </a:solidFill>
                <a:latin typeface="Tahoma"/>
              </a:rPr>
              <a:t>Creating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9" strike="noStrike">
                <a:solidFill>
                  <a:srgbClr val="000000"/>
                </a:solidFill>
                <a:latin typeface="Tahoma"/>
              </a:rPr>
              <a:t>PersistentVolumeClaim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Binds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PersistentVolume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if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requirements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00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0" strike="noStrike">
                <a:solidFill>
                  <a:srgbClr val="666666"/>
                </a:solidFill>
                <a:latin typeface="Lucida Sans Unicode"/>
              </a:rPr>
              <a:t>be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fulfilled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693" name="object 10"/>
          <p:cNvSpPr/>
          <p:nvPr/>
        </p:nvSpPr>
        <p:spPr>
          <a:xfrm>
            <a:off x="8701560" y="4908600"/>
            <a:ext cx="2343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361DEF9C-BD7D-4920-8272-70F5325070EC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694" name="" descr=""/>
          <p:cNvPicPr/>
          <p:nvPr/>
        </p:nvPicPr>
        <p:blipFill>
          <a:blip r:embed="rId1"/>
          <a:stretch/>
        </p:blipFill>
        <p:spPr>
          <a:xfrm>
            <a:off x="540000" y="1309680"/>
            <a:ext cx="7917840" cy="26481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78356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7" strike="noStrike">
                <a:solidFill>
                  <a:srgbClr val="000000"/>
                </a:solidFill>
                <a:latin typeface="Tahoma"/>
              </a:rPr>
              <a:t>Mounting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9" strike="noStrike">
                <a:solidFill>
                  <a:srgbClr val="000000"/>
                </a:solidFill>
                <a:latin typeface="Tahoma"/>
              </a:rPr>
              <a:t>PersistentVolumeClaim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in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Pod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Use</a:t>
            </a:r>
            <a:r>
              <a:rPr b="0" lang="fr-FR" sz="1600" spc="-10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Volume</a:t>
            </a:r>
            <a:r>
              <a:rPr b="0" lang="fr-FR" sz="1600" spc="-97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type</a:t>
            </a:r>
            <a:r>
              <a:rPr b="0" lang="fr-FR" sz="1600" spc="-10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persistentVolumeClaim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696" name="object 3"/>
          <p:cNvGrpSpPr/>
          <p:nvPr/>
        </p:nvGrpSpPr>
        <p:grpSpPr>
          <a:xfrm>
            <a:off x="446040" y="1375560"/>
            <a:ext cx="3195720" cy="2744640"/>
            <a:chOff x="446040" y="1375560"/>
            <a:chExt cx="3195720" cy="2744640"/>
          </a:xfrm>
        </p:grpSpPr>
        <p:pic>
          <p:nvPicPr>
            <p:cNvPr id="697" name="object 4" descr=""/>
            <p:cNvPicPr/>
            <p:nvPr/>
          </p:nvPicPr>
          <p:blipFill>
            <a:blip r:embed="rId1"/>
            <a:stretch/>
          </p:blipFill>
          <p:spPr>
            <a:xfrm>
              <a:off x="446040" y="1375560"/>
              <a:ext cx="3195720" cy="27446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698" name="object 5"/>
            <p:cNvSpPr/>
            <p:nvPr/>
          </p:nvSpPr>
          <p:spPr>
            <a:xfrm>
              <a:off x="499680" y="1424160"/>
              <a:ext cx="3081600" cy="2630880"/>
            </a:xfrm>
            <a:custGeom>
              <a:avLst/>
              <a:gdLst/>
              <a:ahLst/>
              <a:rect l="l" t="t" r="r" b="b"/>
              <a:pathLst>
                <a:path w="3084829" h="2633979">
                  <a:moveTo>
                    <a:pt x="3084599" y="2633699"/>
                  </a:moveTo>
                  <a:lnTo>
                    <a:pt x="0" y="2633699"/>
                  </a:lnTo>
                  <a:lnTo>
                    <a:pt x="0" y="0"/>
                  </a:lnTo>
                  <a:lnTo>
                    <a:pt x="3084599" y="0"/>
                  </a:lnTo>
                  <a:lnTo>
                    <a:pt x="3084599" y="26336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699" name="object 6"/>
          <p:cNvSpPr/>
          <p:nvPr/>
        </p:nvSpPr>
        <p:spPr>
          <a:xfrm>
            <a:off x="695520" y="1563480"/>
            <a:ext cx="1923480" cy="11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000" spc="-7" strike="noStrike">
                <a:solidFill>
                  <a:srgbClr val="4618a2"/>
                </a:solidFill>
                <a:latin typeface="Courier New"/>
                <a:ea typeface="DejaVu Sans"/>
              </a:rPr>
              <a:t>apiVersion:</a:t>
            </a:r>
            <a:r>
              <a:rPr b="1" lang="fr-FR" sz="1000" spc="-9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000" spc="-7" strike="noStrike">
                <a:solidFill>
                  <a:srgbClr val="000000"/>
                </a:solidFill>
                <a:latin typeface="Courier New"/>
                <a:ea typeface="DejaVu Sans"/>
              </a:rPr>
              <a:t>v1 </a:t>
            </a:r>
            <a:r>
              <a:rPr b="0" lang="fr-FR" sz="1000" spc="-58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0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0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 </a:t>
            </a:r>
            <a:r>
              <a:rPr b="0" lang="fr-FR" sz="1000" spc="-7" strike="noStrike">
                <a:solidFill>
                  <a:srgbClr val="000000"/>
                </a:solidFill>
                <a:latin typeface="Courier New"/>
                <a:ea typeface="DejaVu Sans"/>
              </a:rPr>
              <a:t>Pod </a:t>
            </a:r>
            <a:r>
              <a:rPr b="0" lang="fr-FR" sz="10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0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000" spc="-7" strike="noStrike">
                <a:solidFill>
                  <a:srgbClr val="4618a2"/>
                </a:solidFill>
                <a:latin typeface="Courier New"/>
                <a:ea typeface="DejaVu Sans"/>
              </a:rPr>
              <a:t>metadata:</a:t>
            </a:r>
            <a:endParaRPr b="0" lang="fr-FR" sz="1000" spc="-1" strike="noStrike">
              <a:latin typeface="Arial"/>
            </a:endParaRPr>
          </a:p>
          <a:p>
            <a:pPr marL="161280">
              <a:lnSpc>
                <a:spcPct val="100000"/>
              </a:lnSpc>
              <a:buNone/>
            </a:pPr>
            <a:r>
              <a:rPr b="1" lang="fr-FR" sz="10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000" spc="-80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000" spc="-7" strike="noStrike">
                <a:solidFill>
                  <a:srgbClr val="000000"/>
                </a:solidFill>
                <a:latin typeface="Courier New"/>
                <a:ea typeface="DejaVu Sans"/>
              </a:rPr>
              <a:t>app-consuming-pvc</a:t>
            </a:r>
            <a:endParaRPr b="0" lang="fr-FR" sz="1000" spc="-1" strike="noStrike">
              <a:latin typeface="Arial"/>
            </a:endParaRPr>
          </a:p>
          <a:p>
            <a:pPr marL="12600">
              <a:lnSpc>
                <a:spcPct val="100000"/>
              </a:lnSpc>
              <a:buNone/>
            </a:pPr>
            <a:r>
              <a:rPr b="1" lang="fr-FR" sz="1000" spc="-7" strike="noStrike">
                <a:solidFill>
                  <a:srgbClr val="4618a2"/>
                </a:solidFill>
                <a:latin typeface="Courier New"/>
                <a:ea typeface="DejaVu Sans"/>
              </a:rPr>
              <a:t>spec:</a:t>
            </a:r>
            <a:endParaRPr b="0" lang="fr-FR" sz="1000" spc="-1" strike="noStrike">
              <a:latin typeface="Arial"/>
            </a:endParaRPr>
          </a:p>
          <a:p>
            <a:pPr marL="161280">
              <a:lnSpc>
                <a:spcPct val="100000"/>
              </a:lnSpc>
              <a:buNone/>
            </a:pPr>
            <a:r>
              <a:rPr b="1" lang="fr-FR" sz="1000" spc="-7" strike="noStrike">
                <a:solidFill>
                  <a:srgbClr val="4618a2"/>
                </a:solidFill>
                <a:latin typeface="Courier New"/>
                <a:ea typeface="DejaVu Sans"/>
              </a:rPr>
              <a:t>volumes:</a:t>
            </a:r>
            <a:endParaRPr b="0" lang="fr-FR" sz="1000" spc="-1" strike="noStrike">
              <a:latin typeface="Arial"/>
            </a:endParaRPr>
          </a:p>
          <a:p>
            <a:pPr marL="317520">
              <a:lnSpc>
                <a:spcPct val="100000"/>
              </a:lnSpc>
              <a:buNone/>
            </a:pPr>
            <a:r>
              <a:rPr b="0" lang="fr-FR" sz="1000" spc="-1" strike="noStrike">
                <a:solidFill>
                  <a:srgbClr val="000000"/>
                </a:solidFill>
                <a:latin typeface="Courier New"/>
                <a:ea typeface="DejaVu Sans"/>
              </a:rPr>
              <a:t>-</a:t>
            </a:r>
            <a:r>
              <a:rPr b="0" lang="fr-FR" sz="1000" spc="-1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0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000" spc="-4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000" spc="-7" strike="noStrike">
                <a:solidFill>
                  <a:srgbClr val="000000"/>
                </a:solidFill>
                <a:latin typeface="Courier New"/>
                <a:ea typeface="DejaVu Sans"/>
              </a:rPr>
              <a:t>app-storage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700" name="object 7"/>
          <p:cNvSpPr/>
          <p:nvPr/>
        </p:nvSpPr>
        <p:spPr>
          <a:xfrm>
            <a:off x="1104840" y="2641680"/>
            <a:ext cx="1809720" cy="30564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1440" bIns="0" anchor="t">
            <a:spAutoFit/>
          </a:bodyPr>
          <a:p>
            <a:pPr marL="197640" indent="-149400">
              <a:lnSpc>
                <a:spcPct val="100000"/>
              </a:lnSpc>
              <a:spcBef>
                <a:spcPts val="11"/>
              </a:spcBef>
              <a:buNone/>
              <a:tabLst>
                <a:tab algn="l" pos="0"/>
              </a:tabLst>
            </a:pPr>
            <a:r>
              <a:rPr b="1" lang="fr-FR" sz="1000" spc="-7" strike="noStrike">
                <a:solidFill>
                  <a:srgbClr val="4618a2"/>
                </a:solidFill>
                <a:latin typeface="Courier New"/>
                <a:ea typeface="DejaVu Sans"/>
              </a:rPr>
              <a:t>persistentVolumeClaim:  claimName:</a:t>
            </a:r>
            <a:r>
              <a:rPr b="1" lang="fr-FR" sz="1000" spc="-3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000" spc="-7" strike="noStrike">
                <a:solidFill>
                  <a:srgbClr val="000000"/>
                </a:solidFill>
                <a:latin typeface="Courier New"/>
                <a:ea typeface="DejaVu Sans"/>
              </a:rPr>
              <a:t>db-pvc</a:t>
            </a:r>
            <a:endParaRPr b="0" lang="fr-FR" sz="1000" spc="-1" strike="noStrike">
              <a:latin typeface="Arial"/>
            </a:endParaRPr>
          </a:p>
        </p:txBody>
      </p:sp>
      <p:sp>
        <p:nvSpPr>
          <p:cNvPr id="701" name="object 8"/>
          <p:cNvSpPr/>
          <p:nvPr/>
        </p:nvSpPr>
        <p:spPr>
          <a:xfrm>
            <a:off x="844200" y="2935080"/>
            <a:ext cx="2142360" cy="92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000" spc="-7" strike="noStrike">
                <a:solidFill>
                  <a:srgbClr val="4618a2"/>
                </a:solidFill>
                <a:latin typeface="Courier New"/>
                <a:ea typeface="DejaVu Sans"/>
              </a:rPr>
              <a:t>containers:</a:t>
            </a:r>
            <a:endParaRPr b="0" lang="fr-FR" sz="1000" spc="-1" strike="noStrike">
              <a:latin typeface="Arial"/>
            </a:endParaRPr>
          </a:p>
          <a:p>
            <a:pPr marL="15840">
              <a:lnSpc>
                <a:spcPct val="100000"/>
              </a:lnSpc>
              <a:buNone/>
            </a:pPr>
            <a:r>
              <a:rPr b="0" lang="fr-FR" sz="1000" spc="-1" strike="noStrike">
                <a:solidFill>
                  <a:srgbClr val="000000"/>
                </a:solidFill>
                <a:latin typeface="Courier New"/>
                <a:ea typeface="DejaVu Sans"/>
              </a:rPr>
              <a:t>-</a:t>
            </a:r>
            <a:r>
              <a:rPr b="0" lang="fr-FR" sz="1000" spc="-97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000" spc="-7" strike="noStrike">
                <a:solidFill>
                  <a:srgbClr val="4618a2"/>
                </a:solidFill>
                <a:latin typeface="Courier New"/>
                <a:ea typeface="DejaVu Sans"/>
              </a:rPr>
              <a:t>image:</a:t>
            </a:r>
            <a:r>
              <a:rPr b="1" lang="fr-FR" sz="1000" spc="-4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000" spc="-7" strike="noStrike">
                <a:solidFill>
                  <a:srgbClr val="000000"/>
                </a:solidFill>
                <a:latin typeface="Courier New"/>
                <a:ea typeface="DejaVu Sans"/>
              </a:rPr>
              <a:t>alpine</a:t>
            </a:r>
            <a:endParaRPr b="0" lang="fr-FR" sz="1000" spc="-1" strike="noStrike">
              <a:latin typeface="Arial"/>
            </a:endParaRPr>
          </a:p>
          <a:p>
            <a:pPr marL="168120">
              <a:lnSpc>
                <a:spcPct val="100000"/>
              </a:lnSpc>
              <a:buNone/>
            </a:pPr>
            <a:r>
              <a:rPr b="0" lang="fr-FR" sz="10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000" spc="-1" strike="noStrike">
              <a:latin typeface="Arial"/>
            </a:endParaRPr>
          </a:p>
          <a:p>
            <a:pPr marL="161280">
              <a:lnSpc>
                <a:spcPct val="100000"/>
              </a:lnSpc>
              <a:buNone/>
            </a:pPr>
            <a:r>
              <a:rPr b="1" lang="fr-FR" sz="1000" spc="-7" strike="noStrike">
                <a:solidFill>
                  <a:srgbClr val="4618a2"/>
                </a:solidFill>
                <a:latin typeface="Courier New"/>
                <a:ea typeface="DejaVu Sans"/>
              </a:rPr>
              <a:t>volumeMounts:</a:t>
            </a:r>
            <a:endParaRPr b="0" lang="fr-FR" sz="1000" spc="-1" strike="noStrike">
              <a:latin typeface="Arial"/>
            </a:endParaRPr>
          </a:p>
          <a:p>
            <a:pPr marL="458640" indent="-1378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000" spc="-1" strike="noStrike">
                <a:solidFill>
                  <a:srgbClr val="000000"/>
                </a:solidFill>
                <a:latin typeface="Courier New"/>
                <a:ea typeface="DejaVu Sans"/>
              </a:rPr>
              <a:t>-</a:t>
            </a:r>
            <a:r>
              <a:rPr b="0" lang="fr-FR" sz="1000" spc="-120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000" spc="-7" strike="noStrike">
                <a:solidFill>
                  <a:srgbClr val="4618a2"/>
                </a:solidFill>
                <a:latin typeface="Courier New"/>
                <a:ea typeface="DejaVu Sans"/>
              </a:rPr>
              <a:t>mountPath</a:t>
            </a:r>
            <a:r>
              <a:rPr b="1" lang="fr-FR" sz="1000" spc="-1" strike="noStrike">
                <a:solidFill>
                  <a:srgbClr val="4618a2"/>
                </a:solidFill>
                <a:latin typeface="Courier New"/>
                <a:ea typeface="DejaVu Sans"/>
              </a:rPr>
              <a:t>:</a:t>
            </a:r>
            <a:r>
              <a:rPr b="1" lang="fr-FR" sz="1000" spc="-21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1" lang="fr-FR" sz="1000" spc="-7" strike="noStrike">
                <a:solidFill>
                  <a:srgbClr val="d15e35"/>
                </a:solidFill>
                <a:latin typeface="Courier New"/>
                <a:ea typeface="DejaVu Sans"/>
              </a:rPr>
              <a:t>"/mnt/data" </a:t>
            </a:r>
            <a:r>
              <a:rPr b="1" lang="fr-FR" sz="10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000" spc="-2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000" spc="-7" strike="noStrike">
                <a:solidFill>
                  <a:srgbClr val="000000"/>
                </a:solidFill>
                <a:latin typeface="Courier New"/>
                <a:ea typeface="DejaVu Sans"/>
              </a:rPr>
              <a:t>app-storage</a:t>
            </a:r>
            <a:endParaRPr b="0" lang="fr-FR" sz="1000" spc="-1" strike="noStrike">
              <a:latin typeface="Arial"/>
            </a:endParaRPr>
          </a:p>
        </p:txBody>
      </p:sp>
      <p:grpSp>
        <p:nvGrpSpPr>
          <p:cNvPr id="702" name="object 9"/>
          <p:cNvGrpSpPr/>
          <p:nvPr/>
        </p:nvGrpSpPr>
        <p:grpSpPr>
          <a:xfrm>
            <a:off x="3099240" y="2774880"/>
            <a:ext cx="1305720" cy="78840"/>
            <a:chOff x="3099240" y="2774880"/>
            <a:chExt cx="1305720" cy="78840"/>
          </a:xfrm>
        </p:grpSpPr>
        <p:sp>
          <p:nvSpPr>
            <p:cNvPr id="703" name="object 10"/>
            <p:cNvSpPr/>
            <p:nvPr/>
          </p:nvSpPr>
          <p:spPr>
            <a:xfrm>
              <a:off x="3195360" y="2815920"/>
              <a:ext cx="1209600" cy="360"/>
            </a:xfrm>
            <a:custGeom>
              <a:avLst/>
              <a:gdLst/>
              <a:ahLst/>
              <a:rect l="l" t="t" r="r" b="b"/>
              <a:pathLst>
                <a:path w="1212850" h="0">
                  <a:moveTo>
                    <a:pt x="12122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704" name="object 11" descr=""/>
            <p:cNvPicPr/>
            <p:nvPr/>
          </p:nvPicPr>
          <p:blipFill>
            <a:blip r:embed="rId2"/>
            <a:stretch/>
          </p:blipFill>
          <p:spPr>
            <a:xfrm>
              <a:off x="3099240" y="2774880"/>
              <a:ext cx="102240" cy="788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705" name="object 12"/>
          <p:cNvSpPr/>
          <p:nvPr/>
        </p:nvSpPr>
        <p:spPr>
          <a:xfrm>
            <a:off x="4514400" y="2673720"/>
            <a:ext cx="358344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Reference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4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Volume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by</a:t>
            </a:r>
            <a:r>
              <a:rPr b="0" lang="fr-FR" sz="14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claim</a:t>
            </a:r>
            <a:r>
              <a:rPr b="0" lang="fr-FR" sz="14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name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706" name="object 13"/>
          <p:cNvSpPr/>
          <p:nvPr/>
        </p:nvSpPr>
        <p:spPr>
          <a:xfrm>
            <a:off x="8701560" y="4908600"/>
            <a:ext cx="2343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1B01FFB8-122A-4D51-817F-495029630567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904356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Assigning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35" strike="noStrike">
                <a:solidFill>
                  <a:srgbClr val="000000"/>
                </a:solidFill>
                <a:latin typeface="Tahoma"/>
              </a:rPr>
              <a:t>StorageClass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for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9" strike="noStrike">
                <a:solidFill>
                  <a:srgbClr val="000000"/>
                </a:solidFill>
                <a:latin typeface="Tahoma"/>
              </a:rPr>
              <a:t>Dynamic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Provisioning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Creates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PersistentVolume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object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5" strike="noStrike">
                <a:solidFill>
                  <a:srgbClr val="666666"/>
                </a:solidFill>
                <a:latin typeface="Lucida Sans Unicode"/>
              </a:rPr>
              <a:t>automatically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via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storage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5" strike="noStrike">
                <a:solidFill>
                  <a:srgbClr val="666666"/>
                </a:solidFill>
                <a:latin typeface="Lucida Sans Unicode"/>
              </a:rPr>
              <a:t>class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708" name="object 3"/>
          <p:cNvGrpSpPr/>
          <p:nvPr/>
        </p:nvGrpSpPr>
        <p:grpSpPr>
          <a:xfrm>
            <a:off x="466200" y="1977840"/>
            <a:ext cx="3952440" cy="1526400"/>
            <a:chOff x="466200" y="1977840"/>
            <a:chExt cx="3952440" cy="1526400"/>
          </a:xfrm>
        </p:grpSpPr>
        <p:pic>
          <p:nvPicPr>
            <p:cNvPr id="709" name="object 4" descr=""/>
            <p:cNvPicPr/>
            <p:nvPr/>
          </p:nvPicPr>
          <p:blipFill>
            <a:blip r:embed="rId1"/>
            <a:stretch/>
          </p:blipFill>
          <p:spPr>
            <a:xfrm>
              <a:off x="466200" y="1977840"/>
              <a:ext cx="3952440" cy="15264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710" name="object 5"/>
            <p:cNvSpPr/>
            <p:nvPr/>
          </p:nvSpPr>
          <p:spPr>
            <a:xfrm>
              <a:off x="519840" y="2026080"/>
              <a:ext cx="3838680" cy="1412280"/>
            </a:xfrm>
            <a:custGeom>
              <a:avLst/>
              <a:gdLst/>
              <a:ahLst/>
              <a:rect l="l" t="t" r="r" b="b"/>
              <a:pathLst>
                <a:path w="3841750" h="1415414">
                  <a:moveTo>
                    <a:pt x="3841200" y="1415399"/>
                  </a:moveTo>
                  <a:lnTo>
                    <a:pt x="0" y="1415399"/>
                  </a:lnTo>
                  <a:lnTo>
                    <a:pt x="0" y="0"/>
                  </a:lnTo>
                  <a:lnTo>
                    <a:pt x="3841200" y="0"/>
                  </a:lnTo>
                  <a:lnTo>
                    <a:pt x="3841200" y="14153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711" name="object 6"/>
          <p:cNvSpPr/>
          <p:nvPr/>
        </p:nvSpPr>
        <p:spPr>
          <a:xfrm>
            <a:off x="711000" y="2164680"/>
            <a:ext cx="2894760" cy="60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apiVersion:</a:t>
            </a:r>
            <a:r>
              <a:rPr b="1" lang="fr-FR" sz="1300" spc="-80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storage.k8s.io/v1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StorageClass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metadata: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712" name="object 7"/>
          <p:cNvSpPr/>
          <p:nvPr/>
        </p:nvSpPr>
        <p:spPr>
          <a:xfrm>
            <a:off x="905400" y="2764440"/>
            <a:ext cx="51732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713" name="object 8"/>
          <p:cNvSpPr/>
          <p:nvPr/>
        </p:nvSpPr>
        <p:spPr>
          <a:xfrm>
            <a:off x="1464840" y="2809800"/>
            <a:ext cx="845640" cy="16524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47160">
              <a:lnSpc>
                <a:spcPts val="1304"/>
              </a:lnSpc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aws-ebs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714" name="object 9"/>
          <p:cNvSpPr/>
          <p:nvPr/>
        </p:nvSpPr>
        <p:spPr>
          <a:xfrm>
            <a:off x="711000" y="2964600"/>
            <a:ext cx="339012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provisioner:</a:t>
            </a:r>
            <a:r>
              <a:rPr b="1" lang="fr-FR" sz="1300" spc="-80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kubernetes.io/aws-ebs</a:t>
            </a:r>
            <a:endParaRPr b="0" lang="fr-FR" sz="1300" spc="-1" strike="noStrike">
              <a:latin typeface="Arial"/>
            </a:endParaRPr>
          </a:p>
        </p:txBody>
      </p:sp>
      <p:grpSp>
        <p:nvGrpSpPr>
          <p:cNvPr id="715" name="object 10"/>
          <p:cNvGrpSpPr/>
          <p:nvPr/>
        </p:nvGrpSpPr>
        <p:grpSpPr>
          <a:xfrm>
            <a:off x="4762800" y="1395720"/>
            <a:ext cx="3374640" cy="2762640"/>
            <a:chOff x="4762800" y="1395720"/>
            <a:chExt cx="3374640" cy="2762640"/>
          </a:xfrm>
        </p:grpSpPr>
        <p:pic>
          <p:nvPicPr>
            <p:cNvPr id="716" name="object 11" descr=""/>
            <p:cNvPicPr/>
            <p:nvPr/>
          </p:nvPicPr>
          <p:blipFill>
            <a:blip r:embed="rId2"/>
            <a:stretch/>
          </p:blipFill>
          <p:spPr>
            <a:xfrm>
              <a:off x="4762800" y="1395720"/>
              <a:ext cx="3374640" cy="27626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717" name="object 12"/>
            <p:cNvSpPr/>
            <p:nvPr/>
          </p:nvSpPr>
          <p:spPr>
            <a:xfrm>
              <a:off x="4816080" y="1443960"/>
              <a:ext cx="3260520" cy="2648520"/>
            </a:xfrm>
            <a:custGeom>
              <a:avLst/>
              <a:gdLst/>
              <a:ahLst/>
              <a:rect l="l" t="t" r="r" b="b"/>
              <a:pathLst>
                <a:path w="3263900" h="2651760">
                  <a:moveTo>
                    <a:pt x="3263399" y="2651699"/>
                  </a:moveTo>
                  <a:lnTo>
                    <a:pt x="0" y="2651699"/>
                  </a:lnTo>
                  <a:lnTo>
                    <a:pt x="0" y="0"/>
                  </a:lnTo>
                  <a:lnTo>
                    <a:pt x="3263399" y="0"/>
                  </a:lnTo>
                  <a:lnTo>
                    <a:pt x="3263399" y="26516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718" name="object 13"/>
          <p:cNvSpPr/>
          <p:nvPr/>
        </p:nvSpPr>
        <p:spPr>
          <a:xfrm>
            <a:off x="5007240" y="1582560"/>
            <a:ext cx="2696760" cy="200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apiVersion: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v1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</a:t>
            </a:r>
            <a:r>
              <a:rPr b="1" lang="fr-FR" sz="1300" spc="-80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PersistentVolumeClaim</a:t>
            </a:r>
            <a:endParaRPr b="0" lang="fr-FR" sz="1300" spc="-1" strike="noStrike">
              <a:latin typeface="Arial"/>
            </a:endParaRPr>
          </a:p>
          <a:p>
            <a:pPr marL="207000" indent="-195120">
              <a:lnSpc>
                <a:spcPct val="101000"/>
              </a:lnSpc>
              <a:buNone/>
              <a:tabLst>
                <a:tab algn="l" pos="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metadata:</a:t>
            </a:r>
            <a:endParaRPr b="0" lang="fr-FR" sz="1300" spc="-1" strike="noStrike">
              <a:latin typeface="Arial"/>
            </a:endParaRPr>
          </a:p>
          <a:p>
            <a:pPr marL="207000" indent="-195120">
              <a:lnSpc>
                <a:spcPct val="101000"/>
              </a:lnSpc>
              <a:buNone/>
              <a:tabLst>
                <a:tab algn="l" pos="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1" lang="fr-FR" sz="1300" spc="-1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300" spc="-97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pvc</a:t>
            </a:r>
            <a:endParaRPr b="0" lang="fr-FR" sz="1300" spc="-1" strike="noStrike">
              <a:latin typeface="Arial"/>
            </a:endParaRPr>
          </a:p>
          <a:p>
            <a:pPr marL="12600" indent="-195120">
              <a:lnSpc>
                <a:spcPct val="100000"/>
              </a:lnSpc>
              <a:spcBef>
                <a:spcPts val="14"/>
              </a:spcBef>
              <a:buNone/>
              <a:tabLst>
                <a:tab algn="l" pos="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spec:</a:t>
            </a:r>
            <a:endParaRPr b="0" lang="fr-FR" sz="1300" spc="-1" strike="noStrike">
              <a:latin typeface="Arial"/>
            </a:endParaRPr>
          </a:p>
          <a:p>
            <a:pPr marL="207000" indent="-195120">
              <a:lnSpc>
                <a:spcPct val="100000"/>
              </a:lnSpc>
              <a:spcBef>
                <a:spcPts val="14"/>
              </a:spcBef>
              <a:buNone/>
              <a:tabLst>
                <a:tab algn="l" pos="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	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accessModes:</a:t>
            </a:r>
            <a:endParaRPr b="0" lang="fr-FR" sz="1300" spc="-1" strike="noStrike">
              <a:latin typeface="Arial"/>
            </a:endParaRPr>
          </a:p>
          <a:p>
            <a:pPr marL="408960" indent="-195120">
              <a:lnSpc>
                <a:spcPct val="100000"/>
              </a:lnSpc>
              <a:spcBef>
                <a:spcPts val="14"/>
              </a:spcBef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-</a:t>
            </a:r>
            <a:r>
              <a:rPr b="0" lang="fr-FR" sz="13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ReadWriteMany</a:t>
            </a:r>
            <a:endParaRPr b="0" lang="fr-FR" sz="1300" spc="-1" strike="noStrike">
              <a:latin typeface="Arial"/>
            </a:endParaRPr>
          </a:p>
          <a:p>
            <a:pPr marL="401400" indent="-195120">
              <a:lnSpc>
                <a:spcPct val="101000"/>
              </a:lnSpc>
              <a:buNone/>
              <a:tabLst>
                <a:tab algn="l" pos="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resources:</a:t>
            </a:r>
            <a:endParaRPr b="0" lang="fr-FR" sz="1300" spc="-1" strike="noStrike">
              <a:latin typeface="Arial"/>
            </a:endParaRPr>
          </a:p>
          <a:p>
            <a:pPr marL="401400" indent="-195120">
              <a:lnSpc>
                <a:spcPct val="101000"/>
              </a:lnSpc>
              <a:buNone/>
              <a:tabLst>
                <a:tab algn="l" pos="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1" lang="fr-FR" sz="1300" spc="-7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requests:</a:t>
            </a:r>
            <a:endParaRPr b="0" lang="fr-FR" sz="1300" spc="-1" strike="noStrike">
              <a:latin typeface="Arial"/>
            </a:endParaRPr>
          </a:p>
          <a:p>
            <a:pPr marL="595800" indent="-195120">
              <a:lnSpc>
                <a:spcPct val="100000"/>
              </a:lnSpc>
              <a:spcBef>
                <a:spcPts val="11"/>
              </a:spcBef>
              <a:buNone/>
              <a:tabLst>
                <a:tab algn="l" pos="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	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storage: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256Mi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719" name="object 14"/>
          <p:cNvSpPr/>
          <p:nvPr/>
        </p:nvSpPr>
        <p:spPr>
          <a:xfrm>
            <a:off x="5201640" y="3582720"/>
            <a:ext cx="170604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storageClassName: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720" name="object 15"/>
          <p:cNvSpPr/>
          <p:nvPr/>
        </p:nvSpPr>
        <p:spPr>
          <a:xfrm>
            <a:off x="6953760" y="3632760"/>
            <a:ext cx="804960" cy="16020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43200">
              <a:lnSpc>
                <a:spcPts val="1264"/>
              </a:lnSpc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aws-ebs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721" name="object 16"/>
          <p:cNvSpPr/>
          <p:nvPr/>
        </p:nvSpPr>
        <p:spPr>
          <a:xfrm>
            <a:off x="2414880" y="2886480"/>
            <a:ext cx="2694240" cy="845280"/>
          </a:xfrm>
          <a:custGeom>
            <a:avLst/>
            <a:gdLst/>
            <a:ahLst/>
            <a:rect l="l" t="t" r="r" b="b"/>
            <a:pathLst>
              <a:path w="2697479" h="848360">
                <a:moveTo>
                  <a:pt x="0" y="0"/>
                </a:moveTo>
                <a:lnTo>
                  <a:pt x="1348499" y="0"/>
                </a:lnTo>
                <a:lnTo>
                  <a:pt x="1348499" y="848100"/>
                </a:lnTo>
                <a:lnTo>
                  <a:pt x="2696999" y="848100"/>
                </a:lnTo>
              </a:path>
            </a:pathLst>
          </a:custGeom>
          <a:noFill/>
          <a:ln w="19049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22" name="object 17"/>
          <p:cNvSpPr/>
          <p:nvPr/>
        </p:nvSpPr>
        <p:spPr>
          <a:xfrm>
            <a:off x="8701560" y="4908600"/>
            <a:ext cx="2343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19D58C91-494B-4FE4-BCCE-1BC125CD5465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32356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29" strike="noStrike">
                <a:solidFill>
                  <a:srgbClr val="000000"/>
                </a:solidFill>
                <a:latin typeface="Tahoma"/>
              </a:rPr>
              <a:t>Dynamic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7" strike="noStrike">
                <a:solidFill>
                  <a:srgbClr val="000000"/>
                </a:solidFill>
                <a:latin typeface="Tahoma"/>
              </a:rPr>
              <a:t>Creation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of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PersistentVolume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Object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Adds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hash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4" strike="noStrike">
                <a:solidFill>
                  <a:srgbClr val="666666"/>
                </a:solidFill>
                <a:latin typeface="Lucida Sans Unicode"/>
              </a:rPr>
              <a:t>name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object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724" name="object 3"/>
          <p:cNvGrpSpPr/>
          <p:nvPr/>
        </p:nvGrpSpPr>
        <p:grpSpPr>
          <a:xfrm>
            <a:off x="446040" y="1375560"/>
            <a:ext cx="8368560" cy="1779120"/>
            <a:chOff x="446040" y="1375560"/>
            <a:chExt cx="8368560" cy="1779120"/>
          </a:xfrm>
        </p:grpSpPr>
        <p:pic>
          <p:nvPicPr>
            <p:cNvPr id="725" name="object 4" descr=""/>
            <p:cNvPicPr/>
            <p:nvPr/>
          </p:nvPicPr>
          <p:blipFill>
            <a:blip r:embed="rId1"/>
            <a:stretch/>
          </p:blipFill>
          <p:spPr>
            <a:xfrm>
              <a:off x="446040" y="1375560"/>
              <a:ext cx="8368560" cy="177912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726" name="object 5"/>
            <p:cNvSpPr/>
            <p:nvPr/>
          </p:nvSpPr>
          <p:spPr>
            <a:xfrm>
              <a:off x="499680" y="1424160"/>
              <a:ext cx="8254440" cy="1665000"/>
            </a:xfrm>
            <a:custGeom>
              <a:avLst/>
              <a:gdLst/>
              <a:ahLst/>
              <a:rect l="l" t="t" r="r" b="b"/>
              <a:pathLst>
                <a:path w="8257540" h="1668145">
                  <a:moveTo>
                    <a:pt x="8257499" y="1667999"/>
                  </a:moveTo>
                  <a:lnTo>
                    <a:pt x="0" y="1667999"/>
                  </a:lnTo>
                  <a:lnTo>
                    <a:pt x="0" y="0"/>
                  </a:lnTo>
                  <a:lnTo>
                    <a:pt x="8257499" y="0"/>
                  </a:lnTo>
                  <a:lnTo>
                    <a:pt x="8257499" y="16679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727" name="object 6"/>
          <p:cNvSpPr/>
          <p:nvPr/>
        </p:nvSpPr>
        <p:spPr>
          <a:xfrm>
            <a:off x="663120" y="1561320"/>
            <a:ext cx="215568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get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pv,pvc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728" name="object 7"/>
          <p:cNvSpPr/>
          <p:nvPr/>
        </p:nvSpPr>
        <p:spPr>
          <a:xfrm>
            <a:off x="663120" y="1771200"/>
            <a:ext cx="982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  <a:tabLst>
                <a:tab algn="l" pos="65232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NAM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E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729" name="object 8"/>
          <p:cNvSpPr/>
          <p:nvPr/>
        </p:nvSpPr>
        <p:spPr>
          <a:xfrm>
            <a:off x="663120" y="1980720"/>
            <a:ext cx="64224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persistentvolume/db-pvc-b820b919-f7f7-4c74-9212-ef259d421734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730" name="object 9"/>
          <p:cNvSpPr/>
          <p:nvPr/>
        </p:nvSpPr>
        <p:spPr>
          <a:xfrm>
            <a:off x="7276320" y="1771200"/>
            <a:ext cx="130356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3320">
              <a:lnSpc>
                <a:spcPts val="1664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STORAGECLASS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aws-ebs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731" name="object 10"/>
          <p:cNvSpPr/>
          <p:nvPr/>
        </p:nvSpPr>
        <p:spPr>
          <a:xfrm>
            <a:off x="663120" y="2399760"/>
            <a:ext cx="300924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  <a:tabLst>
                <a:tab algn="l" pos="65232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  <a:tabLst>
                <a:tab algn="l" pos="65232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persistentvolumeclaim/db-pvc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732" name="object 11"/>
          <p:cNvSpPr/>
          <p:nvPr/>
        </p:nvSpPr>
        <p:spPr>
          <a:xfrm>
            <a:off x="7276680" y="2399760"/>
            <a:ext cx="130284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STORAGECLASS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aws-ebs</a:t>
            </a:r>
            <a:endParaRPr b="0" lang="fr-FR" sz="1400" spc="-1" strike="noStrike">
              <a:latin typeface="Arial"/>
            </a:endParaRPr>
          </a:p>
        </p:txBody>
      </p:sp>
      <p:grpSp>
        <p:nvGrpSpPr>
          <p:cNvPr id="733" name="object 12"/>
          <p:cNvGrpSpPr/>
          <p:nvPr/>
        </p:nvGrpSpPr>
        <p:grpSpPr>
          <a:xfrm>
            <a:off x="2437920" y="1977120"/>
            <a:ext cx="4727520" cy="1394640"/>
            <a:chOff x="2437920" y="1977120"/>
            <a:chExt cx="4727520" cy="1394640"/>
          </a:xfrm>
        </p:grpSpPr>
        <p:sp>
          <p:nvSpPr>
            <p:cNvPr id="734" name="object 13"/>
            <p:cNvSpPr/>
            <p:nvPr/>
          </p:nvSpPr>
          <p:spPr>
            <a:xfrm>
              <a:off x="2437920" y="1977120"/>
              <a:ext cx="4727520" cy="271080"/>
            </a:xfrm>
            <a:custGeom>
              <a:avLst/>
              <a:gdLst/>
              <a:ahLst/>
              <a:rect l="l" t="t" r="r" b="b"/>
              <a:pathLst>
                <a:path w="4730750" h="274319">
                  <a:moveTo>
                    <a:pt x="0" y="0"/>
                  </a:moveTo>
                  <a:lnTo>
                    <a:pt x="4730699" y="0"/>
                  </a:lnTo>
                  <a:lnTo>
                    <a:pt x="4730699" y="274199"/>
                  </a:lnTo>
                  <a:lnTo>
                    <a:pt x="0" y="27419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9049">
              <a:solidFill>
                <a:srgbClr val="ff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35" name="object 14"/>
            <p:cNvSpPr/>
            <p:nvPr/>
          </p:nvSpPr>
          <p:spPr>
            <a:xfrm>
              <a:off x="4645440" y="2524680"/>
              <a:ext cx="360" cy="847080"/>
            </a:xfrm>
            <a:custGeom>
              <a:avLst/>
              <a:gdLst/>
              <a:ahLst/>
              <a:rect l="l" t="t" r="r" b="b"/>
              <a:pathLst>
                <a:path w="0" h="850264">
                  <a:moveTo>
                    <a:pt x="0" y="849899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736" name="object 15" descr=""/>
            <p:cNvPicPr/>
            <p:nvPr/>
          </p:nvPicPr>
          <p:blipFill>
            <a:blip r:embed="rId2"/>
            <a:stretch/>
          </p:blipFill>
          <p:spPr>
            <a:xfrm>
              <a:off x="4604400" y="2428560"/>
              <a:ext cx="78840" cy="1022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737" name="object 16"/>
          <p:cNvSpPr/>
          <p:nvPr/>
        </p:nvSpPr>
        <p:spPr>
          <a:xfrm>
            <a:off x="3876840" y="3504960"/>
            <a:ext cx="188100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06200" indent="-93960">
              <a:lnSpc>
                <a:spcPts val="165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Created</a:t>
            </a:r>
            <a:r>
              <a:rPr b="0" lang="fr-FR" sz="1400" spc="-5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by</a:t>
            </a:r>
            <a:r>
              <a:rPr b="0" lang="fr-FR" sz="1400" spc="-4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storage </a:t>
            </a:r>
            <a:r>
              <a:rPr b="0" lang="fr-FR" sz="1400" spc="-37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class</a:t>
            </a:r>
            <a:r>
              <a:rPr b="0" lang="fr-FR" sz="1400" spc="-4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provisioner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738" name="object 17"/>
          <p:cNvSpPr/>
          <p:nvPr/>
        </p:nvSpPr>
        <p:spPr>
          <a:xfrm>
            <a:off x="8701560" y="4908600"/>
            <a:ext cx="2343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239727FA-A5B5-433B-A91A-95FA86B2C093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object 2"/>
          <p:cNvSpPr/>
          <p:nvPr/>
        </p:nvSpPr>
        <p:spPr>
          <a:xfrm>
            <a:off x="494280" y="371880"/>
            <a:ext cx="128268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2400" spc="-15" strike="noStrike">
                <a:solidFill>
                  <a:srgbClr val="000000"/>
                </a:solidFill>
                <a:latin typeface="Tahoma"/>
                <a:ea typeface="DejaVu Sans"/>
              </a:rPr>
              <a:t>Lab 04</a:t>
            </a:r>
            <a:endParaRPr b="0" lang="fr-FR" sz="2400" spc="-1" strike="noStrike">
              <a:latin typeface="Arial"/>
            </a:endParaRPr>
          </a:p>
        </p:txBody>
      </p:sp>
      <p:sp>
        <p:nvSpPr>
          <p:cNvPr id="740" name="object 3"/>
          <p:cNvSpPr/>
          <p:nvPr/>
        </p:nvSpPr>
        <p:spPr>
          <a:xfrm>
            <a:off x="494280" y="1323360"/>
            <a:ext cx="4543560" cy="152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14000"/>
              </a:lnSpc>
              <a:spcBef>
                <a:spcPts val="99"/>
              </a:spcBef>
              <a:buNone/>
            </a:pP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Creating and using </a:t>
            </a:r>
            <a:r>
              <a:rPr b="0" lang="fr-FR" sz="2900" spc="-1" strike="noStrike">
                <a:solidFill>
                  <a:srgbClr val="000000"/>
                </a:solidFill>
                <a:latin typeface="Arial MT"/>
                <a:ea typeface="DejaVu Sans"/>
              </a:rPr>
              <a:t>a  </a:t>
            </a:r>
            <a:r>
              <a:rPr b="0" lang="fr-FR" sz="2900" spc="-15" strike="noStrike">
                <a:solidFill>
                  <a:srgbClr val="000000"/>
                </a:solidFill>
                <a:latin typeface="Arial MT"/>
                <a:ea typeface="DejaVu Sans"/>
              </a:rPr>
              <a:t>PersistentVolume</a:t>
            </a:r>
            <a:r>
              <a:rPr b="0" lang="fr-FR" sz="2900" spc="-9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using </a:t>
            </a:r>
            <a:r>
              <a:rPr b="0" lang="fr-FR" sz="2900" spc="-79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1" strike="noStrike">
                <a:solidFill>
                  <a:srgbClr val="000000"/>
                </a:solidFill>
                <a:latin typeface="Arial MT"/>
                <a:ea typeface="DejaVu Sans"/>
              </a:rPr>
              <a:t>static</a:t>
            </a:r>
            <a:r>
              <a:rPr b="0" lang="fr-FR" sz="29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provisioning</a:t>
            </a:r>
            <a:endParaRPr b="0" lang="fr-FR" sz="2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1" name="object 2"/>
          <p:cNvGrpSpPr/>
          <p:nvPr/>
        </p:nvGrpSpPr>
        <p:grpSpPr>
          <a:xfrm>
            <a:off x="0" y="0"/>
            <a:ext cx="9140760" cy="5140080"/>
            <a:chOff x="0" y="0"/>
            <a:chExt cx="9140760" cy="5140080"/>
          </a:xfrm>
        </p:grpSpPr>
        <p:pic>
          <p:nvPicPr>
            <p:cNvPr id="742" name="object 3" descr=""/>
            <p:cNvPicPr/>
            <p:nvPr/>
          </p:nvPicPr>
          <p:blipFill>
            <a:blip r:embed="rId1"/>
            <a:stretch/>
          </p:blipFill>
          <p:spPr>
            <a:xfrm>
              <a:off x="0" y="0"/>
              <a:ext cx="9140760" cy="514008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743" name="object 4" descr=""/>
            <p:cNvPicPr/>
            <p:nvPr/>
          </p:nvPicPr>
          <p:blipFill>
            <a:blip r:embed="rId2"/>
            <a:stretch/>
          </p:blipFill>
          <p:spPr>
            <a:xfrm>
              <a:off x="8714160" y="146160"/>
              <a:ext cx="284400" cy="22968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744" name="PlaceHolder 1"/>
          <p:cNvSpPr>
            <a:spLocks noGrp="1"/>
          </p:cNvSpPr>
          <p:nvPr>
            <p:ph type="title"/>
          </p:nvPr>
        </p:nvSpPr>
        <p:spPr>
          <a:xfrm>
            <a:off x="494280" y="1665000"/>
            <a:ext cx="7963560" cy="1381680"/>
          </a:xfrm>
          <a:prstGeom prst="rect">
            <a:avLst/>
          </a:prstGeom>
          <a:noFill/>
          <a:ln w="0">
            <a:noFill/>
          </a:ln>
        </p:spPr>
        <p:txBody>
          <a:bodyPr lIns="0" rIns="0" tIns="195480" bIns="0" anchor="t">
            <a:noAutofit/>
          </a:bodyPr>
          <a:p>
            <a:pPr marL="12600">
              <a:lnSpc>
                <a:spcPct val="100000"/>
              </a:lnSpc>
              <a:spcBef>
                <a:spcPts val="1539"/>
              </a:spcBef>
              <a:buNone/>
            </a:pPr>
            <a:r>
              <a:rPr b="1" lang="fr-FR" sz="3600" spc="15" strike="noStrike">
                <a:solidFill>
                  <a:srgbClr val="ffffff"/>
                </a:solidFill>
                <a:latin typeface="Tahoma"/>
              </a:rPr>
              <a:t>Multi-Container</a:t>
            </a:r>
            <a:r>
              <a:rPr b="1" lang="fr-FR" sz="3600" spc="-225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600" spc="21" strike="noStrike">
                <a:solidFill>
                  <a:srgbClr val="ffffff"/>
                </a:solidFill>
                <a:latin typeface="Tahoma"/>
              </a:rPr>
              <a:t>Pods</a:t>
            </a:r>
            <a:endParaRPr b="0" lang="fr-FR" sz="36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720"/>
              </a:spcBef>
              <a:buNone/>
            </a:pPr>
            <a:r>
              <a:rPr b="0" lang="fr-FR" sz="1800" spc="-7" strike="noStrike">
                <a:solidFill>
                  <a:srgbClr val="ffffff"/>
                </a:solidFill>
                <a:latin typeface="Lucida Sans Unicode"/>
              </a:rPr>
              <a:t>Defining</a:t>
            </a:r>
            <a:r>
              <a:rPr b="0" lang="fr-FR" sz="1800" spc="-86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86" strike="noStrike">
                <a:solidFill>
                  <a:srgbClr val="ffffff"/>
                </a:solidFill>
                <a:latin typeface="Lucida Sans Unicode"/>
              </a:rPr>
              <a:t>and</a:t>
            </a:r>
            <a:r>
              <a:rPr b="0" lang="fr-FR" sz="1800" spc="-80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9" strike="noStrike">
                <a:solidFill>
                  <a:srgbClr val="ffffff"/>
                </a:solidFill>
                <a:latin typeface="Lucida Sans Unicode"/>
              </a:rPr>
              <a:t>interacting</a:t>
            </a:r>
            <a:r>
              <a:rPr b="0" lang="fr-FR" sz="1800" spc="-80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1" strike="noStrike">
                <a:solidFill>
                  <a:srgbClr val="ffffff"/>
                </a:solidFill>
                <a:latin typeface="Lucida Sans Unicode"/>
              </a:rPr>
              <a:t>with</a:t>
            </a:r>
            <a:r>
              <a:rPr b="0" lang="fr-FR" sz="1800" spc="-80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1" strike="noStrike">
                <a:solidFill>
                  <a:srgbClr val="ffffff"/>
                </a:solidFill>
                <a:latin typeface="Lucida Sans Unicode"/>
              </a:rPr>
              <a:t>multiple</a:t>
            </a:r>
            <a:r>
              <a:rPr b="0" lang="fr-FR" sz="1800" spc="-80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1" strike="noStrike">
                <a:solidFill>
                  <a:srgbClr val="ffffff"/>
                </a:solidFill>
                <a:latin typeface="Lucida Sans Unicode"/>
              </a:rPr>
              <a:t>containers,</a:t>
            </a:r>
            <a:r>
              <a:rPr b="0" lang="fr-FR" sz="1800" spc="-80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21" strike="noStrike">
                <a:solidFill>
                  <a:srgbClr val="ffffff"/>
                </a:solidFill>
                <a:latin typeface="Lucida Sans Unicode"/>
              </a:rPr>
              <a:t>design</a:t>
            </a:r>
            <a:r>
              <a:rPr b="0" lang="fr-FR" sz="1800" spc="-80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21" strike="noStrike">
                <a:solidFill>
                  <a:srgbClr val="ffffff"/>
                </a:solidFill>
                <a:latin typeface="Lucida Sans Unicode"/>
              </a:rPr>
              <a:t>patterns</a:t>
            </a:r>
            <a:endParaRPr b="0" lang="fr-FR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50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6" strike="noStrike">
                <a:solidFill>
                  <a:srgbClr val="000000"/>
                </a:solidFill>
                <a:latin typeface="Tahoma"/>
              </a:rPr>
              <a:t>Defining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Multiple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" strike="noStrike">
                <a:solidFill>
                  <a:srgbClr val="000000"/>
                </a:solidFill>
                <a:latin typeface="Tahoma"/>
              </a:rPr>
              <a:t>Containers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in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Pod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There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5" strike="noStrike">
                <a:solidFill>
                  <a:srgbClr val="666666"/>
                </a:solidFill>
                <a:latin typeface="Lucida Sans Unicode"/>
              </a:rPr>
              <a:t>are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5" strike="noStrike">
                <a:solidFill>
                  <a:srgbClr val="666666"/>
                </a:solidFill>
                <a:latin typeface="Lucida Sans Unicode"/>
              </a:rPr>
              <a:t>warranted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use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2" strike="noStrike">
                <a:solidFill>
                  <a:srgbClr val="666666"/>
                </a:solidFill>
                <a:latin typeface="Lucida Sans Unicode"/>
              </a:rPr>
              <a:t>cases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wanting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more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5" strike="noStrike">
                <a:solidFill>
                  <a:srgbClr val="666666"/>
                </a:solidFill>
                <a:latin typeface="Lucida Sans Unicode"/>
              </a:rPr>
              <a:t>than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single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container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746" name="object 4"/>
          <p:cNvSpPr/>
          <p:nvPr/>
        </p:nvSpPr>
        <p:spPr>
          <a:xfrm>
            <a:off x="8701560" y="4908600"/>
            <a:ext cx="2026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2710E184-36C4-49D3-947C-7080868D9FF5}" type="slidenum">
              <a:rPr b="0" lang="fr-FR" sz="800" spc="-17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747" name="object 3"/>
          <p:cNvSpPr/>
          <p:nvPr/>
        </p:nvSpPr>
        <p:spPr>
          <a:xfrm>
            <a:off x="600120" y="1360440"/>
            <a:ext cx="8398800" cy="22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general guideline is to operate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microservice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single container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per Pod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which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promotes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decentralized,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decoupled, and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distributed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architecture.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Specific use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cases call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for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running multiple containers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per Pod. For example,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you  may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want to provide helper functionality that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runs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alongside the application. In other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cases, you may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want to initialize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your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Pod by executing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setup scripts, commands,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or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any other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kind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 preconfiguration procedure before the application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container should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start.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490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Design</a:t>
            </a:r>
            <a:r>
              <a:rPr b="1" lang="fr-FR" sz="2400" spc="-16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Patterns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Emerged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from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Pod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requirements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749" name="object 3" descr=""/>
          <p:cNvPicPr/>
          <p:nvPr/>
        </p:nvPicPr>
        <p:blipFill>
          <a:blip r:embed="rId1"/>
          <a:stretch/>
        </p:blipFill>
        <p:spPr>
          <a:xfrm>
            <a:off x="506880" y="3209760"/>
            <a:ext cx="146160" cy="343800"/>
          </a:xfrm>
          <a:prstGeom prst="rect">
            <a:avLst/>
          </a:prstGeom>
          <a:ln w="0">
            <a:noFill/>
          </a:ln>
        </p:spPr>
      </p:pic>
      <p:pic>
        <p:nvPicPr>
          <p:cNvPr id="750" name="object 4" descr=""/>
          <p:cNvPicPr/>
          <p:nvPr/>
        </p:nvPicPr>
        <p:blipFill>
          <a:blip r:embed="rId2"/>
          <a:stretch/>
        </p:blipFill>
        <p:spPr>
          <a:xfrm>
            <a:off x="4615560" y="1436040"/>
            <a:ext cx="146160" cy="343800"/>
          </a:xfrm>
          <a:prstGeom prst="rect">
            <a:avLst/>
          </a:prstGeom>
          <a:ln w="0">
            <a:noFill/>
          </a:ln>
        </p:spPr>
      </p:pic>
      <p:pic>
        <p:nvPicPr>
          <p:cNvPr id="751" name="object 5" descr=""/>
          <p:cNvPicPr/>
          <p:nvPr/>
        </p:nvPicPr>
        <p:blipFill>
          <a:blip r:embed="rId3"/>
          <a:stretch/>
        </p:blipFill>
        <p:spPr>
          <a:xfrm>
            <a:off x="506880" y="1434600"/>
            <a:ext cx="146160" cy="343800"/>
          </a:xfrm>
          <a:prstGeom prst="rect">
            <a:avLst/>
          </a:prstGeom>
          <a:ln w="0">
            <a:noFill/>
          </a:ln>
        </p:spPr>
      </p:pic>
      <p:sp>
        <p:nvSpPr>
          <p:cNvPr id="752" name="object 6"/>
          <p:cNvSpPr/>
          <p:nvPr/>
        </p:nvSpPr>
        <p:spPr>
          <a:xfrm>
            <a:off x="760680" y="1383840"/>
            <a:ext cx="3917160" cy="365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Init</a:t>
            </a:r>
            <a:r>
              <a:rPr b="1" lang="fr-FR" sz="1600" spc="-52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Container</a:t>
            </a:r>
            <a:endParaRPr b="0" lang="fr-FR" sz="1600" spc="-1" strike="noStrike">
              <a:latin typeface="Arial"/>
            </a:endParaRPr>
          </a:p>
          <a:p>
            <a:pPr marL="332640" indent="-199440">
              <a:lnSpc>
                <a:spcPct val="116000"/>
              </a:lnSpc>
              <a:spcBef>
                <a:spcPts val="1040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3264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Provide initialization logic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concerns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to be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 run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before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4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main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application</a:t>
            </a:r>
            <a:r>
              <a:rPr b="0" lang="fr-FR" sz="14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even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starts.</a:t>
            </a:r>
            <a:endParaRPr b="0" lang="fr-FR" sz="1400" spc="-1" strike="noStrike">
              <a:latin typeface="Arial"/>
            </a:endParaRPr>
          </a:p>
          <a:p>
            <a:pPr marL="332640" indent="-199440">
              <a:lnSpc>
                <a:spcPct val="116000"/>
              </a:lnSpc>
              <a:buClr>
                <a:srgbClr val="000000"/>
              </a:buClr>
              <a:buFont typeface="Wingdings" charset="2"/>
              <a:buChar char=""/>
              <a:tabLst>
                <a:tab algn="l" pos="33264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Example: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Downloading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configuration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files </a:t>
            </a:r>
            <a:r>
              <a:rPr b="0" lang="fr-FR" sz="1400" spc="-37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required</a:t>
            </a:r>
            <a:r>
              <a:rPr b="0" lang="fr-FR" sz="14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by</a:t>
            </a:r>
            <a:r>
              <a:rPr b="0" lang="fr-FR" sz="14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application.</a:t>
            </a:r>
            <a:endParaRPr b="0" lang="fr-FR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332640"/>
              </a:tabLst>
            </a:pPr>
            <a:endParaRPr b="0" lang="fr-FR" sz="15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332640"/>
              </a:tabLst>
            </a:pPr>
            <a:endParaRPr b="0" lang="fr-FR" sz="1250" spc="-1" strike="noStrike">
              <a:latin typeface="Arial"/>
            </a:endParaRPr>
          </a:p>
          <a:p>
            <a:pPr marL="12600">
              <a:lnSpc>
                <a:spcPct val="100000"/>
              </a:lnSpc>
              <a:buNone/>
              <a:tabLst>
                <a:tab algn="l" pos="332640"/>
              </a:tabLst>
            </a:pPr>
            <a:r>
              <a:rPr b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Adapter</a:t>
            </a:r>
            <a:endParaRPr b="0" lang="fr-FR" sz="1600" spc="-1" strike="noStrike">
              <a:latin typeface="Arial"/>
            </a:endParaRPr>
          </a:p>
          <a:p>
            <a:pPr marL="355680" indent="-222120">
              <a:lnSpc>
                <a:spcPct val="116000"/>
              </a:lnSpc>
              <a:spcBef>
                <a:spcPts val="1046"/>
              </a:spcBef>
              <a:buClr>
                <a:srgbClr val="000000"/>
              </a:buClr>
              <a:buFont typeface="Arial MT"/>
              <a:buChar char="●"/>
              <a:tabLst>
                <a:tab algn="l" pos="355680"/>
              </a:tabLst>
            </a:pPr>
            <a:r>
              <a:rPr b="0" lang="fr-FR" sz="1400" spc="-12" strike="noStrike">
                <a:solidFill>
                  <a:srgbClr val="000000"/>
                </a:solidFill>
                <a:latin typeface="Arial MT"/>
                <a:ea typeface="DejaVu Sans"/>
              </a:rPr>
              <a:t>Transforms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the output produced by the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application to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make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it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consumable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in the </a:t>
            </a:r>
            <a:r>
              <a:rPr b="0" lang="fr-FR" sz="1400" spc="-38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format needed by another part of the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 system.</a:t>
            </a:r>
            <a:endParaRPr b="0" lang="fr-FR" sz="1400" spc="-1" strike="noStrike">
              <a:latin typeface="Arial"/>
            </a:endParaRPr>
          </a:p>
          <a:p>
            <a:pPr marL="355680" indent="-22212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Arial MT"/>
              <a:buChar char="●"/>
              <a:tabLst>
                <a:tab algn="l" pos="35568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Example: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Massaging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log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data.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753" name="PlaceHolder 2"/>
          <p:cNvSpPr>
            <a:spLocks noGrp="1"/>
          </p:cNvSpPr>
          <p:nvPr>
            <p:ph/>
          </p:nvPr>
        </p:nvSpPr>
        <p:spPr>
          <a:xfrm>
            <a:off x="4869360" y="1371240"/>
            <a:ext cx="4128480" cy="4158720"/>
          </a:xfrm>
          <a:prstGeom prst="rect">
            <a:avLst/>
          </a:prstGeom>
          <a:noFill/>
          <a:ln w="0">
            <a:noFill/>
          </a:ln>
        </p:spPr>
        <p:txBody>
          <a:bodyPr lIns="0" rIns="0" tIns="12600" bIns="0" anchor="t">
            <a:no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600" spc="-7" strike="noStrike">
                <a:solidFill>
                  <a:srgbClr val="000000"/>
                </a:solidFill>
                <a:latin typeface="Arial"/>
              </a:rPr>
              <a:t>Sidecar</a:t>
            </a:r>
            <a:endParaRPr b="0" lang="fr-FR" sz="1600" spc="-1" strike="noStrike">
              <a:latin typeface="Arial"/>
            </a:endParaRPr>
          </a:p>
          <a:p>
            <a:pPr marL="332640" indent="-199440">
              <a:lnSpc>
                <a:spcPct val="116000"/>
              </a:lnSpc>
              <a:spcBef>
                <a:spcPts val="1040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3264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</a:rPr>
              <a:t>The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</a:rPr>
              <a:t>sidecars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</a:rPr>
              <a:t>are not part of the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</a:rPr>
              <a:t>main </a:t>
            </a:r>
            <a:r>
              <a:rPr b="0" lang="fr-FR" sz="1400" spc="-12" strike="noStrike">
                <a:solidFill>
                  <a:srgbClr val="000000"/>
                </a:solidFill>
                <a:latin typeface="Arial MT"/>
              </a:rPr>
              <a:t>traffic </a:t>
            </a:r>
            <a:r>
              <a:rPr b="0" lang="fr-FR" sz="1400" spc="-375" strike="noStrike">
                <a:solidFill>
                  <a:srgbClr val="000000"/>
                </a:solidFill>
                <a:latin typeface="Arial MT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</a:rPr>
              <a:t>or API of the primary application and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</a:rPr>
              <a:t>operate</a:t>
            </a:r>
            <a:r>
              <a:rPr b="0" lang="fr-FR" sz="1400" spc="-12" strike="noStrike">
                <a:solidFill>
                  <a:srgbClr val="000000"/>
                </a:solidFill>
                <a:latin typeface="Arial MT"/>
              </a:rPr>
              <a:t> </a:t>
            </a:r>
            <a:r>
              <a:rPr b="0" lang="fr-FR" sz="1400" spc="-15" strike="noStrike">
                <a:solidFill>
                  <a:srgbClr val="000000"/>
                </a:solidFill>
                <a:latin typeface="Arial MT"/>
              </a:rPr>
              <a:t>asynchronously.</a:t>
            </a:r>
            <a:endParaRPr b="0" lang="fr-FR" sz="1400" spc="-1" strike="noStrike">
              <a:latin typeface="Arial"/>
            </a:endParaRPr>
          </a:p>
          <a:p>
            <a:pPr marL="332640" indent="-199440">
              <a:lnSpc>
                <a:spcPct val="100000"/>
              </a:lnSpc>
              <a:spcBef>
                <a:spcPts val="26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3264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</a:rPr>
              <a:t>Example: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</a:rPr>
              <a:t> </a:t>
            </a:r>
            <a:r>
              <a:rPr b="0" lang="fr-FR" sz="1400" spc="-15" strike="noStrike">
                <a:solidFill>
                  <a:srgbClr val="000000"/>
                </a:solidFill>
                <a:latin typeface="Arial MT"/>
              </a:rPr>
              <a:t>Watcher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</a:rPr>
              <a:t>capabilities.</a:t>
            </a:r>
            <a:endParaRPr b="0" lang="fr-FR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332640"/>
              </a:tabLst>
            </a:pPr>
            <a:endParaRPr b="0" lang="fr-FR" sz="15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332640"/>
              </a:tabLst>
            </a:pPr>
            <a:endParaRPr b="0" lang="fr-FR" sz="1350" spc="-1" strike="noStrike">
              <a:latin typeface="Arial"/>
            </a:endParaRPr>
          </a:p>
          <a:p>
            <a:pPr marL="12600">
              <a:lnSpc>
                <a:spcPct val="100000"/>
              </a:lnSpc>
              <a:buNone/>
              <a:tabLst>
                <a:tab algn="l" pos="332640"/>
              </a:tabLst>
            </a:pPr>
            <a:r>
              <a:rPr b="1" lang="fr-FR" sz="1600" spc="-7" strike="noStrike">
                <a:solidFill>
                  <a:srgbClr val="000000"/>
                </a:solidFill>
                <a:latin typeface="Arial"/>
              </a:rPr>
              <a:t>Ambassador</a:t>
            </a:r>
            <a:endParaRPr b="0" lang="fr-FR" sz="1600" spc="-1" strike="noStrike">
              <a:latin typeface="Arial"/>
            </a:endParaRPr>
          </a:p>
          <a:p>
            <a:pPr marL="355680" indent="-222120" algn="just">
              <a:lnSpc>
                <a:spcPct val="116000"/>
              </a:lnSpc>
              <a:spcBef>
                <a:spcPts val="1040"/>
              </a:spcBef>
              <a:buClr>
                <a:srgbClr val="000000"/>
              </a:buClr>
              <a:buFont typeface="Arial MT"/>
              <a:buChar char="●"/>
              <a:tabLst>
                <a:tab algn="l" pos="35568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</a:rPr>
              <a:t>Provides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</a:rPr>
              <a:t>a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</a:rPr>
              <a:t>proxy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</a:rPr>
              <a:t>for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</a:rPr>
              <a:t>communicating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</a:rPr>
              <a:t>with </a:t>
            </a:r>
            <a:r>
              <a:rPr b="0" lang="fr-FR" sz="1400" spc="-375" strike="noStrike">
                <a:solidFill>
                  <a:srgbClr val="000000"/>
                </a:solidFill>
                <a:latin typeface="Arial MT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</a:rPr>
              <a:t>external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</a:rPr>
              <a:t>services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</a:rPr>
              <a:t>to hide and/or abstract </a:t>
            </a:r>
            <a:r>
              <a:rPr b="0" lang="fr-FR" sz="1400" spc="-375" strike="noStrike">
                <a:solidFill>
                  <a:srgbClr val="000000"/>
                </a:solidFill>
                <a:latin typeface="Arial MT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</a:rPr>
              <a:t>the</a:t>
            </a:r>
            <a:r>
              <a:rPr b="0" lang="fr-FR" sz="1400" spc="-12" strike="noStrike">
                <a:solidFill>
                  <a:srgbClr val="000000"/>
                </a:solidFill>
                <a:latin typeface="Arial MT"/>
              </a:rPr>
              <a:t> complexity.</a:t>
            </a:r>
            <a:endParaRPr b="0" lang="fr-FR" sz="1400" spc="-1" strike="noStrike">
              <a:latin typeface="Arial"/>
            </a:endParaRPr>
          </a:p>
          <a:p>
            <a:pPr marL="355680" indent="-222120" algn="just">
              <a:lnSpc>
                <a:spcPct val="116000"/>
              </a:lnSpc>
              <a:buClr>
                <a:srgbClr val="000000"/>
              </a:buClr>
              <a:buFont typeface="Arial MT"/>
              <a:buChar char="●"/>
              <a:tabLst>
                <a:tab algn="l" pos="35568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</a:rPr>
              <a:t>Example: Rate-limiting functionality for </a:t>
            </a:r>
            <a:r>
              <a:rPr b="0" lang="fr-FR" sz="1400" spc="-375" strike="noStrike">
                <a:solidFill>
                  <a:srgbClr val="000000"/>
                </a:solidFill>
                <a:latin typeface="Arial MT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</a:rPr>
              <a:t>HTTP(S)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</a:rPr>
              <a:t>calls</a:t>
            </a:r>
            <a:r>
              <a:rPr b="0" lang="fr-FR" sz="1400" spc="-15" strike="noStrike">
                <a:solidFill>
                  <a:srgbClr val="000000"/>
                </a:solidFill>
                <a:latin typeface="Arial MT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</a:rPr>
              <a:t>to</a:t>
            </a:r>
            <a:r>
              <a:rPr b="0" lang="fr-FR" sz="1400" spc="-15" strike="noStrike">
                <a:solidFill>
                  <a:srgbClr val="000000"/>
                </a:solidFill>
                <a:latin typeface="Arial MT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</a:rPr>
              <a:t>an</a:t>
            </a:r>
            <a:r>
              <a:rPr b="0" lang="fr-FR" sz="1400" spc="-15" strike="noStrike">
                <a:solidFill>
                  <a:srgbClr val="000000"/>
                </a:solidFill>
                <a:latin typeface="Arial MT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</a:rPr>
              <a:t>external</a:t>
            </a:r>
            <a:r>
              <a:rPr b="0" lang="fr-FR" sz="1400" spc="-15" strike="noStrike">
                <a:solidFill>
                  <a:srgbClr val="000000"/>
                </a:solidFill>
                <a:latin typeface="Arial MT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</a:rPr>
              <a:t>service.</a:t>
            </a:r>
            <a:endParaRPr b="0" lang="fr-FR" sz="1400" spc="-1" strike="noStrike">
              <a:latin typeface="Arial"/>
            </a:endParaRPr>
          </a:p>
        </p:txBody>
      </p:sp>
      <p:pic>
        <p:nvPicPr>
          <p:cNvPr id="754" name="object 8" descr=""/>
          <p:cNvPicPr/>
          <p:nvPr/>
        </p:nvPicPr>
        <p:blipFill>
          <a:blip r:embed="rId4"/>
          <a:stretch/>
        </p:blipFill>
        <p:spPr>
          <a:xfrm>
            <a:off x="4615560" y="3209760"/>
            <a:ext cx="146160" cy="343800"/>
          </a:xfrm>
          <a:prstGeom prst="rect">
            <a:avLst/>
          </a:prstGeom>
          <a:ln w="0">
            <a:noFill/>
          </a:ln>
        </p:spPr>
      </p:pic>
      <p:sp>
        <p:nvSpPr>
          <p:cNvPr id="755" name="object 9"/>
          <p:cNvSpPr/>
          <p:nvPr/>
        </p:nvSpPr>
        <p:spPr>
          <a:xfrm>
            <a:off x="8701560" y="4908600"/>
            <a:ext cx="2026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5DB10B8D-5686-43CB-A451-54023D028FAE}" type="slidenum">
              <a:rPr b="0" lang="fr-FR" sz="800" spc="-17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62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Init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97" strike="noStrike">
                <a:solidFill>
                  <a:srgbClr val="000000"/>
                </a:solidFill>
                <a:latin typeface="Tahoma"/>
              </a:rPr>
              <a:t>Life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72" strike="noStrike">
                <a:solidFill>
                  <a:srgbClr val="000000"/>
                </a:solidFill>
                <a:latin typeface="Tahoma"/>
              </a:rPr>
              <a:t>Cycle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Initialization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logic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before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main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application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containers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757" name="object 3" descr=""/>
          <p:cNvPicPr/>
          <p:nvPr/>
        </p:nvPicPr>
        <p:blipFill>
          <a:blip r:embed="rId1"/>
          <a:stretch/>
        </p:blipFill>
        <p:spPr>
          <a:xfrm>
            <a:off x="1309680" y="1781640"/>
            <a:ext cx="6521400" cy="2013120"/>
          </a:xfrm>
          <a:prstGeom prst="rect">
            <a:avLst/>
          </a:prstGeom>
          <a:ln w="0">
            <a:noFill/>
          </a:ln>
        </p:spPr>
      </p:pic>
      <p:sp>
        <p:nvSpPr>
          <p:cNvPr id="758" name="object 4"/>
          <p:cNvSpPr/>
          <p:nvPr/>
        </p:nvSpPr>
        <p:spPr>
          <a:xfrm>
            <a:off x="8701560" y="4908600"/>
            <a:ext cx="2026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A50B6183-282B-40C4-86D4-36F6FDC5C46D}" type="slidenum">
              <a:rPr b="0" lang="fr-FR" sz="800" spc="-17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14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6" strike="noStrike">
                <a:solidFill>
                  <a:srgbClr val="000000"/>
                </a:solidFill>
                <a:latin typeface="Tahoma"/>
              </a:rPr>
              <a:t>Defining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1" strike="noStrike">
                <a:solidFill>
                  <a:srgbClr val="000000"/>
                </a:solidFill>
                <a:latin typeface="Tahoma"/>
              </a:rPr>
              <a:t>an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Init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Declared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5" strike="noStrike">
                <a:solidFill>
                  <a:srgbClr val="666666"/>
                </a:solidFill>
                <a:latin typeface="Lucida Sans Unicode"/>
              </a:rPr>
              <a:t>adjacent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main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application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containers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spec.initContainers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760" name="object 10"/>
          <p:cNvSpPr/>
          <p:nvPr/>
        </p:nvSpPr>
        <p:spPr>
          <a:xfrm>
            <a:off x="8701560" y="4908600"/>
            <a:ext cx="2026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4007415C-8526-4D9E-A76F-C8A20A6AD835}" type="slidenum">
              <a:rPr b="0" lang="fr-FR" sz="800" spc="-17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761" name="" descr=""/>
          <p:cNvPicPr/>
          <p:nvPr/>
        </p:nvPicPr>
        <p:blipFill>
          <a:blip r:embed="rId1"/>
          <a:stretch/>
        </p:blipFill>
        <p:spPr>
          <a:xfrm>
            <a:off x="499680" y="1255680"/>
            <a:ext cx="7345800" cy="2875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24356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9" strike="noStrike">
                <a:solidFill>
                  <a:srgbClr val="000000"/>
                </a:solidFill>
                <a:latin typeface="Tahoma"/>
              </a:rPr>
              <a:t>Creating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Pod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52" strike="noStrike">
                <a:solidFill>
                  <a:srgbClr val="000000"/>
                </a:solidFill>
                <a:latin typeface="Tahoma"/>
              </a:rPr>
              <a:t>with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1" strike="noStrike">
                <a:solidFill>
                  <a:srgbClr val="000000"/>
                </a:solidFill>
                <a:latin typeface="Tahoma"/>
              </a:rPr>
              <a:t>an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Init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35" strike="noStrike">
                <a:solidFill>
                  <a:srgbClr val="666666"/>
                </a:solidFill>
                <a:latin typeface="Lucida Sans Unicode"/>
              </a:rPr>
              <a:t>Init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container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execution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renders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status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column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763" name="object 3"/>
          <p:cNvGrpSpPr/>
          <p:nvPr/>
        </p:nvGrpSpPr>
        <p:grpSpPr>
          <a:xfrm>
            <a:off x="476640" y="1447560"/>
            <a:ext cx="5636520" cy="2539080"/>
            <a:chOff x="476640" y="1447560"/>
            <a:chExt cx="5636520" cy="2539080"/>
          </a:xfrm>
        </p:grpSpPr>
        <p:pic>
          <p:nvPicPr>
            <p:cNvPr id="764" name="object 4" descr=""/>
            <p:cNvPicPr/>
            <p:nvPr/>
          </p:nvPicPr>
          <p:blipFill>
            <a:blip r:embed="rId1"/>
            <a:stretch/>
          </p:blipFill>
          <p:spPr>
            <a:xfrm>
              <a:off x="476640" y="1447560"/>
              <a:ext cx="5636520" cy="25390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765" name="object 5"/>
            <p:cNvSpPr/>
            <p:nvPr/>
          </p:nvSpPr>
          <p:spPr>
            <a:xfrm>
              <a:off x="530280" y="1496160"/>
              <a:ext cx="5522400" cy="2424960"/>
            </a:xfrm>
            <a:custGeom>
              <a:avLst/>
              <a:gdLst/>
              <a:ahLst/>
              <a:rect l="l" t="t" r="r" b="b"/>
              <a:pathLst>
                <a:path w="5525770" h="2428240">
                  <a:moveTo>
                    <a:pt x="5525399" y="2427899"/>
                  </a:moveTo>
                  <a:lnTo>
                    <a:pt x="0" y="2427899"/>
                  </a:lnTo>
                  <a:lnTo>
                    <a:pt x="0" y="0"/>
                  </a:lnTo>
                  <a:lnTo>
                    <a:pt x="5525399" y="0"/>
                  </a:lnTo>
                  <a:lnTo>
                    <a:pt x="5525399" y="24278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766" name="object 6"/>
          <p:cNvSpPr/>
          <p:nvPr/>
        </p:nvSpPr>
        <p:spPr>
          <a:xfrm>
            <a:off x="693360" y="1561320"/>
            <a:ext cx="3222720" cy="86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-f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init.yaml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pod/business-app</a:t>
            </a:r>
            <a:r>
              <a:rPr b="0" lang="fr-FR" sz="14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31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6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get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business-app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767" name="object 7"/>
          <p:cNvSpPr/>
          <p:nvPr/>
        </p:nvSpPr>
        <p:spPr>
          <a:xfrm>
            <a:off x="2293560" y="2399760"/>
            <a:ext cx="15156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  <a:tabLst>
                <a:tab algn="l" pos="86544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READ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Y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STATUS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768" name="object 8"/>
          <p:cNvSpPr/>
          <p:nvPr/>
        </p:nvSpPr>
        <p:spPr>
          <a:xfrm>
            <a:off x="4320360" y="2399760"/>
            <a:ext cx="87552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RESTARTS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769" name="object 9"/>
          <p:cNvSpPr/>
          <p:nvPr/>
        </p:nvSpPr>
        <p:spPr>
          <a:xfrm>
            <a:off x="693360" y="2399760"/>
            <a:ext cx="1302480" cy="66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2600">
              <a:lnSpc>
                <a:spcPts val="1650"/>
              </a:lnSpc>
              <a:spcBef>
                <a:spcPts val="181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  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50"/>
              </a:lnSpc>
              <a:spcBef>
                <a:spcPts val="181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AGE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599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business-app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770" name="object 10"/>
          <p:cNvSpPr/>
          <p:nvPr/>
        </p:nvSpPr>
        <p:spPr>
          <a:xfrm>
            <a:off x="2293560" y="2818800"/>
            <a:ext cx="23853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  <a:tabLst>
                <a:tab algn="l" pos="865440"/>
                <a:tab algn="l" pos="203904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0/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1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Init:0/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1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0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771" name="object 11"/>
          <p:cNvSpPr/>
          <p:nvPr/>
        </p:nvSpPr>
        <p:spPr>
          <a:xfrm>
            <a:off x="5493600" y="2818800"/>
            <a:ext cx="23544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2s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772" name="object 12"/>
          <p:cNvSpPr/>
          <p:nvPr/>
        </p:nvSpPr>
        <p:spPr>
          <a:xfrm>
            <a:off x="693360" y="3237840"/>
            <a:ext cx="322272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get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business-app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773" name="object 13"/>
          <p:cNvSpPr/>
          <p:nvPr/>
        </p:nvSpPr>
        <p:spPr>
          <a:xfrm>
            <a:off x="693360" y="3447360"/>
            <a:ext cx="130248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business-app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774" name="object 14"/>
          <p:cNvSpPr/>
          <p:nvPr/>
        </p:nvSpPr>
        <p:spPr>
          <a:xfrm>
            <a:off x="2293560" y="3447360"/>
            <a:ext cx="55620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READY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1/1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775" name="object 15"/>
          <p:cNvSpPr/>
          <p:nvPr/>
        </p:nvSpPr>
        <p:spPr>
          <a:xfrm>
            <a:off x="3146760" y="3447360"/>
            <a:ext cx="76896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STATUS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Running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776" name="object 16"/>
          <p:cNvSpPr/>
          <p:nvPr/>
        </p:nvSpPr>
        <p:spPr>
          <a:xfrm>
            <a:off x="4213440" y="3447360"/>
            <a:ext cx="1515600" cy="64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  <a:tabLst>
                <a:tab algn="l" pos="118548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RESTART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S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AGE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  <a:tabLst>
                <a:tab algn="l" pos="118548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0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8s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777" name="object 17"/>
          <p:cNvSpPr/>
          <p:nvPr/>
        </p:nvSpPr>
        <p:spPr>
          <a:xfrm>
            <a:off x="3114720" y="2417760"/>
            <a:ext cx="944280" cy="454680"/>
          </a:xfrm>
          <a:custGeom>
            <a:avLst/>
            <a:gdLst/>
            <a:ahLst/>
            <a:rect l="l" t="t" r="r" b="b"/>
            <a:pathLst>
              <a:path w="947420" h="457835">
                <a:moveTo>
                  <a:pt x="0" y="0"/>
                </a:moveTo>
                <a:lnTo>
                  <a:pt x="947099" y="0"/>
                </a:lnTo>
                <a:lnTo>
                  <a:pt x="947099" y="457799"/>
                </a:lnTo>
                <a:lnTo>
                  <a:pt x="0" y="457799"/>
                </a:lnTo>
                <a:lnTo>
                  <a:pt x="0" y="0"/>
                </a:lnTo>
                <a:close/>
              </a:path>
            </a:pathLst>
          </a:custGeom>
          <a:noFill/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78" name="object 18"/>
          <p:cNvSpPr/>
          <p:nvPr/>
        </p:nvSpPr>
        <p:spPr>
          <a:xfrm>
            <a:off x="8701560" y="4908600"/>
            <a:ext cx="2026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0FF4D4AC-839C-40BF-BF9A-DB5F13C79387}" type="slidenum">
              <a:rPr b="0" lang="fr-FR" sz="800" spc="-17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803560" cy="1276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6" strike="noStrike">
                <a:solidFill>
                  <a:srgbClr val="000000"/>
                </a:solidFill>
                <a:latin typeface="Tahoma"/>
              </a:rPr>
              <a:t>Interacting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52" strike="noStrike">
                <a:solidFill>
                  <a:srgbClr val="000000"/>
                </a:solidFill>
                <a:latin typeface="Tahoma"/>
              </a:rPr>
              <a:t>with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kubectl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--containe</a:t>
            </a:r>
            <a:r>
              <a:rPr b="0" lang="fr-FR" sz="1600" spc="-1" strike="noStrike">
                <a:solidFill>
                  <a:srgbClr val="666666"/>
                </a:solidFill>
                <a:latin typeface="Courier New"/>
              </a:rPr>
              <a:t>r</a:t>
            </a:r>
            <a:r>
              <a:rPr b="0" lang="fr-FR" sz="1600" spc="-701" strike="noStrike">
                <a:solidFill>
                  <a:srgbClr val="666666"/>
                </a:solidFill>
                <a:latin typeface="Courier New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or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-</a:t>
            </a:r>
            <a:r>
              <a:rPr b="0" lang="fr-FR" sz="1600" spc="-1" strike="noStrike">
                <a:solidFill>
                  <a:srgbClr val="666666"/>
                </a:solidFill>
                <a:latin typeface="Courier New"/>
              </a:rPr>
              <a:t>c</a:t>
            </a:r>
            <a:r>
              <a:rPr b="0" lang="fr-FR" sz="1600" spc="-565" strike="noStrike">
                <a:solidFill>
                  <a:srgbClr val="666666"/>
                </a:solidFill>
                <a:latin typeface="Courier New"/>
              </a:rPr>
              <a:t> </a:t>
            </a:r>
            <a:r>
              <a:rPr b="0" lang="fr-FR" sz="1600" spc="-35" strike="noStrike">
                <a:solidFill>
                  <a:srgbClr val="666666"/>
                </a:solidFill>
                <a:latin typeface="Lucida Sans Unicode"/>
              </a:rPr>
              <a:t>CLI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option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780" name="object 3" descr=""/>
          <p:cNvPicPr/>
          <p:nvPr/>
        </p:nvPicPr>
        <p:blipFill>
          <a:blip r:embed="rId1"/>
          <a:stretch/>
        </p:blipFill>
        <p:spPr>
          <a:xfrm>
            <a:off x="629640" y="2045160"/>
            <a:ext cx="7694640" cy="1474920"/>
          </a:xfrm>
          <a:prstGeom prst="rect">
            <a:avLst/>
          </a:prstGeom>
          <a:ln w="0">
            <a:noFill/>
          </a:ln>
        </p:spPr>
      </p:pic>
      <p:sp>
        <p:nvSpPr>
          <p:cNvPr id="781" name="object 4"/>
          <p:cNvSpPr/>
          <p:nvPr/>
        </p:nvSpPr>
        <p:spPr>
          <a:xfrm>
            <a:off x="8701560" y="4908600"/>
            <a:ext cx="2026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E30ABE36-3CA1-4A14-A0CA-148F798C98D8}" type="slidenum">
              <a:rPr b="0" lang="fr-FR" sz="800" spc="-17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16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Shelling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32" strike="noStrike">
                <a:solidFill>
                  <a:srgbClr val="000000"/>
                </a:solidFill>
                <a:latin typeface="Tahoma"/>
              </a:rPr>
              <a:t>into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Defaults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main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application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container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if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not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explicit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783" name="object 3"/>
          <p:cNvGrpSpPr/>
          <p:nvPr/>
        </p:nvGrpSpPr>
        <p:grpSpPr>
          <a:xfrm>
            <a:off x="446040" y="1375560"/>
            <a:ext cx="6495840" cy="2000160"/>
            <a:chOff x="446040" y="1375560"/>
            <a:chExt cx="6495840" cy="2000160"/>
          </a:xfrm>
        </p:grpSpPr>
        <p:pic>
          <p:nvPicPr>
            <p:cNvPr id="784" name="object 4" descr=""/>
            <p:cNvPicPr/>
            <p:nvPr/>
          </p:nvPicPr>
          <p:blipFill>
            <a:blip r:embed="rId1"/>
            <a:stretch/>
          </p:blipFill>
          <p:spPr>
            <a:xfrm>
              <a:off x="446040" y="1375560"/>
              <a:ext cx="6495840" cy="200016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785" name="object 5"/>
            <p:cNvSpPr/>
            <p:nvPr/>
          </p:nvSpPr>
          <p:spPr>
            <a:xfrm>
              <a:off x="499680" y="1424160"/>
              <a:ext cx="6381720" cy="1886040"/>
            </a:xfrm>
            <a:custGeom>
              <a:avLst/>
              <a:gdLst/>
              <a:ahLst/>
              <a:rect l="l" t="t" r="r" b="b"/>
              <a:pathLst>
                <a:path w="6384925" h="1889125">
                  <a:moveTo>
                    <a:pt x="6384899" y="1889099"/>
                  </a:moveTo>
                  <a:lnTo>
                    <a:pt x="0" y="1889099"/>
                  </a:lnTo>
                  <a:lnTo>
                    <a:pt x="0" y="0"/>
                  </a:lnTo>
                  <a:lnTo>
                    <a:pt x="6384899" y="0"/>
                  </a:lnTo>
                  <a:lnTo>
                    <a:pt x="6384899" y="18890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786" name="object 6"/>
          <p:cNvSpPr/>
          <p:nvPr/>
        </p:nvSpPr>
        <p:spPr>
          <a:xfrm>
            <a:off x="2663280" y="1566720"/>
            <a:ext cx="1485360" cy="21960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6840" bIns="0" anchor="t">
            <a:spAutoFit/>
          </a:bodyPr>
          <a:p>
            <a:pPr marL="38880">
              <a:lnSpc>
                <a:spcPct val="100000"/>
              </a:lnSpc>
              <a:spcBef>
                <a:spcPts val="54"/>
              </a:spcBef>
              <a:buNone/>
            </a:pP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-c</a:t>
            </a:r>
            <a:r>
              <a:rPr b="1" lang="fr-FR" sz="14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web-server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787" name="object 10"/>
          <p:cNvSpPr/>
          <p:nvPr/>
        </p:nvSpPr>
        <p:spPr>
          <a:xfrm>
            <a:off x="8701560" y="4908600"/>
            <a:ext cx="2026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07B8CE47-5258-40C7-9E73-397C6DCB7BCC}" type="slidenum">
              <a:rPr b="0" lang="fr-FR" sz="800" spc="-17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788" name="object 7"/>
          <p:cNvSpPr/>
          <p:nvPr/>
        </p:nvSpPr>
        <p:spPr>
          <a:xfrm>
            <a:off x="4195800" y="1561320"/>
            <a:ext cx="246312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business-app</a:t>
            </a:r>
            <a:r>
              <a:rPr b="1" lang="fr-FR" sz="1400" spc="-5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</a:t>
            </a:r>
            <a:r>
              <a:rPr b="1" lang="fr-FR" sz="14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/bin/sh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789" name="object 8"/>
          <p:cNvSpPr/>
          <p:nvPr/>
        </p:nvSpPr>
        <p:spPr>
          <a:xfrm>
            <a:off x="675720" y="1561320"/>
            <a:ext cx="192960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ts val="1664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exec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-it</a:t>
            </a:r>
            <a:endParaRPr b="0" lang="fr-FR" sz="1400" spc="-1" strike="noStrike">
              <a:latin typeface="Arial"/>
            </a:endParaRPr>
          </a:p>
          <a:p>
            <a:pPr>
              <a:lnSpc>
                <a:spcPts val="1664"/>
              </a:lnSpc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#</a:t>
            </a:r>
            <a:r>
              <a:rPr b="0" lang="fr-FR" sz="14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exit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790" name="object 9"/>
          <p:cNvSpPr/>
          <p:nvPr/>
        </p:nvSpPr>
        <p:spPr>
          <a:xfrm>
            <a:off x="675720" y="2190240"/>
            <a:ext cx="5802120" cy="86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ts val="1664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exec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-it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business-app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/bin/sh</a:t>
            </a:r>
            <a:endParaRPr b="0" lang="fr-FR" sz="1400" spc="-1" strike="noStrike">
              <a:latin typeface="Arial"/>
            </a:endParaRPr>
          </a:p>
          <a:p>
            <a:pPr>
              <a:lnSpc>
                <a:spcPts val="1650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Defaulted</a:t>
            </a:r>
            <a:r>
              <a:rPr b="0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container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"web-server"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out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of:</a:t>
            </a:r>
            <a:r>
              <a:rPr b="0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web-server,</a:t>
            </a:r>
            <a:r>
              <a:rPr b="0" lang="fr-FR" sz="1400" spc="-60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400" spc="-1" strike="noStrike">
              <a:latin typeface="Arial"/>
            </a:endParaRPr>
          </a:p>
          <a:p>
            <a:pPr>
              <a:lnSpc>
                <a:spcPts val="1650"/>
              </a:lnSpc>
              <a:spcBef>
                <a:spcPts val="65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app-initializer (init) </a:t>
            </a:r>
            <a:r>
              <a:rPr b="0" lang="fr-FR" sz="1400" spc="-83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400" spc="-1" strike="noStrike">
              <a:latin typeface="Arial"/>
            </a:endParaRPr>
          </a:p>
          <a:p>
            <a:pPr>
              <a:lnSpc>
                <a:spcPts val="1650"/>
              </a:lnSpc>
              <a:spcBef>
                <a:spcPts val="65"/>
              </a:spcBef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#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exit</a:t>
            </a:r>
            <a:endParaRPr b="0" lang="fr-FR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922356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6" strike="noStrike">
                <a:solidFill>
                  <a:srgbClr val="000000"/>
                </a:solidFill>
                <a:latin typeface="Tahoma"/>
              </a:rPr>
              <a:t>Defining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More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Than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One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Main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9" strike="noStrike">
                <a:solidFill>
                  <a:srgbClr val="000000"/>
                </a:solidFill>
                <a:latin typeface="Tahoma"/>
              </a:rPr>
              <a:t>Application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Add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another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container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definition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under</a:t>
            </a:r>
            <a:r>
              <a:rPr b="0" lang="fr-FR" sz="1600" spc="-97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spec.containers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792" name="object 10"/>
          <p:cNvSpPr/>
          <p:nvPr/>
        </p:nvSpPr>
        <p:spPr>
          <a:xfrm>
            <a:off x="8701560" y="4908600"/>
            <a:ext cx="2278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26196680-2377-4D67-886B-27318D71EDDF}" type="slidenum">
              <a:rPr b="0" lang="fr-FR" sz="800" spc="-100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793" name="" descr=""/>
          <p:cNvPicPr/>
          <p:nvPr/>
        </p:nvPicPr>
        <p:blipFill>
          <a:blip r:embed="rId1"/>
          <a:stretch/>
        </p:blipFill>
        <p:spPr>
          <a:xfrm>
            <a:off x="494280" y="1467000"/>
            <a:ext cx="7090920" cy="2490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4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922356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9" strike="noStrike">
                <a:solidFill>
                  <a:srgbClr val="000000"/>
                </a:solidFill>
                <a:latin typeface="Tahoma"/>
              </a:rPr>
              <a:t>Creating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Pod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52" strike="noStrike">
                <a:solidFill>
                  <a:srgbClr val="000000"/>
                </a:solidFill>
                <a:latin typeface="Tahoma"/>
              </a:rPr>
              <a:t>with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Multiple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9" strike="noStrike">
                <a:solidFill>
                  <a:srgbClr val="000000"/>
                </a:solidFill>
                <a:latin typeface="Tahoma"/>
              </a:rPr>
              <a:t>Application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" strike="noStrike">
                <a:solidFill>
                  <a:srgbClr val="000000"/>
                </a:solidFill>
                <a:latin typeface="Tahoma"/>
              </a:rPr>
              <a:t>Containers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ready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column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indicates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number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started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containers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795" name="object 7"/>
          <p:cNvSpPr/>
          <p:nvPr/>
        </p:nvSpPr>
        <p:spPr>
          <a:xfrm>
            <a:off x="8701560" y="4908600"/>
            <a:ext cx="2278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43E24B34-5750-442B-A7BA-09BD40FCFA6B}" type="slidenum">
              <a:rPr b="0" lang="fr-FR" sz="800" spc="-100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796" name="" descr=""/>
          <p:cNvPicPr/>
          <p:nvPr/>
        </p:nvPicPr>
        <p:blipFill>
          <a:blip r:embed="rId1"/>
          <a:stretch/>
        </p:blipFill>
        <p:spPr>
          <a:xfrm>
            <a:off x="540000" y="1378080"/>
            <a:ext cx="6941160" cy="2064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62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26" strike="noStrike">
                <a:solidFill>
                  <a:srgbClr val="000000"/>
                </a:solidFill>
                <a:latin typeface="Tahoma"/>
              </a:rPr>
              <a:t>Sidecar</a:t>
            </a:r>
            <a:r>
              <a:rPr b="1" lang="fr-FR" sz="2400" spc="-16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Pattern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"Send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notification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error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log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contains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entries"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798" name="object 3" descr=""/>
          <p:cNvPicPr/>
          <p:nvPr/>
        </p:nvPicPr>
        <p:blipFill>
          <a:blip r:embed="rId1"/>
          <a:stretch/>
        </p:blipFill>
        <p:spPr>
          <a:xfrm>
            <a:off x="686880" y="1781640"/>
            <a:ext cx="7679880" cy="2339640"/>
          </a:xfrm>
          <a:prstGeom prst="rect">
            <a:avLst/>
          </a:prstGeom>
          <a:ln w="0">
            <a:noFill/>
          </a:ln>
        </p:spPr>
      </p:pic>
      <p:sp>
        <p:nvSpPr>
          <p:cNvPr id="799" name="object 4"/>
          <p:cNvSpPr/>
          <p:nvPr/>
        </p:nvSpPr>
        <p:spPr>
          <a:xfrm>
            <a:off x="8701560" y="4908600"/>
            <a:ext cx="2278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EE058893-E608-4F29-9F7F-ECF3B5918212}" type="slidenum">
              <a:rPr b="0" lang="fr-FR" sz="800" spc="-100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60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29" strike="noStrike">
                <a:solidFill>
                  <a:srgbClr val="000000"/>
                </a:solidFill>
                <a:latin typeface="Tahoma"/>
              </a:rPr>
              <a:t>Adapter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Pattern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"Transform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log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6" strike="noStrike">
                <a:solidFill>
                  <a:srgbClr val="666666"/>
                </a:solidFill>
                <a:latin typeface="Lucida Sans Unicode"/>
              </a:rPr>
              <a:t>data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2" strike="noStrike">
                <a:solidFill>
                  <a:srgbClr val="666666"/>
                </a:solidFill>
                <a:latin typeface="Lucida Sans Unicode"/>
              </a:rPr>
              <a:t>JSON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0" strike="noStrike">
                <a:solidFill>
                  <a:srgbClr val="666666"/>
                </a:solidFill>
                <a:latin typeface="Lucida Sans Unicode"/>
              </a:rPr>
              <a:t>make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46" strike="noStrike">
                <a:solidFill>
                  <a:srgbClr val="666666"/>
                </a:solidFill>
                <a:latin typeface="Lucida Sans Unicode"/>
              </a:rPr>
              <a:t>it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6" strike="noStrike">
                <a:solidFill>
                  <a:srgbClr val="666666"/>
                </a:solidFill>
                <a:latin typeface="Lucida Sans Unicode"/>
              </a:rPr>
              <a:t>consumable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by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external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system"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801" name="object 3" descr=""/>
          <p:cNvPicPr/>
          <p:nvPr/>
        </p:nvPicPr>
        <p:blipFill>
          <a:blip r:embed="rId1"/>
          <a:stretch/>
        </p:blipFill>
        <p:spPr>
          <a:xfrm>
            <a:off x="1019880" y="1733760"/>
            <a:ext cx="7013880" cy="2423160"/>
          </a:xfrm>
          <a:prstGeom prst="rect">
            <a:avLst/>
          </a:prstGeom>
          <a:ln w="0">
            <a:noFill/>
          </a:ln>
        </p:spPr>
      </p:pic>
      <p:sp>
        <p:nvSpPr>
          <p:cNvPr id="802" name="object 4"/>
          <p:cNvSpPr/>
          <p:nvPr/>
        </p:nvSpPr>
        <p:spPr>
          <a:xfrm>
            <a:off x="8701560" y="4908600"/>
            <a:ext cx="2278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41D98F70-ED96-4E6A-8997-8F2C3FB59CDF}" type="slidenum">
              <a:rPr b="0" lang="fr-FR" sz="800" spc="-100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3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06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75" strike="noStrike">
                <a:solidFill>
                  <a:srgbClr val="000000"/>
                </a:solidFill>
                <a:latin typeface="Tahoma"/>
              </a:rPr>
              <a:t>Ambassador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Pattern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"OAuth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authentication</a:t>
            </a:r>
            <a:r>
              <a:rPr b="0" lang="fr-FR" sz="1600" spc="-6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5" strike="noStrike">
                <a:solidFill>
                  <a:srgbClr val="666666"/>
                </a:solidFill>
                <a:latin typeface="Lucida Sans Unicode"/>
              </a:rPr>
              <a:t>handled</a:t>
            </a:r>
            <a:r>
              <a:rPr b="0" lang="fr-FR" sz="1600" spc="-6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by</a:t>
            </a:r>
            <a:r>
              <a:rPr b="0" lang="fr-FR" sz="1600" spc="-6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network</a:t>
            </a:r>
            <a:r>
              <a:rPr b="0" lang="fr-FR" sz="1600" spc="-6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5" strike="noStrike">
                <a:solidFill>
                  <a:srgbClr val="666666"/>
                </a:solidFill>
                <a:latin typeface="Lucida Sans Unicode"/>
              </a:rPr>
              <a:t>communication</a:t>
            </a:r>
            <a:r>
              <a:rPr b="0" lang="fr-FR" sz="1600" spc="-6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41" strike="noStrike">
                <a:solidFill>
                  <a:srgbClr val="666666"/>
                </a:solidFill>
                <a:latin typeface="Lucida Sans Unicode"/>
              </a:rPr>
              <a:t>proxy"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804" name="object 3"/>
          <p:cNvSpPr/>
          <p:nvPr/>
        </p:nvSpPr>
        <p:spPr>
          <a:xfrm>
            <a:off x="8726760" y="4913640"/>
            <a:ext cx="173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800" spc="-114" strike="noStrike">
                <a:solidFill>
                  <a:srgbClr val="000000"/>
                </a:solidFill>
                <a:latin typeface="Lucida Sans Unicode"/>
                <a:ea typeface="DejaVu Sans"/>
              </a:rPr>
              <a:t>123</a:t>
            </a:r>
            <a:endParaRPr b="0" lang="fr-FR" sz="800" spc="-1" strike="noStrike">
              <a:latin typeface="Arial"/>
            </a:endParaRPr>
          </a:p>
        </p:txBody>
      </p:sp>
      <p:pic>
        <p:nvPicPr>
          <p:cNvPr id="805" name="object 4" descr=""/>
          <p:cNvPicPr/>
          <p:nvPr/>
        </p:nvPicPr>
        <p:blipFill>
          <a:blip r:embed="rId1"/>
          <a:stretch/>
        </p:blipFill>
        <p:spPr>
          <a:xfrm>
            <a:off x="666720" y="2115360"/>
            <a:ext cx="7720200" cy="134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object 2"/>
          <p:cNvSpPr/>
          <p:nvPr/>
        </p:nvSpPr>
        <p:spPr>
          <a:xfrm>
            <a:off x="494280" y="371880"/>
            <a:ext cx="128268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2400" spc="-15" strike="noStrike">
                <a:solidFill>
                  <a:srgbClr val="000000"/>
                </a:solidFill>
                <a:latin typeface="Tahoma"/>
                <a:ea typeface="DejaVu Sans"/>
              </a:rPr>
              <a:t>Lab 05</a:t>
            </a:r>
            <a:endParaRPr b="0" lang="fr-FR" sz="2400" spc="-1" strike="noStrike">
              <a:latin typeface="Arial"/>
            </a:endParaRPr>
          </a:p>
        </p:txBody>
      </p:sp>
      <p:sp>
        <p:nvSpPr>
          <p:cNvPr id="807" name="object 3"/>
          <p:cNvSpPr/>
          <p:nvPr/>
        </p:nvSpPr>
        <p:spPr>
          <a:xfrm>
            <a:off x="494280" y="1323360"/>
            <a:ext cx="4003560" cy="101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14000"/>
              </a:lnSpc>
              <a:spcBef>
                <a:spcPts val="99"/>
              </a:spcBef>
              <a:buNone/>
            </a:pP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Implementing a mutli-container pod</a:t>
            </a:r>
            <a:endParaRPr b="0" lang="fr-FR" sz="2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8" name="object 2"/>
          <p:cNvGrpSpPr/>
          <p:nvPr/>
        </p:nvGrpSpPr>
        <p:grpSpPr>
          <a:xfrm>
            <a:off x="0" y="0"/>
            <a:ext cx="9140760" cy="5140080"/>
            <a:chOff x="0" y="0"/>
            <a:chExt cx="9140760" cy="5140080"/>
          </a:xfrm>
        </p:grpSpPr>
        <p:pic>
          <p:nvPicPr>
            <p:cNvPr id="809" name="object 3" descr=""/>
            <p:cNvPicPr/>
            <p:nvPr/>
          </p:nvPicPr>
          <p:blipFill>
            <a:blip r:embed="rId1"/>
            <a:stretch/>
          </p:blipFill>
          <p:spPr>
            <a:xfrm>
              <a:off x="0" y="0"/>
              <a:ext cx="9140760" cy="514008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810" name="object 4" descr=""/>
            <p:cNvPicPr/>
            <p:nvPr/>
          </p:nvPicPr>
          <p:blipFill>
            <a:blip r:embed="rId2"/>
            <a:stretch/>
          </p:blipFill>
          <p:spPr>
            <a:xfrm>
              <a:off x="8714160" y="146160"/>
              <a:ext cx="284400" cy="22968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811" name="PlaceHolder 1"/>
          <p:cNvSpPr>
            <a:spLocks noGrp="1"/>
          </p:cNvSpPr>
          <p:nvPr>
            <p:ph type="title"/>
          </p:nvPr>
        </p:nvSpPr>
        <p:spPr>
          <a:xfrm>
            <a:off x="494280" y="1665000"/>
            <a:ext cx="8503560" cy="1381680"/>
          </a:xfrm>
          <a:prstGeom prst="rect">
            <a:avLst/>
          </a:prstGeom>
          <a:noFill/>
          <a:ln w="0">
            <a:noFill/>
          </a:ln>
        </p:spPr>
        <p:txBody>
          <a:bodyPr lIns="0" rIns="0" tIns="195480" bIns="0" anchor="t">
            <a:noAutofit/>
          </a:bodyPr>
          <a:p>
            <a:pPr marL="12600">
              <a:lnSpc>
                <a:spcPct val="100000"/>
              </a:lnSpc>
              <a:spcBef>
                <a:spcPts val="1539"/>
              </a:spcBef>
              <a:buNone/>
            </a:pPr>
            <a:r>
              <a:rPr b="1" lang="fr-FR" sz="3600" spc="1" strike="noStrike">
                <a:solidFill>
                  <a:srgbClr val="ffffff"/>
                </a:solidFill>
                <a:latin typeface="Tahoma"/>
              </a:rPr>
              <a:t>Labels</a:t>
            </a:r>
            <a:r>
              <a:rPr b="1" lang="fr-FR" sz="3600" spc="-211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600" spc="66" strike="noStrike">
                <a:solidFill>
                  <a:srgbClr val="ffffff"/>
                </a:solidFill>
                <a:latin typeface="Tahoma"/>
              </a:rPr>
              <a:t>and</a:t>
            </a:r>
            <a:r>
              <a:rPr b="1" lang="fr-FR" sz="3600" spc="-211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600" spc="-1" strike="noStrike">
                <a:solidFill>
                  <a:srgbClr val="ffffff"/>
                </a:solidFill>
                <a:latin typeface="Tahoma"/>
              </a:rPr>
              <a:t>Annotations</a:t>
            </a:r>
            <a:endParaRPr b="0" lang="fr-FR" sz="36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720"/>
              </a:spcBef>
              <a:buNone/>
            </a:pPr>
            <a:r>
              <a:rPr b="0" lang="fr-FR" sz="1800" spc="7" strike="noStrike">
                <a:solidFill>
                  <a:srgbClr val="ffffff"/>
                </a:solidFill>
                <a:latin typeface="Lucida Sans Unicode"/>
              </a:rPr>
              <a:t>Label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35" strike="noStrike">
                <a:solidFill>
                  <a:srgbClr val="ffffff"/>
                </a:solidFill>
                <a:latin typeface="Lucida Sans Unicode"/>
              </a:rPr>
              <a:t>assignment</a:t>
            </a:r>
            <a:r>
              <a:rPr b="0" lang="fr-FR" sz="1800" spc="-86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86" strike="noStrike">
                <a:solidFill>
                  <a:srgbClr val="ffffff"/>
                </a:solidFill>
                <a:latin typeface="Lucida Sans Unicode"/>
              </a:rPr>
              <a:t>and</a:t>
            </a:r>
            <a:r>
              <a:rPr b="0" lang="fr-FR" sz="1800" spc="-86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1" strike="noStrike">
                <a:solidFill>
                  <a:srgbClr val="ffffff"/>
                </a:solidFill>
                <a:latin typeface="Lucida Sans Unicode"/>
              </a:rPr>
              <a:t>selection,</a:t>
            </a:r>
            <a:r>
              <a:rPr b="0" lang="fr-FR" sz="1800" spc="-86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1" strike="noStrike">
                <a:solidFill>
                  <a:srgbClr val="ffffff"/>
                </a:solidFill>
                <a:latin typeface="Lucida Sans Unicode"/>
              </a:rPr>
              <a:t>providing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94" strike="noStrike">
                <a:solidFill>
                  <a:srgbClr val="ffffff"/>
                </a:solidFill>
                <a:latin typeface="Lucida Sans Unicode"/>
              </a:rPr>
              <a:t>meta</a:t>
            </a:r>
            <a:r>
              <a:rPr b="0" lang="fr-FR" sz="1800" spc="-86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1" strike="noStrike">
                <a:solidFill>
                  <a:srgbClr val="ffffff"/>
                </a:solidFill>
                <a:latin typeface="Lucida Sans Unicode"/>
              </a:rPr>
              <a:t>information</a:t>
            </a:r>
            <a:r>
              <a:rPr b="0" lang="fr-FR" sz="1800" spc="-86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1" strike="noStrike">
                <a:solidFill>
                  <a:srgbClr val="ffffff"/>
                </a:solidFill>
                <a:latin typeface="Lucida Sans Unicode"/>
              </a:rPr>
              <a:t>to</a:t>
            </a:r>
            <a:r>
              <a:rPr b="0" lang="fr-FR" sz="1800" spc="-86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21" strike="noStrike">
                <a:solidFill>
                  <a:srgbClr val="ffffff"/>
                </a:solidFill>
                <a:latin typeface="Lucida Sans Unicode"/>
              </a:rPr>
              <a:t>objects</a:t>
            </a:r>
            <a:endParaRPr b="0" lang="fr-FR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42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5" strike="noStrike">
                <a:solidFill>
                  <a:srgbClr val="000000"/>
                </a:solidFill>
                <a:latin typeface="Tahoma"/>
              </a:rPr>
              <a:t>What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is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Label?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Essential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querying,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filtering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sorting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Kubernetes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objects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813" name="object 4"/>
          <p:cNvSpPr/>
          <p:nvPr/>
        </p:nvSpPr>
        <p:spPr>
          <a:xfrm>
            <a:off x="8701560" y="4908600"/>
            <a:ext cx="2336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D11583DA-701B-4026-B44D-DBC6B6FE9686}" type="slidenum">
              <a:rPr b="0" lang="fr-FR" sz="800" spc="-9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814" name="object 3"/>
          <p:cNvSpPr/>
          <p:nvPr/>
        </p:nvSpPr>
        <p:spPr>
          <a:xfrm>
            <a:off x="600120" y="1360440"/>
            <a:ext cx="8037720" cy="196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5000" bIns="0" anchor="t">
            <a:spAutoFit/>
          </a:bodyPr>
          <a:p>
            <a:pPr marL="363960" indent="-351720">
              <a:lnSpc>
                <a:spcPct val="100000"/>
              </a:lnSpc>
              <a:spcBef>
                <a:spcPts val="354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Key-value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pairs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assigned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Kubernetes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objects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with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imperative</a:t>
            </a:r>
            <a:r>
              <a:rPr b="0" lang="fr-FR" sz="1600" spc="5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label</a:t>
            </a:r>
            <a:endParaRPr b="0" lang="fr-FR" sz="1600" spc="-1" strike="noStrike">
              <a:latin typeface="Arial"/>
            </a:endParaRPr>
          </a:p>
          <a:p>
            <a:pPr marL="363960">
              <a:lnSpc>
                <a:spcPct val="100000"/>
              </a:lnSpc>
              <a:spcBef>
                <a:spcPts val="255"/>
              </a:spcBef>
              <a:buNone/>
              <a:tabLst>
                <a:tab algn="l" pos="363960"/>
                <a:tab algn="l" pos="36432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command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o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usin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g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th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metadata.labels[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  <a:ea typeface="DejaVu Sans"/>
              </a:rPr>
              <a:t>]</a:t>
            </a:r>
            <a:r>
              <a:rPr b="0" lang="fr-FR" sz="1600" spc="-7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attribute.</a:t>
            </a:r>
            <a:endParaRPr b="0" lang="fr-FR" sz="1600" spc="-1" strike="noStrike">
              <a:latin typeface="Arial"/>
            </a:endParaRPr>
          </a:p>
          <a:p>
            <a:pPr marL="363960">
              <a:lnSpc>
                <a:spcPct val="100000"/>
              </a:lnSpc>
              <a:spcBef>
                <a:spcPts val="14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Not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meant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elaborate,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multi-word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descriptions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its 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functionality.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Kubernetes limits the length of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label to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maximum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 63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characters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and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range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allowed alphanumeric and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separator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characters.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16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" strike="noStrike">
                <a:solidFill>
                  <a:srgbClr val="000000"/>
                </a:solidFill>
                <a:latin typeface="Tahoma"/>
              </a:rPr>
              <a:t>Example</a:t>
            </a:r>
            <a:r>
              <a:rPr b="1" lang="fr-FR" sz="2400" spc="-17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Labels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Three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different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Pods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4" strike="noStrike">
                <a:solidFill>
                  <a:srgbClr val="666666"/>
                </a:solidFill>
                <a:latin typeface="Lucida Sans Unicode"/>
              </a:rPr>
              <a:t>each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three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key-value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pairs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816" name="object 3" descr=""/>
          <p:cNvPicPr/>
          <p:nvPr/>
        </p:nvPicPr>
        <p:blipFill>
          <a:blip r:embed="rId1"/>
          <a:stretch/>
        </p:blipFill>
        <p:spPr>
          <a:xfrm>
            <a:off x="811800" y="1878840"/>
            <a:ext cx="7430400" cy="2130120"/>
          </a:xfrm>
          <a:prstGeom prst="rect">
            <a:avLst/>
          </a:prstGeom>
          <a:ln w="0">
            <a:noFill/>
          </a:ln>
        </p:spPr>
      </p:pic>
      <p:sp>
        <p:nvSpPr>
          <p:cNvPr id="817" name="object 4"/>
          <p:cNvSpPr/>
          <p:nvPr/>
        </p:nvSpPr>
        <p:spPr>
          <a:xfrm>
            <a:off x="8701560" y="4908600"/>
            <a:ext cx="2336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3F918B5C-E322-41D4-8C8A-6B919C27E9BC}" type="slidenum">
              <a:rPr b="0" lang="fr-FR" sz="800" spc="-9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963560" cy="1276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Assigning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Labels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52" strike="noStrike">
                <a:solidFill>
                  <a:srgbClr val="000000"/>
                </a:solidFill>
                <a:latin typeface="Tahoma"/>
              </a:rPr>
              <a:t>with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Imperative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60" strike="noStrike">
                <a:solidFill>
                  <a:srgbClr val="000000"/>
                </a:solidFill>
                <a:latin typeface="Tahoma"/>
              </a:rPr>
              <a:t>Approach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labe</a:t>
            </a:r>
            <a:r>
              <a:rPr b="0" lang="fr-FR" sz="1600" spc="-1" strike="noStrike">
                <a:solidFill>
                  <a:srgbClr val="666666"/>
                </a:solidFill>
                <a:latin typeface="Courier New"/>
              </a:rPr>
              <a:t>l</a:t>
            </a:r>
            <a:r>
              <a:rPr b="0" lang="fr-FR" sz="1600" spc="-610" strike="noStrike">
                <a:solidFill>
                  <a:srgbClr val="666666"/>
                </a:solidFill>
                <a:latin typeface="Courier New"/>
              </a:rPr>
              <a:t> </a:t>
            </a:r>
            <a:r>
              <a:rPr b="0" lang="fr-FR" sz="1600" spc="89" strike="noStrike">
                <a:solidFill>
                  <a:srgbClr val="666666"/>
                </a:solidFill>
                <a:latin typeface="Lucida Sans Unicode"/>
              </a:rPr>
              <a:t>command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lets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you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9" strike="noStrike">
                <a:solidFill>
                  <a:srgbClr val="666666"/>
                </a:solidFill>
                <a:latin typeface="Lucida Sans Unicode"/>
              </a:rPr>
              <a:t>add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or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remove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one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or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6" strike="noStrike">
                <a:solidFill>
                  <a:srgbClr val="666666"/>
                </a:solidFill>
                <a:latin typeface="Lucida Sans Unicode"/>
              </a:rPr>
              <a:t>many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labels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819" name="object 3"/>
          <p:cNvGrpSpPr/>
          <p:nvPr/>
        </p:nvGrpSpPr>
        <p:grpSpPr>
          <a:xfrm>
            <a:off x="474480" y="1366200"/>
            <a:ext cx="5906160" cy="2804040"/>
            <a:chOff x="474480" y="1366200"/>
            <a:chExt cx="5906160" cy="2804040"/>
          </a:xfrm>
        </p:grpSpPr>
        <p:pic>
          <p:nvPicPr>
            <p:cNvPr id="820" name="object 4" descr=""/>
            <p:cNvPicPr/>
            <p:nvPr/>
          </p:nvPicPr>
          <p:blipFill>
            <a:blip r:embed="rId1"/>
            <a:stretch/>
          </p:blipFill>
          <p:spPr>
            <a:xfrm>
              <a:off x="474480" y="1366200"/>
              <a:ext cx="5906160" cy="28040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821" name="object 5"/>
            <p:cNvSpPr/>
            <p:nvPr/>
          </p:nvSpPr>
          <p:spPr>
            <a:xfrm>
              <a:off x="528120" y="1414440"/>
              <a:ext cx="5792400" cy="2690280"/>
            </a:xfrm>
            <a:custGeom>
              <a:avLst/>
              <a:gdLst/>
              <a:ahLst/>
              <a:rect l="l" t="t" r="r" b="b"/>
              <a:pathLst>
                <a:path w="5795645" h="2693670">
                  <a:moveTo>
                    <a:pt x="5795100" y="2693099"/>
                  </a:moveTo>
                  <a:lnTo>
                    <a:pt x="0" y="2693099"/>
                  </a:lnTo>
                  <a:lnTo>
                    <a:pt x="0" y="0"/>
                  </a:lnTo>
                  <a:lnTo>
                    <a:pt x="5795100" y="0"/>
                  </a:lnTo>
                  <a:lnTo>
                    <a:pt x="5795100" y="26930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822" name="object 6"/>
          <p:cNvSpPr/>
          <p:nvPr/>
        </p:nvSpPr>
        <p:spPr>
          <a:xfrm>
            <a:off x="3085560" y="1540080"/>
            <a:ext cx="3099960" cy="21276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30600" bIns="0" anchor="t">
            <a:spAutoFit/>
          </a:bodyPr>
          <a:p>
            <a:pPr marL="22320">
              <a:lnSpc>
                <a:spcPct val="100000"/>
              </a:lnSpc>
              <a:spcBef>
                <a:spcPts val="241"/>
              </a:spcBef>
              <a:buNone/>
            </a:pP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tier=backend</a:t>
            </a:r>
            <a:r>
              <a:rPr b="1" lang="fr-FR" sz="12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env=prod</a:t>
            </a:r>
            <a:r>
              <a:rPr b="1" lang="fr-FR" sz="12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app=miracle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823" name="object 7"/>
          <p:cNvSpPr/>
          <p:nvPr/>
        </p:nvSpPr>
        <p:spPr>
          <a:xfrm>
            <a:off x="717840" y="1558440"/>
            <a:ext cx="2308320" cy="3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429"/>
              </a:lnSpc>
              <a:spcBef>
                <a:spcPts val="99"/>
              </a:spcBef>
              <a:buNone/>
            </a:pPr>
            <a:r>
              <a:rPr b="1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label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pod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nginx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34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pod/nginx</a:t>
            </a:r>
            <a:r>
              <a:rPr b="0" lang="fr-FR" sz="12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labeled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824" name="object 8"/>
          <p:cNvSpPr/>
          <p:nvPr/>
        </p:nvSpPr>
        <p:spPr>
          <a:xfrm>
            <a:off x="717840" y="2101320"/>
            <a:ext cx="294840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get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pods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--show-labels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825" name="object 9"/>
          <p:cNvSpPr/>
          <p:nvPr/>
        </p:nvSpPr>
        <p:spPr>
          <a:xfrm>
            <a:off x="717840" y="2282040"/>
            <a:ext cx="388080" cy="3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429"/>
              </a:lnSpc>
              <a:spcBef>
                <a:spcPts val="99"/>
              </a:spcBef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34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pod1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826" name="object 10"/>
          <p:cNvSpPr/>
          <p:nvPr/>
        </p:nvSpPr>
        <p:spPr>
          <a:xfrm>
            <a:off x="1266480" y="2282040"/>
            <a:ext cx="3405600" cy="3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429"/>
              </a:lnSpc>
              <a:spcBef>
                <a:spcPts val="99"/>
              </a:spcBef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r>
              <a:rPr b="0" lang="fr-FR" sz="12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LABELS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34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r>
              <a:rPr b="0" lang="fr-FR" sz="1200" spc="-7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tier=backend,env=prod,app=miracle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827" name="object 11"/>
          <p:cNvSpPr/>
          <p:nvPr/>
        </p:nvSpPr>
        <p:spPr>
          <a:xfrm>
            <a:off x="717840" y="2825280"/>
            <a:ext cx="230832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label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pod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nginx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828" name="object 12"/>
          <p:cNvSpPr/>
          <p:nvPr/>
        </p:nvSpPr>
        <p:spPr>
          <a:xfrm>
            <a:off x="3085560" y="2796480"/>
            <a:ext cx="533160" cy="22356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41400" bIns="0" anchor="t">
            <a:spAutoFit/>
          </a:bodyPr>
          <a:p>
            <a:pPr marL="22320">
              <a:lnSpc>
                <a:spcPct val="100000"/>
              </a:lnSpc>
              <a:spcBef>
                <a:spcPts val="326"/>
              </a:spcBef>
              <a:buNone/>
            </a:pP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tier-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829" name="object 13"/>
          <p:cNvSpPr/>
          <p:nvPr/>
        </p:nvSpPr>
        <p:spPr>
          <a:xfrm>
            <a:off x="717840" y="3006000"/>
            <a:ext cx="157680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pod/nginx</a:t>
            </a:r>
            <a:r>
              <a:rPr b="0" lang="fr-FR" sz="1200" spc="-8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labeled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830" name="object 14"/>
          <p:cNvSpPr/>
          <p:nvPr/>
        </p:nvSpPr>
        <p:spPr>
          <a:xfrm>
            <a:off x="717840" y="3368160"/>
            <a:ext cx="294840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get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pods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--show-labels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831" name="object 15"/>
          <p:cNvSpPr/>
          <p:nvPr/>
        </p:nvSpPr>
        <p:spPr>
          <a:xfrm>
            <a:off x="717840" y="3548880"/>
            <a:ext cx="388080" cy="37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434"/>
              </a:lnSpc>
              <a:spcBef>
                <a:spcPts val="99"/>
              </a:spcBef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34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pod1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832" name="object 16"/>
          <p:cNvSpPr/>
          <p:nvPr/>
        </p:nvSpPr>
        <p:spPr>
          <a:xfrm>
            <a:off x="1266480" y="3548880"/>
            <a:ext cx="2216880" cy="37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434"/>
              </a:lnSpc>
              <a:spcBef>
                <a:spcPts val="99"/>
              </a:spcBef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r>
              <a:rPr b="0" lang="fr-FR" sz="12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LABELS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34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r>
              <a:rPr b="0" lang="fr-FR" sz="1200" spc="-80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env=prod,app=miracle</a:t>
            </a:r>
            <a:endParaRPr b="0" lang="fr-FR" sz="1200" spc="-1" strike="noStrike">
              <a:latin typeface="Arial"/>
            </a:endParaRPr>
          </a:p>
        </p:txBody>
      </p:sp>
      <p:grpSp>
        <p:nvGrpSpPr>
          <p:cNvPr id="833" name="object 17"/>
          <p:cNvGrpSpPr/>
          <p:nvPr/>
        </p:nvGrpSpPr>
        <p:grpSpPr>
          <a:xfrm>
            <a:off x="6492960" y="1642680"/>
            <a:ext cx="662400" cy="78840"/>
            <a:chOff x="6492960" y="1642680"/>
            <a:chExt cx="662400" cy="78840"/>
          </a:xfrm>
        </p:grpSpPr>
        <p:sp>
          <p:nvSpPr>
            <p:cNvPr id="834" name="object 18"/>
            <p:cNvSpPr/>
            <p:nvPr/>
          </p:nvSpPr>
          <p:spPr>
            <a:xfrm>
              <a:off x="6589080" y="1683720"/>
              <a:ext cx="566280" cy="360"/>
            </a:xfrm>
            <a:custGeom>
              <a:avLst/>
              <a:gdLst/>
              <a:ahLst/>
              <a:rect l="l" t="t" r="r" b="b"/>
              <a:pathLst>
                <a:path w="569595" h="0">
                  <a:moveTo>
                    <a:pt x="5690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835" name="object 19" descr=""/>
            <p:cNvPicPr/>
            <p:nvPr/>
          </p:nvPicPr>
          <p:blipFill>
            <a:blip r:embed="rId2"/>
            <a:stretch/>
          </p:blipFill>
          <p:spPr>
            <a:xfrm>
              <a:off x="6492960" y="1642680"/>
              <a:ext cx="102240" cy="788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836" name="object 20"/>
          <p:cNvSpPr/>
          <p:nvPr/>
        </p:nvSpPr>
        <p:spPr>
          <a:xfrm>
            <a:off x="7164000" y="1442160"/>
            <a:ext cx="185256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205200" indent="-192960">
              <a:lnSpc>
                <a:spcPts val="165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Declares</a:t>
            </a:r>
            <a:r>
              <a:rPr b="0" lang="fr-FR" sz="1400" spc="-5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three</a:t>
            </a:r>
            <a:r>
              <a:rPr b="0" lang="fr-FR" sz="1400" spc="-4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label </a:t>
            </a:r>
            <a:r>
              <a:rPr b="0" lang="fr-FR" sz="1400" spc="-37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key-value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pairs</a:t>
            </a:r>
            <a:endParaRPr b="0" lang="fr-FR" sz="1400" spc="-1" strike="noStrike">
              <a:latin typeface="Arial"/>
            </a:endParaRPr>
          </a:p>
        </p:txBody>
      </p:sp>
      <p:grpSp>
        <p:nvGrpSpPr>
          <p:cNvPr id="837" name="object 21"/>
          <p:cNvGrpSpPr/>
          <p:nvPr/>
        </p:nvGrpSpPr>
        <p:grpSpPr>
          <a:xfrm>
            <a:off x="3836880" y="2899440"/>
            <a:ext cx="3354120" cy="78840"/>
            <a:chOff x="3836880" y="2899440"/>
            <a:chExt cx="3354120" cy="78840"/>
          </a:xfrm>
        </p:grpSpPr>
        <p:sp>
          <p:nvSpPr>
            <p:cNvPr id="838" name="object 22"/>
            <p:cNvSpPr/>
            <p:nvPr/>
          </p:nvSpPr>
          <p:spPr>
            <a:xfrm>
              <a:off x="3933000" y="2940480"/>
              <a:ext cx="3258000" cy="360"/>
            </a:xfrm>
            <a:custGeom>
              <a:avLst/>
              <a:gdLst/>
              <a:ahLst/>
              <a:rect l="l" t="t" r="r" b="b"/>
              <a:pathLst>
                <a:path w="3261359" h="0">
                  <a:moveTo>
                    <a:pt x="32609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839" name="object 23" descr=""/>
            <p:cNvPicPr/>
            <p:nvPr/>
          </p:nvPicPr>
          <p:blipFill>
            <a:blip r:embed="rId3"/>
            <a:stretch/>
          </p:blipFill>
          <p:spPr>
            <a:xfrm>
              <a:off x="3836880" y="2899440"/>
              <a:ext cx="102240" cy="788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840" name="object 24"/>
          <p:cNvSpPr/>
          <p:nvPr/>
        </p:nvSpPr>
        <p:spPr>
          <a:xfrm>
            <a:off x="7253640" y="2698920"/>
            <a:ext cx="167220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85400" indent="-173520">
              <a:lnSpc>
                <a:spcPts val="165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Removes</a:t>
            </a:r>
            <a:r>
              <a:rPr b="0" lang="fr-FR" sz="1400" spc="-5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400" spc="-4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label </a:t>
            </a:r>
            <a:r>
              <a:rPr b="0" lang="fr-FR" sz="1400" spc="-37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with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key</a:t>
            </a:r>
            <a:r>
              <a:rPr b="0" lang="fr-FR" sz="14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tier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841" name="object 25"/>
          <p:cNvSpPr/>
          <p:nvPr/>
        </p:nvSpPr>
        <p:spPr>
          <a:xfrm>
            <a:off x="8701560" y="4908600"/>
            <a:ext cx="2336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B56E501F-AFF1-43F7-B99D-E79AE576FB14}" type="slidenum">
              <a:rPr b="0" lang="fr-FR" sz="800" spc="-9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063560" cy="1276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Assigning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Labels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in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YAML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Manifest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89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0" strike="noStrike">
                <a:solidFill>
                  <a:srgbClr val="666666"/>
                </a:solidFill>
                <a:latin typeface="Lucida Sans Unicode"/>
              </a:rPr>
              <a:t>be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provided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6" strike="noStrike">
                <a:solidFill>
                  <a:srgbClr val="666666"/>
                </a:solidFill>
                <a:latin typeface="Lucida Sans Unicode"/>
              </a:rPr>
              <a:t>new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object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modified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live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object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843" name="object 8"/>
          <p:cNvSpPr/>
          <p:nvPr/>
        </p:nvSpPr>
        <p:spPr>
          <a:xfrm>
            <a:off x="8701560" y="4908600"/>
            <a:ext cx="2336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7664F953-6E27-4DD3-92BF-7AF59B51ACB2}" type="slidenum">
              <a:rPr b="0" lang="fr-FR" sz="800" spc="-9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844" name="" descr=""/>
          <p:cNvPicPr/>
          <p:nvPr/>
        </p:nvPicPr>
        <p:blipFill>
          <a:blip r:embed="rId1"/>
          <a:stretch/>
        </p:blipFill>
        <p:spPr>
          <a:xfrm>
            <a:off x="493200" y="1620000"/>
            <a:ext cx="5336640" cy="2583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52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41" strike="noStrike">
                <a:solidFill>
                  <a:srgbClr val="000000"/>
                </a:solidFill>
                <a:latin typeface="Tahoma"/>
              </a:rPr>
              <a:t>Recommended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Labels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9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Lucida Sans Unicode"/>
                <a:hlinkClick r:id="rId1"/>
              </a:rPr>
              <a:t>Naming</a:t>
            </a:r>
            <a:r>
              <a:rPr b="0" lang="fr-FR" sz="1600" spc="-92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Lucida Sans Unicode"/>
                <a:hlinkClick r:id="rId2"/>
              </a:rPr>
              <a:t> </a:t>
            </a:r>
            <a:r>
              <a:rPr b="0" lang="fr-FR" sz="1600" spc="15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Lucida Sans Unicode"/>
                <a:hlinkClick r:id="rId3"/>
              </a:rPr>
              <a:t>convention</a:t>
            </a:r>
            <a:r>
              <a:rPr b="0" lang="fr-FR" sz="1600" spc="-97" strike="noStrike" u="sng">
                <a:solidFill>
                  <a:srgbClr val="0000ff"/>
                </a:solidFill>
                <a:uFillTx/>
                <a:latin typeface="Lucida Sans Unicode"/>
                <a:hlinkClick r:id="rId4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starts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97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app.kubernetes.io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846" name="object 5"/>
          <p:cNvSpPr/>
          <p:nvPr/>
        </p:nvSpPr>
        <p:spPr>
          <a:xfrm>
            <a:off x="8701560" y="4908600"/>
            <a:ext cx="2336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03E8B087-4C99-4BA2-83D3-5AAEDD319E17}" type="slidenum">
              <a:rPr b="0" lang="fr-FR" sz="800" spc="-9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847" name="" descr=""/>
          <p:cNvPicPr/>
          <p:nvPr/>
        </p:nvPicPr>
        <p:blipFill>
          <a:blip r:embed="rId5"/>
          <a:stretch/>
        </p:blipFill>
        <p:spPr>
          <a:xfrm>
            <a:off x="487080" y="1260000"/>
            <a:ext cx="6350760" cy="3102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16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Selecting</a:t>
            </a:r>
            <a:r>
              <a:rPr b="1" lang="fr-FR" sz="2400" spc="-17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Labels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Label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selector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uses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set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criteria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query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objects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849" name="object 3" descr=""/>
          <p:cNvPicPr/>
          <p:nvPr/>
        </p:nvPicPr>
        <p:blipFill>
          <a:blip r:embed="rId1"/>
          <a:stretch/>
        </p:blipFill>
        <p:spPr>
          <a:xfrm>
            <a:off x="824760" y="1878840"/>
            <a:ext cx="7403760" cy="2122200"/>
          </a:xfrm>
          <a:prstGeom prst="rect">
            <a:avLst/>
          </a:prstGeom>
          <a:ln w="0">
            <a:noFill/>
          </a:ln>
        </p:spPr>
      </p:pic>
      <p:sp>
        <p:nvSpPr>
          <p:cNvPr id="850" name="object 4"/>
          <p:cNvSpPr/>
          <p:nvPr/>
        </p:nvSpPr>
        <p:spPr>
          <a:xfrm>
            <a:off x="8701560" y="4908600"/>
            <a:ext cx="2336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CB1E86CC-F8AE-48DC-AE66-D9B2D364849B}" type="slidenum">
              <a:rPr b="0" lang="fr-FR" sz="800" spc="-9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88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Label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Selection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" strike="noStrike">
                <a:solidFill>
                  <a:srgbClr val="000000"/>
                </a:solidFill>
                <a:latin typeface="Tahoma"/>
              </a:rPr>
              <a:t>from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the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77" strike="noStrike">
                <a:solidFill>
                  <a:srgbClr val="000000"/>
                </a:solidFill>
                <a:latin typeface="Tahoma"/>
              </a:rPr>
              <a:t>CLI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You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00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specify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equality-based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set-based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requirements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852" name="object 3"/>
          <p:cNvGrpSpPr/>
          <p:nvPr/>
        </p:nvGrpSpPr>
        <p:grpSpPr>
          <a:xfrm>
            <a:off x="470880" y="1373760"/>
            <a:ext cx="7098120" cy="2410200"/>
            <a:chOff x="470880" y="1373760"/>
            <a:chExt cx="7098120" cy="2410200"/>
          </a:xfrm>
        </p:grpSpPr>
        <p:pic>
          <p:nvPicPr>
            <p:cNvPr id="853" name="object 4" descr=""/>
            <p:cNvPicPr/>
            <p:nvPr/>
          </p:nvPicPr>
          <p:blipFill>
            <a:blip r:embed="rId1"/>
            <a:stretch/>
          </p:blipFill>
          <p:spPr>
            <a:xfrm>
              <a:off x="470880" y="1373760"/>
              <a:ext cx="7098120" cy="24102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854" name="object 5"/>
            <p:cNvSpPr/>
            <p:nvPr/>
          </p:nvSpPr>
          <p:spPr>
            <a:xfrm>
              <a:off x="524520" y="1422000"/>
              <a:ext cx="6984360" cy="2296080"/>
            </a:xfrm>
            <a:custGeom>
              <a:avLst/>
              <a:gdLst/>
              <a:ahLst/>
              <a:rect l="l" t="t" r="r" b="b"/>
              <a:pathLst>
                <a:path w="6987540" h="2299335">
                  <a:moveTo>
                    <a:pt x="6987000" y="2299199"/>
                  </a:moveTo>
                  <a:lnTo>
                    <a:pt x="0" y="2299199"/>
                  </a:lnTo>
                  <a:lnTo>
                    <a:pt x="0" y="0"/>
                  </a:lnTo>
                  <a:lnTo>
                    <a:pt x="6987000" y="0"/>
                  </a:lnTo>
                  <a:lnTo>
                    <a:pt x="6987000" y="22991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855" name="object 6"/>
          <p:cNvSpPr/>
          <p:nvPr/>
        </p:nvSpPr>
        <p:spPr>
          <a:xfrm>
            <a:off x="734400" y="1528560"/>
            <a:ext cx="166824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2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2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get</a:t>
            </a:r>
            <a:r>
              <a:rPr b="1" lang="fr-FR" sz="12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pods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856" name="object 7"/>
          <p:cNvSpPr/>
          <p:nvPr/>
        </p:nvSpPr>
        <p:spPr>
          <a:xfrm>
            <a:off x="2442240" y="1504080"/>
            <a:ext cx="2292840" cy="21888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36720" bIns="0" anchor="t">
            <a:spAutoFit/>
          </a:bodyPr>
          <a:p>
            <a:pPr marL="41400">
              <a:lnSpc>
                <a:spcPct val="100000"/>
              </a:lnSpc>
              <a:spcBef>
                <a:spcPts val="289"/>
              </a:spcBef>
              <a:buNone/>
            </a:pP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-l</a:t>
            </a:r>
            <a:r>
              <a:rPr b="1" lang="fr-FR" sz="12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tier=frontend,env=dev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857" name="object 8"/>
          <p:cNvSpPr/>
          <p:nvPr/>
        </p:nvSpPr>
        <p:spPr>
          <a:xfrm>
            <a:off x="4757040" y="1528560"/>
            <a:ext cx="121104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--show-labels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858" name="object 9"/>
          <p:cNvSpPr/>
          <p:nvPr/>
        </p:nvSpPr>
        <p:spPr>
          <a:xfrm>
            <a:off x="734400" y="1709640"/>
            <a:ext cx="1485360" cy="37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434"/>
              </a:lnSpc>
              <a:spcBef>
                <a:spcPts val="99"/>
              </a:spcBef>
              <a:buNone/>
              <a:tabLst>
                <a:tab algn="l" pos="56088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r>
              <a:rPr b="0" lang="fr-FR" sz="1200" spc="-8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LABELS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34"/>
              </a:lnSpc>
              <a:buNone/>
              <a:tabLst>
                <a:tab algn="l" pos="56088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pod2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859" name="object 10"/>
          <p:cNvSpPr/>
          <p:nvPr/>
        </p:nvSpPr>
        <p:spPr>
          <a:xfrm>
            <a:off x="1283040" y="1890720"/>
            <a:ext cx="340560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r>
              <a:rPr b="0" lang="fr-FR" sz="1200" spc="-7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app=crawler,env=dev,tier=frontend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860" name="object 11"/>
          <p:cNvSpPr/>
          <p:nvPr/>
        </p:nvSpPr>
        <p:spPr>
          <a:xfrm>
            <a:off x="734400" y="2252520"/>
            <a:ext cx="166824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2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2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get</a:t>
            </a:r>
            <a:r>
              <a:rPr b="1" lang="fr-FR" sz="12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pods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861" name="object 12"/>
          <p:cNvSpPr/>
          <p:nvPr/>
        </p:nvSpPr>
        <p:spPr>
          <a:xfrm>
            <a:off x="2442240" y="2240280"/>
            <a:ext cx="1009080" cy="20700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24840" bIns="0" anchor="t">
            <a:spAutoFit/>
          </a:bodyPr>
          <a:p>
            <a:pPr marL="41400">
              <a:lnSpc>
                <a:spcPct val="100000"/>
              </a:lnSpc>
              <a:spcBef>
                <a:spcPts val="196"/>
              </a:spcBef>
              <a:buNone/>
            </a:pP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-l</a:t>
            </a:r>
            <a:r>
              <a:rPr b="1" lang="fr-FR" sz="12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version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862" name="object 13"/>
          <p:cNvSpPr/>
          <p:nvPr/>
        </p:nvSpPr>
        <p:spPr>
          <a:xfrm>
            <a:off x="3477240" y="2252520"/>
            <a:ext cx="121104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--show-labels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863" name="object 14"/>
          <p:cNvSpPr/>
          <p:nvPr/>
        </p:nvSpPr>
        <p:spPr>
          <a:xfrm>
            <a:off x="734400" y="2433600"/>
            <a:ext cx="1485360" cy="3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429"/>
              </a:lnSpc>
              <a:spcBef>
                <a:spcPts val="99"/>
              </a:spcBef>
              <a:buNone/>
              <a:tabLst>
                <a:tab algn="l" pos="56088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r>
              <a:rPr b="0" lang="fr-FR" sz="1200" spc="-8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LABELS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34"/>
              </a:lnSpc>
              <a:buNone/>
              <a:tabLst>
                <a:tab algn="l" pos="56088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pod3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864" name="object 15"/>
          <p:cNvSpPr/>
          <p:nvPr/>
        </p:nvSpPr>
        <p:spPr>
          <a:xfrm>
            <a:off x="1283040" y="2614320"/>
            <a:ext cx="367992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r>
              <a:rPr b="0" lang="fr-FR" sz="1200" spc="-7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app=crawler,env=staging,version=v2.1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865" name="object 16"/>
          <p:cNvSpPr/>
          <p:nvPr/>
        </p:nvSpPr>
        <p:spPr>
          <a:xfrm>
            <a:off x="734400" y="2976480"/>
            <a:ext cx="166824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2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2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get</a:t>
            </a:r>
            <a:r>
              <a:rPr b="1" lang="fr-FR" sz="12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pods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866" name="object 17"/>
          <p:cNvSpPr/>
          <p:nvPr/>
        </p:nvSpPr>
        <p:spPr>
          <a:xfrm>
            <a:off x="2451240" y="2958120"/>
            <a:ext cx="3630240" cy="21312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30960" bIns="0" anchor="t">
            <a:spAutoFit/>
          </a:bodyPr>
          <a:p>
            <a:pPr marL="32400">
              <a:lnSpc>
                <a:spcPct val="100000"/>
              </a:lnSpc>
              <a:spcBef>
                <a:spcPts val="244"/>
              </a:spcBef>
              <a:buNone/>
            </a:pP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-l</a:t>
            </a:r>
            <a:r>
              <a:rPr b="1" lang="fr-FR" sz="12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'tier</a:t>
            </a:r>
            <a:r>
              <a:rPr b="1" lang="fr-FR" sz="12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in</a:t>
            </a:r>
            <a:r>
              <a:rPr b="1" lang="fr-FR" sz="12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(frontend,backend),env=dev'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867" name="object 18"/>
          <p:cNvSpPr/>
          <p:nvPr/>
        </p:nvSpPr>
        <p:spPr>
          <a:xfrm>
            <a:off x="6128640" y="2976480"/>
            <a:ext cx="121104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--show-labels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868" name="object 19"/>
          <p:cNvSpPr/>
          <p:nvPr/>
        </p:nvSpPr>
        <p:spPr>
          <a:xfrm>
            <a:off x="734400" y="3157200"/>
            <a:ext cx="1485360" cy="3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429"/>
              </a:lnSpc>
              <a:spcBef>
                <a:spcPts val="99"/>
              </a:spcBef>
              <a:buNone/>
              <a:tabLst>
                <a:tab algn="l" pos="56088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r>
              <a:rPr b="0" lang="fr-FR" sz="1200" spc="-8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LABELS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34"/>
              </a:lnSpc>
              <a:buNone/>
              <a:tabLst>
                <a:tab algn="l" pos="56088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pod2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869" name="object 20"/>
          <p:cNvSpPr/>
          <p:nvPr/>
        </p:nvSpPr>
        <p:spPr>
          <a:xfrm>
            <a:off x="1283040" y="3338280"/>
            <a:ext cx="340560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r>
              <a:rPr b="0" lang="fr-FR" sz="1200" spc="-7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app=crawler,env=dev,tier=frontend</a:t>
            </a:r>
            <a:endParaRPr b="0" lang="fr-FR" sz="1200" spc="-1" strike="noStrike">
              <a:latin typeface="Arial"/>
            </a:endParaRPr>
          </a:p>
        </p:txBody>
      </p:sp>
      <p:grpSp>
        <p:nvGrpSpPr>
          <p:cNvPr id="870" name="object 21"/>
          <p:cNvGrpSpPr/>
          <p:nvPr/>
        </p:nvGrpSpPr>
        <p:grpSpPr>
          <a:xfrm>
            <a:off x="4889160" y="1615680"/>
            <a:ext cx="2799000" cy="2507040"/>
            <a:chOff x="4889160" y="1615680"/>
            <a:chExt cx="2799000" cy="2507040"/>
          </a:xfrm>
        </p:grpSpPr>
        <p:sp>
          <p:nvSpPr>
            <p:cNvPr id="871" name="object 22"/>
            <p:cNvSpPr/>
            <p:nvPr/>
          </p:nvSpPr>
          <p:spPr>
            <a:xfrm>
              <a:off x="6233040" y="1656720"/>
              <a:ext cx="1445760" cy="360"/>
            </a:xfrm>
            <a:custGeom>
              <a:avLst/>
              <a:gdLst/>
              <a:ahLst/>
              <a:rect l="l" t="t" r="r" b="b"/>
              <a:pathLst>
                <a:path w="1449070" h="0">
                  <a:moveTo>
                    <a:pt x="1449000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872" name="object 23" descr=""/>
            <p:cNvPicPr/>
            <p:nvPr/>
          </p:nvPicPr>
          <p:blipFill>
            <a:blip r:embed="rId2"/>
            <a:stretch/>
          </p:blipFill>
          <p:spPr>
            <a:xfrm>
              <a:off x="6136920" y="1615680"/>
              <a:ext cx="102240" cy="788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873" name="object 24"/>
            <p:cNvSpPr/>
            <p:nvPr/>
          </p:nvSpPr>
          <p:spPr>
            <a:xfrm>
              <a:off x="4984920" y="2383560"/>
              <a:ext cx="2703240" cy="360"/>
            </a:xfrm>
            <a:custGeom>
              <a:avLst/>
              <a:gdLst/>
              <a:ahLst/>
              <a:rect l="l" t="t" r="r" b="b"/>
              <a:pathLst>
                <a:path w="2706370" h="0">
                  <a:moveTo>
                    <a:pt x="2706000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874" name="object 25" descr=""/>
            <p:cNvPicPr/>
            <p:nvPr/>
          </p:nvPicPr>
          <p:blipFill>
            <a:blip r:embed="rId3"/>
            <a:stretch/>
          </p:blipFill>
          <p:spPr>
            <a:xfrm>
              <a:off x="4889160" y="2342520"/>
              <a:ext cx="102240" cy="788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875" name="object 26"/>
            <p:cNvSpPr/>
            <p:nvPr/>
          </p:nvSpPr>
          <p:spPr>
            <a:xfrm>
              <a:off x="5078880" y="3476880"/>
              <a:ext cx="544680" cy="645840"/>
            </a:xfrm>
            <a:custGeom>
              <a:avLst/>
              <a:gdLst/>
              <a:ahLst/>
              <a:rect l="l" t="t" r="r" b="b"/>
              <a:pathLst>
                <a:path w="548004" h="648970">
                  <a:moveTo>
                    <a:pt x="547499" y="648599"/>
                  </a:moveTo>
                  <a:lnTo>
                    <a:pt x="547499" y="639628"/>
                  </a:lnTo>
                  <a:lnTo>
                    <a:pt x="0" y="639628"/>
                  </a:ln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876" name="object 27" descr=""/>
            <p:cNvPicPr/>
            <p:nvPr/>
          </p:nvPicPr>
          <p:blipFill>
            <a:blip r:embed="rId4"/>
            <a:stretch/>
          </p:blipFill>
          <p:spPr>
            <a:xfrm>
              <a:off x="5037840" y="3380760"/>
              <a:ext cx="78840" cy="1022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877" name="object 28"/>
          <p:cNvSpPr/>
          <p:nvPr/>
        </p:nvSpPr>
        <p:spPr>
          <a:xfrm>
            <a:off x="7773120" y="1415160"/>
            <a:ext cx="122472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16280" indent="-104040">
              <a:lnSpc>
                <a:spcPts val="165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Boolea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n</a:t>
            </a:r>
            <a:r>
              <a:rPr b="0" lang="fr-FR" sz="1400" spc="-8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AND  expression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878" name="object 31"/>
          <p:cNvSpPr/>
          <p:nvPr/>
        </p:nvSpPr>
        <p:spPr>
          <a:xfrm>
            <a:off x="8701560" y="4908600"/>
            <a:ext cx="2336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5194C8E3-97A2-4270-BAB2-164A312FAB71}" type="slidenum">
              <a:rPr b="0" lang="fr-FR" sz="800" spc="-9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879" name="object 29"/>
          <p:cNvSpPr/>
          <p:nvPr/>
        </p:nvSpPr>
        <p:spPr>
          <a:xfrm>
            <a:off x="7849800" y="2142360"/>
            <a:ext cx="114804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2600" indent="83880">
              <a:lnSpc>
                <a:spcPts val="165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Key-only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expression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880" name="object 30"/>
          <p:cNvSpPr/>
          <p:nvPr/>
        </p:nvSpPr>
        <p:spPr>
          <a:xfrm>
            <a:off x="5697000" y="3867480"/>
            <a:ext cx="204084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91440" indent="-79200">
              <a:lnSpc>
                <a:spcPts val="165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Set-based</a:t>
            </a:r>
            <a:r>
              <a:rPr b="0" lang="fr-FR" sz="1400" spc="-8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expression </a:t>
            </a:r>
            <a:r>
              <a:rPr b="0" lang="fr-FR" sz="1400" spc="-37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follows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Boolean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OR</a:t>
            </a:r>
            <a:endParaRPr b="0" lang="fr-FR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1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80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Label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Selection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in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YAML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Certain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objects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provide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label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selection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via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their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API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882" name="object 3"/>
          <p:cNvGrpSpPr/>
          <p:nvPr/>
        </p:nvGrpSpPr>
        <p:grpSpPr>
          <a:xfrm>
            <a:off x="463320" y="1323360"/>
            <a:ext cx="3615480" cy="2205360"/>
            <a:chOff x="463320" y="1323360"/>
            <a:chExt cx="3615480" cy="2205360"/>
          </a:xfrm>
        </p:grpSpPr>
        <p:pic>
          <p:nvPicPr>
            <p:cNvPr id="883" name="object 4" descr=""/>
            <p:cNvPicPr/>
            <p:nvPr/>
          </p:nvPicPr>
          <p:blipFill>
            <a:blip r:embed="rId1"/>
            <a:stretch/>
          </p:blipFill>
          <p:spPr>
            <a:xfrm>
              <a:off x="463320" y="1323360"/>
              <a:ext cx="3615480" cy="220536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884" name="object 5"/>
            <p:cNvSpPr/>
            <p:nvPr/>
          </p:nvSpPr>
          <p:spPr>
            <a:xfrm>
              <a:off x="516960" y="1371600"/>
              <a:ext cx="3501360" cy="2091600"/>
            </a:xfrm>
            <a:custGeom>
              <a:avLst/>
              <a:gdLst/>
              <a:ahLst/>
              <a:rect l="l" t="t" r="r" b="b"/>
              <a:pathLst>
                <a:path w="3504565" h="2094864">
                  <a:moveTo>
                    <a:pt x="3504300" y="2094300"/>
                  </a:moveTo>
                  <a:lnTo>
                    <a:pt x="0" y="2094300"/>
                  </a:lnTo>
                  <a:lnTo>
                    <a:pt x="0" y="0"/>
                  </a:lnTo>
                  <a:lnTo>
                    <a:pt x="3504300" y="0"/>
                  </a:lnTo>
                  <a:lnTo>
                    <a:pt x="3504300" y="2094300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885" name="object 6"/>
          <p:cNvSpPr/>
          <p:nvPr/>
        </p:nvSpPr>
        <p:spPr>
          <a:xfrm>
            <a:off x="681840" y="1477440"/>
            <a:ext cx="3192120" cy="100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apiVersion:</a:t>
            </a:r>
            <a:r>
              <a:rPr b="1" lang="fr-FR" sz="1300" spc="-80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networking.k8s.io/v1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NetworkPolicy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metadata:</a:t>
            </a:r>
            <a:endParaRPr b="0" lang="fr-FR" sz="1300" spc="-1" strike="noStrike">
              <a:latin typeface="Arial"/>
            </a:endParaRPr>
          </a:p>
          <a:p>
            <a:pPr marL="20700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frontend-network-policy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spec: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886" name="object 7"/>
          <p:cNvSpPr/>
          <p:nvPr/>
        </p:nvSpPr>
        <p:spPr>
          <a:xfrm>
            <a:off x="854640" y="2496600"/>
            <a:ext cx="1915560" cy="59112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33480">
              <a:lnSpc>
                <a:spcPts val="1511"/>
              </a:lnSpc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podSelector:</a:t>
            </a:r>
            <a:endParaRPr b="0" lang="fr-FR" sz="1300" spc="-1" strike="noStrike">
              <a:latin typeface="Arial"/>
            </a:endParaRPr>
          </a:p>
          <a:p>
            <a:pPr marL="422280" indent="-195120">
              <a:lnSpc>
                <a:spcPct val="101000"/>
              </a:lnSpc>
              <a:buNone/>
              <a:tabLst>
                <a:tab algn="l" pos="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matchLabels: </a:t>
            </a:r>
            <a:r>
              <a:rPr b="1" lang="fr-FR" sz="1300" spc="-1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tier:</a:t>
            </a:r>
            <a:r>
              <a:rPr b="1" lang="fr-FR" sz="1300" spc="-97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frontend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887" name="object 8"/>
          <p:cNvSpPr/>
          <p:nvPr/>
        </p:nvSpPr>
        <p:spPr>
          <a:xfrm>
            <a:off x="681840" y="3077640"/>
            <a:ext cx="31932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888" name="object 12"/>
          <p:cNvSpPr/>
          <p:nvPr/>
        </p:nvSpPr>
        <p:spPr>
          <a:xfrm>
            <a:off x="8701560" y="4908600"/>
            <a:ext cx="2336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4A5CA585-A76D-43DF-B136-47C76FA71BF2}" type="slidenum">
              <a:rPr b="0" lang="fr-FR" sz="800" spc="-9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52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5" strike="noStrike">
                <a:solidFill>
                  <a:srgbClr val="000000"/>
                </a:solidFill>
                <a:latin typeface="Tahoma"/>
              </a:rPr>
              <a:t>What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is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1" strike="noStrike">
                <a:solidFill>
                  <a:srgbClr val="000000"/>
                </a:solidFill>
                <a:latin typeface="Tahoma"/>
              </a:rPr>
              <a:t>an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" strike="noStrike">
                <a:solidFill>
                  <a:srgbClr val="000000"/>
                </a:solidFill>
                <a:latin typeface="Tahoma"/>
              </a:rPr>
              <a:t>Annotation?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Descriptive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6" strike="noStrike">
                <a:solidFill>
                  <a:srgbClr val="666666"/>
                </a:solidFill>
                <a:latin typeface="Lucida Sans Unicode"/>
              </a:rPr>
              <a:t>metadata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without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ability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0" strike="noStrike">
                <a:solidFill>
                  <a:srgbClr val="666666"/>
                </a:solidFill>
                <a:latin typeface="Lucida Sans Unicode"/>
              </a:rPr>
              <a:t>be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queryable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890" name="object 4"/>
          <p:cNvSpPr/>
          <p:nvPr/>
        </p:nvSpPr>
        <p:spPr>
          <a:xfrm>
            <a:off x="8701560" y="4908600"/>
            <a:ext cx="2336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3B531F93-E43A-4082-9428-2FDF9767EB84}" type="slidenum">
              <a:rPr b="0" lang="fr-FR" sz="800" spc="-9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891" name="object 3"/>
          <p:cNvSpPr/>
          <p:nvPr/>
        </p:nvSpPr>
        <p:spPr>
          <a:xfrm>
            <a:off x="600120" y="1360440"/>
            <a:ext cx="8037720" cy="223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Key-value pairs for providing descriptive, human-readable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metadata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assigned to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Kubernete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object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wit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h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th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imperativ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annotatio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  <a:ea typeface="DejaVu Sans"/>
              </a:rPr>
              <a:t>n</a:t>
            </a:r>
            <a:r>
              <a:rPr b="0" lang="fr-FR" sz="1600" spc="-670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command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o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usin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g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the 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metadata.annotations[]</a:t>
            </a:r>
            <a:r>
              <a:rPr b="0" lang="fr-FR" sz="1600" spc="-85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attribute.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1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Cannot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be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used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querying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or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selecting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objects.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Make sure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 put 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value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 an annotation into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single-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or double-quotes if it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contains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special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characters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spaces.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4903560" cy="1276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" strike="noStrike">
                <a:solidFill>
                  <a:srgbClr val="000000"/>
                </a:solidFill>
                <a:latin typeface="Tahoma"/>
              </a:rPr>
              <a:t>Example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Annotations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Pod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three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key-value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pairs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893" name="object 3" descr=""/>
          <p:cNvPicPr/>
          <p:nvPr/>
        </p:nvPicPr>
        <p:blipFill>
          <a:blip r:embed="rId1"/>
          <a:stretch/>
        </p:blipFill>
        <p:spPr>
          <a:xfrm>
            <a:off x="3112920" y="1749960"/>
            <a:ext cx="2828160" cy="2468880"/>
          </a:xfrm>
          <a:prstGeom prst="rect">
            <a:avLst/>
          </a:prstGeom>
          <a:ln w="0">
            <a:noFill/>
          </a:ln>
        </p:spPr>
      </p:pic>
      <p:sp>
        <p:nvSpPr>
          <p:cNvPr id="894" name="object 4"/>
          <p:cNvSpPr/>
          <p:nvPr/>
        </p:nvSpPr>
        <p:spPr>
          <a:xfrm>
            <a:off x="8701560" y="4908600"/>
            <a:ext cx="2336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185EDCA6-404D-4741-9509-280A7215B24C}" type="slidenum">
              <a:rPr b="0" lang="fr-FR" sz="800" spc="-9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647560" cy="1276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Assigning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Annotations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52" strike="noStrike">
                <a:solidFill>
                  <a:srgbClr val="000000"/>
                </a:solidFill>
                <a:latin typeface="Tahoma"/>
              </a:rPr>
              <a:t>with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Imperative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60" strike="noStrike">
                <a:solidFill>
                  <a:srgbClr val="000000"/>
                </a:solidFill>
                <a:latin typeface="Tahoma"/>
              </a:rPr>
              <a:t>Approach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annotation</a:t>
            </a:r>
            <a:r>
              <a:rPr b="0" lang="fr-FR" sz="1600" spc="-687" strike="noStrike">
                <a:solidFill>
                  <a:srgbClr val="666666"/>
                </a:solidFill>
                <a:latin typeface="Courier New"/>
              </a:rPr>
              <a:t> </a:t>
            </a:r>
            <a:r>
              <a:rPr b="0" lang="fr-FR" sz="1600" spc="89" strike="noStrike">
                <a:solidFill>
                  <a:srgbClr val="666666"/>
                </a:solidFill>
                <a:latin typeface="Lucida Sans Unicode"/>
              </a:rPr>
              <a:t>command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lets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you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9" strike="noStrike">
                <a:solidFill>
                  <a:srgbClr val="666666"/>
                </a:solidFill>
                <a:latin typeface="Lucida Sans Unicode"/>
              </a:rPr>
              <a:t>add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or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remove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one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or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6" strike="noStrike">
                <a:solidFill>
                  <a:srgbClr val="666666"/>
                </a:solidFill>
                <a:latin typeface="Lucida Sans Unicode"/>
              </a:rPr>
              <a:t>many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annotations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896" name="object 3"/>
          <p:cNvGrpSpPr/>
          <p:nvPr/>
        </p:nvGrpSpPr>
        <p:grpSpPr>
          <a:xfrm>
            <a:off x="482040" y="1366200"/>
            <a:ext cx="6337080" cy="2615400"/>
            <a:chOff x="482040" y="1366200"/>
            <a:chExt cx="6337080" cy="2615400"/>
          </a:xfrm>
        </p:grpSpPr>
        <p:pic>
          <p:nvPicPr>
            <p:cNvPr id="897" name="object 4" descr=""/>
            <p:cNvPicPr/>
            <p:nvPr/>
          </p:nvPicPr>
          <p:blipFill>
            <a:blip r:embed="rId1"/>
            <a:stretch/>
          </p:blipFill>
          <p:spPr>
            <a:xfrm>
              <a:off x="482040" y="1366200"/>
              <a:ext cx="6337080" cy="26154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898" name="object 5"/>
            <p:cNvSpPr/>
            <p:nvPr/>
          </p:nvSpPr>
          <p:spPr>
            <a:xfrm>
              <a:off x="535680" y="1414440"/>
              <a:ext cx="6222960" cy="2501280"/>
            </a:xfrm>
            <a:custGeom>
              <a:avLst/>
              <a:gdLst/>
              <a:ahLst/>
              <a:rect l="l" t="t" r="r" b="b"/>
              <a:pathLst>
                <a:path w="6226175" h="2504440">
                  <a:moveTo>
                    <a:pt x="6225900" y="2504399"/>
                  </a:moveTo>
                  <a:lnTo>
                    <a:pt x="0" y="2504399"/>
                  </a:lnTo>
                  <a:lnTo>
                    <a:pt x="0" y="0"/>
                  </a:lnTo>
                  <a:lnTo>
                    <a:pt x="6225900" y="0"/>
                  </a:lnTo>
                  <a:lnTo>
                    <a:pt x="6225900" y="25043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899" name="object 6"/>
          <p:cNvSpPr/>
          <p:nvPr/>
        </p:nvSpPr>
        <p:spPr>
          <a:xfrm>
            <a:off x="3350880" y="1540080"/>
            <a:ext cx="3291120" cy="21276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30600" bIns="0" anchor="t">
            <a:spAutoFit/>
          </a:bodyPr>
          <a:p>
            <a:pPr marL="38880">
              <a:lnSpc>
                <a:spcPct val="100000"/>
              </a:lnSpc>
              <a:spcBef>
                <a:spcPts val="241"/>
              </a:spcBef>
              <a:buNone/>
            </a:pP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commit='866a8dc'</a:t>
            </a:r>
            <a:r>
              <a:rPr b="1" lang="fr-FR" sz="12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branch='bm/bugfix'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900" name="object 7"/>
          <p:cNvSpPr/>
          <p:nvPr/>
        </p:nvSpPr>
        <p:spPr>
          <a:xfrm>
            <a:off x="725400" y="1558440"/>
            <a:ext cx="2582640" cy="3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429"/>
              </a:lnSpc>
              <a:spcBef>
                <a:spcPts val="99"/>
              </a:spcBef>
              <a:buNone/>
            </a:pPr>
            <a:r>
              <a:rPr b="1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annotate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pod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nginx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34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pod/nginx</a:t>
            </a:r>
            <a:r>
              <a:rPr b="0" lang="fr-FR" sz="12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annotated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901" name="object 8"/>
          <p:cNvSpPr/>
          <p:nvPr/>
        </p:nvSpPr>
        <p:spPr>
          <a:xfrm>
            <a:off x="725400" y="2101320"/>
            <a:ext cx="276552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describe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pods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my-pod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902" name="object 9"/>
          <p:cNvSpPr/>
          <p:nvPr/>
        </p:nvSpPr>
        <p:spPr>
          <a:xfrm>
            <a:off x="725400" y="2282040"/>
            <a:ext cx="111960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Annotations: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903" name="object 10"/>
          <p:cNvSpPr/>
          <p:nvPr/>
        </p:nvSpPr>
        <p:spPr>
          <a:xfrm>
            <a:off x="2005560" y="2282040"/>
            <a:ext cx="1576800" cy="38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9800" bIns="0" anchor="t">
            <a:spAutoFit/>
          </a:bodyPr>
          <a:p>
            <a:pPr marL="12600" indent="-720">
              <a:lnSpc>
                <a:spcPts val="1429"/>
              </a:lnSpc>
              <a:spcBef>
                <a:spcPts val="156"/>
              </a:spcBef>
              <a:buNone/>
              <a:tabLst>
                <a:tab algn="l" pos="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branch:</a:t>
            </a:r>
            <a:r>
              <a:rPr b="0" lang="fr-FR" sz="1200" spc="-9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bm/bugfix </a:t>
            </a:r>
            <a:r>
              <a:rPr b="0" lang="fr-FR" sz="1200" spc="-707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commit:</a:t>
            </a:r>
            <a:r>
              <a:rPr b="0" lang="fr-FR" sz="12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866a8dc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904" name="object 11"/>
          <p:cNvSpPr/>
          <p:nvPr/>
        </p:nvSpPr>
        <p:spPr>
          <a:xfrm>
            <a:off x="725400" y="2825280"/>
            <a:ext cx="258264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annotate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pod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nginx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905" name="object 12"/>
          <p:cNvSpPr/>
          <p:nvPr/>
        </p:nvSpPr>
        <p:spPr>
          <a:xfrm>
            <a:off x="3350880" y="2796840"/>
            <a:ext cx="751320" cy="22284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40680" bIns="0" anchor="t">
            <a:spAutoFit/>
          </a:bodyPr>
          <a:p>
            <a:pPr marL="38880">
              <a:lnSpc>
                <a:spcPct val="100000"/>
              </a:lnSpc>
              <a:spcBef>
                <a:spcPts val="320"/>
              </a:spcBef>
              <a:buNone/>
            </a:pP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commit-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906" name="object 13"/>
          <p:cNvSpPr/>
          <p:nvPr/>
        </p:nvSpPr>
        <p:spPr>
          <a:xfrm>
            <a:off x="725400" y="3006000"/>
            <a:ext cx="175968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pod/nginx</a:t>
            </a:r>
            <a:r>
              <a:rPr b="0" lang="fr-FR" sz="1200" spc="-8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annotated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907" name="object 14"/>
          <p:cNvSpPr/>
          <p:nvPr/>
        </p:nvSpPr>
        <p:spPr>
          <a:xfrm>
            <a:off x="725400" y="3368160"/>
            <a:ext cx="2856960" cy="37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434"/>
              </a:lnSpc>
              <a:spcBef>
                <a:spcPts val="99"/>
              </a:spcBef>
              <a:buNone/>
            </a:pPr>
            <a:r>
              <a:rPr b="1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describe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pods</a:t>
            </a:r>
            <a:r>
              <a:rPr b="1" lang="fr-FR" sz="12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my-pod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34"/>
              </a:lnSpc>
              <a:buNone/>
              <a:tabLst>
                <a:tab algn="l" pos="129240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Annotations: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branch:</a:t>
            </a:r>
            <a:r>
              <a:rPr b="0" lang="fr-FR" sz="1200" spc="-8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bm/bugfix</a:t>
            </a:r>
            <a:endParaRPr b="0" lang="fr-FR" sz="1200" spc="-1" strike="noStrike">
              <a:latin typeface="Arial"/>
            </a:endParaRPr>
          </a:p>
        </p:txBody>
      </p:sp>
      <p:grpSp>
        <p:nvGrpSpPr>
          <p:cNvPr id="908" name="object 15"/>
          <p:cNvGrpSpPr/>
          <p:nvPr/>
        </p:nvGrpSpPr>
        <p:grpSpPr>
          <a:xfrm>
            <a:off x="4284720" y="1648440"/>
            <a:ext cx="3019320" cy="1321200"/>
            <a:chOff x="4284720" y="1648440"/>
            <a:chExt cx="3019320" cy="1321200"/>
          </a:xfrm>
        </p:grpSpPr>
        <p:sp>
          <p:nvSpPr>
            <p:cNvPr id="909" name="object 16"/>
            <p:cNvSpPr/>
            <p:nvPr/>
          </p:nvSpPr>
          <p:spPr>
            <a:xfrm>
              <a:off x="6918480" y="1685880"/>
              <a:ext cx="385560" cy="720"/>
            </a:xfrm>
            <a:custGeom>
              <a:avLst/>
              <a:gdLst/>
              <a:ahLst/>
              <a:rect l="l" t="t" r="r" b="b"/>
              <a:pathLst>
                <a:path w="388620" h="3810">
                  <a:moveTo>
                    <a:pt x="388204" y="0"/>
                  </a:moveTo>
                  <a:lnTo>
                    <a:pt x="0" y="3476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910" name="object 17" descr=""/>
            <p:cNvPicPr/>
            <p:nvPr/>
          </p:nvPicPr>
          <p:blipFill>
            <a:blip r:embed="rId2"/>
            <a:stretch/>
          </p:blipFill>
          <p:spPr>
            <a:xfrm>
              <a:off x="6822360" y="1648440"/>
              <a:ext cx="102600" cy="788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911" name="object 18"/>
            <p:cNvSpPr/>
            <p:nvPr/>
          </p:nvSpPr>
          <p:spPr>
            <a:xfrm>
              <a:off x="4380840" y="2931840"/>
              <a:ext cx="2818080" cy="5760"/>
            </a:xfrm>
            <a:custGeom>
              <a:avLst/>
              <a:gdLst/>
              <a:ahLst/>
              <a:rect l="l" t="t" r="r" b="b"/>
              <a:pathLst>
                <a:path w="2821304" h="8889">
                  <a:moveTo>
                    <a:pt x="2820900" y="8649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912" name="object 19" descr=""/>
            <p:cNvPicPr/>
            <p:nvPr/>
          </p:nvPicPr>
          <p:blipFill>
            <a:blip r:embed="rId3"/>
            <a:stretch/>
          </p:blipFill>
          <p:spPr>
            <a:xfrm>
              <a:off x="4284720" y="2890800"/>
              <a:ext cx="102240" cy="788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913" name="object 20"/>
          <p:cNvSpPr/>
          <p:nvPr/>
        </p:nvSpPr>
        <p:spPr>
          <a:xfrm>
            <a:off x="7406280" y="1444680"/>
            <a:ext cx="1411560" cy="64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95120" indent="-163080">
              <a:lnSpc>
                <a:spcPts val="165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Declares</a:t>
            </a:r>
            <a:r>
              <a:rPr b="0" lang="fr-FR" sz="1400" spc="-9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three </a:t>
            </a:r>
            <a:r>
              <a:rPr b="0" lang="fr-FR" sz="1400" spc="-37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annotation</a:t>
            </a:r>
            <a:endParaRPr b="0" lang="fr-FR" sz="1400" spc="-1" strike="noStrike">
              <a:latin typeface="Arial"/>
            </a:endParaRPr>
          </a:p>
          <a:p>
            <a:pPr marL="12600" indent="-163080">
              <a:lnSpc>
                <a:spcPts val="1599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key-value</a:t>
            </a:r>
            <a:r>
              <a:rPr b="0" lang="fr-FR" sz="1400" spc="-80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pairs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914" name="object 22"/>
          <p:cNvSpPr/>
          <p:nvPr/>
        </p:nvSpPr>
        <p:spPr>
          <a:xfrm>
            <a:off x="8701560" y="4908600"/>
            <a:ext cx="2336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CD38E6BA-0C01-4A02-9374-8711D874A916}" type="slidenum">
              <a:rPr b="0" lang="fr-FR" sz="800" spc="-9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915" name="object 21"/>
          <p:cNvSpPr/>
          <p:nvPr/>
        </p:nvSpPr>
        <p:spPr>
          <a:xfrm>
            <a:off x="7201080" y="2573280"/>
            <a:ext cx="1796760" cy="65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2240" indent="-1440" algn="ctr">
              <a:lnSpc>
                <a:spcPts val="165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Removes the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annotation</a:t>
            </a:r>
            <a:r>
              <a:rPr b="0" lang="fr-FR" sz="1400" spc="-5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with</a:t>
            </a:r>
            <a:r>
              <a:rPr b="0" lang="fr-FR" sz="1400" spc="-4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key </a:t>
            </a:r>
            <a:r>
              <a:rPr b="0" lang="fr-FR" sz="1400" spc="-37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commit</a:t>
            </a:r>
            <a:endParaRPr b="0" lang="fr-FR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42356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Assigning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Annotations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in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YAML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Manifest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89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0" strike="noStrike">
                <a:solidFill>
                  <a:srgbClr val="666666"/>
                </a:solidFill>
                <a:latin typeface="Lucida Sans Unicode"/>
              </a:rPr>
              <a:t>be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provided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6" strike="noStrike">
                <a:solidFill>
                  <a:srgbClr val="666666"/>
                </a:solidFill>
                <a:latin typeface="Lucida Sans Unicode"/>
              </a:rPr>
              <a:t>new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object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or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modified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live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object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917" name="object 8"/>
          <p:cNvSpPr/>
          <p:nvPr/>
        </p:nvSpPr>
        <p:spPr>
          <a:xfrm>
            <a:off x="8701560" y="4908600"/>
            <a:ext cx="2336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81C23206-8805-4BDA-A2DE-EB0D569F02C4}" type="slidenum">
              <a:rPr b="0" lang="fr-FR" sz="800" spc="-9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918" name="" descr=""/>
          <p:cNvPicPr/>
          <p:nvPr/>
        </p:nvPicPr>
        <p:blipFill>
          <a:blip r:embed="rId1"/>
          <a:stretch/>
        </p:blipFill>
        <p:spPr>
          <a:xfrm>
            <a:off x="504000" y="1432800"/>
            <a:ext cx="7071120" cy="2525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88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Well-Known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Annotations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1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Lucida Sans Unicode"/>
                <a:hlinkClick r:id="rId1"/>
              </a:rPr>
              <a:t>Reserved</a:t>
            </a:r>
            <a:r>
              <a:rPr b="0" lang="fr-FR" sz="1600" spc="-72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Lucida Sans Unicode"/>
                <a:hlinkClick r:id="rId2"/>
              </a:rPr>
              <a:t> </a:t>
            </a:r>
            <a:r>
              <a:rPr b="0" lang="fr-FR" sz="1600" spc="15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Lucida Sans Unicode"/>
                <a:hlinkClick r:id="rId3"/>
              </a:rPr>
              <a:t>annotations</a:t>
            </a:r>
            <a:r>
              <a:rPr b="0" lang="fr-FR" sz="1600" spc="-75" strike="noStrike" u="sng">
                <a:solidFill>
                  <a:srgbClr val="0000ff"/>
                </a:solidFill>
                <a:uFillTx/>
                <a:latin typeface="Lucida Sans Unicode"/>
                <a:hlinkClick r:id="rId4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that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11" strike="noStrike">
                <a:solidFill>
                  <a:srgbClr val="666666"/>
                </a:solidFill>
                <a:latin typeface="Lucida Sans Unicode"/>
              </a:rPr>
              <a:t>may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influence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runtime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treatment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920" name="object 10"/>
          <p:cNvSpPr/>
          <p:nvPr/>
        </p:nvSpPr>
        <p:spPr>
          <a:xfrm>
            <a:off x="8701560" y="4908600"/>
            <a:ext cx="2336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DA032DD7-E434-40DD-995C-9153FE68AADC}" type="slidenum">
              <a:rPr b="0" lang="fr-FR" sz="800" spc="-9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921" name="" descr=""/>
          <p:cNvPicPr/>
          <p:nvPr/>
        </p:nvPicPr>
        <p:blipFill>
          <a:blip r:embed="rId5"/>
          <a:stretch/>
        </p:blipFill>
        <p:spPr>
          <a:xfrm>
            <a:off x="494280" y="1260000"/>
            <a:ext cx="7366320" cy="3481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object 2"/>
          <p:cNvSpPr/>
          <p:nvPr/>
        </p:nvSpPr>
        <p:spPr>
          <a:xfrm>
            <a:off x="494280" y="371880"/>
            <a:ext cx="128268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2400" spc="-15" strike="noStrike">
                <a:solidFill>
                  <a:srgbClr val="000000"/>
                </a:solidFill>
                <a:latin typeface="Tahoma"/>
                <a:ea typeface="DejaVu Sans"/>
              </a:rPr>
              <a:t>Lab 06</a:t>
            </a:r>
            <a:endParaRPr b="0" lang="fr-FR" sz="2400" spc="-1" strike="noStrike">
              <a:latin typeface="Arial"/>
            </a:endParaRPr>
          </a:p>
        </p:txBody>
      </p:sp>
      <p:sp>
        <p:nvSpPr>
          <p:cNvPr id="923" name="object 3"/>
          <p:cNvSpPr/>
          <p:nvPr/>
        </p:nvSpPr>
        <p:spPr>
          <a:xfrm>
            <a:off x="494280" y="1323360"/>
            <a:ext cx="3283560" cy="101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14000"/>
              </a:lnSpc>
              <a:spcBef>
                <a:spcPts val="99"/>
              </a:spcBef>
              <a:buNone/>
            </a:pP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Using</a:t>
            </a:r>
            <a:r>
              <a:rPr b="0" lang="fr-FR" sz="2900" spc="-5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Labels</a:t>
            </a:r>
            <a:r>
              <a:rPr b="0" lang="fr-FR" sz="2900" spc="-5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and </a:t>
            </a:r>
            <a:r>
              <a:rPr b="0" lang="fr-FR" sz="2900" spc="-79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Annotations</a:t>
            </a:r>
            <a:endParaRPr b="0" lang="fr-FR" sz="2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4" name="object 2" descr=""/>
          <p:cNvPicPr/>
          <p:nvPr/>
        </p:nvPicPr>
        <p:blipFill>
          <a:blip r:embed="rId1"/>
          <a:stretch/>
        </p:blipFill>
        <p:spPr>
          <a:xfrm>
            <a:off x="0" y="0"/>
            <a:ext cx="9140760" cy="5140080"/>
          </a:xfrm>
          <a:prstGeom prst="rect">
            <a:avLst/>
          </a:prstGeom>
          <a:ln w="0">
            <a:noFill/>
          </a:ln>
        </p:spPr>
      </p:pic>
      <p:sp>
        <p:nvSpPr>
          <p:cNvPr id="925" name="PlaceHolder 1"/>
          <p:cNvSpPr>
            <a:spLocks noGrp="1"/>
          </p:cNvSpPr>
          <p:nvPr>
            <p:ph type="title"/>
          </p:nvPr>
        </p:nvSpPr>
        <p:spPr>
          <a:xfrm>
            <a:off x="494280" y="1767960"/>
            <a:ext cx="3643560" cy="2511360"/>
          </a:xfrm>
          <a:prstGeom prst="rect">
            <a:avLst/>
          </a:prstGeom>
          <a:noFill/>
          <a:ln w="0">
            <a:noFill/>
          </a:ln>
        </p:spPr>
        <p:txBody>
          <a:bodyPr lIns="0" rIns="0" tIns="12600" bIns="0" anchor="t">
            <a:noAutofit/>
          </a:bodyPr>
          <a:p>
            <a:pPr marL="12600">
              <a:lnSpc>
                <a:spcPct val="114000"/>
              </a:lnSpc>
              <a:spcBef>
                <a:spcPts val="99"/>
              </a:spcBef>
              <a:buNone/>
            </a:pPr>
            <a:r>
              <a:rPr b="1" lang="fr-FR" sz="3600" spc="26" strike="noStrike">
                <a:solidFill>
                  <a:srgbClr val="ffffff"/>
                </a:solidFill>
                <a:latin typeface="Tahoma"/>
              </a:rPr>
              <a:t>Application</a:t>
            </a:r>
            <a:r>
              <a:rPr b="1" lang="fr-FR" sz="3600" spc="29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600" spc="15" strike="noStrike">
                <a:solidFill>
                  <a:srgbClr val="ffffff"/>
                </a:solidFill>
                <a:latin typeface="Tahoma"/>
              </a:rPr>
              <a:t>Deployment</a:t>
            </a:r>
            <a:endParaRPr b="0" lang="fr-FR" sz="3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6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98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5" strike="noStrike">
                <a:solidFill>
                  <a:srgbClr val="000000"/>
                </a:solidFill>
                <a:latin typeface="Tahoma"/>
              </a:rPr>
              <a:t>What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is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Deployment?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Scaling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replication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features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set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Pods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927" name="object 4"/>
          <p:cNvSpPr/>
          <p:nvPr/>
        </p:nvSpPr>
        <p:spPr>
          <a:xfrm>
            <a:off x="8701560" y="4908600"/>
            <a:ext cx="2343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BC6F0325-F79D-4BB9-985E-EB00CB0D5E7F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928" name="object 3"/>
          <p:cNvSpPr/>
          <p:nvPr/>
        </p:nvSpPr>
        <p:spPr>
          <a:xfrm>
            <a:off x="600120" y="1360440"/>
            <a:ext cx="8217720" cy="196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5000" bIns="0" anchor="t">
            <a:spAutoFit/>
          </a:bodyPr>
          <a:p>
            <a:pPr marL="363960" indent="-351720">
              <a:lnSpc>
                <a:spcPct val="100000"/>
              </a:lnSpc>
              <a:spcBef>
                <a:spcPts val="354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Controls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predefined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number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Pods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with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same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configuration,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so-called</a:t>
            </a:r>
            <a:endParaRPr b="0" lang="fr-FR" sz="1600" spc="-1" strike="noStrike">
              <a:latin typeface="Arial"/>
            </a:endParaRPr>
          </a:p>
          <a:p>
            <a:pPr marL="363960">
              <a:lnSpc>
                <a:spcPct val="100000"/>
              </a:lnSpc>
              <a:spcBef>
                <a:spcPts val="255"/>
              </a:spcBef>
              <a:buNone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replicas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.</a:t>
            </a:r>
            <a:endParaRPr b="0" lang="fr-FR" sz="1600" spc="-1" strike="noStrike">
              <a:latin typeface="Arial"/>
            </a:endParaRPr>
          </a:p>
          <a:p>
            <a:pPr marL="363960">
              <a:lnSpc>
                <a:spcPct val="100000"/>
              </a:lnSpc>
              <a:spcBef>
                <a:spcPts val="14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number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replicas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scaled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up 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down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 fulfill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load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requirements.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Updates to 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replica configuration can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be updated easily and is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rolled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out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automatically.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08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" strike="noStrike">
                <a:solidFill>
                  <a:srgbClr val="000000"/>
                </a:solidFill>
                <a:latin typeface="Tahoma"/>
              </a:rPr>
              <a:t>Example</a:t>
            </a:r>
            <a:r>
              <a:rPr b="1" lang="fr-FR" sz="2400" spc="-16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" strike="noStrike">
                <a:solidFill>
                  <a:srgbClr val="000000"/>
                </a:solidFill>
                <a:latin typeface="Tahoma"/>
              </a:rPr>
              <a:t>Deployment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Deployment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that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controls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three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replicas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930" name="object 3" descr=""/>
          <p:cNvPicPr/>
          <p:nvPr/>
        </p:nvPicPr>
        <p:blipFill>
          <a:blip r:embed="rId1"/>
          <a:stretch/>
        </p:blipFill>
        <p:spPr>
          <a:xfrm>
            <a:off x="2568600" y="1735920"/>
            <a:ext cx="4003200" cy="2653920"/>
          </a:xfrm>
          <a:prstGeom prst="rect">
            <a:avLst/>
          </a:prstGeom>
          <a:ln w="0">
            <a:noFill/>
          </a:ln>
        </p:spPr>
      </p:pic>
      <p:sp>
        <p:nvSpPr>
          <p:cNvPr id="931" name="object 4"/>
          <p:cNvSpPr/>
          <p:nvPr/>
        </p:nvSpPr>
        <p:spPr>
          <a:xfrm>
            <a:off x="8701560" y="4908600"/>
            <a:ext cx="2343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21CA3220-6427-4A0D-BACC-7C516DEB4B52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86356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9" strike="noStrike">
                <a:solidFill>
                  <a:srgbClr val="000000"/>
                </a:solidFill>
                <a:latin typeface="Tahoma"/>
              </a:rPr>
              <a:t>Creating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" strike="noStrike">
                <a:solidFill>
                  <a:srgbClr val="000000"/>
                </a:solidFill>
                <a:latin typeface="Tahoma"/>
              </a:rPr>
              <a:t>Deployment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52" strike="noStrike">
                <a:solidFill>
                  <a:srgbClr val="000000"/>
                </a:solidFill>
                <a:latin typeface="Tahoma"/>
              </a:rPr>
              <a:t>with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Imperative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60" strike="noStrike">
                <a:solidFill>
                  <a:srgbClr val="000000"/>
                </a:solidFill>
                <a:latin typeface="Tahoma"/>
              </a:rPr>
              <a:t>Approach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Creates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objects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Deployment,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ReplicaSet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2" strike="noStrike">
                <a:solidFill>
                  <a:srgbClr val="666666"/>
                </a:solidFill>
                <a:latin typeface="Lucida Sans Unicode"/>
              </a:rPr>
              <a:t>Pod(s)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933" name="object 3"/>
          <p:cNvGrpSpPr/>
          <p:nvPr/>
        </p:nvGrpSpPr>
        <p:grpSpPr>
          <a:xfrm>
            <a:off x="483840" y="1368360"/>
            <a:ext cx="4061880" cy="1519200"/>
            <a:chOff x="483840" y="1368360"/>
            <a:chExt cx="4061880" cy="1519200"/>
          </a:xfrm>
        </p:grpSpPr>
        <p:pic>
          <p:nvPicPr>
            <p:cNvPr id="934" name="object 4" descr=""/>
            <p:cNvPicPr/>
            <p:nvPr/>
          </p:nvPicPr>
          <p:blipFill>
            <a:blip r:embed="rId1"/>
            <a:stretch/>
          </p:blipFill>
          <p:spPr>
            <a:xfrm>
              <a:off x="483840" y="1368360"/>
              <a:ext cx="4061880" cy="15192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935" name="object 5"/>
            <p:cNvSpPr/>
            <p:nvPr/>
          </p:nvSpPr>
          <p:spPr>
            <a:xfrm>
              <a:off x="537480" y="1416600"/>
              <a:ext cx="3947760" cy="1405080"/>
            </a:xfrm>
            <a:custGeom>
              <a:avLst/>
              <a:gdLst/>
              <a:ahLst/>
              <a:rect l="l" t="t" r="r" b="b"/>
              <a:pathLst>
                <a:path w="3950970" h="1408430">
                  <a:moveTo>
                    <a:pt x="3950699" y="1408199"/>
                  </a:moveTo>
                  <a:lnTo>
                    <a:pt x="0" y="1408199"/>
                  </a:lnTo>
                  <a:lnTo>
                    <a:pt x="0" y="0"/>
                  </a:lnTo>
                  <a:lnTo>
                    <a:pt x="3950699" y="0"/>
                  </a:lnTo>
                  <a:lnTo>
                    <a:pt x="3950699" y="14081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936" name="object 6"/>
          <p:cNvSpPr/>
          <p:nvPr/>
        </p:nvSpPr>
        <p:spPr>
          <a:xfrm>
            <a:off x="699840" y="1576800"/>
            <a:ext cx="3078000" cy="64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226080" indent="-213480">
              <a:lnSpc>
                <a:spcPts val="165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 create deployment</a:t>
            </a:r>
            <a:r>
              <a:rPr b="0" lang="fr-FR" sz="1400" spc="-7" strike="noStrike">
                <a:solidFill>
                  <a:srgbClr val="000000"/>
                </a:solidFill>
                <a:latin typeface="MS Gothic"/>
                <a:ea typeface="DejaVu Sans"/>
              </a:rPr>
              <a:t>↵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my-deploy</a:t>
            </a:r>
            <a:r>
              <a:rPr b="0" lang="fr-FR" sz="1400" spc="-7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400" spc="-1" strike="noStrike">
              <a:latin typeface="Arial"/>
            </a:endParaRPr>
          </a:p>
          <a:p>
            <a:pPr marL="226080" indent="-213480">
              <a:lnSpc>
                <a:spcPts val="1599"/>
              </a:lnSpc>
              <a:buNone/>
              <a:tabLst>
                <a:tab algn="l" pos="0"/>
              </a:tabLst>
            </a:pP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--image=nginx:1.14.2</a:t>
            </a:r>
            <a:r>
              <a:rPr b="0" lang="fr-FR" sz="1400" spc="-7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937" name="object 7"/>
          <p:cNvSpPr/>
          <p:nvPr/>
        </p:nvSpPr>
        <p:spPr>
          <a:xfrm>
            <a:off x="893520" y="2222280"/>
            <a:ext cx="1383120" cy="20916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31680">
              <a:lnSpc>
                <a:spcPts val="1650"/>
              </a:lnSpc>
              <a:buNone/>
            </a:pP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--replicas=3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938" name="object 8"/>
          <p:cNvSpPr/>
          <p:nvPr/>
        </p:nvSpPr>
        <p:spPr>
          <a:xfrm>
            <a:off x="699840" y="2414880"/>
            <a:ext cx="35427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deployment.apps/my-deploy</a:t>
            </a:r>
            <a:r>
              <a:rPr b="0" lang="fr-FR" sz="1400" spc="-80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400" spc="-1" strike="noStrike">
              <a:latin typeface="Arial"/>
            </a:endParaRPr>
          </a:p>
        </p:txBody>
      </p:sp>
      <p:grpSp>
        <p:nvGrpSpPr>
          <p:cNvPr id="939" name="object 9"/>
          <p:cNvGrpSpPr/>
          <p:nvPr/>
        </p:nvGrpSpPr>
        <p:grpSpPr>
          <a:xfrm>
            <a:off x="2405160" y="2298960"/>
            <a:ext cx="2736360" cy="78840"/>
            <a:chOff x="2405160" y="2298960"/>
            <a:chExt cx="2736360" cy="78840"/>
          </a:xfrm>
        </p:grpSpPr>
        <p:sp>
          <p:nvSpPr>
            <p:cNvPr id="940" name="object 10"/>
            <p:cNvSpPr/>
            <p:nvPr/>
          </p:nvSpPr>
          <p:spPr>
            <a:xfrm>
              <a:off x="2501280" y="2339640"/>
              <a:ext cx="2640240" cy="360"/>
            </a:xfrm>
            <a:custGeom>
              <a:avLst/>
              <a:gdLst/>
              <a:ahLst/>
              <a:rect l="l" t="t" r="r" b="b"/>
              <a:pathLst>
                <a:path w="2643504" h="635">
                  <a:moveTo>
                    <a:pt x="2642999" y="0"/>
                  </a:moveTo>
                  <a:lnTo>
                    <a:pt x="1264349" y="0"/>
                  </a:lnTo>
                  <a:lnTo>
                    <a:pt x="1264349" y="599"/>
                  </a:lnTo>
                  <a:lnTo>
                    <a:pt x="0" y="599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941" name="object 11" descr=""/>
            <p:cNvPicPr/>
            <p:nvPr/>
          </p:nvPicPr>
          <p:blipFill>
            <a:blip r:embed="rId2"/>
            <a:stretch/>
          </p:blipFill>
          <p:spPr>
            <a:xfrm>
              <a:off x="2405160" y="2298960"/>
              <a:ext cx="102240" cy="788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942" name="object 12"/>
          <p:cNvSpPr/>
          <p:nvPr/>
        </p:nvSpPr>
        <p:spPr>
          <a:xfrm>
            <a:off x="5281560" y="1939320"/>
            <a:ext cx="2637360" cy="65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2600" algn="ctr">
              <a:lnSpc>
                <a:spcPts val="1650"/>
              </a:lnSpc>
              <a:spcBef>
                <a:spcPts val="181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4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default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number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of </a:t>
            </a:r>
            <a:r>
              <a:rPr b="0" lang="fr-FR" sz="1400" spc="-37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replicas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is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1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if the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parameter wasn’t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provided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943" name="object 13"/>
          <p:cNvSpPr/>
          <p:nvPr/>
        </p:nvSpPr>
        <p:spPr>
          <a:xfrm>
            <a:off x="8701560" y="4908600"/>
            <a:ext cx="2343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63CE2673-0CC4-44C6-927D-FD4862E0235D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4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163560" cy="1276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" strike="noStrike">
                <a:solidFill>
                  <a:srgbClr val="000000"/>
                </a:solidFill>
                <a:latin typeface="Tahoma"/>
              </a:rPr>
              <a:t>Deployment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6" strike="noStrike">
                <a:solidFill>
                  <a:srgbClr val="000000"/>
                </a:solidFill>
                <a:latin typeface="Tahoma"/>
              </a:rPr>
              <a:t>Template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Attributes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Replica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configuration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is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defined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under</a:t>
            </a:r>
            <a:r>
              <a:rPr b="0" lang="fr-FR" sz="1600" spc="-10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spec.template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945" name="object 15"/>
          <p:cNvSpPr/>
          <p:nvPr/>
        </p:nvSpPr>
        <p:spPr>
          <a:xfrm>
            <a:off x="8701560" y="4908600"/>
            <a:ext cx="2343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B9304E89-1625-48A0-8600-FA03E304C914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946" name="" descr=""/>
          <p:cNvPicPr/>
          <p:nvPr/>
        </p:nvPicPr>
        <p:blipFill>
          <a:blip r:embed="rId1"/>
          <a:stretch/>
        </p:blipFill>
        <p:spPr>
          <a:xfrm>
            <a:off x="407880" y="1145880"/>
            <a:ext cx="8049960" cy="3531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7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24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" strike="noStrike">
                <a:solidFill>
                  <a:srgbClr val="000000"/>
                </a:solidFill>
                <a:latin typeface="Tahoma"/>
              </a:rPr>
              <a:t>Deployment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YAML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Manifest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Creates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6" strike="noStrike">
                <a:solidFill>
                  <a:srgbClr val="666666"/>
                </a:solidFill>
                <a:latin typeface="Lucida Sans Unicode"/>
              </a:rPr>
              <a:t>an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error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if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label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selector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template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labels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do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not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match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948" name="object 19"/>
          <p:cNvSpPr/>
          <p:nvPr/>
        </p:nvSpPr>
        <p:spPr>
          <a:xfrm>
            <a:off x="8701560" y="4908600"/>
            <a:ext cx="2343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F6CBE878-9615-4F07-93C3-905AF6295464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949" name="" descr=""/>
          <p:cNvPicPr/>
          <p:nvPr/>
        </p:nvPicPr>
        <p:blipFill>
          <a:blip r:embed="rId1"/>
          <a:stretch/>
        </p:blipFill>
        <p:spPr>
          <a:xfrm>
            <a:off x="540000" y="1260000"/>
            <a:ext cx="5708160" cy="3474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70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Listing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7" strike="noStrike">
                <a:solidFill>
                  <a:srgbClr val="000000"/>
                </a:solidFill>
                <a:latin typeface="Tahoma"/>
              </a:rPr>
              <a:t>Deployments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ReplicaSet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Pods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00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0" strike="noStrike">
                <a:solidFill>
                  <a:srgbClr val="666666"/>
                </a:solidFill>
                <a:latin typeface="Lucida Sans Unicode"/>
              </a:rPr>
              <a:t>be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identified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by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4" strike="noStrike">
                <a:solidFill>
                  <a:srgbClr val="666666"/>
                </a:solidFill>
                <a:latin typeface="Lucida Sans Unicode"/>
              </a:rPr>
              <a:t>name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41" strike="noStrike">
                <a:solidFill>
                  <a:srgbClr val="666666"/>
                </a:solidFill>
                <a:latin typeface="Lucida Sans Unicode"/>
              </a:rPr>
              <a:t>prefix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951" name="object 3"/>
          <p:cNvGrpSpPr/>
          <p:nvPr/>
        </p:nvGrpSpPr>
        <p:grpSpPr>
          <a:xfrm>
            <a:off x="435600" y="1337400"/>
            <a:ext cx="8188200" cy="2469240"/>
            <a:chOff x="435600" y="1337400"/>
            <a:chExt cx="8188200" cy="2469240"/>
          </a:xfrm>
        </p:grpSpPr>
        <p:pic>
          <p:nvPicPr>
            <p:cNvPr id="952" name="object 4" descr=""/>
            <p:cNvPicPr/>
            <p:nvPr/>
          </p:nvPicPr>
          <p:blipFill>
            <a:blip r:embed="rId1"/>
            <a:stretch/>
          </p:blipFill>
          <p:spPr>
            <a:xfrm>
              <a:off x="435600" y="1337400"/>
              <a:ext cx="8188200" cy="24692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953" name="object 5"/>
            <p:cNvSpPr/>
            <p:nvPr/>
          </p:nvSpPr>
          <p:spPr>
            <a:xfrm>
              <a:off x="489240" y="1386000"/>
              <a:ext cx="8074080" cy="2355120"/>
            </a:xfrm>
            <a:custGeom>
              <a:avLst/>
              <a:gdLst/>
              <a:ahLst/>
              <a:rect l="l" t="t" r="r" b="b"/>
              <a:pathLst>
                <a:path w="8077200" h="2358390">
                  <a:moveTo>
                    <a:pt x="8077199" y="2358299"/>
                  </a:moveTo>
                  <a:lnTo>
                    <a:pt x="0" y="2358299"/>
                  </a:lnTo>
                  <a:lnTo>
                    <a:pt x="0" y="0"/>
                  </a:lnTo>
                  <a:lnTo>
                    <a:pt x="8077199" y="0"/>
                  </a:lnTo>
                  <a:lnTo>
                    <a:pt x="8077199" y="23582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954" name="object 6"/>
          <p:cNvSpPr/>
          <p:nvPr/>
        </p:nvSpPr>
        <p:spPr>
          <a:xfrm>
            <a:off x="664200" y="1545840"/>
            <a:ext cx="4916880" cy="64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ts val="1664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get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deployments,pods,replicasets</a:t>
            </a:r>
            <a:endParaRPr b="0" lang="fr-FR" sz="1400" spc="-1" strike="noStrike">
              <a:latin typeface="Arial"/>
            </a:endParaRPr>
          </a:p>
          <a:p>
            <a:pPr>
              <a:lnSpc>
                <a:spcPts val="1650"/>
              </a:lnSpc>
              <a:buNone/>
              <a:tabLst>
                <a:tab algn="l" pos="2986560"/>
                <a:tab algn="l" pos="383976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READY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UP-TO-DATE</a:t>
            </a:r>
            <a:endParaRPr b="0" lang="fr-FR" sz="1400" spc="-1" strike="noStrike">
              <a:latin typeface="Arial"/>
            </a:endParaRPr>
          </a:p>
          <a:p>
            <a:pPr>
              <a:lnSpc>
                <a:spcPts val="1664"/>
              </a:lnSpc>
              <a:buNone/>
              <a:tabLst>
                <a:tab algn="l" pos="2986560"/>
                <a:tab algn="l" pos="383976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deployment.apps/my-deploy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1/1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1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955" name="object 7"/>
          <p:cNvSpPr/>
          <p:nvPr/>
        </p:nvSpPr>
        <p:spPr>
          <a:xfrm>
            <a:off x="5891040" y="1755360"/>
            <a:ext cx="97020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>
              <a:lnSpc>
                <a:spcPts val="1650"/>
              </a:lnSpc>
              <a:spcBef>
                <a:spcPts val="181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AVAILABLE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1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956" name="object 8"/>
          <p:cNvSpPr/>
          <p:nvPr/>
        </p:nvSpPr>
        <p:spPr>
          <a:xfrm>
            <a:off x="7171200" y="1755360"/>
            <a:ext cx="54288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ts val="1664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AGE</a:t>
            </a:r>
            <a:endParaRPr b="0" lang="fr-FR" sz="1400" spc="-1" strike="noStrike">
              <a:latin typeface="Arial"/>
            </a:endParaRPr>
          </a:p>
          <a:p>
            <a:pPr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7m56s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957" name="object 9"/>
          <p:cNvSpPr/>
          <p:nvPr/>
        </p:nvSpPr>
        <p:spPr>
          <a:xfrm>
            <a:off x="664200" y="2384280"/>
            <a:ext cx="320976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ts val="1664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</a:t>
            </a:r>
            <a:endParaRPr b="0" lang="fr-FR" sz="1400" spc="-1" strike="noStrike">
              <a:latin typeface="Arial"/>
            </a:endParaRPr>
          </a:p>
          <a:p>
            <a:pPr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pod/my-deploy-8448c488b5-mzx5g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958" name="object 10"/>
          <p:cNvSpPr/>
          <p:nvPr/>
        </p:nvSpPr>
        <p:spPr>
          <a:xfrm>
            <a:off x="4183920" y="2384280"/>
            <a:ext cx="54360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ts val="1664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READY</a:t>
            </a:r>
            <a:endParaRPr b="0" lang="fr-FR" sz="1400" spc="-1" strike="noStrike">
              <a:latin typeface="Arial"/>
            </a:endParaRPr>
          </a:p>
          <a:p>
            <a:pPr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1/1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959" name="object 11"/>
          <p:cNvSpPr/>
          <p:nvPr/>
        </p:nvSpPr>
        <p:spPr>
          <a:xfrm>
            <a:off x="5037480" y="2384280"/>
            <a:ext cx="75636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ts val="1664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STATUS</a:t>
            </a:r>
            <a:endParaRPr b="0" lang="fr-FR" sz="1400" spc="-1" strike="noStrike">
              <a:latin typeface="Arial"/>
            </a:endParaRPr>
          </a:p>
          <a:p>
            <a:pPr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Running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960" name="object 12"/>
          <p:cNvSpPr/>
          <p:nvPr/>
        </p:nvSpPr>
        <p:spPr>
          <a:xfrm>
            <a:off x="6104160" y="2384280"/>
            <a:ext cx="86364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>
              <a:lnSpc>
                <a:spcPts val="1650"/>
              </a:lnSpc>
              <a:spcBef>
                <a:spcPts val="181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RESTARTS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0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961" name="object 13"/>
          <p:cNvSpPr/>
          <p:nvPr/>
        </p:nvSpPr>
        <p:spPr>
          <a:xfrm>
            <a:off x="7277760" y="2384280"/>
            <a:ext cx="54288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ts val="1664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AGE</a:t>
            </a:r>
            <a:endParaRPr b="0" lang="fr-FR" sz="1400" spc="-1" strike="noStrike">
              <a:latin typeface="Arial"/>
            </a:endParaRPr>
          </a:p>
          <a:p>
            <a:pPr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7m56s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962" name="object 14"/>
          <p:cNvSpPr/>
          <p:nvPr/>
        </p:nvSpPr>
        <p:spPr>
          <a:xfrm>
            <a:off x="4824000" y="3012840"/>
            <a:ext cx="75672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>
              <a:lnSpc>
                <a:spcPts val="1650"/>
              </a:lnSpc>
              <a:spcBef>
                <a:spcPts val="181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DESIRED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1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963" name="object 15"/>
          <p:cNvSpPr/>
          <p:nvPr/>
        </p:nvSpPr>
        <p:spPr>
          <a:xfrm>
            <a:off x="5890680" y="3012840"/>
            <a:ext cx="2568240" cy="45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>
              <a:lnSpc>
                <a:spcPts val="1650"/>
              </a:lnSpc>
              <a:spcBef>
                <a:spcPts val="65"/>
              </a:spcBef>
              <a:buNone/>
              <a:tabLst>
                <a:tab algn="l" pos="1066320"/>
                <a:tab algn="l" pos="192024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CURREN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T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READ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Y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AGE  </a:t>
            </a:r>
            <a:endParaRPr b="0" lang="fr-FR" sz="1400" spc="-1" strike="noStrike">
              <a:latin typeface="Arial"/>
            </a:endParaRPr>
          </a:p>
          <a:p>
            <a:pPr>
              <a:lnSpc>
                <a:spcPts val="1650"/>
              </a:lnSpc>
              <a:spcBef>
                <a:spcPts val="65"/>
              </a:spcBef>
              <a:buNone/>
              <a:tabLst>
                <a:tab algn="l" pos="1066320"/>
                <a:tab algn="l" pos="192024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1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1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7m56s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964" name="object 16"/>
          <p:cNvSpPr/>
          <p:nvPr/>
        </p:nvSpPr>
        <p:spPr>
          <a:xfrm>
            <a:off x="664200" y="3012840"/>
            <a:ext cx="384984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ts val="1664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</a:t>
            </a:r>
            <a:endParaRPr b="0" lang="fr-FR" sz="1400" spc="-1" strike="noStrike">
              <a:latin typeface="Arial"/>
            </a:endParaRPr>
          </a:p>
          <a:p>
            <a:pPr>
              <a:lnSpc>
                <a:spcPts val="1650"/>
              </a:lnSpc>
              <a:spcBef>
                <a:spcPts val="65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replicaset.apps/my-deploy-8448c488b5 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965" name="object 17"/>
          <p:cNvSpPr/>
          <p:nvPr/>
        </p:nvSpPr>
        <p:spPr>
          <a:xfrm>
            <a:off x="1053000" y="1964880"/>
            <a:ext cx="2409120" cy="1548000"/>
          </a:xfrm>
          <a:custGeom>
            <a:avLst/>
            <a:gdLst/>
            <a:ahLst/>
            <a:rect l="l" t="t" r="r" b="b"/>
            <a:pathLst>
              <a:path w="2412365" h="1551304">
                <a:moveTo>
                  <a:pt x="0" y="619549"/>
                </a:moveTo>
                <a:lnTo>
                  <a:pt x="1137299" y="619549"/>
                </a:lnTo>
                <a:lnTo>
                  <a:pt x="1137299" y="931849"/>
                </a:lnTo>
                <a:lnTo>
                  <a:pt x="0" y="931849"/>
                </a:lnTo>
                <a:lnTo>
                  <a:pt x="0" y="619549"/>
                </a:lnTo>
                <a:close/>
              </a:path>
              <a:path w="2412365" h="1551304">
                <a:moveTo>
                  <a:pt x="1274473" y="1238724"/>
                </a:moveTo>
                <a:lnTo>
                  <a:pt x="2411773" y="1238724"/>
                </a:lnTo>
                <a:lnTo>
                  <a:pt x="2411773" y="1551024"/>
                </a:lnTo>
                <a:lnTo>
                  <a:pt x="1274473" y="1551024"/>
                </a:lnTo>
                <a:lnTo>
                  <a:pt x="1274473" y="1238724"/>
                </a:lnTo>
                <a:close/>
              </a:path>
              <a:path w="2412365" h="1551304">
                <a:moveTo>
                  <a:pt x="1274473" y="0"/>
                </a:moveTo>
                <a:lnTo>
                  <a:pt x="2349073" y="0"/>
                </a:lnTo>
                <a:lnTo>
                  <a:pt x="2349073" y="312299"/>
                </a:lnTo>
                <a:lnTo>
                  <a:pt x="1274473" y="312299"/>
                </a:lnTo>
                <a:lnTo>
                  <a:pt x="1274473" y="0"/>
                </a:lnTo>
                <a:close/>
              </a:path>
            </a:pathLst>
          </a:custGeom>
          <a:noFill/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66" name="object 18"/>
          <p:cNvSpPr/>
          <p:nvPr/>
        </p:nvSpPr>
        <p:spPr>
          <a:xfrm>
            <a:off x="8701560" y="4908600"/>
            <a:ext cx="2343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949335D4-15EF-4D55-9B62-9DC0D85D86BC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88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Rendering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" strike="noStrike">
                <a:solidFill>
                  <a:srgbClr val="000000"/>
                </a:solidFill>
                <a:latin typeface="Tahoma"/>
              </a:rPr>
              <a:t>Deployment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Details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Object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details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show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relationship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between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parent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child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968" name="object 3"/>
          <p:cNvGrpSpPr/>
          <p:nvPr/>
        </p:nvGrpSpPr>
        <p:grpSpPr>
          <a:xfrm>
            <a:off x="458280" y="1319400"/>
            <a:ext cx="7539480" cy="2507040"/>
            <a:chOff x="458280" y="1319400"/>
            <a:chExt cx="7539480" cy="2507040"/>
          </a:xfrm>
        </p:grpSpPr>
        <p:pic>
          <p:nvPicPr>
            <p:cNvPr id="969" name="object 4" descr=""/>
            <p:cNvPicPr/>
            <p:nvPr/>
          </p:nvPicPr>
          <p:blipFill>
            <a:blip r:embed="rId1"/>
            <a:stretch/>
          </p:blipFill>
          <p:spPr>
            <a:xfrm>
              <a:off x="458280" y="1319400"/>
              <a:ext cx="7539480" cy="25070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970" name="object 5"/>
            <p:cNvSpPr/>
            <p:nvPr/>
          </p:nvSpPr>
          <p:spPr>
            <a:xfrm>
              <a:off x="511560" y="1367640"/>
              <a:ext cx="7425720" cy="2393280"/>
            </a:xfrm>
            <a:custGeom>
              <a:avLst/>
              <a:gdLst/>
              <a:ahLst/>
              <a:rect l="l" t="t" r="r" b="b"/>
              <a:pathLst>
                <a:path w="7428865" h="2396490">
                  <a:moveTo>
                    <a:pt x="7428299" y="2396100"/>
                  </a:moveTo>
                  <a:lnTo>
                    <a:pt x="0" y="2396100"/>
                  </a:lnTo>
                  <a:lnTo>
                    <a:pt x="0" y="0"/>
                  </a:lnTo>
                  <a:lnTo>
                    <a:pt x="7428299" y="0"/>
                  </a:lnTo>
                  <a:lnTo>
                    <a:pt x="7428299" y="2396100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971" name="object 6"/>
          <p:cNvSpPr/>
          <p:nvPr/>
        </p:nvSpPr>
        <p:spPr>
          <a:xfrm>
            <a:off x="665280" y="1510200"/>
            <a:ext cx="438084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describe</a:t>
            </a:r>
            <a:r>
              <a:rPr b="1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deployment.apps/my-deploy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972" name="object 11"/>
          <p:cNvSpPr/>
          <p:nvPr/>
        </p:nvSpPr>
        <p:spPr>
          <a:xfrm>
            <a:off x="8701560" y="4908600"/>
            <a:ext cx="2343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9BB7BF3D-BF4E-489E-9DDC-F79D8FBB0B0D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973" name="object 7"/>
          <p:cNvSpPr/>
          <p:nvPr/>
        </p:nvSpPr>
        <p:spPr>
          <a:xfrm>
            <a:off x="665280" y="1710360"/>
            <a:ext cx="91368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Replicas: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974" name="object 8"/>
          <p:cNvSpPr/>
          <p:nvPr/>
        </p:nvSpPr>
        <p:spPr>
          <a:xfrm>
            <a:off x="665280" y="2110320"/>
            <a:ext cx="140904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NewReplicaSet: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975" name="object 9"/>
          <p:cNvSpPr/>
          <p:nvPr/>
        </p:nvSpPr>
        <p:spPr>
          <a:xfrm>
            <a:off x="2349000" y="1710360"/>
            <a:ext cx="5388840" cy="60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70596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1</a:t>
            </a:r>
            <a:r>
              <a:rPr b="0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desired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|</a:t>
            </a:r>
            <a:r>
              <a:rPr b="0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1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updated</a:t>
            </a:r>
            <a:r>
              <a:rPr b="0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|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1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total</a:t>
            </a:r>
            <a:r>
              <a:rPr b="0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|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1</a:t>
            </a:r>
            <a:r>
              <a:rPr b="0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available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|</a:t>
            </a:r>
            <a:endParaRPr b="0" lang="fr-FR" sz="1300" spc="-1" strike="noStrike">
              <a:latin typeface="Arial"/>
            </a:endParaRPr>
          </a:p>
          <a:p>
            <a:pPr marL="70596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0</a:t>
            </a:r>
            <a:r>
              <a:rPr b="0" lang="fr-FR" sz="13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unavailable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my-deploy-8448c488b5</a:t>
            </a:r>
            <a:r>
              <a:rPr b="0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(1/1</a:t>
            </a:r>
            <a:r>
              <a:rPr b="0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replicas</a:t>
            </a:r>
            <a:r>
              <a:rPr b="0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created)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976" name="object 10"/>
          <p:cNvSpPr/>
          <p:nvPr/>
        </p:nvSpPr>
        <p:spPr>
          <a:xfrm>
            <a:off x="665280" y="2510280"/>
            <a:ext cx="5470560" cy="102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describe</a:t>
            </a:r>
            <a:r>
              <a:rPr b="1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replicaset.apps/my-deploy-8448c488b5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  <a:tabLst>
                <a:tab algn="l" pos="159696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Controlled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By: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Deployment/my-deploy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buNone/>
              <a:tabLst>
                <a:tab algn="l" pos="1596960"/>
              </a:tabLst>
            </a:pPr>
            <a:endParaRPr b="0" lang="fr-FR" sz="1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6"/>
              </a:spcBef>
              <a:buNone/>
              <a:tabLst>
                <a:tab algn="l" pos="1596960"/>
              </a:tabLst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describe</a:t>
            </a:r>
            <a:r>
              <a:rPr b="1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pod/my-deploy-8448c488b5-mzx5g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  <a:tabLst>
                <a:tab algn="l" pos="159696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Controlled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By: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ReplicaSet/my-deploy-8448c488b5</a:t>
            </a:r>
            <a:endParaRPr b="0" lang="fr-FR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7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60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Roll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Out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35" strike="noStrike">
                <a:solidFill>
                  <a:srgbClr val="000000"/>
                </a:solidFill>
                <a:latin typeface="Tahoma"/>
              </a:rPr>
              <a:t>and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Roll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9" strike="noStrike">
                <a:solidFill>
                  <a:srgbClr val="000000"/>
                </a:solidFill>
                <a:latin typeface="Tahoma"/>
              </a:rPr>
              <a:t>Back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Feature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"Look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ma,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shiny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6" strike="noStrike">
                <a:solidFill>
                  <a:srgbClr val="666666"/>
                </a:solidFill>
                <a:latin typeface="Lucida Sans Unicode"/>
              </a:rPr>
              <a:t>new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features.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46" strike="noStrike">
                <a:solidFill>
                  <a:srgbClr val="666666"/>
                </a:solidFill>
                <a:latin typeface="Lucida Sans Unicode"/>
              </a:rPr>
              <a:t>Let’s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deploy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them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production!"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978" name="object 3" descr=""/>
          <p:cNvPicPr/>
          <p:nvPr/>
        </p:nvPicPr>
        <p:blipFill>
          <a:blip r:embed="rId1"/>
          <a:stretch/>
        </p:blipFill>
        <p:spPr>
          <a:xfrm>
            <a:off x="900360" y="1733400"/>
            <a:ext cx="7252920" cy="2759040"/>
          </a:xfrm>
          <a:prstGeom prst="rect">
            <a:avLst/>
          </a:prstGeom>
          <a:ln w="0">
            <a:noFill/>
          </a:ln>
        </p:spPr>
      </p:pic>
      <p:sp>
        <p:nvSpPr>
          <p:cNvPr id="979" name="object 4"/>
          <p:cNvSpPr/>
          <p:nvPr/>
        </p:nvSpPr>
        <p:spPr>
          <a:xfrm>
            <a:off x="8701560" y="4908600"/>
            <a:ext cx="2343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F50E1C3B-45F7-48F4-A87B-E0F6E6062EEB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983560" cy="1276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35" strike="noStrike">
                <a:solidFill>
                  <a:srgbClr val="000000"/>
                </a:solidFill>
                <a:latin typeface="Tahoma"/>
              </a:rPr>
              <a:t>Rolling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Out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52" strike="noStrike">
                <a:solidFill>
                  <a:srgbClr val="000000"/>
                </a:solidFill>
                <a:latin typeface="Tahoma"/>
              </a:rPr>
              <a:t>New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Revision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rollout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history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keeps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track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0" strike="noStrike">
                <a:solidFill>
                  <a:srgbClr val="666666"/>
                </a:solidFill>
                <a:latin typeface="Lucida Sans Unicode"/>
              </a:rPr>
              <a:t>changes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981" name="object 3"/>
          <p:cNvGrpSpPr/>
          <p:nvPr/>
        </p:nvGrpSpPr>
        <p:grpSpPr>
          <a:xfrm>
            <a:off x="448560" y="1338480"/>
            <a:ext cx="6327360" cy="3020040"/>
            <a:chOff x="448560" y="1338480"/>
            <a:chExt cx="6327360" cy="3020040"/>
          </a:xfrm>
        </p:grpSpPr>
        <p:pic>
          <p:nvPicPr>
            <p:cNvPr id="982" name="object 4" descr=""/>
            <p:cNvPicPr/>
            <p:nvPr/>
          </p:nvPicPr>
          <p:blipFill>
            <a:blip r:embed="rId1"/>
            <a:stretch/>
          </p:blipFill>
          <p:spPr>
            <a:xfrm>
              <a:off x="448560" y="1338480"/>
              <a:ext cx="6327360" cy="30200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983" name="object 5"/>
            <p:cNvSpPr/>
            <p:nvPr/>
          </p:nvSpPr>
          <p:spPr>
            <a:xfrm>
              <a:off x="502200" y="1386720"/>
              <a:ext cx="6213240" cy="2906280"/>
            </a:xfrm>
            <a:custGeom>
              <a:avLst/>
              <a:gdLst/>
              <a:ahLst/>
              <a:rect l="l" t="t" r="r" b="b"/>
              <a:pathLst>
                <a:path w="6216650" h="2909570">
                  <a:moveTo>
                    <a:pt x="6216300" y="2909099"/>
                  </a:moveTo>
                  <a:lnTo>
                    <a:pt x="0" y="2909099"/>
                  </a:lnTo>
                  <a:lnTo>
                    <a:pt x="0" y="0"/>
                  </a:lnTo>
                  <a:lnTo>
                    <a:pt x="6216300" y="0"/>
                  </a:lnTo>
                  <a:lnTo>
                    <a:pt x="6216300" y="29090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984" name="object 6"/>
          <p:cNvSpPr/>
          <p:nvPr/>
        </p:nvSpPr>
        <p:spPr>
          <a:xfrm>
            <a:off x="668160" y="1529640"/>
            <a:ext cx="4566240" cy="80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rollout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history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deployment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my-deploy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1000"/>
              </a:lnSpc>
              <a:buNone/>
              <a:tabLst>
                <a:tab algn="l" pos="99000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deployment.apps/my-deploy  REVISION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CHANGE-CAUSE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99000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1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&lt;none&gt;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985" name="object 7"/>
          <p:cNvSpPr/>
          <p:nvPr/>
        </p:nvSpPr>
        <p:spPr>
          <a:xfrm>
            <a:off x="668160" y="2529720"/>
            <a:ext cx="90108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9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986" name="object 8"/>
          <p:cNvSpPr/>
          <p:nvPr/>
        </p:nvSpPr>
        <p:spPr>
          <a:xfrm>
            <a:off x="1613160" y="2527560"/>
            <a:ext cx="991080" cy="21240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14760" bIns="0" anchor="t">
            <a:spAutoFit/>
          </a:bodyPr>
          <a:p>
            <a:pPr marL="45000">
              <a:lnSpc>
                <a:spcPct val="100000"/>
              </a:lnSpc>
              <a:spcBef>
                <a:spcPts val="113"/>
              </a:spcBef>
              <a:buNone/>
            </a:pP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set</a:t>
            </a:r>
            <a:r>
              <a:rPr b="1" lang="fr-FR" sz="13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image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987" name="object 9"/>
          <p:cNvSpPr/>
          <p:nvPr/>
        </p:nvSpPr>
        <p:spPr>
          <a:xfrm>
            <a:off x="2649240" y="2529720"/>
            <a:ext cx="387288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deployment</a:t>
            </a:r>
            <a:r>
              <a:rPr b="1" lang="fr-FR" sz="13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my-deploy</a:t>
            </a:r>
            <a:r>
              <a:rPr b="1" lang="fr-FR" sz="13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nginx=nginx:1.19.2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988" name="object 10"/>
          <p:cNvSpPr/>
          <p:nvPr/>
        </p:nvSpPr>
        <p:spPr>
          <a:xfrm>
            <a:off x="668160" y="2729880"/>
            <a:ext cx="4566240" cy="142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deployment.apps/my-deploy</a:t>
            </a:r>
            <a:r>
              <a:rPr b="0" lang="fr-FR" sz="13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image</a:t>
            </a:r>
            <a:r>
              <a:rPr b="0" lang="fr-FR" sz="13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updated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fr-FR" sz="1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6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rollout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history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deployment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my-deploy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1000"/>
              </a:lnSpc>
              <a:buNone/>
              <a:tabLst>
                <a:tab algn="l" pos="99000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deployment.apps/my-deploy  REVISION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CHANGE-CAUSE</a:t>
            </a:r>
            <a:endParaRPr b="0" lang="fr-FR" sz="1300" spc="-1" strike="noStrike">
              <a:latin typeface="Arial"/>
            </a:endParaRPr>
          </a:p>
          <a:p>
            <a:pPr marL="990000" indent="-990720">
              <a:lnSpc>
                <a:spcPct val="100000"/>
              </a:lnSpc>
              <a:spcBef>
                <a:spcPts val="11"/>
              </a:spcBef>
              <a:buClr>
                <a:srgbClr val="000000"/>
              </a:buClr>
              <a:buFont typeface="StarSymbol"/>
              <a:buAutoNum type="arabicPlain"/>
              <a:tabLst>
                <a:tab algn="l" pos="990000"/>
                <a:tab algn="l" pos="99072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&lt;none&gt;</a:t>
            </a:r>
            <a:endParaRPr b="0" lang="fr-FR" sz="1300" spc="-1" strike="noStrike">
              <a:latin typeface="Arial"/>
            </a:endParaRPr>
          </a:p>
          <a:p>
            <a:pPr marL="990000" indent="-990720">
              <a:lnSpc>
                <a:spcPct val="100000"/>
              </a:lnSpc>
              <a:spcBef>
                <a:spcPts val="14"/>
              </a:spcBef>
              <a:buClr>
                <a:srgbClr val="000000"/>
              </a:buClr>
              <a:buFont typeface="StarSymbol"/>
              <a:buAutoNum type="arabicPlain"/>
              <a:tabLst>
                <a:tab algn="l" pos="990000"/>
                <a:tab algn="l" pos="99072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&lt;none&gt;</a:t>
            </a:r>
            <a:endParaRPr b="0" lang="fr-FR" sz="1300" spc="-1" strike="noStrike">
              <a:latin typeface="Arial"/>
            </a:endParaRPr>
          </a:p>
        </p:txBody>
      </p:sp>
      <p:grpSp>
        <p:nvGrpSpPr>
          <p:cNvPr id="989" name="object 11"/>
          <p:cNvGrpSpPr/>
          <p:nvPr/>
        </p:nvGrpSpPr>
        <p:grpSpPr>
          <a:xfrm>
            <a:off x="6844320" y="2608560"/>
            <a:ext cx="481680" cy="78840"/>
            <a:chOff x="6844320" y="2608560"/>
            <a:chExt cx="481680" cy="78840"/>
          </a:xfrm>
        </p:grpSpPr>
        <p:sp>
          <p:nvSpPr>
            <p:cNvPr id="990" name="object 12"/>
            <p:cNvSpPr/>
            <p:nvPr/>
          </p:nvSpPr>
          <p:spPr>
            <a:xfrm>
              <a:off x="6940440" y="2649600"/>
              <a:ext cx="385560" cy="360"/>
            </a:xfrm>
            <a:custGeom>
              <a:avLst/>
              <a:gdLst/>
              <a:ahLst/>
              <a:rect l="l" t="t" r="r" b="b"/>
              <a:pathLst>
                <a:path w="388620" h="0">
                  <a:moveTo>
                    <a:pt x="3884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991" name="object 13" descr=""/>
            <p:cNvPicPr/>
            <p:nvPr/>
          </p:nvPicPr>
          <p:blipFill>
            <a:blip r:embed="rId2"/>
            <a:stretch/>
          </p:blipFill>
          <p:spPr>
            <a:xfrm>
              <a:off x="6844320" y="2608560"/>
              <a:ext cx="102240" cy="788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992" name="object 14"/>
          <p:cNvSpPr/>
          <p:nvPr/>
        </p:nvSpPr>
        <p:spPr>
          <a:xfrm>
            <a:off x="7427160" y="2291400"/>
            <a:ext cx="1570680" cy="65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2600" indent="1440" algn="ctr">
              <a:lnSpc>
                <a:spcPts val="165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Changes the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assigned image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for</a:t>
            </a:r>
            <a:r>
              <a:rPr b="0" lang="fr-FR" sz="1400" spc="-5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Pod</a:t>
            </a:r>
            <a:r>
              <a:rPr b="0" lang="fr-FR" sz="1400" spc="-4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template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993" name="object 15"/>
          <p:cNvSpPr/>
          <p:nvPr/>
        </p:nvSpPr>
        <p:spPr>
          <a:xfrm>
            <a:off x="8701560" y="4908600"/>
            <a:ext cx="2343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4DF9A15B-E49D-4323-AD8E-A72E8897B768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4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343560" cy="1276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35" strike="noStrike">
                <a:solidFill>
                  <a:srgbClr val="000000"/>
                </a:solidFill>
                <a:latin typeface="Tahoma"/>
              </a:rPr>
              <a:t>Rolling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9" strike="noStrike">
                <a:solidFill>
                  <a:srgbClr val="000000"/>
                </a:solidFill>
                <a:latin typeface="Tahoma"/>
              </a:rPr>
              <a:t>Back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to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Previous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Revision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You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00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revert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2" strike="noStrike">
                <a:solidFill>
                  <a:srgbClr val="666666"/>
                </a:solidFill>
                <a:latin typeface="Lucida Sans Unicode"/>
              </a:rPr>
              <a:t>any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revision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6" strike="noStrike">
                <a:solidFill>
                  <a:srgbClr val="666666"/>
                </a:solidFill>
                <a:latin typeface="Lucida Sans Unicode"/>
              </a:rPr>
              <a:t>available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history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995" name="object 3"/>
          <p:cNvGrpSpPr/>
          <p:nvPr/>
        </p:nvGrpSpPr>
        <p:grpSpPr>
          <a:xfrm>
            <a:off x="458280" y="1338480"/>
            <a:ext cx="6327360" cy="2032560"/>
            <a:chOff x="458280" y="1338480"/>
            <a:chExt cx="6327360" cy="2032560"/>
          </a:xfrm>
        </p:grpSpPr>
        <p:pic>
          <p:nvPicPr>
            <p:cNvPr id="996" name="object 4" descr=""/>
            <p:cNvPicPr/>
            <p:nvPr/>
          </p:nvPicPr>
          <p:blipFill>
            <a:blip r:embed="rId1"/>
            <a:stretch/>
          </p:blipFill>
          <p:spPr>
            <a:xfrm>
              <a:off x="458280" y="1338480"/>
              <a:ext cx="6327360" cy="203256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997" name="object 5"/>
            <p:cNvSpPr/>
            <p:nvPr/>
          </p:nvSpPr>
          <p:spPr>
            <a:xfrm>
              <a:off x="511560" y="1386720"/>
              <a:ext cx="6213240" cy="1918440"/>
            </a:xfrm>
            <a:custGeom>
              <a:avLst/>
              <a:gdLst/>
              <a:ahLst/>
              <a:rect l="l" t="t" r="r" b="b"/>
              <a:pathLst>
                <a:path w="6216650" h="1921510">
                  <a:moveTo>
                    <a:pt x="6216299" y="1921499"/>
                  </a:moveTo>
                  <a:lnTo>
                    <a:pt x="0" y="1921499"/>
                  </a:lnTo>
                  <a:lnTo>
                    <a:pt x="0" y="0"/>
                  </a:lnTo>
                  <a:lnTo>
                    <a:pt x="6216299" y="0"/>
                  </a:lnTo>
                  <a:lnTo>
                    <a:pt x="6216299" y="19214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998" name="object 6"/>
          <p:cNvSpPr/>
          <p:nvPr/>
        </p:nvSpPr>
        <p:spPr>
          <a:xfrm>
            <a:off x="511560" y="1567080"/>
            <a:ext cx="6213240" cy="156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54800" bIns="0" anchor="t">
            <a:spAutoFit/>
          </a:bodyPr>
          <a:p>
            <a:pPr marL="165600">
              <a:lnSpc>
                <a:spcPct val="100000"/>
              </a:lnSpc>
              <a:spcBef>
                <a:spcPts val="1219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rollout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undo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deployment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my-deploy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--to-revision=1</a:t>
            </a:r>
            <a:endParaRPr b="0" lang="fr-FR" sz="1300" spc="-1" strike="noStrike">
              <a:latin typeface="Arial"/>
            </a:endParaRPr>
          </a:p>
          <a:p>
            <a:pPr marL="1656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deployment.apps/my-deploy</a:t>
            </a:r>
            <a:r>
              <a:rPr b="0" lang="fr-FR" sz="13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rolled</a:t>
            </a:r>
            <a:r>
              <a:rPr b="0" lang="fr-FR" sz="13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back</a:t>
            </a:r>
            <a:endParaRPr b="0" lang="fr-FR" sz="1300" spc="-1" strike="noStrike">
              <a:latin typeface="Arial"/>
            </a:endParaRPr>
          </a:p>
          <a:p>
            <a:pPr marL="165600">
              <a:lnSpc>
                <a:spcPct val="100000"/>
              </a:lnSpc>
              <a:spcBef>
                <a:spcPts val="6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165600">
              <a:lnSpc>
                <a:spcPct val="100000"/>
              </a:lnSpc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rollout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history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deployment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my-deploy</a:t>
            </a:r>
            <a:endParaRPr b="0" lang="fr-FR" sz="1300" spc="-1" strike="noStrike">
              <a:latin typeface="Arial"/>
            </a:endParaRPr>
          </a:p>
          <a:p>
            <a:pPr marL="165600">
              <a:lnSpc>
                <a:spcPct val="101000"/>
              </a:lnSpc>
              <a:buNone/>
              <a:tabLst>
                <a:tab algn="l" pos="115632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deployment.apps/my-deploy  REVISION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CHANGE-CAUSE</a:t>
            </a:r>
            <a:endParaRPr b="0" lang="fr-FR" sz="1300" spc="-1" strike="noStrike">
              <a:latin typeface="Arial"/>
            </a:endParaRPr>
          </a:p>
          <a:p>
            <a:pPr marL="1156320" indent="-991080">
              <a:lnSpc>
                <a:spcPct val="100000"/>
              </a:lnSpc>
              <a:spcBef>
                <a:spcPts val="14"/>
              </a:spcBef>
              <a:buClr>
                <a:srgbClr val="000000"/>
              </a:buClr>
              <a:buFont typeface="StarSymbol"/>
              <a:buAutoNum type="arabicPlain" startAt="2"/>
              <a:tabLst>
                <a:tab algn="l" pos="1156320"/>
                <a:tab algn="l" pos="115704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&lt;none&gt;</a:t>
            </a:r>
            <a:endParaRPr b="0" lang="fr-FR" sz="1300" spc="-1" strike="noStrike">
              <a:latin typeface="Arial"/>
            </a:endParaRPr>
          </a:p>
          <a:p>
            <a:pPr marL="1156320" indent="-991080">
              <a:lnSpc>
                <a:spcPct val="100000"/>
              </a:lnSpc>
              <a:spcBef>
                <a:spcPts val="14"/>
              </a:spcBef>
              <a:buClr>
                <a:srgbClr val="000000"/>
              </a:buClr>
              <a:buFont typeface="StarSymbol"/>
              <a:buAutoNum type="arabicPlain" startAt="2"/>
              <a:tabLst>
                <a:tab algn="l" pos="1156320"/>
                <a:tab algn="l" pos="115704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&lt;none&gt;</a:t>
            </a:r>
            <a:endParaRPr b="0" lang="fr-FR" sz="1300" spc="-1" strike="noStrike">
              <a:latin typeface="Arial"/>
            </a:endParaRPr>
          </a:p>
        </p:txBody>
      </p:sp>
      <p:grpSp>
        <p:nvGrpSpPr>
          <p:cNvPr id="999" name="object 7"/>
          <p:cNvGrpSpPr/>
          <p:nvPr/>
        </p:nvGrpSpPr>
        <p:grpSpPr>
          <a:xfrm>
            <a:off x="615240" y="2940480"/>
            <a:ext cx="760320" cy="939600"/>
            <a:chOff x="615240" y="2940480"/>
            <a:chExt cx="760320" cy="939600"/>
          </a:xfrm>
        </p:grpSpPr>
        <p:sp>
          <p:nvSpPr>
            <p:cNvPr id="1000" name="object 8"/>
            <p:cNvSpPr/>
            <p:nvPr/>
          </p:nvSpPr>
          <p:spPr>
            <a:xfrm>
              <a:off x="713880" y="3503520"/>
              <a:ext cx="661680" cy="376560"/>
            </a:xfrm>
            <a:custGeom>
              <a:avLst/>
              <a:gdLst/>
              <a:ahLst/>
              <a:rect l="l" t="t" r="r" b="b"/>
              <a:pathLst>
                <a:path w="664844" h="379729">
                  <a:moveTo>
                    <a:pt x="664274" y="379500"/>
                  </a:moveTo>
                  <a:lnTo>
                    <a:pt x="0" y="379500"/>
                  </a:ln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001" name="object 9" descr=""/>
            <p:cNvPicPr/>
            <p:nvPr/>
          </p:nvPicPr>
          <p:blipFill>
            <a:blip r:embed="rId2"/>
            <a:stretch/>
          </p:blipFill>
          <p:spPr>
            <a:xfrm>
              <a:off x="672840" y="3407400"/>
              <a:ext cx="78840" cy="1022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002" name="object 10"/>
            <p:cNvSpPr/>
            <p:nvPr/>
          </p:nvSpPr>
          <p:spPr>
            <a:xfrm>
              <a:off x="615240" y="2940480"/>
              <a:ext cx="239400" cy="239400"/>
            </a:xfrm>
            <a:custGeom>
              <a:avLst/>
              <a:gdLst/>
              <a:ahLst/>
              <a:rect l="l" t="t" r="r" b="b"/>
              <a:pathLst>
                <a:path w="242569" h="242569">
                  <a:moveTo>
                    <a:pt x="0" y="0"/>
                  </a:moveTo>
                  <a:lnTo>
                    <a:pt x="242099" y="0"/>
                  </a:lnTo>
                  <a:lnTo>
                    <a:pt x="242099" y="242399"/>
                  </a:lnTo>
                  <a:lnTo>
                    <a:pt x="0" y="24239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9049">
              <a:solidFill>
                <a:srgbClr val="ff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003" name="object 11"/>
          <p:cNvSpPr/>
          <p:nvPr/>
        </p:nvSpPr>
        <p:spPr>
          <a:xfrm>
            <a:off x="1508400" y="3656160"/>
            <a:ext cx="316944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70640" indent="-158760">
              <a:lnSpc>
                <a:spcPts val="165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Kubernetes</a:t>
            </a:r>
            <a:r>
              <a:rPr b="0" lang="fr-FR" sz="14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deduplicates</a:t>
            </a:r>
            <a:r>
              <a:rPr b="0" lang="fr-FR" sz="14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revision </a:t>
            </a:r>
            <a:r>
              <a:rPr b="0" lang="fr-FR" sz="1400" spc="-37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if</a:t>
            </a:r>
            <a:r>
              <a:rPr b="0" lang="fr-FR" sz="14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it</a:t>
            </a:r>
            <a:r>
              <a:rPr b="0" lang="fr-FR" sz="14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points</a:t>
            </a:r>
            <a:r>
              <a:rPr b="0" lang="fr-FR" sz="14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to</a:t>
            </a:r>
            <a:r>
              <a:rPr b="0" lang="fr-FR" sz="14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4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same</a:t>
            </a:r>
            <a:r>
              <a:rPr b="0" lang="fr-FR" sz="14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changes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004" name="object 12"/>
          <p:cNvSpPr/>
          <p:nvPr/>
        </p:nvSpPr>
        <p:spPr>
          <a:xfrm>
            <a:off x="8701560" y="4908600"/>
            <a:ext cx="2343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377FEE1F-D354-43A8-AB8C-A622459A58ED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243560" cy="1276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Setting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60" strike="noStrike">
                <a:solidFill>
                  <a:srgbClr val="000000"/>
                </a:solidFill>
                <a:latin typeface="Tahoma"/>
              </a:rPr>
              <a:t>Change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94" strike="noStrike">
                <a:solidFill>
                  <a:srgbClr val="000000"/>
                </a:solidFill>
                <a:latin typeface="Tahoma"/>
              </a:rPr>
              <a:t>Cause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for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Revision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Tracked</a:t>
            </a:r>
            <a:r>
              <a:rPr b="0" lang="fr-FR" sz="1600" spc="-97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by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annotation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key</a:t>
            </a:r>
            <a:r>
              <a:rPr b="0" lang="fr-FR" sz="1600" spc="-10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kubernetes.io/change-cause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006" name="object 3"/>
          <p:cNvGrpSpPr/>
          <p:nvPr/>
        </p:nvGrpSpPr>
        <p:grpSpPr>
          <a:xfrm>
            <a:off x="458280" y="1338480"/>
            <a:ext cx="5621040" cy="3434040"/>
            <a:chOff x="458280" y="1338480"/>
            <a:chExt cx="5621040" cy="3434040"/>
          </a:xfrm>
        </p:grpSpPr>
        <p:pic>
          <p:nvPicPr>
            <p:cNvPr id="1007" name="object 4" descr=""/>
            <p:cNvPicPr/>
            <p:nvPr/>
          </p:nvPicPr>
          <p:blipFill>
            <a:blip r:embed="rId1"/>
            <a:stretch/>
          </p:blipFill>
          <p:spPr>
            <a:xfrm>
              <a:off x="458280" y="1338480"/>
              <a:ext cx="5621040" cy="34340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008" name="object 5"/>
            <p:cNvSpPr/>
            <p:nvPr/>
          </p:nvSpPr>
          <p:spPr>
            <a:xfrm>
              <a:off x="511560" y="1386720"/>
              <a:ext cx="5507280" cy="3320280"/>
            </a:xfrm>
            <a:custGeom>
              <a:avLst/>
              <a:gdLst/>
              <a:ahLst/>
              <a:rect l="l" t="t" r="r" b="b"/>
              <a:pathLst>
                <a:path w="5510530" h="3323590">
                  <a:moveTo>
                    <a:pt x="5510099" y="3323099"/>
                  </a:moveTo>
                  <a:lnTo>
                    <a:pt x="0" y="3323099"/>
                  </a:lnTo>
                  <a:lnTo>
                    <a:pt x="0" y="0"/>
                  </a:lnTo>
                  <a:lnTo>
                    <a:pt x="5510099" y="0"/>
                  </a:lnTo>
                  <a:lnTo>
                    <a:pt x="5510099" y="33230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009" name="object 6"/>
          <p:cNvSpPr/>
          <p:nvPr/>
        </p:nvSpPr>
        <p:spPr>
          <a:xfrm>
            <a:off x="665280" y="1529640"/>
            <a:ext cx="4578840" cy="100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rollout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history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deployment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my-deploy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1000"/>
              </a:lnSpc>
              <a:buNone/>
              <a:tabLst>
                <a:tab algn="l" pos="100260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deployment.apps/my-deploy  REVISION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CHANGE-CAUSE</a:t>
            </a:r>
            <a:endParaRPr b="0" lang="fr-FR" sz="1300" spc="-1" strike="noStrike">
              <a:latin typeface="Arial"/>
            </a:endParaRPr>
          </a:p>
          <a:p>
            <a:pPr marL="1002600" indent="-990720">
              <a:lnSpc>
                <a:spcPct val="100000"/>
              </a:lnSpc>
              <a:spcBef>
                <a:spcPts val="14"/>
              </a:spcBef>
              <a:buClr>
                <a:srgbClr val="000000"/>
              </a:buClr>
              <a:buFont typeface="StarSymbol"/>
              <a:buAutoNum type="arabicPlain" startAt="2"/>
              <a:tabLst>
                <a:tab algn="l" pos="1002600"/>
                <a:tab algn="l" pos="100332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&lt;none&gt;</a:t>
            </a:r>
            <a:endParaRPr b="0" lang="fr-FR" sz="1300" spc="-1" strike="noStrike">
              <a:latin typeface="Arial"/>
            </a:endParaRPr>
          </a:p>
          <a:p>
            <a:pPr marL="1002600" indent="-990720">
              <a:lnSpc>
                <a:spcPct val="100000"/>
              </a:lnSpc>
              <a:spcBef>
                <a:spcPts val="14"/>
              </a:spcBef>
              <a:buClr>
                <a:srgbClr val="000000"/>
              </a:buClr>
              <a:buFont typeface="StarSymbol"/>
              <a:buAutoNum type="arabicPlain" startAt="2"/>
              <a:tabLst>
                <a:tab algn="l" pos="1002600"/>
                <a:tab algn="l" pos="100332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&lt;none&gt;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010" name="object 7"/>
          <p:cNvSpPr/>
          <p:nvPr/>
        </p:nvSpPr>
        <p:spPr>
          <a:xfrm>
            <a:off x="665280" y="2729160"/>
            <a:ext cx="43725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3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annotate</a:t>
            </a:r>
            <a:r>
              <a:rPr b="1" lang="fr-FR" sz="13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deployment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my-deploy</a:t>
            </a:r>
            <a:r>
              <a:rPr b="0" lang="fr-FR" sz="1400" spc="-7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011" name="object 8"/>
          <p:cNvSpPr/>
          <p:nvPr/>
        </p:nvSpPr>
        <p:spPr>
          <a:xfrm>
            <a:off x="665280" y="2939400"/>
            <a:ext cx="51724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kubernetes.io/change-cause="image</a:t>
            </a:r>
            <a:r>
              <a:rPr b="1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updated</a:t>
            </a:r>
            <a:r>
              <a:rPr b="1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to</a:t>
            </a:r>
            <a:r>
              <a:rPr b="1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1.16.1"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deployment.apps/my-deplo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y</a:t>
            </a:r>
            <a:r>
              <a:rPr b="0" lang="fr-FR" sz="1300" spc="-4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annotated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012" name="object 9"/>
          <p:cNvSpPr/>
          <p:nvPr/>
        </p:nvSpPr>
        <p:spPr>
          <a:xfrm>
            <a:off x="665280" y="3520440"/>
            <a:ext cx="4578840" cy="100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rollout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history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deployment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my-deploy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1000"/>
              </a:lnSpc>
              <a:buNone/>
              <a:tabLst>
                <a:tab algn="l" pos="100260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deployment.apps/my-deploy  REVISION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CHANGE-CAUSE</a:t>
            </a:r>
            <a:endParaRPr b="0" lang="fr-FR" sz="1300" spc="-1" strike="noStrike">
              <a:latin typeface="Arial"/>
            </a:endParaRPr>
          </a:p>
          <a:p>
            <a:pPr marL="1002600" indent="-990720">
              <a:lnSpc>
                <a:spcPct val="100000"/>
              </a:lnSpc>
              <a:spcBef>
                <a:spcPts val="14"/>
              </a:spcBef>
              <a:buClr>
                <a:srgbClr val="000000"/>
              </a:buClr>
              <a:buFont typeface="StarSymbol"/>
              <a:buAutoNum type="arabicPlain" startAt="2"/>
              <a:tabLst>
                <a:tab algn="l" pos="1002600"/>
                <a:tab algn="l" pos="100332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&lt;none&gt;</a:t>
            </a:r>
            <a:endParaRPr b="0" lang="fr-FR" sz="1300" spc="-1" strike="noStrike">
              <a:latin typeface="Arial"/>
            </a:endParaRPr>
          </a:p>
          <a:p>
            <a:pPr marL="1002600" indent="-990720">
              <a:lnSpc>
                <a:spcPct val="100000"/>
              </a:lnSpc>
              <a:spcBef>
                <a:spcPts val="14"/>
              </a:spcBef>
              <a:buClr>
                <a:srgbClr val="000000"/>
              </a:buClr>
              <a:buFont typeface="StarSymbol"/>
              <a:buAutoNum type="arabicPlain" startAt="2"/>
              <a:tabLst>
                <a:tab algn="l" pos="1002600"/>
                <a:tab algn="l" pos="100332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image</a:t>
            </a:r>
            <a:r>
              <a:rPr b="0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updated</a:t>
            </a:r>
            <a:r>
              <a:rPr b="0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to</a:t>
            </a:r>
            <a:r>
              <a:rPr b="0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1.16.1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013" name="object 10"/>
          <p:cNvSpPr/>
          <p:nvPr/>
        </p:nvSpPr>
        <p:spPr>
          <a:xfrm>
            <a:off x="3301200" y="2942640"/>
            <a:ext cx="2593800" cy="239400"/>
          </a:xfrm>
          <a:custGeom>
            <a:avLst/>
            <a:gdLst/>
            <a:ahLst/>
            <a:rect l="l" t="t" r="r" b="b"/>
            <a:pathLst>
              <a:path w="2597150" h="242569">
                <a:moveTo>
                  <a:pt x="0" y="0"/>
                </a:moveTo>
                <a:lnTo>
                  <a:pt x="2596799" y="0"/>
                </a:lnTo>
                <a:lnTo>
                  <a:pt x="2596799" y="242399"/>
                </a:lnTo>
                <a:lnTo>
                  <a:pt x="0" y="242399"/>
                </a:lnTo>
                <a:lnTo>
                  <a:pt x="0" y="0"/>
                </a:lnTo>
                <a:close/>
              </a:path>
            </a:pathLst>
          </a:custGeom>
          <a:noFill/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grpSp>
        <p:nvGrpSpPr>
          <p:cNvPr id="1014" name="object 11"/>
          <p:cNvGrpSpPr/>
          <p:nvPr/>
        </p:nvGrpSpPr>
        <p:grpSpPr>
          <a:xfrm>
            <a:off x="6180480" y="3022560"/>
            <a:ext cx="481320" cy="78840"/>
            <a:chOff x="6180480" y="3022560"/>
            <a:chExt cx="481320" cy="78840"/>
          </a:xfrm>
        </p:grpSpPr>
        <p:sp>
          <p:nvSpPr>
            <p:cNvPr id="1015" name="object 12"/>
            <p:cNvSpPr/>
            <p:nvPr/>
          </p:nvSpPr>
          <p:spPr>
            <a:xfrm>
              <a:off x="6276240" y="3063600"/>
              <a:ext cx="385560" cy="360"/>
            </a:xfrm>
            <a:custGeom>
              <a:avLst/>
              <a:gdLst/>
              <a:ahLst/>
              <a:rect l="l" t="t" r="r" b="b"/>
              <a:pathLst>
                <a:path w="388620" h="0">
                  <a:moveTo>
                    <a:pt x="3884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016" name="object 13" descr=""/>
            <p:cNvPicPr/>
            <p:nvPr/>
          </p:nvPicPr>
          <p:blipFill>
            <a:blip r:embed="rId2"/>
            <a:stretch/>
          </p:blipFill>
          <p:spPr>
            <a:xfrm>
              <a:off x="6180480" y="3022560"/>
              <a:ext cx="102240" cy="788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017" name="object 14"/>
          <p:cNvSpPr/>
          <p:nvPr/>
        </p:nvSpPr>
        <p:spPr>
          <a:xfrm>
            <a:off x="6833160" y="2806920"/>
            <a:ext cx="162468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2600" indent="127800">
              <a:lnSpc>
                <a:spcPts val="165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What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changed 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with</a:t>
            </a:r>
            <a:r>
              <a:rPr b="0" lang="fr-FR" sz="1400" spc="-5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this</a:t>
            </a:r>
            <a:r>
              <a:rPr b="0" lang="fr-FR" sz="1400" spc="-5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revision?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018" name="object 15"/>
          <p:cNvSpPr/>
          <p:nvPr/>
        </p:nvSpPr>
        <p:spPr>
          <a:xfrm>
            <a:off x="8701560" y="4908600"/>
            <a:ext cx="2343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2BAE28E0-209C-4053-B6CF-981250C5290B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50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9" strike="noStrike">
                <a:solidFill>
                  <a:srgbClr val="000000"/>
                </a:solidFill>
                <a:latin typeface="Tahoma"/>
              </a:rPr>
              <a:t>Manu</a:t>
            </a:r>
            <a:r>
              <a:rPr b="1" lang="fr-FR" sz="2400" spc="9" strike="noStrike">
                <a:solidFill>
                  <a:srgbClr val="000000"/>
                </a:solidFill>
                <a:latin typeface="Tahoma"/>
              </a:rPr>
              <a:t>ally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7" strike="noStrike">
                <a:solidFill>
                  <a:srgbClr val="000000"/>
                </a:solidFill>
                <a:latin typeface="Tahoma"/>
              </a:rPr>
              <a:t>Scalin</a:t>
            </a:r>
            <a:r>
              <a:rPr b="1" lang="fr-FR" sz="2400" spc="7" strike="noStrike">
                <a:solidFill>
                  <a:srgbClr val="000000"/>
                </a:solidFill>
                <a:latin typeface="Tahoma"/>
              </a:rPr>
              <a:t>g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" strike="noStrike">
                <a:solidFill>
                  <a:srgbClr val="000000"/>
                </a:solidFill>
                <a:latin typeface="Tahoma"/>
              </a:rPr>
              <a:t>Deplo</a:t>
            </a:r>
            <a:r>
              <a:rPr b="1" lang="fr-FR" sz="2400" spc="1" strike="noStrike">
                <a:solidFill>
                  <a:srgbClr val="000000"/>
                </a:solidFill>
                <a:latin typeface="Tahoma"/>
              </a:rPr>
              <a:t>yment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"We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measured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5" strike="noStrike">
                <a:solidFill>
                  <a:srgbClr val="666666"/>
                </a:solidFill>
                <a:latin typeface="Lucida Sans Unicode"/>
              </a:rPr>
              <a:t>performan</a:t>
            </a:r>
            <a:r>
              <a:rPr b="0" lang="fr-FR" sz="1600" spc="35" strike="noStrike">
                <a:solidFill>
                  <a:srgbClr val="666666"/>
                </a:solidFill>
                <a:latin typeface="Lucida Sans Unicode"/>
              </a:rPr>
              <a:t>ce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under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load.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6" strike="noStrike">
                <a:solidFill>
                  <a:srgbClr val="666666"/>
                </a:solidFill>
                <a:latin typeface="Lucida Sans Unicode"/>
              </a:rPr>
              <a:t>Scale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up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exactly</a:t>
            </a:r>
            <a:r>
              <a:rPr b="0" lang="fr-FR" sz="1600" spc="-97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i="1" lang="fr-FR" sz="1600" spc="-185" strike="noStrike">
                <a:solidFill>
                  <a:srgbClr val="666666"/>
                </a:solidFill>
                <a:latin typeface="Verdana"/>
              </a:rPr>
              <a:t>x</a:t>
            </a:r>
            <a:r>
              <a:rPr b="0" i="1" lang="fr-FR" sz="1600" spc="-137" strike="noStrike">
                <a:solidFill>
                  <a:srgbClr val="666666"/>
                </a:solidFill>
                <a:latin typeface="Verdana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number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Pods."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1020" name="object 3" descr=""/>
          <p:cNvPicPr/>
          <p:nvPr/>
        </p:nvPicPr>
        <p:blipFill>
          <a:blip r:embed="rId1"/>
          <a:stretch/>
        </p:blipFill>
        <p:spPr>
          <a:xfrm>
            <a:off x="865800" y="1873080"/>
            <a:ext cx="7321680" cy="2224080"/>
          </a:xfrm>
          <a:prstGeom prst="rect">
            <a:avLst/>
          </a:prstGeom>
          <a:ln w="0">
            <a:noFill/>
          </a:ln>
        </p:spPr>
      </p:pic>
      <p:sp>
        <p:nvSpPr>
          <p:cNvPr id="1021" name="object 4"/>
          <p:cNvSpPr/>
          <p:nvPr/>
        </p:nvSpPr>
        <p:spPr>
          <a:xfrm>
            <a:off x="8701560" y="4908600"/>
            <a:ext cx="2343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C5C19811-881E-4608-B703-DF120BEBA536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78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26" strike="noStrike">
                <a:solidFill>
                  <a:srgbClr val="000000"/>
                </a:solidFill>
                <a:latin typeface="Tahoma"/>
              </a:rPr>
              <a:t>Changing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the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1" strike="noStrike">
                <a:solidFill>
                  <a:srgbClr val="000000"/>
                </a:solidFill>
                <a:latin typeface="Tahoma"/>
              </a:rPr>
              <a:t>Number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of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9" strike="noStrike">
                <a:solidFill>
                  <a:srgbClr val="000000"/>
                </a:solidFill>
                <a:latin typeface="Tahoma"/>
              </a:rPr>
              <a:t>Replicas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Use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5" strike="noStrike">
                <a:solidFill>
                  <a:srgbClr val="666666"/>
                </a:solidFill>
                <a:latin typeface="Lucida Sans Unicode"/>
              </a:rPr>
              <a:t>scale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9" strike="noStrike">
                <a:solidFill>
                  <a:srgbClr val="666666"/>
                </a:solidFill>
                <a:latin typeface="Lucida Sans Unicode"/>
              </a:rPr>
              <a:t>command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or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2" strike="noStrike">
                <a:solidFill>
                  <a:srgbClr val="666666"/>
                </a:solidFill>
                <a:latin typeface="Lucida Sans Unicode"/>
              </a:rPr>
              <a:t>change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spec.replica</a:t>
            </a:r>
            <a:r>
              <a:rPr b="0" lang="fr-FR" sz="1600" spc="-1" strike="noStrike">
                <a:solidFill>
                  <a:srgbClr val="666666"/>
                </a:solidFill>
                <a:latin typeface="Courier New"/>
              </a:rPr>
              <a:t>s</a:t>
            </a:r>
            <a:r>
              <a:rPr b="0" lang="fr-FR" sz="1600" spc="-732" strike="noStrike">
                <a:solidFill>
                  <a:srgbClr val="666666"/>
                </a:solidFill>
                <a:latin typeface="Courier New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attribute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live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object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023" name="object 11"/>
          <p:cNvSpPr/>
          <p:nvPr/>
        </p:nvSpPr>
        <p:spPr>
          <a:xfrm>
            <a:off x="8701560" y="4908600"/>
            <a:ext cx="2343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A93F1D0E-8B69-4D2B-B179-B313C62F3C4F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024" name="" descr=""/>
          <p:cNvPicPr/>
          <p:nvPr/>
        </p:nvPicPr>
        <p:blipFill>
          <a:blip r:embed="rId1"/>
          <a:stretch/>
        </p:blipFill>
        <p:spPr>
          <a:xfrm>
            <a:off x="567000" y="1260000"/>
            <a:ext cx="8007840" cy="2940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object 2"/>
          <p:cNvSpPr/>
          <p:nvPr/>
        </p:nvSpPr>
        <p:spPr>
          <a:xfrm>
            <a:off x="494280" y="371880"/>
            <a:ext cx="128268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2400" spc="-15" strike="noStrike">
                <a:solidFill>
                  <a:srgbClr val="000000"/>
                </a:solidFill>
                <a:latin typeface="Tahoma"/>
                <a:ea typeface="DejaVu Sans"/>
              </a:rPr>
              <a:t>Lab 07</a:t>
            </a:r>
            <a:endParaRPr b="0" lang="fr-FR" sz="2400" spc="-1" strike="noStrike">
              <a:latin typeface="Arial"/>
            </a:endParaRPr>
          </a:p>
        </p:txBody>
      </p:sp>
      <p:sp>
        <p:nvSpPr>
          <p:cNvPr id="1026" name="object 3"/>
          <p:cNvSpPr/>
          <p:nvPr/>
        </p:nvSpPr>
        <p:spPr>
          <a:xfrm>
            <a:off x="494280" y="1323360"/>
            <a:ext cx="5263560" cy="152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14000"/>
              </a:lnSpc>
              <a:spcBef>
                <a:spcPts val="99"/>
              </a:spcBef>
              <a:buNone/>
            </a:pPr>
            <a:r>
              <a:rPr b="0" lang="fr-FR" sz="2900" spc="-12" strike="noStrike">
                <a:solidFill>
                  <a:srgbClr val="000000"/>
                </a:solidFill>
                <a:latin typeface="Arial MT"/>
                <a:ea typeface="DejaVu Sans"/>
              </a:rPr>
              <a:t>Performing</a:t>
            </a:r>
            <a:r>
              <a:rPr b="0" lang="fr-FR" sz="2900" spc="-5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1" strike="noStrike">
                <a:solidFill>
                  <a:srgbClr val="000000"/>
                </a:solidFill>
                <a:latin typeface="Arial MT"/>
                <a:ea typeface="DejaVu Sans"/>
              </a:rPr>
              <a:t>rolling</a:t>
            </a:r>
            <a:r>
              <a:rPr b="0" lang="fr-FR" sz="2900" spc="-5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updates </a:t>
            </a:r>
            <a:r>
              <a:rPr b="0" lang="fr-FR" sz="2900" spc="-79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and </a:t>
            </a:r>
            <a:r>
              <a:rPr b="0" lang="fr-FR" sz="2900" spc="-1" strike="noStrike">
                <a:solidFill>
                  <a:srgbClr val="000000"/>
                </a:solidFill>
                <a:latin typeface="Arial MT"/>
                <a:ea typeface="DejaVu Sans"/>
              </a:rPr>
              <a:t>manually scaling a 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Deployment</a:t>
            </a:r>
            <a:endParaRPr b="0" lang="fr-FR" sz="2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44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21" strike="noStrike">
                <a:solidFill>
                  <a:srgbClr val="000000"/>
                </a:solidFill>
                <a:latin typeface="Tahoma"/>
              </a:rPr>
              <a:t>Types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of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6" strike="noStrike">
                <a:solidFill>
                  <a:srgbClr val="000000"/>
                </a:solidFill>
                <a:latin typeface="Tahoma"/>
              </a:rPr>
              <a:t>Autoscalers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Scaling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decisions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5" strike="noStrike">
                <a:solidFill>
                  <a:srgbClr val="666666"/>
                </a:solidFill>
                <a:latin typeface="Lucida Sans Unicode"/>
              </a:rPr>
              <a:t>are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06" strike="noStrike">
                <a:solidFill>
                  <a:srgbClr val="666666"/>
                </a:solidFill>
                <a:latin typeface="Lucida Sans Unicode"/>
              </a:rPr>
              <a:t>made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6" strike="noStrike">
                <a:solidFill>
                  <a:srgbClr val="666666"/>
                </a:solidFill>
                <a:latin typeface="Lucida Sans Unicode"/>
              </a:rPr>
              <a:t>based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metrics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028" name="object 4"/>
          <p:cNvSpPr/>
          <p:nvPr/>
        </p:nvSpPr>
        <p:spPr>
          <a:xfrm>
            <a:off x="8701560" y="4908600"/>
            <a:ext cx="2343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441D45A4-00A9-4E96-AE8D-FCCBB1203A17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029" name="object 3"/>
          <p:cNvSpPr/>
          <p:nvPr/>
        </p:nvSpPr>
        <p:spPr>
          <a:xfrm>
            <a:off x="600120" y="1360440"/>
            <a:ext cx="8217720" cy="251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Horizontal</a:t>
            </a:r>
            <a:r>
              <a:rPr b="0" i="1" lang="fr-FR" sz="1600" spc="-12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Pod</a:t>
            </a:r>
            <a:r>
              <a:rPr b="0" i="1" lang="fr-FR" sz="1600" spc="-72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Autoscaler</a:t>
            </a:r>
            <a:r>
              <a:rPr b="0" i="1" lang="fr-FR" sz="1600" spc="-12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i="1" lang="fr-FR" sz="1600" spc="-26" strike="noStrike">
                <a:solidFill>
                  <a:srgbClr val="000000"/>
                </a:solidFill>
                <a:latin typeface="Arial"/>
                <a:ea typeface="DejaVu Sans"/>
              </a:rPr>
              <a:t>(HPA):</a:t>
            </a:r>
            <a:r>
              <a:rPr b="0" i="1" lang="fr-FR" sz="1600" spc="-52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9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standard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feature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Kubernetes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that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scales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number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 Pod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replicas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based on CPU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and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memory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thresholds.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15" strike="noStrike">
                <a:solidFill>
                  <a:srgbClr val="000000"/>
                </a:solidFill>
                <a:latin typeface="Arial"/>
                <a:ea typeface="DejaVu Sans"/>
              </a:rPr>
              <a:t>Vertical</a:t>
            </a:r>
            <a:r>
              <a:rPr b="0" i="1" lang="fr-FR" sz="1600" spc="-12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Pod</a:t>
            </a:r>
            <a:r>
              <a:rPr b="0" i="1" lang="fr-FR" sz="1600" spc="-66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Autoscaler </a:t>
            </a:r>
            <a:r>
              <a:rPr b="0" i="1" lang="fr-FR" sz="1600" spc="-26" strike="noStrike">
                <a:solidFill>
                  <a:srgbClr val="000000"/>
                </a:solidFill>
                <a:latin typeface="Arial"/>
                <a:ea typeface="DejaVu Sans"/>
              </a:rPr>
              <a:t>(VPA):</a:t>
            </a:r>
            <a:r>
              <a:rPr b="0" i="1" lang="fr-FR" sz="1600" spc="15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Scales the CPU and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memory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allocation for existing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Pods based on historic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metrics.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Supported by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cloud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provider as an add-on or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needs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 be installed 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manually.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Both autoscalers use the</a:t>
            </a:r>
            <a:r>
              <a:rPr b="0" lang="fr-FR" sz="1600" spc="-7" strike="noStrike">
                <a:solidFill>
                  <a:srgbClr val="d3002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1"/>
              </a:rPr>
              <a:t>metrics </a:t>
            </a:r>
            <a:r>
              <a:rPr b="0" lang="fr-FR" sz="1600" spc="-7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2"/>
              </a:rPr>
              <a:t>server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. </a:t>
            </a:r>
            <a:r>
              <a:rPr b="0" lang="fr-FR" sz="1600" spc="-55" strike="noStrike">
                <a:solidFill>
                  <a:srgbClr val="000000"/>
                </a:solidFill>
                <a:latin typeface="Arial MT"/>
                <a:ea typeface="DejaVu Sans"/>
              </a:rPr>
              <a:t>You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need to install 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component. 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Pod </a:t>
            </a:r>
            <a:r>
              <a:rPr b="0" lang="fr-FR" sz="1600" spc="-4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should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also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set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resource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requests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and limits.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0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703560" cy="1276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6" strike="noStrike">
                <a:solidFill>
                  <a:srgbClr val="000000"/>
                </a:solidFill>
                <a:latin typeface="Tahoma"/>
              </a:rPr>
              <a:t>Horizontal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Pod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1" strike="noStrike">
                <a:solidFill>
                  <a:srgbClr val="000000"/>
                </a:solidFill>
                <a:latin typeface="Tahoma"/>
              </a:rPr>
              <a:t>Autoscaler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" strike="noStrike">
                <a:solidFill>
                  <a:srgbClr val="000000"/>
                </a:solidFill>
                <a:latin typeface="Tahoma"/>
              </a:rPr>
              <a:t>(HPA)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Kubernetes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primitive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that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reaches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into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metrics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server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1031" name="object 3" descr=""/>
          <p:cNvPicPr/>
          <p:nvPr/>
        </p:nvPicPr>
        <p:blipFill>
          <a:blip r:embed="rId1"/>
          <a:stretch/>
        </p:blipFill>
        <p:spPr>
          <a:xfrm>
            <a:off x="1729800" y="1537920"/>
            <a:ext cx="5594400" cy="3009240"/>
          </a:xfrm>
          <a:prstGeom prst="rect">
            <a:avLst/>
          </a:prstGeom>
          <a:ln w="0">
            <a:noFill/>
          </a:ln>
        </p:spPr>
      </p:pic>
      <p:sp>
        <p:nvSpPr>
          <p:cNvPr id="1032" name="object 4"/>
          <p:cNvSpPr/>
          <p:nvPr/>
        </p:nvSpPr>
        <p:spPr>
          <a:xfrm>
            <a:off x="8701560" y="4908600"/>
            <a:ext cx="2343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9B979AA0-D534-4126-A2C7-24B0A19830DF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24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5" strike="noStrike">
                <a:solidFill>
                  <a:srgbClr val="000000"/>
                </a:solidFill>
                <a:latin typeface="Tahoma"/>
              </a:rPr>
              <a:t>Autoscaling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" strike="noStrike">
                <a:solidFill>
                  <a:srgbClr val="000000"/>
                </a:solidFill>
                <a:latin typeface="Tahoma"/>
              </a:rPr>
              <a:t>Deployment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66" strike="noStrike">
                <a:solidFill>
                  <a:srgbClr val="000000"/>
                </a:solidFill>
                <a:latin typeface="Tahoma"/>
              </a:rPr>
              <a:t>by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CPU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"Auto-scale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6" strike="noStrike">
                <a:solidFill>
                  <a:srgbClr val="666666"/>
                </a:solidFill>
                <a:latin typeface="Lucida Sans Unicode"/>
              </a:rPr>
              <a:t>based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on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2" strike="noStrike">
                <a:solidFill>
                  <a:srgbClr val="666666"/>
                </a:solidFill>
                <a:latin typeface="Lucida Sans Unicode"/>
              </a:rPr>
              <a:t>average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CPU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utilization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5" strike="noStrike">
                <a:solidFill>
                  <a:srgbClr val="666666"/>
                </a:solidFill>
                <a:latin typeface="Lucida Sans Unicode"/>
              </a:rPr>
              <a:t>across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all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replicas."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1034" name="object 3" descr=""/>
          <p:cNvPicPr/>
          <p:nvPr/>
        </p:nvPicPr>
        <p:blipFill>
          <a:blip r:embed="rId1"/>
          <a:stretch/>
        </p:blipFill>
        <p:spPr>
          <a:xfrm>
            <a:off x="448200" y="1687680"/>
            <a:ext cx="8157240" cy="2873880"/>
          </a:xfrm>
          <a:prstGeom prst="rect">
            <a:avLst/>
          </a:prstGeom>
          <a:ln w="0">
            <a:noFill/>
          </a:ln>
        </p:spPr>
      </p:pic>
      <p:sp>
        <p:nvSpPr>
          <p:cNvPr id="1035" name="object 4"/>
          <p:cNvSpPr/>
          <p:nvPr/>
        </p:nvSpPr>
        <p:spPr>
          <a:xfrm>
            <a:off x="8701560" y="4908600"/>
            <a:ext cx="2343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93EEB8E7-EE9B-4C6F-BC5E-D230DA2A115F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603560" cy="1276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6" strike="noStrike">
                <a:solidFill>
                  <a:srgbClr val="000000"/>
                </a:solidFill>
                <a:latin typeface="Tahoma"/>
              </a:rPr>
              <a:t>Horizontal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Pod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1" strike="noStrike">
                <a:solidFill>
                  <a:srgbClr val="000000"/>
                </a:solidFill>
                <a:latin typeface="Tahoma"/>
              </a:rPr>
              <a:t>Autoscaler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YAML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Manifest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Creates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6" strike="noStrike">
                <a:solidFill>
                  <a:srgbClr val="666666"/>
                </a:solidFill>
                <a:latin typeface="Lucida Sans Unicode"/>
              </a:rPr>
              <a:t>an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error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if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label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selector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template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labels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do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not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match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037" name="object 14"/>
          <p:cNvSpPr/>
          <p:nvPr/>
        </p:nvSpPr>
        <p:spPr>
          <a:xfrm>
            <a:off x="8701560" y="4908600"/>
            <a:ext cx="2343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EA6B2477-E42A-4987-A7B1-3D3D4AC90243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038" name="" descr=""/>
          <p:cNvPicPr/>
          <p:nvPr/>
        </p:nvPicPr>
        <p:blipFill>
          <a:blip r:embed="rId1"/>
          <a:stretch/>
        </p:blipFill>
        <p:spPr>
          <a:xfrm>
            <a:off x="489600" y="1207080"/>
            <a:ext cx="7428240" cy="36507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PlaceHolder 1"/>
          <p:cNvSpPr>
            <a:spLocks noGrp="1"/>
          </p:cNvSpPr>
          <p:nvPr>
            <p:ph type="title"/>
          </p:nvPr>
        </p:nvSpPr>
        <p:spPr>
          <a:xfrm>
            <a:off x="511560" y="342720"/>
            <a:ext cx="7946280" cy="1276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Inspecting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the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6" strike="noStrike">
                <a:solidFill>
                  <a:srgbClr val="000000"/>
                </a:solidFill>
                <a:latin typeface="Tahoma"/>
              </a:rPr>
              <a:t>Horizontal</a:t>
            </a:r>
            <a:r>
              <a:rPr b="1" lang="fr-FR" sz="2400" spc="-126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Pod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1" strike="noStrike">
                <a:solidFill>
                  <a:srgbClr val="000000"/>
                </a:solidFill>
                <a:latin typeface="Tahoma"/>
              </a:rPr>
              <a:t>Autoscaler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Use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5" strike="noStrike">
                <a:solidFill>
                  <a:srgbClr val="666666"/>
                </a:solidFill>
                <a:latin typeface="Lucida Sans Unicode"/>
              </a:rPr>
              <a:t>scale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9" strike="noStrike">
                <a:solidFill>
                  <a:srgbClr val="666666"/>
                </a:solidFill>
                <a:latin typeface="Lucida Sans Unicode"/>
              </a:rPr>
              <a:t>command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or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2" strike="noStrike">
                <a:solidFill>
                  <a:srgbClr val="666666"/>
                </a:solidFill>
                <a:latin typeface="Lucida Sans Unicode"/>
              </a:rPr>
              <a:t>change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spec.replica</a:t>
            </a:r>
            <a:r>
              <a:rPr b="0" lang="fr-FR" sz="1600" spc="-1" strike="noStrike">
                <a:solidFill>
                  <a:srgbClr val="666666"/>
                </a:solidFill>
                <a:latin typeface="Courier New"/>
              </a:rPr>
              <a:t>s</a:t>
            </a:r>
            <a:r>
              <a:rPr b="0" lang="fr-FR" sz="1600" spc="-732" strike="noStrike">
                <a:solidFill>
                  <a:srgbClr val="666666"/>
                </a:solidFill>
                <a:latin typeface="Courier New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attribute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live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object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040" name="object 3"/>
          <p:cNvGrpSpPr/>
          <p:nvPr/>
        </p:nvGrpSpPr>
        <p:grpSpPr>
          <a:xfrm>
            <a:off x="458280" y="1338480"/>
            <a:ext cx="7187040" cy="1040760"/>
            <a:chOff x="458280" y="1338480"/>
            <a:chExt cx="7187040" cy="1040760"/>
          </a:xfrm>
        </p:grpSpPr>
        <p:pic>
          <p:nvPicPr>
            <p:cNvPr id="1041" name="object 4" descr=""/>
            <p:cNvPicPr/>
            <p:nvPr/>
          </p:nvPicPr>
          <p:blipFill>
            <a:blip r:embed="rId1"/>
            <a:stretch/>
          </p:blipFill>
          <p:spPr>
            <a:xfrm>
              <a:off x="458280" y="1338480"/>
              <a:ext cx="7187040" cy="104076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042" name="object 5"/>
            <p:cNvSpPr/>
            <p:nvPr/>
          </p:nvSpPr>
          <p:spPr>
            <a:xfrm>
              <a:off x="511560" y="1387080"/>
              <a:ext cx="7073280" cy="927000"/>
            </a:xfrm>
            <a:custGeom>
              <a:avLst/>
              <a:gdLst/>
              <a:ahLst/>
              <a:rect l="l" t="t" r="r" b="b"/>
              <a:pathLst>
                <a:path w="7076440" h="930275">
                  <a:moveTo>
                    <a:pt x="7076099" y="929699"/>
                  </a:moveTo>
                  <a:lnTo>
                    <a:pt x="0" y="929699"/>
                  </a:lnTo>
                  <a:lnTo>
                    <a:pt x="0" y="0"/>
                  </a:lnTo>
                  <a:lnTo>
                    <a:pt x="7076099" y="0"/>
                  </a:lnTo>
                  <a:lnTo>
                    <a:pt x="7076099" y="9296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043" name="object 6"/>
          <p:cNvSpPr/>
          <p:nvPr/>
        </p:nvSpPr>
        <p:spPr>
          <a:xfrm>
            <a:off x="665280" y="1530720"/>
            <a:ext cx="1447200" cy="17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1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1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get</a:t>
            </a:r>
            <a:r>
              <a:rPr b="1" lang="fr-FR" sz="11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hpa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044" name="object 7"/>
          <p:cNvSpPr/>
          <p:nvPr/>
        </p:nvSpPr>
        <p:spPr>
          <a:xfrm>
            <a:off x="1670760" y="1702080"/>
            <a:ext cx="1698480" cy="35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REFERENCE</a:t>
            </a:r>
            <a:endParaRPr b="0" lang="fr-FR" sz="11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31"/>
              </a:spcBef>
              <a:buNone/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Deployment/app-cache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045" name="object 8"/>
          <p:cNvSpPr/>
          <p:nvPr/>
        </p:nvSpPr>
        <p:spPr>
          <a:xfrm>
            <a:off x="3598560" y="1702080"/>
            <a:ext cx="682920" cy="34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9000" bIns="0" anchor="t">
            <a:spAutoFit/>
          </a:bodyPr>
          <a:p>
            <a:pPr marL="12600">
              <a:lnSpc>
                <a:spcPct val="102000"/>
              </a:lnSpc>
              <a:spcBef>
                <a:spcPts val="71"/>
              </a:spcBef>
              <a:buNone/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TARGETS  15%/80%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046" name="object 9"/>
          <p:cNvSpPr/>
          <p:nvPr/>
        </p:nvSpPr>
        <p:spPr>
          <a:xfrm>
            <a:off x="4436640" y="1702080"/>
            <a:ext cx="609480" cy="34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9000" bIns="0" anchor="t">
            <a:spAutoFit/>
          </a:bodyPr>
          <a:p>
            <a:pPr marL="12600">
              <a:lnSpc>
                <a:spcPct val="102000"/>
              </a:lnSpc>
              <a:spcBef>
                <a:spcPts val="71"/>
              </a:spcBef>
              <a:buNone/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MINPODS  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3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047" name="object 10"/>
          <p:cNvSpPr/>
          <p:nvPr/>
        </p:nvSpPr>
        <p:spPr>
          <a:xfrm>
            <a:off x="5274720" y="1702080"/>
            <a:ext cx="609480" cy="34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9000" bIns="0" anchor="t">
            <a:spAutoFit/>
          </a:bodyPr>
          <a:p>
            <a:pPr marL="12600">
              <a:lnSpc>
                <a:spcPct val="102000"/>
              </a:lnSpc>
              <a:spcBef>
                <a:spcPts val="71"/>
              </a:spcBef>
              <a:buNone/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MAXPODS  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5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048" name="object 11"/>
          <p:cNvSpPr/>
          <p:nvPr/>
        </p:nvSpPr>
        <p:spPr>
          <a:xfrm>
            <a:off x="6028920" y="1702080"/>
            <a:ext cx="1195560" cy="34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9000" bIns="0" anchor="t">
            <a:spAutoFit/>
          </a:bodyPr>
          <a:p>
            <a:pPr marL="12600">
              <a:lnSpc>
                <a:spcPct val="102000"/>
              </a:lnSpc>
              <a:spcBef>
                <a:spcPts val="71"/>
              </a:spcBef>
              <a:buNone/>
              <a:tabLst>
                <a:tab algn="l" pos="934200"/>
              </a:tabLst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REPLICA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S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AGE  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3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049" name="object 12"/>
          <p:cNvSpPr/>
          <p:nvPr/>
        </p:nvSpPr>
        <p:spPr>
          <a:xfrm>
            <a:off x="665280" y="1702080"/>
            <a:ext cx="776520" cy="52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</a:t>
            </a:r>
            <a:endParaRPr b="0" lang="fr-FR" sz="1100" spc="-1" strike="noStrike">
              <a:latin typeface="Arial"/>
            </a:endParaRPr>
          </a:p>
          <a:p>
            <a:pPr marL="12600">
              <a:lnSpc>
                <a:spcPct val="102000"/>
              </a:lnSpc>
              <a:buNone/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app-cache  2m14s</a:t>
            </a:r>
            <a:endParaRPr b="0" lang="fr-FR" sz="1100" spc="-1" strike="noStrike">
              <a:latin typeface="Arial"/>
            </a:endParaRPr>
          </a:p>
        </p:txBody>
      </p:sp>
      <p:grpSp>
        <p:nvGrpSpPr>
          <p:cNvPr id="1050" name="object 13"/>
          <p:cNvGrpSpPr/>
          <p:nvPr/>
        </p:nvGrpSpPr>
        <p:grpSpPr>
          <a:xfrm>
            <a:off x="3519720" y="1677960"/>
            <a:ext cx="761760" cy="1339920"/>
            <a:chOff x="3519720" y="1677960"/>
            <a:chExt cx="761760" cy="1339920"/>
          </a:xfrm>
        </p:grpSpPr>
        <p:sp>
          <p:nvSpPr>
            <p:cNvPr id="1051" name="object 14"/>
            <p:cNvSpPr/>
            <p:nvPr/>
          </p:nvSpPr>
          <p:spPr>
            <a:xfrm>
              <a:off x="3519720" y="1677960"/>
              <a:ext cx="761760" cy="459000"/>
            </a:xfrm>
            <a:custGeom>
              <a:avLst/>
              <a:gdLst/>
              <a:ahLst/>
              <a:rect l="l" t="t" r="r" b="b"/>
              <a:pathLst>
                <a:path w="765175" h="462280">
                  <a:moveTo>
                    <a:pt x="0" y="0"/>
                  </a:moveTo>
                  <a:lnTo>
                    <a:pt x="764699" y="0"/>
                  </a:lnTo>
                  <a:lnTo>
                    <a:pt x="764699" y="461699"/>
                  </a:lnTo>
                  <a:lnTo>
                    <a:pt x="0" y="46169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9049">
              <a:solidFill>
                <a:srgbClr val="ff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052" name="object 15"/>
            <p:cNvSpPr/>
            <p:nvPr/>
          </p:nvSpPr>
          <p:spPr>
            <a:xfrm>
              <a:off x="3917880" y="2350440"/>
              <a:ext cx="360" cy="667440"/>
            </a:xfrm>
            <a:custGeom>
              <a:avLst/>
              <a:gdLst/>
              <a:ahLst/>
              <a:rect l="l" t="t" r="r" b="b"/>
              <a:pathLst>
                <a:path w="1270" h="670560">
                  <a:moveTo>
                    <a:pt x="768" y="670499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053" name="object 16" descr=""/>
            <p:cNvPicPr/>
            <p:nvPr/>
          </p:nvPicPr>
          <p:blipFill>
            <a:blip r:embed="rId2"/>
            <a:stretch/>
          </p:blipFill>
          <p:spPr>
            <a:xfrm>
              <a:off x="3876840" y="2254320"/>
              <a:ext cx="78840" cy="1022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054" name="object 17"/>
          <p:cNvSpPr/>
          <p:nvPr/>
        </p:nvSpPr>
        <p:spPr>
          <a:xfrm>
            <a:off x="2502360" y="3110760"/>
            <a:ext cx="325548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2600">
              <a:lnSpc>
                <a:spcPts val="1650"/>
              </a:lnSpc>
              <a:spcBef>
                <a:spcPts val="181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Renders</a:t>
            </a:r>
            <a:r>
              <a:rPr b="0" lang="fr-FR" sz="14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current</a:t>
            </a:r>
            <a:r>
              <a:rPr b="0" lang="fr-FR" sz="14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resource</a:t>
            </a:r>
            <a:r>
              <a:rPr b="0" lang="fr-FR" sz="14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utilization </a:t>
            </a:r>
            <a:r>
              <a:rPr b="0" lang="fr-FR" sz="1400" spc="-37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and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compares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them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with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thresholds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055" name="object 18"/>
          <p:cNvSpPr/>
          <p:nvPr/>
        </p:nvSpPr>
        <p:spPr>
          <a:xfrm>
            <a:off x="8701560" y="4908600"/>
            <a:ext cx="2343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890A2FB5-D88C-4275-B0BE-C2B4AD1B2D36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6" name="object 2"/>
          <p:cNvSpPr/>
          <p:nvPr/>
        </p:nvSpPr>
        <p:spPr>
          <a:xfrm>
            <a:off x="494280" y="371880"/>
            <a:ext cx="128268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2400" spc="-15" strike="noStrike">
                <a:solidFill>
                  <a:srgbClr val="000000"/>
                </a:solidFill>
                <a:latin typeface="Tahoma"/>
                <a:ea typeface="DejaVu Sans"/>
              </a:rPr>
              <a:t>Lab 08</a:t>
            </a:r>
            <a:endParaRPr b="0" lang="fr-FR" sz="2400" spc="-1" strike="noStrike">
              <a:latin typeface="Arial"/>
            </a:endParaRPr>
          </a:p>
        </p:txBody>
      </p:sp>
      <p:sp>
        <p:nvSpPr>
          <p:cNvPr id="1057" name="object 3"/>
          <p:cNvSpPr/>
          <p:nvPr/>
        </p:nvSpPr>
        <p:spPr>
          <a:xfrm>
            <a:off x="494280" y="1323360"/>
            <a:ext cx="5443560" cy="101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14000"/>
              </a:lnSpc>
              <a:spcBef>
                <a:spcPts val="99"/>
              </a:spcBef>
              <a:buNone/>
            </a:pP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Creating</a:t>
            </a:r>
            <a:r>
              <a:rPr b="0" lang="fr-FR" sz="29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29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Horizontal</a:t>
            </a:r>
            <a:r>
              <a:rPr b="0" lang="fr-FR" sz="29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12" strike="noStrike">
                <a:solidFill>
                  <a:srgbClr val="000000"/>
                </a:solidFill>
                <a:latin typeface="Arial MT"/>
                <a:ea typeface="DejaVu Sans"/>
              </a:rPr>
              <a:t>Pod </a:t>
            </a:r>
            <a:r>
              <a:rPr b="0" lang="fr-FR" sz="2900" spc="-79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12" strike="noStrike">
                <a:solidFill>
                  <a:srgbClr val="000000"/>
                </a:solidFill>
                <a:latin typeface="Arial MT"/>
                <a:ea typeface="DejaVu Sans"/>
              </a:rPr>
              <a:t>Autoscaler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for </a:t>
            </a:r>
            <a:r>
              <a:rPr b="0" lang="fr-FR" sz="2900" spc="-1" strike="noStrike">
                <a:solidFill>
                  <a:srgbClr val="000000"/>
                </a:solidFill>
                <a:latin typeface="Arial MT"/>
                <a:ea typeface="DejaVu Sans"/>
              </a:rPr>
              <a:t>a 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Deployment</a:t>
            </a:r>
            <a:endParaRPr b="0" lang="fr-FR" sz="2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24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80" strike="noStrike">
                <a:solidFill>
                  <a:srgbClr val="000000"/>
                </a:solidFill>
                <a:latin typeface="Tahoma"/>
              </a:rPr>
              <a:t>Common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" strike="noStrike">
                <a:solidFill>
                  <a:srgbClr val="000000"/>
                </a:solidFill>
                <a:latin typeface="Tahoma"/>
              </a:rPr>
              <a:t>Deployment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Strategies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Choosing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right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deployment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procedure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depends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needs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059" name="object 4"/>
          <p:cNvSpPr/>
          <p:nvPr/>
        </p:nvSpPr>
        <p:spPr>
          <a:xfrm>
            <a:off x="8701560" y="4908600"/>
            <a:ext cx="2347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A91394CA-77C6-4186-BBBE-72D193E67CCC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060" name="object 3"/>
          <p:cNvSpPr/>
          <p:nvPr/>
        </p:nvSpPr>
        <p:spPr>
          <a:xfrm>
            <a:off x="600120" y="1360440"/>
            <a:ext cx="8037720" cy="274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Rolling Update: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Release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new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version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on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rolling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update fashion, one after the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21" strike="noStrike">
                <a:solidFill>
                  <a:srgbClr val="000000"/>
                </a:solidFill>
                <a:latin typeface="Arial MT"/>
                <a:ea typeface="DejaVu Sans"/>
              </a:rPr>
              <a:t>other.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1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Recreate:</a:t>
            </a:r>
            <a:r>
              <a:rPr b="0" i="1" lang="fr-FR" sz="1600" spc="-4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fr-FR" sz="1600" spc="-26" strike="noStrike">
                <a:solidFill>
                  <a:srgbClr val="000000"/>
                </a:solidFill>
                <a:latin typeface="Arial MT"/>
                <a:ea typeface="DejaVu Sans"/>
              </a:rPr>
              <a:t>Terminate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old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version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and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release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new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one.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Blue/green:</a:t>
            </a:r>
            <a:r>
              <a:rPr b="0" i="1" lang="fr-FR" sz="16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Release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new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version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alongside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old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version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switch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traffic.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Canary:</a:t>
            </a:r>
            <a:r>
              <a:rPr b="0" i="1" lang="fr-FR" sz="1600" spc="-12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Release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new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version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subset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 users,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proceed to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full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rollout.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1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42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35" strike="noStrike">
                <a:solidFill>
                  <a:srgbClr val="000000"/>
                </a:solidFill>
                <a:latin typeface="Tahoma"/>
              </a:rPr>
              <a:t>Rolling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6" strike="noStrike">
                <a:solidFill>
                  <a:srgbClr val="000000"/>
                </a:solidFill>
                <a:latin typeface="Tahoma"/>
              </a:rPr>
              <a:t>Update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" strike="noStrike">
                <a:solidFill>
                  <a:srgbClr val="000000"/>
                </a:solidFill>
                <a:latin typeface="Tahoma"/>
              </a:rPr>
              <a:t>Deployment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Strategy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Secondary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ReplicaSet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is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created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6" strike="noStrike">
                <a:solidFill>
                  <a:srgbClr val="666666"/>
                </a:solidFill>
                <a:latin typeface="Lucida Sans Unicode"/>
              </a:rPr>
              <a:t>new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version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application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1062" name="object 3" descr=""/>
          <p:cNvPicPr/>
          <p:nvPr/>
        </p:nvPicPr>
        <p:blipFill>
          <a:blip r:embed="rId1"/>
          <a:stretch/>
        </p:blipFill>
        <p:spPr>
          <a:xfrm>
            <a:off x="1251000" y="1690920"/>
            <a:ext cx="6552000" cy="2895840"/>
          </a:xfrm>
          <a:prstGeom prst="rect">
            <a:avLst/>
          </a:prstGeom>
          <a:ln w="0">
            <a:noFill/>
          </a:ln>
        </p:spPr>
      </p:pic>
      <p:sp>
        <p:nvSpPr>
          <p:cNvPr id="1063" name="object 4"/>
          <p:cNvSpPr/>
          <p:nvPr/>
        </p:nvSpPr>
        <p:spPr>
          <a:xfrm>
            <a:off x="8701560" y="4908600"/>
            <a:ext cx="2347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462DBD1F-3552-4AD3-939D-699EFE14B5FF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88356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35" strike="noStrike">
                <a:solidFill>
                  <a:srgbClr val="000000"/>
                </a:solidFill>
                <a:latin typeface="Tahoma"/>
              </a:rPr>
              <a:t>Rolling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6" strike="noStrike">
                <a:solidFill>
                  <a:srgbClr val="000000"/>
                </a:solidFill>
                <a:latin typeface="Tahoma"/>
              </a:rPr>
              <a:t>Update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" strike="noStrike">
                <a:solidFill>
                  <a:srgbClr val="000000"/>
                </a:solidFill>
                <a:latin typeface="Tahoma"/>
              </a:rPr>
              <a:t>Deployment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Strategy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Runtime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behavior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00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0" strike="noStrike">
                <a:solidFill>
                  <a:srgbClr val="666666"/>
                </a:solidFill>
                <a:latin typeface="Lucida Sans Unicode"/>
              </a:rPr>
              <a:t>be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fine-tuned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065" name="object 3"/>
          <p:cNvSpPr/>
          <p:nvPr/>
        </p:nvSpPr>
        <p:spPr>
          <a:xfrm>
            <a:off x="600120" y="3565080"/>
            <a:ext cx="78577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00000"/>
              </a:lnSpc>
              <a:spcBef>
                <a:spcPts val="99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Pros:</a:t>
            </a:r>
            <a:r>
              <a:rPr b="0" i="1" lang="fr-FR" sz="1600" spc="-12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New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version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is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slowly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distributed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over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time,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no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downtime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Cons:</a:t>
            </a:r>
            <a:r>
              <a:rPr b="0" i="1" lang="fr-FR" sz="1600" spc="-2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Breaking</a:t>
            </a:r>
            <a:r>
              <a:rPr b="0" lang="fr-FR" sz="1600" spc="-10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API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changes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</a:t>
            </a:r>
            <a:r>
              <a:rPr b="0" lang="fr-FR" sz="16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make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consumers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incompatible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066" name="object 9"/>
          <p:cNvSpPr/>
          <p:nvPr/>
        </p:nvSpPr>
        <p:spPr>
          <a:xfrm>
            <a:off x="8701560" y="4908600"/>
            <a:ext cx="2347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B34ED836-ACB3-4652-8AE5-0B269308FA90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067" name="" descr=""/>
          <p:cNvPicPr/>
          <p:nvPr/>
        </p:nvPicPr>
        <p:blipFill>
          <a:blip r:embed="rId1"/>
          <a:stretch/>
        </p:blipFill>
        <p:spPr>
          <a:xfrm>
            <a:off x="497880" y="1260000"/>
            <a:ext cx="6447960" cy="19141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06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Recreate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" strike="noStrike">
                <a:solidFill>
                  <a:srgbClr val="000000"/>
                </a:solidFill>
                <a:latin typeface="Tahoma"/>
              </a:rPr>
              <a:t>Deployment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Strategy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Terminates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all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running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instances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recreate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them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1069" name="object 3" descr=""/>
          <p:cNvPicPr/>
          <p:nvPr/>
        </p:nvPicPr>
        <p:blipFill>
          <a:blip r:embed="rId1"/>
          <a:stretch/>
        </p:blipFill>
        <p:spPr>
          <a:xfrm>
            <a:off x="1742760" y="1434240"/>
            <a:ext cx="5568120" cy="3305160"/>
          </a:xfrm>
          <a:prstGeom prst="rect">
            <a:avLst/>
          </a:prstGeom>
          <a:ln w="0">
            <a:noFill/>
          </a:ln>
        </p:spPr>
      </p:pic>
      <p:sp>
        <p:nvSpPr>
          <p:cNvPr id="1070" name="object 4"/>
          <p:cNvSpPr/>
          <p:nvPr/>
        </p:nvSpPr>
        <p:spPr>
          <a:xfrm>
            <a:off x="8701560" y="4908600"/>
            <a:ext cx="2347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9F8F4880-C468-43B6-84A5-D11A6AFCF186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88356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Recreate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" strike="noStrike">
                <a:solidFill>
                  <a:srgbClr val="000000"/>
                </a:solidFill>
                <a:latin typeface="Tahoma"/>
              </a:rPr>
              <a:t>Deployment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Strategy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No</a:t>
            </a:r>
            <a:r>
              <a:rPr b="0" lang="fr-FR" sz="1600" spc="-10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configuration</a:t>
            </a:r>
            <a:r>
              <a:rPr b="0" lang="fr-FR" sz="1600" spc="-97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options</a:t>
            </a:r>
            <a:r>
              <a:rPr b="0" lang="fr-FR" sz="1600" spc="-97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6" strike="noStrike">
                <a:solidFill>
                  <a:srgbClr val="666666"/>
                </a:solidFill>
                <a:latin typeface="Lucida Sans Unicode"/>
              </a:rPr>
              <a:t>available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072" name="object 3"/>
          <p:cNvSpPr/>
          <p:nvPr/>
        </p:nvSpPr>
        <p:spPr>
          <a:xfrm>
            <a:off x="528120" y="3139560"/>
            <a:ext cx="8469720" cy="10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00000"/>
              </a:lnSpc>
              <a:spcBef>
                <a:spcPts val="99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Pros: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Good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option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development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environments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as everything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renewed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once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Cons:</a:t>
            </a:r>
            <a:r>
              <a:rPr b="0" i="1" lang="fr-FR" sz="1600" spc="-15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Can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cause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downtime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while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applications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are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starting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up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073" name="object 10"/>
          <p:cNvSpPr/>
          <p:nvPr/>
        </p:nvSpPr>
        <p:spPr>
          <a:xfrm>
            <a:off x="8701560" y="4908600"/>
            <a:ext cx="2347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258CCE97-6320-485C-9842-843C784B67A1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074" name="" descr=""/>
          <p:cNvPicPr/>
          <p:nvPr/>
        </p:nvPicPr>
        <p:blipFill>
          <a:blip r:embed="rId1"/>
          <a:stretch/>
        </p:blipFill>
        <p:spPr>
          <a:xfrm>
            <a:off x="509400" y="1319400"/>
            <a:ext cx="5716440" cy="1224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34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6" strike="noStrike">
                <a:solidFill>
                  <a:srgbClr val="000000"/>
                </a:solidFill>
                <a:latin typeface="Tahoma"/>
              </a:rPr>
              <a:t>Blue/Green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" strike="noStrike">
                <a:solidFill>
                  <a:srgbClr val="000000"/>
                </a:solidFill>
                <a:latin typeface="Tahoma"/>
              </a:rPr>
              <a:t>Deployment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Strategy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Deployment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object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6" strike="noStrike">
                <a:solidFill>
                  <a:srgbClr val="666666"/>
                </a:solidFill>
                <a:latin typeface="Lucida Sans Unicode"/>
              </a:rPr>
              <a:t>new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version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is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created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alongside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1076" name="object 3" descr=""/>
          <p:cNvPicPr/>
          <p:nvPr/>
        </p:nvPicPr>
        <p:blipFill>
          <a:blip r:embed="rId1"/>
          <a:stretch/>
        </p:blipFill>
        <p:spPr>
          <a:xfrm>
            <a:off x="1743840" y="1424880"/>
            <a:ext cx="5566320" cy="3304440"/>
          </a:xfrm>
          <a:prstGeom prst="rect">
            <a:avLst/>
          </a:prstGeom>
          <a:ln w="0">
            <a:noFill/>
          </a:ln>
        </p:spPr>
      </p:pic>
      <p:sp>
        <p:nvSpPr>
          <p:cNvPr id="1077" name="object 4"/>
          <p:cNvSpPr/>
          <p:nvPr/>
        </p:nvSpPr>
        <p:spPr>
          <a:xfrm>
            <a:off x="8701560" y="4908600"/>
            <a:ext cx="2347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A82A6281-2954-4F26-8173-744E16C48E4E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06356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6" strike="noStrike">
                <a:solidFill>
                  <a:srgbClr val="000000"/>
                </a:solidFill>
                <a:latin typeface="Tahoma"/>
              </a:rPr>
              <a:t>Blue/Green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" strike="noStrike">
                <a:solidFill>
                  <a:srgbClr val="000000"/>
                </a:solidFill>
                <a:latin typeface="Tahoma"/>
              </a:rPr>
              <a:t>Deployment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Strategy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Requires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duplicate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set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objects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079" name="object 3"/>
          <p:cNvSpPr/>
          <p:nvPr/>
        </p:nvSpPr>
        <p:spPr>
          <a:xfrm>
            <a:off x="600120" y="3565080"/>
            <a:ext cx="67777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00000"/>
              </a:lnSpc>
              <a:spcBef>
                <a:spcPts val="99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Pros:</a:t>
            </a:r>
            <a:r>
              <a:rPr b="0" i="1" lang="fr-FR" sz="1600" spc="-12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No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downtime,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traffic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routed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when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ready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Cons:</a:t>
            </a:r>
            <a:r>
              <a:rPr b="0" i="1" lang="fr-FR" sz="1600" spc="-2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Resource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duplication,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configuration</a:t>
            </a:r>
            <a:r>
              <a:rPr b="0" lang="fr-FR" sz="16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network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routing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080" name="object 10"/>
          <p:cNvSpPr/>
          <p:nvPr/>
        </p:nvSpPr>
        <p:spPr>
          <a:xfrm>
            <a:off x="8701560" y="4908600"/>
            <a:ext cx="2347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4DCDDE76-B2A8-42C3-A3E8-9D048B9F5208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081" name="" descr=""/>
          <p:cNvPicPr/>
          <p:nvPr/>
        </p:nvPicPr>
        <p:blipFill>
          <a:blip r:embed="rId1"/>
          <a:stretch/>
        </p:blipFill>
        <p:spPr>
          <a:xfrm>
            <a:off x="540000" y="1355040"/>
            <a:ext cx="6762240" cy="18828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34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55" strike="noStrike">
                <a:solidFill>
                  <a:srgbClr val="000000"/>
                </a:solidFill>
                <a:latin typeface="Tahoma"/>
              </a:rPr>
              <a:t>Canary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" strike="noStrike">
                <a:solidFill>
                  <a:srgbClr val="000000"/>
                </a:solidFill>
                <a:latin typeface="Tahoma"/>
              </a:rPr>
              <a:t>Deployment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Strategy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Two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Deployment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objects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different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traffic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distribution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1083" name="object 3" descr=""/>
          <p:cNvPicPr/>
          <p:nvPr/>
        </p:nvPicPr>
        <p:blipFill>
          <a:blip r:embed="rId1"/>
          <a:stretch/>
        </p:blipFill>
        <p:spPr>
          <a:xfrm>
            <a:off x="1194480" y="1533600"/>
            <a:ext cx="6665040" cy="2951640"/>
          </a:xfrm>
          <a:prstGeom prst="rect">
            <a:avLst/>
          </a:prstGeom>
          <a:ln w="0">
            <a:noFill/>
          </a:ln>
        </p:spPr>
      </p:pic>
      <p:sp>
        <p:nvSpPr>
          <p:cNvPr id="1084" name="object 4"/>
          <p:cNvSpPr/>
          <p:nvPr/>
        </p:nvSpPr>
        <p:spPr>
          <a:xfrm>
            <a:off x="8701560" y="4908600"/>
            <a:ext cx="2347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B26DD799-ECF4-4D14-BAB4-D98FA4204450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60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55" strike="noStrike">
                <a:solidFill>
                  <a:srgbClr val="000000"/>
                </a:solidFill>
                <a:latin typeface="Tahoma"/>
              </a:rPr>
              <a:t>Canary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" strike="noStrike">
                <a:solidFill>
                  <a:srgbClr val="000000"/>
                </a:solidFill>
                <a:latin typeface="Tahoma"/>
              </a:rPr>
              <a:t>Deployment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Strategy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6" strike="noStrike">
                <a:solidFill>
                  <a:srgbClr val="666666"/>
                </a:solidFill>
                <a:latin typeface="Lucida Sans Unicode"/>
              </a:rPr>
              <a:t>new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Deployment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initially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starts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smaller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number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replicas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086" name="object 3"/>
          <p:cNvSpPr/>
          <p:nvPr/>
        </p:nvSpPr>
        <p:spPr>
          <a:xfrm>
            <a:off x="600120" y="2618280"/>
            <a:ext cx="7677720" cy="11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Pros: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New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version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released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subset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users,</a:t>
            </a:r>
            <a:r>
              <a:rPr b="0" lang="fr-FR" sz="1600" spc="-9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A/B testing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features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and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performance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1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Cons:</a:t>
            </a:r>
            <a:r>
              <a:rPr b="0" i="1" lang="fr-FR" sz="1600" spc="-15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May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require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load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balancer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for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fine-grained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distribution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087" name="object 8"/>
          <p:cNvSpPr/>
          <p:nvPr/>
        </p:nvSpPr>
        <p:spPr>
          <a:xfrm>
            <a:off x="8701560" y="4908600"/>
            <a:ext cx="2347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CBD62B99-DCB7-4362-B67D-DA63294BB6F8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088" name="" descr=""/>
          <p:cNvPicPr/>
          <p:nvPr/>
        </p:nvPicPr>
        <p:blipFill>
          <a:blip r:embed="rId1"/>
          <a:stretch/>
        </p:blipFill>
        <p:spPr>
          <a:xfrm>
            <a:off x="540000" y="1372320"/>
            <a:ext cx="4415760" cy="7855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89" name="object 2"/>
          <p:cNvGrpSpPr/>
          <p:nvPr/>
        </p:nvGrpSpPr>
        <p:grpSpPr>
          <a:xfrm>
            <a:off x="0" y="0"/>
            <a:ext cx="9141480" cy="5140440"/>
            <a:chOff x="0" y="0"/>
            <a:chExt cx="9141480" cy="5140440"/>
          </a:xfrm>
        </p:grpSpPr>
        <p:pic>
          <p:nvPicPr>
            <p:cNvPr id="1090" name="object 3" descr=""/>
            <p:cNvPicPr/>
            <p:nvPr/>
          </p:nvPicPr>
          <p:blipFill>
            <a:blip r:embed="rId1"/>
            <a:stretch/>
          </p:blipFill>
          <p:spPr>
            <a:xfrm>
              <a:off x="5753160" y="1972440"/>
              <a:ext cx="3387600" cy="31680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091" name="object 4"/>
            <p:cNvSpPr/>
            <p:nvPr/>
          </p:nvSpPr>
          <p:spPr>
            <a:xfrm>
              <a:off x="0" y="0"/>
              <a:ext cx="9141480" cy="5140440"/>
            </a:xfrm>
            <a:custGeom>
              <a:avLst/>
              <a:gdLst/>
              <a:ahLst/>
              <a:rect l="l" t="t" r="r" b="b"/>
              <a:pathLst>
                <a:path w="9144635" h="5143500">
                  <a:moveTo>
                    <a:pt x="6089924" y="5143501"/>
                  </a:moveTo>
                  <a:lnTo>
                    <a:pt x="0" y="5143501"/>
                  </a:lnTo>
                  <a:lnTo>
                    <a:pt x="0" y="0"/>
                  </a:lnTo>
                  <a:lnTo>
                    <a:pt x="9144053" y="0"/>
                  </a:lnTo>
                  <a:lnTo>
                    <a:pt x="9144053" y="3297182"/>
                  </a:lnTo>
                  <a:lnTo>
                    <a:pt x="9113763" y="3257530"/>
                  </a:lnTo>
                  <a:lnTo>
                    <a:pt x="9082482" y="3218858"/>
                  </a:lnTo>
                  <a:lnTo>
                    <a:pt x="9050233" y="3181181"/>
                  </a:lnTo>
                  <a:lnTo>
                    <a:pt x="9017043" y="3144510"/>
                  </a:lnTo>
                  <a:lnTo>
                    <a:pt x="8982935" y="3108858"/>
                  </a:lnTo>
                  <a:lnTo>
                    <a:pt x="8947935" y="3074236"/>
                  </a:lnTo>
                  <a:lnTo>
                    <a:pt x="8912067" y="3040659"/>
                  </a:lnTo>
                  <a:lnTo>
                    <a:pt x="8875356" y="3008137"/>
                  </a:lnTo>
                  <a:lnTo>
                    <a:pt x="8837826" y="2976684"/>
                  </a:lnTo>
                  <a:lnTo>
                    <a:pt x="8799504" y="2946312"/>
                  </a:lnTo>
                  <a:lnTo>
                    <a:pt x="8760412" y="2917033"/>
                  </a:lnTo>
                  <a:lnTo>
                    <a:pt x="8720577" y="2888860"/>
                  </a:lnTo>
                  <a:lnTo>
                    <a:pt x="8680023" y="2861806"/>
                  </a:lnTo>
                  <a:lnTo>
                    <a:pt x="8638774" y="2835882"/>
                  </a:lnTo>
                  <a:lnTo>
                    <a:pt x="8596856" y="2811101"/>
                  </a:lnTo>
                  <a:lnTo>
                    <a:pt x="8554293" y="2787476"/>
                  </a:lnTo>
                  <a:lnTo>
                    <a:pt x="8511110" y="2765019"/>
                  </a:lnTo>
                  <a:lnTo>
                    <a:pt x="8467332" y="2743743"/>
                  </a:lnTo>
                  <a:lnTo>
                    <a:pt x="8422984" y="2723660"/>
                  </a:lnTo>
                  <a:lnTo>
                    <a:pt x="8378090" y="2704782"/>
                  </a:lnTo>
                  <a:lnTo>
                    <a:pt x="8332674" y="2687122"/>
                  </a:lnTo>
                  <a:lnTo>
                    <a:pt x="8286763" y="2670693"/>
                  </a:lnTo>
                  <a:lnTo>
                    <a:pt x="8240381" y="2655506"/>
                  </a:lnTo>
                  <a:lnTo>
                    <a:pt x="8193552" y="2641574"/>
                  </a:lnTo>
                  <a:lnTo>
                    <a:pt x="8146301" y="2628911"/>
                  </a:lnTo>
                  <a:lnTo>
                    <a:pt x="8098653" y="2617527"/>
                  </a:lnTo>
                  <a:lnTo>
                    <a:pt x="8050633" y="2607436"/>
                  </a:lnTo>
                  <a:lnTo>
                    <a:pt x="8002265" y="2598650"/>
                  </a:lnTo>
                  <a:lnTo>
                    <a:pt x="7953575" y="2591182"/>
                  </a:lnTo>
                  <a:lnTo>
                    <a:pt x="7904586" y="2585043"/>
                  </a:lnTo>
                  <a:lnTo>
                    <a:pt x="7855325" y="2580247"/>
                  </a:lnTo>
                  <a:lnTo>
                    <a:pt x="7805815" y="2576806"/>
                  </a:lnTo>
                  <a:lnTo>
                    <a:pt x="7756082" y="2574732"/>
                  </a:lnTo>
                  <a:lnTo>
                    <a:pt x="7706149" y="2574038"/>
                  </a:lnTo>
                  <a:lnTo>
                    <a:pt x="7657585" y="2574683"/>
                  </a:lnTo>
                  <a:lnTo>
                    <a:pt x="7609341" y="2576604"/>
                  </a:lnTo>
                  <a:lnTo>
                    <a:pt x="7561432" y="2579787"/>
                  </a:lnTo>
                  <a:lnTo>
                    <a:pt x="7513876" y="2584215"/>
                  </a:lnTo>
                  <a:lnTo>
                    <a:pt x="7466688" y="2589872"/>
                  </a:lnTo>
                  <a:lnTo>
                    <a:pt x="7419885" y="2596742"/>
                  </a:lnTo>
                  <a:lnTo>
                    <a:pt x="7373483" y="2604807"/>
                  </a:lnTo>
                  <a:lnTo>
                    <a:pt x="7327498" y="2614053"/>
                  </a:lnTo>
                  <a:lnTo>
                    <a:pt x="7281946" y="2624462"/>
                  </a:lnTo>
                  <a:lnTo>
                    <a:pt x="7236844" y="2636019"/>
                  </a:lnTo>
                  <a:lnTo>
                    <a:pt x="7192207" y="2648707"/>
                  </a:lnTo>
                  <a:lnTo>
                    <a:pt x="7148053" y="2662511"/>
                  </a:lnTo>
                  <a:lnTo>
                    <a:pt x="7104397" y="2677412"/>
                  </a:lnTo>
                  <a:lnTo>
                    <a:pt x="7061256" y="2693397"/>
                  </a:lnTo>
                  <a:lnTo>
                    <a:pt x="7018645" y="2710448"/>
                  </a:lnTo>
                  <a:lnTo>
                    <a:pt x="6976582" y="2728548"/>
                  </a:lnTo>
                  <a:lnTo>
                    <a:pt x="6935081" y="2747683"/>
                  </a:lnTo>
                  <a:lnTo>
                    <a:pt x="6894160" y="2767834"/>
                  </a:lnTo>
                  <a:lnTo>
                    <a:pt x="6853835" y="2788987"/>
                  </a:lnTo>
                  <a:lnTo>
                    <a:pt x="6814122" y="2811125"/>
                  </a:lnTo>
                  <a:lnTo>
                    <a:pt x="6775037" y="2834232"/>
                  </a:lnTo>
                  <a:lnTo>
                    <a:pt x="6736596" y="2858291"/>
                  </a:lnTo>
                  <a:lnTo>
                    <a:pt x="6698816" y="2883287"/>
                  </a:lnTo>
                  <a:lnTo>
                    <a:pt x="6661713" y="2909202"/>
                  </a:lnTo>
                  <a:lnTo>
                    <a:pt x="6625303" y="2936021"/>
                  </a:lnTo>
                  <a:lnTo>
                    <a:pt x="6589603" y="2963728"/>
                  </a:lnTo>
                  <a:lnTo>
                    <a:pt x="6554628" y="2992305"/>
                  </a:lnTo>
                  <a:lnTo>
                    <a:pt x="6520395" y="3021738"/>
                  </a:lnTo>
                  <a:lnTo>
                    <a:pt x="6486920" y="3052009"/>
                  </a:lnTo>
                  <a:lnTo>
                    <a:pt x="6454219" y="3083103"/>
                  </a:lnTo>
                  <a:lnTo>
                    <a:pt x="6422309" y="3115003"/>
                  </a:lnTo>
                  <a:lnTo>
                    <a:pt x="6391206" y="3147693"/>
                  </a:lnTo>
                  <a:lnTo>
                    <a:pt x="6360925" y="3181156"/>
                  </a:lnTo>
                  <a:lnTo>
                    <a:pt x="6331484" y="3215377"/>
                  </a:lnTo>
                  <a:lnTo>
                    <a:pt x="6302899" y="3250339"/>
                  </a:lnTo>
                  <a:lnTo>
                    <a:pt x="6275185" y="3286026"/>
                  </a:lnTo>
                  <a:lnTo>
                    <a:pt x="6248359" y="3322422"/>
                  </a:lnTo>
                  <a:lnTo>
                    <a:pt x="6222437" y="3359510"/>
                  </a:lnTo>
                  <a:lnTo>
                    <a:pt x="6197436" y="3397274"/>
                  </a:lnTo>
                  <a:lnTo>
                    <a:pt x="6173371" y="3435698"/>
                  </a:lnTo>
                  <a:lnTo>
                    <a:pt x="6150260" y="3474766"/>
                  </a:lnTo>
                  <a:lnTo>
                    <a:pt x="6128117" y="3514461"/>
                  </a:lnTo>
                  <a:lnTo>
                    <a:pt x="6106960" y="3554767"/>
                  </a:lnTo>
                  <a:lnTo>
                    <a:pt x="6086804" y="3595668"/>
                  </a:lnTo>
                  <a:lnTo>
                    <a:pt x="6067667" y="3637148"/>
                  </a:lnTo>
                  <a:lnTo>
                    <a:pt x="6049563" y="3679190"/>
                  </a:lnTo>
                  <a:lnTo>
                    <a:pt x="6032509" y="3721778"/>
                  </a:lnTo>
                  <a:lnTo>
                    <a:pt x="6016523" y="3764896"/>
                  </a:lnTo>
                  <a:lnTo>
                    <a:pt x="6001619" y="3808527"/>
                  </a:lnTo>
                  <a:lnTo>
                    <a:pt x="5987814" y="3852656"/>
                  </a:lnTo>
                  <a:lnTo>
                    <a:pt x="5975124" y="3897266"/>
                  </a:lnTo>
                  <a:lnTo>
                    <a:pt x="5963566" y="3942341"/>
                  </a:lnTo>
                  <a:lnTo>
                    <a:pt x="5953155" y="3987864"/>
                  </a:lnTo>
                  <a:lnTo>
                    <a:pt x="5943909" y="4033820"/>
                  </a:lnTo>
                  <a:lnTo>
                    <a:pt x="5935842" y="4080192"/>
                  </a:lnTo>
                  <a:lnTo>
                    <a:pt x="5928972" y="4126964"/>
                  </a:lnTo>
                  <a:lnTo>
                    <a:pt x="5923315" y="4174119"/>
                  </a:lnTo>
                  <a:lnTo>
                    <a:pt x="5918887" y="4221641"/>
                  </a:lnTo>
                  <a:lnTo>
                    <a:pt x="5915704" y="4269515"/>
                  </a:lnTo>
                  <a:lnTo>
                    <a:pt x="5913782" y="4317723"/>
                  </a:lnTo>
                  <a:lnTo>
                    <a:pt x="5913137" y="4366250"/>
                  </a:lnTo>
                  <a:lnTo>
                    <a:pt x="5913713" y="4416647"/>
                  </a:lnTo>
                  <a:lnTo>
                    <a:pt x="5915710" y="4466942"/>
                  </a:lnTo>
                  <a:lnTo>
                    <a:pt x="5919124" y="4517105"/>
                  </a:lnTo>
                  <a:lnTo>
                    <a:pt x="5923950" y="4567106"/>
                  </a:lnTo>
                  <a:lnTo>
                    <a:pt x="5930181" y="4616914"/>
                  </a:lnTo>
                  <a:lnTo>
                    <a:pt x="5937812" y="4666500"/>
                  </a:lnTo>
                  <a:lnTo>
                    <a:pt x="5946839" y="4715833"/>
                  </a:lnTo>
                  <a:lnTo>
                    <a:pt x="5957254" y="4764883"/>
                  </a:lnTo>
                  <a:lnTo>
                    <a:pt x="5969053" y="4813621"/>
                  </a:lnTo>
                  <a:lnTo>
                    <a:pt x="5982230" y="4862016"/>
                  </a:lnTo>
                  <a:lnTo>
                    <a:pt x="5996780" y="4910038"/>
                  </a:lnTo>
                  <a:lnTo>
                    <a:pt x="6012697" y="4957657"/>
                  </a:lnTo>
                  <a:lnTo>
                    <a:pt x="6029975" y="5004843"/>
                  </a:lnTo>
                  <a:lnTo>
                    <a:pt x="6048609" y="5051566"/>
                  </a:lnTo>
                  <a:lnTo>
                    <a:pt x="6068594" y="5097795"/>
                  </a:lnTo>
                  <a:lnTo>
                    <a:pt x="6089924" y="514350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092" name="object 5" descr=""/>
            <p:cNvPicPr/>
            <p:nvPr/>
          </p:nvPicPr>
          <p:blipFill>
            <a:blip r:embed="rId2"/>
            <a:stretch/>
          </p:blipFill>
          <p:spPr>
            <a:xfrm>
              <a:off x="8714160" y="146160"/>
              <a:ext cx="284400" cy="22968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093" name="object 6" descr=""/>
            <p:cNvPicPr/>
            <p:nvPr/>
          </p:nvPicPr>
          <p:blipFill>
            <a:blip r:embed="rId3"/>
            <a:stretch/>
          </p:blipFill>
          <p:spPr>
            <a:xfrm>
              <a:off x="511200" y="227520"/>
              <a:ext cx="1269720" cy="11232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094" name="PlaceHolder 1"/>
          <p:cNvSpPr>
            <a:spLocks noGrp="1"/>
          </p:cNvSpPr>
          <p:nvPr>
            <p:ph type="title"/>
          </p:nvPr>
        </p:nvSpPr>
        <p:spPr>
          <a:xfrm>
            <a:off x="494280" y="371880"/>
            <a:ext cx="1282680" cy="868680"/>
          </a:xfrm>
          <a:prstGeom prst="rect">
            <a:avLst/>
          </a:prstGeom>
          <a:noFill/>
          <a:ln w="0">
            <a:noFill/>
          </a:ln>
        </p:spPr>
        <p:txBody>
          <a:bodyPr lIns="0" rIns="0" tIns="12600" bIns="0" anchor="t">
            <a:no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2400" spc="-15" strike="noStrike">
                <a:solidFill>
                  <a:srgbClr val="000000"/>
                </a:solidFill>
                <a:latin typeface="Tahoma"/>
              </a:rPr>
              <a:t>Lab 09</a:t>
            </a:r>
            <a:endParaRPr b="0" lang="fr-FR" sz="2400" spc="-1" strike="noStrike">
              <a:latin typeface="Arial"/>
            </a:endParaRPr>
          </a:p>
        </p:txBody>
      </p:sp>
      <p:sp>
        <p:nvSpPr>
          <p:cNvPr id="1095" name="object 8"/>
          <p:cNvSpPr/>
          <p:nvPr/>
        </p:nvSpPr>
        <p:spPr>
          <a:xfrm>
            <a:off x="494280" y="1323360"/>
            <a:ext cx="5263560" cy="15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75600" bIns="0" anchor="t">
            <a:spAutoFit/>
          </a:bodyPr>
          <a:p>
            <a:pPr marL="12600">
              <a:lnSpc>
                <a:spcPct val="100000"/>
              </a:lnSpc>
              <a:spcBef>
                <a:spcPts val="595"/>
              </a:spcBef>
              <a:buNone/>
            </a:pP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Implementing</a:t>
            </a:r>
            <a:r>
              <a:rPr b="0" lang="fr-FR" sz="2900" spc="-5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endParaRPr b="0" lang="fr-FR" sz="2900" spc="-1" strike="noStrike">
              <a:latin typeface="Arial"/>
            </a:endParaRPr>
          </a:p>
          <a:p>
            <a:pPr marL="12600">
              <a:lnSpc>
                <a:spcPct val="114000"/>
              </a:lnSpc>
              <a:buNone/>
            </a:pP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blue-green</a:t>
            </a:r>
            <a:r>
              <a:rPr b="0" lang="fr-FR" sz="2900" spc="-9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deployment </a:t>
            </a:r>
            <a:r>
              <a:rPr b="0" lang="fr-FR" sz="2900" spc="-79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1" strike="noStrike">
                <a:solidFill>
                  <a:srgbClr val="000000"/>
                </a:solidFill>
                <a:latin typeface="Arial MT"/>
                <a:ea typeface="DejaVu Sans"/>
              </a:rPr>
              <a:t>strategy</a:t>
            </a:r>
            <a:endParaRPr b="0" lang="fr-FR" sz="2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6" name="object 2"/>
          <p:cNvGrpSpPr/>
          <p:nvPr/>
        </p:nvGrpSpPr>
        <p:grpSpPr>
          <a:xfrm>
            <a:off x="0" y="0"/>
            <a:ext cx="9140760" cy="5140080"/>
            <a:chOff x="0" y="0"/>
            <a:chExt cx="9140760" cy="5140080"/>
          </a:xfrm>
        </p:grpSpPr>
        <p:pic>
          <p:nvPicPr>
            <p:cNvPr id="1097" name="object 3" descr=""/>
            <p:cNvPicPr/>
            <p:nvPr/>
          </p:nvPicPr>
          <p:blipFill>
            <a:blip r:embed="rId1"/>
            <a:stretch/>
          </p:blipFill>
          <p:spPr>
            <a:xfrm>
              <a:off x="0" y="0"/>
              <a:ext cx="9140760" cy="514008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098" name="object 4" descr=""/>
            <p:cNvPicPr/>
            <p:nvPr/>
          </p:nvPicPr>
          <p:blipFill>
            <a:blip r:embed="rId2"/>
            <a:stretch/>
          </p:blipFill>
          <p:spPr>
            <a:xfrm>
              <a:off x="8714160" y="146160"/>
              <a:ext cx="284400" cy="22968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099" name="PlaceHolder 1"/>
          <p:cNvSpPr>
            <a:spLocks noGrp="1"/>
          </p:cNvSpPr>
          <p:nvPr>
            <p:ph type="title"/>
          </p:nvPr>
        </p:nvSpPr>
        <p:spPr>
          <a:xfrm>
            <a:off x="494280" y="1676160"/>
            <a:ext cx="7423560" cy="1381680"/>
          </a:xfrm>
          <a:prstGeom prst="rect">
            <a:avLst/>
          </a:prstGeom>
          <a:noFill/>
          <a:ln w="0">
            <a:noFill/>
          </a:ln>
        </p:spPr>
        <p:txBody>
          <a:bodyPr lIns="0" rIns="0" tIns="195480" bIns="0" anchor="t">
            <a:noAutofit/>
          </a:bodyPr>
          <a:p>
            <a:pPr marL="12600">
              <a:lnSpc>
                <a:spcPct val="100000"/>
              </a:lnSpc>
              <a:spcBef>
                <a:spcPts val="1539"/>
              </a:spcBef>
              <a:buNone/>
            </a:pPr>
            <a:r>
              <a:rPr b="1" lang="fr-FR" sz="3600" spc="15" strike="noStrike">
                <a:solidFill>
                  <a:srgbClr val="ffffff"/>
                </a:solidFill>
                <a:latin typeface="Tahoma"/>
              </a:rPr>
              <a:t>Helm</a:t>
            </a:r>
            <a:endParaRPr b="0" lang="fr-FR" sz="36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720"/>
              </a:spcBef>
              <a:buNone/>
            </a:pPr>
            <a:r>
              <a:rPr b="0" lang="fr-FR" sz="1800" spc="-1" strike="noStrike">
                <a:solidFill>
                  <a:srgbClr val="ffffff"/>
                </a:solidFill>
                <a:latin typeface="Lucida Sans Unicode"/>
              </a:rPr>
              <a:t>Deploying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100" strike="noStrike">
                <a:solidFill>
                  <a:srgbClr val="ffffff"/>
                </a:solidFill>
                <a:latin typeface="Lucida Sans Unicode"/>
              </a:rPr>
              <a:t>an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29" strike="noStrike">
                <a:solidFill>
                  <a:srgbClr val="ffffff"/>
                </a:solidFill>
                <a:latin typeface="Lucida Sans Unicode"/>
              </a:rPr>
              <a:t>application</a:t>
            </a:r>
            <a:r>
              <a:rPr b="0" lang="fr-FR" sz="1800" spc="-86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15" strike="noStrike">
                <a:solidFill>
                  <a:srgbClr val="ffffff"/>
                </a:solidFill>
                <a:latin typeface="Lucida Sans Unicode"/>
              </a:rPr>
              <a:t>defined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49" strike="noStrike">
                <a:solidFill>
                  <a:srgbClr val="ffffff"/>
                </a:solidFill>
                <a:latin typeface="Lucida Sans Unicode"/>
              </a:rPr>
              <a:t>by</a:t>
            </a:r>
            <a:r>
              <a:rPr b="0" lang="fr-FR" sz="1800" spc="-86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197" strike="noStrike">
                <a:solidFill>
                  <a:srgbClr val="ffffff"/>
                </a:solidFill>
                <a:latin typeface="Lucida Sans Unicode"/>
              </a:rPr>
              <a:t>a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9" strike="noStrike">
                <a:solidFill>
                  <a:srgbClr val="ffffff"/>
                </a:solidFill>
                <a:latin typeface="Lucida Sans Unicode"/>
              </a:rPr>
              <a:t>set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15" strike="noStrike">
                <a:solidFill>
                  <a:srgbClr val="ffffff"/>
                </a:solidFill>
                <a:latin typeface="Lucida Sans Unicode"/>
              </a:rPr>
              <a:t>of</a:t>
            </a:r>
            <a:r>
              <a:rPr b="0" lang="fr-FR" sz="1800" spc="-86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75" strike="noStrike">
                <a:solidFill>
                  <a:srgbClr val="ffffff"/>
                </a:solidFill>
                <a:latin typeface="Lucida Sans Unicode"/>
              </a:rPr>
              <a:t>YAML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21" strike="noStrike">
                <a:solidFill>
                  <a:srgbClr val="ffffff"/>
                </a:solidFill>
                <a:latin typeface="Lucida Sans Unicode"/>
              </a:rPr>
              <a:t>manifests</a:t>
            </a:r>
            <a:endParaRPr b="0" lang="fr-FR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0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24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5" strike="noStrike">
                <a:solidFill>
                  <a:srgbClr val="000000"/>
                </a:solidFill>
                <a:latin typeface="Tahoma"/>
              </a:rPr>
              <a:t>What</a:t>
            </a:r>
            <a:r>
              <a:rPr b="1" lang="fr-FR" sz="2400" spc="-16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is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Helm?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66" strike="noStrike">
                <a:solidFill>
                  <a:srgbClr val="666666"/>
                </a:solidFill>
                <a:latin typeface="Lucida Sans Unicode"/>
              </a:rPr>
              <a:t>Package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manager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templating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engine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set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manifests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101" name="object 3"/>
          <p:cNvSpPr/>
          <p:nvPr/>
        </p:nvSpPr>
        <p:spPr>
          <a:xfrm>
            <a:off x="600120" y="1360440"/>
            <a:ext cx="8217720" cy="251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artifact produced by the Helm executable is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so-called </a:t>
            </a:r>
            <a:r>
              <a:rPr b="0" i="1" lang="fr-FR" sz="1600" spc="-1" strike="noStrike">
                <a:solidFill>
                  <a:srgbClr val="000000"/>
                </a:solidFill>
                <a:latin typeface="Arial"/>
                <a:ea typeface="DejaVu Sans"/>
              </a:rPr>
              <a:t>chart </a:t>
            </a: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file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bundling the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manifests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that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comprise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9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API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resources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 an application.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Chart files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be distributed to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chart repository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e.g.</a:t>
            </a:r>
            <a:r>
              <a:rPr b="0" lang="fr-FR" sz="1600" spc="-7" strike="noStrike">
                <a:solidFill>
                  <a:srgbClr val="d3002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1"/>
              </a:rPr>
              <a:t>central chart repository</a:t>
            </a:r>
            <a:r>
              <a:rPr b="0" lang="fr-FR" sz="1600" spc="-1" strike="noStrike" u="sng">
                <a:solidFill>
                  <a:srgbClr val="0000ff"/>
                </a:solidFill>
                <a:uFillTx/>
                <a:latin typeface="Arial MT"/>
                <a:ea typeface="DejaVu Sans"/>
                <a:hlinkClick r:id="rId2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and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consumed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from there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(e.g.,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for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running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Grafana 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PostgreSQL).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At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runtime,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it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replaces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placeholders in </a:t>
            </a:r>
            <a:r>
              <a:rPr b="0" lang="fr-FR" sz="1600" spc="-35" strike="noStrike">
                <a:solidFill>
                  <a:srgbClr val="000000"/>
                </a:solidFill>
                <a:latin typeface="Arial MT"/>
                <a:ea typeface="DejaVu Sans"/>
              </a:rPr>
              <a:t>YAML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template files with actual, end-user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defined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values.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1102" name="object 4" descr=""/>
          <p:cNvPicPr/>
          <p:nvPr/>
        </p:nvPicPr>
        <p:blipFill>
          <a:blip r:embed="rId3"/>
          <a:stretch/>
        </p:blipFill>
        <p:spPr>
          <a:xfrm>
            <a:off x="7502760" y="3864600"/>
            <a:ext cx="886320" cy="886320"/>
          </a:xfrm>
          <a:prstGeom prst="rect">
            <a:avLst/>
          </a:prstGeom>
          <a:ln w="0">
            <a:noFill/>
          </a:ln>
        </p:spPr>
      </p:pic>
      <p:sp>
        <p:nvSpPr>
          <p:cNvPr id="1103" name="object 5"/>
          <p:cNvSpPr/>
          <p:nvPr/>
        </p:nvSpPr>
        <p:spPr>
          <a:xfrm>
            <a:off x="8701560" y="4908600"/>
            <a:ext cx="2336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7E4E9657-BF50-4969-92AF-019B9CD8A659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4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42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5" strike="noStrike">
                <a:solidFill>
                  <a:srgbClr val="000000"/>
                </a:solidFill>
                <a:latin typeface="Tahoma"/>
              </a:rPr>
              <a:t>Finding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1" strike="noStrike">
                <a:solidFill>
                  <a:srgbClr val="000000"/>
                </a:solidFill>
                <a:latin typeface="Tahoma"/>
              </a:rPr>
              <a:t>Chart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Searches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Artifact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Hub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5" strike="noStrike">
                <a:solidFill>
                  <a:srgbClr val="666666"/>
                </a:solidFill>
                <a:latin typeface="Lucida Sans Unicode"/>
              </a:rPr>
              <a:t>chart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6" strike="noStrike">
                <a:solidFill>
                  <a:srgbClr val="666666"/>
                </a:solidFill>
                <a:latin typeface="Lucida Sans Unicode"/>
              </a:rPr>
              <a:t>matching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4" strike="noStrike">
                <a:solidFill>
                  <a:srgbClr val="666666"/>
                </a:solidFill>
                <a:latin typeface="Lucida Sans Unicode"/>
              </a:rPr>
              <a:t>name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105" name="object 3"/>
          <p:cNvGrpSpPr/>
          <p:nvPr/>
        </p:nvGrpSpPr>
        <p:grpSpPr>
          <a:xfrm>
            <a:off x="467640" y="1357920"/>
            <a:ext cx="7889400" cy="1260720"/>
            <a:chOff x="467640" y="1357920"/>
            <a:chExt cx="7889400" cy="1260720"/>
          </a:xfrm>
        </p:grpSpPr>
        <p:pic>
          <p:nvPicPr>
            <p:cNvPr id="1106" name="object 4" descr=""/>
            <p:cNvPicPr/>
            <p:nvPr/>
          </p:nvPicPr>
          <p:blipFill>
            <a:blip r:embed="rId1"/>
            <a:stretch/>
          </p:blipFill>
          <p:spPr>
            <a:xfrm>
              <a:off x="467640" y="1357920"/>
              <a:ext cx="7889400" cy="126072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107" name="object 5"/>
            <p:cNvSpPr/>
            <p:nvPr/>
          </p:nvSpPr>
          <p:spPr>
            <a:xfrm>
              <a:off x="521280" y="1406160"/>
              <a:ext cx="7775640" cy="1146600"/>
            </a:xfrm>
            <a:custGeom>
              <a:avLst/>
              <a:gdLst/>
              <a:ahLst/>
              <a:rect l="l" t="t" r="r" b="b"/>
              <a:pathLst>
                <a:path w="7778750" h="1149985">
                  <a:moveTo>
                    <a:pt x="7778400" y="1149600"/>
                  </a:moveTo>
                  <a:lnTo>
                    <a:pt x="0" y="1149600"/>
                  </a:lnTo>
                  <a:lnTo>
                    <a:pt x="0" y="0"/>
                  </a:lnTo>
                  <a:lnTo>
                    <a:pt x="7778400" y="0"/>
                  </a:lnTo>
                  <a:lnTo>
                    <a:pt x="7778400" y="1149600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108" name="object 6"/>
          <p:cNvSpPr/>
          <p:nvPr/>
        </p:nvSpPr>
        <p:spPr>
          <a:xfrm>
            <a:off x="674640" y="1548720"/>
            <a:ext cx="5172480" cy="60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helm</a:t>
            </a:r>
            <a:r>
              <a:rPr b="1" lang="fr-FR" sz="13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search</a:t>
            </a:r>
            <a:r>
              <a:rPr b="1" lang="fr-FR" sz="13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hub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jenkins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URL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https://artifacthub.io/packages/helm/bitnami/jenkins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109" name="object 7"/>
          <p:cNvSpPr/>
          <p:nvPr/>
        </p:nvSpPr>
        <p:spPr>
          <a:xfrm>
            <a:off x="6122160" y="1748880"/>
            <a:ext cx="23356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800" bIns="0" anchor="t">
            <a:spAutoFit/>
          </a:bodyPr>
          <a:p>
            <a:pPr marL="12600" indent="720">
              <a:lnSpc>
                <a:spcPct val="101000"/>
              </a:lnSpc>
              <a:spcBef>
                <a:spcPts val="85"/>
              </a:spcBef>
              <a:buNone/>
              <a:tabLst>
                <a:tab algn="l" pos="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CHART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VERSION</a:t>
            </a:r>
            <a:r>
              <a:rPr b="0" lang="fr-FR" sz="1300" spc="-97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APP </a:t>
            </a:r>
            <a:r>
              <a:rPr b="0" lang="fr-FR" sz="1300" spc="-76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11.0.6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2.361.2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110" name="object 8"/>
          <p:cNvSpPr/>
          <p:nvPr/>
        </p:nvSpPr>
        <p:spPr>
          <a:xfrm>
            <a:off x="674640" y="2148840"/>
            <a:ext cx="31932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300" spc="-1" strike="noStrike">
              <a:latin typeface="Arial"/>
            </a:endParaRPr>
          </a:p>
        </p:txBody>
      </p:sp>
      <p:pic>
        <p:nvPicPr>
          <p:cNvPr id="1111" name="object 9" descr=""/>
          <p:cNvPicPr/>
          <p:nvPr/>
        </p:nvPicPr>
        <p:blipFill>
          <a:blip r:embed="rId2"/>
          <a:stretch/>
        </p:blipFill>
        <p:spPr>
          <a:xfrm>
            <a:off x="5590800" y="2718000"/>
            <a:ext cx="2467800" cy="1685880"/>
          </a:xfrm>
          <a:prstGeom prst="rect">
            <a:avLst/>
          </a:prstGeom>
          <a:ln w="0">
            <a:noFill/>
          </a:ln>
        </p:spPr>
      </p:pic>
      <p:grpSp>
        <p:nvGrpSpPr>
          <p:cNvPr id="1112" name="object 10"/>
          <p:cNvGrpSpPr/>
          <p:nvPr/>
        </p:nvGrpSpPr>
        <p:grpSpPr>
          <a:xfrm>
            <a:off x="4465800" y="2347560"/>
            <a:ext cx="1010520" cy="1110600"/>
            <a:chOff x="4465800" y="2347560"/>
            <a:chExt cx="1010520" cy="1110600"/>
          </a:xfrm>
        </p:grpSpPr>
        <p:sp>
          <p:nvSpPr>
            <p:cNvPr id="1113" name="object 11"/>
            <p:cNvSpPr/>
            <p:nvPr/>
          </p:nvSpPr>
          <p:spPr>
            <a:xfrm>
              <a:off x="4465800" y="2347560"/>
              <a:ext cx="915120" cy="1069920"/>
            </a:xfrm>
            <a:custGeom>
              <a:avLst/>
              <a:gdLst/>
              <a:ahLst/>
              <a:rect l="l" t="t" r="r" b="b"/>
              <a:pathLst>
                <a:path w="918210" h="1073150">
                  <a:moveTo>
                    <a:pt x="917999" y="1072799"/>
                  </a:moveTo>
                  <a:lnTo>
                    <a:pt x="0" y="1072799"/>
                  </a:ln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114" name="object 12" descr=""/>
            <p:cNvPicPr/>
            <p:nvPr/>
          </p:nvPicPr>
          <p:blipFill>
            <a:blip r:embed="rId3"/>
            <a:stretch/>
          </p:blipFill>
          <p:spPr>
            <a:xfrm>
              <a:off x="5374080" y="3379320"/>
              <a:ext cx="102240" cy="788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115" name="object 13"/>
          <p:cNvSpPr/>
          <p:nvPr/>
        </p:nvSpPr>
        <p:spPr>
          <a:xfrm>
            <a:off x="8701560" y="4908600"/>
            <a:ext cx="2336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9BA8CD89-0E42-4581-B550-91AEC2F77EE2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60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Installing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1" strike="noStrike">
                <a:solidFill>
                  <a:srgbClr val="000000"/>
                </a:solidFill>
                <a:latin typeface="Tahoma"/>
              </a:rPr>
              <a:t>Chart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You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11" strike="noStrike">
                <a:solidFill>
                  <a:srgbClr val="666666"/>
                </a:solidFill>
                <a:latin typeface="Lucida Sans Unicode"/>
              </a:rPr>
              <a:t>may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2" strike="noStrike">
                <a:solidFill>
                  <a:srgbClr val="666666"/>
                </a:solidFill>
                <a:latin typeface="Lucida Sans Unicode"/>
              </a:rPr>
              <a:t>have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9" strike="noStrike">
                <a:solidFill>
                  <a:srgbClr val="666666"/>
                </a:solidFill>
                <a:latin typeface="Lucida Sans Unicode"/>
              </a:rPr>
              <a:t>add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6" strike="noStrike">
                <a:solidFill>
                  <a:srgbClr val="666666"/>
                </a:solidFill>
                <a:latin typeface="Lucida Sans Unicode"/>
              </a:rPr>
              <a:t>an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external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repository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that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hosts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5" strike="noStrike">
                <a:solidFill>
                  <a:srgbClr val="666666"/>
                </a:solidFill>
                <a:latin typeface="Lucida Sans Unicode"/>
              </a:rPr>
              <a:t>chart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file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117" name="object 4"/>
          <p:cNvSpPr/>
          <p:nvPr/>
        </p:nvSpPr>
        <p:spPr>
          <a:xfrm>
            <a:off x="521280" y="1406160"/>
            <a:ext cx="6132600" cy="217512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54800" bIns="0" anchor="t">
            <a:spAutoFit/>
          </a:bodyPr>
          <a:p>
            <a:pPr marL="165600">
              <a:lnSpc>
                <a:spcPct val="100000"/>
              </a:lnSpc>
              <a:spcBef>
                <a:spcPts val="1219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helm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repo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add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bitnami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https://charts.bitnami.com/bitnami</a:t>
            </a:r>
            <a:endParaRPr b="0" lang="fr-FR" sz="1300" spc="-1" strike="noStrike">
              <a:latin typeface="Arial"/>
            </a:endParaRPr>
          </a:p>
          <a:p>
            <a:pPr marL="1656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"bitnami"</a:t>
            </a:r>
            <a:r>
              <a:rPr b="0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has</a:t>
            </a:r>
            <a:r>
              <a:rPr b="0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been</a:t>
            </a:r>
            <a:r>
              <a:rPr b="0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added</a:t>
            </a:r>
            <a:r>
              <a:rPr b="0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to</a:t>
            </a:r>
            <a:r>
              <a:rPr b="0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your</a:t>
            </a:r>
            <a:r>
              <a:rPr b="0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repositories</a:t>
            </a:r>
            <a:endParaRPr b="0" lang="fr-FR" sz="1300" spc="-1" strike="noStrike">
              <a:latin typeface="Arial"/>
            </a:endParaRPr>
          </a:p>
          <a:p>
            <a:pPr marL="165600">
              <a:lnSpc>
                <a:spcPct val="100000"/>
              </a:lnSpc>
              <a:spcBef>
                <a:spcPts val="6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165600">
              <a:lnSpc>
                <a:spcPct val="100000"/>
              </a:lnSpc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helm</a:t>
            </a:r>
            <a:r>
              <a:rPr b="1" lang="fr-FR" sz="13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install</a:t>
            </a:r>
            <a:r>
              <a:rPr b="1" lang="fr-FR" sz="13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jenkins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bitnami/jenkins</a:t>
            </a:r>
            <a:endParaRPr b="0" lang="fr-FR" sz="1300" spc="-1" strike="noStrike">
              <a:latin typeface="Arial"/>
            </a:endParaRPr>
          </a:p>
          <a:p>
            <a:pPr marL="1656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300" spc="-1" strike="noStrike">
              <a:latin typeface="Arial"/>
            </a:endParaRPr>
          </a:p>
          <a:p>
            <a:pPr marL="165600">
              <a:lnSpc>
                <a:spcPct val="101000"/>
              </a:lnSpc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CHART NAME: jenkins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300" spc="-1" strike="noStrike">
              <a:latin typeface="Arial"/>
            </a:endParaRPr>
          </a:p>
          <a:p>
            <a:pPr marL="165600">
              <a:lnSpc>
                <a:spcPct val="101000"/>
              </a:lnSpc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CHART</a:t>
            </a:r>
            <a:r>
              <a:rPr b="0" lang="fr-FR" sz="1300" spc="-5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VERSION:</a:t>
            </a:r>
            <a:r>
              <a:rPr b="0" lang="fr-FR" sz="13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11.0.6</a:t>
            </a:r>
            <a:endParaRPr b="0" lang="fr-FR" sz="1300" spc="-1" strike="noStrike">
              <a:latin typeface="Arial"/>
            </a:endParaRPr>
          </a:p>
          <a:p>
            <a:pPr marL="165600">
              <a:lnSpc>
                <a:spcPct val="101000"/>
              </a:lnSpc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APP</a:t>
            </a:r>
            <a:r>
              <a:rPr b="0" lang="fr-FR" sz="13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VERSION:</a:t>
            </a:r>
            <a:r>
              <a:rPr b="0" lang="fr-FR" sz="13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2.361.2</a:t>
            </a:r>
            <a:endParaRPr b="0" lang="fr-FR" sz="1300" spc="-1" strike="noStrike">
              <a:latin typeface="Arial"/>
            </a:endParaRPr>
          </a:p>
          <a:p>
            <a:pPr marL="165600">
              <a:lnSpc>
                <a:spcPct val="100000"/>
              </a:lnSpc>
              <a:spcBef>
                <a:spcPts val="6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165600">
              <a:lnSpc>
                <a:spcPct val="100000"/>
              </a:lnSpc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**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Please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be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patient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while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the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chart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is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being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deployed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**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118" name="object 5"/>
          <p:cNvSpPr/>
          <p:nvPr/>
        </p:nvSpPr>
        <p:spPr>
          <a:xfrm>
            <a:off x="8701560" y="4908600"/>
            <a:ext cx="2336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D623DCF2-FA0F-472C-ADC4-49FD836CA4A4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34356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Listing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32" strike="noStrike">
                <a:solidFill>
                  <a:srgbClr val="000000"/>
                </a:solidFill>
                <a:latin typeface="Tahoma"/>
              </a:rPr>
              <a:t>Installed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1" strike="noStrike">
                <a:solidFill>
                  <a:srgbClr val="000000"/>
                </a:solidFill>
                <a:latin typeface="Tahoma"/>
              </a:rPr>
              <a:t>Charts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Information</a:t>
            </a:r>
            <a:r>
              <a:rPr b="0" lang="fr-FR" sz="1600" spc="-97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about</a:t>
            </a:r>
            <a:r>
              <a:rPr b="0" lang="fr-FR" sz="1600" spc="-97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5" strike="noStrike">
                <a:solidFill>
                  <a:srgbClr val="666666"/>
                </a:solidFill>
                <a:latin typeface="Lucida Sans Unicode"/>
              </a:rPr>
              <a:t>chart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details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120" name="object 3"/>
          <p:cNvGrpSpPr/>
          <p:nvPr/>
        </p:nvGrpSpPr>
        <p:grpSpPr>
          <a:xfrm>
            <a:off x="467640" y="1357920"/>
            <a:ext cx="8113680" cy="2131200"/>
            <a:chOff x="467640" y="1357920"/>
            <a:chExt cx="8113680" cy="2131200"/>
          </a:xfrm>
        </p:grpSpPr>
        <p:pic>
          <p:nvPicPr>
            <p:cNvPr id="1121" name="object 4" descr=""/>
            <p:cNvPicPr/>
            <p:nvPr/>
          </p:nvPicPr>
          <p:blipFill>
            <a:blip r:embed="rId1"/>
            <a:stretch/>
          </p:blipFill>
          <p:spPr>
            <a:xfrm>
              <a:off x="467640" y="1357920"/>
              <a:ext cx="8113680" cy="21312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122" name="object 5"/>
            <p:cNvSpPr/>
            <p:nvPr/>
          </p:nvSpPr>
          <p:spPr>
            <a:xfrm>
              <a:off x="521280" y="1406160"/>
              <a:ext cx="7999560" cy="2017440"/>
            </a:xfrm>
            <a:custGeom>
              <a:avLst/>
              <a:gdLst/>
              <a:ahLst/>
              <a:rect l="l" t="t" r="r" b="b"/>
              <a:pathLst>
                <a:path w="8002905" h="2020570">
                  <a:moveTo>
                    <a:pt x="8002500" y="2020199"/>
                  </a:moveTo>
                  <a:lnTo>
                    <a:pt x="0" y="2020199"/>
                  </a:lnTo>
                  <a:lnTo>
                    <a:pt x="0" y="0"/>
                  </a:lnTo>
                  <a:lnTo>
                    <a:pt x="8002500" y="0"/>
                  </a:lnTo>
                  <a:lnTo>
                    <a:pt x="8002500" y="20201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123" name="object 6"/>
          <p:cNvSpPr/>
          <p:nvPr/>
        </p:nvSpPr>
        <p:spPr>
          <a:xfrm>
            <a:off x="687600" y="1548720"/>
            <a:ext cx="1914480" cy="60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helm</a:t>
            </a:r>
            <a:r>
              <a:rPr b="1" lang="fr-FR" sz="13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list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101268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NAM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E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NAMESPACE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99000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jenkins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default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124" name="object 16"/>
          <p:cNvSpPr/>
          <p:nvPr/>
        </p:nvSpPr>
        <p:spPr>
          <a:xfrm>
            <a:off x="8701560" y="4908600"/>
            <a:ext cx="2336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3E78ED58-BC41-4CF5-B45E-2F9C1582C820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125" name="object 7"/>
          <p:cNvSpPr/>
          <p:nvPr/>
        </p:nvSpPr>
        <p:spPr>
          <a:xfrm>
            <a:off x="2889360" y="1748880"/>
            <a:ext cx="13053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800" bIns="0" anchor="t">
            <a:spAutoFit/>
          </a:bodyPr>
          <a:p>
            <a:pPr marL="83880" indent="-84600">
              <a:lnSpc>
                <a:spcPct val="101000"/>
              </a:lnSpc>
              <a:spcBef>
                <a:spcPts val="85"/>
              </a:spcBef>
              <a:buNone/>
              <a:tabLst>
                <a:tab algn="l" pos="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REVISIO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N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... 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1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126" name="object 8"/>
          <p:cNvSpPr/>
          <p:nvPr/>
        </p:nvSpPr>
        <p:spPr>
          <a:xfrm>
            <a:off x="4482000" y="1748880"/>
            <a:ext cx="8020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STATUS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deployed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127" name="object 9"/>
          <p:cNvSpPr/>
          <p:nvPr/>
        </p:nvSpPr>
        <p:spPr>
          <a:xfrm>
            <a:off x="5571720" y="1748880"/>
            <a:ext cx="13964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CHART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jenkins-11.0.6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128" name="object 10"/>
          <p:cNvSpPr/>
          <p:nvPr/>
        </p:nvSpPr>
        <p:spPr>
          <a:xfrm>
            <a:off x="7255440" y="1748880"/>
            <a:ext cx="10998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800" bIns="0" anchor="t">
            <a:spAutoFit/>
          </a:bodyPr>
          <a:p>
            <a:pPr>
              <a:lnSpc>
                <a:spcPct val="101000"/>
              </a:lnSpc>
              <a:spcBef>
                <a:spcPts val="85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APP</a:t>
            </a:r>
            <a:r>
              <a:rPr b="0" lang="fr-FR" sz="1300" spc="-97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VERSION </a:t>
            </a:r>
            <a:r>
              <a:rPr b="0" lang="fr-FR" sz="1300" spc="-76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2.361.2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129" name="object 11"/>
          <p:cNvSpPr/>
          <p:nvPr/>
        </p:nvSpPr>
        <p:spPr>
          <a:xfrm>
            <a:off x="4550040" y="2549160"/>
            <a:ext cx="5054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READY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1/1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130" name="object 12"/>
          <p:cNvSpPr/>
          <p:nvPr/>
        </p:nvSpPr>
        <p:spPr>
          <a:xfrm>
            <a:off x="5342760" y="2549160"/>
            <a:ext cx="7027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STATUS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Running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131" name="object 13"/>
          <p:cNvSpPr/>
          <p:nvPr/>
        </p:nvSpPr>
        <p:spPr>
          <a:xfrm>
            <a:off x="6333120" y="2549160"/>
            <a:ext cx="8024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800" bIns="0" anchor="t">
            <a:spAutoFit/>
          </a:bodyPr>
          <a:p>
            <a:pPr>
              <a:lnSpc>
                <a:spcPct val="101000"/>
              </a:lnSpc>
              <a:spcBef>
                <a:spcPts val="85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RESTARTS 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0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132" name="object 14"/>
          <p:cNvSpPr/>
          <p:nvPr/>
        </p:nvSpPr>
        <p:spPr>
          <a:xfrm>
            <a:off x="7422840" y="2549160"/>
            <a:ext cx="5047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AGE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7m34s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133" name="object 15"/>
          <p:cNvSpPr/>
          <p:nvPr/>
        </p:nvSpPr>
        <p:spPr>
          <a:xfrm>
            <a:off x="687600" y="2349000"/>
            <a:ext cx="3575520" cy="80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get</a:t>
            </a:r>
            <a:r>
              <a:rPr b="1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pods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pod/bitnami-jenkins-764b44cc99-twf6f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4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88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5" strike="noStrike">
                <a:solidFill>
                  <a:srgbClr val="000000"/>
                </a:solidFill>
                <a:latin typeface="Tahoma"/>
              </a:rPr>
              <a:t>Uninstalling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1" strike="noStrike">
                <a:solidFill>
                  <a:srgbClr val="000000"/>
                </a:solidFill>
                <a:latin typeface="Tahoma"/>
              </a:rPr>
              <a:t>Chart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Deletes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Kubernetes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objects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controlled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by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5" strike="noStrike">
                <a:solidFill>
                  <a:srgbClr val="666666"/>
                </a:solidFill>
                <a:latin typeface="Lucida Sans Unicode"/>
              </a:rPr>
              <a:t>chart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135" name="object 4"/>
          <p:cNvSpPr/>
          <p:nvPr/>
        </p:nvSpPr>
        <p:spPr>
          <a:xfrm>
            <a:off x="520560" y="1406160"/>
            <a:ext cx="4301280" cy="116388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54800" bIns="0" anchor="t">
            <a:spAutoFit/>
          </a:bodyPr>
          <a:p>
            <a:pPr marL="165600">
              <a:lnSpc>
                <a:spcPct val="100000"/>
              </a:lnSpc>
              <a:spcBef>
                <a:spcPts val="1219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helm</a:t>
            </a:r>
            <a:r>
              <a:rPr b="1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uninstall</a:t>
            </a:r>
            <a:r>
              <a:rPr b="1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jenkins</a:t>
            </a:r>
            <a:endParaRPr b="0" lang="fr-FR" sz="1300" spc="-1" strike="noStrike">
              <a:latin typeface="Arial"/>
            </a:endParaRPr>
          </a:p>
          <a:p>
            <a:pPr marL="1656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release</a:t>
            </a:r>
            <a:r>
              <a:rPr b="0" lang="fr-FR" sz="13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"jenkins"</a:t>
            </a:r>
            <a:r>
              <a:rPr b="0" lang="fr-FR" sz="13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uninstalled</a:t>
            </a:r>
            <a:endParaRPr b="0" lang="fr-FR" sz="1300" spc="-1" strike="noStrike">
              <a:latin typeface="Arial"/>
            </a:endParaRPr>
          </a:p>
          <a:p>
            <a:pPr marL="165600">
              <a:lnSpc>
                <a:spcPct val="100000"/>
              </a:lnSpc>
              <a:spcBef>
                <a:spcPts val="6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165600">
              <a:lnSpc>
                <a:spcPct val="100000"/>
              </a:lnSpc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get</a:t>
            </a:r>
            <a:r>
              <a:rPr b="1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pods</a:t>
            </a:r>
            <a:endParaRPr b="0" lang="fr-FR" sz="1300" spc="-1" strike="noStrike">
              <a:latin typeface="Arial"/>
            </a:endParaRPr>
          </a:p>
          <a:p>
            <a:pPr marL="1656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No</a:t>
            </a:r>
            <a:r>
              <a:rPr b="0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resources</a:t>
            </a:r>
            <a:r>
              <a:rPr b="0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found</a:t>
            </a:r>
            <a:r>
              <a:rPr b="0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in</a:t>
            </a:r>
            <a:r>
              <a:rPr b="0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default</a:t>
            </a:r>
            <a:r>
              <a:rPr b="0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namespace.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136" name="object 5"/>
          <p:cNvSpPr/>
          <p:nvPr/>
        </p:nvSpPr>
        <p:spPr>
          <a:xfrm>
            <a:off x="8701560" y="4908600"/>
            <a:ext cx="2336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D7BEE4D2-6DC3-414D-9B3E-3E3BF6F6EC98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7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50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5" strike="noStrike">
                <a:solidFill>
                  <a:srgbClr val="000000"/>
                </a:solidFill>
                <a:latin typeface="Tahoma"/>
              </a:rPr>
              <a:t>Standard</a:t>
            </a:r>
            <a:r>
              <a:rPr b="1" lang="fr-FR" sz="2400" spc="-16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1" strike="noStrike">
                <a:solidFill>
                  <a:srgbClr val="000000"/>
                </a:solidFill>
                <a:latin typeface="Tahoma"/>
              </a:rPr>
              <a:t>Chart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Structure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Predefined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directory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structure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mandatory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Chart.yam</a:t>
            </a:r>
            <a:r>
              <a:rPr b="0" lang="fr-FR" sz="1600" spc="-1" strike="noStrike">
                <a:solidFill>
                  <a:srgbClr val="666666"/>
                </a:solidFill>
                <a:latin typeface="Courier New"/>
              </a:rPr>
              <a:t>l</a:t>
            </a:r>
            <a:r>
              <a:rPr b="0" lang="fr-FR" sz="1600" spc="-687" strike="noStrike">
                <a:solidFill>
                  <a:srgbClr val="666666"/>
                </a:solidFill>
                <a:latin typeface="Courier New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values.yaml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138" name="object 7"/>
          <p:cNvSpPr/>
          <p:nvPr/>
        </p:nvSpPr>
        <p:spPr>
          <a:xfrm>
            <a:off x="8701560" y="4908600"/>
            <a:ext cx="2343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3CC8AE27-EE2C-41BA-99CF-FE2731706CDB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139" name="" descr=""/>
          <p:cNvPicPr/>
          <p:nvPr/>
        </p:nvPicPr>
        <p:blipFill>
          <a:blip r:embed="rId1"/>
          <a:stretch/>
        </p:blipFill>
        <p:spPr>
          <a:xfrm>
            <a:off x="489960" y="1391400"/>
            <a:ext cx="4367880" cy="2026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0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60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41" strike="noStrike">
                <a:solidFill>
                  <a:srgbClr val="000000"/>
                </a:solidFill>
                <a:latin typeface="Tahoma"/>
              </a:rPr>
              <a:t>Chart</a:t>
            </a:r>
            <a:r>
              <a:rPr b="1" lang="fr-FR" sz="2400" spc="-16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52" strike="noStrike">
                <a:solidFill>
                  <a:srgbClr val="000000"/>
                </a:solidFill>
                <a:latin typeface="Tahoma"/>
              </a:rPr>
              <a:t>File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Describes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0" strike="noStrike">
                <a:solidFill>
                  <a:srgbClr val="666666"/>
                </a:solidFill>
                <a:latin typeface="Lucida Sans Unicode"/>
              </a:rPr>
              <a:t>meta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information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5" strike="noStrike">
                <a:solidFill>
                  <a:srgbClr val="666666"/>
                </a:solidFill>
                <a:latin typeface="Lucida Sans Unicode"/>
              </a:rPr>
              <a:t>chart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(e.g.,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4" strike="noStrike">
                <a:solidFill>
                  <a:srgbClr val="666666"/>
                </a:solidFill>
                <a:latin typeface="Lucida Sans Unicode"/>
              </a:rPr>
              <a:t>name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version)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141" name="object 4"/>
          <p:cNvSpPr/>
          <p:nvPr/>
        </p:nvSpPr>
        <p:spPr>
          <a:xfrm>
            <a:off x="537480" y="1837080"/>
            <a:ext cx="2152080" cy="71460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15560" bIns="0" anchor="t">
            <a:spAutoFit/>
          </a:bodyPr>
          <a:p>
            <a:pPr marL="222120">
              <a:lnSpc>
                <a:spcPct val="101000"/>
              </a:lnSpc>
              <a:spcBef>
                <a:spcPts val="910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apiVersion:</a:t>
            </a:r>
            <a:r>
              <a:rPr b="1" lang="fr-FR" sz="1300" spc="-9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1.0.0 </a:t>
            </a:r>
            <a:r>
              <a:rPr b="0" lang="fr-FR" sz="1300" spc="-76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web-app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version:</a:t>
            </a:r>
            <a:r>
              <a:rPr b="1" lang="fr-FR" sz="1300" spc="-3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2.5.4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142" name="object 6"/>
          <p:cNvSpPr/>
          <p:nvPr/>
        </p:nvSpPr>
        <p:spPr>
          <a:xfrm>
            <a:off x="8701560" y="4908600"/>
            <a:ext cx="2343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AF13065E-7F32-4428-AC54-5D8BE2840650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143" name="object 5"/>
          <p:cNvSpPr/>
          <p:nvPr/>
        </p:nvSpPr>
        <p:spPr>
          <a:xfrm>
            <a:off x="569160" y="1389600"/>
            <a:ext cx="8820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i="1" lang="fr-FR" sz="1400" spc="-7" strike="noStrike">
                <a:solidFill>
                  <a:srgbClr val="000000"/>
                </a:solidFill>
                <a:latin typeface="Arial"/>
                <a:ea typeface="DejaVu Sans"/>
              </a:rPr>
              <a:t>Chart.yaml</a:t>
            </a:r>
            <a:endParaRPr b="0" lang="fr-FR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4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50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41" strike="noStrike">
                <a:solidFill>
                  <a:srgbClr val="000000"/>
                </a:solidFill>
                <a:latin typeface="Tahoma"/>
              </a:rPr>
              <a:t>Values</a:t>
            </a:r>
            <a:r>
              <a:rPr b="1" lang="fr-FR" sz="2400" spc="-16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52" strike="noStrike">
                <a:solidFill>
                  <a:srgbClr val="000000"/>
                </a:solidFill>
                <a:latin typeface="Tahoma"/>
              </a:rPr>
              <a:t>File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Key-value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pairs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used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6" strike="noStrike">
                <a:solidFill>
                  <a:srgbClr val="666666"/>
                </a:solidFill>
                <a:latin typeface="Lucida Sans Unicode"/>
              </a:rPr>
              <a:t>at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runtime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6" strike="noStrike">
                <a:solidFill>
                  <a:srgbClr val="666666"/>
                </a:solidFill>
                <a:latin typeface="Lucida Sans Unicode"/>
              </a:rPr>
              <a:t>replace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placeholders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YAML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manifests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145" name="object 4"/>
          <p:cNvSpPr/>
          <p:nvPr/>
        </p:nvSpPr>
        <p:spPr>
          <a:xfrm>
            <a:off x="537480" y="1837080"/>
            <a:ext cx="2618640" cy="92376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4920" bIns="0" anchor="t">
            <a:spAutoFit/>
          </a:bodyPr>
          <a:p>
            <a:pPr marL="222120">
              <a:lnSpc>
                <a:spcPct val="101000"/>
              </a:lnSpc>
              <a:spcBef>
                <a:spcPts val="98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db_host: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mysql-service </a:t>
            </a:r>
            <a:r>
              <a:rPr b="0" lang="fr-FR" sz="1300" spc="-7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db_user: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root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db_password: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password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service_port:</a:t>
            </a:r>
            <a:r>
              <a:rPr b="1" lang="fr-FR" sz="1300" spc="-2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3000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146" name="object 7"/>
          <p:cNvSpPr/>
          <p:nvPr/>
        </p:nvSpPr>
        <p:spPr>
          <a:xfrm>
            <a:off x="8701560" y="4908600"/>
            <a:ext cx="2343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7AA04CFF-E156-4D48-9EF4-399556C4811F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147" name="object 5"/>
          <p:cNvSpPr/>
          <p:nvPr/>
        </p:nvSpPr>
        <p:spPr>
          <a:xfrm>
            <a:off x="542880" y="1389600"/>
            <a:ext cx="9612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i="1" lang="fr-FR" sz="1400" spc="-1" strike="noStrike">
                <a:solidFill>
                  <a:srgbClr val="000000"/>
                </a:solidFill>
                <a:latin typeface="Arial"/>
                <a:ea typeface="DejaVu Sans"/>
              </a:rPr>
              <a:t>values.yaml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148" name="object 6"/>
          <p:cNvSpPr/>
          <p:nvPr/>
        </p:nvSpPr>
        <p:spPr>
          <a:xfrm>
            <a:off x="532440" y="3388320"/>
            <a:ext cx="4865400" cy="24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Additional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1"/>
              </a:rPr>
              <a:t>built-in</a:t>
            </a:r>
            <a:r>
              <a:rPr b="0" lang="fr-FR" sz="1500" spc="-15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2"/>
              </a:rPr>
              <a:t> </a:t>
            </a:r>
            <a:r>
              <a:rPr b="0" lang="fr-FR" sz="1500" spc="-7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3"/>
              </a:rPr>
              <a:t>objects</a:t>
            </a:r>
            <a:r>
              <a:rPr b="0" lang="fr-FR" sz="1500" spc="-7" strike="noStrike" u="sng">
                <a:solidFill>
                  <a:srgbClr val="0000ff"/>
                </a:solidFill>
                <a:uFillTx/>
                <a:latin typeface="Arial MT"/>
                <a:ea typeface="DejaVu Sans"/>
                <a:hlinkClick r:id="rId4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are</a:t>
            </a:r>
            <a:r>
              <a:rPr b="0" lang="fr-FR" sz="15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available</a:t>
            </a:r>
            <a:r>
              <a:rPr b="0" lang="fr-FR" sz="15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for</a:t>
            </a:r>
            <a:r>
              <a:rPr b="0" lang="fr-FR" sz="15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use.</a:t>
            </a:r>
            <a:endParaRPr b="0" lang="fr-FR" sz="15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9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60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26" strike="noStrike">
                <a:solidFill>
                  <a:srgbClr val="000000"/>
                </a:solidFill>
                <a:latin typeface="Tahoma"/>
              </a:rPr>
              <a:t>Template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52" strike="noStrike">
                <a:solidFill>
                  <a:srgbClr val="000000"/>
                </a:solidFill>
                <a:latin typeface="Tahoma"/>
              </a:rPr>
              <a:t>File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YAML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manifest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that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00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define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placeholders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using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double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curly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5" strike="noStrike">
                <a:solidFill>
                  <a:srgbClr val="666666"/>
                </a:solidFill>
                <a:latin typeface="Lucida Sans Unicode"/>
              </a:rPr>
              <a:t>braces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150" name="object 9"/>
          <p:cNvSpPr/>
          <p:nvPr/>
        </p:nvSpPr>
        <p:spPr>
          <a:xfrm>
            <a:off x="8701560" y="4908600"/>
            <a:ext cx="2343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7DEA06BE-CE9C-4CD6-9D61-F0B8E0BE2E87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151" name="object 8"/>
          <p:cNvSpPr/>
          <p:nvPr/>
        </p:nvSpPr>
        <p:spPr>
          <a:xfrm>
            <a:off x="542880" y="1389600"/>
            <a:ext cx="222552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i="1" lang="fr-FR" sz="1400" spc="-7" strike="noStrike">
                <a:solidFill>
                  <a:srgbClr val="000000"/>
                </a:solidFill>
                <a:latin typeface="Arial"/>
                <a:ea typeface="DejaVu Sans"/>
              </a:rPr>
              <a:t>web-app-pod-template.yaml</a:t>
            </a:r>
            <a:endParaRPr b="0" lang="fr-FR" sz="1400" spc="-1" strike="noStrike">
              <a:latin typeface="Arial"/>
            </a:endParaRPr>
          </a:p>
        </p:txBody>
      </p:sp>
      <p:pic>
        <p:nvPicPr>
          <p:cNvPr id="1152" name="" descr=""/>
          <p:cNvPicPr/>
          <p:nvPr/>
        </p:nvPicPr>
        <p:blipFill>
          <a:blip r:embed="rId1"/>
          <a:stretch/>
        </p:blipFill>
        <p:spPr>
          <a:xfrm>
            <a:off x="540000" y="1800000"/>
            <a:ext cx="3632760" cy="3021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3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60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Previewing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Final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9" strike="noStrike">
                <a:solidFill>
                  <a:srgbClr val="000000"/>
                </a:solidFill>
                <a:latin typeface="Tahoma"/>
              </a:rPr>
              <a:t>Templates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Replaces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placeholders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5" strike="noStrike">
                <a:solidFill>
                  <a:srgbClr val="666666"/>
                </a:solidFill>
                <a:latin typeface="Lucida Sans Unicode"/>
              </a:rPr>
              <a:t>actual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values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from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values.yaml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154" name="object 6"/>
          <p:cNvSpPr/>
          <p:nvPr/>
        </p:nvSpPr>
        <p:spPr>
          <a:xfrm>
            <a:off x="8701560" y="4908600"/>
            <a:ext cx="2343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0441778E-1F17-45BE-806A-C394A0CD7B32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155" name="" descr=""/>
          <p:cNvPicPr/>
          <p:nvPr/>
        </p:nvPicPr>
        <p:blipFill>
          <a:blip r:embed="rId1"/>
          <a:stretch/>
        </p:blipFill>
        <p:spPr>
          <a:xfrm>
            <a:off x="494280" y="1080000"/>
            <a:ext cx="5749920" cy="37857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6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60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Installing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1" strike="noStrike">
                <a:solidFill>
                  <a:srgbClr val="000000"/>
                </a:solidFill>
                <a:latin typeface="Tahoma"/>
              </a:rPr>
              <a:t>Chart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" strike="noStrike">
                <a:solidFill>
                  <a:srgbClr val="000000"/>
                </a:solidFill>
                <a:latin typeface="Tahoma"/>
              </a:rPr>
              <a:t>from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Local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6" strike="noStrike">
                <a:solidFill>
                  <a:srgbClr val="000000"/>
                </a:solidFill>
                <a:latin typeface="Tahoma"/>
              </a:rPr>
              <a:t>Files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Helpful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trying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out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deployment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before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publishing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5" strike="noStrike">
                <a:solidFill>
                  <a:srgbClr val="666666"/>
                </a:solidFill>
                <a:latin typeface="Lucida Sans Unicode"/>
              </a:rPr>
              <a:t>chart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file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157" name="object 9"/>
          <p:cNvSpPr/>
          <p:nvPr/>
        </p:nvSpPr>
        <p:spPr>
          <a:xfrm>
            <a:off x="8701560" y="4908600"/>
            <a:ext cx="2343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4246BB13-C059-4816-86D1-76288498CC03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158" name="" descr=""/>
          <p:cNvPicPr/>
          <p:nvPr/>
        </p:nvPicPr>
        <p:blipFill>
          <a:blip r:embed="rId1"/>
          <a:stretch/>
        </p:blipFill>
        <p:spPr>
          <a:xfrm>
            <a:off x="468000" y="1260000"/>
            <a:ext cx="8457840" cy="3061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9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24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Overriding</a:t>
            </a:r>
            <a:r>
              <a:rPr b="1" lang="fr-FR" sz="2400" spc="-17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1" strike="noStrike">
                <a:solidFill>
                  <a:srgbClr val="000000"/>
                </a:solidFill>
                <a:latin typeface="Tahoma"/>
              </a:rPr>
              <a:t>Values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End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user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00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tweak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runtime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behavior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personal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requirements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160" name="object 3"/>
          <p:cNvGrpSpPr/>
          <p:nvPr/>
        </p:nvGrpSpPr>
        <p:grpSpPr>
          <a:xfrm>
            <a:off x="466920" y="1357920"/>
            <a:ext cx="7669440" cy="1689480"/>
            <a:chOff x="466920" y="1357920"/>
            <a:chExt cx="7669440" cy="1689480"/>
          </a:xfrm>
        </p:grpSpPr>
        <p:pic>
          <p:nvPicPr>
            <p:cNvPr id="1161" name="object 4" descr=""/>
            <p:cNvPicPr/>
            <p:nvPr/>
          </p:nvPicPr>
          <p:blipFill>
            <a:blip r:embed="rId1"/>
            <a:stretch/>
          </p:blipFill>
          <p:spPr>
            <a:xfrm>
              <a:off x="466920" y="1357920"/>
              <a:ext cx="7669440" cy="16894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162" name="object 5"/>
            <p:cNvSpPr/>
            <p:nvPr/>
          </p:nvSpPr>
          <p:spPr>
            <a:xfrm>
              <a:off x="520560" y="1406160"/>
              <a:ext cx="7555680" cy="1575360"/>
            </a:xfrm>
            <a:custGeom>
              <a:avLst/>
              <a:gdLst/>
              <a:ahLst/>
              <a:rect l="l" t="t" r="r" b="b"/>
              <a:pathLst>
                <a:path w="7559040" h="1578610">
                  <a:moveTo>
                    <a:pt x="7558499" y="1578299"/>
                  </a:moveTo>
                  <a:lnTo>
                    <a:pt x="0" y="1578299"/>
                  </a:lnTo>
                  <a:lnTo>
                    <a:pt x="0" y="0"/>
                  </a:lnTo>
                  <a:lnTo>
                    <a:pt x="7558499" y="0"/>
                  </a:lnTo>
                  <a:lnTo>
                    <a:pt x="7558499" y="15782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163" name="object 6"/>
          <p:cNvSpPr/>
          <p:nvPr/>
        </p:nvSpPr>
        <p:spPr>
          <a:xfrm>
            <a:off x="1928880" y="1558440"/>
            <a:ext cx="3161520" cy="17100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3960" bIns="0" anchor="t">
            <a:spAutoFit/>
          </a:bodyPr>
          <a:p>
            <a:pPr marL="14760">
              <a:lnSpc>
                <a:spcPct val="100000"/>
              </a:lnSpc>
              <a:spcBef>
                <a:spcPts val="31"/>
              </a:spcBef>
              <a:buNone/>
            </a:pP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--namespace</a:t>
            </a:r>
            <a:r>
              <a:rPr b="1" lang="fr-FR" sz="11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custom</a:t>
            </a:r>
            <a:r>
              <a:rPr b="1" lang="fr-FR" sz="11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--create-namespace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164" name="object 7"/>
          <p:cNvSpPr/>
          <p:nvPr/>
        </p:nvSpPr>
        <p:spPr>
          <a:xfrm>
            <a:off x="5112720" y="1558440"/>
            <a:ext cx="1970280" cy="17100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3960" bIns="0" anchor="t">
            <a:spAutoFit/>
          </a:bodyPr>
          <a:p>
            <a:pPr marL="15120">
              <a:lnSpc>
                <a:spcPct val="100000"/>
              </a:lnSpc>
              <a:spcBef>
                <a:spcPts val="31"/>
              </a:spcBef>
              <a:buNone/>
            </a:pP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--set</a:t>
            </a:r>
            <a:r>
              <a:rPr b="1" lang="fr-FR" sz="11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service_port=9090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165" name="object 8"/>
          <p:cNvSpPr/>
          <p:nvPr/>
        </p:nvSpPr>
        <p:spPr>
          <a:xfrm>
            <a:off x="7126920" y="1549800"/>
            <a:ext cx="776520" cy="17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web-app</a:t>
            </a:r>
            <a:r>
              <a:rPr b="1" lang="fr-FR" sz="1100" spc="-8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.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166" name="object 9"/>
          <p:cNvSpPr/>
          <p:nvPr/>
        </p:nvSpPr>
        <p:spPr>
          <a:xfrm>
            <a:off x="673920" y="1549800"/>
            <a:ext cx="1195560" cy="35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100" spc="-5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helm</a:t>
            </a:r>
            <a:r>
              <a:rPr b="1" lang="fr-FR" sz="11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install</a:t>
            </a:r>
            <a:endParaRPr b="0" lang="fr-FR" sz="11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31"/>
              </a:spcBef>
              <a:buNone/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NAME:</a:t>
            </a:r>
            <a:r>
              <a:rPr b="0" lang="fr-FR" sz="11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web-app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167" name="object 10"/>
          <p:cNvSpPr/>
          <p:nvPr/>
        </p:nvSpPr>
        <p:spPr>
          <a:xfrm>
            <a:off x="673920" y="1892880"/>
            <a:ext cx="3291120" cy="69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LAST</a:t>
            </a:r>
            <a:r>
              <a:rPr b="0" lang="fr-FR" sz="11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DEPLOYED:</a:t>
            </a:r>
            <a:r>
              <a:rPr b="0" lang="fr-FR" sz="11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Wed</a:t>
            </a:r>
            <a:r>
              <a:rPr b="0" lang="fr-FR" sz="11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Apr</a:t>
            </a:r>
            <a:r>
              <a:rPr b="0" lang="fr-FR" sz="11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19</a:t>
            </a:r>
            <a:r>
              <a:rPr b="0" lang="fr-FR" sz="11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11:58:34</a:t>
            </a:r>
            <a:r>
              <a:rPr b="0" lang="fr-FR" sz="11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2023</a:t>
            </a:r>
            <a:endParaRPr b="0" lang="fr-FR" sz="1100" spc="-1" strike="noStrike">
              <a:latin typeface="Arial"/>
            </a:endParaRPr>
          </a:p>
          <a:p>
            <a:pPr marL="12600">
              <a:lnSpc>
                <a:spcPct val="102000"/>
              </a:lnSpc>
              <a:buNone/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NAMESPACE:</a:t>
            </a:r>
            <a:r>
              <a:rPr b="0" lang="fr-FR" sz="1100" spc="-9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custom </a:t>
            </a:r>
            <a:r>
              <a:rPr b="0" lang="fr-FR" sz="1100" spc="-647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STATUS: deployed </a:t>
            </a:r>
            <a:r>
              <a:rPr b="0" lang="fr-FR" sz="1100" spc="-650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REVISION:</a:t>
            </a:r>
            <a:r>
              <a:rPr b="0" lang="fr-FR" sz="11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1</a:t>
            </a:r>
            <a:endParaRPr b="0" lang="fr-FR" sz="11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31"/>
              </a:spcBef>
              <a:buNone/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TEST</a:t>
            </a:r>
            <a:r>
              <a:rPr b="0" lang="fr-FR" sz="11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SUITE:</a:t>
            </a:r>
            <a:r>
              <a:rPr b="0" lang="fr-FR" sz="11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None</a:t>
            </a:r>
            <a:endParaRPr b="0" lang="fr-FR" sz="1100" spc="-1" strike="noStrike">
              <a:latin typeface="Arial"/>
            </a:endParaRPr>
          </a:p>
        </p:txBody>
      </p:sp>
      <p:grpSp>
        <p:nvGrpSpPr>
          <p:cNvPr id="1168" name="object 11"/>
          <p:cNvGrpSpPr/>
          <p:nvPr/>
        </p:nvGrpSpPr>
        <p:grpSpPr>
          <a:xfrm>
            <a:off x="1919520" y="1548720"/>
            <a:ext cx="5172840" cy="1954080"/>
            <a:chOff x="1919520" y="1548720"/>
            <a:chExt cx="5172840" cy="1954080"/>
          </a:xfrm>
        </p:grpSpPr>
        <p:sp>
          <p:nvSpPr>
            <p:cNvPr id="1169" name="object 12"/>
            <p:cNvSpPr/>
            <p:nvPr/>
          </p:nvSpPr>
          <p:spPr>
            <a:xfrm>
              <a:off x="1919520" y="1548720"/>
              <a:ext cx="3165480" cy="229680"/>
            </a:xfrm>
            <a:custGeom>
              <a:avLst/>
              <a:gdLst/>
              <a:ahLst/>
              <a:rect l="l" t="t" r="r" b="b"/>
              <a:pathLst>
                <a:path w="3168650" h="233044">
                  <a:moveTo>
                    <a:pt x="0" y="0"/>
                  </a:moveTo>
                  <a:lnTo>
                    <a:pt x="3168599" y="0"/>
                  </a:lnTo>
                  <a:lnTo>
                    <a:pt x="3168599" y="232799"/>
                  </a:lnTo>
                  <a:lnTo>
                    <a:pt x="0" y="23279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9049">
              <a:solidFill>
                <a:srgbClr val="ff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170" name="object 13"/>
            <p:cNvSpPr/>
            <p:nvPr/>
          </p:nvSpPr>
          <p:spPr>
            <a:xfrm>
              <a:off x="3612600" y="1878840"/>
              <a:ext cx="819000" cy="1519560"/>
            </a:xfrm>
            <a:custGeom>
              <a:avLst/>
              <a:gdLst/>
              <a:ahLst/>
              <a:rect l="l" t="t" r="r" b="b"/>
              <a:pathLst>
                <a:path w="822325" h="1522729">
                  <a:moveTo>
                    <a:pt x="0" y="1522499"/>
                  </a:moveTo>
                  <a:lnTo>
                    <a:pt x="0" y="818399"/>
                  </a:lnTo>
                  <a:lnTo>
                    <a:pt x="822299" y="818399"/>
                  </a:lnTo>
                  <a:lnTo>
                    <a:pt x="822299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171" name="object 14" descr=""/>
            <p:cNvPicPr/>
            <p:nvPr/>
          </p:nvPicPr>
          <p:blipFill>
            <a:blip r:embed="rId2"/>
            <a:stretch/>
          </p:blipFill>
          <p:spPr>
            <a:xfrm>
              <a:off x="3571560" y="3391920"/>
              <a:ext cx="78840" cy="1022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172" name="object 15"/>
            <p:cNvSpPr/>
            <p:nvPr/>
          </p:nvSpPr>
          <p:spPr>
            <a:xfrm>
              <a:off x="5118120" y="1548720"/>
              <a:ext cx="1974240" cy="229680"/>
            </a:xfrm>
            <a:custGeom>
              <a:avLst/>
              <a:gdLst/>
              <a:ahLst/>
              <a:rect l="l" t="t" r="r" b="b"/>
              <a:pathLst>
                <a:path w="1977390" h="233044">
                  <a:moveTo>
                    <a:pt x="0" y="0"/>
                  </a:moveTo>
                  <a:lnTo>
                    <a:pt x="1976999" y="0"/>
                  </a:lnTo>
                  <a:lnTo>
                    <a:pt x="1976999" y="232799"/>
                  </a:lnTo>
                  <a:lnTo>
                    <a:pt x="0" y="23279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9049">
              <a:solidFill>
                <a:srgbClr val="ff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173" name="object 16"/>
            <p:cNvSpPr/>
            <p:nvPr/>
          </p:nvSpPr>
          <p:spPr>
            <a:xfrm>
              <a:off x="6143760" y="1887840"/>
              <a:ext cx="360" cy="1519560"/>
            </a:xfrm>
            <a:custGeom>
              <a:avLst/>
              <a:gdLst/>
              <a:ahLst/>
              <a:rect l="l" t="t" r="r" b="b"/>
              <a:pathLst>
                <a:path w="0" h="1522729">
                  <a:moveTo>
                    <a:pt x="0" y="0"/>
                  </a:moveTo>
                  <a:lnTo>
                    <a:pt x="0" y="152220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174" name="object 17" descr=""/>
            <p:cNvPicPr/>
            <p:nvPr/>
          </p:nvPicPr>
          <p:blipFill>
            <a:blip r:embed="rId3"/>
            <a:stretch/>
          </p:blipFill>
          <p:spPr>
            <a:xfrm>
              <a:off x="6103080" y="3400560"/>
              <a:ext cx="78840" cy="1022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175" name="object 18"/>
          <p:cNvSpPr/>
          <p:nvPr/>
        </p:nvSpPr>
        <p:spPr>
          <a:xfrm>
            <a:off x="2672280" y="3575520"/>
            <a:ext cx="2185560" cy="65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2240" indent="-2520" algn="ctr">
              <a:lnSpc>
                <a:spcPts val="165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Providing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a custom 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namespace</a:t>
            </a:r>
            <a:r>
              <a:rPr b="0" lang="fr-FR" sz="1400" spc="-5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(defaults</a:t>
            </a:r>
            <a:r>
              <a:rPr b="0" lang="fr-FR" sz="1400" spc="-5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to </a:t>
            </a:r>
            <a:r>
              <a:rPr b="0" lang="fr-FR" sz="1400" spc="-37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defaul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t</a:t>
            </a:r>
            <a:r>
              <a:rPr b="0" lang="fr-FR" sz="1400" spc="-350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namespace)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176" name="object 20"/>
          <p:cNvSpPr/>
          <p:nvPr/>
        </p:nvSpPr>
        <p:spPr>
          <a:xfrm>
            <a:off x="8701560" y="4908600"/>
            <a:ext cx="2343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B376FA93-B093-48D1-8181-301D0BFA1A22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177" name="object 19"/>
          <p:cNvSpPr/>
          <p:nvPr/>
        </p:nvSpPr>
        <p:spPr>
          <a:xfrm>
            <a:off x="5415120" y="3575520"/>
            <a:ext cx="196272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algn="ctr">
              <a:lnSpc>
                <a:spcPts val="1664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Override</a:t>
            </a:r>
            <a:r>
              <a:rPr b="0" lang="fr-FR" sz="1400" spc="-4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values</a:t>
            </a:r>
            <a:r>
              <a:rPr b="0" lang="fr-FR" sz="1400" spc="-4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in</a:t>
            </a:r>
            <a:endParaRPr b="0" lang="fr-FR" sz="1400" spc="-1" strike="noStrike">
              <a:latin typeface="Arial"/>
            </a:endParaRPr>
          </a:p>
          <a:p>
            <a:pPr algn="ctr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values.yaml</a:t>
            </a:r>
            <a:endParaRPr b="0" lang="fr-FR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64756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7" strike="noStrike">
                <a:solidFill>
                  <a:srgbClr val="000000"/>
                </a:solidFill>
                <a:latin typeface="Tahoma"/>
              </a:rPr>
              <a:t>Bufidlifig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the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6" strike="noStrike">
                <a:solidFill>
                  <a:srgbClr val="000000"/>
                </a:solidFill>
                <a:latin typeface="Tahoma"/>
              </a:rPr>
              <a:t>Template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6" strike="noStrike">
                <a:solidFill>
                  <a:srgbClr val="000000"/>
                </a:solidFill>
                <a:latin typeface="Tahoma"/>
              </a:rPr>
              <a:t>Files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32" strike="noStrike">
                <a:solidFill>
                  <a:srgbClr val="000000"/>
                </a:solidFill>
                <a:latin typeface="Tahoma"/>
              </a:rPr>
              <a:t>ifito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1" strike="noStrike">
                <a:solidFill>
                  <a:srgbClr val="000000"/>
                </a:solidFill>
                <a:latin typeface="Tahoma"/>
              </a:rPr>
              <a:t>Chart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5" strike="noStrike">
                <a:solidFill>
                  <a:srgbClr val="000000"/>
                </a:solidFill>
                <a:latin typeface="Tahoma"/>
              </a:rPr>
              <a:t>Archive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52" strike="noStrike">
                <a:solidFill>
                  <a:srgbClr val="000000"/>
                </a:solidFill>
                <a:latin typeface="Tahoma"/>
              </a:rPr>
              <a:t>File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Archive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file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is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usually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published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5" strike="noStrike">
                <a:solidFill>
                  <a:srgbClr val="666666"/>
                </a:solidFill>
                <a:latin typeface="Lucida Sans Unicode"/>
              </a:rPr>
              <a:t>chart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repository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consumption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179" name="object 4"/>
          <p:cNvSpPr/>
          <p:nvPr/>
        </p:nvSpPr>
        <p:spPr>
          <a:xfrm>
            <a:off x="520560" y="1586160"/>
            <a:ext cx="4801680" cy="136368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54800" bIns="0" anchor="t">
            <a:spAutoFit/>
          </a:bodyPr>
          <a:p>
            <a:pPr marL="165600">
              <a:lnSpc>
                <a:spcPct val="100000"/>
              </a:lnSpc>
              <a:spcBef>
                <a:spcPts val="1219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helm</a:t>
            </a:r>
            <a:r>
              <a:rPr b="1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package</a:t>
            </a:r>
            <a:r>
              <a:rPr b="1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.</a:t>
            </a:r>
            <a:endParaRPr b="0" lang="fr-FR" sz="1300" spc="-1" strike="noStrike">
              <a:latin typeface="Arial"/>
            </a:endParaRPr>
          </a:p>
          <a:p>
            <a:pPr marL="1656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Successfully</a:t>
            </a:r>
            <a:r>
              <a:rPr b="0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packaged</a:t>
            </a:r>
            <a:r>
              <a:rPr b="0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chart</a:t>
            </a:r>
            <a:r>
              <a:rPr b="0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and</a:t>
            </a:r>
            <a:r>
              <a:rPr b="0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saved</a:t>
            </a:r>
            <a:r>
              <a:rPr b="0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it</a:t>
            </a:r>
            <a:r>
              <a:rPr b="0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to:</a:t>
            </a:r>
            <a:endParaRPr b="0" lang="fr-FR" sz="1300" spc="-1" strike="noStrike">
              <a:latin typeface="Arial"/>
            </a:endParaRPr>
          </a:p>
          <a:p>
            <a:pPr marL="1656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/Users/bmuschko/helm/web-app-2.5.4.tgz</a:t>
            </a:r>
            <a:endParaRPr b="0" lang="fr-FR" sz="1300" spc="-1" strike="noStrike">
              <a:latin typeface="Arial"/>
            </a:endParaRPr>
          </a:p>
          <a:p>
            <a:pPr marL="165600">
              <a:lnSpc>
                <a:spcPct val="100000"/>
              </a:lnSpc>
              <a:spcBef>
                <a:spcPts val="6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165600">
              <a:lnSpc>
                <a:spcPct val="100000"/>
              </a:lnSpc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ls</a:t>
            </a:r>
            <a:endParaRPr b="0" lang="fr-FR" sz="1300" spc="-1" strike="noStrike">
              <a:latin typeface="Arial"/>
            </a:endParaRPr>
          </a:p>
          <a:p>
            <a:pPr marL="1656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web-app-2.5.4.tgz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180" name="object 5"/>
          <p:cNvSpPr/>
          <p:nvPr/>
        </p:nvSpPr>
        <p:spPr>
          <a:xfrm>
            <a:off x="8701560" y="4908600"/>
            <a:ext cx="2343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79197A73-0EAB-4438-8521-FE6583A67294}" type="slidenum">
              <a:rPr b="0" lang="fr-FR" sz="800" spc="-8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1" name="object 2"/>
          <p:cNvSpPr/>
          <p:nvPr/>
        </p:nvSpPr>
        <p:spPr>
          <a:xfrm>
            <a:off x="494280" y="371880"/>
            <a:ext cx="128268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2400" spc="-15" strike="noStrike">
                <a:solidFill>
                  <a:srgbClr val="000000"/>
                </a:solidFill>
                <a:latin typeface="Tahoma"/>
                <a:ea typeface="DejaVu Sans"/>
              </a:rPr>
              <a:t>Lab 10</a:t>
            </a:r>
            <a:endParaRPr b="0" lang="fr-FR" sz="2400" spc="-1" strike="noStrike">
              <a:latin typeface="Arial"/>
            </a:endParaRPr>
          </a:p>
        </p:txBody>
      </p:sp>
      <p:sp>
        <p:nvSpPr>
          <p:cNvPr id="1182" name="object 3"/>
          <p:cNvSpPr/>
          <p:nvPr/>
        </p:nvSpPr>
        <p:spPr>
          <a:xfrm>
            <a:off x="494280" y="1323360"/>
            <a:ext cx="5803560" cy="101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14000"/>
              </a:lnSpc>
              <a:spcBef>
                <a:spcPts val="99"/>
              </a:spcBef>
              <a:buNone/>
            </a:pP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Implementing,</a:t>
            </a:r>
            <a:r>
              <a:rPr b="0" lang="fr-FR" sz="2900" spc="-100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packaging, </a:t>
            </a:r>
            <a:r>
              <a:rPr b="0" lang="fr-FR" sz="2900" spc="-79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and installing </a:t>
            </a:r>
            <a:r>
              <a:rPr b="0" lang="fr-FR" sz="2900" spc="-1" strike="noStrike">
                <a:solidFill>
                  <a:srgbClr val="000000"/>
                </a:solidFill>
                <a:latin typeface="Arial MT"/>
                <a:ea typeface="DejaVu Sans"/>
              </a:rPr>
              <a:t>a custom 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Helm</a:t>
            </a:r>
            <a:r>
              <a:rPr b="0" lang="fr-FR" sz="29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1" strike="noStrike">
                <a:solidFill>
                  <a:srgbClr val="000000"/>
                </a:solidFill>
                <a:latin typeface="Arial MT"/>
                <a:ea typeface="DejaVu Sans"/>
              </a:rPr>
              <a:t>chart</a:t>
            </a:r>
            <a:endParaRPr b="0" lang="fr-FR" sz="2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3" name="object 2" descr=""/>
          <p:cNvPicPr/>
          <p:nvPr/>
        </p:nvPicPr>
        <p:blipFill>
          <a:blip r:embed="rId1"/>
          <a:stretch/>
        </p:blipFill>
        <p:spPr>
          <a:xfrm>
            <a:off x="0" y="0"/>
            <a:ext cx="9140760" cy="5140080"/>
          </a:xfrm>
          <a:prstGeom prst="rect">
            <a:avLst/>
          </a:prstGeom>
          <a:ln w="0">
            <a:noFill/>
          </a:ln>
        </p:spPr>
      </p:pic>
      <p:sp>
        <p:nvSpPr>
          <p:cNvPr id="1184" name="PlaceHolder 1"/>
          <p:cNvSpPr>
            <a:spLocks noGrp="1"/>
          </p:cNvSpPr>
          <p:nvPr>
            <p:ph type="title"/>
          </p:nvPr>
        </p:nvSpPr>
        <p:spPr>
          <a:xfrm>
            <a:off x="494280" y="1767960"/>
            <a:ext cx="4183560" cy="2511360"/>
          </a:xfrm>
          <a:prstGeom prst="rect">
            <a:avLst/>
          </a:prstGeom>
          <a:noFill/>
          <a:ln w="0">
            <a:noFill/>
          </a:ln>
        </p:spPr>
        <p:txBody>
          <a:bodyPr lIns="0" rIns="0" tIns="12600" bIns="0" anchor="t">
            <a:noAutofit/>
          </a:bodyPr>
          <a:p>
            <a:pPr marL="12600">
              <a:lnSpc>
                <a:spcPct val="114000"/>
              </a:lnSpc>
              <a:spcBef>
                <a:spcPts val="99"/>
              </a:spcBef>
              <a:buNone/>
            </a:pPr>
            <a:r>
              <a:rPr b="1" lang="fr-FR" sz="3600" spc="26" strike="noStrike">
                <a:solidFill>
                  <a:srgbClr val="ffffff"/>
                </a:solidFill>
                <a:latin typeface="Tahoma"/>
              </a:rPr>
              <a:t>Application</a:t>
            </a:r>
            <a:r>
              <a:rPr b="1" lang="fr-FR" sz="3600" spc="29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600" spc="15" strike="noStrike">
                <a:solidFill>
                  <a:srgbClr val="ffffff"/>
                </a:solidFill>
                <a:latin typeface="Tahoma"/>
              </a:rPr>
              <a:t>Observability</a:t>
            </a:r>
            <a:r>
              <a:rPr b="1" lang="fr-FR" sz="3600" spc="-236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600" spc="-15" strike="noStrike">
                <a:solidFill>
                  <a:srgbClr val="ffffff"/>
                </a:solidFill>
                <a:latin typeface="Tahoma"/>
              </a:rPr>
              <a:t>&amp; </a:t>
            </a:r>
            <a:r>
              <a:rPr b="1" lang="fr-FR" sz="3600" spc="-1047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600" spc="15" strike="noStrike">
                <a:solidFill>
                  <a:srgbClr val="ffffff"/>
                </a:solidFill>
                <a:latin typeface="Tahoma"/>
              </a:rPr>
              <a:t>Maintenance</a:t>
            </a:r>
            <a:endParaRPr b="0" lang="fr-FR" sz="3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85" name="object 2"/>
          <p:cNvGrpSpPr/>
          <p:nvPr/>
        </p:nvGrpSpPr>
        <p:grpSpPr>
          <a:xfrm>
            <a:off x="0" y="0"/>
            <a:ext cx="9140760" cy="5140080"/>
            <a:chOff x="0" y="0"/>
            <a:chExt cx="9140760" cy="5140080"/>
          </a:xfrm>
        </p:grpSpPr>
        <p:pic>
          <p:nvPicPr>
            <p:cNvPr id="1186" name="object 3" descr=""/>
            <p:cNvPicPr/>
            <p:nvPr/>
          </p:nvPicPr>
          <p:blipFill>
            <a:blip r:embed="rId1"/>
            <a:stretch/>
          </p:blipFill>
          <p:spPr>
            <a:xfrm>
              <a:off x="0" y="0"/>
              <a:ext cx="9140760" cy="514008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187" name="object 4" descr=""/>
            <p:cNvPicPr/>
            <p:nvPr/>
          </p:nvPicPr>
          <p:blipFill>
            <a:blip r:embed="rId2"/>
            <a:stretch/>
          </p:blipFill>
          <p:spPr>
            <a:xfrm>
              <a:off x="8714160" y="146160"/>
              <a:ext cx="284400" cy="22968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188" name="PlaceHolder 1"/>
          <p:cNvSpPr>
            <a:spLocks noGrp="1"/>
          </p:cNvSpPr>
          <p:nvPr>
            <p:ph type="title"/>
          </p:nvPr>
        </p:nvSpPr>
        <p:spPr>
          <a:xfrm>
            <a:off x="494280" y="1665000"/>
            <a:ext cx="5623560" cy="1381680"/>
          </a:xfrm>
          <a:prstGeom prst="rect">
            <a:avLst/>
          </a:prstGeom>
          <a:noFill/>
          <a:ln w="0">
            <a:noFill/>
          </a:ln>
        </p:spPr>
        <p:txBody>
          <a:bodyPr lIns="0" rIns="0" tIns="195480" bIns="0" anchor="t">
            <a:noAutofit/>
          </a:bodyPr>
          <a:p>
            <a:pPr marL="12600">
              <a:lnSpc>
                <a:spcPct val="100000"/>
              </a:lnSpc>
              <a:spcBef>
                <a:spcPts val="1539"/>
              </a:spcBef>
              <a:buNone/>
            </a:pPr>
            <a:r>
              <a:rPr b="1" lang="fr-FR" sz="3600" spc="1" strike="noStrike">
                <a:solidFill>
                  <a:srgbClr val="ffffff"/>
                </a:solidFill>
                <a:latin typeface="Tahoma"/>
              </a:rPr>
              <a:t>Probes</a:t>
            </a:r>
            <a:endParaRPr b="0" lang="fr-FR" sz="36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720"/>
              </a:spcBef>
              <a:buNone/>
            </a:pPr>
            <a:r>
              <a:rPr b="0" lang="fr-FR" sz="1800" spc="1" strike="noStrike">
                <a:solidFill>
                  <a:srgbClr val="ffffff"/>
                </a:solidFill>
                <a:latin typeface="Lucida Sans Unicode"/>
              </a:rPr>
              <a:t>Readiness,</a:t>
            </a:r>
            <a:r>
              <a:rPr b="0" lang="fr-FR" sz="1800" spc="-97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1" strike="noStrike">
                <a:solidFill>
                  <a:srgbClr val="ffffff"/>
                </a:solidFill>
                <a:latin typeface="Lucida Sans Unicode"/>
              </a:rPr>
              <a:t>liveness,</a:t>
            </a:r>
            <a:r>
              <a:rPr b="0" lang="fr-FR" sz="1800" spc="-97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86" strike="noStrike">
                <a:solidFill>
                  <a:srgbClr val="ffffff"/>
                </a:solidFill>
                <a:latin typeface="Lucida Sans Unicode"/>
              </a:rPr>
              <a:t>and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9" strike="noStrike">
                <a:solidFill>
                  <a:srgbClr val="ffffff"/>
                </a:solidFill>
                <a:latin typeface="Lucida Sans Unicode"/>
              </a:rPr>
              <a:t>startup</a:t>
            </a:r>
            <a:r>
              <a:rPr b="0" lang="fr-FR" sz="1800" spc="-97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21" strike="noStrike">
                <a:solidFill>
                  <a:srgbClr val="ffffff"/>
                </a:solidFill>
                <a:latin typeface="Lucida Sans Unicode"/>
              </a:rPr>
              <a:t>probes</a:t>
            </a:r>
            <a:endParaRPr b="0" lang="fr-FR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9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42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5" strike="noStrike">
                <a:solidFill>
                  <a:srgbClr val="000000"/>
                </a:solidFill>
                <a:latin typeface="Tahoma"/>
              </a:rPr>
              <a:t>What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is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Probe?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Detection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potential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correction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application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runtime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issues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190" name="object 4"/>
          <p:cNvSpPr/>
          <p:nvPr/>
        </p:nvSpPr>
        <p:spPr>
          <a:xfrm>
            <a:off x="8701560" y="4908600"/>
            <a:ext cx="2595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50A754F7-86D7-4A9E-B22E-6F61C107273C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191" name="object 3"/>
          <p:cNvSpPr/>
          <p:nvPr/>
        </p:nvSpPr>
        <p:spPr>
          <a:xfrm>
            <a:off x="600120" y="1360440"/>
            <a:ext cx="8397720" cy="22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55" strike="noStrike">
                <a:solidFill>
                  <a:srgbClr val="000000"/>
                </a:solidFill>
                <a:latin typeface="Arial MT"/>
                <a:ea typeface="DejaVu Sans"/>
              </a:rPr>
              <a:t>You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 configure a container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with </a:t>
            </a: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health probes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 execute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periodic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mini-process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that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checks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for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certain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conditions.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Verification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methods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include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running a custom command, sending 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HTTP GET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request,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opening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4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TCP</a:t>
            </a:r>
            <a:r>
              <a:rPr b="0" lang="fr-FR" sz="1600" spc="-4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socket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connection.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Pick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method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most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conducive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your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application.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verification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method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defined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by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probe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executed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by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kubelet.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490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Readiness</a:t>
            </a:r>
            <a:r>
              <a:rPr b="1" lang="fr-FR" sz="2400" spc="-16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Probe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60" strike="noStrike">
                <a:solidFill>
                  <a:srgbClr val="666666"/>
                </a:solidFill>
                <a:latin typeface="Lucida Sans Unicode"/>
              </a:rPr>
              <a:t>"Is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application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ready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serve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requests?"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1193" name="object 3" descr=""/>
          <p:cNvPicPr/>
          <p:nvPr/>
        </p:nvPicPr>
        <p:blipFill>
          <a:blip r:embed="rId1"/>
          <a:stretch/>
        </p:blipFill>
        <p:spPr>
          <a:xfrm>
            <a:off x="794520" y="1979280"/>
            <a:ext cx="7639200" cy="2069280"/>
          </a:xfrm>
          <a:prstGeom prst="rect">
            <a:avLst/>
          </a:prstGeom>
          <a:ln w="0">
            <a:noFill/>
          </a:ln>
        </p:spPr>
      </p:pic>
      <p:sp>
        <p:nvSpPr>
          <p:cNvPr id="1194" name="object 4"/>
          <p:cNvSpPr/>
          <p:nvPr/>
        </p:nvSpPr>
        <p:spPr>
          <a:xfrm>
            <a:off x="8701560" y="4908600"/>
            <a:ext cx="2595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81E9A594-ACD0-432D-A44A-0D288625F3B7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80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Liveness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Probe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"Does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application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46" strike="noStrike">
                <a:solidFill>
                  <a:srgbClr val="666666"/>
                </a:solidFill>
                <a:latin typeface="Lucida Sans Unicode"/>
              </a:rPr>
              <a:t>still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function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without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errors?"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1196" name="object 3" descr=""/>
          <p:cNvPicPr/>
          <p:nvPr/>
        </p:nvPicPr>
        <p:blipFill>
          <a:blip r:embed="rId1"/>
          <a:stretch/>
        </p:blipFill>
        <p:spPr>
          <a:xfrm>
            <a:off x="1447920" y="1781640"/>
            <a:ext cx="6237720" cy="2637720"/>
          </a:xfrm>
          <a:prstGeom prst="rect">
            <a:avLst/>
          </a:prstGeom>
          <a:ln w="0">
            <a:noFill/>
          </a:ln>
        </p:spPr>
      </p:pic>
      <p:sp>
        <p:nvSpPr>
          <p:cNvPr id="1197" name="object 4"/>
          <p:cNvSpPr/>
          <p:nvPr/>
        </p:nvSpPr>
        <p:spPr>
          <a:xfrm>
            <a:off x="8701560" y="4908600"/>
            <a:ext cx="2595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C3B8D3FE-4CBF-4E88-9D2B-FEF307CE7B96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96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Startup</a:t>
            </a:r>
            <a:r>
              <a:rPr b="1" lang="fr-FR" sz="2400" spc="-16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Probe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"Legacy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application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11" strike="noStrike">
                <a:solidFill>
                  <a:srgbClr val="666666"/>
                </a:solidFill>
                <a:latin typeface="Lucida Sans Unicode"/>
              </a:rPr>
              <a:t>may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need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longer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start.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Hold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off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liveness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probing."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1199" name="object 3" descr=""/>
          <p:cNvPicPr/>
          <p:nvPr/>
        </p:nvPicPr>
        <p:blipFill>
          <a:blip r:embed="rId1"/>
          <a:stretch/>
        </p:blipFill>
        <p:spPr>
          <a:xfrm>
            <a:off x="782280" y="2042640"/>
            <a:ext cx="7489440" cy="1840680"/>
          </a:xfrm>
          <a:prstGeom prst="rect">
            <a:avLst/>
          </a:prstGeom>
          <a:ln w="0">
            <a:noFill/>
          </a:ln>
        </p:spPr>
      </p:pic>
      <p:sp>
        <p:nvSpPr>
          <p:cNvPr id="1200" name="object 4"/>
          <p:cNvSpPr/>
          <p:nvPr/>
        </p:nvSpPr>
        <p:spPr>
          <a:xfrm>
            <a:off x="8701560" y="4908600"/>
            <a:ext cx="2595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C29D3656-ACBD-4124-9D47-303BA6E6E63A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1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88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Health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Verification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5" strike="noStrike">
                <a:solidFill>
                  <a:srgbClr val="000000"/>
                </a:solidFill>
                <a:latin typeface="Tahoma"/>
              </a:rPr>
              <a:t>Methods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Any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verification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5" strike="noStrike">
                <a:solidFill>
                  <a:srgbClr val="666666"/>
                </a:solidFill>
                <a:latin typeface="Lucida Sans Unicode"/>
              </a:rPr>
              <a:t>method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00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0" strike="noStrike">
                <a:solidFill>
                  <a:srgbClr val="666666"/>
                </a:solidFill>
                <a:latin typeface="Lucida Sans Unicode"/>
              </a:rPr>
              <a:t>be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used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by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2" strike="noStrike">
                <a:solidFill>
                  <a:srgbClr val="666666"/>
                </a:solidFill>
                <a:latin typeface="Lucida Sans Unicode"/>
              </a:rPr>
              <a:t>any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probe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types</a:t>
            </a:r>
            <a:endParaRPr b="0" lang="fr-FR" sz="1600" spc="-1" strike="noStrike">
              <a:latin typeface="Arial"/>
            </a:endParaRPr>
          </a:p>
        </p:txBody>
      </p:sp>
      <p:graphicFrame>
        <p:nvGraphicFramePr>
          <p:cNvPr id="1202" name="object 3"/>
          <p:cNvGraphicFramePr/>
          <p:nvPr/>
        </p:nvGraphicFramePr>
        <p:xfrm>
          <a:off x="286200" y="1408680"/>
          <a:ext cx="8641440" cy="3823200"/>
        </p:xfrm>
        <a:graphic>
          <a:graphicData uri="http://schemas.openxmlformats.org/drawingml/2006/table">
            <a:tbl>
              <a:tblPr/>
              <a:tblGrid>
                <a:gridCol w="2030040"/>
                <a:gridCol w="1385640"/>
                <a:gridCol w="5226120"/>
              </a:tblGrid>
              <a:tr h="553320">
                <a:tc>
                  <a:txBody>
                    <a:bodyPr anchor="t">
                      <a:noAutofit/>
                    </a:bodyPr>
                    <a:p>
                      <a:pPr marL="90000">
                        <a:lnSpc>
                          <a:spcPct val="100000"/>
                        </a:lnSpc>
                        <a:spcBef>
                          <a:spcPts val="1315"/>
                        </a:spcBef>
                        <a:buNone/>
                      </a:pPr>
                      <a:r>
                        <a:rPr b="0" lang="fr-FR" sz="1400" spc="-1" strike="noStrike">
                          <a:solidFill>
                            <a:srgbClr val="ffffff"/>
                          </a:solidFill>
                          <a:latin typeface="Arial MT"/>
                        </a:rPr>
                        <a:t>Method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 w="38160">
                      <a:solidFill>
                        <a:srgbClr val="660000"/>
                      </a:solidFill>
                    </a:lnB>
                    <a:solidFill>
                      <a:srgbClr val="d3002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ct val="100000"/>
                        </a:lnSpc>
                        <a:spcBef>
                          <a:spcPts val="1315"/>
                        </a:spcBef>
                        <a:buNone/>
                      </a:pPr>
                      <a:r>
                        <a:rPr b="0" lang="fr-FR" sz="1400" spc="-7" strike="noStrike">
                          <a:solidFill>
                            <a:srgbClr val="ffffff"/>
                          </a:solidFill>
                          <a:latin typeface="Arial MT"/>
                        </a:rPr>
                        <a:t>Option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 w="38160">
                      <a:solidFill>
                        <a:srgbClr val="660000"/>
                      </a:solidFill>
                    </a:lnB>
                    <a:solidFill>
                      <a:srgbClr val="d3002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ct val="100000"/>
                        </a:lnSpc>
                        <a:spcBef>
                          <a:spcPts val="1315"/>
                        </a:spcBef>
                        <a:buNone/>
                      </a:pPr>
                      <a:r>
                        <a:rPr b="0" lang="fr-FR" sz="1400" spc="-7" strike="noStrike">
                          <a:solidFill>
                            <a:srgbClr val="ffffff"/>
                          </a:solidFill>
                          <a:latin typeface="Arial MT"/>
                        </a:rPr>
                        <a:t>Description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 w="38160">
                      <a:solidFill>
                        <a:srgbClr val="660000"/>
                      </a:solidFill>
                    </a:lnB>
                    <a:solidFill>
                      <a:srgbClr val="d30020"/>
                    </a:solidFill>
                  </a:tcPr>
                </a:tc>
              </a:tr>
              <a:tr h="2639520">
                <a:tc>
                  <a:txBody>
                    <a:bodyPr anchor="t">
                      <a:noAutofit/>
                    </a:bodyPr>
                    <a:p>
                      <a:pPr marL="90000">
                        <a:lnSpc>
                          <a:spcPct val="100000"/>
                        </a:lnSpc>
                        <a:spcBef>
                          <a:spcPts val="624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Custom</a:t>
                      </a:r>
                      <a:r>
                        <a:rPr b="0" lang="fr-FR" sz="1200" spc="-5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Command</a:t>
                      </a:r>
                      <a:endParaRPr b="0" lang="fr-FR" sz="1200" spc="-1" strike="noStrike">
                        <a:latin typeface="Arial"/>
                      </a:endParaRPr>
                    </a:p>
                    <a:p>
                      <a:pPr marL="90000">
                        <a:lnSpc>
                          <a:spcPct val="100000"/>
                        </a:lnSpc>
                        <a:buNone/>
                      </a:pPr>
                      <a:endParaRPr b="0" lang="fr-FR" sz="1300" spc="-1" strike="noStrike">
                        <a:latin typeface="Arial"/>
                      </a:endParaRPr>
                    </a:p>
                    <a:p>
                      <a:pPr marL="90000">
                        <a:lnSpc>
                          <a:spcPct val="100000"/>
                        </a:lnSpc>
                        <a:buNone/>
                      </a:pPr>
                      <a:endParaRPr b="0" lang="fr-FR" sz="1300" spc="-1" strike="noStrike">
                        <a:latin typeface="Arial"/>
                      </a:endParaRPr>
                    </a:p>
                    <a:p>
                      <a:pPr marL="90000">
                        <a:lnSpc>
                          <a:spcPct val="100000"/>
                        </a:lnSpc>
                        <a:spcBef>
                          <a:spcPts val="20"/>
                        </a:spcBef>
                        <a:buNone/>
                      </a:pPr>
                      <a:endParaRPr b="0" lang="fr-FR" sz="1100" spc="-1" strike="noStrike">
                        <a:latin typeface="Arial"/>
                      </a:endParaRPr>
                    </a:p>
                    <a:p>
                      <a:pPr marL="90000">
                        <a:lnSpc>
                          <a:spcPct val="100000"/>
                        </a:lnSpc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HTTP</a:t>
                      </a:r>
                      <a:r>
                        <a:rPr b="0" lang="fr-FR" sz="1200" spc="-5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GET</a:t>
                      </a:r>
                      <a:r>
                        <a:rPr b="0" lang="fr-FR" sz="1200" spc="-5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Request</a:t>
                      </a:r>
                      <a:endParaRPr b="0" lang="fr-FR" sz="1200" spc="-1" strike="noStrike">
                        <a:latin typeface="Arial"/>
                      </a:endParaRPr>
                    </a:p>
                    <a:p>
                      <a:pPr marL="90000">
                        <a:lnSpc>
                          <a:spcPct val="100000"/>
                        </a:lnSpc>
                        <a:buNone/>
                      </a:pPr>
                      <a:endParaRPr b="0" lang="fr-FR" sz="1300" spc="-1" strike="noStrike">
                        <a:latin typeface="Arial"/>
                      </a:endParaRPr>
                    </a:p>
                    <a:p>
                      <a:pPr marL="90000">
                        <a:lnSpc>
                          <a:spcPct val="100000"/>
                        </a:lnSpc>
                        <a:buNone/>
                      </a:pPr>
                      <a:endParaRPr b="0" lang="fr-FR" sz="1300" spc="-1" strike="noStrike">
                        <a:latin typeface="Arial"/>
                      </a:endParaRPr>
                    </a:p>
                    <a:p>
                      <a:pPr marL="90000">
                        <a:lnSpc>
                          <a:spcPct val="100000"/>
                        </a:lnSpc>
                        <a:buNone/>
                      </a:pPr>
                      <a:endParaRPr b="0" lang="fr-FR" sz="1300" spc="-1" strike="noStrike">
                        <a:latin typeface="Arial"/>
                      </a:endParaRPr>
                    </a:p>
                    <a:p>
                      <a:pPr marL="90000">
                        <a:lnSpc>
                          <a:spcPct val="100000"/>
                        </a:lnSpc>
                        <a:spcBef>
                          <a:spcPts val="6"/>
                        </a:spcBef>
                        <a:buNone/>
                      </a:pPr>
                      <a:endParaRPr b="0" lang="fr-FR" sz="1050" spc="-1" strike="noStrike">
                        <a:latin typeface="Arial"/>
                      </a:endParaRPr>
                    </a:p>
                    <a:p>
                      <a:pPr marL="90000">
                        <a:lnSpc>
                          <a:spcPct val="100000"/>
                        </a:lnSpc>
                        <a:spcBef>
                          <a:spcPts val="6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TCP</a:t>
                      </a:r>
                      <a:r>
                        <a:rPr b="0" lang="fr-FR" sz="1200" spc="-5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socket</a:t>
                      </a:r>
                      <a:r>
                        <a:rPr b="0" lang="fr-FR" sz="1200" spc="-3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connection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 w="9360">
                      <a:solidFill>
                        <a:srgbClr val="f3f3f3"/>
                      </a:solidFill>
                    </a:lnR>
                    <a:lnT w="38160">
                      <a:solidFill>
                        <a:srgbClr val="660000"/>
                      </a:solidFill>
                    </a:lnT>
                    <a:lnB w="9360">
                      <a:solidFill>
                        <a:srgbClr val="f3f3f3"/>
                      </a:solidFill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ct val="100000"/>
                        </a:lnSpc>
                        <a:spcBef>
                          <a:spcPts val="624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exec.command</a:t>
                      </a:r>
                      <a:endParaRPr b="0" lang="fr-FR" sz="120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ct val="100000"/>
                        </a:lnSpc>
                        <a:buNone/>
                      </a:pPr>
                      <a:endParaRPr b="0" lang="fr-FR" sz="130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ct val="100000"/>
                        </a:lnSpc>
                        <a:buNone/>
                      </a:pPr>
                      <a:endParaRPr b="0" lang="fr-FR" sz="130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ct val="100000"/>
                        </a:lnSpc>
                        <a:spcBef>
                          <a:spcPts val="20"/>
                        </a:spcBef>
                        <a:buNone/>
                      </a:pPr>
                      <a:endParaRPr b="0" lang="fr-FR" sz="110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ct val="100000"/>
                        </a:lnSpc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httpGet</a:t>
                      </a:r>
                      <a:endParaRPr b="0" lang="fr-FR" sz="120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ct val="100000"/>
                        </a:lnSpc>
                        <a:buNone/>
                      </a:pPr>
                      <a:endParaRPr b="0" lang="fr-FR" sz="130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ct val="100000"/>
                        </a:lnSpc>
                        <a:buNone/>
                      </a:pPr>
                      <a:endParaRPr b="0" lang="fr-FR" sz="130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ct val="100000"/>
                        </a:lnSpc>
                        <a:buNone/>
                      </a:pPr>
                      <a:endParaRPr b="0" lang="fr-FR" sz="130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ct val="100000"/>
                        </a:lnSpc>
                        <a:spcBef>
                          <a:spcPts val="6"/>
                        </a:spcBef>
                        <a:buNone/>
                      </a:pPr>
                      <a:endParaRPr b="0" lang="fr-FR" sz="105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ct val="100000"/>
                        </a:lnSpc>
                        <a:spcBef>
                          <a:spcPts val="6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tcpSocket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 w="38160">
                      <a:solidFill>
                        <a:srgbClr val="660000"/>
                      </a:solidFill>
                    </a:lnT>
                    <a:lnB w="9360">
                      <a:solidFill>
                        <a:srgbClr val="f3f3f3"/>
                      </a:solidFill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 algn="just">
                        <a:lnSpc>
                          <a:spcPts val="1429"/>
                        </a:lnSpc>
                        <a:spcBef>
                          <a:spcPts val="680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Executes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a command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inside of the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container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e.g.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a cat command </a:t>
                      </a:r>
                      <a:r>
                        <a:rPr b="0" lang="fr-FR" sz="1200" spc="-327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and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checks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its exit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code.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Kubernetes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considers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an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zero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exit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code </a:t>
                      </a:r>
                      <a:r>
                        <a:rPr b="0" lang="fr-FR" sz="1200" spc="-321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to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be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successful.</a:t>
                      </a:r>
                      <a:r>
                        <a:rPr b="0" lang="fr-FR" sz="1200" spc="-7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A</a:t>
                      </a:r>
                      <a:r>
                        <a:rPr b="0" lang="fr-FR" sz="1200" spc="-7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non-zero exit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code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indicates an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error.</a:t>
                      </a:r>
                      <a:endParaRPr b="0" lang="fr-FR" sz="120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ct val="100000"/>
                        </a:lnSpc>
                        <a:spcBef>
                          <a:spcPts val="45"/>
                        </a:spcBef>
                        <a:buNone/>
                      </a:pPr>
                      <a:endParaRPr b="0" lang="fr-FR" sz="120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ts val="1429"/>
                        </a:lnSpc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Sends an HTTP GET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request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to an endpoint exposed by the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application.</a:t>
                      </a:r>
                      <a:r>
                        <a:rPr b="0" lang="fr-FR" sz="1200" spc="-7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A</a:t>
                      </a:r>
                      <a:r>
                        <a:rPr b="0" lang="fr-FR" sz="1200" spc="-7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HTTP</a:t>
                      </a:r>
                      <a:r>
                        <a:rPr b="0" lang="fr-FR" sz="1200" spc="-3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response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code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in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the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range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of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200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and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399 </a:t>
                      </a:r>
                      <a:r>
                        <a:rPr b="0" lang="fr-FR" sz="1200" spc="-321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indicates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success.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Any other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response code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is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regarded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as an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error.</a:t>
                      </a:r>
                      <a:endParaRPr b="0" lang="fr-FR" sz="120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ct val="100000"/>
                        </a:lnSpc>
                        <a:spcBef>
                          <a:spcPts val="40"/>
                        </a:spcBef>
                        <a:buNone/>
                      </a:pPr>
                      <a:endParaRPr b="0" lang="fr-FR" sz="120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ts val="1429"/>
                        </a:lnSpc>
                        <a:buNone/>
                      </a:pP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Tries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to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open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a</a:t>
                      </a:r>
                      <a:r>
                        <a:rPr b="0" lang="fr-FR" sz="1200" spc="-3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TCP</a:t>
                      </a:r>
                      <a:r>
                        <a:rPr b="0" lang="fr-FR" sz="1200" spc="-3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socket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connection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to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a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port.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If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the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connection </a:t>
                      </a:r>
                      <a:r>
                        <a:rPr b="0" lang="fr-FR" sz="1200" spc="-321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could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be established, the probing attempt was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successful.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The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inability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to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connect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is accounted for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as an 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error.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 w="38160">
                      <a:solidFill>
                        <a:srgbClr val="660000"/>
                      </a:solidFill>
                    </a:lnT>
                    <a:lnB w="9360">
                      <a:solidFill>
                        <a:srgbClr val="f3f3f3"/>
                      </a:solidFill>
                    </a:lnB>
                    <a:noFill/>
                  </a:tcPr>
                </a:tc>
              </a:tr>
              <a:tr h="630720">
                <a:tc>
                  <a:txBody>
                    <a:bodyPr anchor="t">
                      <a:noAutofit/>
                    </a:bodyPr>
                    <a:p>
                      <a:pPr marL="90000">
                        <a:lnSpc>
                          <a:spcPct val="100000"/>
                        </a:lnSpc>
                        <a:spcBef>
                          <a:spcPts val="624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gRPC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 w="9360">
                      <a:solidFill>
                        <a:srgbClr val="f3f3f3"/>
                      </a:solidFill>
                    </a:lnR>
                    <a:lnT w="9360">
                      <a:solidFill>
                        <a:srgbClr val="f3f3f3"/>
                      </a:solidFill>
                    </a:lnT>
                    <a:lnB w="9360">
                      <a:solidFill>
                        <a:srgbClr val="f3f3f3"/>
                      </a:solidFill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ct val="100000"/>
                        </a:lnSpc>
                        <a:spcBef>
                          <a:spcPts val="624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grpc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 w="9360">
                      <a:solidFill>
                        <a:srgbClr val="f3f3f3"/>
                      </a:solidFill>
                    </a:lnT>
                    <a:lnB w="9360">
                      <a:solidFill>
                        <a:srgbClr val="f3f3f3"/>
                      </a:solidFill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ts val="1429"/>
                        </a:lnSpc>
                        <a:spcBef>
                          <a:spcPts val="680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The application implements the </a:t>
                      </a:r>
                      <a:r>
                        <a:rPr b="0" lang="fr-FR" sz="1200" spc="-7" strike="noStrike" u="heavy">
                          <a:solidFill>
                            <a:srgbClr val="0000ff"/>
                          </a:solidFill>
                          <a:uFill>
                            <a:solidFill>
                              <a:srgbClr val="d30020"/>
                            </a:solidFill>
                          </a:uFill>
                          <a:latin typeface="Arial MT"/>
                          <a:hlinkClick r:id="rId1"/>
                        </a:rPr>
                        <a:t>GRPC Health Checking Protocol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. </a:t>
                      </a:r>
                      <a:r>
                        <a:rPr b="0" lang="fr-FR" sz="1200" spc="-321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Verifies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whether the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server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is able to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handle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rpcs.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 w="9360">
                      <a:solidFill>
                        <a:srgbClr val="f3f3f3"/>
                      </a:solidFill>
                    </a:lnT>
                    <a:lnB w="9360">
                      <a:solidFill>
                        <a:srgbClr val="f3f3f3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203" name="object 5"/>
          <p:cNvSpPr/>
          <p:nvPr/>
        </p:nvSpPr>
        <p:spPr>
          <a:xfrm>
            <a:off x="8701560" y="4908600"/>
            <a:ext cx="2595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3BB99B72-0DD6-440A-A383-FCECBC5679D4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4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24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Health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72" strike="noStrike">
                <a:solidFill>
                  <a:srgbClr val="000000"/>
                </a:solidFill>
                <a:latin typeface="Tahoma"/>
              </a:rPr>
              <a:t>Check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Attributes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Any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verification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5" strike="noStrike">
                <a:solidFill>
                  <a:srgbClr val="666666"/>
                </a:solidFill>
                <a:latin typeface="Lucida Sans Unicode"/>
              </a:rPr>
              <a:t>method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00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0" strike="noStrike">
                <a:solidFill>
                  <a:srgbClr val="666666"/>
                </a:solidFill>
                <a:latin typeface="Lucida Sans Unicode"/>
              </a:rPr>
              <a:t>be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used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by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2" strike="noStrike">
                <a:solidFill>
                  <a:srgbClr val="666666"/>
                </a:solidFill>
                <a:latin typeface="Lucida Sans Unicode"/>
              </a:rPr>
              <a:t>any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probe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types</a:t>
            </a:r>
            <a:endParaRPr b="0" lang="fr-FR" sz="1600" spc="-1" strike="noStrike">
              <a:latin typeface="Arial"/>
            </a:endParaRPr>
          </a:p>
        </p:txBody>
      </p:sp>
      <p:graphicFrame>
        <p:nvGraphicFramePr>
          <p:cNvPr id="1205" name="object 3"/>
          <p:cNvGraphicFramePr/>
          <p:nvPr/>
        </p:nvGraphicFramePr>
        <p:xfrm>
          <a:off x="394200" y="1408680"/>
          <a:ext cx="8611200" cy="3576240"/>
        </p:xfrm>
        <a:graphic>
          <a:graphicData uri="http://schemas.openxmlformats.org/drawingml/2006/table">
            <a:tbl>
              <a:tblPr/>
              <a:tblGrid>
                <a:gridCol w="2311560"/>
                <a:gridCol w="941760"/>
                <a:gridCol w="5358240"/>
              </a:tblGrid>
              <a:tr h="7279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31"/>
                        </a:spcBef>
                        <a:buNone/>
                      </a:pPr>
                      <a:endParaRPr b="0" lang="fr-FR" sz="1300" spc="-1" strike="noStrike">
                        <a:latin typeface="Arial"/>
                      </a:endParaRPr>
                    </a:p>
                    <a:p>
                      <a:pPr marL="90000">
                        <a:lnSpc>
                          <a:spcPct val="100000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ffffff"/>
                          </a:solidFill>
                          <a:latin typeface="Arial MT"/>
                        </a:rPr>
                        <a:t>Attribute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 w="38160">
                      <a:solidFill>
                        <a:srgbClr val="660000"/>
                      </a:solidFill>
                    </a:lnB>
                    <a:solidFill>
                      <a:srgbClr val="d3002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ts val="1650"/>
                        </a:lnSpc>
                        <a:spcBef>
                          <a:spcPts val="780"/>
                        </a:spcBef>
                        <a:buNone/>
                      </a:pPr>
                      <a:r>
                        <a:rPr b="0" lang="fr-FR" sz="1400" spc="-7" strike="noStrike">
                          <a:solidFill>
                            <a:srgbClr val="ffffff"/>
                          </a:solidFill>
                          <a:latin typeface="Arial MT"/>
                        </a:rPr>
                        <a:t>Default  </a:t>
                      </a:r>
                      <a:r>
                        <a:rPr b="0" lang="fr-FR" sz="1400" spc="-26" strike="noStrike">
                          <a:solidFill>
                            <a:srgbClr val="ffffff"/>
                          </a:solidFill>
                          <a:latin typeface="Arial MT"/>
                        </a:rPr>
                        <a:t>Value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 w="38160">
                      <a:solidFill>
                        <a:srgbClr val="660000"/>
                      </a:solidFill>
                    </a:lnB>
                    <a:solidFill>
                      <a:srgbClr val="d3002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31"/>
                        </a:spcBef>
                        <a:buNone/>
                      </a:pPr>
                      <a:endParaRPr b="0" lang="fr-FR" sz="130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ct val="100000"/>
                        </a:lnSpc>
                        <a:buNone/>
                      </a:pPr>
                      <a:r>
                        <a:rPr b="0" lang="fr-FR" sz="1400" spc="-7" strike="noStrike">
                          <a:solidFill>
                            <a:srgbClr val="ffffff"/>
                          </a:solidFill>
                          <a:latin typeface="Arial MT"/>
                        </a:rPr>
                        <a:t>Description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 w="38160">
                      <a:solidFill>
                        <a:srgbClr val="660000"/>
                      </a:solidFill>
                    </a:lnB>
                    <a:solidFill>
                      <a:srgbClr val="d30020"/>
                    </a:solidFill>
                  </a:tcPr>
                </a:tc>
              </a:tr>
              <a:tr h="367560">
                <a:tc>
                  <a:txBody>
                    <a:bodyPr anchor="t">
                      <a:noAutofit/>
                    </a:bodyPr>
                    <a:p>
                      <a:pPr marL="90000">
                        <a:lnSpc>
                          <a:spcPct val="100000"/>
                        </a:lnSpc>
                        <a:spcBef>
                          <a:spcPts val="624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initialDelaySeconds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 w="9360">
                      <a:solidFill>
                        <a:srgbClr val="f3f3f3"/>
                      </a:solidFill>
                    </a:lnR>
                    <a:lnT w="38160">
                      <a:solidFill>
                        <a:srgbClr val="660000"/>
                      </a:solidFill>
                    </a:lnT>
                    <a:lnB w="38160">
                      <a:solidFill>
                        <a:srgbClr val="660000"/>
                      </a:solidFill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ct val="100000"/>
                        </a:lnSpc>
                        <a:spcBef>
                          <a:spcPts val="624"/>
                        </a:spcBef>
                        <a:buNone/>
                      </a:pP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Courier New"/>
                        </a:rPr>
                        <a:t>0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 w="38160">
                      <a:solidFill>
                        <a:srgbClr val="660000"/>
                      </a:solidFill>
                    </a:lnT>
                    <a:lnB w="38160">
                      <a:solidFill>
                        <a:srgbClr val="660000"/>
                      </a:solidFill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ct val="100000"/>
                        </a:lnSpc>
                        <a:spcBef>
                          <a:spcPts val="624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Delay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in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seconds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until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first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check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is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executed.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 w="38160">
                      <a:solidFill>
                        <a:srgbClr val="660000"/>
                      </a:solidFill>
                    </a:lnT>
                    <a:lnB w="38160">
                      <a:solidFill>
                        <a:srgbClr val="660000"/>
                      </a:solidFill>
                    </a:lnB>
                    <a:noFill/>
                  </a:tcPr>
                </a:tc>
              </a:tr>
              <a:tr h="363600">
                <a:tc>
                  <a:txBody>
                    <a:bodyPr anchor="t">
                      <a:noAutofit/>
                    </a:bodyPr>
                    <a:p>
                      <a:pPr marL="90000">
                        <a:lnSpc>
                          <a:spcPct val="100000"/>
                        </a:lnSpc>
                        <a:spcBef>
                          <a:spcPts val="595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periodSeconds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 w="9360">
                      <a:solidFill>
                        <a:srgbClr val="ffffff"/>
                      </a:solidFill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ct val="100000"/>
                        </a:lnSpc>
                        <a:spcBef>
                          <a:spcPts val="595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10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ct val="100000"/>
                        </a:lnSpc>
                        <a:spcBef>
                          <a:spcPts val="595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Interval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for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executing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a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check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(e.g.,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every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20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seconds).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440640">
                <a:tc>
                  <a:txBody>
                    <a:bodyPr anchor="t">
                      <a:noAutofit/>
                    </a:bodyPr>
                    <a:p>
                      <a:pPr marL="90000">
                        <a:lnSpc>
                          <a:spcPct val="100000"/>
                        </a:lnSpc>
                        <a:spcBef>
                          <a:spcPts val="595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timeoutSeconds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ct val="100000"/>
                        </a:lnSpc>
                        <a:spcBef>
                          <a:spcPts val="595"/>
                        </a:spcBef>
                        <a:buNone/>
                      </a:pP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Courier New"/>
                        </a:rPr>
                        <a:t>1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ct val="100000"/>
                        </a:lnSpc>
                        <a:spcBef>
                          <a:spcPts val="595"/>
                        </a:spcBef>
                        <a:buNone/>
                      </a:pP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Maximum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number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of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seconds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until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the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check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operation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times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out.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580320">
                <a:tc>
                  <a:txBody>
                    <a:bodyPr anchor="t">
                      <a:noAutofit/>
                    </a:bodyPr>
                    <a:p>
                      <a:pPr marL="90000">
                        <a:lnSpc>
                          <a:spcPct val="100000"/>
                        </a:lnSpc>
                        <a:spcBef>
                          <a:spcPts val="924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successThreshold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ct val="100000"/>
                        </a:lnSpc>
                        <a:spcBef>
                          <a:spcPts val="924"/>
                        </a:spcBef>
                        <a:buNone/>
                      </a:pP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Courier New"/>
                        </a:rPr>
                        <a:t>1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ts val="1429"/>
                        </a:lnSpc>
                        <a:spcBef>
                          <a:spcPts val="984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Number of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successful check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attempts until probe is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considered </a:t>
                      </a:r>
                      <a:r>
                        <a:rPr b="0" lang="fr-FR" sz="1200" spc="-321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successful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after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a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 failure.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544680">
                <a:tc>
                  <a:txBody>
                    <a:bodyPr anchor="t">
                      <a:noAutofit/>
                    </a:bodyPr>
                    <a:p>
                      <a:pPr marL="90000">
                        <a:lnSpc>
                          <a:spcPct val="100000"/>
                        </a:lnSpc>
                        <a:spcBef>
                          <a:spcPts val="646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failureThreshold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ct val="100000"/>
                        </a:lnSpc>
                        <a:spcBef>
                          <a:spcPts val="646"/>
                        </a:spcBef>
                        <a:buNone/>
                      </a:pP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Courier New"/>
                        </a:rPr>
                        <a:t>3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ts val="1429"/>
                        </a:lnSpc>
                        <a:spcBef>
                          <a:spcPts val="706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Number of failures for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check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attempts before probe is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marked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failed </a:t>
                      </a:r>
                      <a:r>
                        <a:rPr b="0" lang="fr-FR" sz="1200" spc="-321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and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takes action.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84400">
                <a:tc>
                  <a:txBody>
                    <a:bodyPr anchor="t">
                      <a:noAutofit/>
                    </a:bodyPr>
                    <a:p>
                      <a:pPr marL="90000">
                        <a:lnSpc>
                          <a:spcPct val="100000"/>
                        </a:lnSpc>
                        <a:spcBef>
                          <a:spcPts val="646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terminationGracePeriod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ct val="100000"/>
                        </a:lnSpc>
                        <a:spcBef>
                          <a:spcPts val="646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30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ct val="100000"/>
                        </a:lnSpc>
                        <a:spcBef>
                          <a:spcPts val="646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Grace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period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before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forcing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a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container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to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stop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upon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failure.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67480">
                <a:tc>
                  <a:txBody>
                    <a:bodyPr anchor="t">
                      <a:noAutofit/>
                    </a:bodyPr>
                    <a:p>
                      <a:pPr marL="90000">
                        <a:lnSpc>
                          <a:spcPts val="1270"/>
                        </a:lnSpc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Seconds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206" name="object 7"/>
          <p:cNvSpPr/>
          <p:nvPr/>
        </p:nvSpPr>
        <p:spPr>
          <a:xfrm>
            <a:off x="8701560" y="4908600"/>
            <a:ext cx="2595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BAD15C2A-DDF6-4D75-BBAD-87C730A68B99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7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52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6" strike="noStrike">
                <a:solidFill>
                  <a:srgbClr val="000000"/>
                </a:solidFill>
                <a:latin typeface="Tahoma"/>
              </a:rPr>
              <a:t>Defining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Readiness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Probe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HTTP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probes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5" strike="noStrike">
                <a:solidFill>
                  <a:srgbClr val="666666"/>
                </a:solidFill>
                <a:latin typeface="Lucida Sans Unicode"/>
              </a:rPr>
              <a:t>are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very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helpful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5" strike="noStrike">
                <a:solidFill>
                  <a:srgbClr val="666666"/>
                </a:solidFill>
                <a:latin typeface="Lucida Sans Unicode"/>
              </a:rPr>
              <a:t>web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applications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208" name="object 10"/>
          <p:cNvSpPr/>
          <p:nvPr/>
        </p:nvSpPr>
        <p:spPr>
          <a:xfrm>
            <a:off x="8701560" y="4908600"/>
            <a:ext cx="2595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FD4058CE-C5FC-4802-971F-B53E66EA8AC1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209" name="" descr=""/>
          <p:cNvPicPr/>
          <p:nvPr/>
        </p:nvPicPr>
        <p:blipFill>
          <a:blip r:embed="rId1"/>
          <a:stretch/>
        </p:blipFill>
        <p:spPr>
          <a:xfrm>
            <a:off x="540000" y="1365480"/>
            <a:ext cx="7109280" cy="31323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0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98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6" strike="noStrike">
                <a:solidFill>
                  <a:srgbClr val="000000"/>
                </a:solidFill>
                <a:latin typeface="Tahoma"/>
              </a:rPr>
              <a:t>Defining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Liveness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Probe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Querying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6" strike="noStrike">
                <a:solidFill>
                  <a:srgbClr val="666666"/>
                </a:solidFill>
                <a:latin typeface="Lucida Sans Unicode"/>
              </a:rPr>
              <a:t>an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event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log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5" strike="noStrike">
                <a:solidFill>
                  <a:srgbClr val="666666"/>
                </a:solidFill>
                <a:latin typeface="Lucida Sans Unicode"/>
              </a:rPr>
              <a:t>custom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9" strike="noStrike">
                <a:solidFill>
                  <a:srgbClr val="666666"/>
                </a:solidFill>
                <a:latin typeface="Lucida Sans Unicode"/>
              </a:rPr>
              <a:t>command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211" name="object 10"/>
          <p:cNvSpPr/>
          <p:nvPr/>
        </p:nvSpPr>
        <p:spPr>
          <a:xfrm>
            <a:off x="8701560" y="4908600"/>
            <a:ext cx="2595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14AD194F-1ECA-407F-95A2-81B158284B86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212" name="" descr=""/>
          <p:cNvPicPr/>
          <p:nvPr/>
        </p:nvPicPr>
        <p:blipFill>
          <a:blip r:embed="rId1"/>
          <a:stretch/>
        </p:blipFill>
        <p:spPr>
          <a:xfrm>
            <a:off x="504000" y="1199160"/>
            <a:ext cx="8493840" cy="2958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3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06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6" strike="noStrike">
                <a:solidFill>
                  <a:srgbClr val="000000"/>
                </a:solidFill>
                <a:latin typeface="Tahoma"/>
              </a:rPr>
              <a:t>Defining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Startup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Probe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Opening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TCP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socket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connection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exposed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by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application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214" name="object 10"/>
          <p:cNvSpPr/>
          <p:nvPr/>
        </p:nvSpPr>
        <p:spPr>
          <a:xfrm>
            <a:off x="8701560" y="4908600"/>
            <a:ext cx="2595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B7444B02-51DD-4073-837E-DBDF61CD0916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215" name="" descr=""/>
          <p:cNvPicPr/>
          <p:nvPr/>
        </p:nvPicPr>
        <p:blipFill>
          <a:blip r:embed="rId1"/>
          <a:stretch/>
        </p:blipFill>
        <p:spPr>
          <a:xfrm>
            <a:off x="540000" y="1260000"/>
            <a:ext cx="6848280" cy="3300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6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52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7" strike="noStrike">
                <a:solidFill>
                  <a:srgbClr val="000000"/>
                </a:solidFill>
                <a:latin typeface="Tahoma"/>
              </a:rPr>
              <a:t>Using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75" strike="noStrike">
                <a:solidFill>
                  <a:srgbClr val="000000"/>
                </a:solidFill>
                <a:latin typeface="Tahoma"/>
              </a:rPr>
              <a:t>Name</a:t>
            </a:r>
            <a:r>
              <a:rPr b="1" lang="fr-FR" sz="2400" spc="75" strike="noStrike">
                <a:solidFill>
                  <a:srgbClr val="000000"/>
                </a:solidFill>
                <a:latin typeface="Tahoma"/>
              </a:rPr>
              <a:t>d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55" strike="noStrike">
                <a:solidFill>
                  <a:srgbClr val="000000"/>
                </a:solidFill>
                <a:latin typeface="Tahoma"/>
              </a:rPr>
              <a:t>Port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Referencin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port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by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assigned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4" strike="noStrike">
                <a:solidFill>
                  <a:srgbClr val="666666"/>
                </a:solidFill>
                <a:latin typeface="Lucida Sans Unicode"/>
              </a:rPr>
              <a:t>name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multiple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probes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217" name="object 14"/>
          <p:cNvSpPr/>
          <p:nvPr/>
        </p:nvSpPr>
        <p:spPr>
          <a:xfrm>
            <a:off x="8701560" y="4908600"/>
            <a:ext cx="2595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931D2906-FE4D-454C-A9F4-FE86D169056D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218" name="" descr=""/>
          <p:cNvPicPr/>
          <p:nvPr/>
        </p:nvPicPr>
        <p:blipFill>
          <a:blip r:embed="rId1"/>
          <a:stretch/>
        </p:blipFill>
        <p:spPr>
          <a:xfrm>
            <a:off x="543960" y="1422360"/>
            <a:ext cx="2693880" cy="3075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9" name="object 2"/>
          <p:cNvSpPr/>
          <p:nvPr/>
        </p:nvSpPr>
        <p:spPr>
          <a:xfrm>
            <a:off x="494280" y="371880"/>
            <a:ext cx="128268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2400" spc="-15" strike="noStrike">
                <a:solidFill>
                  <a:srgbClr val="000000"/>
                </a:solidFill>
                <a:latin typeface="Tahoma"/>
                <a:ea typeface="DejaVu Sans"/>
              </a:rPr>
              <a:t>Lab 11</a:t>
            </a:r>
            <a:endParaRPr b="0" lang="fr-FR" sz="2400" spc="-1" strike="noStrike">
              <a:latin typeface="Arial"/>
            </a:endParaRPr>
          </a:p>
        </p:txBody>
      </p:sp>
      <p:sp>
        <p:nvSpPr>
          <p:cNvPr id="1220" name="object 3"/>
          <p:cNvSpPr/>
          <p:nvPr/>
        </p:nvSpPr>
        <p:spPr>
          <a:xfrm>
            <a:off x="494280" y="1323360"/>
            <a:ext cx="4003560" cy="101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14000"/>
              </a:lnSpc>
              <a:spcBef>
                <a:spcPts val="99"/>
              </a:spcBef>
              <a:buNone/>
            </a:pP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Defining</a:t>
            </a:r>
            <a:r>
              <a:rPr b="0" lang="fr-FR" sz="29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probes</a:t>
            </a:r>
            <a:r>
              <a:rPr b="0" lang="fr-FR" sz="29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for</a:t>
            </a:r>
            <a:r>
              <a:rPr b="0" lang="fr-FR" sz="29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2900" spc="-79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1" strike="noStrike">
                <a:solidFill>
                  <a:srgbClr val="000000"/>
                </a:solidFill>
                <a:latin typeface="Arial MT"/>
                <a:ea typeface="DejaVu Sans"/>
              </a:rPr>
              <a:t>container</a:t>
            </a:r>
            <a:endParaRPr b="0" lang="fr-FR" sz="2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21" name="object 2"/>
          <p:cNvGrpSpPr/>
          <p:nvPr/>
        </p:nvGrpSpPr>
        <p:grpSpPr>
          <a:xfrm>
            <a:off x="0" y="0"/>
            <a:ext cx="9140760" cy="5140080"/>
            <a:chOff x="0" y="0"/>
            <a:chExt cx="9140760" cy="5140080"/>
          </a:xfrm>
        </p:grpSpPr>
        <p:pic>
          <p:nvPicPr>
            <p:cNvPr id="1222" name="object 3" descr=""/>
            <p:cNvPicPr/>
            <p:nvPr/>
          </p:nvPicPr>
          <p:blipFill>
            <a:blip r:embed="rId1"/>
            <a:stretch/>
          </p:blipFill>
          <p:spPr>
            <a:xfrm>
              <a:off x="0" y="0"/>
              <a:ext cx="9140760" cy="514008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223" name="object 4" descr=""/>
            <p:cNvPicPr/>
            <p:nvPr/>
          </p:nvPicPr>
          <p:blipFill>
            <a:blip r:embed="rId2"/>
            <a:stretch/>
          </p:blipFill>
          <p:spPr>
            <a:xfrm>
              <a:off x="8714160" y="146160"/>
              <a:ext cx="284400" cy="22968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224" name="PlaceHolder 1"/>
          <p:cNvSpPr>
            <a:spLocks noGrp="1"/>
          </p:cNvSpPr>
          <p:nvPr>
            <p:ph type="title"/>
          </p:nvPr>
        </p:nvSpPr>
        <p:spPr>
          <a:xfrm>
            <a:off x="494280" y="1665000"/>
            <a:ext cx="6703560" cy="1381680"/>
          </a:xfrm>
          <a:prstGeom prst="rect">
            <a:avLst/>
          </a:prstGeom>
          <a:noFill/>
          <a:ln w="0">
            <a:noFill/>
          </a:ln>
        </p:spPr>
        <p:txBody>
          <a:bodyPr lIns="0" rIns="0" tIns="195480" bIns="0" anchor="t">
            <a:noAutofit/>
          </a:bodyPr>
          <a:p>
            <a:pPr marL="12600">
              <a:lnSpc>
                <a:spcPct val="100000"/>
              </a:lnSpc>
              <a:spcBef>
                <a:spcPts val="1539"/>
              </a:spcBef>
              <a:buNone/>
            </a:pPr>
            <a:r>
              <a:rPr b="1" lang="fr-FR" sz="3600" spc="1" strike="noStrike">
                <a:solidFill>
                  <a:srgbClr val="ffffff"/>
                </a:solidFill>
                <a:latin typeface="Tahoma"/>
              </a:rPr>
              <a:t>Metrics</a:t>
            </a:r>
            <a:r>
              <a:rPr b="1" lang="fr-FR" sz="3600" spc="-236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600" spc="-12" strike="noStrike">
                <a:solidFill>
                  <a:srgbClr val="ffffff"/>
                </a:solidFill>
                <a:latin typeface="Tahoma"/>
              </a:rPr>
              <a:t>Server</a:t>
            </a:r>
            <a:endParaRPr b="0" lang="fr-FR" sz="36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720"/>
              </a:spcBef>
              <a:buNone/>
            </a:pPr>
            <a:r>
              <a:rPr b="0" lang="fr-FR" sz="1800" spc="-12" strike="noStrike">
                <a:solidFill>
                  <a:srgbClr val="ffffff"/>
                </a:solidFill>
                <a:latin typeface="Lucida Sans Unicode"/>
              </a:rPr>
              <a:t>Retrieving,</a:t>
            </a:r>
            <a:r>
              <a:rPr b="0" lang="fr-FR" sz="1800" spc="-97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1" strike="noStrike">
                <a:solidFill>
                  <a:srgbClr val="ffffff"/>
                </a:solidFill>
                <a:latin typeface="Lucida Sans Unicode"/>
              </a:rPr>
              <a:t>inspecting,</a:t>
            </a:r>
            <a:r>
              <a:rPr b="0" lang="fr-FR" sz="1800" spc="-97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86" strike="noStrike">
                <a:solidFill>
                  <a:srgbClr val="ffffff"/>
                </a:solidFill>
                <a:latin typeface="Lucida Sans Unicode"/>
              </a:rPr>
              <a:t>and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1" strike="noStrike">
                <a:solidFill>
                  <a:srgbClr val="ffffff"/>
                </a:solidFill>
                <a:latin typeface="Lucida Sans Unicode"/>
              </a:rPr>
              <a:t>using</a:t>
            </a:r>
            <a:r>
              <a:rPr b="0" lang="fr-FR" sz="1800" spc="-97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21" strike="noStrike">
                <a:solidFill>
                  <a:srgbClr val="ffffff"/>
                </a:solidFill>
                <a:latin typeface="Lucida Sans Unicode"/>
              </a:rPr>
              <a:t>resource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21" strike="noStrike">
                <a:solidFill>
                  <a:srgbClr val="ffffff"/>
                </a:solidFill>
                <a:latin typeface="Lucida Sans Unicode"/>
              </a:rPr>
              <a:t>metrics</a:t>
            </a:r>
            <a:endParaRPr b="0" lang="fr-FR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983560" cy="1276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5" strike="noStrike">
                <a:solidFill>
                  <a:srgbClr val="000000"/>
                </a:solidFill>
                <a:latin typeface="Tahoma"/>
              </a:rPr>
              <a:t>What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is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the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Metrics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Server?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Cluster-wide</a:t>
            </a:r>
            <a:r>
              <a:rPr b="0" lang="fr-FR" sz="1600" spc="-97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resource</a:t>
            </a:r>
            <a:r>
              <a:rPr b="0" lang="fr-FR" sz="1600" spc="-97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metrics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aggregator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226" name="object 3"/>
          <p:cNvSpPr/>
          <p:nvPr/>
        </p:nvSpPr>
        <p:spPr>
          <a:xfrm>
            <a:off x="600120" y="1360440"/>
            <a:ext cx="7857720" cy="164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Gathers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resource consumption metrics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on nodes, e.g. CPU and </a:t>
            </a:r>
            <a:r>
              <a:rPr b="0" lang="fr-FR" sz="1600" spc="-21" strike="noStrike">
                <a:solidFill>
                  <a:srgbClr val="000000"/>
                </a:solidFill>
                <a:latin typeface="Arial MT"/>
                <a:ea typeface="DejaVu Sans"/>
              </a:rPr>
              <a:t>memory.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kubelet sends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those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metrics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 the Kubernetes API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server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and exposes them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through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" strike="noStrike">
                <a:solidFill>
                  <a:srgbClr val="d3002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1"/>
              </a:rPr>
              <a:t>Metrics</a:t>
            </a:r>
            <a:r>
              <a:rPr b="0" lang="fr-FR" sz="1600" spc="-92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2"/>
              </a:rPr>
              <a:t> </a:t>
            </a:r>
            <a:r>
              <a:rPr b="0" lang="fr-FR" sz="1600" spc="-7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3"/>
              </a:rPr>
              <a:t>API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1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metrics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server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stores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data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memory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does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not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persist data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over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time.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1227" name="object 4" descr=""/>
          <p:cNvPicPr/>
          <p:nvPr/>
        </p:nvPicPr>
        <p:blipFill>
          <a:blip r:embed="rId4"/>
          <a:stretch/>
        </p:blipFill>
        <p:spPr>
          <a:xfrm>
            <a:off x="3032280" y="3120480"/>
            <a:ext cx="2989440" cy="1676880"/>
          </a:xfrm>
          <a:prstGeom prst="rect">
            <a:avLst/>
          </a:prstGeom>
          <a:ln w="0">
            <a:noFill/>
          </a:ln>
        </p:spPr>
      </p:pic>
      <p:sp>
        <p:nvSpPr>
          <p:cNvPr id="1228" name="object 5"/>
          <p:cNvSpPr/>
          <p:nvPr/>
        </p:nvSpPr>
        <p:spPr>
          <a:xfrm>
            <a:off x="8701560" y="4908600"/>
            <a:ext cx="2538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94E12D0B-373C-42A7-945D-E6AB52BF5AE2}" type="slidenum">
              <a:rPr b="0" lang="fr-FR" sz="800" spc="-3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96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Installing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the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Metrics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Server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Kubernetes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cluster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does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not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6" strike="noStrike">
                <a:solidFill>
                  <a:srgbClr val="666666"/>
                </a:solidFill>
                <a:latin typeface="Lucida Sans Unicode"/>
              </a:rPr>
              <a:t>come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metrics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server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by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default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1230" name="object 3" descr=""/>
          <p:cNvPicPr/>
          <p:nvPr/>
        </p:nvPicPr>
        <p:blipFill>
          <a:blip r:embed="rId1"/>
          <a:stretch/>
        </p:blipFill>
        <p:spPr>
          <a:xfrm>
            <a:off x="495360" y="1756080"/>
            <a:ext cx="883080" cy="856800"/>
          </a:xfrm>
          <a:prstGeom prst="rect">
            <a:avLst/>
          </a:prstGeom>
          <a:ln w="0">
            <a:noFill/>
          </a:ln>
        </p:spPr>
      </p:pic>
      <p:sp>
        <p:nvSpPr>
          <p:cNvPr id="1231" name="object 5"/>
          <p:cNvSpPr/>
          <p:nvPr/>
        </p:nvSpPr>
        <p:spPr>
          <a:xfrm>
            <a:off x="1972080" y="1795680"/>
            <a:ext cx="4671720" cy="57168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49400" bIns="0" anchor="t">
            <a:spAutoFit/>
          </a:bodyPr>
          <a:p>
            <a:pPr marL="237960">
              <a:lnSpc>
                <a:spcPts val="1664"/>
              </a:lnSpc>
              <a:spcBef>
                <a:spcPts val="1176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minikube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addons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enable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metrics-server</a:t>
            </a:r>
            <a:endParaRPr b="0" lang="fr-FR" sz="1400" spc="-1" strike="noStrike">
              <a:latin typeface="Arial"/>
            </a:endParaRPr>
          </a:p>
          <a:p>
            <a:pPr marL="23796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The</a:t>
            </a:r>
            <a:r>
              <a:rPr b="0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'metrics-server'</a:t>
            </a:r>
            <a:r>
              <a:rPr b="0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addon</a:t>
            </a:r>
            <a:r>
              <a:rPr b="0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is</a:t>
            </a:r>
            <a:r>
              <a:rPr b="0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enabled</a:t>
            </a:r>
            <a:endParaRPr b="0" lang="fr-FR" sz="1400" spc="-1" strike="noStrike">
              <a:latin typeface="Arial"/>
            </a:endParaRPr>
          </a:p>
        </p:txBody>
      </p:sp>
      <p:pic>
        <p:nvPicPr>
          <p:cNvPr id="1232" name="object 6" descr=""/>
          <p:cNvPicPr/>
          <p:nvPr/>
        </p:nvPicPr>
        <p:blipFill>
          <a:blip r:embed="rId2"/>
          <a:stretch/>
        </p:blipFill>
        <p:spPr>
          <a:xfrm>
            <a:off x="0" y="2980080"/>
            <a:ext cx="1885680" cy="1263960"/>
          </a:xfrm>
          <a:prstGeom prst="rect">
            <a:avLst/>
          </a:prstGeom>
          <a:ln w="0">
            <a:noFill/>
          </a:ln>
        </p:spPr>
      </p:pic>
      <p:sp>
        <p:nvSpPr>
          <p:cNvPr id="1233" name="object 8"/>
          <p:cNvSpPr/>
          <p:nvPr/>
        </p:nvSpPr>
        <p:spPr>
          <a:xfrm>
            <a:off x="1987920" y="3178440"/>
            <a:ext cx="5835600" cy="78768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49400" bIns="0" anchor="t">
            <a:spAutoFit/>
          </a:bodyPr>
          <a:p>
            <a:pPr marL="237960">
              <a:lnSpc>
                <a:spcPts val="1664"/>
              </a:lnSpc>
              <a:spcBef>
                <a:spcPts val="1176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apply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-f</a:t>
            </a:r>
            <a:endParaRPr b="0" lang="fr-FR" sz="1400" spc="-1" strike="noStrike">
              <a:latin typeface="Arial"/>
            </a:endParaRPr>
          </a:p>
          <a:p>
            <a:pPr marL="237960">
              <a:lnSpc>
                <a:spcPts val="1650"/>
              </a:lnSpc>
              <a:spcBef>
                <a:spcPts val="65"/>
              </a:spcBef>
              <a:buNone/>
            </a:pP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https://github.com/kubernetes-sigs/metrics-server/r </a:t>
            </a:r>
            <a:r>
              <a:rPr b="1" lang="fr-FR" sz="1400" spc="-83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eleases/latest/download/components.yaml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234" name="object 9"/>
          <p:cNvSpPr/>
          <p:nvPr/>
        </p:nvSpPr>
        <p:spPr>
          <a:xfrm>
            <a:off x="8701560" y="4908600"/>
            <a:ext cx="2538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361B4010-06AF-4A16-AF5A-1C7A4655A5F1}" type="slidenum">
              <a:rPr b="0" lang="fr-FR" sz="800" spc="-3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42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Querying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for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Metrics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Metrics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nodes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Pods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00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0" strike="noStrike">
                <a:solidFill>
                  <a:srgbClr val="666666"/>
                </a:solidFill>
                <a:latin typeface="Lucida Sans Unicode"/>
              </a:rPr>
              <a:t>be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rendered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top</a:t>
            </a:r>
            <a:r>
              <a:rPr b="0" lang="fr-FR" sz="1600" spc="-576" strike="noStrike">
                <a:solidFill>
                  <a:srgbClr val="666666"/>
                </a:solidFill>
                <a:latin typeface="Courier New"/>
              </a:rPr>
              <a:t> </a:t>
            </a:r>
            <a:r>
              <a:rPr b="0" lang="fr-FR" sz="1600" spc="89" strike="noStrike">
                <a:solidFill>
                  <a:srgbClr val="666666"/>
                </a:solidFill>
                <a:latin typeface="Lucida Sans Unicode"/>
              </a:rPr>
              <a:t>command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236" name="object 11"/>
          <p:cNvSpPr/>
          <p:nvPr/>
        </p:nvSpPr>
        <p:spPr>
          <a:xfrm>
            <a:off x="8701560" y="4908600"/>
            <a:ext cx="2538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06D25FD5-8893-4A8C-AF32-4AE51B48DC47}" type="slidenum">
              <a:rPr b="0" lang="fr-FR" sz="800" spc="-3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237" name="" descr=""/>
          <p:cNvPicPr/>
          <p:nvPr/>
        </p:nvPicPr>
        <p:blipFill>
          <a:blip r:embed="rId1"/>
          <a:stretch/>
        </p:blipFill>
        <p:spPr>
          <a:xfrm>
            <a:off x="523800" y="1358640"/>
            <a:ext cx="7394040" cy="2599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60356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Kubernetes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Features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" strike="noStrike">
                <a:solidFill>
                  <a:srgbClr val="000000"/>
                </a:solidFill>
                <a:latin typeface="Tahoma"/>
              </a:rPr>
              <a:t>that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6" strike="noStrike">
                <a:solidFill>
                  <a:srgbClr val="000000"/>
                </a:solidFill>
                <a:latin typeface="Tahoma"/>
              </a:rPr>
              <a:t>Tap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32" strike="noStrike">
                <a:solidFill>
                  <a:srgbClr val="000000"/>
                </a:solidFill>
                <a:latin typeface="Tahoma"/>
              </a:rPr>
              <a:t>into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Metrics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46" strike="noStrike">
                <a:solidFill>
                  <a:srgbClr val="666666"/>
                </a:solidFill>
                <a:latin typeface="Lucida Sans Unicode"/>
              </a:rPr>
              <a:t>Where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else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does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metrics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server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6" strike="noStrike">
                <a:solidFill>
                  <a:srgbClr val="666666"/>
                </a:solidFill>
                <a:latin typeface="Lucida Sans Unicode"/>
              </a:rPr>
              <a:t>come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into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0" strike="noStrike">
                <a:solidFill>
                  <a:srgbClr val="666666"/>
                </a:solidFill>
                <a:latin typeface="Lucida Sans Unicode"/>
              </a:rPr>
              <a:t>play?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6" strike="noStrike">
                <a:solidFill>
                  <a:srgbClr val="666666"/>
                </a:solidFill>
                <a:latin typeface="Lucida Sans Unicode"/>
              </a:rPr>
              <a:t>(</a:t>
            </a:r>
            <a:r>
              <a:rPr b="0" lang="fr-FR" sz="1600" spc="86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Lucida Sans Unicode"/>
                <a:hlinkClick r:id="rId1"/>
              </a:rPr>
              <a:t>docs</a:t>
            </a:r>
            <a:r>
              <a:rPr b="0" lang="fr-FR" sz="1600" spc="86" strike="noStrike">
                <a:solidFill>
                  <a:srgbClr val="666666"/>
                </a:solidFill>
                <a:latin typeface="Lucida Sans Unicode"/>
              </a:rPr>
              <a:t>)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239" name="object 4"/>
          <p:cNvSpPr/>
          <p:nvPr/>
        </p:nvSpPr>
        <p:spPr>
          <a:xfrm>
            <a:off x="8701560" y="4908600"/>
            <a:ext cx="2538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A84338DF-1D1D-48AF-B35C-C3C0CE7DA1B4}" type="slidenum">
              <a:rPr b="0" lang="fr-FR" sz="800" spc="-3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240" name="object 3"/>
          <p:cNvSpPr/>
          <p:nvPr/>
        </p:nvSpPr>
        <p:spPr>
          <a:xfrm>
            <a:off x="600120" y="1360440"/>
            <a:ext cx="8217720" cy="277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00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Horizontal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Pod</a:t>
            </a:r>
            <a:r>
              <a:rPr b="0" lang="fr-FR" sz="1600" spc="-100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Autoscaler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26" strike="noStrike">
                <a:solidFill>
                  <a:srgbClr val="000000"/>
                </a:solidFill>
                <a:latin typeface="Arial MT"/>
                <a:ea typeface="DejaVu Sans"/>
              </a:rPr>
              <a:t>(HPA)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only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determine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if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Deployment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replicas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need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 be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scaled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up or down based on available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resource consumption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determined by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metrics 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server.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If 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current resource consumption cannot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be determined, it is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indicate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d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b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y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&lt;unknown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  <a:ea typeface="DejaVu Sans"/>
              </a:rPr>
              <a:t>&gt;</a:t>
            </a:r>
            <a:r>
              <a:rPr b="0" lang="fr-FR" sz="1600" spc="-65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n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th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TARGET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  <a:ea typeface="DejaVu Sans"/>
              </a:rPr>
              <a:t>S</a:t>
            </a:r>
            <a:r>
              <a:rPr b="0" lang="fr-FR" sz="1600" spc="-62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column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o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f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a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n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H</a:t>
            </a:r>
            <a:r>
              <a:rPr b="0" lang="fr-FR" sz="1600" spc="-120" strike="noStrike">
                <a:solidFill>
                  <a:srgbClr val="000000"/>
                </a:solidFill>
                <a:latin typeface="Arial MT"/>
                <a:ea typeface="DejaVu Sans"/>
              </a:rPr>
              <a:t>P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Pod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scheduling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on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cluster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nodes is based on the definition of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resource requests.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scheduler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looks at 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resources capacity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available on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cluster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node and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decides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if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workload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be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scheduled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for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Pod’s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resource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request.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1" name="object 2"/>
          <p:cNvGrpSpPr/>
          <p:nvPr/>
        </p:nvGrpSpPr>
        <p:grpSpPr>
          <a:xfrm>
            <a:off x="0" y="0"/>
            <a:ext cx="9140760" cy="5140080"/>
            <a:chOff x="0" y="0"/>
            <a:chExt cx="9140760" cy="5140080"/>
          </a:xfrm>
        </p:grpSpPr>
        <p:pic>
          <p:nvPicPr>
            <p:cNvPr id="1242" name="object 3" descr=""/>
            <p:cNvPicPr/>
            <p:nvPr/>
          </p:nvPicPr>
          <p:blipFill>
            <a:blip r:embed="rId1"/>
            <a:stretch/>
          </p:blipFill>
          <p:spPr>
            <a:xfrm>
              <a:off x="0" y="0"/>
              <a:ext cx="9140760" cy="514008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243" name="object 4" descr=""/>
            <p:cNvPicPr/>
            <p:nvPr/>
          </p:nvPicPr>
          <p:blipFill>
            <a:blip r:embed="rId2"/>
            <a:stretch/>
          </p:blipFill>
          <p:spPr>
            <a:xfrm>
              <a:off x="8714160" y="146160"/>
              <a:ext cx="284400" cy="22968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244" name="PlaceHolder 1"/>
          <p:cNvSpPr>
            <a:spLocks noGrp="1"/>
          </p:cNvSpPr>
          <p:nvPr>
            <p:ph type="title"/>
          </p:nvPr>
        </p:nvSpPr>
        <p:spPr>
          <a:xfrm>
            <a:off x="386280" y="1685160"/>
            <a:ext cx="8865360" cy="1483560"/>
          </a:xfrm>
          <a:prstGeom prst="rect">
            <a:avLst/>
          </a:prstGeom>
          <a:noFill/>
          <a:ln w="0">
            <a:noFill/>
          </a:ln>
        </p:spPr>
        <p:txBody>
          <a:bodyPr lIns="0" rIns="0" tIns="182160" bIns="0" anchor="t">
            <a:noAutofit/>
          </a:bodyPr>
          <a:p>
            <a:pPr marL="12600">
              <a:lnSpc>
                <a:spcPct val="100000"/>
              </a:lnSpc>
              <a:spcBef>
                <a:spcPts val="1434"/>
              </a:spcBef>
              <a:buNone/>
            </a:pPr>
            <a:r>
              <a:rPr b="1" lang="fr-FR" sz="3200" spc="9" strike="noStrike">
                <a:solidFill>
                  <a:srgbClr val="ffffff"/>
                </a:solidFill>
                <a:latin typeface="Tahoma"/>
              </a:rPr>
              <a:t>Troubleshooting</a:t>
            </a:r>
            <a:r>
              <a:rPr b="1" lang="fr-FR" sz="3200" spc="-171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200" spc="41" strike="noStrike">
                <a:solidFill>
                  <a:srgbClr val="ffffff"/>
                </a:solidFill>
                <a:latin typeface="Tahoma"/>
              </a:rPr>
              <a:t>Pods</a:t>
            </a:r>
            <a:r>
              <a:rPr b="1" lang="fr-FR" sz="3200" spc="-165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200" spc="75" strike="noStrike">
                <a:solidFill>
                  <a:srgbClr val="ffffff"/>
                </a:solidFill>
                <a:latin typeface="Tahoma"/>
              </a:rPr>
              <a:t>and</a:t>
            </a:r>
            <a:r>
              <a:rPr b="1" lang="fr-FR" sz="3200" spc="-171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200" spc="26" strike="noStrike">
                <a:solidFill>
                  <a:srgbClr val="ffffff"/>
                </a:solidFill>
                <a:latin typeface="Tahoma"/>
              </a:rPr>
              <a:t>Containers</a:t>
            </a:r>
            <a:endParaRPr b="0" lang="fr-FR" sz="32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675"/>
              </a:spcBef>
              <a:buNone/>
            </a:pPr>
            <a:r>
              <a:rPr b="0" lang="fr-FR" sz="1600" spc="15" strike="noStrike">
                <a:solidFill>
                  <a:srgbClr val="ffffff"/>
                </a:solidFill>
                <a:latin typeface="Lucida Sans Unicode"/>
              </a:rPr>
              <a:t>Techniques</a:t>
            </a:r>
            <a:r>
              <a:rPr b="0" lang="fr-FR" sz="1600" spc="-7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ffffff"/>
                </a:solidFill>
                <a:latin typeface="Lucida Sans Unicode"/>
              </a:rPr>
              <a:t>for</a:t>
            </a:r>
            <a:r>
              <a:rPr b="0" lang="fr-FR" sz="1600" spc="-7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ffffff"/>
                </a:solidFill>
                <a:latin typeface="Lucida Sans Unicode"/>
              </a:rPr>
              <a:t>identifying</a:t>
            </a:r>
            <a:r>
              <a:rPr b="0" lang="fr-FR" sz="1600" spc="-66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ffffff"/>
                </a:solidFill>
                <a:latin typeface="Lucida Sans Unicode"/>
              </a:rPr>
              <a:t>the</a:t>
            </a:r>
            <a:r>
              <a:rPr b="0" lang="fr-FR" sz="1600" spc="-7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ffffff"/>
                </a:solidFill>
                <a:latin typeface="Lucida Sans Unicode"/>
              </a:rPr>
              <a:t>root</a:t>
            </a:r>
            <a:r>
              <a:rPr b="0" lang="fr-FR" sz="1600" spc="-7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600" spc="86" strike="noStrike">
                <a:solidFill>
                  <a:srgbClr val="ffffff"/>
                </a:solidFill>
                <a:latin typeface="Lucida Sans Unicode"/>
              </a:rPr>
              <a:t>cause</a:t>
            </a:r>
            <a:r>
              <a:rPr b="0" lang="fr-FR" sz="1600" spc="-66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ffffff"/>
                </a:solidFill>
                <a:latin typeface="Lucida Sans Unicode"/>
              </a:rPr>
              <a:t>of</a:t>
            </a:r>
            <a:r>
              <a:rPr b="0" lang="fr-FR" sz="1600" spc="-7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600" spc="185" strike="noStrike">
                <a:solidFill>
                  <a:srgbClr val="ffffff"/>
                </a:solidFill>
                <a:latin typeface="Lucida Sans Unicode"/>
              </a:rPr>
              <a:t>a</a:t>
            </a:r>
            <a:r>
              <a:rPr b="0" lang="fr-FR" sz="1600" spc="-66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ffffff"/>
                </a:solidFill>
                <a:latin typeface="Lucida Sans Unicode"/>
              </a:rPr>
              <a:t>failure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70356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6" strike="noStrike">
                <a:solidFill>
                  <a:srgbClr val="000000"/>
                </a:solidFill>
                <a:latin typeface="Tahoma"/>
              </a:rPr>
              <a:t>Retrieving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High-Level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Pod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32" strike="noStrike">
                <a:solidFill>
                  <a:srgbClr val="000000"/>
                </a:solidFill>
                <a:latin typeface="Tahoma"/>
              </a:rPr>
              <a:t>Information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35" strike="noStrike">
                <a:solidFill>
                  <a:srgbClr val="666666"/>
                </a:solidFill>
                <a:latin typeface="Lucida Sans Unicode"/>
              </a:rPr>
              <a:t>Check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status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Pod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41" strike="noStrike">
                <a:solidFill>
                  <a:srgbClr val="666666"/>
                </a:solidFill>
                <a:latin typeface="Lucida Sans Unicode"/>
              </a:rPr>
              <a:t>first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246" name="object 3"/>
          <p:cNvGrpSpPr/>
          <p:nvPr/>
        </p:nvGrpSpPr>
        <p:grpSpPr>
          <a:xfrm>
            <a:off x="467640" y="1447560"/>
            <a:ext cx="6442200" cy="2050920"/>
            <a:chOff x="467640" y="1447560"/>
            <a:chExt cx="6442200" cy="2050920"/>
          </a:xfrm>
        </p:grpSpPr>
        <p:pic>
          <p:nvPicPr>
            <p:cNvPr id="1247" name="object 4" descr=""/>
            <p:cNvPicPr/>
            <p:nvPr/>
          </p:nvPicPr>
          <p:blipFill>
            <a:blip r:embed="rId1"/>
            <a:stretch/>
          </p:blipFill>
          <p:spPr>
            <a:xfrm>
              <a:off x="467640" y="1447560"/>
              <a:ext cx="6442200" cy="205092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248" name="object 5"/>
            <p:cNvSpPr/>
            <p:nvPr/>
          </p:nvSpPr>
          <p:spPr>
            <a:xfrm>
              <a:off x="521280" y="1495800"/>
              <a:ext cx="6328440" cy="1936800"/>
            </a:xfrm>
            <a:custGeom>
              <a:avLst/>
              <a:gdLst/>
              <a:ahLst/>
              <a:rect l="l" t="t" r="r" b="b"/>
              <a:pathLst>
                <a:path w="6331584" h="1939925">
                  <a:moveTo>
                    <a:pt x="6331199" y="1939799"/>
                  </a:moveTo>
                  <a:lnTo>
                    <a:pt x="0" y="1939799"/>
                  </a:lnTo>
                  <a:lnTo>
                    <a:pt x="0" y="0"/>
                  </a:lnTo>
                  <a:lnTo>
                    <a:pt x="6331199" y="0"/>
                  </a:lnTo>
                  <a:lnTo>
                    <a:pt x="6331199" y="19397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249" name="object 6"/>
          <p:cNvSpPr/>
          <p:nvPr/>
        </p:nvSpPr>
        <p:spPr>
          <a:xfrm>
            <a:off x="746640" y="1683000"/>
            <a:ext cx="26892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get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pods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-n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t67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250" name="object 7"/>
          <p:cNvSpPr/>
          <p:nvPr/>
        </p:nvSpPr>
        <p:spPr>
          <a:xfrm>
            <a:off x="3520080" y="1892520"/>
            <a:ext cx="6624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STATUS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251" name="object 8"/>
          <p:cNvSpPr/>
          <p:nvPr/>
        </p:nvSpPr>
        <p:spPr>
          <a:xfrm>
            <a:off x="746640" y="1892520"/>
            <a:ext cx="162252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misbehaving-pod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252" name="object 9"/>
          <p:cNvSpPr/>
          <p:nvPr/>
        </p:nvSpPr>
        <p:spPr>
          <a:xfrm>
            <a:off x="2666520" y="1892520"/>
            <a:ext cx="55620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READY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0/1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253" name="object 10"/>
          <p:cNvSpPr/>
          <p:nvPr/>
        </p:nvSpPr>
        <p:spPr>
          <a:xfrm>
            <a:off x="3519720" y="2102040"/>
            <a:ext cx="130248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ErrImagePull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254" name="object 11"/>
          <p:cNvSpPr/>
          <p:nvPr/>
        </p:nvSpPr>
        <p:spPr>
          <a:xfrm>
            <a:off x="5119920" y="1892520"/>
            <a:ext cx="1516320" cy="64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  <a:tabLst>
                <a:tab algn="l" pos="118620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RESTART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S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AGE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  <a:tabLst>
                <a:tab algn="l" pos="118548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0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2s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255" name="object 12"/>
          <p:cNvSpPr/>
          <p:nvPr/>
        </p:nvSpPr>
        <p:spPr>
          <a:xfrm>
            <a:off x="746640" y="2521080"/>
            <a:ext cx="26892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get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pods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-n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k31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256" name="object 13"/>
          <p:cNvSpPr/>
          <p:nvPr/>
        </p:nvSpPr>
        <p:spPr>
          <a:xfrm>
            <a:off x="3413520" y="2730600"/>
            <a:ext cx="6624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STATUS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257" name="object 14"/>
          <p:cNvSpPr/>
          <p:nvPr/>
        </p:nvSpPr>
        <p:spPr>
          <a:xfrm>
            <a:off x="746640" y="2730600"/>
            <a:ext cx="151560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successful-pod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258" name="object 15"/>
          <p:cNvSpPr/>
          <p:nvPr/>
        </p:nvSpPr>
        <p:spPr>
          <a:xfrm>
            <a:off x="2559960" y="2730600"/>
            <a:ext cx="55620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READY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1/1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259" name="object 16"/>
          <p:cNvSpPr/>
          <p:nvPr/>
        </p:nvSpPr>
        <p:spPr>
          <a:xfrm>
            <a:off x="3345120" y="2955240"/>
            <a:ext cx="909720" cy="21060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80640">
              <a:lnSpc>
                <a:spcPts val="1661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Running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260" name="object 17"/>
          <p:cNvSpPr/>
          <p:nvPr/>
        </p:nvSpPr>
        <p:spPr>
          <a:xfrm>
            <a:off x="4479840" y="2730600"/>
            <a:ext cx="1516320" cy="64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  <a:tabLst>
                <a:tab algn="l" pos="118548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RESTART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S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AGE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  <a:tabLst>
                <a:tab algn="l" pos="118548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0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5s</a:t>
            </a:r>
            <a:endParaRPr b="0" lang="fr-FR" sz="1400" spc="-1" strike="noStrike">
              <a:latin typeface="Arial"/>
            </a:endParaRPr>
          </a:p>
        </p:txBody>
      </p:sp>
      <p:grpSp>
        <p:nvGrpSpPr>
          <p:cNvPr id="1261" name="object 18"/>
          <p:cNvGrpSpPr/>
          <p:nvPr/>
        </p:nvGrpSpPr>
        <p:grpSpPr>
          <a:xfrm>
            <a:off x="3458880" y="2119320"/>
            <a:ext cx="4542480" cy="1643760"/>
            <a:chOff x="3458880" y="2119320"/>
            <a:chExt cx="4542480" cy="1643760"/>
          </a:xfrm>
        </p:grpSpPr>
        <p:sp>
          <p:nvSpPr>
            <p:cNvPr id="1262" name="object 19"/>
            <p:cNvSpPr/>
            <p:nvPr/>
          </p:nvSpPr>
          <p:spPr>
            <a:xfrm>
              <a:off x="3801600" y="3378960"/>
              <a:ext cx="360" cy="384120"/>
            </a:xfrm>
            <a:custGeom>
              <a:avLst/>
              <a:gdLst/>
              <a:ahLst/>
              <a:rect l="l" t="t" r="r" b="b"/>
              <a:pathLst>
                <a:path w="0" h="387350">
                  <a:moveTo>
                    <a:pt x="0" y="386999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263" name="object 20" descr=""/>
            <p:cNvPicPr/>
            <p:nvPr/>
          </p:nvPicPr>
          <p:blipFill>
            <a:blip r:embed="rId2"/>
            <a:stretch/>
          </p:blipFill>
          <p:spPr>
            <a:xfrm>
              <a:off x="3760560" y="3282840"/>
              <a:ext cx="78840" cy="1022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264" name="object 21"/>
            <p:cNvSpPr/>
            <p:nvPr/>
          </p:nvSpPr>
          <p:spPr>
            <a:xfrm>
              <a:off x="3458880" y="2119320"/>
              <a:ext cx="1404000" cy="264240"/>
            </a:xfrm>
            <a:custGeom>
              <a:avLst/>
              <a:gdLst/>
              <a:ahLst/>
              <a:rect l="l" t="t" r="r" b="b"/>
              <a:pathLst>
                <a:path w="1407160" h="267335">
                  <a:moveTo>
                    <a:pt x="0" y="0"/>
                  </a:moveTo>
                  <a:lnTo>
                    <a:pt x="1406699" y="0"/>
                  </a:lnTo>
                  <a:lnTo>
                    <a:pt x="1406699" y="266999"/>
                  </a:lnTo>
                  <a:lnTo>
                    <a:pt x="0" y="26699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9049">
              <a:solidFill>
                <a:srgbClr val="ff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65" name="object 22"/>
            <p:cNvSpPr/>
            <p:nvPr/>
          </p:nvSpPr>
          <p:spPr>
            <a:xfrm>
              <a:off x="4162320" y="2500920"/>
              <a:ext cx="3839040" cy="304200"/>
            </a:xfrm>
            <a:custGeom>
              <a:avLst/>
              <a:gdLst/>
              <a:ahLst/>
              <a:rect l="l" t="t" r="r" b="b"/>
              <a:pathLst>
                <a:path w="3842384" h="307339">
                  <a:moveTo>
                    <a:pt x="3841799" y="307199"/>
                  </a:moveTo>
                  <a:lnTo>
                    <a:pt x="3841799" y="96412"/>
                  </a:lnTo>
                  <a:lnTo>
                    <a:pt x="0" y="96412"/>
                  </a:ln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266" name="object 23" descr=""/>
            <p:cNvPicPr/>
            <p:nvPr/>
          </p:nvPicPr>
          <p:blipFill>
            <a:blip r:embed="rId3"/>
            <a:stretch/>
          </p:blipFill>
          <p:spPr>
            <a:xfrm>
              <a:off x="4121280" y="2404800"/>
              <a:ext cx="78840" cy="1022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267" name="object 24"/>
          <p:cNvSpPr/>
          <p:nvPr/>
        </p:nvSpPr>
        <p:spPr>
          <a:xfrm>
            <a:off x="2930400" y="3885480"/>
            <a:ext cx="2287440" cy="46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71360" indent="-159480">
              <a:lnSpc>
                <a:spcPct val="100000"/>
              </a:lnSpc>
              <a:spcBef>
                <a:spcPts val="99"/>
              </a:spcBef>
              <a:buNone/>
              <a:tabLst>
                <a:tab algn="l" pos="0"/>
              </a:tabLst>
            </a:pP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Looks</a:t>
            </a:r>
            <a:r>
              <a:rPr b="0" lang="fr-FR" sz="1500" spc="-5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successful</a:t>
            </a:r>
            <a:r>
              <a:rPr b="0" lang="fr-FR" sz="1500" spc="-5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on </a:t>
            </a:r>
            <a:r>
              <a:rPr b="0" lang="fr-FR" sz="1500" spc="-40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5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surface-level</a:t>
            </a:r>
            <a:endParaRPr b="0" lang="fr-FR" sz="1500" spc="-1" strike="noStrike">
              <a:latin typeface="Arial"/>
            </a:endParaRPr>
          </a:p>
        </p:txBody>
      </p:sp>
      <p:sp>
        <p:nvSpPr>
          <p:cNvPr id="1268" name="object 26"/>
          <p:cNvSpPr/>
          <p:nvPr/>
        </p:nvSpPr>
        <p:spPr>
          <a:xfrm>
            <a:off x="8701560" y="4908600"/>
            <a:ext cx="2552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2509245D-E3D0-47FB-877B-F04387C0AF75}" type="slidenum">
              <a:rPr b="0" lang="fr-FR" sz="800" spc="-3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269" name="object 25"/>
          <p:cNvSpPr/>
          <p:nvPr/>
        </p:nvSpPr>
        <p:spPr>
          <a:xfrm>
            <a:off x="7200000" y="2873520"/>
            <a:ext cx="1617840" cy="46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 indent="137160">
              <a:lnSpc>
                <a:spcPct val="100000"/>
              </a:lnSpc>
              <a:spcBef>
                <a:spcPts val="99"/>
              </a:spcBef>
              <a:buNone/>
              <a:tabLst>
                <a:tab algn="l" pos="0"/>
              </a:tabLst>
            </a:pP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Failed to pull 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 container</a:t>
            </a:r>
            <a:r>
              <a:rPr b="0" lang="fr-FR" sz="1500" spc="-100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image</a:t>
            </a:r>
            <a:endParaRPr b="0" lang="fr-FR" sz="15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0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60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80" strike="noStrike">
                <a:solidFill>
                  <a:srgbClr val="000000"/>
                </a:solidFill>
                <a:latin typeface="Tahoma"/>
              </a:rPr>
              <a:t>Common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Pod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5" strike="noStrike">
                <a:solidFill>
                  <a:srgbClr val="000000"/>
                </a:solidFill>
                <a:latin typeface="Tahoma"/>
              </a:rPr>
              <a:t>Error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7" strike="noStrike">
                <a:solidFill>
                  <a:srgbClr val="000000"/>
                </a:solidFill>
                <a:latin typeface="Tahoma"/>
              </a:rPr>
              <a:t>Statuses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Poorly-documented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6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Kubernetes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docs,</a:t>
            </a:r>
            <a:r>
              <a:rPr b="0" lang="fr-FR" sz="1600" spc="-6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encountered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often</a:t>
            </a:r>
            <a:r>
              <a:rPr b="0" lang="fr-FR" sz="1600" spc="-6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practice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271" name="object 5"/>
          <p:cNvSpPr/>
          <p:nvPr/>
        </p:nvSpPr>
        <p:spPr>
          <a:xfrm>
            <a:off x="8701560" y="4908600"/>
            <a:ext cx="2552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B89E21AC-E8C1-42DF-841D-75257DF6FC59}" type="slidenum">
              <a:rPr b="0" lang="fr-FR" sz="800" spc="-3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272" name="" descr=""/>
          <p:cNvPicPr/>
          <p:nvPr/>
        </p:nvPicPr>
        <p:blipFill>
          <a:blip r:embed="rId1"/>
          <a:stretch/>
        </p:blipFill>
        <p:spPr>
          <a:xfrm>
            <a:off x="540000" y="1260000"/>
            <a:ext cx="8224200" cy="2877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3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063560" cy="1276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Inspecting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6" strike="noStrike">
                <a:solidFill>
                  <a:srgbClr val="000000"/>
                </a:solidFill>
                <a:latin typeface="Tahoma"/>
              </a:rPr>
              <a:t>Events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of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7" strike="noStrike">
                <a:solidFill>
                  <a:srgbClr val="000000"/>
                </a:solidFill>
                <a:latin typeface="Tahoma"/>
              </a:rPr>
              <a:t>Specific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Pod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Detailed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event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information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00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0" strike="noStrike">
                <a:solidFill>
                  <a:srgbClr val="666666"/>
                </a:solidFill>
                <a:latin typeface="Lucida Sans Unicode"/>
              </a:rPr>
              <a:t>be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found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Event</a:t>
            </a:r>
            <a:r>
              <a:rPr b="0" lang="fr-FR" sz="1600" spc="-1" strike="noStrike">
                <a:solidFill>
                  <a:srgbClr val="666666"/>
                </a:solidFill>
                <a:latin typeface="Courier New"/>
              </a:rPr>
              <a:t>s</a:t>
            </a:r>
            <a:r>
              <a:rPr b="0" lang="fr-FR" sz="1600" spc="-625" strike="noStrike">
                <a:solidFill>
                  <a:srgbClr val="666666"/>
                </a:solidFill>
                <a:latin typeface="Courier New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section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274" name="object 3"/>
          <p:cNvGrpSpPr/>
          <p:nvPr/>
        </p:nvGrpSpPr>
        <p:grpSpPr>
          <a:xfrm>
            <a:off x="477360" y="1409040"/>
            <a:ext cx="7914600" cy="2804400"/>
            <a:chOff x="477360" y="1409040"/>
            <a:chExt cx="7914600" cy="2804400"/>
          </a:xfrm>
        </p:grpSpPr>
        <p:pic>
          <p:nvPicPr>
            <p:cNvPr id="1275" name="object 4" descr=""/>
            <p:cNvPicPr/>
            <p:nvPr/>
          </p:nvPicPr>
          <p:blipFill>
            <a:blip r:embed="rId1"/>
            <a:stretch/>
          </p:blipFill>
          <p:spPr>
            <a:xfrm>
              <a:off x="477360" y="1409040"/>
              <a:ext cx="7914600" cy="28044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276" name="object 5"/>
            <p:cNvSpPr/>
            <p:nvPr/>
          </p:nvSpPr>
          <p:spPr>
            <a:xfrm>
              <a:off x="531000" y="1457280"/>
              <a:ext cx="7800840" cy="2690280"/>
            </a:xfrm>
            <a:custGeom>
              <a:avLst/>
              <a:gdLst/>
              <a:ahLst/>
              <a:rect l="l" t="t" r="r" b="b"/>
              <a:pathLst>
                <a:path w="7804150" h="2693670">
                  <a:moveTo>
                    <a:pt x="7803600" y="2693399"/>
                  </a:moveTo>
                  <a:lnTo>
                    <a:pt x="0" y="2693399"/>
                  </a:lnTo>
                  <a:lnTo>
                    <a:pt x="0" y="0"/>
                  </a:lnTo>
                  <a:lnTo>
                    <a:pt x="7803600" y="0"/>
                  </a:lnTo>
                  <a:lnTo>
                    <a:pt x="7803600" y="26933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277" name="object 6"/>
          <p:cNvSpPr/>
          <p:nvPr/>
        </p:nvSpPr>
        <p:spPr>
          <a:xfrm>
            <a:off x="756720" y="1595160"/>
            <a:ext cx="2582640" cy="55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429"/>
              </a:lnSpc>
              <a:spcBef>
                <a:spcPts val="99"/>
              </a:spcBef>
              <a:buNone/>
            </a:pPr>
            <a:r>
              <a:rPr b="1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describe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pod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myapp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26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34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Events: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278" name="object 13"/>
          <p:cNvSpPr/>
          <p:nvPr/>
        </p:nvSpPr>
        <p:spPr>
          <a:xfrm>
            <a:off x="8701560" y="4908600"/>
            <a:ext cx="2552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1EBEBBC8-CBA1-4C7E-B5E7-E8E9B64E48D5}" type="slidenum">
              <a:rPr b="0" lang="fr-FR" sz="800" spc="-3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279" name="object 7"/>
          <p:cNvSpPr/>
          <p:nvPr/>
        </p:nvSpPr>
        <p:spPr>
          <a:xfrm>
            <a:off x="939600" y="2138040"/>
            <a:ext cx="570960" cy="55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429"/>
              </a:lnSpc>
              <a:spcBef>
                <a:spcPts val="99"/>
              </a:spcBef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Type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26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----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34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Normal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280" name="object 8"/>
          <p:cNvSpPr/>
          <p:nvPr/>
        </p:nvSpPr>
        <p:spPr>
          <a:xfrm>
            <a:off x="1762560" y="2138040"/>
            <a:ext cx="845280" cy="55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429"/>
              </a:lnSpc>
              <a:spcBef>
                <a:spcPts val="99"/>
              </a:spcBef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Reason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26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------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34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Scheduled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281" name="object 9"/>
          <p:cNvSpPr/>
          <p:nvPr/>
        </p:nvSpPr>
        <p:spPr>
          <a:xfrm>
            <a:off x="2951280" y="2138040"/>
            <a:ext cx="845280" cy="55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429"/>
              </a:lnSpc>
              <a:spcBef>
                <a:spcPts val="99"/>
              </a:spcBef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Age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26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----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34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&lt;unknown&gt;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282" name="object 10"/>
          <p:cNvSpPr/>
          <p:nvPr/>
        </p:nvSpPr>
        <p:spPr>
          <a:xfrm>
            <a:off x="4962600" y="2138040"/>
            <a:ext cx="1576800" cy="55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429"/>
              </a:lnSpc>
              <a:spcBef>
                <a:spcPts val="99"/>
              </a:spcBef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From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26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----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34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default-scheduler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283" name="object 11"/>
          <p:cNvSpPr/>
          <p:nvPr/>
        </p:nvSpPr>
        <p:spPr>
          <a:xfrm>
            <a:off x="6699960" y="2138040"/>
            <a:ext cx="1397880" cy="55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429"/>
              </a:lnSpc>
              <a:spcBef>
                <a:spcPts val="99"/>
              </a:spcBef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Message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26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-------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34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Successfully</a:t>
            </a:r>
            <a:r>
              <a:rPr b="0" lang="fr-FR" sz="1200" spc="-7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284" name="object 12"/>
          <p:cNvSpPr/>
          <p:nvPr/>
        </p:nvSpPr>
        <p:spPr>
          <a:xfrm>
            <a:off x="939600" y="2680920"/>
            <a:ext cx="6971040" cy="12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429"/>
              </a:lnSpc>
              <a:spcBef>
                <a:spcPts val="99"/>
              </a:spcBef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assigned</a:t>
            </a:r>
            <a:r>
              <a:rPr b="0" lang="fr-FR" sz="12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default/secret-pod</a:t>
            </a:r>
            <a:r>
              <a:rPr b="0" lang="fr-FR" sz="12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to</a:t>
            </a:r>
            <a:r>
              <a:rPr b="0" lang="fr-FR" sz="12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minikube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29"/>
              </a:lnSpc>
              <a:spcBef>
                <a:spcPts val="45"/>
              </a:spcBef>
              <a:buNone/>
              <a:tabLst>
                <a:tab algn="l" pos="835200"/>
                <a:tab algn="l" pos="2023920"/>
                <a:tab algn="l" pos="4035600"/>
                <a:tab algn="l" pos="577224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Warning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FailedMount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3m15s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kubelet, minikube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Unable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to</a:t>
            </a:r>
            <a:r>
              <a:rPr b="0" lang="fr-FR" sz="1200" spc="-1" strike="noStrike">
                <a:solidFill>
                  <a:srgbClr val="000000"/>
                </a:solidFill>
                <a:latin typeface="MS Gothic"/>
                <a:ea typeface="DejaVu Sans"/>
              </a:rPr>
              <a:t>↵ 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attach or mount volumes: unmounted volumes=[mysecret], unattached</a:t>
            </a:r>
            <a:r>
              <a:rPr b="0" lang="fr-FR" sz="1200" spc="-7" strike="noStrike">
                <a:solidFill>
                  <a:srgbClr val="000000"/>
                </a:solidFill>
                <a:latin typeface="MS Gothic"/>
                <a:ea typeface="DejaVu Sans"/>
              </a:rPr>
              <a:t>↵ </a:t>
            </a:r>
            <a:r>
              <a:rPr b="0" lang="fr-FR" sz="1200" spc="-1" strike="noStrike">
                <a:solidFill>
                  <a:srgbClr val="000000"/>
                </a:solidFill>
                <a:latin typeface="MS Gothic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volumes=[default-token-bf8rh mysecret]: timed out waiting for the condition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Warning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FailedMount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68s (x10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over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5m18s)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kubelet,</a:t>
            </a:r>
            <a:r>
              <a:rPr b="0" lang="fr-FR" sz="12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minikube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000000"/>
                </a:solidFill>
                <a:latin typeface="MS Gothic"/>
                <a:ea typeface="DejaVu Sans"/>
              </a:rPr>
              <a:t>↵ 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MountVolume.SetUp</a:t>
            </a:r>
            <a:r>
              <a:rPr b="0" lang="fr-FR" sz="12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failed</a:t>
            </a:r>
            <a:r>
              <a:rPr b="0" lang="fr-FR" sz="12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for</a:t>
            </a:r>
            <a:r>
              <a:rPr b="0" lang="fr-FR" sz="12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volume</a:t>
            </a:r>
            <a:r>
              <a:rPr b="0" lang="fr-FR" sz="12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"mysecret"</a:t>
            </a:r>
            <a:r>
              <a:rPr b="0" lang="fr-FR" sz="12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:</a:t>
            </a:r>
            <a:r>
              <a:rPr b="0" lang="fr-FR" sz="12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secret</a:t>
            </a:r>
            <a:r>
              <a:rPr b="0" lang="fr-FR" sz="12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"mysecret"</a:t>
            </a:r>
            <a:r>
              <a:rPr b="0" lang="fr-FR" sz="12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not</a:t>
            </a:r>
            <a:r>
              <a:rPr b="0" lang="fr-FR" sz="12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found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361"/>
              </a:lnSpc>
              <a:buNone/>
              <a:tabLst>
                <a:tab algn="l" pos="835200"/>
                <a:tab algn="l" pos="2023920"/>
                <a:tab algn="l" pos="4035600"/>
                <a:tab algn="l" pos="577224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98356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Inspecting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6" strike="noStrike">
                <a:solidFill>
                  <a:srgbClr val="000000"/>
                </a:solidFill>
                <a:latin typeface="Tahoma"/>
              </a:rPr>
              <a:t>Events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35" strike="noStrike">
                <a:solidFill>
                  <a:srgbClr val="000000"/>
                </a:solidFill>
                <a:latin typeface="Tahoma"/>
              </a:rPr>
              <a:t>Across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" strike="noStrike">
                <a:solidFill>
                  <a:srgbClr val="000000"/>
                </a:solidFill>
                <a:latin typeface="Tahoma"/>
              </a:rPr>
              <a:t>all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7" strike="noStrike">
                <a:solidFill>
                  <a:srgbClr val="000000"/>
                </a:solidFill>
                <a:latin typeface="Tahoma"/>
              </a:rPr>
              <a:t>Pods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46" strike="noStrike">
                <a:solidFill>
                  <a:srgbClr val="666666"/>
                </a:solidFill>
                <a:latin typeface="Lucida Sans Unicode"/>
              </a:rPr>
              <a:t>Lists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events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all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Pods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given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6" strike="noStrike">
                <a:solidFill>
                  <a:srgbClr val="666666"/>
                </a:solidFill>
                <a:latin typeface="Lucida Sans Unicode"/>
              </a:rPr>
              <a:t>namespace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286" name="object 3"/>
          <p:cNvGrpSpPr/>
          <p:nvPr/>
        </p:nvGrpSpPr>
        <p:grpSpPr>
          <a:xfrm>
            <a:off x="477360" y="1409040"/>
            <a:ext cx="8107920" cy="2803320"/>
            <a:chOff x="477360" y="1409040"/>
            <a:chExt cx="8107920" cy="2803320"/>
          </a:xfrm>
        </p:grpSpPr>
        <p:pic>
          <p:nvPicPr>
            <p:cNvPr id="1287" name="object 4" descr=""/>
            <p:cNvPicPr/>
            <p:nvPr/>
          </p:nvPicPr>
          <p:blipFill>
            <a:blip r:embed="rId1"/>
            <a:stretch/>
          </p:blipFill>
          <p:spPr>
            <a:xfrm>
              <a:off x="477360" y="1409040"/>
              <a:ext cx="8107920" cy="280332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288" name="object 5"/>
            <p:cNvSpPr/>
            <p:nvPr/>
          </p:nvSpPr>
          <p:spPr>
            <a:xfrm>
              <a:off x="531000" y="1457280"/>
              <a:ext cx="7993800" cy="2689200"/>
            </a:xfrm>
            <a:custGeom>
              <a:avLst/>
              <a:gdLst/>
              <a:ahLst/>
              <a:rect l="l" t="t" r="r" b="b"/>
              <a:pathLst>
                <a:path w="7997190" h="2692400">
                  <a:moveTo>
                    <a:pt x="7996799" y="2692199"/>
                  </a:moveTo>
                  <a:lnTo>
                    <a:pt x="0" y="2692199"/>
                  </a:lnTo>
                  <a:lnTo>
                    <a:pt x="0" y="0"/>
                  </a:lnTo>
                  <a:lnTo>
                    <a:pt x="7996799" y="0"/>
                  </a:lnTo>
                  <a:lnTo>
                    <a:pt x="7996799" y="26921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289" name="object 6"/>
          <p:cNvSpPr/>
          <p:nvPr/>
        </p:nvSpPr>
        <p:spPr>
          <a:xfrm>
            <a:off x="769680" y="1595160"/>
            <a:ext cx="2661120" cy="55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ts val="1429"/>
              </a:lnSpc>
              <a:spcBef>
                <a:spcPts val="99"/>
              </a:spcBef>
              <a:buNone/>
            </a:pPr>
            <a:r>
              <a:rPr b="1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2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2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get</a:t>
            </a:r>
            <a:r>
              <a:rPr b="1" lang="fr-FR" sz="12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events</a:t>
            </a:r>
            <a:endParaRPr b="0" lang="fr-FR" sz="1200" spc="-1" strike="noStrike">
              <a:latin typeface="Arial"/>
            </a:endParaRPr>
          </a:p>
          <a:p>
            <a:pPr>
              <a:lnSpc>
                <a:spcPts val="1426"/>
              </a:lnSpc>
              <a:buNone/>
              <a:tabLst>
                <a:tab algn="l" pos="1096560"/>
                <a:tab algn="l" pos="201096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LAST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SEEN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TYPE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REASON</a:t>
            </a:r>
            <a:endParaRPr b="0" lang="fr-FR" sz="1200" spc="-1" strike="noStrike">
              <a:latin typeface="Arial"/>
            </a:endParaRPr>
          </a:p>
          <a:p>
            <a:pPr>
              <a:lnSpc>
                <a:spcPts val="1434"/>
              </a:lnSpc>
              <a:buNone/>
              <a:tabLst>
                <a:tab algn="l" pos="1096560"/>
                <a:tab algn="l" pos="201096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3m14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s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Warnin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g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BackOff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290" name="object 10"/>
          <p:cNvSpPr/>
          <p:nvPr/>
        </p:nvSpPr>
        <p:spPr>
          <a:xfrm>
            <a:off x="8701560" y="4908600"/>
            <a:ext cx="2552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4E5C5CE4-AA5C-49C2-8854-500F1C00D0C6}" type="slidenum">
              <a:rPr b="0" lang="fr-FR" sz="800" spc="-3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291" name="object 7"/>
          <p:cNvSpPr/>
          <p:nvPr/>
        </p:nvSpPr>
        <p:spPr>
          <a:xfrm>
            <a:off x="4426920" y="1775880"/>
            <a:ext cx="1289520" cy="3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ts val="1429"/>
              </a:lnSpc>
              <a:spcBef>
                <a:spcPts val="99"/>
              </a:spcBef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OBJECT</a:t>
            </a:r>
            <a:endParaRPr b="0" lang="fr-FR" sz="1200" spc="-1" strike="noStrike">
              <a:latin typeface="Arial"/>
            </a:endParaRPr>
          </a:p>
          <a:p>
            <a:pPr>
              <a:lnSpc>
                <a:spcPts val="1434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pod/custom-cmd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292" name="object 8"/>
          <p:cNvSpPr/>
          <p:nvPr/>
        </p:nvSpPr>
        <p:spPr>
          <a:xfrm>
            <a:off x="769680" y="2319120"/>
            <a:ext cx="540396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  <a:tabLst>
                <a:tab algn="l" pos="1096560"/>
                <a:tab algn="l" pos="2010960"/>
                <a:tab algn="l" pos="365688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2s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Warning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FailedNeedsStart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cronjob/google-ping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293" name="object 9"/>
          <p:cNvSpPr/>
          <p:nvPr/>
        </p:nvSpPr>
        <p:spPr>
          <a:xfrm>
            <a:off x="6346800" y="1775880"/>
            <a:ext cx="2111040" cy="21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ts val="1429"/>
              </a:lnSpc>
              <a:spcBef>
                <a:spcPts val="99"/>
              </a:spcBef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MESSAGE</a:t>
            </a:r>
            <a:endParaRPr b="0" lang="fr-FR" sz="1200" spc="-1" strike="noStrike">
              <a:latin typeface="Arial"/>
            </a:endParaRPr>
          </a:p>
          <a:p>
            <a:pPr>
              <a:lnSpc>
                <a:spcPts val="1429"/>
              </a:lnSpc>
              <a:spcBef>
                <a:spcPts val="45"/>
              </a:spcBef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Back-off restarting </a:t>
            </a:r>
            <a:r>
              <a:rPr b="0" lang="fr-FR" sz="1200" spc="-1" strike="noStrike">
                <a:solidFill>
                  <a:srgbClr val="000000"/>
                </a:solidFill>
                <a:latin typeface="MS Gothic"/>
                <a:ea typeface="DejaVu Sans"/>
              </a:rPr>
              <a:t>↵ </a:t>
            </a:r>
            <a:r>
              <a:rPr b="0" lang="fr-FR" sz="1200" spc="-585" strike="noStrike">
                <a:solidFill>
                  <a:srgbClr val="000000"/>
                </a:solidFill>
                <a:latin typeface="MS Gothic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failed container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Cannot determine if </a:t>
            </a:r>
            <a:r>
              <a:rPr b="0" lang="fr-FR" sz="1200" spc="-1" strike="noStrike">
                <a:solidFill>
                  <a:srgbClr val="000000"/>
                </a:solidFill>
                <a:latin typeface="MS Gothic"/>
                <a:ea typeface="DejaVu Sans"/>
              </a:rPr>
              <a:t>↵ </a:t>
            </a:r>
            <a:r>
              <a:rPr b="0" lang="fr-FR" sz="1200" spc="-585" strike="noStrike">
                <a:solidFill>
                  <a:srgbClr val="000000"/>
                </a:solidFill>
                <a:latin typeface="MS Gothic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job needs to be </a:t>
            </a:r>
            <a:r>
              <a:rPr b="0" lang="fr-FR" sz="1200" spc="-1" strike="noStrike">
                <a:solidFill>
                  <a:srgbClr val="000000"/>
                </a:solidFill>
                <a:latin typeface="MS Gothic"/>
                <a:ea typeface="DejaVu Sans"/>
              </a:rPr>
              <a:t>↵ 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started: too many </a:t>
            </a:r>
            <a:r>
              <a:rPr b="0" lang="fr-FR" sz="1200" spc="-1" strike="noStrike">
                <a:solidFill>
                  <a:srgbClr val="000000"/>
                </a:solidFill>
                <a:latin typeface="MS Gothic"/>
                <a:ea typeface="DejaVu Sans"/>
              </a:rPr>
              <a:t>↵ 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missed</a:t>
            </a:r>
            <a:r>
              <a:rPr b="0" lang="fr-FR" sz="1200" spc="7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start</a:t>
            </a:r>
            <a:r>
              <a:rPr b="0" lang="fr-FR" sz="1200" spc="7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time</a:t>
            </a:r>
            <a:r>
              <a:rPr b="0" lang="fr-FR" sz="1200" spc="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000000"/>
                </a:solidFill>
                <a:latin typeface="MS Gothic"/>
                <a:ea typeface="DejaVu Sans"/>
              </a:rPr>
              <a:t>↵   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(&gt; 100). Set or </a:t>
            </a:r>
            <a:r>
              <a:rPr b="0" lang="fr-FR" sz="1200" spc="-1" strike="noStrike">
                <a:solidFill>
                  <a:srgbClr val="000000"/>
                </a:solidFill>
                <a:latin typeface="MS Gothic"/>
                <a:ea typeface="DejaVu Sans"/>
              </a:rPr>
              <a:t>↵ 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decrease .spec. </a:t>
            </a:r>
            <a:r>
              <a:rPr b="0" lang="fr-FR" sz="1200" spc="-1" strike="noStrike">
                <a:solidFill>
                  <a:srgbClr val="000000"/>
                </a:solidFill>
                <a:latin typeface="MS Gothic"/>
                <a:ea typeface="DejaVu Sans"/>
              </a:rPr>
              <a:t>↵ 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startingDeadline </a:t>
            </a:r>
            <a:r>
              <a:rPr b="0" lang="fr-FR" sz="1200" spc="-1" strike="noStrike">
                <a:solidFill>
                  <a:srgbClr val="000000"/>
                </a:solidFill>
                <a:latin typeface="MS Gothic"/>
                <a:ea typeface="DejaVu Sans"/>
              </a:rPr>
              <a:t>↵ 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Seconds or check </a:t>
            </a:r>
            <a:r>
              <a:rPr b="0" lang="fr-FR" sz="1200" spc="-1" strike="noStrike">
                <a:solidFill>
                  <a:srgbClr val="000000"/>
                </a:solidFill>
                <a:latin typeface="MS Gothic"/>
                <a:ea typeface="DejaVu Sans"/>
              </a:rPr>
              <a:t>↵ 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clock</a:t>
            </a:r>
            <a:r>
              <a:rPr b="0" lang="fr-FR" sz="12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skew</a:t>
            </a:r>
            <a:endParaRPr b="0" lang="fr-FR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4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78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Inspecting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Logs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Application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failure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11" strike="noStrike">
                <a:solidFill>
                  <a:srgbClr val="666666"/>
                </a:solidFill>
                <a:latin typeface="Lucida Sans Unicode"/>
              </a:rPr>
              <a:t>may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not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necessarily</a:t>
            </a:r>
            <a:r>
              <a:rPr b="0" lang="fr-FR" sz="1600" spc="-6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surface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on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Kubernetes-level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295" name="object 9"/>
          <p:cNvSpPr/>
          <p:nvPr/>
        </p:nvSpPr>
        <p:spPr>
          <a:xfrm>
            <a:off x="8701560" y="4908600"/>
            <a:ext cx="2552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DC1788E8-C32D-4592-91DB-4B9417EDFD9E}" type="slidenum">
              <a:rPr b="0" lang="fr-FR" sz="800" spc="-3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296" name="" descr=""/>
          <p:cNvPicPr/>
          <p:nvPr/>
        </p:nvPicPr>
        <p:blipFill>
          <a:blip r:embed="rId1"/>
          <a:stretch/>
        </p:blipFill>
        <p:spPr>
          <a:xfrm>
            <a:off x="473760" y="1385280"/>
            <a:ext cx="8092080" cy="2572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7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96356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Opening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1" strike="noStrike">
                <a:solidFill>
                  <a:srgbClr val="000000"/>
                </a:solidFill>
                <a:latin typeface="Tahoma"/>
              </a:rPr>
              <a:t>afi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6" strike="noStrike">
                <a:solidFill>
                  <a:srgbClr val="000000"/>
                </a:solidFill>
                <a:latin typeface="Tahoma"/>
              </a:rPr>
              <a:t>Interactive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5" strike="noStrike">
                <a:solidFill>
                  <a:srgbClr val="000000"/>
                </a:solidFill>
                <a:latin typeface="Tahoma"/>
              </a:rPr>
              <a:t>Shell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to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Allows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exploring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container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file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system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processes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298" name="object 4"/>
          <p:cNvSpPr/>
          <p:nvPr/>
        </p:nvSpPr>
        <p:spPr>
          <a:xfrm>
            <a:off x="531000" y="1457280"/>
            <a:ext cx="7792560" cy="227412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49400" bIns="0" anchor="t">
            <a:spAutoFit/>
          </a:bodyPr>
          <a:p>
            <a:pPr marL="237960">
              <a:lnSpc>
                <a:spcPts val="1664"/>
              </a:lnSpc>
              <a:spcBef>
                <a:spcPts val="1176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logs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failing-pod</a:t>
            </a:r>
            <a:endParaRPr b="0" lang="fr-FR" sz="1400" spc="-1" strike="noStrike">
              <a:latin typeface="Arial"/>
            </a:endParaRPr>
          </a:p>
          <a:p>
            <a:pPr marL="23796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/bin/sh:</a:t>
            </a:r>
            <a:r>
              <a:rPr b="0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can't</a:t>
            </a:r>
            <a:r>
              <a:rPr b="0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</a:t>
            </a:r>
            <a:r>
              <a:rPr b="0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/root/tmp/curr-date.txt: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nonexistent</a:t>
            </a:r>
            <a:r>
              <a:rPr b="0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directory</a:t>
            </a:r>
            <a:endParaRPr b="0" lang="fr-FR" sz="1400" spc="-1" strike="noStrike">
              <a:latin typeface="Arial"/>
            </a:endParaRPr>
          </a:p>
          <a:p>
            <a:pPr marL="237960">
              <a:lnSpc>
                <a:spcPct val="100000"/>
              </a:lnSpc>
              <a:spcBef>
                <a:spcPts val="34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237960">
              <a:lnSpc>
                <a:spcPts val="1664"/>
              </a:lnSpc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exec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failing-pod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-it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/bin/sh</a:t>
            </a:r>
            <a:endParaRPr b="0" lang="fr-FR" sz="1400" spc="-1" strike="noStrike">
              <a:latin typeface="Arial"/>
            </a:endParaRPr>
          </a:p>
          <a:p>
            <a:pPr marL="237960">
              <a:lnSpc>
                <a:spcPts val="1650"/>
              </a:lnSpc>
              <a:spcBef>
                <a:spcPts val="65"/>
              </a:spcBef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#</a:t>
            </a:r>
            <a:r>
              <a:rPr b="0" lang="fr-FR" sz="14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mkdir</a:t>
            </a:r>
            <a:r>
              <a:rPr b="0" lang="fr-FR" sz="14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-p</a:t>
            </a:r>
            <a:r>
              <a:rPr b="0" lang="fr-FR" sz="14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~/tmp </a:t>
            </a:r>
            <a:r>
              <a:rPr b="0" lang="fr-FR" sz="1400" spc="-8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400" spc="-1" strike="noStrike">
              <a:latin typeface="Arial"/>
            </a:endParaRPr>
          </a:p>
          <a:p>
            <a:pPr marL="237960">
              <a:lnSpc>
                <a:spcPts val="1650"/>
              </a:lnSpc>
              <a:spcBef>
                <a:spcPts val="65"/>
              </a:spcBef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#</a:t>
            </a:r>
            <a:r>
              <a:rPr b="0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cd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~/tmp</a:t>
            </a:r>
            <a:endParaRPr b="0" lang="fr-FR" sz="1400" spc="-1" strike="noStrike">
              <a:latin typeface="Arial"/>
            </a:endParaRPr>
          </a:p>
          <a:p>
            <a:pPr marL="237960">
              <a:lnSpc>
                <a:spcPts val="1650"/>
              </a:lnSpc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#</a:t>
            </a:r>
            <a:r>
              <a:rPr b="0" lang="fr-FR" sz="1400" spc="-5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ls</a:t>
            </a:r>
            <a:r>
              <a:rPr b="0" lang="fr-FR" sz="1400" spc="-5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-l </a:t>
            </a:r>
            <a:r>
              <a:rPr b="0" lang="fr-FR" sz="1400" spc="-8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400" spc="-1" strike="noStrike">
              <a:latin typeface="Arial"/>
            </a:endParaRPr>
          </a:p>
          <a:p>
            <a:pPr marL="237960">
              <a:lnSpc>
                <a:spcPts val="1650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total</a:t>
            </a:r>
            <a:r>
              <a:rPr b="0" lang="fr-FR" sz="1400" spc="-100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4</a:t>
            </a:r>
            <a:endParaRPr b="0" lang="fr-FR" sz="1400" spc="-1" strike="noStrike">
              <a:latin typeface="Arial"/>
            </a:endParaRPr>
          </a:p>
          <a:p>
            <a:pPr marL="237960">
              <a:lnSpc>
                <a:spcPts val="1650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-rw-r--r--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1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root root 112 May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9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23:52 curr-date.txt </a:t>
            </a:r>
            <a:r>
              <a:rPr b="0" lang="fr-FR" sz="1400" spc="-83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400" spc="-1" strike="noStrike">
              <a:latin typeface="Arial"/>
            </a:endParaRPr>
          </a:p>
          <a:p>
            <a:pPr marL="237960">
              <a:lnSpc>
                <a:spcPts val="1650"/>
              </a:lnSpc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#</a:t>
            </a:r>
            <a:r>
              <a:rPr b="0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exit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299" name="object 5"/>
          <p:cNvSpPr/>
          <p:nvPr/>
        </p:nvSpPr>
        <p:spPr>
          <a:xfrm>
            <a:off x="8701560" y="4908600"/>
            <a:ext cx="2552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0F3124C5-6768-4E8B-BFBE-6E80DB0A1DC9}" type="slidenum">
              <a:rPr b="0" lang="fr-FR" sz="800" spc="-3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80356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7" strike="noStrike">
                <a:solidFill>
                  <a:srgbClr val="000000"/>
                </a:solidFill>
                <a:latin typeface="Tahoma"/>
              </a:rPr>
              <a:t>Distroless</a:t>
            </a:r>
            <a:r>
              <a:rPr b="1" lang="fr-FR" sz="2400" spc="-16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" strike="noStrike">
                <a:solidFill>
                  <a:srgbClr val="000000"/>
                </a:solidFill>
                <a:latin typeface="Tahoma"/>
              </a:rPr>
              <a:t>Containers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66" strike="noStrike">
                <a:solidFill>
                  <a:srgbClr val="666666"/>
                </a:solidFill>
                <a:latin typeface="Lucida Sans Unicode"/>
              </a:rPr>
              <a:t>Some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container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5" strike="noStrike">
                <a:solidFill>
                  <a:srgbClr val="666666"/>
                </a:solidFill>
                <a:latin typeface="Lucida Sans Unicode"/>
              </a:rPr>
              <a:t>images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do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not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provide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shell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301" name="object 3"/>
          <p:cNvGrpSpPr/>
          <p:nvPr/>
        </p:nvGrpSpPr>
        <p:grpSpPr>
          <a:xfrm>
            <a:off x="477360" y="1409040"/>
            <a:ext cx="7336440" cy="2224440"/>
            <a:chOff x="477360" y="1409040"/>
            <a:chExt cx="7336440" cy="2224440"/>
          </a:xfrm>
        </p:grpSpPr>
        <p:pic>
          <p:nvPicPr>
            <p:cNvPr id="1302" name="object 4" descr=""/>
            <p:cNvPicPr/>
            <p:nvPr/>
          </p:nvPicPr>
          <p:blipFill>
            <a:blip r:embed="rId1"/>
            <a:stretch/>
          </p:blipFill>
          <p:spPr>
            <a:xfrm>
              <a:off x="477360" y="1409040"/>
              <a:ext cx="7336440" cy="22244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303" name="object 5"/>
            <p:cNvSpPr/>
            <p:nvPr/>
          </p:nvSpPr>
          <p:spPr>
            <a:xfrm>
              <a:off x="531000" y="1457280"/>
              <a:ext cx="7222320" cy="2110680"/>
            </a:xfrm>
            <a:custGeom>
              <a:avLst/>
              <a:gdLst/>
              <a:ahLst/>
              <a:rect l="l" t="t" r="r" b="b"/>
              <a:pathLst>
                <a:path w="7225665" h="2113915">
                  <a:moveTo>
                    <a:pt x="7225199" y="2113499"/>
                  </a:moveTo>
                  <a:lnTo>
                    <a:pt x="0" y="2113499"/>
                  </a:lnTo>
                  <a:lnTo>
                    <a:pt x="0" y="0"/>
                  </a:lnTo>
                  <a:lnTo>
                    <a:pt x="7225199" y="0"/>
                  </a:lnTo>
                  <a:lnTo>
                    <a:pt x="7225199" y="21134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304" name="object 6"/>
          <p:cNvSpPr/>
          <p:nvPr/>
        </p:nvSpPr>
        <p:spPr>
          <a:xfrm>
            <a:off x="756720" y="1594080"/>
            <a:ext cx="6621120" cy="191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run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minimal-pod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--image=k8s.gcr.io/pause:3.1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pod/minimal-pod</a:t>
            </a:r>
            <a:r>
              <a:rPr b="0" lang="fr-FR" sz="14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31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spcBef>
                <a:spcPts val="6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exec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minimal-pod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-it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/bin/sh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50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OCI</a:t>
            </a:r>
            <a:r>
              <a:rPr b="0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runtime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exec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failed:</a:t>
            </a:r>
            <a:r>
              <a:rPr b="0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exec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failed: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container_linux.go:349: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50"/>
              </a:lnSpc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50"/>
              </a:lnSpc>
              <a:buNone/>
              <a:tabLst>
                <a:tab algn="l" pos="641988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Starting container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process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caused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"exec: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\"/bin/sh\":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stat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1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50"/>
              </a:lnSpc>
              <a:spcBef>
                <a:spcPts val="65"/>
              </a:spcBef>
              <a:buNone/>
              <a:tabLst>
                <a:tab algn="l" pos="641988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/bin/sh: no such file or directory": unknown </a:t>
            </a:r>
            <a:r>
              <a:rPr b="0" lang="fr-FR" sz="1400" spc="-83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command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terminated</a:t>
            </a:r>
            <a:r>
              <a:rPr b="0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with</a:t>
            </a:r>
            <a:r>
              <a:rPr b="0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exit</a:t>
            </a:r>
            <a:r>
              <a:rPr b="0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code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126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305" name="object 7"/>
          <p:cNvSpPr/>
          <p:nvPr/>
        </p:nvSpPr>
        <p:spPr>
          <a:xfrm>
            <a:off x="8701560" y="4908600"/>
            <a:ext cx="2552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45F36BDB-BE20-485D-BCDF-B433F9720399}" type="slidenum">
              <a:rPr b="0" lang="fr-FR" sz="800" spc="-3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6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783560" cy="1276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9" strike="noStrike">
                <a:solidFill>
                  <a:srgbClr val="000000"/>
                </a:solidFill>
                <a:latin typeface="Tahoma"/>
              </a:rPr>
              <a:t>Debugging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" strike="noStrike">
                <a:solidFill>
                  <a:srgbClr val="000000"/>
                </a:solidFill>
                <a:latin typeface="Tahoma"/>
              </a:rPr>
              <a:t>Using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1" strike="noStrike">
                <a:solidFill>
                  <a:srgbClr val="000000"/>
                </a:solidFill>
                <a:latin typeface="Tahoma"/>
              </a:rPr>
              <a:t>an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5" strike="noStrike">
                <a:solidFill>
                  <a:srgbClr val="000000"/>
                </a:solidFill>
                <a:latin typeface="Tahoma"/>
              </a:rPr>
              <a:t>Ephemeral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Using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disposable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container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troubleshooting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distroless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containers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307" name="object 3"/>
          <p:cNvGrpSpPr/>
          <p:nvPr/>
        </p:nvGrpSpPr>
        <p:grpSpPr>
          <a:xfrm>
            <a:off x="477360" y="1409040"/>
            <a:ext cx="7056360" cy="2224440"/>
            <a:chOff x="477360" y="1409040"/>
            <a:chExt cx="7056360" cy="2224440"/>
          </a:xfrm>
        </p:grpSpPr>
        <p:pic>
          <p:nvPicPr>
            <p:cNvPr id="1308" name="object 4" descr=""/>
            <p:cNvPicPr/>
            <p:nvPr/>
          </p:nvPicPr>
          <p:blipFill>
            <a:blip r:embed="rId1"/>
            <a:stretch/>
          </p:blipFill>
          <p:spPr>
            <a:xfrm>
              <a:off x="477360" y="1409040"/>
              <a:ext cx="7056360" cy="22244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309" name="object 5"/>
            <p:cNvSpPr/>
            <p:nvPr/>
          </p:nvSpPr>
          <p:spPr>
            <a:xfrm>
              <a:off x="531000" y="1457280"/>
              <a:ext cx="6942240" cy="2110680"/>
            </a:xfrm>
            <a:custGeom>
              <a:avLst/>
              <a:gdLst/>
              <a:ahLst/>
              <a:rect l="l" t="t" r="r" b="b"/>
              <a:pathLst>
                <a:path w="6945630" h="2113915">
                  <a:moveTo>
                    <a:pt x="6945299" y="2113499"/>
                  </a:moveTo>
                  <a:lnTo>
                    <a:pt x="0" y="2113499"/>
                  </a:lnTo>
                  <a:lnTo>
                    <a:pt x="0" y="0"/>
                  </a:lnTo>
                  <a:lnTo>
                    <a:pt x="6945299" y="0"/>
                  </a:lnTo>
                  <a:lnTo>
                    <a:pt x="6945299" y="21134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310" name="object 6"/>
          <p:cNvSpPr/>
          <p:nvPr/>
        </p:nvSpPr>
        <p:spPr>
          <a:xfrm>
            <a:off x="756720" y="1594080"/>
            <a:ext cx="6621120" cy="169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debug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-it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minimal-pod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--image=busybox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50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Defaulting</a:t>
            </a:r>
            <a:r>
              <a:rPr b="0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debug</a:t>
            </a:r>
            <a:r>
              <a:rPr b="0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container</a:t>
            </a:r>
            <a:r>
              <a:rPr b="0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to</a:t>
            </a:r>
            <a:r>
              <a:rPr b="0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debugger-jf98g.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50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If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you</a:t>
            </a:r>
            <a:r>
              <a:rPr b="0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don't</a:t>
            </a:r>
            <a:r>
              <a:rPr b="0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see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a</a:t>
            </a:r>
            <a:r>
              <a:rPr b="0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command</a:t>
            </a:r>
            <a:r>
              <a:rPr b="0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prompt,</a:t>
            </a:r>
            <a:r>
              <a:rPr b="0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try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pressing</a:t>
            </a:r>
            <a:r>
              <a:rPr b="0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enter.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50"/>
              </a:lnSpc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/</a:t>
            </a:r>
            <a:r>
              <a:rPr b="0" lang="fr-FR" sz="14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#</a:t>
            </a:r>
            <a:r>
              <a:rPr b="0" lang="fr-FR" sz="14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pwd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50"/>
              </a:lnSpc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/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50"/>
              </a:lnSpc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/</a:t>
            </a:r>
            <a:r>
              <a:rPr b="0" lang="fr-FR" sz="14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#</a:t>
            </a:r>
            <a:r>
              <a:rPr b="0" lang="fr-FR" sz="14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exit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50"/>
              </a:lnSpc>
              <a:buNone/>
              <a:tabLst>
                <a:tab algn="l" pos="641988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Sessio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n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 ended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,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 resum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e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 usin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g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 'kubect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l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 attac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h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 minimal-po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d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 -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c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1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  <a:tabLst>
                <a:tab algn="l" pos="641988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debugger-jf98g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-i</a:t>
            </a:r>
            <a:r>
              <a:rPr b="0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-t'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command</a:t>
            </a:r>
            <a:r>
              <a:rPr b="0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when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the</a:t>
            </a:r>
            <a:r>
              <a:rPr b="0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</a:t>
            </a:r>
            <a:r>
              <a:rPr b="0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is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running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311" name="object 8"/>
          <p:cNvSpPr/>
          <p:nvPr/>
        </p:nvSpPr>
        <p:spPr>
          <a:xfrm>
            <a:off x="8701560" y="4908600"/>
            <a:ext cx="2552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458CDD24-ABA8-4A0C-8DF0-1751FCBAB469}" type="slidenum">
              <a:rPr b="0" lang="fr-FR" sz="800" spc="-3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312" name="object 7"/>
          <p:cNvSpPr/>
          <p:nvPr/>
        </p:nvSpPr>
        <p:spPr>
          <a:xfrm>
            <a:off x="532080" y="4050720"/>
            <a:ext cx="8285760" cy="46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500" spc="-140" strike="noStrike">
                <a:solidFill>
                  <a:srgbClr val="000000"/>
                </a:solidFill>
                <a:latin typeface="Arial MT"/>
                <a:ea typeface="DejaVu Sans"/>
              </a:rPr>
              <a:t>Y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o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u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can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create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copy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 o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f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container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 i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n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 ne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w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 Po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d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 wit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h</a:t>
            </a:r>
            <a:r>
              <a:rPr b="0" lang="fr-FR" sz="1500" spc="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Courier New"/>
                <a:ea typeface="DejaVu Sans"/>
              </a:rPr>
              <a:t>--copy-t</a:t>
            </a:r>
            <a:r>
              <a:rPr b="0" lang="fr-FR" sz="1500" spc="-1" strike="noStrike">
                <a:solidFill>
                  <a:srgbClr val="000000"/>
                </a:solidFill>
                <a:latin typeface="Courier New"/>
                <a:ea typeface="DejaVu Sans"/>
              </a:rPr>
              <a:t>o</a:t>
            </a:r>
            <a:r>
              <a:rPr b="0" lang="fr-FR" sz="1500" spc="-48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fo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r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more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complex 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debugging</a:t>
            </a:r>
            <a:r>
              <a:rPr b="0" lang="fr-FR" sz="15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scenarios.</a:t>
            </a:r>
            <a:endParaRPr b="0" lang="fr-FR" sz="15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3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52356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35" strike="noStrike">
                <a:solidFill>
                  <a:srgbClr val="000000"/>
                </a:solidFill>
                <a:latin typeface="Tahoma"/>
              </a:rPr>
              <a:t>Copying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52" strike="noStrike">
                <a:solidFill>
                  <a:srgbClr val="000000"/>
                </a:solidFill>
                <a:latin typeface="Tahoma"/>
              </a:rPr>
              <a:t>File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" strike="noStrike">
                <a:solidFill>
                  <a:srgbClr val="000000"/>
                </a:solidFill>
                <a:latin typeface="Tahoma"/>
              </a:rPr>
              <a:t>from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the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ta</a:t>
            </a:r>
            <a:r>
              <a:rPr b="0" lang="fr-FR" sz="1600" spc="-1" strike="noStrike">
                <a:solidFill>
                  <a:srgbClr val="666666"/>
                </a:solidFill>
                <a:latin typeface="Courier New"/>
              </a:rPr>
              <a:t>r</a:t>
            </a:r>
            <a:r>
              <a:rPr b="0" lang="fr-FR" sz="1600" spc="-582" strike="noStrike">
                <a:solidFill>
                  <a:srgbClr val="666666"/>
                </a:solidFill>
                <a:latin typeface="Courier New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binary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needs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41" strike="noStrike">
                <a:solidFill>
                  <a:srgbClr val="666666"/>
                </a:solidFill>
                <a:latin typeface="Lucida Sans Unicode"/>
              </a:rPr>
              <a:t>exist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container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314" name="object 3"/>
          <p:cNvGrpSpPr/>
          <p:nvPr/>
        </p:nvGrpSpPr>
        <p:grpSpPr>
          <a:xfrm>
            <a:off x="477360" y="1409040"/>
            <a:ext cx="6441840" cy="3016440"/>
            <a:chOff x="477360" y="1409040"/>
            <a:chExt cx="6441840" cy="3016440"/>
          </a:xfrm>
        </p:grpSpPr>
        <p:pic>
          <p:nvPicPr>
            <p:cNvPr id="1315" name="object 4" descr=""/>
            <p:cNvPicPr/>
            <p:nvPr/>
          </p:nvPicPr>
          <p:blipFill>
            <a:blip r:embed="rId1"/>
            <a:stretch/>
          </p:blipFill>
          <p:spPr>
            <a:xfrm>
              <a:off x="477360" y="1409040"/>
              <a:ext cx="6441840" cy="215712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316" name="object 5"/>
            <p:cNvSpPr/>
            <p:nvPr/>
          </p:nvSpPr>
          <p:spPr>
            <a:xfrm>
              <a:off x="531000" y="1457280"/>
              <a:ext cx="6327720" cy="2043360"/>
            </a:xfrm>
            <a:custGeom>
              <a:avLst/>
              <a:gdLst/>
              <a:ahLst/>
              <a:rect l="l" t="t" r="r" b="b"/>
              <a:pathLst>
                <a:path w="6330950" h="2046604">
                  <a:moveTo>
                    <a:pt x="6330599" y="2045999"/>
                  </a:moveTo>
                  <a:lnTo>
                    <a:pt x="0" y="2045999"/>
                  </a:lnTo>
                  <a:lnTo>
                    <a:pt x="0" y="0"/>
                  </a:lnTo>
                  <a:lnTo>
                    <a:pt x="6330599" y="0"/>
                  </a:lnTo>
                  <a:lnTo>
                    <a:pt x="6330599" y="20459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17" name="object 6"/>
            <p:cNvSpPr/>
            <p:nvPr/>
          </p:nvSpPr>
          <p:spPr>
            <a:xfrm>
              <a:off x="2596680" y="2824560"/>
              <a:ext cx="360" cy="1164600"/>
            </a:xfrm>
            <a:custGeom>
              <a:avLst/>
              <a:gdLst/>
              <a:ahLst/>
              <a:rect l="l" t="t" r="r" b="b"/>
              <a:pathLst>
                <a:path w="0" h="1167764">
                  <a:moveTo>
                    <a:pt x="0" y="1167599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318" name="object 7" descr=""/>
            <p:cNvPicPr/>
            <p:nvPr/>
          </p:nvPicPr>
          <p:blipFill>
            <a:blip r:embed="rId2"/>
            <a:stretch/>
          </p:blipFill>
          <p:spPr>
            <a:xfrm>
              <a:off x="2555640" y="2728440"/>
              <a:ext cx="78840" cy="1022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319" name="object 8"/>
            <p:cNvSpPr/>
            <p:nvPr/>
          </p:nvSpPr>
          <p:spPr>
            <a:xfrm>
              <a:off x="3403080" y="2824560"/>
              <a:ext cx="221400" cy="1600920"/>
            </a:xfrm>
            <a:custGeom>
              <a:avLst/>
              <a:gdLst/>
              <a:ahLst/>
              <a:rect l="l" t="t" r="r" b="b"/>
              <a:pathLst>
                <a:path w="224789" h="1604010">
                  <a:moveTo>
                    <a:pt x="224399" y="1603800"/>
                  </a:moveTo>
                  <a:lnTo>
                    <a:pt x="0" y="1603800"/>
                  </a:ln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320" name="object 9" descr=""/>
            <p:cNvPicPr/>
            <p:nvPr/>
          </p:nvPicPr>
          <p:blipFill>
            <a:blip r:embed="rId3"/>
            <a:stretch/>
          </p:blipFill>
          <p:spPr>
            <a:xfrm>
              <a:off x="3362040" y="2728440"/>
              <a:ext cx="78840" cy="1022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321" name="object 10"/>
            <p:cNvSpPr/>
            <p:nvPr/>
          </p:nvSpPr>
          <p:spPr>
            <a:xfrm>
              <a:off x="4474440" y="2824560"/>
              <a:ext cx="360" cy="906840"/>
            </a:xfrm>
            <a:custGeom>
              <a:avLst/>
              <a:gdLst/>
              <a:ahLst/>
              <a:rect l="l" t="t" r="r" b="b"/>
              <a:pathLst>
                <a:path w="0" h="909954">
                  <a:moveTo>
                    <a:pt x="0" y="909599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322" name="object 11" descr=""/>
            <p:cNvPicPr/>
            <p:nvPr/>
          </p:nvPicPr>
          <p:blipFill>
            <a:blip r:embed="rId4"/>
            <a:stretch/>
          </p:blipFill>
          <p:spPr>
            <a:xfrm>
              <a:off x="4433400" y="2728800"/>
              <a:ext cx="78840" cy="1022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323" name="object 12"/>
          <p:cNvSpPr/>
          <p:nvPr/>
        </p:nvSpPr>
        <p:spPr>
          <a:xfrm>
            <a:off x="756720" y="1594080"/>
            <a:ext cx="5901120" cy="30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2600">
              <a:lnSpc>
                <a:spcPts val="1650"/>
              </a:lnSpc>
              <a:spcBef>
                <a:spcPts val="181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exec</a:t>
            </a:r>
            <a:r>
              <a:rPr b="1" lang="fr-FR" sz="1400" spc="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-it</a:t>
            </a:r>
            <a:r>
              <a:rPr b="1" lang="fr-FR" sz="1400" spc="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nginx</a:t>
            </a:r>
            <a:r>
              <a:rPr b="1" lang="fr-FR" sz="1400" spc="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-n</a:t>
            </a:r>
            <a:r>
              <a:rPr b="1" lang="fr-FR" sz="1400" spc="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code-red</a:t>
            </a: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</a:t>
            </a:r>
            <a:r>
              <a:rPr b="1" lang="fr-FR" sz="1400" spc="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/bin/sh </a:t>
            </a:r>
            <a:r>
              <a:rPr b="1" lang="fr-FR" sz="1400" spc="-8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50"/>
              </a:lnSpc>
              <a:spcBef>
                <a:spcPts val="181"/>
              </a:spcBef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#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tar cvf error-log.tar /var/log/nginx/error.log </a:t>
            </a:r>
            <a:r>
              <a:rPr b="0" lang="fr-FR" sz="1400" spc="-83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50"/>
              </a:lnSpc>
              <a:spcBef>
                <a:spcPts val="181"/>
              </a:spcBef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#</a:t>
            </a:r>
            <a:r>
              <a:rPr b="0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exit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40"/>
              </a:spcBef>
              <a:buNone/>
            </a:pPr>
            <a:endParaRPr b="0" lang="fr-FR" sz="1350" spc="-1" strike="noStrike">
              <a:latin typeface="Arial"/>
            </a:endParaRPr>
          </a:p>
          <a:p>
            <a:pPr marL="12600">
              <a:lnSpc>
                <a:spcPct val="100000"/>
              </a:lnSpc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cp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code-red/nginx:error-log.tar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error-log.tar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31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spcBef>
                <a:spcPts val="6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ls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error-log.tar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ct val="100000"/>
              </a:lnSpc>
              <a:buNone/>
            </a:pPr>
            <a:endParaRPr b="0" lang="fr-FR" sz="16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6"/>
              </a:spcBef>
              <a:buNone/>
            </a:pPr>
            <a:endParaRPr b="0" lang="fr-FR" sz="2050" spc="-1" strike="noStrike">
              <a:latin typeface="Arial"/>
            </a:endParaRPr>
          </a:p>
          <a:p>
            <a:pPr marL="3065040">
              <a:lnSpc>
                <a:spcPts val="1681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File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to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be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copied</a:t>
            </a:r>
            <a:endParaRPr b="0" lang="fr-FR" sz="1400" spc="-1" strike="noStrike">
              <a:latin typeface="Arial"/>
            </a:endParaRPr>
          </a:p>
          <a:p>
            <a:pPr marL="1365120">
              <a:lnSpc>
                <a:spcPts val="1681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Namespace</a:t>
            </a:r>
            <a:endParaRPr b="0" lang="fr-FR" sz="1400" spc="-1" strike="noStrike">
              <a:latin typeface="Arial"/>
            </a:endParaRPr>
          </a:p>
          <a:p>
            <a:pPr marL="2975040">
              <a:lnSpc>
                <a:spcPct val="100000"/>
              </a:lnSpc>
              <a:spcBef>
                <a:spcPts val="471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Pod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324" name="object 13"/>
          <p:cNvSpPr/>
          <p:nvPr/>
        </p:nvSpPr>
        <p:spPr>
          <a:xfrm>
            <a:off x="8701560" y="4908600"/>
            <a:ext cx="2552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88DBA033-6B3B-4D16-B692-12A1E7361BE9}" type="slidenum">
              <a:rPr b="0" lang="fr-FR" sz="800" spc="-3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5" name="object 2"/>
          <p:cNvSpPr/>
          <p:nvPr/>
        </p:nvSpPr>
        <p:spPr>
          <a:xfrm>
            <a:off x="494280" y="371880"/>
            <a:ext cx="128268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2400" spc="-15" strike="noStrike">
                <a:solidFill>
                  <a:srgbClr val="000000"/>
                </a:solidFill>
                <a:latin typeface="Tahoma"/>
                <a:ea typeface="DejaVu Sans"/>
              </a:rPr>
              <a:t>Lab 12</a:t>
            </a:r>
            <a:endParaRPr b="0" lang="fr-FR" sz="2400" spc="-1" strike="noStrike">
              <a:latin typeface="Arial"/>
            </a:endParaRPr>
          </a:p>
        </p:txBody>
      </p:sp>
      <p:sp>
        <p:nvSpPr>
          <p:cNvPr id="1326" name="object 3"/>
          <p:cNvSpPr/>
          <p:nvPr/>
        </p:nvSpPr>
        <p:spPr>
          <a:xfrm>
            <a:off x="494280" y="1386360"/>
            <a:ext cx="4363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2900" spc="-12" strike="noStrike">
                <a:solidFill>
                  <a:srgbClr val="000000"/>
                </a:solidFill>
                <a:latin typeface="Arial MT"/>
                <a:ea typeface="DejaVu Sans"/>
              </a:rPr>
              <a:t>Troubleshooting</a:t>
            </a:r>
            <a:r>
              <a:rPr b="0" lang="fr-FR" sz="29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29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Pod</a:t>
            </a:r>
            <a:endParaRPr b="0" lang="fr-FR" sz="2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7" name="object 2" descr=""/>
          <p:cNvPicPr/>
          <p:nvPr/>
        </p:nvPicPr>
        <p:blipFill>
          <a:blip r:embed="rId1"/>
          <a:stretch/>
        </p:blipFill>
        <p:spPr>
          <a:xfrm>
            <a:off x="0" y="0"/>
            <a:ext cx="9140760" cy="5140080"/>
          </a:xfrm>
          <a:prstGeom prst="rect">
            <a:avLst/>
          </a:prstGeom>
          <a:ln w="0">
            <a:noFill/>
          </a:ln>
        </p:spPr>
      </p:pic>
      <p:sp>
        <p:nvSpPr>
          <p:cNvPr id="1328" name="PlaceHolder 1"/>
          <p:cNvSpPr>
            <a:spLocks noGrp="1"/>
          </p:cNvSpPr>
          <p:nvPr>
            <p:ph type="title"/>
          </p:nvPr>
        </p:nvSpPr>
        <p:spPr>
          <a:xfrm>
            <a:off x="494280" y="1691640"/>
            <a:ext cx="4363560" cy="2511360"/>
          </a:xfrm>
          <a:prstGeom prst="rect">
            <a:avLst/>
          </a:prstGeom>
          <a:noFill/>
          <a:ln w="0">
            <a:noFill/>
          </a:ln>
        </p:spPr>
        <p:txBody>
          <a:bodyPr lIns="0" rIns="0" tIns="12600" bIns="0" anchor="t">
            <a:noAutofit/>
          </a:bodyPr>
          <a:p>
            <a:pPr marL="12600">
              <a:lnSpc>
                <a:spcPct val="114000"/>
              </a:lnSpc>
              <a:spcBef>
                <a:spcPts val="99"/>
              </a:spcBef>
              <a:buNone/>
            </a:pPr>
            <a:r>
              <a:rPr b="1" lang="fr-FR" sz="3600" spc="26" strike="noStrike">
                <a:solidFill>
                  <a:srgbClr val="ffffff"/>
                </a:solidFill>
                <a:latin typeface="Tahoma"/>
              </a:rPr>
              <a:t>Application</a:t>
            </a:r>
            <a:r>
              <a:rPr b="1" lang="fr-FR" sz="3600" spc="29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600" spc="-35" strike="noStrike">
                <a:solidFill>
                  <a:srgbClr val="ffffff"/>
                </a:solidFill>
                <a:latin typeface="Tahoma"/>
              </a:rPr>
              <a:t>Environment, </a:t>
            </a:r>
            <a:r>
              <a:rPr b="1" lang="fr-FR" sz="3600" spc="-32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600" spc="-1" strike="noStrike">
                <a:solidFill>
                  <a:srgbClr val="ffffff"/>
                </a:solidFill>
                <a:latin typeface="Tahoma"/>
              </a:rPr>
              <a:t>Configuration</a:t>
            </a:r>
            <a:r>
              <a:rPr b="1" lang="fr-FR" sz="3600" spc="-231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600" spc="-15" strike="noStrike">
                <a:solidFill>
                  <a:srgbClr val="ffffff"/>
                </a:solidFill>
                <a:latin typeface="Tahoma"/>
              </a:rPr>
              <a:t>&amp; </a:t>
            </a:r>
            <a:r>
              <a:rPr b="1" lang="fr-FR" sz="3600" spc="-1041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600" spc="-1" strike="noStrike">
                <a:solidFill>
                  <a:srgbClr val="ffffff"/>
                </a:solidFill>
                <a:latin typeface="Tahoma"/>
              </a:rPr>
              <a:t>Security</a:t>
            </a:r>
            <a:endParaRPr b="0" lang="fr-FR" sz="3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29" name="object 2"/>
          <p:cNvGrpSpPr/>
          <p:nvPr/>
        </p:nvGrpSpPr>
        <p:grpSpPr>
          <a:xfrm>
            <a:off x="1080" y="1440"/>
            <a:ext cx="9140760" cy="5140080"/>
            <a:chOff x="1080" y="1440"/>
            <a:chExt cx="9140760" cy="5140080"/>
          </a:xfrm>
        </p:grpSpPr>
        <p:pic>
          <p:nvPicPr>
            <p:cNvPr id="1330" name="object 3" descr=""/>
            <p:cNvPicPr/>
            <p:nvPr/>
          </p:nvPicPr>
          <p:blipFill>
            <a:blip r:embed="rId1"/>
            <a:stretch/>
          </p:blipFill>
          <p:spPr>
            <a:xfrm>
              <a:off x="1080" y="1440"/>
              <a:ext cx="9140760" cy="514008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331" name="object 4" descr=""/>
            <p:cNvPicPr/>
            <p:nvPr/>
          </p:nvPicPr>
          <p:blipFill>
            <a:blip r:embed="rId2"/>
            <a:stretch/>
          </p:blipFill>
          <p:spPr>
            <a:xfrm>
              <a:off x="8715240" y="147600"/>
              <a:ext cx="284400" cy="22968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332" name="PlaceHolder 1"/>
          <p:cNvSpPr>
            <a:spLocks noGrp="1"/>
          </p:cNvSpPr>
          <p:nvPr>
            <p:ph type="title"/>
          </p:nvPr>
        </p:nvSpPr>
        <p:spPr>
          <a:xfrm>
            <a:off x="494280" y="1685160"/>
            <a:ext cx="8683560" cy="1483560"/>
          </a:xfrm>
          <a:prstGeom prst="rect">
            <a:avLst/>
          </a:prstGeom>
          <a:noFill/>
          <a:ln w="0">
            <a:noFill/>
          </a:ln>
        </p:spPr>
        <p:txBody>
          <a:bodyPr lIns="0" rIns="0" tIns="182160" bIns="0" anchor="t">
            <a:noAutofit/>
          </a:bodyPr>
          <a:p>
            <a:pPr marL="12600">
              <a:lnSpc>
                <a:spcPct val="100000"/>
              </a:lnSpc>
              <a:spcBef>
                <a:spcPts val="1434"/>
              </a:spcBef>
              <a:buNone/>
            </a:pPr>
            <a:r>
              <a:rPr b="1" lang="fr-FR" sz="3200" spc="126" strike="noStrike">
                <a:solidFill>
                  <a:srgbClr val="ffffff"/>
                </a:solidFill>
                <a:latin typeface="Tahoma"/>
              </a:rPr>
              <a:t>Custom</a:t>
            </a:r>
            <a:r>
              <a:rPr b="1" lang="fr-FR" sz="3200" spc="-197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200" spc="29" strike="noStrike">
                <a:solidFill>
                  <a:srgbClr val="ffffff"/>
                </a:solidFill>
                <a:latin typeface="Tahoma"/>
              </a:rPr>
              <a:t>Resource</a:t>
            </a:r>
            <a:r>
              <a:rPr b="1" lang="fr-FR" sz="3200" spc="-191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200" spc="-21" strike="noStrike">
                <a:solidFill>
                  <a:srgbClr val="ffffff"/>
                </a:solidFill>
                <a:latin typeface="Tahoma"/>
              </a:rPr>
              <a:t>Definitions</a:t>
            </a:r>
            <a:r>
              <a:rPr b="1" lang="fr-FR" sz="3200" spc="-197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200" spc="35" strike="noStrike">
                <a:solidFill>
                  <a:srgbClr val="ffffff"/>
                </a:solidFill>
                <a:latin typeface="Tahoma"/>
              </a:rPr>
              <a:t>(CRDs)</a:t>
            </a:r>
            <a:endParaRPr b="0" lang="fr-FR" sz="32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675"/>
              </a:spcBef>
              <a:buNone/>
            </a:pPr>
            <a:r>
              <a:rPr b="0" lang="fr-FR" sz="1600" spc="-1" strike="noStrike">
                <a:solidFill>
                  <a:srgbClr val="ffffff"/>
                </a:solidFill>
                <a:latin typeface="Lucida Sans Unicode"/>
              </a:rPr>
              <a:t>Extending</a:t>
            </a:r>
            <a:r>
              <a:rPr b="0" lang="fr-FR" sz="1600" spc="-75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ffffff"/>
                </a:solidFill>
                <a:latin typeface="Lucida Sans Unicode"/>
              </a:rPr>
              <a:t>the</a:t>
            </a:r>
            <a:r>
              <a:rPr b="0" lang="fr-FR" sz="1600" spc="-75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ffffff"/>
                </a:solidFill>
                <a:latin typeface="Lucida Sans Unicode"/>
              </a:rPr>
              <a:t>Kubernetes</a:t>
            </a:r>
            <a:r>
              <a:rPr b="0" lang="fr-FR" sz="1600" spc="-75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ffffff"/>
                </a:solidFill>
                <a:latin typeface="Lucida Sans Unicode"/>
              </a:rPr>
              <a:t>API</a:t>
            </a:r>
            <a:r>
              <a:rPr b="0" lang="fr-FR" sz="1600" spc="-75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600" spc="55" strike="noStrike">
                <a:solidFill>
                  <a:srgbClr val="ffffff"/>
                </a:solidFill>
                <a:latin typeface="Lucida Sans Unicode"/>
              </a:rPr>
              <a:t>by</a:t>
            </a:r>
            <a:r>
              <a:rPr b="0" lang="fr-FR" sz="1600" spc="-7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ffffff"/>
                </a:solidFill>
                <a:latin typeface="Lucida Sans Unicode"/>
              </a:rPr>
              <a:t>custom</a:t>
            </a:r>
            <a:r>
              <a:rPr b="0" lang="fr-FR" sz="1600" spc="-75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ffffff"/>
                </a:solidFill>
                <a:latin typeface="Lucida Sans Unicode"/>
              </a:rPr>
              <a:t>primitives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3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96428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5" strike="noStrike">
                <a:solidFill>
                  <a:srgbClr val="000000"/>
                </a:solidFill>
                <a:latin typeface="Tahoma"/>
              </a:rPr>
              <a:t>What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is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72" strike="noStrike">
                <a:solidFill>
                  <a:srgbClr val="000000"/>
                </a:solidFill>
                <a:latin typeface="Tahoma"/>
              </a:rPr>
              <a:t>Custom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Resource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Definition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(CRD)?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Extension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point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introducing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5" strike="noStrike">
                <a:solidFill>
                  <a:srgbClr val="666666"/>
                </a:solidFill>
                <a:latin typeface="Lucida Sans Unicode"/>
              </a:rPr>
              <a:t>custom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API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primitives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334" name="object 4"/>
          <p:cNvSpPr/>
          <p:nvPr/>
        </p:nvSpPr>
        <p:spPr>
          <a:xfrm>
            <a:off x="8701560" y="4908600"/>
            <a:ext cx="2602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A41A1BC3-6B51-440A-80CE-75DEFF61558F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335" name="object 3"/>
          <p:cNvSpPr/>
          <p:nvPr/>
        </p:nvSpPr>
        <p:spPr>
          <a:xfrm>
            <a:off x="600120" y="1360440"/>
            <a:ext cx="8038440" cy="251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Some use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cases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with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custom requirements cannot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be fulfilled with the built-in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Kubernetes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primitives and 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functionality.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CRD allows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you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 define,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create,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and persist objects for one or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many custom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primitives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and expose them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with the Kubernetes</a:t>
            </a:r>
            <a:r>
              <a:rPr b="0" lang="fr-FR" sz="1600" spc="-9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API.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CRDs are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combined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with </a:t>
            </a:r>
            <a:r>
              <a:rPr b="0" i="1" lang="fr-FR" sz="1600" spc="-1" strike="noStrike">
                <a:solidFill>
                  <a:srgbClr val="000000"/>
                </a:solidFill>
                <a:latin typeface="Arial"/>
                <a:ea typeface="DejaVu Sans"/>
              </a:rPr>
              <a:t>controllers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make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them actually useful. Controllers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interact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with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00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API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server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implement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custom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logic.</a:t>
            </a:r>
            <a:r>
              <a:rPr b="0" lang="fr-FR" sz="1600" spc="-4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combination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CRDs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and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controllers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is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called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the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Operator pattern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6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264280" cy="1276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The</a:t>
            </a:r>
            <a:r>
              <a:rPr b="1" lang="fr-FR" sz="2400" spc="-16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7" strike="noStrike">
                <a:solidFill>
                  <a:srgbClr val="000000"/>
                </a:solidFill>
                <a:latin typeface="Tahoma"/>
              </a:rPr>
              <a:t>Operator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Pattern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Consists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CRDs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Controllers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1337" name="object 3" descr=""/>
          <p:cNvPicPr/>
          <p:nvPr/>
        </p:nvPicPr>
        <p:blipFill>
          <a:blip r:embed="rId1"/>
          <a:stretch/>
        </p:blipFill>
        <p:spPr>
          <a:xfrm>
            <a:off x="1888200" y="1515960"/>
            <a:ext cx="5277240" cy="3016080"/>
          </a:xfrm>
          <a:prstGeom prst="rect">
            <a:avLst/>
          </a:prstGeom>
          <a:ln w="0">
            <a:noFill/>
          </a:ln>
        </p:spPr>
      </p:pic>
      <p:sp>
        <p:nvSpPr>
          <p:cNvPr id="1338" name="object 4"/>
          <p:cNvSpPr/>
          <p:nvPr/>
        </p:nvSpPr>
        <p:spPr>
          <a:xfrm>
            <a:off x="8701560" y="4908600"/>
            <a:ext cx="2602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BEFBDA00-27DE-4275-A007-E024EB700967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9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78428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" strike="noStrike">
                <a:solidFill>
                  <a:srgbClr val="000000"/>
                </a:solidFill>
                <a:latin typeface="Tahoma"/>
              </a:rPr>
              <a:t>Example</a:t>
            </a:r>
            <a:r>
              <a:rPr b="1" lang="fr-FR" sz="2400" spc="-182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CRD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Smoke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testing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5" strike="noStrike">
                <a:solidFill>
                  <a:srgbClr val="666666"/>
                </a:solidFill>
                <a:latin typeface="Lucida Sans Unicode"/>
              </a:rPr>
              <a:t>against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Service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after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deployment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340" name="object 4"/>
          <p:cNvSpPr/>
          <p:nvPr/>
        </p:nvSpPr>
        <p:spPr>
          <a:xfrm>
            <a:off x="8701560" y="4908600"/>
            <a:ext cx="2602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2E62BF19-72E6-4025-9BCA-1ED0C9D96B63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341" name="object 3"/>
          <p:cNvSpPr/>
          <p:nvPr/>
        </p:nvSpPr>
        <p:spPr>
          <a:xfrm>
            <a:off x="600120" y="1360440"/>
            <a:ext cx="8218440" cy="278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Requirement: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 web-based application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stack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is deployed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via 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Deployment with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one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more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than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one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replica.</a:t>
            </a:r>
            <a:r>
              <a:rPr b="0" lang="fr-FR" sz="1600" spc="-4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Service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object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routes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network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traffic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to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Pods.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Desired functionality: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After the deployment happened, we want to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run 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quick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smoke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test against the 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Service’s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DNS name to ensure that application is operational. 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result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 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smoke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test will be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sent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 an external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service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for the purpose of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rendering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it on the UI dashboard.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Goal: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Implement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Operator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pattern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(CRD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controller)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use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case.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88428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CRD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YAML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Manifest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Defines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0" strike="noStrike">
                <a:solidFill>
                  <a:srgbClr val="666666"/>
                </a:solidFill>
                <a:latin typeface="Lucida Sans Unicode"/>
              </a:rPr>
              <a:t>schema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5" strike="noStrike">
                <a:solidFill>
                  <a:srgbClr val="666666"/>
                </a:solidFill>
                <a:latin typeface="Lucida Sans Unicode"/>
              </a:rPr>
              <a:t>custom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object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343" name="object 24"/>
          <p:cNvSpPr/>
          <p:nvPr/>
        </p:nvSpPr>
        <p:spPr>
          <a:xfrm>
            <a:off x="8701560" y="4908600"/>
            <a:ext cx="2602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F0B88F2B-8D1E-497B-9E27-C2119A302E9C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344" name="" descr=""/>
          <p:cNvPicPr/>
          <p:nvPr/>
        </p:nvPicPr>
        <p:blipFill>
          <a:blip r:embed="rId1"/>
          <a:stretch/>
        </p:blipFill>
        <p:spPr>
          <a:xfrm>
            <a:off x="527040" y="1080000"/>
            <a:ext cx="6579360" cy="3771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24428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72" strike="noStrike">
                <a:solidFill>
                  <a:srgbClr val="000000"/>
                </a:solidFill>
                <a:latin typeface="Tahoma"/>
              </a:rPr>
              <a:t>Custom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Resource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Object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YAML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Manifest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Instantiation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CRD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kind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346" name="object 21"/>
          <p:cNvSpPr/>
          <p:nvPr/>
        </p:nvSpPr>
        <p:spPr>
          <a:xfrm>
            <a:off x="8701560" y="4908600"/>
            <a:ext cx="2602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51D19718-4436-46F7-B535-960479B12E4A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347" name="" descr=""/>
          <p:cNvPicPr/>
          <p:nvPr/>
        </p:nvPicPr>
        <p:blipFill>
          <a:blip r:embed="rId1"/>
          <a:stretch/>
        </p:blipFill>
        <p:spPr>
          <a:xfrm>
            <a:off x="494280" y="1377360"/>
            <a:ext cx="8278560" cy="2530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704280" cy="1276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9" strike="noStrike">
                <a:solidFill>
                  <a:srgbClr val="000000"/>
                </a:solidFill>
                <a:latin typeface="Tahoma"/>
              </a:rPr>
              <a:t>Creating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the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CRD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35" strike="noStrike">
                <a:solidFill>
                  <a:srgbClr val="000000"/>
                </a:solidFill>
                <a:latin typeface="Tahoma"/>
              </a:rPr>
              <a:t>and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72" strike="noStrike">
                <a:solidFill>
                  <a:srgbClr val="000000"/>
                </a:solidFill>
                <a:latin typeface="Tahoma"/>
              </a:rPr>
              <a:t>Custom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Object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CRD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object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needs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0" strike="noStrike">
                <a:solidFill>
                  <a:srgbClr val="666666"/>
                </a:solidFill>
                <a:latin typeface="Lucida Sans Unicode"/>
              </a:rPr>
              <a:t>be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created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before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5" strike="noStrike">
                <a:solidFill>
                  <a:srgbClr val="666666"/>
                </a:solidFill>
                <a:latin typeface="Lucida Sans Unicode"/>
              </a:rPr>
              <a:t>custom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objects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349" name="object 4"/>
          <p:cNvSpPr/>
          <p:nvPr/>
        </p:nvSpPr>
        <p:spPr>
          <a:xfrm>
            <a:off x="521280" y="1425600"/>
            <a:ext cx="8127360" cy="136368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53000" bIns="0" anchor="t">
            <a:spAutoFit/>
          </a:bodyPr>
          <a:p>
            <a:pPr marL="165600">
              <a:lnSpc>
                <a:spcPct val="101000"/>
              </a:lnSpc>
              <a:spcBef>
                <a:spcPts val="1205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 apply -f loadtest-resource.yaml </a:t>
            </a: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customresourcedefinition.apiextensions.k8s.io/smoketests.stable.bmuschko.com</a:t>
            </a:r>
            <a:r>
              <a:rPr b="0" lang="fr-FR" sz="1300" spc="-12" strike="noStrike">
                <a:solidFill>
                  <a:srgbClr val="000000"/>
                </a:solidFill>
                <a:latin typeface="MS Gothic"/>
                <a:ea typeface="DejaVu Sans"/>
              </a:rPr>
              <a:t>↵ </a:t>
            </a:r>
            <a:r>
              <a:rPr b="0" lang="fr-FR" sz="1300" spc="-636" strike="noStrike">
                <a:solidFill>
                  <a:srgbClr val="000000"/>
                </a:solidFill>
                <a:latin typeface="MS Gothic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300" spc="-1" strike="noStrike">
              <a:latin typeface="Arial"/>
            </a:endParaRPr>
          </a:p>
          <a:p>
            <a:pPr marL="165600">
              <a:lnSpc>
                <a:spcPct val="100000"/>
              </a:lnSpc>
              <a:spcBef>
                <a:spcPts val="6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165600">
              <a:lnSpc>
                <a:spcPct val="100000"/>
              </a:lnSpc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3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apply</a:t>
            </a:r>
            <a:r>
              <a:rPr b="1" lang="fr-FR" sz="13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-f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loadtest.yaml</a:t>
            </a:r>
            <a:endParaRPr b="0" lang="fr-FR" sz="1300" spc="-1" strike="noStrike">
              <a:latin typeface="Arial"/>
            </a:endParaRPr>
          </a:p>
          <a:p>
            <a:pPr marL="1656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smoketest.stable.bmuschko.com/backend-smoke-test</a:t>
            </a:r>
            <a:r>
              <a:rPr b="0" lang="fr-FR" sz="13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350" name="object 5"/>
          <p:cNvSpPr/>
          <p:nvPr/>
        </p:nvSpPr>
        <p:spPr>
          <a:xfrm>
            <a:off x="8701560" y="4908600"/>
            <a:ext cx="2602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FA29E6DD-2414-4C68-AE33-5514BA57AC05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98428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Discovering</a:t>
            </a:r>
            <a:r>
              <a:rPr b="1" lang="fr-FR" sz="2400" spc="-17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CRDs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46" strike="noStrike">
                <a:solidFill>
                  <a:srgbClr val="666666"/>
                </a:solidFill>
                <a:latin typeface="Lucida Sans Unicode"/>
              </a:rPr>
              <a:t>Once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installed,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you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00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5" strike="noStrike">
                <a:solidFill>
                  <a:srgbClr val="666666"/>
                </a:solidFill>
                <a:latin typeface="Lucida Sans Unicode"/>
              </a:rPr>
              <a:t>list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all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6" strike="noStrike">
                <a:solidFill>
                  <a:srgbClr val="666666"/>
                </a:solidFill>
                <a:latin typeface="Lucida Sans Unicode"/>
              </a:rPr>
              <a:t>available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CRDs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352" name="object 3"/>
          <p:cNvGrpSpPr/>
          <p:nvPr/>
        </p:nvGrpSpPr>
        <p:grpSpPr>
          <a:xfrm>
            <a:off x="467640" y="1377000"/>
            <a:ext cx="7737840" cy="1909800"/>
            <a:chOff x="467640" y="1377000"/>
            <a:chExt cx="7737840" cy="1909800"/>
          </a:xfrm>
        </p:grpSpPr>
        <p:pic>
          <p:nvPicPr>
            <p:cNvPr id="1353" name="object 4" descr=""/>
            <p:cNvPicPr/>
            <p:nvPr/>
          </p:nvPicPr>
          <p:blipFill>
            <a:blip r:embed="rId1"/>
            <a:stretch/>
          </p:blipFill>
          <p:spPr>
            <a:xfrm>
              <a:off x="467640" y="1377000"/>
              <a:ext cx="7737840" cy="19098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354" name="object 5"/>
            <p:cNvSpPr/>
            <p:nvPr/>
          </p:nvSpPr>
          <p:spPr>
            <a:xfrm>
              <a:off x="521280" y="1425600"/>
              <a:ext cx="7623720" cy="1795680"/>
            </a:xfrm>
            <a:custGeom>
              <a:avLst/>
              <a:gdLst/>
              <a:ahLst/>
              <a:rect l="l" t="t" r="r" b="b"/>
              <a:pathLst>
                <a:path w="7626984" h="1798955">
                  <a:moveTo>
                    <a:pt x="7626599" y="1798799"/>
                  </a:moveTo>
                  <a:lnTo>
                    <a:pt x="0" y="1798799"/>
                  </a:lnTo>
                  <a:lnTo>
                    <a:pt x="0" y="0"/>
                  </a:lnTo>
                  <a:lnTo>
                    <a:pt x="7626599" y="0"/>
                  </a:lnTo>
                  <a:lnTo>
                    <a:pt x="7626599" y="17987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355" name="object 6"/>
          <p:cNvSpPr/>
          <p:nvPr/>
        </p:nvSpPr>
        <p:spPr>
          <a:xfrm>
            <a:off x="687600" y="1568160"/>
            <a:ext cx="6051960" cy="60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api-resources</a:t>
            </a:r>
            <a:r>
              <a:rPr b="1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--api-group=stable.bmuschko.com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1287000"/>
                <a:tab algn="l" pos="2575080"/>
                <a:tab algn="l" pos="505152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SHORTNAMES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APIVERSION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NAMESPACED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1287000"/>
                <a:tab algn="l" pos="2575080"/>
                <a:tab algn="l" pos="505152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smoketests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st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stable.bmuschko.com/v1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true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356" name="object 10"/>
          <p:cNvSpPr/>
          <p:nvPr/>
        </p:nvSpPr>
        <p:spPr>
          <a:xfrm>
            <a:off x="8701560" y="4908600"/>
            <a:ext cx="2602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B45BC5FF-04B5-463A-B169-82D2E92AEBDC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357" name="object 7"/>
          <p:cNvSpPr/>
          <p:nvPr/>
        </p:nvSpPr>
        <p:spPr>
          <a:xfrm>
            <a:off x="7026840" y="1768320"/>
            <a:ext cx="9010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KIND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SmokeTest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358" name="object 8"/>
          <p:cNvSpPr/>
          <p:nvPr/>
        </p:nvSpPr>
        <p:spPr>
          <a:xfrm>
            <a:off x="687600" y="2368080"/>
            <a:ext cx="2981160" cy="60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get</a:t>
            </a:r>
            <a:r>
              <a:rPr b="1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crds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smoketests.stable.bmuschko.com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359" name="object 9"/>
          <p:cNvSpPr/>
          <p:nvPr/>
        </p:nvSpPr>
        <p:spPr>
          <a:xfrm>
            <a:off x="3956040" y="2568240"/>
            <a:ext cx="19908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r>
              <a:rPr b="0" lang="fr-FR" sz="13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AT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2023-05-04T14:49:40Z</a:t>
            </a:r>
            <a:endParaRPr b="0" lang="fr-FR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0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52428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Controller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Implementation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5" strike="noStrike">
                <a:solidFill>
                  <a:srgbClr val="666666"/>
                </a:solidFill>
                <a:latin typeface="Lucida Sans Unicode"/>
              </a:rPr>
              <a:t>actual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logic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smoke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tests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lives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controller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361" name="object 4"/>
          <p:cNvSpPr/>
          <p:nvPr/>
        </p:nvSpPr>
        <p:spPr>
          <a:xfrm>
            <a:off x="8701560" y="4908600"/>
            <a:ext cx="2602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A55D23DE-41B0-4254-ACAC-ECEABD9117D9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362" name="object 3"/>
          <p:cNvSpPr/>
          <p:nvPr/>
        </p:nvSpPr>
        <p:spPr>
          <a:xfrm>
            <a:off x="600120" y="1360440"/>
            <a:ext cx="8398440" cy="278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55" strike="noStrike">
                <a:solidFill>
                  <a:srgbClr val="000000"/>
                </a:solidFill>
                <a:latin typeface="Arial MT"/>
                <a:ea typeface="DejaVu Sans"/>
              </a:rPr>
              <a:t>You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interact with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custom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resource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object using CRUD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(create/read/update/delete)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operations; 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however,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no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smoke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test logic will actually be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initiated.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00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controller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acts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reconciliation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process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by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inspecting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state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through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00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API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serve</a:t>
            </a:r>
            <a:r>
              <a:rPr b="0" lang="fr-FR" sz="1600" spc="-92" strike="noStrike">
                <a:solidFill>
                  <a:srgbClr val="000000"/>
                </a:solidFill>
                <a:latin typeface="Arial MT"/>
                <a:ea typeface="DejaVu Sans"/>
              </a:rPr>
              <a:t>r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.</a:t>
            </a:r>
            <a:r>
              <a:rPr b="0" lang="fr-FR" sz="1600" spc="-9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t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runtime,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i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t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poll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fo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ne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w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SmokeTes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  <a:ea typeface="DejaVu Sans"/>
              </a:rPr>
              <a:t>t</a:t>
            </a:r>
            <a:r>
              <a:rPr b="0" lang="fr-FR" sz="1600" spc="-65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object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an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d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sends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th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result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o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the  external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service.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Controllers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use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one of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Kubernetes</a:t>
            </a:r>
            <a:r>
              <a:rPr b="0" lang="fr-FR" sz="1600" spc="15" strike="noStrike">
                <a:solidFill>
                  <a:srgbClr val="d3002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1"/>
              </a:rPr>
              <a:t>client</a:t>
            </a:r>
            <a:r>
              <a:rPr b="0" lang="fr-FR" sz="1600" spc="-7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2"/>
              </a:rPr>
              <a:t> libraries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,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written in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Go 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Python, to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access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custom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resources.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3" name="object 2"/>
          <p:cNvSpPr/>
          <p:nvPr/>
        </p:nvSpPr>
        <p:spPr>
          <a:xfrm>
            <a:off x="494280" y="371880"/>
            <a:ext cx="128268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2400" spc="-15" strike="noStrike">
                <a:solidFill>
                  <a:srgbClr val="000000"/>
                </a:solidFill>
                <a:latin typeface="Tahoma"/>
                <a:ea typeface="DejaVu Sans"/>
              </a:rPr>
              <a:t>Lab 13</a:t>
            </a:r>
            <a:endParaRPr b="0" lang="fr-FR" sz="2400" spc="-1" strike="noStrike">
              <a:latin typeface="Arial"/>
            </a:endParaRPr>
          </a:p>
        </p:txBody>
      </p:sp>
      <p:sp>
        <p:nvSpPr>
          <p:cNvPr id="1364" name="object 3"/>
          <p:cNvSpPr/>
          <p:nvPr/>
        </p:nvSpPr>
        <p:spPr>
          <a:xfrm>
            <a:off x="494280" y="1323360"/>
            <a:ext cx="5084280" cy="101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14000"/>
              </a:lnSpc>
              <a:spcBef>
                <a:spcPts val="99"/>
              </a:spcBef>
              <a:buNone/>
            </a:pP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Defining</a:t>
            </a:r>
            <a:r>
              <a:rPr b="0" lang="fr-FR" sz="2900" spc="-5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and</a:t>
            </a:r>
            <a:r>
              <a:rPr b="0" lang="fr-FR" sz="2900" spc="-4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interacting </a:t>
            </a:r>
            <a:r>
              <a:rPr b="0" lang="fr-FR" sz="2900" spc="-79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with</a:t>
            </a:r>
            <a:r>
              <a:rPr b="0" lang="fr-FR" sz="29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29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CRD</a:t>
            </a:r>
            <a:endParaRPr b="0" lang="fr-FR" sz="2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5" name="object 2"/>
          <p:cNvGrpSpPr/>
          <p:nvPr/>
        </p:nvGrpSpPr>
        <p:grpSpPr>
          <a:xfrm>
            <a:off x="0" y="0"/>
            <a:ext cx="9140760" cy="5140080"/>
            <a:chOff x="0" y="0"/>
            <a:chExt cx="9140760" cy="5140080"/>
          </a:xfrm>
        </p:grpSpPr>
        <p:pic>
          <p:nvPicPr>
            <p:cNvPr id="1366" name="object 3" descr=""/>
            <p:cNvPicPr/>
            <p:nvPr/>
          </p:nvPicPr>
          <p:blipFill>
            <a:blip r:embed="rId1"/>
            <a:stretch/>
          </p:blipFill>
          <p:spPr>
            <a:xfrm>
              <a:off x="0" y="0"/>
              <a:ext cx="9140760" cy="514008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367" name="object 4" descr=""/>
            <p:cNvPicPr/>
            <p:nvPr/>
          </p:nvPicPr>
          <p:blipFill>
            <a:blip r:embed="rId2"/>
            <a:stretch/>
          </p:blipFill>
          <p:spPr>
            <a:xfrm>
              <a:off x="8714160" y="146160"/>
              <a:ext cx="284400" cy="22968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368" name="PlaceHolder 1"/>
          <p:cNvSpPr>
            <a:spLocks noGrp="1"/>
          </p:cNvSpPr>
          <p:nvPr>
            <p:ph type="title"/>
          </p:nvPr>
        </p:nvSpPr>
        <p:spPr>
          <a:xfrm>
            <a:off x="386280" y="1665000"/>
            <a:ext cx="8864280" cy="1656000"/>
          </a:xfrm>
          <a:prstGeom prst="rect">
            <a:avLst/>
          </a:prstGeom>
          <a:noFill/>
          <a:ln w="0">
            <a:noFill/>
          </a:ln>
        </p:spPr>
        <p:txBody>
          <a:bodyPr lIns="0" rIns="0" tIns="195480" bIns="0" anchor="t">
            <a:noAutofit/>
          </a:bodyPr>
          <a:p>
            <a:pPr marL="12600">
              <a:lnSpc>
                <a:spcPct val="100000"/>
              </a:lnSpc>
              <a:spcBef>
                <a:spcPts val="1539"/>
              </a:spcBef>
              <a:buNone/>
            </a:pPr>
            <a:r>
              <a:rPr b="1" lang="fr-FR" sz="3600" spc="-1" strike="noStrike">
                <a:solidFill>
                  <a:srgbClr val="ffffff"/>
                </a:solidFill>
                <a:latin typeface="Tahoma"/>
              </a:rPr>
              <a:t>Authentication</a:t>
            </a:r>
            <a:r>
              <a:rPr b="1" lang="fr-FR" sz="3600" spc="-205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600" spc="66" strike="noStrike">
                <a:solidFill>
                  <a:srgbClr val="ffffff"/>
                </a:solidFill>
                <a:latin typeface="Tahoma"/>
              </a:rPr>
              <a:t>and</a:t>
            </a:r>
            <a:r>
              <a:rPr b="1" lang="fr-FR" sz="3600" spc="-202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600" spc="-7" strike="noStrike">
                <a:solidFill>
                  <a:srgbClr val="ffffff"/>
                </a:solidFill>
                <a:latin typeface="Tahoma"/>
              </a:rPr>
              <a:t>Authorization</a:t>
            </a:r>
            <a:endParaRPr b="0" lang="fr-FR" sz="36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720"/>
              </a:spcBef>
              <a:buNone/>
            </a:pPr>
            <a:r>
              <a:rPr b="0" lang="fr-FR" sz="1800" spc="49" strike="noStrike">
                <a:solidFill>
                  <a:srgbClr val="ffffff"/>
                </a:solidFill>
                <a:latin typeface="Lucida Sans Unicode"/>
              </a:rPr>
              <a:t>Access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1" strike="noStrike">
                <a:solidFill>
                  <a:srgbClr val="ffffff"/>
                </a:solidFill>
                <a:latin typeface="Lucida Sans Unicode"/>
              </a:rPr>
              <a:t>control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32" strike="noStrike">
                <a:solidFill>
                  <a:srgbClr val="ffffff"/>
                </a:solidFill>
                <a:latin typeface="Lucida Sans Unicode"/>
              </a:rPr>
              <a:t>for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15" strike="noStrike">
                <a:solidFill>
                  <a:srgbClr val="ffffff"/>
                </a:solidFill>
                <a:latin typeface="Lucida Sans Unicode"/>
              </a:rPr>
              <a:t>the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7" strike="noStrike">
                <a:solidFill>
                  <a:srgbClr val="ffffff"/>
                </a:solidFill>
                <a:latin typeface="Lucida Sans Unicode"/>
              </a:rPr>
              <a:t>Kubernetes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21" strike="noStrike">
                <a:solidFill>
                  <a:srgbClr val="ffffff"/>
                </a:solidFill>
                <a:latin typeface="Lucida Sans Unicode"/>
              </a:rPr>
              <a:t>API</a:t>
            </a:r>
            <a:endParaRPr b="0" lang="fr-FR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9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244280" cy="1276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Processing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Request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to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the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82" strike="noStrike">
                <a:solidFill>
                  <a:srgbClr val="000000"/>
                </a:solidFill>
                <a:latin typeface="Tahoma"/>
              </a:rPr>
              <a:t>API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Server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Any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client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request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API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server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needs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pass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four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6" strike="noStrike">
                <a:solidFill>
                  <a:srgbClr val="666666"/>
                </a:solidFill>
                <a:latin typeface="Lucida Sans Unicode"/>
              </a:rPr>
              <a:t>phases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1370" name="object 3" descr=""/>
          <p:cNvPicPr/>
          <p:nvPr/>
        </p:nvPicPr>
        <p:blipFill>
          <a:blip r:embed="rId1"/>
          <a:stretch/>
        </p:blipFill>
        <p:spPr>
          <a:xfrm>
            <a:off x="825480" y="1683720"/>
            <a:ext cx="7402680" cy="2716200"/>
          </a:xfrm>
          <a:prstGeom prst="rect">
            <a:avLst/>
          </a:prstGeom>
          <a:ln w="0">
            <a:noFill/>
          </a:ln>
        </p:spPr>
      </p:pic>
      <p:sp>
        <p:nvSpPr>
          <p:cNvPr id="1371" name="object 4"/>
          <p:cNvSpPr/>
          <p:nvPr/>
        </p:nvSpPr>
        <p:spPr>
          <a:xfrm>
            <a:off x="8701560" y="4908600"/>
            <a:ext cx="2610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F1005E23-439E-4EB9-83B6-7F8E2705CF71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06428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82" strike="noStrike">
                <a:solidFill>
                  <a:srgbClr val="000000"/>
                </a:solidFill>
                <a:latin typeface="Tahoma"/>
              </a:rPr>
              <a:t>API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Request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Processing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6" strike="noStrike">
                <a:solidFill>
                  <a:srgbClr val="000000"/>
                </a:solidFill>
                <a:latin typeface="Tahoma"/>
              </a:rPr>
              <a:t>Phases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Every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request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5" strike="noStrike">
                <a:solidFill>
                  <a:srgbClr val="666666"/>
                </a:solidFill>
                <a:latin typeface="Lucida Sans Unicode"/>
              </a:rPr>
              <a:t>has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pass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those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6" strike="noStrike">
                <a:solidFill>
                  <a:srgbClr val="666666"/>
                </a:solidFill>
                <a:latin typeface="Lucida Sans Unicode"/>
              </a:rPr>
              <a:t>phases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following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order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373" name="object 4"/>
          <p:cNvSpPr/>
          <p:nvPr/>
        </p:nvSpPr>
        <p:spPr>
          <a:xfrm>
            <a:off x="8701560" y="4908600"/>
            <a:ext cx="2610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DD4DDF2C-8F11-4333-A0A5-9296468F6186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374" name="object 3"/>
          <p:cNvSpPr/>
          <p:nvPr/>
        </p:nvSpPr>
        <p:spPr>
          <a:xfrm>
            <a:off x="600120" y="1360440"/>
            <a:ext cx="8038440" cy="30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 algn="just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Arial MT"/>
              <a:buChar char="●"/>
              <a:tabLst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Authentication: </a:t>
            </a:r>
            <a:r>
              <a:rPr b="0" lang="fr-FR" sz="1600" spc="-21" strike="noStrike">
                <a:solidFill>
                  <a:srgbClr val="000000"/>
                </a:solidFill>
                <a:latin typeface="Arial MT"/>
                <a:ea typeface="DejaVu Sans"/>
              </a:rPr>
              <a:t>Validates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identity of 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caller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using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supported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authentication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strategy,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e.g.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client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certificates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bearer tokens.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 algn="just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Authorization: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Determines if the identity provided in the first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stage can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access the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verb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and HTTP</a:t>
            </a:r>
            <a:r>
              <a:rPr b="0" lang="fr-FR" sz="1600" spc="-4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path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request.</a:t>
            </a:r>
            <a:r>
              <a:rPr b="0" lang="fr-FR" sz="1600" spc="-4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This is usually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implemented with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RBAC.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 algn="just">
              <a:lnSpc>
                <a:spcPct val="113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Admission Controller: 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Verifies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if 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request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is well-formed and potentially needs to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modified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before 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request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is processed. Ensures that 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resource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included in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request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valid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(could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also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be implemented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as part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 admission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control).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964280" cy="1276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Authefitication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35" strike="noStrike">
                <a:solidFill>
                  <a:srgbClr val="000000"/>
                </a:solidFill>
                <a:latin typeface="Tahoma"/>
              </a:rPr>
              <a:t>via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9" strike="noStrike">
                <a:solidFill>
                  <a:srgbClr val="000000"/>
                </a:solidFill>
                <a:latin typeface="Tahoma"/>
              </a:rPr>
              <a:t>Credentials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in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" strike="noStrike">
                <a:solidFill>
                  <a:srgbClr val="000000"/>
                </a:solidFill>
                <a:latin typeface="Tahoma"/>
              </a:rPr>
              <a:t>Kubeconfig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kubeconfig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file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6" strike="noStrike">
                <a:solidFill>
                  <a:srgbClr val="666666"/>
                </a:solidFill>
                <a:latin typeface="Lucida Sans Unicode"/>
              </a:rPr>
              <a:t>at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$HOME/.kube/confi</a:t>
            </a:r>
            <a:r>
              <a:rPr b="0" lang="fr-FR" sz="1600" spc="-1" strike="noStrike">
                <a:solidFill>
                  <a:srgbClr val="666666"/>
                </a:solidFill>
                <a:latin typeface="Courier New"/>
              </a:rPr>
              <a:t>g</a:t>
            </a:r>
            <a:r>
              <a:rPr b="0" lang="fr-FR" sz="1600" spc="-806" strike="noStrike">
                <a:solidFill>
                  <a:srgbClr val="666666"/>
                </a:solidFill>
                <a:latin typeface="Courier New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is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evaluated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by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kubectl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376" name="object 24"/>
          <p:cNvSpPr/>
          <p:nvPr/>
        </p:nvSpPr>
        <p:spPr>
          <a:xfrm>
            <a:off x="8701560" y="4908600"/>
            <a:ext cx="2610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AA30DB10-9991-4809-AD23-3D101BD7C3CD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377" name="" descr=""/>
          <p:cNvPicPr/>
          <p:nvPr/>
        </p:nvPicPr>
        <p:blipFill>
          <a:blip r:embed="rId1"/>
          <a:stretch/>
        </p:blipFill>
        <p:spPr>
          <a:xfrm>
            <a:off x="494280" y="1164600"/>
            <a:ext cx="7562160" cy="3513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78428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21" strike="noStrike">
                <a:solidFill>
                  <a:srgbClr val="000000"/>
                </a:solidFill>
                <a:latin typeface="Tahoma"/>
              </a:rPr>
              <a:t>Managing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" strike="noStrike">
                <a:solidFill>
                  <a:srgbClr val="000000"/>
                </a:solidFill>
                <a:latin typeface="Tahoma"/>
              </a:rPr>
              <a:t>Kubeconfig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35" strike="noStrike">
                <a:solidFill>
                  <a:srgbClr val="000000"/>
                </a:solidFill>
                <a:latin typeface="Tahoma"/>
              </a:rPr>
              <a:t>and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Current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Context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Interaction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kubeconfi</a:t>
            </a:r>
            <a:r>
              <a:rPr b="0" lang="fr-FR" sz="1600" spc="-1" strike="noStrike">
                <a:solidFill>
                  <a:srgbClr val="666666"/>
                </a:solidFill>
                <a:latin typeface="Courier New"/>
              </a:rPr>
              <a:t>g</a:t>
            </a:r>
            <a:r>
              <a:rPr b="0" lang="fr-FR" sz="1600" spc="-687" strike="noStrike">
                <a:solidFill>
                  <a:srgbClr val="666666"/>
                </a:solidFill>
                <a:latin typeface="Courier New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configuration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379" name="object 3"/>
          <p:cNvGrpSpPr/>
          <p:nvPr/>
        </p:nvGrpSpPr>
        <p:grpSpPr>
          <a:xfrm>
            <a:off x="475920" y="1377000"/>
            <a:ext cx="4314600" cy="3486240"/>
            <a:chOff x="475920" y="1377000"/>
            <a:chExt cx="4314600" cy="3486240"/>
          </a:xfrm>
        </p:grpSpPr>
        <p:pic>
          <p:nvPicPr>
            <p:cNvPr id="1380" name="object 4" descr=""/>
            <p:cNvPicPr/>
            <p:nvPr/>
          </p:nvPicPr>
          <p:blipFill>
            <a:blip r:embed="rId1"/>
            <a:stretch/>
          </p:blipFill>
          <p:spPr>
            <a:xfrm>
              <a:off x="475920" y="1377000"/>
              <a:ext cx="4314600" cy="34862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381" name="object 5"/>
            <p:cNvSpPr/>
            <p:nvPr/>
          </p:nvSpPr>
          <p:spPr>
            <a:xfrm>
              <a:off x="529560" y="1425600"/>
              <a:ext cx="4200480" cy="3371760"/>
            </a:xfrm>
            <a:custGeom>
              <a:avLst/>
              <a:gdLst/>
              <a:ahLst/>
              <a:rect l="l" t="t" r="r" b="b"/>
              <a:pathLst>
                <a:path w="4203700" h="3375025">
                  <a:moveTo>
                    <a:pt x="4203599" y="3374999"/>
                  </a:moveTo>
                  <a:lnTo>
                    <a:pt x="0" y="3374999"/>
                  </a:lnTo>
                  <a:lnTo>
                    <a:pt x="0" y="0"/>
                  </a:lnTo>
                  <a:lnTo>
                    <a:pt x="4203599" y="0"/>
                  </a:lnTo>
                  <a:lnTo>
                    <a:pt x="4203599" y="33749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382" name="object 6"/>
          <p:cNvSpPr/>
          <p:nvPr/>
        </p:nvSpPr>
        <p:spPr>
          <a:xfrm>
            <a:off x="682920" y="1567800"/>
            <a:ext cx="3862800" cy="277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config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view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50"/>
              </a:lnSpc>
              <a:spcBef>
                <a:spcPts val="65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apiVersion:</a:t>
            </a:r>
            <a:r>
              <a:rPr b="0" lang="fr-FR" sz="1400" spc="-97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v1 </a:t>
            </a:r>
            <a:r>
              <a:rPr b="0" lang="fr-FR" sz="1400" spc="-8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kind:</a:t>
            </a:r>
            <a:r>
              <a:rPr b="0" lang="fr-FR" sz="14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Config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585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current-context:</a:t>
            </a:r>
            <a:r>
              <a:rPr b="0" lang="fr-FR" sz="14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bmuschko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31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spcBef>
                <a:spcPts val="6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config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current-context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bmuschko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31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config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use-context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johndoe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Switched</a:t>
            </a:r>
            <a:r>
              <a:rPr b="0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to</a:t>
            </a:r>
            <a:r>
              <a:rPr b="0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context</a:t>
            </a:r>
            <a:r>
              <a:rPr b="0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"johndoe".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34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config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current-context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johndoe</a:t>
            </a:r>
            <a:endParaRPr b="0" lang="fr-FR" sz="1400" spc="-1" strike="noStrike">
              <a:latin typeface="Arial"/>
            </a:endParaRPr>
          </a:p>
        </p:txBody>
      </p:sp>
      <p:grpSp>
        <p:nvGrpSpPr>
          <p:cNvPr id="1383" name="object 7"/>
          <p:cNvGrpSpPr/>
          <p:nvPr/>
        </p:nvGrpSpPr>
        <p:grpSpPr>
          <a:xfrm>
            <a:off x="3050280" y="1644840"/>
            <a:ext cx="2623320" cy="1959120"/>
            <a:chOff x="3050280" y="1644840"/>
            <a:chExt cx="2623320" cy="1959120"/>
          </a:xfrm>
        </p:grpSpPr>
        <p:sp>
          <p:nvSpPr>
            <p:cNvPr id="1384" name="object 8"/>
            <p:cNvSpPr/>
            <p:nvPr/>
          </p:nvSpPr>
          <p:spPr>
            <a:xfrm>
              <a:off x="3146400" y="1679400"/>
              <a:ext cx="2421360" cy="3240"/>
            </a:xfrm>
            <a:custGeom>
              <a:avLst/>
              <a:gdLst/>
              <a:ahLst/>
              <a:rect l="l" t="t" r="r" b="b"/>
              <a:pathLst>
                <a:path w="2424429" h="6350">
                  <a:moveTo>
                    <a:pt x="2424300" y="0"/>
                  </a:moveTo>
                  <a:lnTo>
                    <a:pt x="0" y="6302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385" name="object 9" descr=""/>
            <p:cNvPicPr/>
            <p:nvPr/>
          </p:nvPicPr>
          <p:blipFill>
            <a:blip r:embed="rId2"/>
            <a:stretch/>
          </p:blipFill>
          <p:spPr>
            <a:xfrm>
              <a:off x="3050280" y="1644840"/>
              <a:ext cx="102240" cy="788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386" name="object 10"/>
            <p:cNvSpPr/>
            <p:nvPr/>
          </p:nvSpPr>
          <p:spPr>
            <a:xfrm>
              <a:off x="4314600" y="2946240"/>
              <a:ext cx="1334880" cy="360"/>
            </a:xfrm>
            <a:custGeom>
              <a:avLst/>
              <a:gdLst/>
              <a:ahLst/>
              <a:rect l="l" t="t" r="r" b="b"/>
              <a:pathLst>
                <a:path w="1337945" h="0">
                  <a:moveTo>
                    <a:pt x="13376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387" name="object 11" descr=""/>
            <p:cNvPicPr/>
            <p:nvPr/>
          </p:nvPicPr>
          <p:blipFill>
            <a:blip r:embed="rId3"/>
            <a:stretch/>
          </p:blipFill>
          <p:spPr>
            <a:xfrm>
              <a:off x="4218480" y="2905200"/>
              <a:ext cx="102240" cy="788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388" name="object 12"/>
            <p:cNvSpPr/>
            <p:nvPr/>
          </p:nvSpPr>
          <p:spPr>
            <a:xfrm>
              <a:off x="4939560" y="3566160"/>
              <a:ext cx="734040" cy="360"/>
            </a:xfrm>
            <a:custGeom>
              <a:avLst/>
              <a:gdLst/>
              <a:ahLst/>
              <a:rect l="l" t="t" r="r" b="b"/>
              <a:pathLst>
                <a:path w="737235" h="0">
                  <a:moveTo>
                    <a:pt x="7367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389" name="object 13" descr=""/>
            <p:cNvPicPr/>
            <p:nvPr/>
          </p:nvPicPr>
          <p:blipFill>
            <a:blip r:embed="rId4"/>
            <a:stretch/>
          </p:blipFill>
          <p:spPr>
            <a:xfrm>
              <a:off x="4843440" y="3525120"/>
              <a:ext cx="102240" cy="788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390" name="object 14"/>
          <p:cNvSpPr/>
          <p:nvPr/>
        </p:nvSpPr>
        <p:spPr>
          <a:xfrm>
            <a:off x="5667840" y="1470960"/>
            <a:ext cx="225072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239400" indent="-227160">
              <a:lnSpc>
                <a:spcPts val="165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Renders</a:t>
            </a:r>
            <a:r>
              <a:rPr b="0" lang="fr-FR" sz="14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4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contents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of </a:t>
            </a:r>
            <a:r>
              <a:rPr b="0" lang="fr-FR" sz="1400" spc="-37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kubeconfig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file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391" name="object 16"/>
          <p:cNvSpPr/>
          <p:nvPr/>
        </p:nvSpPr>
        <p:spPr>
          <a:xfrm>
            <a:off x="8701560" y="4908600"/>
            <a:ext cx="2610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8B82DC97-A7E6-4184-B722-5C1AA20CAEDF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392" name="object 15"/>
          <p:cNvSpPr/>
          <p:nvPr/>
        </p:nvSpPr>
        <p:spPr>
          <a:xfrm>
            <a:off x="5755680" y="2611800"/>
            <a:ext cx="2522880" cy="12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2600" indent="596880">
              <a:lnSpc>
                <a:spcPts val="165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Shows the 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 currently-selected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context</a:t>
            </a:r>
            <a:endParaRPr b="0" lang="fr-FR" sz="1400" spc="-1" strike="noStrike">
              <a:latin typeface="Arial"/>
            </a:endParaRPr>
          </a:p>
          <a:p>
            <a:pPr marL="12600" indent="596880">
              <a:lnSpc>
                <a:spcPct val="100000"/>
              </a:lnSpc>
              <a:buNone/>
              <a:tabLst>
                <a:tab algn="l" pos="0"/>
              </a:tabLst>
            </a:pPr>
            <a:endParaRPr b="0" lang="fr-FR" sz="1500" spc="-1" strike="noStrike">
              <a:latin typeface="Arial"/>
            </a:endParaRPr>
          </a:p>
          <a:p>
            <a:pPr marL="58320" indent="74160">
              <a:lnSpc>
                <a:spcPts val="1650"/>
              </a:lnSpc>
              <a:spcBef>
                <a:spcPts val="955"/>
              </a:spcBef>
              <a:buNone/>
              <a:tabLst>
                <a:tab algn="l" pos="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Switches to the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context 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defined</a:t>
            </a:r>
            <a:r>
              <a:rPr b="0" lang="fr-FR" sz="14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in</a:t>
            </a:r>
            <a:r>
              <a:rPr b="0" lang="fr-FR" sz="14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kubeconfig</a:t>
            </a:r>
            <a:endParaRPr b="0" lang="fr-FR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3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06428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5" strike="noStrike">
                <a:solidFill>
                  <a:srgbClr val="000000"/>
                </a:solidFill>
                <a:latin typeface="Tahoma"/>
              </a:rPr>
              <a:t>What</a:t>
            </a:r>
            <a:r>
              <a:rPr b="1" lang="fr-FR" sz="2400" spc="-16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is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5" strike="noStrike">
                <a:solidFill>
                  <a:srgbClr val="000000"/>
                </a:solidFill>
                <a:latin typeface="Tahoma"/>
              </a:rPr>
              <a:t>RBAC?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Restricting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0" strike="noStrike">
                <a:solidFill>
                  <a:srgbClr val="666666"/>
                </a:solidFill>
                <a:latin typeface="Lucida Sans Unicode"/>
              </a:rPr>
              <a:t>access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control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clients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interacting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API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server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394" name="object 4"/>
          <p:cNvSpPr/>
          <p:nvPr/>
        </p:nvSpPr>
        <p:spPr>
          <a:xfrm>
            <a:off x="8701560" y="4908600"/>
            <a:ext cx="2610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C7FA1FF3-9CAB-43E5-B738-0D923F149924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395" name="object 3"/>
          <p:cNvSpPr/>
          <p:nvPr/>
        </p:nvSpPr>
        <p:spPr>
          <a:xfrm>
            <a:off x="600120" y="1360440"/>
            <a:ext cx="8038440" cy="223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Defines policies for users, groups, and processes by allowing or disallowing access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manage</a:t>
            </a:r>
            <a:r>
              <a:rPr b="0" lang="fr-FR" sz="1600" spc="-9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API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resources.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Enabling and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configuring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RBAC is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mandatory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for any organization with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strong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emphasis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on 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security.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Example: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“The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human user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John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is only allowed to list and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create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Pods and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Deployments,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but nothing else.”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6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80428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RBAC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High-Level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Overview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Three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key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elements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understanding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concept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1397" name="object 3" descr=""/>
          <p:cNvPicPr/>
          <p:nvPr/>
        </p:nvPicPr>
        <p:blipFill>
          <a:blip r:embed="rId1"/>
          <a:stretch/>
        </p:blipFill>
        <p:spPr>
          <a:xfrm>
            <a:off x="1019520" y="1821960"/>
            <a:ext cx="7014240" cy="2221200"/>
          </a:xfrm>
          <a:prstGeom prst="rect">
            <a:avLst/>
          </a:prstGeom>
          <a:ln w="0">
            <a:noFill/>
          </a:ln>
        </p:spPr>
      </p:pic>
      <p:sp>
        <p:nvSpPr>
          <p:cNvPr id="1398" name="object 4"/>
          <p:cNvSpPr/>
          <p:nvPr/>
        </p:nvSpPr>
        <p:spPr>
          <a:xfrm>
            <a:off x="8701560" y="4908600"/>
            <a:ext cx="2610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AA5D88DC-540C-4345-A4F2-2CC24F6CB284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9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24428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35" strike="noStrike">
                <a:solidFill>
                  <a:srgbClr val="000000"/>
                </a:solidFill>
                <a:latin typeface="Tahoma"/>
              </a:rPr>
              <a:t>Involved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RBAC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" strike="noStrike">
                <a:solidFill>
                  <a:srgbClr val="000000"/>
                </a:solidFill>
                <a:latin typeface="Tahoma"/>
              </a:rPr>
              <a:t>Primitives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Restrict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0" strike="noStrike">
                <a:solidFill>
                  <a:srgbClr val="666666"/>
                </a:solidFill>
                <a:latin typeface="Lucida Sans Unicode"/>
              </a:rPr>
              <a:t>access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certain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operations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API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resources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subjects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1400" name="object 3" descr=""/>
          <p:cNvPicPr/>
          <p:nvPr/>
        </p:nvPicPr>
        <p:blipFill>
          <a:blip r:embed="rId1"/>
          <a:stretch/>
        </p:blipFill>
        <p:spPr>
          <a:xfrm>
            <a:off x="843840" y="1718640"/>
            <a:ext cx="7365960" cy="2457000"/>
          </a:xfrm>
          <a:prstGeom prst="rect">
            <a:avLst/>
          </a:prstGeom>
          <a:ln w="0">
            <a:noFill/>
          </a:ln>
        </p:spPr>
      </p:pic>
      <p:sp>
        <p:nvSpPr>
          <p:cNvPr id="1401" name="object 4"/>
          <p:cNvSpPr/>
          <p:nvPr/>
        </p:nvSpPr>
        <p:spPr>
          <a:xfrm>
            <a:off x="8701560" y="4908600"/>
            <a:ext cx="2610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530E5EE1-5E53-4735-AA18-5D2D6F905E30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60428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86" strike="noStrike">
                <a:solidFill>
                  <a:srgbClr val="000000"/>
                </a:solidFill>
                <a:latin typeface="Tahoma"/>
              </a:rPr>
              <a:t>Namespace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35" strike="noStrike">
                <a:solidFill>
                  <a:srgbClr val="000000"/>
                </a:solidFill>
                <a:latin typeface="Tahoma"/>
              </a:rPr>
              <a:t>and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9" strike="noStrike">
                <a:solidFill>
                  <a:srgbClr val="000000"/>
                </a:solidFill>
                <a:latin typeface="Tahoma"/>
              </a:rPr>
              <a:t>Cluster-Wide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Permissions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Defining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permission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scopes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403" name="object 4"/>
          <p:cNvSpPr/>
          <p:nvPr/>
        </p:nvSpPr>
        <p:spPr>
          <a:xfrm>
            <a:off x="8701560" y="4908600"/>
            <a:ext cx="2610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1B16A013-EC58-472D-BCC0-C8BAB59254C2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404" name="object 3"/>
          <p:cNvSpPr/>
          <p:nvPr/>
        </p:nvSpPr>
        <p:spPr>
          <a:xfrm>
            <a:off x="600120" y="1392840"/>
            <a:ext cx="8038440" cy="220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00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Role</a:t>
            </a:r>
            <a:r>
              <a:rPr b="0" i="1" lang="fr-FR" sz="1600" spc="-12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maps</a:t>
            </a:r>
            <a:r>
              <a:rPr b="0" lang="fr-FR" sz="1600" spc="-9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API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resources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verbs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single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namespace.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</a:t>
            </a: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RoleBinding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maps a reference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Role to one or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many subjects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for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single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namespace.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92" strike="noStrike">
                <a:solidFill>
                  <a:srgbClr val="000000"/>
                </a:solidFill>
                <a:latin typeface="Arial MT"/>
                <a:ea typeface="DejaVu Sans"/>
              </a:rPr>
              <a:t>To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apply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permissions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across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all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namespaces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cluster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cluster-wide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resources,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use 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corresponding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API primitives </a:t>
            </a: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ClusterRole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and </a:t>
            </a: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ClusterRoleBinding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. 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configuration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options of 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manifests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are 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same.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78428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9" strike="noStrike">
                <a:solidFill>
                  <a:srgbClr val="000000"/>
                </a:solidFill>
                <a:latin typeface="Tahoma"/>
              </a:rPr>
              <a:t>Creating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Role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52" strike="noStrike">
                <a:solidFill>
                  <a:srgbClr val="000000"/>
                </a:solidFill>
                <a:latin typeface="Tahoma"/>
              </a:rPr>
              <a:t>with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Imperative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60" strike="noStrike">
                <a:solidFill>
                  <a:srgbClr val="000000"/>
                </a:solidFill>
                <a:latin typeface="Tahoma"/>
              </a:rPr>
              <a:t>Approach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Defines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verbs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resources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0" strike="noStrike">
                <a:solidFill>
                  <a:srgbClr val="666666"/>
                </a:solidFill>
                <a:latin typeface="Lucida Sans Unicode"/>
              </a:rPr>
              <a:t>comma-separated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5" strike="noStrike">
                <a:solidFill>
                  <a:srgbClr val="666666"/>
                </a:solidFill>
                <a:latin typeface="Lucida Sans Unicode"/>
              </a:rPr>
              <a:t>list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406" name="object 3"/>
          <p:cNvGrpSpPr/>
          <p:nvPr/>
        </p:nvGrpSpPr>
        <p:grpSpPr>
          <a:xfrm>
            <a:off x="475920" y="1377000"/>
            <a:ext cx="6378840" cy="1148400"/>
            <a:chOff x="475920" y="1377000"/>
            <a:chExt cx="6378840" cy="1148400"/>
          </a:xfrm>
        </p:grpSpPr>
        <p:pic>
          <p:nvPicPr>
            <p:cNvPr id="1407" name="object 4" descr=""/>
            <p:cNvPicPr/>
            <p:nvPr/>
          </p:nvPicPr>
          <p:blipFill>
            <a:blip r:embed="rId1"/>
            <a:stretch/>
          </p:blipFill>
          <p:spPr>
            <a:xfrm>
              <a:off x="475920" y="1377000"/>
              <a:ext cx="6378840" cy="11484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408" name="object 5"/>
            <p:cNvSpPr/>
            <p:nvPr/>
          </p:nvSpPr>
          <p:spPr>
            <a:xfrm>
              <a:off x="529560" y="1425600"/>
              <a:ext cx="6264720" cy="1034280"/>
            </a:xfrm>
            <a:custGeom>
              <a:avLst/>
              <a:gdLst/>
              <a:ahLst/>
              <a:rect l="l" t="t" r="r" b="b"/>
              <a:pathLst>
                <a:path w="6268084" h="1037589">
                  <a:moveTo>
                    <a:pt x="6267599" y="1037399"/>
                  </a:moveTo>
                  <a:lnTo>
                    <a:pt x="0" y="1037399"/>
                  </a:lnTo>
                  <a:lnTo>
                    <a:pt x="0" y="0"/>
                  </a:lnTo>
                  <a:lnTo>
                    <a:pt x="6267599" y="0"/>
                  </a:lnTo>
                  <a:lnTo>
                    <a:pt x="6267599" y="10373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409" name="object 6"/>
          <p:cNvSpPr/>
          <p:nvPr/>
        </p:nvSpPr>
        <p:spPr>
          <a:xfrm>
            <a:off x="682920" y="1567080"/>
            <a:ext cx="5975640" cy="66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role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read-only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--verb=list,get,watch</a:t>
            </a:r>
            <a:r>
              <a:rPr b="1" lang="fr-FR" sz="14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500" spc="-1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500" spc="-1" strike="noStrike">
              <a:latin typeface="Arial"/>
            </a:endParaRPr>
          </a:p>
          <a:p>
            <a:pPr marL="226080">
              <a:lnSpc>
                <a:spcPts val="1664"/>
              </a:lnSpc>
              <a:spcBef>
                <a:spcPts val="6"/>
              </a:spcBef>
              <a:buNone/>
            </a:pP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--resource=pods,deployments,services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role.rbac.authorization.k8s.io/read-only</a:t>
            </a:r>
            <a:r>
              <a:rPr b="0" lang="fr-FR" sz="14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400" spc="-1" strike="noStrike">
              <a:latin typeface="Arial"/>
            </a:endParaRPr>
          </a:p>
        </p:txBody>
      </p:sp>
      <p:grpSp>
        <p:nvGrpSpPr>
          <p:cNvPr id="1410" name="object 7"/>
          <p:cNvGrpSpPr/>
          <p:nvPr/>
        </p:nvGrpSpPr>
        <p:grpSpPr>
          <a:xfrm>
            <a:off x="894600" y="1609200"/>
            <a:ext cx="5343840" cy="1321560"/>
            <a:chOff x="894600" y="1609200"/>
            <a:chExt cx="5343840" cy="1321560"/>
          </a:xfrm>
        </p:grpSpPr>
        <p:sp>
          <p:nvSpPr>
            <p:cNvPr id="1411" name="object 8"/>
            <p:cNvSpPr/>
            <p:nvPr/>
          </p:nvSpPr>
          <p:spPr>
            <a:xfrm>
              <a:off x="6200640" y="2010600"/>
              <a:ext cx="360" cy="920160"/>
            </a:xfrm>
            <a:custGeom>
              <a:avLst/>
              <a:gdLst/>
              <a:ahLst/>
              <a:rect l="l" t="t" r="r" b="b"/>
              <a:pathLst>
                <a:path w="1904" h="923289">
                  <a:moveTo>
                    <a:pt x="1601" y="92310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412" name="object 9" descr=""/>
            <p:cNvPicPr/>
            <p:nvPr/>
          </p:nvPicPr>
          <p:blipFill>
            <a:blip r:embed="rId2"/>
            <a:stretch/>
          </p:blipFill>
          <p:spPr>
            <a:xfrm>
              <a:off x="6159600" y="1914480"/>
              <a:ext cx="78840" cy="1022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413" name="object 10"/>
            <p:cNvSpPr/>
            <p:nvPr/>
          </p:nvSpPr>
          <p:spPr>
            <a:xfrm>
              <a:off x="1591200" y="2194920"/>
              <a:ext cx="360" cy="735840"/>
            </a:xfrm>
            <a:custGeom>
              <a:avLst/>
              <a:gdLst/>
              <a:ahLst/>
              <a:rect l="l" t="t" r="r" b="b"/>
              <a:pathLst>
                <a:path w="2540" h="739139">
                  <a:moveTo>
                    <a:pt x="2078" y="73860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414" name="object 11" descr=""/>
            <p:cNvPicPr/>
            <p:nvPr/>
          </p:nvPicPr>
          <p:blipFill>
            <a:blip r:embed="rId3"/>
            <a:stretch/>
          </p:blipFill>
          <p:spPr>
            <a:xfrm>
              <a:off x="1550160" y="2099160"/>
              <a:ext cx="78840" cy="1022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415" name="object 12"/>
            <p:cNvSpPr/>
            <p:nvPr/>
          </p:nvSpPr>
          <p:spPr>
            <a:xfrm>
              <a:off x="894600" y="1609200"/>
              <a:ext cx="3992040" cy="431280"/>
            </a:xfrm>
            <a:custGeom>
              <a:avLst/>
              <a:gdLst/>
              <a:ahLst/>
              <a:rect l="l" t="t" r="r" b="b"/>
              <a:pathLst>
                <a:path w="3995420" h="434339">
                  <a:moveTo>
                    <a:pt x="0" y="221061"/>
                  </a:moveTo>
                  <a:lnTo>
                    <a:pt x="1226700" y="221061"/>
                  </a:lnTo>
                  <a:lnTo>
                    <a:pt x="1226700" y="434061"/>
                  </a:lnTo>
                  <a:lnTo>
                    <a:pt x="0" y="434061"/>
                  </a:lnTo>
                  <a:lnTo>
                    <a:pt x="0" y="221061"/>
                  </a:lnTo>
                  <a:close/>
                </a:path>
                <a:path w="3995420" h="434339">
                  <a:moveTo>
                    <a:pt x="3215913" y="0"/>
                  </a:moveTo>
                  <a:lnTo>
                    <a:pt x="3995013" y="0"/>
                  </a:lnTo>
                  <a:lnTo>
                    <a:pt x="3995013" y="212999"/>
                  </a:lnTo>
                  <a:lnTo>
                    <a:pt x="3215913" y="212999"/>
                  </a:lnTo>
                  <a:lnTo>
                    <a:pt x="3215913" y="0"/>
                  </a:lnTo>
                  <a:close/>
                </a:path>
              </a:pathLst>
            </a:custGeom>
            <a:noFill/>
            <a:ln w="19049">
              <a:solidFill>
                <a:srgbClr val="ff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416" name="object 13"/>
          <p:cNvSpPr/>
          <p:nvPr/>
        </p:nvSpPr>
        <p:spPr>
          <a:xfrm>
            <a:off x="5019120" y="2999520"/>
            <a:ext cx="271944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516240" indent="-503640">
              <a:lnSpc>
                <a:spcPts val="165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0" i="1" lang="fr-FR" sz="1400" spc="-7" strike="noStrike">
                <a:solidFill>
                  <a:srgbClr val="000000"/>
                </a:solidFill>
                <a:latin typeface="Arial"/>
                <a:ea typeface="DejaVu Sans"/>
              </a:rPr>
              <a:t>Operations: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Only allow listing, </a:t>
            </a:r>
            <a:r>
              <a:rPr b="0" lang="fr-FR" sz="1400" spc="-37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getting,</a:t>
            </a:r>
            <a:r>
              <a:rPr b="0" lang="fr-FR" sz="14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watching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417" name="object 15"/>
          <p:cNvSpPr/>
          <p:nvPr/>
        </p:nvSpPr>
        <p:spPr>
          <a:xfrm>
            <a:off x="8701560" y="4908600"/>
            <a:ext cx="2610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8DBE5CF7-11E1-444D-B7EB-2D3D12440D83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418" name="object 14"/>
          <p:cNvSpPr/>
          <p:nvPr/>
        </p:nvSpPr>
        <p:spPr>
          <a:xfrm>
            <a:off x="543240" y="2999520"/>
            <a:ext cx="251532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2600" indent="29880">
              <a:lnSpc>
                <a:spcPts val="165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0" i="1" lang="fr-FR" sz="1400" spc="-7" strike="noStrike">
                <a:solidFill>
                  <a:srgbClr val="000000"/>
                </a:solidFill>
                <a:latin typeface="Arial"/>
                <a:ea typeface="DejaVu Sans"/>
              </a:rPr>
              <a:t>Resources: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Primitives the </a:t>
            </a:r>
            <a:r>
              <a:rPr b="0" lang="fr-FR" sz="1400" spc="-37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operations</a:t>
            </a:r>
            <a:r>
              <a:rPr b="0" lang="fr-FR" sz="14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should</a:t>
            </a:r>
            <a:r>
              <a:rPr b="0" lang="fr-FR" sz="14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apply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to</a:t>
            </a:r>
            <a:endParaRPr b="0" lang="fr-FR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9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472428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Role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YAML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Manifest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89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define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5" strike="noStrike">
                <a:solidFill>
                  <a:srgbClr val="666666"/>
                </a:solidFill>
                <a:latin typeface="Lucida Sans Unicode"/>
              </a:rPr>
              <a:t>list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rules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6" strike="noStrike">
                <a:solidFill>
                  <a:srgbClr val="666666"/>
                </a:solidFill>
                <a:latin typeface="Lucida Sans Unicode"/>
              </a:rPr>
              <a:t>an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array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420" name="object 3"/>
          <p:cNvGrpSpPr/>
          <p:nvPr/>
        </p:nvGrpSpPr>
        <p:grpSpPr>
          <a:xfrm>
            <a:off x="474120" y="1375560"/>
            <a:ext cx="4503240" cy="2655720"/>
            <a:chOff x="474120" y="1375560"/>
            <a:chExt cx="4503240" cy="2655720"/>
          </a:xfrm>
        </p:grpSpPr>
        <p:pic>
          <p:nvPicPr>
            <p:cNvPr id="1421" name="object 4" descr=""/>
            <p:cNvPicPr/>
            <p:nvPr/>
          </p:nvPicPr>
          <p:blipFill>
            <a:blip r:embed="rId1"/>
            <a:stretch/>
          </p:blipFill>
          <p:spPr>
            <a:xfrm>
              <a:off x="474120" y="1375560"/>
              <a:ext cx="4503240" cy="265572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422" name="object 5"/>
            <p:cNvSpPr/>
            <p:nvPr/>
          </p:nvSpPr>
          <p:spPr>
            <a:xfrm>
              <a:off x="527400" y="1424160"/>
              <a:ext cx="4389120" cy="2541960"/>
            </a:xfrm>
            <a:custGeom>
              <a:avLst/>
              <a:gdLst/>
              <a:ahLst/>
              <a:rect l="l" t="t" r="r" b="b"/>
              <a:pathLst>
                <a:path w="4392295" h="2545079">
                  <a:moveTo>
                    <a:pt x="4392299" y="2544599"/>
                  </a:moveTo>
                  <a:lnTo>
                    <a:pt x="0" y="2544599"/>
                  </a:lnTo>
                  <a:lnTo>
                    <a:pt x="0" y="0"/>
                  </a:lnTo>
                  <a:lnTo>
                    <a:pt x="4392299" y="0"/>
                  </a:lnTo>
                  <a:lnTo>
                    <a:pt x="4392299" y="25445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423" name="object 6"/>
          <p:cNvSpPr/>
          <p:nvPr/>
        </p:nvSpPr>
        <p:spPr>
          <a:xfrm>
            <a:off x="527400" y="1424160"/>
            <a:ext cx="4389120" cy="23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50480" bIns="0" anchor="t">
            <a:spAutoFit/>
          </a:bodyPr>
          <a:p>
            <a:pPr marL="208440">
              <a:lnSpc>
                <a:spcPct val="100000"/>
              </a:lnSpc>
              <a:spcBef>
                <a:spcPts val="1185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apiVersion: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rbac.authorization.k8s.io/v1</a:t>
            </a:r>
            <a:endParaRPr b="0" lang="fr-FR" sz="1300" spc="-1" strike="noStrike">
              <a:latin typeface="Arial"/>
            </a:endParaRPr>
          </a:p>
          <a:p>
            <a:pPr marL="20844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Role</a:t>
            </a:r>
            <a:endParaRPr b="0" lang="fr-FR" sz="1300" spc="-1" strike="noStrike">
              <a:latin typeface="Arial"/>
            </a:endParaRPr>
          </a:p>
          <a:p>
            <a:pPr marL="20844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metadata:</a:t>
            </a:r>
            <a:endParaRPr b="0" lang="fr-FR" sz="1300" spc="-1" strike="noStrike">
              <a:latin typeface="Arial"/>
            </a:endParaRPr>
          </a:p>
          <a:p>
            <a:pPr marL="40248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read-only</a:t>
            </a:r>
            <a:endParaRPr b="0" lang="fr-FR" sz="1300" spc="-1" strike="noStrike">
              <a:latin typeface="Arial"/>
            </a:endParaRPr>
          </a:p>
          <a:p>
            <a:pPr marL="20844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rules:</a:t>
            </a:r>
            <a:endParaRPr b="0" lang="fr-FR" sz="1300" spc="-1" strike="noStrike">
              <a:latin typeface="Arial"/>
            </a:endParaRPr>
          </a:p>
          <a:p>
            <a:pPr marL="402480" indent="-195120">
              <a:lnSpc>
                <a:spcPct val="100000"/>
              </a:lnSpc>
              <a:spcBef>
                <a:spcPts val="14"/>
              </a:spcBef>
              <a:buClr>
                <a:srgbClr val="000000"/>
              </a:buClr>
              <a:buFont typeface="Courier New"/>
              <a:buChar char="-"/>
              <a:tabLst>
                <a:tab algn="l" pos="40320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apiGroups: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[</a:t>
            </a:r>
            <a:r>
              <a:rPr b="1" lang="fr-FR" sz="1300" spc="-12" strike="noStrike">
                <a:solidFill>
                  <a:srgbClr val="d15e35"/>
                </a:solidFill>
                <a:latin typeface="Courier New"/>
                <a:ea typeface="DejaVu Sans"/>
              </a:rPr>
              <a:t>""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]</a:t>
            </a:r>
            <a:endParaRPr b="0" lang="fr-FR" sz="1300" spc="-1" strike="noStrike">
              <a:latin typeface="Arial"/>
            </a:endParaRPr>
          </a:p>
          <a:p>
            <a:pPr marL="402480">
              <a:lnSpc>
                <a:spcPct val="101000"/>
              </a:lnSpc>
              <a:buNone/>
              <a:tabLst>
                <a:tab algn="l" pos="40320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resources: 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[</a:t>
            </a:r>
            <a:r>
              <a:rPr b="1" lang="fr-FR" sz="1300" spc="-12" strike="noStrike">
                <a:solidFill>
                  <a:srgbClr val="d15e35"/>
                </a:solidFill>
                <a:latin typeface="Courier New"/>
                <a:ea typeface="DejaVu Sans"/>
              </a:rPr>
              <a:t>"pods"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, </a:t>
            </a:r>
            <a:r>
              <a:rPr b="1" lang="fr-FR" sz="1300" spc="-7" strike="noStrike">
                <a:solidFill>
                  <a:srgbClr val="d15e35"/>
                </a:solidFill>
                <a:latin typeface="Courier New"/>
                <a:ea typeface="DejaVu Sans"/>
              </a:rPr>
              <a:t>"services"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] </a:t>
            </a:r>
            <a:r>
              <a:rPr b="0" lang="fr-FR" sz="1300" spc="-7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300" spc="-1" strike="noStrike">
              <a:latin typeface="Arial"/>
            </a:endParaRPr>
          </a:p>
          <a:p>
            <a:pPr marL="402480">
              <a:lnSpc>
                <a:spcPct val="101000"/>
              </a:lnSpc>
              <a:buNone/>
              <a:tabLst>
                <a:tab algn="l" pos="40320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verbs:</a:t>
            </a:r>
            <a:r>
              <a:rPr b="1" lang="fr-FR" sz="1300" spc="-3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[</a:t>
            </a:r>
            <a:r>
              <a:rPr b="1" lang="fr-FR" sz="1300" spc="-12" strike="noStrike">
                <a:solidFill>
                  <a:srgbClr val="d15e35"/>
                </a:solidFill>
                <a:latin typeface="Courier New"/>
                <a:ea typeface="DejaVu Sans"/>
              </a:rPr>
              <a:t>"list"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,</a:t>
            </a:r>
            <a:r>
              <a:rPr b="0" lang="fr-FR" sz="1300" spc="-5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d15e35"/>
                </a:solidFill>
                <a:latin typeface="Courier New"/>
                <a:ea typeface="DejaVu Sans"/>
              </a:rPr>
              <a:t>"get"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,</a:t>
            </a:r>
            <a:r>
              <a:rPr b="0" lang="fr-FR" sz="1300" spc="-5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d15e35"/>
                </a:solidFill>
                <a:latin typeface="Courier New"/>
                <a:ea typeface="DejaVu Sans"/>
              </a:rPr>
              <a:t>"watch"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]</a:t>
            </a:r>
            <a:endParaRPr b="0" lang="fr-FR" sz="1300" spc="-1" strike="noStrike">
              <a:latin typeface="Arial"/>
            </a:endParaRPr>
          </a:p>
          <a:p>
            <a:pPr marL="402480" indent="-195120">
              <a:lnSpc>
                <a:spcPct val="100000"/>
              </a:lnSpc>
              <a:spcBef>
                <a:spcPts val="14"/>
              </a:spcBef>
              <a:buClr>
                <a:srgbClr val="000000"/>
              </a:buClr>
              <a:buFont typeface="Courier New"/>
              <a:buChar char="-"/>
              <a:tabLst>
                <a:tab algn="l" pos="40320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apiGroups:</a:t>
            </a:r>
            <a:r>
              <a:rPr b="1" lang="fr-FR" sz="1300" spc="-55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[</a:t>
            </a:r>
            <a:r>
              <a:rPr b="1" lang="fr-FR" sz="1300" spc="-12" strike="noStrike">
                <a:solidFill>
                  <a:srgbClr val="d15e35"/>
                </a:solidFill>
                <a:latin typeface="Courier New"/>
                <a:ea typeface="DejaVu Sans"/>
              </a:rPr>
              <a:t>"apps"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]</a:t>
            </a:r>
            <a:endParaRPr b="0" lang="fr-FR" sz="1300" spc="-1" strike="noStrike">
              <a:latin typeface="Arial"/>
            </a:endParaRPr>
          </a:p>
          <a:p>
            <a:pPr marL="402480">
              <a:lnSpc>
                <a:spcPct val="100000"/>
              </a:lnSpc>
              <a:spcBef>
                <a:spcPts val="14"/>
              </a:spcBef>
              <a:buNone/>
              <a:tabLst>
                <a:tab algn="l" pos="40320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resources:</a:t>
            </a:r>
            <a:r>
              <a:rPr b="1" lang="fr-FR" sz="1300" spc="-35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[</a:t>
            </a:r>
            <a:r>
              <a:rPr b="1" lang="fr-FR" sz="1300" spc="-12" strike="noStrike">
                <a:solidFill>
                  <a:srgbClr val="d15e35"/>
                </a:solidFill>
                <a:latin typeface="Courier New"/>
                <a:ea typeface="DejaVu Sans"/>
              </a:rPr>
              <a:t>"deployments"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]</a:t>
            </a:r>
            <a:endParaRPr b="0" lang="fr-FR" sz="1300" spc="-1" strike="noStrike">
              <a:latin typeface="Arial"/>
            </a:endParaRPr>
          </a:p>
          <a:p>
            <a:pPr marL="402480">
              <a:lnSpc>
                <a:spcPct val="100000"/>
              </a:lnSpc>
              <a:spcBef>
                <a:spcPts val="14"/>
              </a:spcBef>
              <a:buNone/>
              <a:tabLst>
                <a:tab algn="l" pos="403200"/>
              </a:tabLst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verbs:</a:t>
            </a:r>
            <a:r>
              <a:rPr b="1" lang="fr-FR" sz="1300" spc="-2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[</a:t>
            </a:r>
            <a:r>
              <a:rPr b="1" lang="fr-FR" sz="1300" spc="-12" strike="noStrike">
                <a:solidFill>
                  <a:srgbClr val="d15e35"/>
                </a:solidFill>
                <a:latin typeface="Courier New"/>
                <a:ea typeface="DejaVu Sans"/>
              </a:rPr>
              <a:t>"list"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,</a:t>
            </a:r>
            <a:r>
              <a:rPr b="0" lang="fr-FR" sz="1300" spc="-5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d15e35"/>
                </a:solidFill>
                <a:latin typeface="Courier New"/>
                <a:ea typeface="DejaVu Sans"/>
              </a:rPr>
              <a:t>"get"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,</a:t>
            </a:r>
            <a:r>
              <a:rPr b="0" lang="fr-FR" sz="13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d15e35"/>
                </a:solidFill>
                <a:latin typeface="Courier New"/>
                <a:ea typeface="DejaVu Sans"/>
              </a:rPr>
              <a:t>"watch"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]</a:t>
            </a:r>
            <a:endParaRPr b="0" lang="fr-FR" sz="1300" spc="-1" strike="noStrike">
              <a:latin typeface="Arial"/>
            </a:endParaRPr>
          </a:p>
        </p:txBody>
      </p:sp>
      <p:grpSp>
        <p:nvGrpSpPr>
          <p:cNvPr id="1424" name="object 7"/>
          <p:cNvGrpSpPr/>
          <p:nvPr/>
        </p:nvGrpSpPr>
        <p:grpSpPr>
          <a:xfrm>
            <a:off x="2988360" y="3256920"/>
            <a:ext cx="2458080" cy="78840"/>
            <a:chOff x="2988360" y="3256920"/>
            <a:chExt cx="2458080" cy="78840"/>
          </a:xfrm>
        </p:grpSpPr>
        <p:sp>
          <p:nvSpPr>
            <p:cNvPr id="1425" name="object 8"/>
            <p:cNvSpPr/>
            <p:nvPr/>
          </p:nvSpPr>
          <p:spPr>
            <a:xfrm>
              <a:off x="3084480" y="3297600"/>
              <a:ext cx="2361960" cy="360"/>
            </a:xfrm>
            <a:custGeom>
              <a:avLst/>
              <a:gdLst/>
              <a:ahLst/>
              <a:rect l="l" t="t" r="r" b="b"/>
              <a:pathLst>
                <a:path w="2365375" h="0">
                  <a:moveTo>
                    <a:pt x="23651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426" name="object 9" descr=""/>
            <p:cNvPicPr/>
            <p:nvPr/>
          </p:nvPicPr>
          <p:blipFill>
            <a:blip r:embed="rId2"/>
            <a:stretch/>
          </p:blipFill>
          <p:spPr>
            <a:xfrm>
              <a:off x="2988360" y="3256920"/>
              <a:ext cx="102240" cy="788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427" name="object 10"/>
          <p:cNvSpPr/>
          <p:nvPr/>
        </p:nvSpPr>
        <p:spPr>
          <a:xfrm>
            <a:off x="5541480" y="2952720"/>
            <a:ext cx="2737080" cy="65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2600" indent="93240" algn="just">
              <a:lnSpc>
                <a:spcPts val="165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Resources with groups need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to be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spelled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out explicitly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(in 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thi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s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case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apps/Deploymen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t</a:t>
            </a:r>
            <a:r>
              <a:rPr b="0" lang="fr-FR" sz="1400" spc="-61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)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428" name="object 11"/>
          <p:cNvSpPr/>
          <p:nvPr/>
        </p:nvSpPr>
        <p:spPr>
          <a:xfrm>
            <a:off x="8701560" y="4908600"/>
            <a:ext cx="2610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716D5D93-1419-4B99-BDD5-C210E7A46559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9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44428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7" strike="noStrike">
                <a:solidFill>
                  <a:srgbClr val="000000"/>
                </a:solidFill>
                <a:latin typeface="Tahoma"/>
              </a:rPr>
              <a:t>Getting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Role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Details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46" strike="noStrike">
                <a:solidFill>
                  <a:srgbClr val="666666"/>
                </a:solidFill>
                <a:latin typeface="Lucida Sans Unicode"/>
              </a:rPr>
              <a:t>Maps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objects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Kubernetes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primitive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verbs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430" name="object 3"/>
          <p:cNvGrpSpPr/>
          <p:nvPr/>
        </p:nvGrpSpPr>
        <p:grpSpPr>
          <a:xfrm>
            <a:off x="470520" y="1375560"/>
            <a:ext cx="7501680" cy="2512080"/>
            <a:chOff x="470520" y="1375560"/>
            <a:chExt cx="7501680" cy="2512080"/>
          </a:xfrm>
        </p:grpSpPr>
        <p:pic>
          <p:nvPicPr>
            <p:cNvPr id="1431" name="object 4" descr=""/>
            <p:cNvPicPr/>
            <p:nvPr/>
          </p:nvPicPr>
          <p:blipFill>
            <a:blip r:embed="rId1"/>
            <a:stretch/>
          </p:blipFill>
          <p:spPr>
            <a:xfrm>
              <a:off x="470520" y="1375560"/>
              <a:ext cx="7501680" cy="25120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432" name="object 5"/>
            <p:cNvSpPr/>
            <p:nvPr/>
          </p:nvSpPr>
          <p:spPr>
            <a:xfrm>
              <a:off x="523800" y="1424160"/>
              <a:ext cx="7387560" cy="2397600"/>
            </a:xfrm>
            <a:custGeom>
              <a:avLst/>
              <a:gdLst/>
              <a:ahLst/>
              <a:rect l="l" t="t" r="r" b="b"/>
              <a:pathLst>
                <a:path w="7390765" h="2400935">
                  <a:moveTo>
                    <a:pt x="7390500" y="2400899"/>
                  </a:moveTo>
                  <a:lnTo>
                    <a:pt x="0" y="2400899"/>
                  </a:lnTo>
                  <a:lnTo>
                    <a:pt x="0" y="0"/>
                  </a:lnTo>
                  <a:lnTo>
                    <a:pt x="7390500" y="0"/>
                  </a:lnTo>
                  <a:lnTo>
                    <a:pt x="7390500" y="24008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433" name="object 6"/>
          <p:cNvSpPr/>
          <p:nvPr/>
        </p:nvSpPr>
        <p:spPr>
          <a:xfrm>
            <a:off x="699840" y="1562040"/>
            <a:ext cx="327852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3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describe</a:t>
            </a:r>
            <a:r>
              <a:rPr b="1" lang="fr-FR" sz="13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role</a:t>
            </a:r>
            <a:r>
              <a:rPr b="1" lang="fr-FR" sz="13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read-only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434" name="object 7"/>
          <p:cNvSpPr/>
          <p:nvPr/>
        </p:nvSpPr>
        <p:spPr>
          <a:xfrm>
            <a:off x="2086560" y="1762200"/>
            <a:ext cx="901800" cy="60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read-only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&lt;none&gt;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&lt;none&gt;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435" name="object 8"/>
          <p:cNvSpPr/>
          <p:nvPr/>
        </p:nvSpPr>
        <p:spPr>
          <a:xfrm>
            <a:off x="699840" y="1762200"/>
            <a:ext cx="1198080" cy="100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800" bIns="0" anchor="t">
            <a:spAutoFit/>
          </a:bodyPr>
          <a:p>
            <a:pPr>
              <a:lnSpc>
                <a:spcPct val="101000"/>
              </a:lnSpc>
              <a:spcBef>
                <a:spcPts val="85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Name: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Labels: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Annotations: PolicyRule:</a:t>
            </a:r>
            <a:endParaRPr b="0" lang="fr-FR" sz="1300" spc="-1" strike="noStrike">
              <a:latin typeface="Arial"/>
            </a:endParaRPr>
          </a:p>
          <a:p>
            <a:pPr marL="1980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Resources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436" name="object 9"/>
          <p:cNvSpPr/>
          <p:nvPr/>
        </p:nvSpPr>
        <p:spPr>
          <a:xfrm>
            <a:off x="2680920" y="2562120"/>
            <a:ext cx="397188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  <a:tabLst>
                <a:tab algn="l" pos="1881360"/>
                <a:tab algn="l" pos="346644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Non-Resourc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e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 URL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s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Resourc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e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 Name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s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Verbs</a:t>
            </a:r>
            <a:endParaRPr b="0" lang="fr-FR" sz="1300" spc="-1" strike="noStrike">
              <a:latin typeface="Arial"/>
            </a:endParaRPr>
          </a:p>
        </p:txBody>
      </p:sp>
      <p:grpSp>
        <p:nvGrpSpPr>
          <p:cNvPr id="1437" name="object 10"/>
          <p:cNvGrpSpPr/>
          <p:nvPr/>
        </p:nvGrpSpPr>
        <p:grpSpPr>
          <a:xfrm>
            <a:off x="898200" y="2893320"/>
            <a:ext cx="5741640" cy="360"/>
            <a:chOff x="898200" y="2893320"/>
            <a:chExt cx="5741640" cy="360"/>
          </a:xfrm>
        </p:grpSpPr>
        <p:sp>
          <p:nvSpPr>
            <p:cNvPr id="1438" name="object 11"/>
            <p:cNvSpPr/>
            <p:nvPr/>
          </p:nvSpPr>
          <p:spPr>
            <a:xfrm>
              <a:off x="898200" y="2893320"/>
              <a:ext cx="888480" cy="360"/>
            </a:xfrm>
            <a:custGeom>
              <a:avLst/>
              <a:gdLst/>
              <a:ahLst/>
              <a:rect l="l" t="t" r="r" b="b"/>
              <a:pathLst>
                <a:path w="891539" h="0">
                  <a:moveTo>
                    <a:pt x="0" y="0"/>
                  </a:moveTo>
                  <a:lnTo>
                    <a:pt x="891394" y="0"/>
                  </a:lnTo>
                </a:path>
              </a:pathLst>
            </a:custGeom>
            <a:noFill/>
            <a:ln w="9740">
              <a:solidFill>
                <a:srgbClr val="000000"/>
              </a:solidFill>
              <a:prstDash val="dash"/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39" name="object 12"/>
            <p:cNvSpPr/>
            <p:nvPr/>
          </p:nvSpPr>
          <p:spPr>
            <a:xfrm>
              <a:off x="2680920" y="2893320"/>
              <a:ext cx="1680840" cy="360"/>
            </a:xfrm>
            <a:custGeom>
              <a:avLst/>
              <a:gdLst/>
              <a:ahLst/>
              <a:rect l="l" t="t" r="r" b="b"/>
              <a:pathLst>
                <a:path w="1684020" h="0">
                  <a:moveTo>
                    <a:pt x="0" y="0"/>
                  </a:moveTo>
                  <a:lnTo>
                    <a:pt x="1683746" y="0"/>
                  </a:lnTo>
                </a:path>
              </a:pathLst>
            </a:custGeom>
            <a:noFill/>
            <a:ln w="9740">
              <a:solidFill>
                <a:srgbClr val="000000"/>
              </a:solidFill>
              <a:prstDash val="dash"/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40" name="object 13"/>
            <p:cNvSpPr/>
            <p:nvPr/>
          </p:nvSpPr>
          <p:spPr>
            <a:xfrm>
              <a:off x="4563000" y="2893320"/>
              <a:ext cx="1383480" cy="360"/>
            </a:xfrm>
            <a:custGeom>
              <a:avLst/>
              <a:gdLst/>
              <a:ahLst/>
              <a:rect l="l" t="t" r="r" b="b"/>
              <a:pathLst>
                <a:path w="1386839" h="0">
                  <a:moveTo>
                    <a:pt x="0" y="0"/>
                  </a:moveTo>
                  <a:lnTo>
                    <a:pt x="1386614" y="0"/>
                  </a:lnTo>
                </a:path>
              </a:pathLst>
            </a:custGeom>
            <a:noFill/>
            <a:ln w="9740">
              <a:solidFill>
                <a:srgbClr val="000000"/>
              </a:solidFill>
              <a:prstDash val="dash"/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41" name="object 14"/>
            <p:cNvSpPr/>
            <p:nvPr/>
          </p:nvSpPr>
          <p:spPr>
            <a:xfrm>
              <a:off x="6147720" y="2893320"/>
              <a:ext cx="492120" cy="360"/>
            </a:xfrm>
            <a:custGeom>
              <a:avLst/>
              <a:gdLst/>
              <a:ahLst/>
              <a:rect l="l" t="t" r="r" b="b"/>
              <a:pathLst>
                <a:path w="495300" h="0">
                  <a:moveTo>
                    <a:pt x="0" y="0"/>
                  </a:moveTo>
                  <a:lnTo>
                    <a:pt x="495300" y="0"/>
                  </a:lnTo>
                </a:path>
              </a:pathLst>
            </a:custGeom>
            <a:noFill/>
            <a:ln w="9740">
              <a:solidFill>
                <a:srgbClr val="000000"/>
              </a:solidFill>
              <a:prstDash val="dash"/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442" name="object 15"/>
          <p:cNvSpPr/>
          <p:nvPr/>
        </p:nvSpPr>
        <p:spPr>
          <a:xfrm>
            <a:off x="898200" y="2962080"/>
            <a:ext cx="1990800" cy="60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  <a:tabLst>
                <a:tab algn="l" pos="178236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pod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s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[]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178236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service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s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[]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178236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deployments.app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s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[]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443" name="object 18"/>
          <p:cNvSpPr/>
          <p:nvPr/>
        </p:nvSpPr>
        <p:spPr>
          <a:xfrm>
            <a:off x="8701560" y="4908600"/>
            <a:ext cx="2610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D945855A-84B2-4068-82F0-C6662E2E09C8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444" name="object 16"/>
          <p:cNvSpPr/>
          <p:nvPr/>
        </p:nvSpPr>
        <p:spPr>
          <a:xfrm>
            <a:off x="4563000" y="2962080"/>
            <a:ext cx="208080" cy="60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[]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[]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[]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445" name="object 17"/>
          <p:cNvSpPr/>
          <p:nvPr/>
        </p:nvSpPr>
        <p:spPr>
          <a:xfrm>
            <a:off x="6148080" y="2962080"/>
            <a:ext cx="1770480" cy="60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800" bIns="0" anchor="t">
            <a:spAutoFit/>
          </a:bodyPr>
          <a:p>
            <a:pPr algn="just">
              <a:lnSpc>
                <a:spcPct val="101000"/>
              </a:lnSpc>
              <a:spcBef>
                <a:spcPts val="85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[list</a:t>
            </a:r>
            <a:r>
              <a:rPr b="0" lang="fr-FR" sz="1300" spc="-5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get</a:t>
            </a:r>
            <a:r>
              <a:rPr b="0" lang="fr-FR" sz="1300" spc="-5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watch] </a:t>
            </a:r>
            <a:r>
              <a:rPr b="0" lang="fr-FR" sz="1300" spc="-76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[list</a:t>
            </a:r>
            <a:r>
              <a:rPr b="0" lang="fr-FR" sz="1300" spc="-5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get</a:t>
            </a:r>
            <a:r>
              <a:rPr b="0" lang="fr-FR" sz="1300" spc="-5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watch] </a:t>
            </a:r>
            <a:r>
              <a:rPr b="0" lang="fr-FR" sz="1300" spc="-76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[list</a:t>
            </a:r>
            <a:r>
              <a:rPr b="0" lang="fr-FR" sz="1300" spc="-5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get</a:t>
            </a:r>
            <a:r>
              <a:rPr b="0" lang="fr-FR" sz="1300" spc="-5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watch]</a:t>
            </a:r>
            <a:endParaRPr b="0" lang="fr-FR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6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64828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9" strike="noStrike">
                <a:solidFill>
                  <a:srgbClr val="000000"/>
                </a:solidFill>
                <a:latin typeface="Tahoma"/>
              </a:rPr>
              <a:t>Creating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RoleBinding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52" strike="noStrike">
                <a:solidFill>
                  <a:srgbClr val="000000"/>
                </a:solidFill>
                <a:latin typeface="Tahoma"/>
              </a:rPr>
              <a:t>with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Imperative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60" strike="noStrike">
                <a:solidFill>
                  <a:srgbClr val="000000"/>
                </a:solidFill>
                <a:latin typeface="Tahoma"/>
              </a:rPr>
              <a:t>Approach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46" strike="noStrike">
                <a:solidFill>
                  <a:srgbClr val="666666"/>
                </a:solidFill>
                <a:latin typeface="Lucida Sans Unicode"/>
              </a:rPr>
              <a:t>Maps</a:t>
            </a:r>
            <a:r>
              <a:rPr b="0" lang="fr-FR" sz="1600" spc="-97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subject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Role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447" name="object 3"/>
          <p:cNvGrpSpPr/>
          <p:nvPr/>
        </p:nvGrpSpPr>
        <p:grpSpPr>
          <a:xfrm>
            <a:off x="478440" y="1375560"/>
            <a:ext cx="7464240" cy="1133640"/>
            <a:chOff x="478440" y="1375560"/>
            <a:chExt cx="7464240" cy="1133640"/>
          </a:xfrm>
        </p:grpSpPr>
        <p:pic>
          <p:nvPicPr>
            <p:cNvPr id="1448" name="object 4" descr=""/>
            <p:cNvPicPr/>
            <p:nvPr/>
          </p:nvPicPr>
          <p:blipFill>
            <a:blip r:embed="rId1"/>
            <a:stretch/>
          </p:blipFill>
          <p:spPr>
            <a:xfrm>
              <a:off x="478440" y="1375560"/>
              <a:ext cx="7464240" cy="11336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449" name="object 5"/>
            <p:cNvSpPr/>
            <p:nvPr/>
          </p:nvSpPr>
          <p:spPr>
            <a:xfrm>
              <a:off x="532080" y="1424160"/>
              <a:ext cx="7350120" cy="1019880"/>
            </a:xfrm>
            <a:custGeom>
              <a:avLst/>
              <a:gdLst/>
              <a:ahLst/>
              <a:rect l="l" t="t" r="r" b="b"/>
              <a:pathLst>
                <a:path w="7353300" h="1022985">
                  <a:moveTo>
                    <a:pt x="7353299" y="1022399"/>
                  </a:moveTo>
                  <a:lnTo>
                    <a:pt x="0" y="1022399"/>
                  </a:lnTo>
                  <a:lnTo>
                    <a:pt x="0" y="0"/>
                  </a:lnTo>
                  <a:lnTo>
                    <a:pt x="7353299" y="0"/>
                  </a:lnTo>
                  <a:lnTo>
                    <a:pt x="7353299" y="10223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450" name="object 6"/>
          <p:cNvSpPr/>
          <p:nvPr/>
        </p:nvSpPr>
        <p:spPr>
          <a:xfrm>
            <a:off x="695520" y="1560960"/>
            <a:ext cx="704304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rolebinding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read-only-binding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--role=read-only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500" spc="-1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500" spc="-1" strike="noStrike">
              <a:latin typeface="Arial"/>
            </a:endParaRPr>
          </a:p>
          <a:p>
            <a:pPr marL="226080">
              <a:lnSpc>
                <a:spcPts val="1664"/>
              </a:lnSpc>
              <a:buNone/>
            </a:pP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--user=johndoe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rolebinding.rbac.authorization.k8s.io/read-only-binding</a:t>
            </a:r>
            <a:r>
              <a:rPr b="0" lang="fr-FR" sz="14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400" spc="-1" strike="noStrike">
              <a:latin typeface="Arial"/>
            </a:endParaRPr>
          </a:p>
        </p:txBody>
      </p:sp>
      <p:grpSp>
        <p:nvGrpSpPr>
          <p:cNvPr id="1451" name="object 7"/>
          <p:cNvGrpSpPr/>
          <p:nvPr/>
        </p:nvGrpSpPr>
        <p:grpSpPr>
          <a:xfrm>
            <a:off x="902520" y="1609200"/>
            <a:ext cx="5600520" cy="1315440"/>
            <a:chOff x="902520" y="1609200"/>
            <a:chExt cx="5600520" cy="1315440"/>
          </a:xfrm>
        </p:grpSpPr>
        <p:sp>
          <p:nvSpPr>
            <p:cNvPr id="1452" name="object 8"/>
            <p:cNvSpPr/>
            <p:nvPr/>
          </p:nvSpPr>
          <p:spPr>
            <a:xfrm>
              <a:off x="6218280" y="2027160"/>
              <a:ext cx="5040" cy="845280"/>
            </a:xfrm>
            <a:custGeom>
              <a:avLst/>
              <a:gdLst/>
              <a:ahLst/>
              <a:rect l="l" t="t" r="r" b="b"/>
              <a:pathLst>
                <a:path w="8254" h="848360">
                  <a:moveTo>
                    <a:pt x="8195" y="848105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453" name="object 9" descr=""/>
            <p:cNvPicPr/>
            <p:nvPr/>
          </p:nvPicPr>
          <p:blipFill>
            <a:blip r:embed="rId2"/>
            <a:stretch/>
          </p:blipFill>
          <p:spPr>
            <a:xfrm>
              <a:off x="6177240" y="1931400"/>
              <a:ext cx="78840" cy="1026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454" name="object 10"/>
            <p:cNvSpPr/>
            <p:nvPr/>
          </p:nvSpPr>
          <p:spPr>
            <a:xfrm>
              <a:off x="1362240" y="2188800"/>
              <a:ext cx="360" cy="735840"/>
            </a:xfrm>
            <a:custGeom>
              <a:avLst/>
              <a:gdLst/>
              <a:ahLst/>
              <a:rect l="l" t="t" r="r" b="b"/>
              <a:pathLst>
                <a:path w="2540" h="739139">
                  <a:moveTo>
                    <a:pt x="2078" y="73860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455" name="object 11" descr=""/>
            <p:cNvPicPr/>
            <p:nvPr/>
          </p:nvPicPr>
          <p:blipFill>
            <a:blip r:embed="rId3"/>
            <a:stretch/>
          </p:blipFill>
          <p:spPr>
            <a:xfrm>
              <a:off x="1321200" y="2092680"/>
              <a:ext cx="78840" cy="1022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456" name="object 12"/>
            <p:cNvSpPr/>
            <p:nvPr/>
          </p:nvSpPr>
          <p:spPr>
            <a:xfrm>
              <a:off x="902520" y="1609200"/>
              <a:ext cx="5600520" cy="431280"/>
            </a:xfrm>
            <a:custGeom>
              <a:avLst/>
              <a:gdLst/>
              <a:ahLst/>
              <a:rect l="l" t="t" r="r" b="b"/>
              <a:pathLst>
                <a:path w="5603875" h="434339">
                  <a:moveTo>
                    <a:pt x="0" y="221061"/>
                  </a:moveTo>
                  <a:lnTo>
                    <a:pt x="807299" y="221061"/>
                  </a:lnTo>
                  <a:lnTo>
                    <a:pt x="807299" y="434061"/>
                  </a:lnTo>
                  <a:lnTo>
                    <a:pt x="0" y="434061"/>
                  </a:lnTo>
                  <a:lnTo>
                    <a:pt x="0" y="221061"/>
                  </a:lnTo>
                  <a:close/>
                </a:path>
                <a:path w="5603875" h="434339">
                  <a:moveTo>
                    <a:pt x="4796063" y="0"/>
                  </a:moveTo>
                  <a:lnTo>
                    <a:pt x="5603363" y="0"/>
                  </a:lnTo>
                  <a:lnTo>
                    <a:pt x="5603363" y="212999"/>
                  </a:lnTo>
                  <a:lnTo>
                    <a:pt x="4796063" y="212999"/>
                  </a:lnTo>
                  <a:lnTo>
                    <a:pt x="4796063" y="0"/>
                  </a:lnTo>
                  <a:close/>
                </a:path>
              </a:pathLst>
            </a:custGeom>
            <a:noFill/>
            <a:ln w="19049">
              <a:solidFill>
                <a:srgbClr val="ff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457" name="object 13"/>
          <p:cNvSpPr/>
          <p:nvPr/>
        </p:nvSpPr>
        <p:spPr>
          <a:xfrm>
            <a:off x="5077800" y="2941200"/>
            <a:ext cx="266076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763200" indent="-751320">
              <a:lnSpc>
                <a:spcPts val="165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0" i="1" lang="fr-FR" sz="1400" spc="-7" strike="noStrike">
                <a:solidFill>
                  <a:srgbClr val="000000"/>
                </a:solidFill>
                <a:latin typeface="Arial"/>
                <a:ea typeface="DejaVu Sans"/>
              </a:rPr>
              <a:t>Role: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Reference the name of </a:t>
            </a:r>
            <a:r>
              <a:rPr b="0" lang="fr-FR" sz="1400" spc="-37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4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object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458" name="object 15"/>
          <p:cNvSpPr/>
          <p:nvPr/>
        </p:nvSpPr>
        <p:spPr>
          <a:xfrm>
            <a:off x="8701560" y="4908600"/>
            <a:ext cx="2610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D9ED5489-DED6-47A7-A332-9F1F5DC5AA31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459" name="object 14"/>
          <p:cNvSpPr/>
          <p:nvPr/>
        </p:nvSpPr>
        <p:spPr>
          <a:xfrm>
            <a:off x="413280" y="2993040"/>
            <a:ext cx="228528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619920" indent="-607680">
              <a:lnSpc>
                <a:spcPts val="165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0" i="1" lang="fr-FR" sz="1400" spc="-7" strike="noStrike">
                <a:solidFill>
                  <a:srgbClr val="000000"/>
                </a:solidFill>
                <a:latin typeface="Arial"/>
                <a:ea typeface="DejaVu Sans"/>
              </a:rPr>
              <a:t>Subject:</a:t>
            </a:r>
            <a:r>
              <a:rPr b="0" i="1" lang="fr-FR" sz="1400" spc="-2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Binds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user</a:t>
            </a:r>
            <a:r>
              <a:rPr b="0" lang="fr-FR" sz="14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to </a:t>
            </a:r>
            <a:r>
              <a:rPr b="0" lang="fr-FR" sz="1400" spc="-37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4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Role</a:t>
            </a:r>
            <a:endParaRPr b="0" lang="fr-FR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0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34428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RoleBinding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YAML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Manifest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Roles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00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0" strike="noStrike">
                <a:solidFill>
                  <a:srgbClr val="666666"/>
                </a:solidFill>
                <a:latin typeface="Lucida Sans Unicode"/>
              </a:rPr>
              <a:t>be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6" strike="noStrike">
                <a:solidFill>
                  <a:srgbClr val="666666"/>
                </a:solidFill>
                <a:latin typeface="Lucida Sans Unicode"/>
              </a:rPr>
              <a:t>mapped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multiple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subjects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if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5" strike="noStrike">
                <a:solidFill>
                  <a:srgbClr val="666666"/>
                </a:solidFill>
                <a:latin typeface="Lucida Sans Unicode"/>
              </a:rPr>
              <a:t>needed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461" name="object 3"/>
          <p:cNvGrpSpPr/>
          <p:nvPr/>
        </p:nvGrpSpPr>
        <p:grpSpPr>
          <a:xfrm>
            <a:off x="478440" y="1375560"/>
            <a:ext cx="4189320" cy="2655720"/>
            <a:chOff x="478440" y="1375560"/>
            <a:chExt cx="4189320" cy="2655720"/>
          </a:xfrm>
        </p:grpSpPr>
        <p:pic>
          <p:nvPicPr>
            <p:cNvPr id="1462" name="object 4" descr=""/>
            <p:cNvPicPr/>
            <p:nvPr/>
          </p:nvPicPr>
          <p:blipFill>
            <a:blip r:embed="rId1"/>
            <a:stretch/>
          </p:blipFill>
          <p:spPr>
            <a:xfrm>
              <a:off x="478440" y="1375560"/>
              <a:ext cx="4189320" cy="265572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463" name="object 5"/>
            <p:cNvSpPr/>
            <p:nvPr/>
          </p:nvSpPr>
          <p:spPr>
            <a:xfrm>
              <a:off x="532080" y="1424160"/>
              <a:ext cx="4075200" cy="2541960"/>
            </a:xfrm>
            <a:custGeom>
              <a:avLst/>
              <a:gdLst/>
              <a:ahLst/>
              <a:rect l="l" t="t" r="r" b="b"/>
              <a:pathLst>
                <a:path w="4078604" h="2545079">
                  <a:moveTo>
                    <a:pt x="4078199" y="2544599"/>
                  </a:moveTo>
                  <a:lnTo>
                    <a:pt x="0" y="2544599"/>
                  </a:lnTo>
                  <a:lnTo>
                    <a:pt x="0" y="0"/>
                  </a:lnTo>
                  <a:lnTo>
                    <a:pt x="4078199" y="0"/>
                  </a:lnTo>
                  <a:lnTo>
                    <a:pt x="4078199" y="25445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464" name="object 6"/>
          <p:cNvSpPr/>
          <p:nvPr/>
        </p:nvSpPr>
        <p:spPr>
          <a:xfrm>
            <a:off x="727920" y="1562400"/>
            <a:ext cx="3680280" cy="218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429"/>
              </a:lnSpc>
              <a:spcBef>
                <a:spcPts val="99"/>
              </a:spcBef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apiVersion:</a:t>
            </a:r>
            <a:r>
              <a:rPr b="1" lang="fr-FR" sz="12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rbac.authorization.k8s.io/v1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26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</a:t>
            </a:r>
            <a:r>
              <a:rPr b="1" lang="fr-FR" sz="1200" spc="-6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RoleBinding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26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metadata:</a:t>
            </a:r>
            <a:endParaRPr b="0" lang="fr-FR" sz="1200" spc="-1" strike="noStrike">
              <a:latin typeface="Arial"/>
            </a:endParaRPr>
          </a:p>
          <a:p>
            <a:pPr marL="195480">
              <a:lnSpc>
                <a:spcPts val="1426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200" spc="-6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read-only-binding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26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roleRef:</a:t>
            </a:r>
            <a:endParaRPr b="0" lang="fr-FR" sz="1200" spc="-1" strike="noStrike">
              <a:latin typeface="Arial"/>
            </a:endParaRPr>
          </a:p>
          <a:p>
            <a:pPr marL="195480">
              <a:lnSpc>
                <a:spcPts val="1426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apiGroup:</a:t>
            </a:r>
            <a:r>
              <a:rPr b="1" lang="fr-FR" sz="1200" spc="-6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rbac.authorization.k8s.io</a:t>
            </a:r>
            <a:endParaRPr b="0" lang="fr-FR" sz="1200" spc="-1" strike="noStrike">
              <a:latin typeface="Arial"/>
            </a:endParaRPr>
          </a:p>
          <a:p>
            <a:pPr marL="195480">
              <a:lnSpc>
                <a:spcPts val="1426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</a:t>
            </a:r>
            <a:r>
              <a:rPr b="1" lang="fr-FR" sz="1200" spc="-6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Role</a:t>
            </a:r>
            <a:endParaRPr b="0" lang="fr-FR" sz="1200" spc="-1" strike="noStrike">
              <a:latin typeface="Arial"/>
            </a:endParaRPr>
          </a:p>
          <a:p>
            <a:pPr marL="195480">
              <a:lnSpc>
                <a:spcPts val="1426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200" spc="-6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read-only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26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subjects: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26"/>
              </a:lnSpc>
              <a:buNone/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-</a:t>
            </a:r>
            <a:r>
              <a:rPr b="0" lang="fr-FR" sz="12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apiGroup:</a:t>
            </a:r>
            <a:r>
              <a:rPr b="1" lang="fr-FR" sz="1200" spc="-35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rbac.authorization.k8s.io</a:t>
            </a:r>
            <a:endParaRPr b="0" lang="fr-FR" sz="1200" spc="-1" strike="noStrike">
              <a:latin typeface="Arial"/>
            </a:endParaRPr>
          </a:p>
          <a:p>
            <a:pPr marL="195480">
              <a:lnSpc>
                <a:spcPts val="1426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</a:t>
            </a:r>
            <a:r>
              <a:rPr b="1" lang="fr-FR" sz="1200" spc="-6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User</a:t>
            </a:r>
            <a:endParaRPr b="0" lang="fr-FR" sz="1200" spc="-1" strike="noStrike">
              <a:latin typeface="Arial"/>
            </a:endParaRPr>
          </a:p>
          <a:p>
            <a:pPr marL="195480">
              <a:lnSpc>
                <a:spcPts val="1434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200" spc="-6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johndoe</a:t>
            </a:r>
            <a:endParaRPr b="0" lang="fr-FR" sz="1200" spc="-1" strike="noStrike">
              <a:latin typeface="Arial"/>
            </a:endParaRPr>
          </a:p>
        </p:txBody>
      </p:sp>
      <p:grpSp>
        <p:nvGrpSpPr>
          <p:cNvPr id="1465" name="object 7"/>
          <p:cNvGrpSpPr/>
          <p:nvPr/>
        </p:nvGrpSpPr>
        <p:grpSpPr>
          <a:xfrm>
            <a:off x="4411080" y="2727360"/>
            <a:ext cx="1049040" cy="922320"/>
            <a:chOff x="4411080" y="2727360"/>
            <a:chExt cx="1049040" cy="922320"/>
          </a:xfrm>
        </p:grpSpPr>
        <p:sp>
          <p:nvSpPr>
            <p:cNvPr id="1466" name="object 8"/>
            <p:cNvSpPr/>
            <p:nvPr/>
          </p:nvSpPr>
          <p:spPr>
            <a:xfrm>
              <a:off x="4507200" y="2768040"/>
              <a:ext cx="952920" cy="360"/>
            </a:xfrm>
            <a:custGeom>
              <a:avLst/>
              <a:gdLst/>
              <a:ahLst/>
              <a:rect l="l" t="t" r="r" b="b"/>
              <a:pathLst>
                <a:path w="956310" h="0">
                  <a:moveTo>
                    <a:pt x="9557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467" name="object 9" descr=""/>
            <p:cNvPicPr/>
            <p:nvPr/>
          </p:nvPicPr>
          <p:blipFill>
            <a:blip r:embed="rId2"/>
            <a:stretch/>
          </p:blipFill>
          <p:spPr>
            <a:xfrm>
              <a:off x="4411080" y="2727360"/>
              <a:ext cx="102240" cy="788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468" name="object 10"/>
            <p:cNvSpPr/>
            <p:nvPr/>
          </p:nvSpPr>
          <p:spPr>
            <a:xfrm>
              <a:off x="4507200" y="3611880"/>
              <a:ext cx="952920" cy="360"/>
            </a:xfrm>
            <a:custGeom>
              <a:avLst/>
              <a:gdLst/>
              <a:ahLst/>
              <a:rect l="l" t="t" r="r" b="b"/>
              <a:pathLst>
                <a:path w="956310" h="0">
                  <a:moveTo>
                    <a:pt x="9557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469" name="object 11" descr=""/>
            <p:cNvPicPr/>
            <p:nvPr/>
          </p:nvPicPr>
          <p:blipFill>
            <a:blip r:embed="rId3"/>
            <a:stretch/>
          </p:blipFill>
          <p:spPr>
            <a:xfrm>
              <a:off x="4411080" y="3570840"/>
              <a:ext cx="102240" cy="788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470" name="object 12"/>
          <p:cNvSpPr/>
          <p:nvPr/>
        </p:nvSpPr>
        <p:spPr>
          <a:xfrm>
            <a:off x="5604840" y="2632320"/>
            <a:ext cx="231372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Reference</a:t>
            </a:r>
            <a:r>
              <a:rPr b="0" lang="fr-FR" sz="1400" spc="-4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to</a:t>
            </a:r>
            <a:r>
              <a:rPr b="0" lang="fr-FR" sz="1400" spc="-4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Role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471" name="object 14"/>
          <p:cNvSpPr/>
          <p:nvPr/>
        </p:nvSpPr>
        <p:spPr>
          <a:xfrm>
            <a:off x="8701560" y="4908600"/>
            <a:ext cx="2610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CFCCE81A-7D3C-4303-A7B9-0867DA48B439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472" name="object 13"/>
          <p:cNvSpPr/>
          <p:nvPr/>
        </p:nvSpPr>
        <p:spPr>
          <a:xfrm>
            <a:off x="5608800" y="3475800"/>
            <a:ext cx="17697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Reference</a:t>
            </a:r>
            <a:r>
              <a:rPr b="0" lang="fr-FR" sz="1400" spc="-4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to</a:t>
            </a:r>
            <a:r>
              <a:rPr b="0" lang="fr-FR" sz="1400" spc="-4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User</a:t>
            </a:r>
            <a:endParaRPr b="0" lang="fr-FR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3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98428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7" strike="noStrike">
                <a:solidFill>
                  <a:srgbClr val="000000"/>
                </a:solidFill>
                <a:latin typeface="Tahoma"/>
              </a:rPr>
              <a:t>Getting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RoleBinding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Details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Only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shows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mapping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between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Role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subjects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474" name="object 3"/>
          <p:cNvGrpSpPr/>
          <p:nvPr/>
        </p:nvGrpSpPr>
        <p:grpSpPr>
          <a:xfrm>
            <a:off x="478440" y="1375560"/>
            <a:ext cx="4916520" cy="2476080"/>
            <a:chOff x="478440" y="1375560"/>
            <a:chExt cx="4916520" cy="2476080"/>
          </a:xfrm>
        </p:grpSpPr>
        <p:pic>
          <p:nvPicPr>
            <p:cNvPr id="1475" name="object 4" descr=""/>
            <p:cNvPicPr/>
            <p:nvPr/>
          </p:nvPicPr>
          <p:blipFill>
            <a:blip r:embed="rId1"/>
            <a:stretch/>
          </p:blipFill>
          <p:spPr>
            <a:xfrm>
              <a:off x="478440" y="1375560"/>
              <a:ext cx="4916520" cy="24760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476" name="object 5"/>
            <p:cNvSpPr/>
            <p:nvPr/>
          </p:nvSpPr>
          <p:spPr>
            <a:xfrm>
              <a:off x="532080" y="1424160"/>
              <a:ext cx="4802400" cy="2361960"/>
            </a:xfrm>
            <a:custGeom>
              <a:avLst/>
              <a:gdLst/>
              <a:ahLst/>
              <a:rect l="l" t="t" r="r" b="b"/>
              <a:pathLst>
                <a:path w="4805680" h="2365375">
                  <a:moveTo>
                    <a:pt x="4805399" y="2364899"/>
                  </a:moveTo>
                  <a:lnTo>
                    <a:pt x="0" y="2364899"/>
                  </a:lnTo>
                  <a:lnTo>
                    <a:pt x="0" y="0"/>
                  </a:lnTo>
                  <a:lnTo>
                    <a:pt x="4805399" y="0"/>
                  </a:lnTo>
                  <a:lnTo>
                    <a:pt x="4805399" y="23648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77" name="object 6"/>
            <p:cNvSpPr/>
            <p:nvPr/>
          </p:nvSpPr>
          <p:spPr>
            <a:xfrm>
              <a:off x="891000" y="3313440"/>
              <a:ext cx="911160" cy="360"/>
            </a:xfrm>
            <a:custGeom>
              <a:avLst/>
              <a:gdLst/>
              <a:ahLst/>
              <a:rect l="l" t="t" r="r" b="b"/>
              <a:pathLst>
                <a:path w="914400" h="0">
                  <a:moveTo>
                    <a:pt x="0" y="0"/>
                  </a:moveTo>
                  <a:lnTo>
                    <a:pt x="365700" y="0"/>
                  </a:lnTo>
                </a:path>
                <a:path w="914400" h="0">
                  <a:moveTo>
                    <a:pt x="548580" y="0"/>
                  </a:moveTo>
                  <a:lnTo>
                    <a:pt x="914280" y="0"/>
                  </a:lnTo>
                </a:path>
              </a:pathLst>
            </a:custGeom>
            <a:noFill/>
            <a:ln w="8991">
              <a:solidFill>
                <a:srgbClr val="000000"/>
              </a:solidFill>
              <a:prstDash val="dash"/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78" name="object 7"/>
            <p:cNvSpPr/>
            <p:nvPr/>
          </p:nvSpPr>
          <p:spPr>
            <a:xfrm>
              <a:off x="2262240" y="3313440"/>
              <a:ext cx="819720" cy="360"/>
            </a:xfrm>
            <a:custGeom>
              <a:avLst/>
              <a:gdLst/>
              <a:ahLst/>
              <a:rect l="l" t="t" r="r" b="b"/>
              <a:pathLst>
                <a:path w="822960" h="0">
                  <a:moveTo>
                    <a:pt x="0" y="0"/>
                  </a:moveTo>
                  <a:lnTo>
                    <a:pt x="822960" y="0"/>
                  </a:lnTo>
                </a:path>
              </a:pathLst>
            </a:custGeom>
            <a:noFill/>
            <a:ln w="8991">
              <a:solidFill>
                <a:srgbClr val="000000"/>
              </a:solidFill>
              <a:prstDash val="dash"/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479" name="object 8"/>
          <p:cNvSpPr/>
          <p:nvPr/>
        </p:nvSpPr>
        <p:spPr>
          <a:xfrm>
            <a:off x="532080" y="1424160"/>
            <a:ext cx="4802400" cy="21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5040" bIns="0" anchor="t">
            <a:spAutoFit/>
          </a:bodyPr>
          <a:p>
            <a:pPr>
              <a:lnSpc>
                <a:spcPct val="100000"/>
              </a:lnSpc>
              <a:spcBef>
                <a:spcPts val="40"/>
              </a:spcBef>
              <a:buNone/>
            </a:pPr>
            <a:endParaRPr b="0" lang="fr-FR" sz="1000" spc="-1" strike="noStrike">
              <a:latin typeface="Arial"/>
            </a:endParaRPr>
          </a:p>
          <a:p>
            <a:pPr marL="176040" algn="just">
              <a:lnSpc>
                <a:spcPts val="1429"/>
              </a:lnSpc>
              <a:buNone/>
            </a:pPr>
            <a:r>
              <a:rPr b="1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describe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rolebinding</a:t>
            </a:r>
            <a:r>
              <a:rPr b="1" lang="fr-FR" sz="12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read-only-binding</a:t>
            </a:r>
            <a:endParaRPr b="0" lang="fr-FR" sz="1200" spc="-1" strike="noStrike">
              <a:latin typeface="Arial"/>
            </a:endParaRPr>
          </a:p>
          <a:p>
            <a:pPr marL="176040" algn="just">
              <a:lnSpc>
                <a:spcPts val="1426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Name:</a:t>
            </a:r>
            <a:r>
              <a:rPr b="0" lang="fr-FR" sz="1200" spc="851" strike="noStrike">
                <a:solidFill>
                  <a:srgbClr val="000000"/>
                </a:solidFill>
                <a:latin typeface="Courier New"/>
                <a:ea typeface="DejaVu Sans"/>
              </a:rPr>
              <a:t>   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read-only-binding</a:t>
            </a:r>
            <a:endParaRPr b="0" lang="fr-FR" sz="1200" spc="-1" strike="noStrike">
              <a:latin typeface="Arial"/>
            </a:endParaRPr>
          </a:p>
          <a:p>
            <a:pPr marL="176040" algn="just">
              <a:lnSpc>
                <a:spcPts val="1429"/>
              </a:lnSpc>
              <a:spcBef>
                <a:spcPts val="45"/>
              </a:spcBef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Labels: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&lt;none&gt;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200" spc="-1" strike="noStrike">
              <a:latin typeface="Arial"/>
            </a:endParaRPr>
          </a:p>
          <a:p>
            <a:pPr marL="176040" algn="just">
              <a:lnSpc>
                <a:spcPts val="1429"/>
              </a:lnSpc>
              <a:spcBef>
                <a:spcPts val="45"/>
              </a:spcBef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Annotations: &lt;none&gt;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200" spc="-1" strike="noStrike">
              <a:latin typeface="Arial"/>
            </a:endParaRPr>
          </a:p>
          <a:p>
            <a:pPr marL="176040" algn="just">
              <a:lnSpc>
                <a:spcPts val="1429"/>
              </a:lnSpc>
              <a:spcBef>
                <a:spcPts val="45"/>
              </a:spcBef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Role:</a:t>
            </a:r>
            <a:endParaRPr b="0" lang="fr-FR" sz="1200" spc="-1" strike="noStrike">
              <a:latin typeface="Arial"/>
            </a:endParaRPr>
          </a:p>
          <a:p>
            <a:pPr marL="358920">
              <a:lnSpc>
                <a:spcPts val="1361"/>
              </a:lnSpc>
              <a:buNone/>
              <a:tabLst>
                <a:tab algn="l" pos="99900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Kind: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Role</a:t>
            </a:r>
            <a:endParaRPr b="0" lang="fr-FR" sz="1200" spc="-1" strike="noStrike">
              <a:latin typeface="Arial"/>
            </a:endParaRPr>
          </a:p>
          <a:p>
            <a:pPr marL="176040" indent="182880">
              <a:lnSpc>
                <a:spcPts val="1429"/>
              </a:lnSpc>
              <a:spcBef>
                <a:spcPts val="51"/>
              </a:spcBef>
              <a:buNone/>
              <a:tabLst>
                <a:tab algn="l" pos="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: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read-only  </a:t>
            </a:r>
            <a:endParaRPr b="0" lang="fr-FR" sz="1200" spc="-1" strike="noStrike">
              <a:latin typeface="Arial"/>
            </a:endParaRPr>
          </a:p>
          <a:p>
            <a:pPr marL="176040" indent="182880">
              <a:lnSpc>
                <a:spcPts val="1429"/>
              </a:lnSpc>
              <a:spcBef>
                <a:spcPts val="51"/>
              </a:spcBef>
              <a:buNone/>
              <a:tabLst>
                <a:tab algn="l" pos="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Subjects:</a:t>
            </a:r>
            <a:endParaRPr b="0" lang="fr-FR" sz="1200" spc="-1" strike="noStrike">
              <a:latin typeface="Arial"/>
            </a:endParaRPr>
          </a:p>
          <a:p>
            <a:pPr marL="358920" indent="182880">
              <a:lnSpc>
                <a:spcPts val="1375"/>
              </a:lnSpc>
              <a:buNone/>
              <a:tabLst>
                <a:tab algn="l" pos="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Kind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Namespace</a:t>
            </a:r>
            <a:endParaRPr b="0" lang="fr-FR" sz="1200" spc="-1" strike="noStrike">
              <a:latin typeface="Arial"/>
            </a:endParaRPr>
          </a:p>
          <a:p>
            <a:pPr marL="358920" indent="182880">
              <a:lnSpc>
                <a:spcPct val="100000"/>
              </a:lnSpc>
              <a:spcBef>
                <a:spcPts val="51"/>
              </a:spcBef>
              <a:buNone/>
              <a:tabLst>
                <a:tab algn="l" pos="0"/>
              </a:tabLst>
            </a:pPr>
            <a:endParaRPr b="0" lang="fr-FR" sz="1200" spc="-1" strike="noStrike">
              <a:latin typeface="Arial"/>
            </a:endParaRPr>
          </a:p>
          <a:p>
            <a:pPr marL="358920" indent="1828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User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johndoe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480" name="object 9"/>
          <p:cNvSpPr/>
          <p:nvPr/>
        </p:nvSpPr>
        <p:spPr>
          <a:xfrm>
            <a:off x="8701560" y="4908600"/>
            <a:ext cx="2610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EFAD5FE7-A6F4-4162-9AB2-BAE2D30F5D35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1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16428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5" strike="noStrike">
                <a:solidFill>
                  <a:srgbClr val="000000"/>
                </a:solidFill>
                <a:latin typeface="Tahoma"/>
              </a:rPr>
              <a:t>What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is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Service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9" strike="noStrike">
                <a:solidFill>
                  <a:srgbClr val="000000"/>
                </a:solidFill>
                <a:latin typeface="Tahoma"/>
              </a:rPr>
              <a:t>Account?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Non-human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request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Kubernetes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API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from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process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482" name="object 4"/>
          <p:cNvSpPr/>
          <p:nvPr/>
        </p:nvSpPr>
        <p:spPr>
          <a:xfrm>
            <a:off x="8701560" y="4908600"/>
            <a:ext cx="2610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EAA6BA58-5A1C-4B37-8108-874EB2869A8A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483" name="object 3"/>
          <p:cNvSpPr/>
          <p:nvPr/>
        </p:nvSpPr>
        <p:spPr>
          <a:xfrm>
            <a:off x="600120" y="1360440"/>
            <a:ext cx="8398440" cy="332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Processes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running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outside of Kubernetes or processes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running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inside of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container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may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need to interact with the Kubernetes API.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Service Account allows for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authenticating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with the</a:t>
            </a:r>
            <a:r>
              <a:rPr b="0" lang="fr-FR" sz="1600" spc="-9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API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server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through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 authentication token.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1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Authorization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controlled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through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RBAC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assigned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Service</a:t>
            </a:r>
            <a:r>
              <a:rPr b="0" lang="fr-FR" sz="1600" spc="-100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Account.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f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no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t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assigne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d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explicitl</a:t>
            </a:r>
            <a:r>
              <a:rPr b="0" lang="fr-FR" sz="1600" spc="-120" strike="noStrike">
                <a:solidFill>
                  <a:srgbClr val="000000"/>
                </a:solidFill>
                <a:latin typeface="Arial MT"/>
                <a:ea typeface="DejaVu Sans"/>
              </a:rPr>
              <a:t>y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,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Po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d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use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th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9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defaul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  <a:ea typeface="DejaVu Sans"/>
              </a:rPr>
              <a:t>t</a:t>
            </a:r>
            <a:r>
              <a:rPr b="0" lang="fr-FR" sz="1600" spc="-62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Servic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-9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Account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.</a:t>
            </a:r>
            <a:r>
              <a:rPr b="0" lang="fr-FR" sz="16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default</a:t>
            </a:r>
            <a:endParaRPr b="0" lang="fr-FR" sz="1600" spc="-1" strike="noStrike">
              <a:latin typeface="Arial"/>
            </a:endParaRPr>
          </a:p>
          <a:p>
            <a:pPr marL="363960">
              <a:lnSpc>
                <a:spcPct val="100000"/>
              </a:lnSpc>
              <a:spcBef>
                <a:spcPts val="255"/>
              </a:spcBef>
              <a:buNone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Service</a:t>
            </a:r>
            <a:r>
              <a:rPr b="0" lang="fr-FR" sz="1600" spc="-100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Account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has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same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permissions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unauthenticated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26" strike="noStrike">
                <a:solidFill>
                  <a:srgbClr val="000000"/>
                </a:solidFill>
                <a:latin typeface="Arial MT"/>
                <a:ea typeface="DejaVu Sans"/>
              </a:rPr>
              <a:t>user.</a:t>
            </a:r>
            <a:endParaRPr b="0" lang="fr-FR" sz="1600" spc="-1" strike="noStrike">
              <a:latin typeface="Arial"/>
            </a:endParaRPr>
          </a:p>
          <a:p>
            <a:pPr marL="363960"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Example: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“I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have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CI/CD process that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retrieves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Pod information by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making calls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Kubernetes</a:t>
            </a:r>
            <a:r>
              <a:rPr b="0" lang="fr-FR" sz="1600" spc="-9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API.”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4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624280" cy="1276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Service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6" strike="noStrike">
                <a:solidFill>
                  <a:srgbClr val="000000"/>
                </a:solidFill>
                <a:latin typeface="Tahoma"/>
              </a:rPr>
              <a:t>Account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06" strike="noStrike">
                <a:solidFill>
                  <a:srgbClr val="000000"/>
                </a:solidFill>
                <a:latin typeface="Tahoma"/>
              </a:rPr>
              <a:t>as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Subject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Pod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assign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Service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Account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by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4" strike="noStrike">
                <a:solidFill>
                  <a:srgbClr val="666666"/>
                </a:solidFill>
                <a:latin typeface="Lucida Sans Unicode"/>
              </a:rPr>
              <a:t>name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1485" name="object 3" descr=""/>
          <p:cNvPicPr/>
          <p:nvPr/>
        </p:nvPicPr>
        <p:blipFill>
          <a:blip r:embed="rId1"/>
          <a:stretch/>
        </p:blipFill>
        <p:spPr>
          <a:xfrm>
            <a:off x="479520" y="2743560"/>
            <a:ext cx="8025480" cy="868680"/>
          </a:xfrm>
          <a:prstGeom prst="rect">
            <a:avLst/>
          </a:prstGeom>
          <a:ln w="0">
            <a:noFill/>
          </a:ln>
        </p:spPr>
      </p:pic>
      <p:sp>
        <p:nvSpPr>
          <p:cNvPr id="1486" name="object 4"/>
          <p:cNvSpPr/>
          <p:nvPr/>
        </p:nvSpPr>
        <p:spPr>
          <a:xfrm>
            <a:off x="8701560" y="4908600"/>
            <a:ext cx="2610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7BD0D0C8-E314-471F-9AE8-C98D51993318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7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24428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7" strike="noStrike">
                <a:solidFill>
                  <a:srgbClr val="000000"/>
                </a:solidFill>
                <a:latin typeface="Tahoma"/>
              </a:rPr>
              <a:t>Using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the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kubernetes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Service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Convenient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6" strike="noStrike">
                <a:solidFill>
                  <a:srgbClr val="666666"/>
                </a:solidFill>
                <a:latin typeface="Lucida Sans Unicode"/>
              </a:rPr>
              <a:t>way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get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API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server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endpoint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from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within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cluster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488" name="object 3"/>
          <p:cNvGrpSpPr/>
          <p:nvPr/>
        </p:nvGrpSpPr>
        <p:grpSpPr>
          <a:xfrm>
            <a:off x="478440" y="1375560"/>
            <a:ext cx="7698240" cy="2235600"/>
            <a:chOff x="478440" y="1375560"/>
            <a:chExt cx="7698240" cy="2235600"/>
          </a:xfrm>
        </p:grpSpPr>
        <p:pic>
          <p:nvPicPr>
            <p:cNvPr id="1489" name="object 4" descr=""/>
            <p:cNvPicPr/>
            <p:nvPr/>
          </p:nvPicPr>
          <p:blipFill>
            <a:blip r:embed="rId1"/>
            <a:stretch/>
          </p:blipFill>
          <p:spPr>
            <a:xfrm>
              <a:off x="478440" y="1375560"/>
              <a:ext cx="7698240" cy="22356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490" name="object 5"/>
            <p:cNvSpPr/>
            <p:nvPr/>
          </p:nvSpPr>
          <p:spPr>
            <a:xfrm>
              <a:off x="532080" y="1424160"/>
              <a:ext cx="7584480" cy="2121480"/>
            </a:xfrm>
            <a:custGeom>
              <a:avLst/>
              <a:gdLst/>
              <a:ahLst/>
              <a:rect l="l" t="t" r="r" b="b"/>
              <a:pathLst>
                <a:path w="7587615" h="2124710">
                  <a:moveTo>
                    <a:pt x="7586999" y="2124599"/>
                  </a:moveTo>
                  <a:lnTo>
                    <a:pt x="0" y="2124599"/>
                  </a:lnTo>
                  <a:lnTo>
                    <a:pt x="0" y="0"/>
                  </a:lnTo>
                  <a:lnTo>
                    <a:pt x="7586999" y="0"/>
                  </a:lnTo>
                  <a:lnTo>
                    <a:pt x="7586999" y="21245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491" name="object 6"/>
          <p:cNvSpPr/>
          <p:nvPr/>
        </p:nvSpPr>
        <p:spPr>
          <a:xfrm>
            <a:off x="695520" y="1561320"/>
            <a:ext cx="343584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get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service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kubernetes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492" name="object 7"/>
          <p:cNvSpPr/>
          <p:nvPr/>
        </p:nvSpPr>
        <p:spPr>
          <a:xfrm>
            <a:off x="695520" y="1771200"/>
            <a:ext cx="108900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kubernetes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493" name="object 8"/>
          <p:cNvSpPr/>
          <p:nvPr/>
        </p:nvSpPr>
        <p:spPr>
          <a:xfrm>
            <a:off x="2081880" y="1771200"/>
            <a:ext cx="2369160" cy="43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  <a:tabLst>
                <a:tab algn="l" pos="129240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TYPE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CLUSTER-IP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  <a:tabLst>
                <a:tab algn="l" pos="129240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ClusterIP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10.96.0.1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494" name="object 9"/>
          <p:cNvSpPr/>
          <p:nvPr/>
        </p:nvSpPr>
        <p:spPr>
          <a:xfrm>
            <a:off x="4748760" y="1771200"/>
            <a:ext cx="2902680" cy="85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  <a:tabLst>
                <a:tab algn="l" pos="1505520"/>
                <a:tab algn="l" pos="257256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EXTERNAL-I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P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PORT(S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)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AGE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  <a:tabLst>
                <a:tab algn="l" pos="1505520"/>
                <a:tab algn="l" pos="257256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&lt;none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&gt;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443/TC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P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13h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495" name="object 10"/>
          <p:cNvSpPr/>
          <p:nvPr/>
        </p:nvSpPr>
        <p:spPr>
          <a:xfrm>
            <a:off x="695520" y="2608560"/>
            <a:ext cx="7155720" cy="46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run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api-call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--image=alpine:3.16.2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-it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--rm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500" spc="-1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500" spc="-1" strike="noStrike">
              <a:latin typeface="Arial"/>
            </a:endParaRPr>
          </a:p>
          <a:p>
            <a:pPr marL="226080">
              <a:lnSpc>
                <a:spcPct val="100000"/>
              </a:lnSpc>
              <a:buNone/>
            </a:pP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--restart=Never</a:t>
            </a:r>
            <a:r>
              <a:rPr b="1" lang="fr-FR" sz="1400" spc="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</a:t>
            </a:r>
            <a:r>
              <a:rPr b="1" lang="fr-FR" sz="1400" spc="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https://kubernetes.default.svc.cluster.local/</a:t>
            </a:r>
            <a:r>
              <a:rPr b="0" lang="fr-FR" sz="1500" spc="-12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500" spc="-1" strike="noStrike">
              <a:latin typeface="Arial"/>
            </a:endParaRPr>
          </a:p>
        </p:txBody>
      </p:sp>
      <p:sp>
        <p:nvSpPr>
          <p:cNvPr id="1496" name="object 11"/>
          <p:cNvSpPr/>
          <p:nvPr/>
        </p:nvSpPr>
        <p:spPr>
          <a:xfrm>
            <a:off x="911880" y="3107160"/>
            <a:ext cx="2826360" cy="18504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9360">
              <a:lnSpc>
                <a:spcPts val="1460"/>
              </a:lnSpc>
              <a:buNone/>
            </a:pP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api/v1/namespaces/k97/pods</a:t>
            </a:r>
            <a:endParaRPr b="0" lang="fr-FR" sz="1400" spc="-1" strike="noStrike">
              <a:latin typeface="Arial"/>
            </a:endParaRPr>
          </a:p>
        </p:txBody>
      </p:sp>
      <p:grpSp>
        <p:nvGrpSpPr>
          <p:cNvPr id="1497" name="object 12"/>
          <p:cNvGrpSpPr/>
          <p:nvPr/>
        </p:nvGrpSpPr>
        <p:grpSpPr>
          <a:xfrm>
            <a:off x="653400" y="2017080"/>
            <a:ext cx="7027560" cy="1972440"/>
            <a:chOff x="653400" y="2017080"/>
            <a:chExt cx="7027560" cy="1972440"/>
          </a:xfrm>
        </p:grpSpPr>
        <p:sp>
          <p:nvSpPr>
            <p:cNvPr id="1498" name="object 13"/>
            <p:cNvSpPr/>
            <p:nvPr/>
          </p:nvSpPr>
          <p:spPr>
            <a:xfrm>
              <a:off x="653400" y="2017080"/>
              <a:ext cx="7027560" cy="1084680"/>
            </a:xfrm>
            <a:custGeom>
              <a:avLst/>
              <a:gdLst/>
              <a:ahLst/>
              <a:rect l="l" t="t" r="r" b="b"/>
              <a:pathLst>
                <a:path w="7030720" h="1087755">
                  <a:moveTo>
                    <a:pt x="3111602" y="874351"/>
                  </a:moveTo>
                  <a:lnTo>
                    <a:pt x="7030202" y="874351"/>
                  </a:lnTo>
                  <a:lnTo>
                    <a:pt x="7030202" y="1087351"/>
                  </a:lnTo>
                  <a:lnTo>
                    <a:pt x="3111602" y="1087351"/>
                  </a:lnTo>
                  <a:lnTo>
                    <a:pt x="3111602" y="874351"/>
                  </a:lnTo>
                  <a:close/>
                </a:path>
                <a:path w="7030720" h="1087755">
                  <a:moveTo>
                    <a:pt x="0" y="0"/>
                  </a:moveTo>
                  <a:lnTo>
                    <a:pt x="1185299" y="0"/>
                  </a:lnTo>
                  <a:lnTo>
                    <a:pt x="1185299" y="212999"/>
                  </a:lnTo>
                  <a:lnTo>
                    <a:pt x="0" y="21299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9049">
              <a:solidFill>
                <a:srgbClr val="ff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99" name="object 14"/>
            <p:cNvSpPr/>
            <p:nvPr/>
          </p:nvSpPr>
          <p:spPr>
            <a:xfrm>
              <a:off x="1245960" y="2344320"/>
              <a:ext cx="4475520" cy="543960"/>
            </a:xfrm>
            <a:custGeom>
              <a:avLst/>
              <a:gdLst/>
              <a:ahLst/>
              <a:rect l="l" t="t" r="r" b="b"/>
              <a:pathLst>
                <a:path w="4478655" h="547369">
                  <a:moveTo>
                    <a:pt x="4478399" y="547199"/>
                  </a:moveTo>
                  <a:lnTo>
                    <a:pt x="4478399" y="140198"/>
                  </a:lnTo>
                  <a:lnTo>
                    <a:pt x="0" y="140198"/>
                  </a:ln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500" name="object 15" descr=""/>
            <p:cNvPicPr/>
            <p:nvPr/>
          </p:nvPicPr>
          <p:blipFill>
            <a:blip r:embed="rId2"/>
            <a:stretch/>
          </p:blipFill>
          <p:spPr>
            <a:xfrm>
              <a:off x="1204920" y="2248560"/>
              <a:ext cx="78840" cy="1022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501" name="object 16"/>
            <p:cNvSpPr/>
            <p:nvPr/>
          </p:nvSpPr>
          <p:spPr>
            <a:xfrm>
              <a:off x="2314440" y="3509640"/>
              <a:ext cx="360" cy="479880"/>
            </a:xfrm>
            <a:custGeom>
              <a:avLst/>
              <a:gdLst/>
              <a:ahLst/>
              <a:rect l="l" t="t" r="r" b="b"/>
              <a:pathLst>
                <a:path w="0" h="483235">
                  <a:moveTo>
                    <a:pt x="0" y="482699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502" name="object 17" descr=""/>
            <p:cNvPicPr/>
            <p:nvPr/>
          </p:nvPicPr>
          <p:blipFill>
            <a:blip r:embed="rId3"/>
            <a:stretch/>
          </p:blipFill>
          <p:spPr>
            <a:xfrm>
              <a:off x="2273400" y="3413520"/>
              <a:ext cx="78840" cy="1022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503" name="object 18"/>
          <p:cNvSpPr/>
          <p:nvPr/>
        </p:nvSpPr>
        <p:spPr>
          <a:xfrm>
            <a:off x="1640160" y="4020840"/>
            <a:ext cx="1958400" cy="65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2600" indent="24120" algn="just">
              <a:lnSpc>
                <a:spcPts val="1650"/>
              </a:lnSpc>
              <a:spcBef>
                <a:spcPts val="181"/>
              </a:spcBef>
              <a:buNone/>
              <a:tabLst>
                <a:tab algn="l" pos="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API endpoint for </a:t>
            </a:r>
            <a:r>
              <a:rPr b="0" lang="fr-FR" sz="1400" spc="-37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listing</a:t>
            </a:r>
            <a:r>
              <a:rPr b="0" lang="fr-FR" sz="14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all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Pods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in </a:t>
            </a:r>
            <a:r>
              <a:rPr b="0" lang="fr-FR" sz="1400" spc="-38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namespace</a:t>
            </a:r>
            <a:r>
              <a:rPr b="0" lang="fr-FR" sz="1400" spc="-60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k97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504" name="object 19"/>
          <p:cNvSpPr/>
          <p:nvPr/>
        </p:nvSpPr>
        <p:spPr>
          <a:xfrm>
            <a:off x="8701560" y="4908600"/>
            <a:ext cx="2610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F5BE7545-7A13-4C53-95DA-AC37A1503F32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52428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Service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6" strike="noStrike">
                <a:solidFill>
                  <a:srgbClr val="000000"/>
                </a:solidFill>
                <a:latin typeface="Tahoma"/>
              </a:rPr>
              <a:t>Account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YAML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Manifest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Pod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manifest,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refer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Service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Account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by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4" strike="noStrike">
                <a:solidFill>
                  <a:srgbClr val="666666"/>
                </a:solidFill>
                <a:latin typeface="Lucida Sans Unicode"/>
              </a:rPr>
              <a:t>name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506" name="object 3"/>
          <p:cNvGrpSpPr/>
          <p:nvPr/>
        </p:nvGrpSpPr>
        <p:grpSpPr>
          <a:xfrm>
            <a:off x="478440" y="1375560"/>
            <a:ext cx="2537640" cy="1515600"/>
            <a:chOff x="478440" y="1375560"/>
            <a:chExt cx="2537640" cy="1515600"/>
          </a:xfrm>
        </p:grpSpPr>
        <p:pic>
          <p:nvPicPr>
            <p:cNvPr id="1507" name="object 4" descr=""/>
            <p:cNvPicPr/>
            <p:nvPr/>
          </p:nvPicPr>
          <p:blipFill>
            <a:blip r:embed="rId1"/>
            <a:stretch/>
          </p:blipFill>
          <p:spPr>
            <a:xfrm>
              <a:off x="478440" y="1375560"/>
              <a:ext cx="2537640" cy="15156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508" name="object 5"/>
            <p:cNvSpPr/>
            <p:nvPr/>
          </p:nvSpPr>
          <p:spPr>
            <a:xfrm>
              <a:off x="532080" y="1424160"/>
              <a:ext cx="2423880" cy="1401480"/>
            </a:xfrm>
            <a:custGeom>
              <a:avLst/>
              <a:gdLst/>
              <a:ahLst/>
              <a:rect l="l" t="t" r="r" b="b"/>
              <a:pathLst>
                <a:path w="2426970" h="1404620">
                  <a:moveTo>
                    <a:pt x="2426700" y="1404599"/>
                  </a:moveTo>
                  <a:lnTo>
                    <a:pt x="0" y="1404599"/>
                  </a:lnTo>
                  <a:lnTo>
                    <a:pt x="0" y="0"/>
                  </a:lnTo>
                  <a:lnTo>
                    <a:pt x="2426700" y="0"/>
                  </a:lnTo>
                  <a:lnTo>
                    <a:pt x="2426700" y="14045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509" name="object 6"/>
          <p:cNvSpPr/>
          <p:nvPr/>
        </p:nvSpPr>
        <p:spPr>
          <a:xfrm>
            <a:off x="727920" y="1562040"/>
            <a:ext cx="2003400" cy="60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apiVersion: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v1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</a:t>
            </a:r>
            <a:r>
              <a:rPr b="1" lang="fr-FR" sz="1300" spc="-8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ServiceAccount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metadata: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510" name="object 7"/>
          <p:cNvSpPr/>
          <p:nvPr/>
        </p:nvSpPr>
        <p:spPr>
          <a:xfrm>
            <a:off x="887040" y="2187360"/>
            <a:ext cx="1296000" cy="18504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51480">
              <a:lnSpc>
                <a:spcPts val="1460"/>
              </a:lnSpc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sa-api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511" name="object 8"/>
          <p:cNvSpPr/>
          <p:nvPr/>
        </p:nvSpPr>
        <p:spPr>
          <a:xfrm>
            <a:off x="925920" y="2361960"/>
            <a:ext cx="140904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namespace:</a:t>
            </a:r>
            <a:r>
              <a:rPr b="1" lang="fr-FR" sz="1300" spc="-8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k97</a:t>
            </a:r>
            <a:endParaRPr b="0" lang="fr-FR" sz="1300" spc="-1" strike="noStrike">
              <a:latin typeface="Arial"/>
            </a:endParaRPr>
          </a:p>
        </p:txBody>
      </p:sp>
      <p:grpSp>
        <p:nvGrpSpPr>
          <p:cNvPr id="1512" name="object 9"/>
          <p:cNvGrpSpPr/>
          <p:nvPr/>
        </p:nvGrpSpPr>
        <p:grpSpPr>
          <a:xfrm>
            <a:off x="4159440" y="1375560"/>
            <a:ext cx="3255840" cy="1994040"/>
            <a:chOff x="4159440" y="1375560"/>
            <a:chExt cx="3255840" cy="1994040"/>
          </a:xfrm>
        </p:grpSpPr>
        <p:pic>
          <p:nvPicPr>
            <p:cNvPr id="1513" name="object 10" descr=""/>
            <p:cNvPicPr/>
            <p:nvPr/>
          </p:nvPicPr>
          <p:blipFill>
            <a:blip r:embed="rId2"/>
            <a:stretch/>
          </p:blipFill>
          <p:spPr>
            <a:xfrm>
              <a:off x="4159440" y="1375560"/>
              <a:ext cx="3255840" cy="19940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514" name="object 11"/>
            <p:cNvSpPr/>
            <p:nvPr/>
          </p:nvSpPr>
          <p:spPr>
            <a:xfrm>
              <a:off x="4213080" y="1424160"/>
              <a:ext cx="3142080" cy="1880280"/>
            </a:xfrm>
            <a:custGeom>
              <a:avLst/>
              <a:gdLst/>
              <a:ahLst/>
              <a:rect l="l" t="t" r="r" b="b"/>
              <a:pathLst>
                <a:path w="3145154" h="1883410">
                  <a:moveTo>
                    <a:pt x="3144899" y="1882799"/>
                  </a:moveTo>
                  <a:lnTo>
                    <a:pt x="0" y="1882799"/>
                  </a:lnTo>
                  <a:lnTo>
                    <a:pt x="0" y="0"/>
                  </a:lnTo>
                  <a:lnTo>
                    <a:pt x="3144899" y="0"/>
                  </a:lnTo>
                  <a:lnTo>
                    <a:pt x="3144899" y="18827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515" name="object 12"/>
          <p:cNvSpPr/>
          <p:nvPr/>
        </p:nvSpPr>
        <p:spPr>
          <a:xfrm>
            <a:off x="4364280" y="1508040"/>
            <a:ext cx="1702440" cy="120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800" bIns="0" anchor="t">
            <a:spAutoFit/>
          </a:bodyPr>
          <a:p>
            <a:pPr marL="12600">
              <a:lnSpc>
                <a:spcPct val="101000"/>
              </a:lnSpc>
              <a:spcBef>
                <a:spcPts val="85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apiVersion:</a:t>
            </a:r>
            <a:r>
              <a:rPr b="1" lang="fr-FR" sz="1300" spc="-97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v1 </a:t>
            </a:r>
            <a:r>
              <a:rPr b="0" lang="fr-FR" sz="1300" spc="-76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Pod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metadata:</a:t>
            </a:r>
            <a:endParaRPr b="0" lang="fr-FR" sz="1300" spc="-1" strike="noStrike">
              <a:latin typeface="Arial"/>
            </a:endParaRPr>
          </a:p>
          <a:p>
            <a:pPr marL="20700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300" spc="-8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list-pods</a:t>
            </a:r>
            <a:endParaRPr b="0" lang="fr-FR" sz="1300" spc="-1" strike="noStrike">
              <a:latin typeface="Arial"/>
            </a:endParaRPr>
          </a:p>
          <a:p>
            <a:pPr marL="20700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namespace: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k97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spec: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516" name="object 13"/>
          <p:cNvSpPr/>
          <p:nvPr/>
        </p:nvSpPr>
        <p:spPr>
          <a:xfrm>
            <a:off x="4528440" y="2743920"/>
            <a:ext cx="2668680" cy="17496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42480">
              <a:lnSpc>
                <a:spcPts val="1380"/>
              </a:lnSpc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serviceAccountName: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sa-api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517" name="object 14"/>
          <p:cNvSpPr/>
          <p:nvPr/>
        </p:nvSpPr>
        <p:spPr>
          <a:xfrm>
            <a:off x="4562280" y="2908440"/>
            <a:ext cx="31932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300" spc="-1" strike="noStrike">
              <a:latin typeface="Arial"/>
            </a:endParaRPr>
          </a:p>
        </p:txBody>
      </p:sp>
      <p:grpSp>
        <p:nvGrpSpPr>
          <p:cNvPr id="1518" name="object 15"/>
          <p:cNvGrpSpPr/>
          <p:nvPr/>
        </p:nvGrpSpPr>
        <p:grpSpPr>
          <a:xfrm>
            <a:off x="2322720" y="2283120"/>
            <a:ext cx="2058120" cy="610200"/>
            <a:chOff x="2322720" y="2283120"/>
            <a:chExt cx="2058120" cy="610200"/>
          </a:xfrm>
        </p:grpSpPr>
        <p:sp>
          <p:nvSpPr>
            <p:cNvPr id="1519" name="object 16"/>
            <p:cNvSpPr/>
            <p:nvPr/>
          </p:nvSpPr>
          <p:spPr>
            <a:xfrm>
              <a:off x="2322720" y="2283120"/>
              <a:ext cx="1962720" cy="569520"/>
            </a:xfrm>
            <a:custGeom>
              <a:avLst/>
              <a:gdLst/>
              <a:ahLst/>
              <a:rect l="l" t="t" r="r" b="b"/>
              <a:pathLst>
                <a:path w="1965960" h="572769">
                  <a:moveTo>
                    <a:pt x="0" y="0"/>
                  </a:moveTo>
                  <a:lnTo>
                    <a:pt x="1039949" y="0"/>
                  </a:lnTo>
                  <a:lnTo>
                    <a:pt x="1039949" y="572399"/>
                  </a:lnTo>
                  <a:lnTo>
                    <a:pt x="1965599" y="572399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520" name="object 17" descr=""/>
            <p:cNvPicPr/>
            <p:nvPr/>
          </p:nvPicPr>
          <p:blipFill>
            <a:blip r:embed="rId3"/>
            <a:stretch/>
          </p:blipFill>
          <p:spPr>
            <a:xfrm>
              <a:off x="4278600" y="2814480"/>
              <a:ext cx="102240" cy="788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521" name="object 18"/>
          <p:cNvSpPr/>
          <p:nvPr/>
        </p:nvSpPr>
        <p:spPr>
          <a:xfrm>
            <a:off x="8701560" y="4908600"/>
            <a:ext cx="2610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478042AB-162B-4946-8AE6-E544D30D1174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64828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35" strike="noStrike">
                <a:solidFill>
                  <a:srgbClr val="000000"/>
                </a:solidFill>
                <a:latin typeface="Tahoma"/>
              </a:rPr>
              <a:t>Accessing</a:t>
            </a:r>
            <a:r>
              <a:rPr b="1" lang="fr-FR" sz="2400" spc="-126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Service</a:t>
            </a:r>
            <a:r>
              <a:rPr b="1" lang="fr-FR" sz="2400" spc="-126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6" strike="noStrike">
                <a:solidFill>
                  <a:srgbClr val="000000"/>
                </a:solidFill>
                <a:latin typeface="Tahoma"/>
              </a:rPr>
              <a:t>Account</a:t>
            </a:r>
            <a:r>
              <a:rPr b="1" lang="fr-FR" sz="2400" spc="-126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Authentication</a:t>
            </a:r>
            <a:r>
              <a:rPr b="1" lang="fr-FR" sz="2400" spc="-126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5" strike="noStrike">
                <a:solidFill>
                  <a:srgbClr val="000000"/>
                </a:solidFill>
                <a:latin typeface="Tahoma"/>
              </a:rPr>
              <a:t>Token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Automounted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6" strike="noStrike">
                <a:solidFill>
                  <a:srgbClr val="666666"/>
                </a:solidFill>
                <a:latin typeface="Lucida Sans Unicode"/>
              </a:rPr>
              <a:t>at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specific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Volume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mount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6" strike="noStrike">
                <a:solidFill>
                  <a:srgbClr val="666666"/>
                </a:solidFill>
                <a:latin typeface="Lucida Sans Unicode"/>
              </a:rPr>
              <a:t>path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523" name="object 6"/>
          <p:cNvSpPr/>
          <p:nvPr/>
        </p:nvSpPr>
        <p:spPr>
          <a:xfrm>
            <a:off x="8701560" y="4908600"/>
            <a:ext cx="2610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E407CA66-863B-4FDC-8092-5C52BCF2C5D5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524" name="" descr=""/>
          <p:cNvPicPr/>
          <p:nvPr/>
        </p:nvPicPr>
        <p:blipFill>
          <a:blip r:embed="rId1"/>
          <a:stretch/>
        </p:blipFill>
        <p:spPr>
          <a:xfrm>
            <a:off x="494280" y="1249560"/>
            <a:ext cx="6986880" cy="3609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16428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7" strike="noStrike">
                <a:solidFill>
                  <a:srgbClr val="000000"/>
                </a:solidFill>
                <a:latin typeface="Tahoma"/>
              </a:rPr>
              <a:t>Using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Service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6" strike="noStrike">
                <a:solidFill>
                  <a:srgbClr val="000000"/>
                </a:solidFill>
                <a:latin typeface="Tahoma"/>
              </a:rPr>
              <a:t>Account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in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Pod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Enables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authentication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token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auto-mounting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by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default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526" name="object 17"/>
          <p:cNvSpPr/>
          <p:nvPr/>
        </p:nvSpPr>
        <p:spPr>
          <a:xfrm>
            <a:off x="8701560" y="4908600"/>
            <a:ext cx="2610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0726D855-AB16-4A5F-83D3-BFFF462488DA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527" name="" descr=""/>
          <p:cNvPicPr/>
          <p:nvPr/>
        </p:nvPicPr>
        <p:blipFill>
          <a:blip r:embed="rId1"/>
          <a:stretch/>
        </p:blipFill>
        <p:spPr>
          <a:xfrm>
            <a:off x="540000" y="1440000"/>
            <a:ext cx="8278560" cy="2679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16428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RoleBinding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YAML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Manifest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Default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RBAC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policies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don’t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5" strike="noStrike">
                <a:solidFill>
                  <a:srgbClr val="666666"/>
                </a:solidFill>
                <a:latin typeface="Lucida Sans Unicode"/>
              </a:rPr>
              <a:t>span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5" strike="noStrike">
                <a:solidFill>
                  <a:srgbClr val="666666"/>
                </a:solidFill>
                <a:latin typeface="Lucida Sans Unicode"/>
              </a:rPr>
              <a:t>beyond</a:t>
            </a:r>
            <a:r>
              <a:rPr b="0" lang="fr-FR" sz="1600" spc="-97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kube-system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529" name="object 3"/>
          <p:cNvGrpSpPr/>
          <p:nvPr/>
        </p:nvGrpSpPr>
        <p:grpSpPr>
          <a:xfrm>
            <a:off x="478440" y="1330920"/>
            <a:ext cx="4189320" cy="2826000"/>
            <a:chOff x="478440" y="1330920"/>
            <a:chExt cx="4189320" cy="2826000"/>
          </a:xfrm>
        </p:grpSpPr>
        <p:pic>
          <p:nvPicPr>
            <p:cNvPr id="1530" name="object 4" descr=""/>
            <p:cNvPicPr/>
            <p:nvPr/>
          </p:nvPicPr>
          <p:blipFill>
            <a:blip r:embed="rId1"/>
            <a:stretch/>
          </p:blipFill>
          <p:spPr>
            <a:xfrm>
              <a:off x="478440" y="1330920"/>
              <a:ext cx="4189320" cy="28260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531" name="object 5"/>
            <p:cNvSpPr/>
            <p:nvPr/>
          </p:nvSpPr>
          <p:spPr>
            <a:xfrm>
              <a:off x="532080" y="1379160"/>
              <a:ext cx="4075200" cy="2711880"/>
            </a:xfrm>
            <a:custGeom>
              <a:avLst/>
              <a:gdLst/>
              <a:ahLst/>
              <a:rect l="l" t="t" r="r" b="b"/>
              <a:pathLst>
                <a:path w="4078604" h="2715260">
                  <a:moveTo>
                    <a:pt x="4078199" y="2715000"/>
                  </a:moveTo>
                  <a:lnTo>
                    <a:pt x="0" y="2715000"/>
                  </a:lnTo>
                  <a:lnTo>
                    <a:pt x="0" y="0"/>
                  </a:lnTo>
                  <a:lnTo>
                    <a:pt x="4078199" y="0"/>
                  </a:lnTo>
                  <a:lnTo>
                    <a:pt x="4078199" y="2715000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532" name="object 6"/>
          <p:cNvSpPr/>
          <p:nvPr/>
        </p:nvSpPr>
        <p:spPr>
          <a:xfrm>
            <a:off x="727920" y="1517760"/>
            <a:ext cx="3680280" cy="20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429"/>
              </a:lnSpc>
              <a:spcBef>
                <a:spcPts val="99"/>
              </a:spcBef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apiVersion:</a:t>
            </a:r>
            <a:r>
              <a:rPr b="1" lang="fr-FR" sz="12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rbac.authorization.k8s.io/v1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26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</a:t>
            </a:r>
            <a:r>
              <a:rPr b="1" lang="fr-FR" sz="1200" spc="-6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RoleBinding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26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metadata:</a:t>
            </a:r>
            <a:endParaRPr b="0" lang="fr-FR" sz="1200" spc="-1" strike="noStrike">
              <a:latin typeface="Arial"/>
            </a:endParaRPr>
          </a:p>
          <a:p>
            <a:pPr marL="195480">
              <a:lnSpc>
                <a:spcPts val="1426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200" spc="-6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serviceaccount-pod-rolebinding</a:t>
            </a:r>
            <a:endParaRPr b="0" lang="fr-FR" sz="1200" spc="-1" strike="noStrike">
              <a:latin typeface="Arial"/>
            </a:endParaRPr>
          </a:p>
          <a:p>
            <a:pPr marL="195480">
              <a:lnSpc>
                <a:spcPts val="1426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namespace:</a:t>
            </a:r>
            <a:r>
              <a:rPr b="1" lang="fr-FR" sz="1200" spc="-6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k97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26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roleRef:</a:t>
            </a:r>
            <a:endParaRPr b="0" lang="fr-FR" sz="1200" spc="-1" strike="noStrike">
              <a:latin typeface="Arial"/>
            </a:endParaRPr>
          </a:p>
          <a:p>
            <a:pPr marL="195480">
              <a:lnSpc>
                <a:spcPts val="1426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apiGroup:</a:t>
            </a:r>
            <a:r>
              <a:rPr b="1" lang="fr-FR" sz="1200" spc="-6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rbac.authorization.k8s.io</a:t>
            </a:r>
            <a:endParaRPr b="0" lang="fr-FR" sz="1200" spc="-1" strike="noStrike">
              <a:latin typeface="Arial"/>
            </a:endParaRPr>
          </a:p>
          <a:p>
            <a:pPr marL="195480">
              <a:lnSpc>
                <a:spcPts val="1426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</a:t>
            </a:r>
            <a:r>
              <a:rPr b="1" lang="fr-FR" sz="1200" spc="-6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ClusterRole</a:t>
            </a:r>
            <a:endParaRPr b="0" lang="fr-FR" sz="1200" spc="-1" strike="noStrike">
              <a:latin typeface="Arial"/>
            </a:endParaRPr>
          </a:p>
          <a:p>
            <a:pPr marL="195480">
              <a:lnSpc>
                <a:spcPts val="1426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200" spc="-6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list-pods-clusterrole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26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subjects: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34"/>
              </a:lnSpc>
              <a:buNone/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-</a:t>
            </a:r>
            <a:r>
              <a:rPr b="0" lang="fr-FR" sz="12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apiGroup:</a:t>
            </a:r>
            <a:r>
              <a:rPr b="1" lang="fr-FR" sz="1200" spc="-35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rbac.authorization.k8s.io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533" name="object 7"/>
          <p:cNvSpPr/>
          <p:nvPr/>
        </p:nvSpPr>
        <p:spPr>
          <a:xfrm>
            <a:off x="894240" y="3531240"/>
            <a:ext cx="1901160" cy="17244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8440">
              <a:lnSpc>
                <a:spcPts val="1361"/>
              </a:lnSpc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</a:t>
            </a:r>
            <a:r>
              <a:rPr b="1" lang="fr-FR" sz="1200" spc="-6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ServiceAccount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534" name="object 8"/>
          <p:cNvSpPr/>
          <p:nvPr/>
        </p:nvSpPr>
        <p:spPr>
          <a:xfrm>
            <a:off x="910800" y="3689280"/>
            <a:ext cx="111996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2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200" spc="-80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sa-api</a:t>
            </a:r>
            <a:endParaRPr b="0" lang="fr-FR" sz="1200" spc="-1" strike="noStrike">
              <a:latin typeface="Arial"/>
            </a:endParaRPr>
          </a:p>
        </p:txBody>
      </p:sp>
      <p:grpSp>
        <p:nvGrpSpPr>
          <p:cNvPr id="1535" name="object 9"/>
          <p:cNvGrpSpPr/>
          <p:nvPr/>
        </p:nvGrpSpPr>
        <p:grpSpPr>
          <a:xfrm>
            <a:off x="2961720" y="3128040"/>
            <a:ext cx="3297240" cy="563400"/>
            <a:chOff x="2961720" y="3128040"/>
            <a:chExt cx="3297240" cy="563400"/>
          </a:xfrm>
        </p:grpSpPr>
        <p:sp>
          <p:nvSpPr>
            <p:cNvPr id="1536" name="object 10"/>
            <p:cNvSpPr/>
            <p:nvPr/>
          </p:nvSpPr>
          <p:spPr>
            <a:xfrm>
              <a:off x="3057840" y="3128040"/>
              <a:ext cx="3201120" cy="522720"/>
            </a:xfrm>
            <a:custGeom>
              <a:avLst/>
              <a:gdLst/>
              <a:ahLst/>
              <a:rect l="l" t="t" r="r" b="b"/>
              <a:pathLst>
                <a:path w="3204210" h="525779">
                  <a:moveTo>
                    <a:pt x="3203699" y="0"/>
                  </a:moveTo>
                  <a:lnTo>
                    <a:pt x="3203699" y="525299"/>
                  </a:lnTo>
                  <a:lnTo>
                    <a:pt x="0" y="525299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537" name="object 11" descr=""/>
            <p:cNvPicPr/>
            <p:nvPr/>
          </p:nvPicPr>
          <p:blipFill>
            <a:blip r:embed="rId2"/>
            <a:stretch/>
          </p:blipFill>
          <p:spPr>
            <a:xfrm>
              <a:off x="2961720" y="3612600"/>
              <a:ext cx="102240" cy="788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538" name="object 12"/>
          <p:cNvSpPr/>
          <p:nvPr/>
        </p:nvSpPr>
        <p:spPr>
          <a:xfrm>
            <a:off x="5562360" y="2410920"/>
            <a:ext cx="1636200" cy="65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2600" algn="ctr">
              <a:lnSpc>
                <a:spcPts val="1650"/>
              </a:lnSpc>
              <a:spcBef>
                <a:spcPts val="181"/>
              </a:spcBef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Maps</a:t>
            </a:r>
            <a:r>
              <a:rPr b="0" lang="fr-FR" sz="1400" spc="-5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400" spc="-5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Service </a:t>
            </a:r>
            <a:r>
              <a:rPr b="0" lang="fr-FR" sz="1400" spc="-37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Account as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a  subject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539" name="object 13"/>
          <p:cNvSpPr/>
          <p:nvPr/>
        </p:nvSpPr>
        <p:spPr>
          <a:xfrm>
            <a:off x="8701560" y="4908600"/>
            <a:ext cx="26100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6EF07D36-87C0-47BD-9AF3-47D7764AA1CD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0" name="object 2"/>
          <p:cNvSpPr/>
          <p:nvPr/>
        </p:nvSpPr>
        <p:spPr>
          <a:xfrm>
            <a:off x="494280" y="371880"/>
            <a:ext cx="128268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2400" spc="-15" strike="noStrike">
                <a:solidFill>
                  <a:srgbClr val="000000"/>
                </a:solidFill>
                <a:latin typeface="Tahoma"/>
                <a:ea typeface="DejaVu Sans"/>
              </a:rPr>
              <a:t>Lab 14</a:t>
            </a:r>
            <a:endParaRPr b="0" lang="fr-FR" sz="2400" spc="-1" strike="noStrike">
              <a:latin typeface="Arial"/>
            </a:endParaRPr>
          </a:p>
        </p:txBody>
      </p:sp>
      <p:sp>
        <p:nvSpPr>
          <p:cNvPr id="1541" name="object 3"/>
          <p:cNvSpPr/>
          <p:nvPr/>
        </p:nvSpPr>
        <p:spPr>
          <a:xfrm>
            <a:off x="494280" y="1323360"/>
            <a:ext cx="4544280" cy="101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14000"/>
              </a:lnSpc>
              <a:spcBef>
                <a:spcPts val="99"/>
              </a:spcBef>
              <a:buNone/>
            </a:pP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Regulating</a:t>
            </a:r>
            <a:r>
              <a:rPr b="0" lang="fr-FR" sz="2900" spc="-19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12" strike="noStrike">
                <a:solidFill>
                  <a:srgbClr val="000000"/>
                </a:solidFill>
                <a:latin typeface="Arial MT"/>
                <a:ea typeface="DejaVu Sans"/>
              </a:rPr>
              <a:t>Access</a:t>
            </a:r>
            <a:r>
              <a:rPr b="0" lang="fr-FR" sz="2900" spc="-4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to</a:t>
            </a:r>
            <a:r>
              <a:rPr b="0" lang="fr-FR" sz="2900" spc="-19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12" strike="noStrike">
                <a:solidFill>
                  <a:srgbClr val="000000"/>
                </a:solidFill>
                <a:latin typeface="Arial MT"/>
                <a:ea typeface="DejaVu Sans"/>
              </a:rPr>
              <a:t>API </a:t>
            </a:r>
            <a:r>
              <a:rPr b="0" lang="fr-FR" sz="2900" spc="-79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Resources</a:t>
            </a:r>
            <a:r>
              <a:rPr b="0" lang="fr-FR" sz="29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with</a:t>
            </a:r>
            <a:r>
              <a:rPr b="0" lang="fr-FR" sz="29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RBAC</a:t>
            </a:r>
            <a:endParaRPr b="0" lang="fr-FR" sz="2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42" name="object 2"/>
          <p:cNvGrpSpPr/>
          <p:nvPr/>
        </p:nvGrpSpPr>
        <p:grpSpPr>
          <a:xfrm>
            <a:off x="0" y="0"/>
            <a:ext cx="9140760" cy="5140080"/>
            <a:chOff x="0" y="0"/>
            <a:chExt cx="9140760" cy="5140080"/>
          </a:xfrm>
        </p:grpSpPr>
        <p:pic>
          <p:nvPicPr>
            <p:cNvPr id="1543" name="object 3" descr=""/>
            <p:cNvPicPr/>
            <p:nvPr/>
          </p:nvPicPr>
          <p:blipFill>
            <a:blip r:embed="rId1"/>
            <a:stretch/>
          </p:blipFill>
          <p:spPr>
            <a:xfrm>
              <a:off x="0" y="0"/>
              <a:ext cx="9140760" cy="514008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544" name="object 4" descr=""/>
            <p:cNvPicPr/>
            <p:nvPr/>
          </p:nvPicPr>
          <p:blipFill>
            <a:blip r:embed="rId2"/>
            <a:stretch/>
          </p:blipFill>
          <p:spPr>
            <a:xfrm>
              <a:off x="8714160" y="146160"/>
              <a:ext cx="284400" cy="22968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545" name="PlaceHolder 1"/>
          <p:cNvSpPr>
            <a:spLocks noGrp="1"/>
          </p:cNvSpPr>
          <p:nvPr>
            <p:ph type="title"/>
          </p:nvPr>
        </p:nvSpPr>
        <p:spPr>
          <a:xfrm>
            <a:off x="494280" y="1665000"/>
            <a:ext cx="7784280" cy="1381680"/>
          </a:xfrm>
          <a:prstGeom prst="rect">
            <a:avLst/>
          </a:prstGeom>
          <a:noFill/>
          <a:ln w="0">
            <a:noFill/>
          </a:ln>
        </p:spPr>
        <p:txBody>
          <a:bodyPr lIns="0" rIns="0" tIns="195480" bIns="0" anchor="t">
            <a:noAutofit/>
          </a:bodyPr>
          <a:p>
            <a:pPr marL="12600">
              <a:lnSpc>
                <a:spcPct val="100000"/>
              </a:lnSpc>
              <a:spcBef>
                <a:spcPts val="1539"/>
              </a:spcBef>
              <a:buNone/>
            </a:pPr>
            <a:r>
              <a:rPr b="1" lang="fr-FR" sz="3600" spc="9" strike="noStrike">
                <a:solidFill>
                  <a:srgbClr val="ffffff"/>
                </a:solidFill>
                <a:latin typeface="Tahoma"/>
              </a:rPr>
              <a:t>Resource</a:t>
            </a:r>
            <a:r>
              <a:rPr b="1" lang="fr-FR" sz="3600" spc="-222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600" spc="55" strike="noStrike">
                <a:solidFill>
                  <a:srgbClr val="ffffff"/>
                </a:solidFill>
                <a:latin typeface="Tahoma"/>
              </a:rPr>
              <a:t>Management</a:t>
            </a:r>
            <a:endParaRPr b="0" lang="fr-FR" sz="36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720"/>
              </a:spcBef>
              <a:buNone/>
            </a:pPr>
            <a:r>
              <a:rPr b="0" lang="fr-FR" sz="1800" spc="21" strike="noStrike">
                <a:solidFill>
                  <a:srgbClr val="ffffff"/>
                </a:solidFill>
                <a:latin typeface="Lucida Sans Unicode"/>
              </a:rPr>
              <a:t>Resource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9" strike="noStrike">
                <a:solidFill>
                  <a:srgbClr val="ffffff"/>
                </a:solidFill>
                <a:latin typeface="Lucida Sans Unicode"/>
              </a:rPr>
              <a:t>requests</a:t>
            </a:r>
            <a:r>
              <a:rPr b="0" lang="fr-FR" sz="1800" spc="-86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86" strike="noStrike">
                <a:solidFill>
                  <a:srgbClr val="ffffff"/>
                </a:solidFill>
                <a:latin typeface="Lucida Sans Unicode"/>
              </a:rPr>
              <a:t>and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41" strike="noStrike">
                <a:solidFill>
                  <a:srgbClr val="ffffff"/>
                </a:solidFill>
                <a:latin typeface="Lucida Sans Unicode"/>
              </a:rPr>
              <a:t>limits,</a:t>
            </a:r>
            <a:r>
              <a:rPr b="0" lang="fr-FR" sz="1800" spc="-86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21" strike="noStrike">
                <a:solidFill>
                  <a:srgbClr val="ffffff"/>
                </a:solidFill>
                <a:latin typeface="Lucida Sans Unicode"/>
              </a:rPr>
              <a:t>resource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1" strike="noStrike">
                <a:solidFill>
                  <a:srgbClr val="ffffff"/>
                </a:solidFill>
                <a:latin typeface="Lucida Sans Unicode"/>
              </a:rPr>
              <a:t>quotas,</a:t>
            </a:r>
            <a:r>
              <a:rPr b="0" lang="fr-FR" sz="1800" spc="-86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21" strike="noStrike">
                <a:solidFill>
                  <a:srgbClr val="ffffff"/>
                </a:solidFill>
                <a:latin typeface="Lucida Sans Unicode"/>
              </a:rPr>
              <a:t>limit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46" strike="noStrike">
                <a:solidFill>
                  <a:srgbClr val="ffffff"/>
                </a:solidFill>
                <a:latin typeface="Lucida Sans Unicode"/>
              </a:rPr>
              <a:t>ranges</a:t>
            </a:r>
            <a:endParaRPr b="0" lang="fr-FR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6" name="PlaceHolder 1"/>
          <p:cNvSpPr>
            <a:spLocks noGrp="1"/>
          </p:cNvSpPr>
          <p:nvPr>
            <p:ph type="title"/>
          </p:nvPr>
        </p:nvSpPr>
        <p:spPr>
          <a:xfrm>
            <a:off x="386280" y="342720"/>
            <a:ext cx="886428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21" strike="noStrike">
                <a:solidFill>
                  <a:srgbClr val="000000"/>
                </a:solidFill>
                <a:latin typeface="Tahoma"/>
              </a:rPr>
              <a:t>Managnig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" strike="noStrike">
                <a:solidFill>
                  <a:srgbClr val="000000"/>
                </a:solidFill>
                <a:latin typeface="Tahoma"/>
              </a:rPr>
              <a:t>Resources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for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" strike="noStrike">
                <a:solidFill>
                  <a:srgbClr val="000000"/>
                </a:solidFill>
                <a:latin typeface="Tahoma"/>
              </a:rPr>
              <a:t>Objects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35" strike="noStrike">
                <a:solidFill>
                  <a:srgbClr val="000000"/>
                </a:solidFill>
                <a:latin typeface="Tahoma"/>
              </a:rPr>
              <a:t>and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80" strike="noStrike">
                <a:solidFill>
                  <a:srgbClr val="000000"/>
                </a:solidFill>
                <a:latin typeface="Tahoma"/>
              </a:rPr>
              <a:t>Namespaces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55" strike="noStrike">
                <a:solidFill>
                  <a:srgbClr val="666666"/>
                </a:solidFill>
                <a:latin typeface="Lucida Sans Unicode"/>
              </a:rPr>
              <a:t>It’s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best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practice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0" strike="noStrike">
                <a:solidFill>
                  <a:srgbClr val="666666"/>
                </a:solidFill>
                <a:latin typeface="Lucida Sans Unicode"/>
              </a:rPr>
              <a:t>make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5" strike="noStrike">
                <a:solidFill>
                  <a:srgbClr val="666666"/>
                </a:solidFill>
                <a:latin typeface="Lucida Sans Unicode"/>
              </a:rPr>
              <a:t>statement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about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resource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consumption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547" name="object 4"/>
          <p:cNvSpPr/>
          <p:nvPr/>
        </p:nvSpPr>
        <p:spPr>
          <a:xfrm>
            <a:off x="8701560" y="4908600"/>
            <a:ext cx="2602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4879C0A2-D522-41A0-92F3-6B8D8A8D6572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548" name="object 3"/>
          <p:cNvSpPr/>
          <p:nvPr/>
        </p:nvSpPr>
        <p:spPr>
          <a:xfrm>
            <a:off x="600120" y="1360440"/>
            <a:ext cx="8398440" cy="335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Containers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define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minimum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amount of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resources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needed to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run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application, as well as 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maximum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amount of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resources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application is allowed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consume.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Application developers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should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determine 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right-sizing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with load tests or at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runtime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by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monitoring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resource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consumption.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Enforcement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resources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be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constrained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namespace-level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with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endParaRPr b="0" lang="fr-FR" sz="1600" spc="-1" strike="noStrike">
              <a:latin typeface="Arial"/>
            </a:endParaRPr>
          </a:p>
          <a:p>
            <a:pPr marL="363960">
              <a:lnSpc>
                <a:spcPct val="100000"/>
              </a:lnSpc>
              <a:spcBef>
                <a:spcPts val="255"/>
              </a:spcBef>
              <a:buNone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ResourceQuota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.</a:t>
            </a:r>
            <a:endParaRPr b="0" lang="fr-FR" sz="1600" spc="-1" strike="noStrike">
              <a:latin typeface="Arial"/>
            </a:endParaRPr>
          </a:p>
          <a:p>
            <a:pPr marL="363960"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LimitRange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policy that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constrains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or defaults 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resource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allocations for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single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object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(e.g.,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for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Pod or 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PersistentVolumeClaim).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9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32428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Resource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35" strike="noStrike">
                <a:solidFill>
                  <a:srgbClr val="000000"/>
                </a:solidFill>
                <a:latin typeface="Tahoma"/>
              </a:rPr>
              <a:t>Units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in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Kubernetes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CPU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units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memory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0" strike="noStrike">
                <a:solidFill>
                  <a:srgbClr val="666666"/>
                </a:solidFill>
                <a:latin typeface="Lucida Sans Unicode"/>
              </a:rPr>
              <a:t>as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fixed-point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number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power-of-two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equivalents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550" name="object 4"/>
          <p:cNvSpPr/>
          <p:nvPr/>
        </p:nvSpPr>
        <p:spPr>
          <a:xfrm>
            <a:off x="8701560" y="4908600"/>
            <a:ext cx="2602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E794EA10-CD31-4D0E-B46C-64C7ADB2FF31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551" name="object 3"/>
          <p:cNvSpPr/>
          <p:nvPr/>
        </p:nvSpPr>
        <p:spPr>
          <a:xfrm>
            <a:off x="600120" y="1360440"/>
            <a:ext cx="8038440" cy="139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Kubernetes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measures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CPU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resources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millicores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and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memory resources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 bytes. </a:t>
            </a:r>
            <a:r>
              <a:rPr b="0" lang="fr-FR" sz="1600" spc="-4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That</a:t>
            </a:r>
            <a:r>
              <a:rPr b="0" lang="fr-FR" sz="1600" spc="-35" strike="noStrike">
                <a:solidFill>
                  <a:srgbClr val="000000"/>
                </a:solidFill>
                <a:latin typeface="Arial MT"/>
                <a:ea typeface="DejaVu Sans"/>
              </a:rPr>
              <a:t>’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wh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y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you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might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see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resources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define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d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a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600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  <a:ea typeface="DejaVu Sans"/>
              </a:rPr>
              <a:t>m</a:t>
            </a:r>
            <a:r>
              <a:rPr b="0" lang="fr-FR" sz="1600" spc="-58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100Mi</a:t>
            </a:r>
            <a:r>
              <a:rPr b="0" lang="fr-FR" sz="1600" spc="-92" strike="noStrike">
                <a:solidFill>
                  <a:srgbClr val="000000"/>
                </a:solidFill>
                <a:latin typeface="Courier New"/>
                <a:ea typeface="DejaVu Sans"/>
              </a:rPr>
              <a:t>b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For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deep dive on those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resource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units, 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it’s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worth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cross-referencing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section </a:t>
            </a:r>
            <a:r>
              <a:rPr b="0" lang="fr-FR" sz="1600" spc="-432" strike="noStrike">
                <a:solidFill>
                  <a:srgbClr val="d3002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1"/>
              </a:rPr>
              <a:t>“Resource</a:t>
            </a:r>
            <a:r>
              <a:rPr b="0" lang="fr-FR" sz="1600" spc="-12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2"/>
              </a:rPr>
              <a:t> </a:t>
            </a:r>
            <a:r>
              <a:rPr b="0" lang="fr-FR" sz="1600" spc="-7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3"/>
              </a:rPr>
              <a:t>units in Kubernetes”</a:t>
            </a:r>
            <a:r>
              <a:rPr b="0" lang="fr-FR" sz="1600" spc="-1" strike="noStrike" u="sng">
                <a:solidFill>
                  <a:srgbClr val="0000ff"/>
                </a:solidFill>
                <a:uFillTx/>
                <a:latin typeface="Arial MT"/>
                <a:ea typeface="DejaVu Sans"/>
                <a:hlinkClick r:id="rId4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 the 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official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documentation.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98428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Resource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Requests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Definition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runtime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effects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553" name="object 4"/>
          <p:cNvSpPr/>
          <p:nvPr/>
        </p:nvSpPr>
        <p:spPr>
          <a:xfrm>
            <a:off x="8701560" y="4908600"/>
            <a:ext cx="2602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8788F183-8808-4D49-B427-518CC66C970B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554" name="object 3"/>
          <p:cNvSpPr/>
          <p:nvPr/>
        </p:nvSpPr>
        <p:spPr>
          <a:xfrm>
            <a:off x="600120" y="1360440"/>
            <a:ext cx="8218440" cy="223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Containers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define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minimum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amount of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resources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needed to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run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application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via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21" strike="noStrike">
                <a:solidFill>
                  <a:srgbClr val="000000"/>
                </a:solidFill>
                <a:latin typeface="Courier New"/>
                <a:ea typeface="DejaVu Sans"/>
              </a:rPr>
              <a:t>spec.containers[].resources.requests</a:t>
            </a:r>
            <a:r>
              <a:rPr b="0" lang="fr-FR" sz="1600" spc="-21" strike="noStrike">
                <a:solidFill>
                  <a:srgbClr val="000000"/>
                </a:solidFill>
                <a:latin typeface="Arial MT"/>
                <a:ea typeface="DejaVu Sans"/>
              </a:rPr>
              <a:t>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1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Resource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types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include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CPU,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21" strike="noStrike">
                <a:solidFill>
                  <a:srgbClr val="000000"/>
                </a:solidFill>
                <a:latin typeface="Arial MT"/>
                <a:ea typeface="DejaVu Sans"/>
              </a:rPr>
              <a:t>memory,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huge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page,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ephemeral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storage.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If Pod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cannot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scheduled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on any node due to 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insufficient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resource 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availability,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you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may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see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PodExceedsFreeCP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  <a:ea typeface="DejaVu Sans"/>
              </a:rPr>
              <a:t>U</a:t>
            </a:r>
            <a:r>
              <a:rPr b="0" lang="fr-FR" sz="1600" spc="-7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PodExceedsFreeMemor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  <a:ea typeface="DejaVu Sans"/>
              </a:rPr>
              <a:t>y</a:t>
            </a:r>
            <a:r>
              <a:rPr b="0" lang="fr-FR" sz="1600" spc="-817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status.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98428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" strike="noStrike">
                <a:solidFill>
                  <a:srgbClr val="000000"/>
                </a:solidFill>
                <a:latin typeface="Tahoma"/>
              </a:rPr>
              <a:t>Example</a:t>
            </a:r>
            <a:r>
              <a:rPr b="1" lang="fr-FR" sz="2400" spc="-16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7" strike="noStrike">
                <a:solidFill>
                  <a:srgbClr val="000000"/>
                </a:solidFill>
                <a:latin typeface="Tahoma"/>
              </a:rPr>
              <a:t>Scheduling</a:t>
            </a:r>
            <a:r>
              <a:rPr b="1" lang="fr-FR" sz="2400" spc="-16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" strike="noStrike">
                <a:solidFill>
                  <a:srgbClr val="000000"/>
                </a:solidFill>
                <a:latin typeface="Tahoma"/>
              </a:rPr>
              <a:t>Scenario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Node’s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resource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6" strike="noStrike">
                <a:solidFill>
                  <a:srgbClr val="666666"/>
                </a:solidFill>
                <a:latin typeface="Lucida Sans Unicode"/>
              </a:rPr>
              <a:t>capacity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needs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0" strike="noStrike">
                <a:solidFill>
                  <a:srgbClr val="666666"/>
                </a:solidFill>
                <a:latin typeface="Lucida Sans Unicode"/>
              </a:rPr>
              <a:t>be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able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55" strike="noStrike">
                <a:solidFill>
                  <a:srgbClr val="666666"/>
                </a:solidFill>
                <a:latin typeface="Lucida Sans Unicode"/>
              </a:rPr>
              <a:t>fulfill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46" strike="noStrike">
                <a:solidFill>
                  <a:srgbClr val="666666"/>
                </a:solidFill>
                <a:latin typeface="Lucida Sans Unicode"/>
              </a:rPr>
              <a:t>it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1556" name="object 3" descr=""/>
          <p:cNvPicPr/>
          <p:nvPr/>
        </p:nvPicPr>
        <p:blipFill>
          <a:blip r:embed="rId1"/>
          <a:stretch/>
        </p:blipFill>
        <p:spPr>
          <a:xfrm>
            <a:off x="2143800" y="1573920"/>
            <a:ext cx="4765680" cy="3054240"/>
          </a:xfrm>
          <a:prstGeom prst="rect">
            <a:avLst/>
          </a:prstGeom>
          <a:ln w="0">
            <a:noFill/>
          </a:ln>
        </p:spPr>
      </p:pic>
      <p:sp>
        <p:nvSpPr>
          <p:cNvPr id="1557" name="object 4"/>
          <p:cNvSpPr/>
          <p:nvPr/>
        </p:nvSpPr>
        <p:spPr>
          <a:xfrm>
            <a:off x="8701560" y="4908600"/>
            <a:ext cx="2602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0E9AB654-9C73-4669-AE85-850FC0297B00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70428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Resource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Requests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Options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Configuration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options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example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values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559" name="object 6"/>
          <p:cNvSpPr/>
          <p:nvPr/>
        </p:nvSpPr>
        <p:spPr>
          <a:xfrm>
            <a:off x="8701560" y="4908600"/>
            <a:ext cx="2602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9C01D040-8B47-405F-A0C8-5D27D06DACF9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560" name="" descr=""/>
          <p:cNvPicPr/>
          <p:nvPr/>
        </p:nvPicPr>
        <p:blipFill>
          <a:blip r:embed="rId1"/>
          <a:stretch/>
        </p:blipFill>
        <p:spPr>
          <a:xfrm>
            <a:off x="494280" y="1293120"/>
            <a:ext cx="8098560" cy="2845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1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96428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Resource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Requests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YAML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Manifest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Minimum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6" strike="noStrike">
                <a:solidFill>
                  <a:srgbClr val="666666"/>
                </a:solidFill>
                <a:latin typeface="Lucida Sans Unicode"/>
              </a:rPr>
              <a:t>amount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resources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defined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container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562" name="object 6"/>
          <p:cNvSpPr/>
          <p:nvPr/>
        </p:nvSpPr>
        <p:spPr>
          <a:xfrm>
            <a:off x="8701560" y="4908600"/>
            <a:ext cx="2602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411AC32F-AE60-4835-A952-0FC62018DC35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563" name="" descr=""/>
          <p:cNvPicPr/>
          <p:nvPr/>
        </p:nvPicPr>
        <p:blipFill>
          <a:blip r:embed="rId1"/>
          <a:stretch/>
        </p:blipFill>
        <p:spPr>
          <a:xfrm>
            <a:off x="540000" y="1309680"/>
            <a:ext cx="5398560" cy="3430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4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62428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Resource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32" strike="noStrike">
                <a:solidFill>
                  <a:srgbClr val="000000"/>
                </a:solidFill>
                <a:latin typeface="Tahoma"/>
              </a:rPr>
              <a:t>Limits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Definition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runtime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effects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565" name="object 4"/>
          <p:cNvSpPr/>
          <p:nvPr/>
        </p:nvSpPr>
        <p:spPr>
          <a:xfrm>
            <a:off x="8701560" y="4908600"/>
            <a:ext cx="2602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29BF656A-47AA-4399-8D29-73A2F49AAAA7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566" name="object 3"/>
          <p:cNvSpPr/>
          <p:nvPr/>
        </p:nvSpPr>
        <p:spPr>
          <a:xfrm>
            <a:off x="600120" y="1360440"/>
            <a:ext cx="8218440" cy="19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Containers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define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maximum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amount of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resources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allowed to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consumed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by the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application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via </a:t>
            </a:r>
            <a:r>
              <a:rPr b="0" lang="fr-FR" sz="1600" spc="-21" strike="noStrike">
                <a:solidFill>
                  <a:srgbClr val="000000"/>
                </a:solidFill>
                <a:latin typeface="Courier New"/>
                <a:ea typeface="DejaVu Sans"/>
              </a:rPr>
              <a:t>spec.containers[].resources.limits</a:t>
            </a:r>
            <a:r>
              <a:rPr b="0" lang="fr-FR" sz="1600" spc="-21" strike="noStrike">
                <a:solidFill>
                  <a:srgbClr val="000000"/>
                </a:solidFill>
                <a:latin typeface="Arial MT"/>
                <a:ea typeface="DejaVu Sans"/>
              </a:rPr>
              <a:t>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1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Resource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types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include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CPU,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21" strike="noStrike">
                <a:solidFill>
                  <a:srgbClr val="000000"/>
                </a:solidFill>
                <a:latin typeface="Arial MT"/>
                <a:ea typeface="DejaVu Sans"/>
              </a:rPr>
              <a:t>memory,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huge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page,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ephemeral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storage.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Container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runtime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decides how to handle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situation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where application exceeds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allocated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capacity,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e.g. termination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 application process.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7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34428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Resource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32" strike="noStrike">
                <a:solidFill>
                  <a:srgbClr val="000000"/>
                </a:solidFill>
                <a:latin typeface="Tahoma"/>
              </a:rPr>
              <a:t>Limits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Options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Configuration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options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example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values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568" name="object 6"/>
          <p:cNvSpPr/>
          <p:nvPr/>
        </p:nvSpPr>
        <p:spPr>
          <a:xfrm>
            <a:off x="8701560" y="4908600"/>
            <a:ext cx="2602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48E89568-6711-4F78-94D7-8BC1800C9DC4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569" name="" descr=""/>
          <p:cNvPicPr/>
          <p:nvPr/>
        </p:nvPicPr>
        <p:blipFill>
          <a:blip r:embed="rId1"/>
          <a:stretch/>
        </p:blipFill>
        <p:spPr>
          <a:xfrm>
            <a:off x="494280" y="1315080"/>
            <a:ext cx="8098560" cy="2871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0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24428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Resource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32" strike="noStrike">
                <a:solidFill>
                  <a:srgbClr val="000000"/>
                </a:solidFill>
                <a:latin typeface="Tahoma"/>
              </a:rPr>
              <a:t>Limits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YAML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Manifest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Do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not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allow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more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5" strike="noStrike">
                <a:solidFill>
                  <a:srgbClr val="666666"/>
                </a:solidFill>
                <a:latin typeface="Lucida Sans Unicode"/>
              </a:rPr>
              <a:t>than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allotted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resource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amounts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571" name="object 6"/>
          <p:cNvSpPr/>
          <p:nvPr/>
        </p:nvSpPr>
        <p:spPr>
          <a:xfrm>
            <a:off x="8701560" y="4908600"/>
            <a:ext cx="2602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997A9216-C28A-4067-B321-7401D22D05BD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572" name="" descr=""/>
          <p:cNvPicPr/>
          <p:nvPr/>
        </p:nvPicPr>
        <p:blipFill>
          <a:blip r:embed="rId1"/>
          <a:stretch/>
        </p:blipFill>
        <p:spPr>
          <a:xfrm>
            <a:off x="540000" y="1255680"/>
            <a:ext cx="5286960" cy="33508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3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06428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Pod</a:t>
            </a:r>
            <a:r>
              <a:rPr b="1" lang="fr-FR" sz="2400" spc="-16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7" strike="noStrike">
                <a:solidFill>
                  <a:srgbClr val="000000"/>
                </a:solidFill>
                <a:latin typeface="Tahoma"/>
              </a:rPr>
              <a:t>Scheduling</a:t>
            </a:r>
            <a:r>
              <a:rPr b="1" lang="fr-FR" sz="2400" spc="-16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Details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After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scheduling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Pod,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you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00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5" strike="noStrike">
                <a:solidFill>
                  <a:srgbClr val="666666"/>
                </a:solidFill>
                <a:latin typeface="Lucida Sans Unicode"/>
              </a:rPr>
              <a:t>check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runtime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information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574" name="object 4"/>
          <p:cNvSpPr/>
          <p:nvPr/>
        </p:nvSpPr>
        <p:spPr>
          <a:xfrm>
            <a:off x="521280" y="1425600"/>
            <a:ext cx="7937280" cy="180324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520" bIns="0" anchor="t">
            <a:spAutoFit/>
          </a:bodyPr>
          <a:p>
            <a:pPr>
              <a:lnSpc>
                <a:spcPct val="100000"/>
              </a:lnSpc>
              <a:spcBef>
                <a:spcPts val="20"/>
              </a:spcBef>
              <a:buNone/>
            </a:pPr>
            <a:endParaRPr b="0" lang="fr-FR" sz="1050" spc="-1" strike="noStrike">
              <a:latin typeface="Arial"/>
            </a:endParaRPr>
          </a:p>
          <a:p>
            <a:pPr marL="165600">
              <a:lnSpc>
                <a:spcPts val="1434"/>
              </a:lnSpc>
              <a:buNone/>
            </a:pPr>
            <a:r>
              <a:rPr b="1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2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2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get</a:t>
            </a:r>
            <a:r>
              <a:rPr b="1" lang="fr-FR" sz="12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pod</a:t>
            </a:r>
            <a:r>
              <a:rPr b="1" lang="fr-FR" sz="12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rate-limiter</a:t>
            </a:r>
            <a:r>
              <a:rPr b="1" lang="fr-FR" sz="12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-o</a:t>
            </a:r>
            <a:r>
              <a:rPr b="1" lang="fr-FR" sz="12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yaml</a:t>
            </a:r>
            <a:r>
              <a:rPr b="1" lang="fr-FR" sz="12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|</a:t>
            </a:r>
            <a:r>
              <a:rPr b="1" lang="fr-FR" sz="12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grep</a:t>
            </a:r>
            <a:r>
              <a:rPr b="1" lang="fr-FR" sz="12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nodeName:</a:t>
            </a:r>
            <a:endParaRPr b="0" lang="fr-FR" sz="1200" spc="-1" strike="noStrike">
              <a:latin typeface="Arial"/>
            </a:endParaRPr>
          </a:p>
          <a:p>
            <a:pPr marL="348480">
              <a:lnSpc>
                <a:spcPts val="1434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nodeName:</a:t>
            </a:r>
            <a:r>
              <a:rPr b="0" lang="fr-FR" sz="12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worker-3</a:t>
            </a:r>
            <a:endParaRPr b="0" lang="fr-FR" sz="1200" spc="-1" strike="noStrike">
              <a:latin typeface="Arial"/>
            </a:endParaRPr>
          </a:p>
          <a:p>
            <a:pPr marL="348480">
              <a:lnSpc>
                <a:spcPct val="100000"/>
              </a:lnSpc>
              <a:spcBef>
                <a:spcPts val="51"/>
              </a:spcBef>
              <a:buNone/>
            </a:pPr>
            <a:endParaRPr b="0" lang="fr-FR" sz="1200" spc="-1" strike="noStrike">
              <a:latin typeface="Arial"/>
            </a:endParaRPr>
          </a:p>
          <a:p>
            <a:pPr marL="165600">
              <a:lnSpc>
                <a:spcPts val="1429"/>
              </a:lnSpc>
              <a:buNone/>
            </a:pPr>
            <a:r>
              <a:rPr b="1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describe</a:t>
            </a:r>
            <a:r>
              <a:rPr b="1" lang="fr-FR" sz="12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node</a:t>
            </a:r>
            <a:r>
              <a:rPr b="1" lang="fr-FR" sz="12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worker-3</a:t>
            </a:r>
            <a:endParaRPr b="0" lang="fr-FR" sz="1200" spc="-1" strike="noStrike">
              <a:latin typeface="Arial"/>
            </a:endParaRPr>
          </a:p>
          <a:p>
            <a:pPr marL="165600">
              <a:lnSpc>
                <a:spcPts val="1426"/>
              </a:lnSpc>
              <a:buNone/>
            </a:pP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200" spc="-1" strike="noStrike">
              <a:latin typeface="Arial"/>
            </a:endParaRPr>
          </a:p>
          <a:p>
            <a:pPr marL="165600">
              <a:lnSpc>
                <a:spcPts val="1426"/>
              </a:lnSpc>
              <a:buNone/>
              <a:tabLst>
                <a:tab algn="l" pos="290844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Non-terminated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Pods: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(3</a:t>
            </a:r>
            <a:r>
              <a:rPr b="0" lang="fr-FR" sz="12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in</a:t>
            </a:r>
            <a:r>
              <a:rPr b="0" lang="fr-FR" sz="12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total)</a:t>
            </a:r>
            <a:endParaRPr b="0" lang="fr-FR" sz="1200" spc="-1" strike="noStrike">
              <a:latin typeface="Arial"/>
            </a:endParaRPr>
          </a:p>
          <a:p>
            <a:pPr marL="348480">
              <a:lnSpc>
                <a:spcPts val="1426"/>
              </a:lnSpc>
              <a:buNone/>
              <a:tabLst>
                <a:tab algn="l" pos="2908800"/>
                <a:tab algn="l" pos="4737600"/>
                <a:tab algn="l" pos="6017400"/>
                <a:tab algn="l" pos="711468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Namespace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CPU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Requests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CPU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Limits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200" spc="-1" strike="noStrike">
              <a:latin typeface="Arial"/>
            </a:endParaRPr>
          </a:p>
          <a:p>
            <a:pPr marL="348480">
              <a:lnSpc>
                <a:spcPts val="1426"/>
              </a:lnSpc>
              <a:buNone/>
              <a:tabLst>
                <a:tab algn="l" pos="2908800"/>
                <a:tab algn="l" pos="4737600"/>
                <a:tab algn="l" pos="6017400"/>
                <a:tab algn="l" pos="711468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---------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----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------------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----------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200" spc="-1" strike="noStrike">
              <a:latin typeface="Arial"/>
            </a:endParaRPr>
          </a:p>
          <a:p>
            <a:pPr marL="348480">
              <a:lnSpc>
                <a:spcPts val="1434"/>
              </a:lnSpc>
              <a:buNone/>
              <a:tabLst>
                <a:tab algn="l" pos="2908800"/>
                <a:tab algn="l" pos="4737240"/>
                <a:tab algn="l" pos="6017400"/>
                <a:tab algn="l" pos="711468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default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rate-limiter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1250m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(62%)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0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 (0%)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575" name="object 5"/>
          <p:cNvSpPr/>
          <p:nvPr/>
        </p:nvSpPr>
        <p:spPr>
          <a:xfrm>
            <a:off x="8701560" y="4908600"/>
            <a:ext cx="2602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5DD26631-642A-4634-AE67-0E7F0A6D07EE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6" name="PlaceHolder 1"/>
          <p:cNvSpPr>
            <a:spLocks noGrp="1"/>
          </p:cNvSpPr>
          <p:nvPr>
            <p:ph type="title"/>
          </p:nvPr>
        </p:nvSpPr>
        <p:spPr>
          <a:xfrm>
            <a:off x="314280" y="342720"/>
            <a:ext cx="9044280" cy="1276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Resource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5" strike="noStrike">
                <a:solidFill>
                  <a:srgbClr val="000000"/>
                </a:solidFill>
                <a:latin typeface="Tahoma"/>
              </a:rPr>
              <a:t>Requests/Limits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YAML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Manifest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46" strike="noStrike">
                <a:solidFill>
                  <a:srgbClr val="666666"/>
                </a:solidFill>
                <a:latin typeface="Lucida Sans Unicode"/>
              </a:rPr>
              <a:t>It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is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considered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best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practice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define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requests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i="1" lang="fr-FR" sz="1600" spc="46" strike="noStrike">
                <a:solidFill>
                  <a:srgbClr val="666666"/>
                </a:solidFill>
                <a:latin typeface="Verdana"/>
              </a:rPr>
              <a:t>and</a:t>
            </a:r>
            <a:r>
              <a:rPr b="0" i="1" lang="fr-FR" sz="1600" spc="-137" strike="noStrike">
                <a:solidFill>
                  <a:srgbClr val="666666"/>
                </a:solidFill>
                <a:latin typeface="Verdana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limits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every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container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577" name="object 6"/>
          <p:cNvSpPr/>
          <p:nvPr/>
        </p:nvSpPr>
        <p:spPr>
          <a:xfrm>
            <a:off x="8701560" y="4908600"/>
            <a:ext cx="2602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FC0722F6-0306-4CD9-943F-C7842BEFA35C}" type="slidenum">
              <a:rPr b="0" lang="fr-FR" sz="800" spc="-15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578" name="" descr=""/>
          <p:cNvPicPr/>
          <p:nvPr/>
        </p:nvPicPr>
        <p:blipFill>
          <a:blip r:embed="rId1"/>
          <a:stretch/>
        </p:blipFill>
        <p:spPr>
          <a:xfrm>
            <a:off x="469800" y="1260000"/>
            <a:ext cx="2948760" cy="2749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9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804280" cy="1276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5" strike="noStrike">
                <a:solidFill>
                  <a:srgbClr val="000000"/>
                </a:solidFill>
                <a:latin typeface="Tahoma"/>
              </a:rPr>
              <a:t>What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is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" strike="noStrike">
                <a:solidFill>
                  <a:srgbClr val="000000"/>
                </a:solidFill>
                <a:latin typeface="Tahoma"/>
              </a:rPr>
              <a:t>ResourceQuota?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Defines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resource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constraints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per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6" strike="noStrike">
                <a:solidFill>
                  <a:srgbClr val="666666"/>
                </a:solidFill>
                <a:latin typeface="Lucida Sans Unicode"/>
              </a:rPr>
              <a:t>namespace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580" name="object 4"/>
          <p:cNvSpPr/>
          <p:nvPr/>
        </p:nvSpPr>
        <p:spPr>
          <a:xfrm>
            <a:off x="8701560" y="4908600"/>
            <a:ext cx="2595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89D1E030-8676-4A3A-A9F0-39DA198D6AAC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581" name="object 3"/>
          <p:cNvSpPr/>
          <p:nvPr/>
        </p:nvSpPr>
        <p:spPr>
          <a:xfrm>
            <a:off x="600120" y="1360440"/>
            <a:ext cx="8038440" cy="223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Constraints that limit aggregate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resource consumption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or limit the quantity of objects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(e.g.,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number of Pods 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Secrets) that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be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created.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requests.cp</a:t>
            </a:r>
            <a:r>
              <a:rPr b="0" lang="fr-FR" sz="1600" spc="-182" strike="noStrike">
                <a:solidFill>
                  <a:srgbClr val="000000"/>
                </a:solidFill>
                <a:latin typeface="Courier New"/>
                <a:ea typeface="DejaVu Sans"/>
              </a:rPr>
              <a:t>u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/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requests.memor</a:t>
            </a:r>
            <a:r>
              <a:rPr b="0" lang="fr-FR" sz="1600" spc="-225" strike="noStrike">
                <a:solidFill>
                  <a:srgbClr val="000000"/>
                </a:solidFill>
                <a:latin typeface="Courier New"/>
                <a:ea typeface="DejaVu Sans"/>
              </a:rPr>
              <a:t>y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:</a:t>
            </a:r>
            <a:r>
              <a:rPr b="0" lang="fr-FR" sz="1600" spc="-9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Acros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al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l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pod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i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n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non-termina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l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state,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the 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sum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 CPU/memory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requests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cannot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exceed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this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value.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limits.cp</a:t>
            </a:r>
            <a:r>
              <a:rPr b="0" lang="fr-FR" sz="1600" spc="-151" strike="noStrike">
                <a:solidFill>
                  <a:srgbClr val="000000"/>
                </a:solidFill>
                <a:latin typeface="Courier New"/>
                <a:ea typeface="DejaVu Sans"/>
              </a:rPr>
              <a:t>u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/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limits.memor</a:t>
            </a:r>
            <a:r>
              <a:rPr b="0" lang="fr-FR" sz="1600" spc="-197" strike="noStrike">
                <a:solidFill>
                  <a:srgbClr val="000000"/>
                </a:solidFill>
                <a:latin typeface="Courier New"/>
                <a:ea typeface="DejaVu Sans"/>
              </a:rPr>
              <a:t>y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:</a:t>
            </a:r>
            <a:r>
              <a:rPr b="0" lang="fr-FR" sz="1600" spc="-9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Acros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al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l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pod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i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n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non-termina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l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state,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th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sum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of  CPU/memory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limits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cannot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exceed this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value.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24428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7" strike="noStrike">
                <a:solidFill>
                  <a:srgbClr val="000000"/>
                </a:solidFill>
                <a:latin typeface="Tahoma"/>
              </a:rPr>
              <a:t>ResourceQuota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YAML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Manifest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Limits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04" strike="noStrike">
                <a:solidFill>
                  <a:srgbClr val="666666"/>
                </a:solidFill>
                <a:latin typeface="Lucida Sans Unicode"/>
              </a:rPr>
              <a:t>#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objects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0" strike="noStrike">
                <a:solidFill>
                  <a:srgbClr val="666666"/>
                </a:solidFill>
                <a:latin typeface="Lucida Sans Unicode"/>
              </a:rPr>
              <a:t>aggregate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container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resource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consumption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583" name="object 6"/>
          <p:cNvSpPr/>
          <p:nvPr/>
        </p:nvSpPr>
        <p:spPr>
          <a:xfrm>
            <a:off x="8701560" y="4908600"/>
            <a:ext cx="2595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C0C3826A-52A6-42C1-B9A5-55884B75B945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584" name="" descr=""/>
          <p:cNvPicPr/>
          <p:nvPr/>
        </p:nvPicPr>
        <p:blipFill>
          <a:blip r:embed="rId1"/>
          <a:stretch/>
        </p:blipFill>
        <p:spPr>
          <a:xfrm>
            <a:off x="540000" y="1440000"/>
            <a:ext cx="3627720" cy="3129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444280" cy="1276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No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5" strike="noStrike">
                <a:solidFill>
                  <a:srgbClr val="000000"/>
                </a:solidFill>
                <a:latin typeface="Tahoma"/>
              </a:rPr>
              <a:t>Requests/Limits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Definition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Scheduler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rejects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creation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object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586" name="object 4"/>
          <p:cNvSpPr/>
          <p:nvPr/>
        </p:nvSpPr>
        <p:spPr>
          <a:xfrm>
            <a:off x="521280" y="1425600"/>
            <a:ext cx="7771680" cy="100260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54800" bIns="0" anchor="t">
            <a:spAutoFit/>
          </a:bodyPr>
          <a:p>
            <a:pPr marL="165600" algn="just">
              <a:lnSpc>
                <a:spcPts val="1664"/>
              </a:lnSpc>
              <a:spcBef>
                <a:spcPts val="121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-f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nginx-pod.yaml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-n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team-awesome</a:t>
            </a:r>
            <a:endParaRPr b="0" lang="fr-FR" sz="1400" spc="-1" strike="noStrike">
              <a:latin typeface="Arial"/>
            </a:endParaRPr>
          </a:p>
          <a:p>
            <a:pPr marL="165600" algn="just">
              <a:lnSpc>
                <a:spcPts val="1650"/>
              </a:lnSpc>
              <a:spcBef>
                <a:spcPts val="65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Error from server (Forbidden): error when creating "nginx-pod.yaml": </a:t>
            </a:r>
            <a:r>
              <a:rPr b="0" lang="fr-FR" sz="1400" spc="-1" strike="noStrike">
                <a:solidFill>
                  <a:srgbClr val="000000"/>
                </a:solidFill>
                <a:latin typeface="MS Gothic"/>
                <a:ea typeface="DejaVu Sans"/>
              </a:rPr>
              <a:t>↵ </a:t>
            </a:r>
            <a:r>
              <a:rPr b="0" lang="fr-FR" sz="1400" spc="-687" strike="noStrike">
                <a:solidFill>
                  <a:srgbClr val="000000"/>
                </a:solidFill>
                <a:latin typeface="MS Gothic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pods "nginx" is forbidden: failed quota: awesome-quota: must specify </a:t>
            </a:r>
            <a:r>
              <a:rPr b="0" lang="fr-FR" sz="1400" spc="-1" strike="noStrike">
                <a:solidFill>
                  <a:srgbClr val="000000"/>
                </a:solidFill>
                <a:latin typeface="MS Gothic"/>
                <a:ea typeface="DejaVu Sans"/>
              </a:rPr>
              <a:t>↵ </a:t>
            </a:r>
            <a:r>
              <a:rPr b="0" lang="fr-FR" sz="1400" spc="-687" strike="noStrike">
                <a:solidFill>
                  <a:srgbClr val="000000"/>
                </a:solidFill>
                <a:latin typeface="MS Gothic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limits.cpu,limits.memory,requests.cpu,requests.memory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587" name="object 5"/>
          <p:cNvSpPr/>
          <p:nvPr/>
        </p:nvSpPr>
        <p:spPr>
          <a:xfrm>
            <a:off x="8701560" y="4908600"/>
            <a:ext cx="2595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31AA53C2-C7E2-4015-8BA0-0FA7A3E95A51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34428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Exceeds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5" strike="noStrike">
                <a:solidFill>
                  <a:srgbClr val="000000"/>
                </a:solidFill>
                <a:latin typeface="Tahoma"/>
              </a:rPr>
              <a:t>Requests/Limits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Definition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Scheduler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rejects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creation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object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589" name="object 4"/>
          <p:cNvSpPr/>
          <p:nvPr/>
        </p:nvSpPr>
        <p:spPr>
          <a:xfrm>
            <a:off x="521280" y="1425600"/>
            <a:ext cx="7771680" cy="142164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54800" bIns="0" anchor="t">
            <a:spAutoFit/>
          </a:bodyPr>
          <a:p>
            <a:pPr marL="165600">
              <a:lnSpc>
                <a:spcPts val="1664"/>
              </a:lnSpc>
              <a:spcBef>
                <a:spcPts val="121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-f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nginx-pod.yaml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-n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team-awesome</a:t>
            </a:r>
            <a:endParaRPr b="0" lang="fr-FR" sz="1400" spc="-1" strike="noStrike">
              <a:latin typeface="Arial"/>
            </a:endParaRPr>
          </a:p>
          <a:p>
            <a:pPr marL="165600">
              <a:lnSpc>
                <a:spcPts val="1650"/>
              </a:lnSpc>
              <a:spcBef>
                <a:spcPts val="65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Error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from</a:t>
            </a:r>
            <a:r>
              <a:rPr b="0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server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(Forbidden):</a:t>
            </a:r>
            <a:r>
              <a:rPr b="0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error</a:t>
            </a:r>
            <a:r>
              <a:rPr b="0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when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creating</a:t>
            </a:r>
            <a:r>
              <a:rPr b="0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"nginx-pod.yaml":</a:t>
            </a:r>
            <a:r>
              <a:rPr b="0" lang="fr-FR" sz="1400" spc="180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MS Gothic"/>
                <a:ea typeface="DejaVu Sans"/>
              </a:rPr>
              <a:t>↵ </a:t>
            </a:r>
            <a:r>
              <a:rPr b="0" lang="fr-FR" sz="1400" spc="-687" strike="noStrike">
                <a:solidFill>
                  <a:srgbClr val="000000"/>
                </a:solidFill>
                <a:latin typeface="MS Gothic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pods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"nginx"</a:t>
            </a:r>
            <a:r>
              <a:rPr b="0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is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forbidden:</a:t>
            </a:r>
            <a:r>
              <a:rPr b="0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exceeded</a:t>
            </a:r>
            <a:r>
              <a:rPr b="0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quota: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awesome-quota,</a:t>
            </a:r>
            <a:r>
              <a:rPr b="0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requested:</a:t>
            </a:r>
            <a:r>
              <a:rPr b="0" lang="fr-FR" sz="1400" spc="180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MS Gothic"/>
                <a:ea typeface="DejaVu Sans"/>
              </a:rPr>
              <a:t>↵ </a:t>
            </a:r>
            <a:r>
              <a:rPr b="0" lang="fr-FR" sz="1400" spc="-687" strike="noStrike">
                <a:solidFill>
                  <a:srgbClr val="000000"/>
                </a:solidFill>
                <a:latin typeface="MS Gothic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pods=1,requests.cpu=500m,requests.memory=512Mi,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used:</a:t>
            </a:r>
            <a:r>
              <a:rPr b="0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pods=2,</a:t>
            </a:r>
            <a:r>
              <a:rPr b="0" lang="fr-FR" sz="1400" spc="60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MS Gothic"/>
                <a:ea typeface="DejaVu Sans"/>
              </a:rPr>
              <a:t>↵ 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requests.cpu=1,requests.memory=1024Mi, limited: pods=2, </a:t>
            </a:r>
            <a:r>
              <a:rPr b="0" lang="fr-FR" sz="1400" spc="-1" strike="noStrike">
                <a:solidFill>
                  <a:srgbClr val="000000"/>
                </a:solidFill>
                <a:latin typeface="MS Gothic"/>
                <a:ea typeface="DejaVu Sans"/>
              </a:rPr>
              <a:t>↵ 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requests.cpu=1,requests.memory=1024Mi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590" name="object 5"/>
          <p:cNvSpPr/>
          <p:nvPr/>
        </p:nvSpPr>
        <p:spPr>
          <a:xfrm>
            <a:off x="8701560" y="4908600"/>
            <a:ext cx="2595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663253D2-CEA0-4613-BF4E-6B8DDC774C3F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1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98428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Inspecting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7" strike="noStrike">
                <a:solidFill>
                  <a:srgbClr val="000000"/>
                </a:solidFill>
                <a:latin typeface="Tahoma"/>
              </a:rPr>
              <a:t>ResourceQuota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Renders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consumed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resources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defined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5" strike="noStrike">
                <a:solidFill>
                  <a:srgbClr val="666666"/>
                </a:solidFill>
                <a:latin typeface="Lucida Sans Unicode"/>
              </a:rPr>
              <a:t>hard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limits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592" name="object 3"/>
          <p:cNvGrpSpPr/>
          <p:nvPr/>
        </p:nvGrpSpPr>
        <p:grpSpPr>
          <a:xfrm>
            <a:off x="467640" y="1377000"/>
            <a:ext cx="7172280" cy="2651760"/>
            <a:chOff x="467640" y="1377000"/>
            <a:chExt cx="7172280" cy="2651760"/>
          </a:xfrm>
        </p:grpSpPr>
        <p:pic>
          <p:nvPicPr>
            <p:cNvPr id="1593" name="object 4" descr=""/>
            <p:cNvPicPr/>
            <p:nvPr/>
          </p:nvPicPr>
          <p:blipFill>
            <a:blip r:embed="rId1"/>
            <a:stretch/>
          </p:blipFill>
          <p:spPr>
            <a:xfrm>
              <a:off x="467640" y="1377000"/>
              <a:ext cx="7172280" cy="265176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594" name="object 5"/>
            <p:cNvSpPr/>
            <p:nvPr/>
          </p:nvSpPr>
          <p:spPr>
            <a:xfrm>
              <a:off x="521280" y="1425600"/>
              <a:ext cx="7057800" cy="2538000"/>
            </a:xfrm>
            <a:custGeom>
              <a:avLst/>
              <a:gdLst/>
              <a:ahLst/>
              <a:rect l="l" t="t" r="r" b="b"/>
              <a:pathLst>
                <a:path w="7061200" h="2541270">
                  <a:moveTo>
                    <a:pt x="7061099" y="2540699"/>
                  </a:moveTo>
                  <a:lnTo>
                    <a:pt x="0" y="2540699"/>
                  </a:lnTo>
                  <a:lnTo>
                    <a:pt x="0" y="0"/>
                  </a:lnTo>
                  <a:lnTo>
                    <a:pt x="7061099" y="0"/>
                  </a:lnTo>
                  <a:lnTo>
                    <a:pt x="7061099" y="25406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595" name="object 6"/>
          <p:cNvSpPr/>
          <p:nvPr/>
        </p:nvSpPr>
        <p:spPr>
          <a:xfrm>
            <a:off x="687600" y="1567800"/>
            <a:ext cx="662292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describe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resourcequota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awesome-quota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-n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team-awesome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596" name="object 9"/>
          <p:cNvSpPr/>
          <p:nvPr/>
        </p:nvSpPr>
        <p:spPr>
          <a:xfrm>
            <a:off x="8701560" y="4908600"/>
            <a:ext cx="25956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1EA321B5-5E5B-47EB-B00B-6A3CA8AC3D55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597" name="object 7"/>
          <p:cNvSpPr/>
          <p:nvPr/>
        </p:nvSpPr>
        <p:spPr>
          <a:xfrm>
            <a:off x="2500920" y="1777320"/>
            <a:ext cx="139680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>
              <a:lnSpc>
                <a:spcPts val="1650"/>
              </a:lnSpc>
              <a:spcBef>
                <a:spcPts val="181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awesome-quota  team-awesome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598" name="object 8"/>
          <p:cNvSpPr/>
          <p:nvPr/>
        </p:nvSpPr>
        <p:spPr>
          <a:xfrm>
            <a:off x="687600" y="1777320"/>
            <a:ext cx="3103200" cy="190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ts val="1664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Name:</a:t>
            </a:r>
            <a:endParaRPr b="0" lang="fr-FR" sz="1400" spc="-1" strike="noStrike">
              <a:latin typeface="Arial"/>
            </a:endParaRPr>
          </a:p>
          <a:p>
            <a:pPr>
              <a:lnSpc>
                <a:spcPts val="1650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Namespace:</a:t>
            </a:r>
            <a:endParaRPr b="0" lang="fr-FR" sz="1400" spc="-1" strike="noStrike">
              <a:latin typeface="Arial"/>
            </a:endParaRPr>
          </a:p>
          <a:p>
            <a:pPr>
              <a:lnSpc>
                <a:spcPts val="1650"/>
              </a:lnSpc>
              <a:buNone/>
              <a:tabLst>
                <a:tab algn="l" pos="1812960"/>
                <a:tab algn="l" pos="255960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Resource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Used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Hard</a:t>
            </a:r>
            <a:endParaRPr b="0" lang="fr-FR" sz="1400" spc="-1" strike="noStrike">
              <a:latin typeface="Arial"/>
            </a:endParaRPr>
          </a:p>
          <a:p>
            <a:pPr>
              <a:lnSpc>
                <a:spcPts val="1650"/>
              </a:lnSpc>
              <a:buNone/>
              <a:tabLst>
                <a:tab algn="l" pos="1812960"/>
                <a:tab algn="l" pos="255960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--------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----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----</a:t>
            </a:r>
            <a:endParaRPr b="0" lang="fr-FR" sz="1400" spc="-1" strike="noStrike">
              <a:latin typeface="Arial"/>
            </a:endParaRPr>
          </a:p>
          <a:p>
            <a:pPr>
              <a:lnSpc>
                <a:spcPts val="1650"/>
              </a:lnSpc>
              <a:spcBef>
                <a:spcPts val="65"/>
              </a:spcBef>
              <a:buNone/>
              <a:tabLst>
                <a:tab algn="l" pos="1812960"/>
                <a:tab algn="l" pos="255960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limits.cpu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2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4 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limits.memor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y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2048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m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4096m pods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2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2</a:t>
            </a:r>
            <a:endParaRPr b="0" lang="fr-FR" sz="1400" spc="-1" strike="noStrike">
              <a:latin typeface="Arial"/>
            </a:endParaRPr>
          </a:p>
          <a:p>
            <a:pPr>
              <a:lnSpc>
                <a:spcPts val="1650"/>
              </a:lnSpc>
              <a:buNone/>
              <a:tabLst>
                <a:tab algn="l" pos="1812960"/>
                <a:tab algn="l" pos="2559600"/>
              </a:tabLst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requests.cpu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1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1 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requests.memor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y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1024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m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1024m</a:t>
            </a:r>
            <a:endParaRPr b="0" lang="fr-FR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9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42428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5" strike="noStrike">
                <a:solidFill>
                  <a:srgbClr val="000000"/>
                </a:solidFill>
                <a:latin typeface="Tahoma"/>
              </a:rPr>
              <a:t>What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is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LimitRange?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Constraints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defaults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resource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allocations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6" strike="noStrike">
                <a:solidFill>
                  <a:srgbClr val="666666"/>
                </a:solidFill>
                <a:latin typeface="Lucida Sans Unicode"/>
              </a:rPr>
              <a:t>an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object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type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600" name="object 4"/>
          <p:cNvSpPr/>
          <p:nvPr/>
        </p:nvSpPr>
        <p:spPr>
          <a:xfrm>
            <a:off x="8701560" y="4908600"/>
            <a:ext cx="2602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679D1D70-36F2-4731-B239-DAD6F55AF95B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601" name="object 3"/>
          <p:cNvSpPr/>
          <p:nvPr/>
        </p:nvSpPr>
        <p:spPr>
          <a:xfrm>
            <a:off x="600120" y="1360440"/>
            <a:ext cx="8218440" cy="280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Enforces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minimum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and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maximum compute resources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usage per Pod or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container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namespace.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Enforces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minimum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and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maximum storage request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per 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PersistentVolumeClaim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namespace.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Enforces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ratio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between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request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limit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resource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namespace.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Set default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requests/limits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for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compute resources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namespace and automatically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injects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them into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containers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at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runtime.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60428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5" strike="noStrike">
                <a:solidFill>
                  <a:srgbClr val="000000"/>
                </a:solidFill>
                <a:latin typeface="Tahoma"/>
              </a:rPr>
              <a:t>LimitRange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YAML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Manifest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Sets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defaults,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minimum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maximum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CPU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allocation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containers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603" name="object 20"/>
          <p:cNvSpPr/>
          <p:nvPr/>
        </p:nvSpPr>
        <p:spPr>
          <a:xfrm>
            <a:off x="8701560" y="4908600"/>
            <a:ext cx="2602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62C49B92-28B4-4DC4-83AB-FCD5BCFB603C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604" name="" descr=""/>
          <p:cNvPicPr/>
          <p:nvPr/>
        </p:nvPicPr>
        <p:blipFill>
          <a:blip r:embed="rId1"/>
          <a:stretch/>
        </p:blipFill>
        <p:spPr>
          <a:xfrm>
            <a:off x="494280" y="1114560"/>
            <a:ext cx="6982200" cy="3744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32428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29" strike="noStrike">
                <a:solidFill>
                  <a:srgbClr val="000000"/>
                </a:solidFill>
                <a:latin typeface="Tahoma"/>
              </a:rPr>
              <a:t>Automatically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" strike="noStrike">
                <a:solidFill>
                  <a:srgbClr val="000000"/>
                </a:solidFill>
                <a:latin typeface="Tahoma"/>
              </a:rPr>
              <a:t>Uses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Container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Defaults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for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Pod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Container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doesn’t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provide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2" strike="noStrike">
                <a:solidFill>
                  <a:srgbClr val="666666"/>
                </a:solidFill>
                <a:latin typeface="Lucida Sans Unicode"/>
              </a:rPr>
              <a:t>any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resource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requests/limits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606" name="object 6"/>
          <p:cNvSpPr/>
          <p:nvPr/>
        </p:nvSpPr>
        <p:spPr>
          <a:xfrm>
            <a:off x="8701560" y="4908600"/>
            <a:ext cx="2602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BCAD4DE5-F0A2-4D83-AB69-38CCCB7884D6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607" name="" descr=""/>
          <p:cNvPicPr/>
          <p:nvPr/>
        </p:nvPicPr>
        <p:blipFill>
          <a:blip r:embed="rId1"/>
          <a:stretch/>
        </p:blipFill>
        <p:spPr>
          <a:xfrm>
            <a:off x="480960" y="1260000"/>
            <a:ext cx="4089600" cy="3055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14428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7" strike="noStrike">
                <a:solidFill>
                  <a:srgbClr val="000000"/>
                </a:solidFill>
                <a:latin typeface="Tahoma"/>
              </a:rPr>
              <a:t>Rejected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Pod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7" strike="noStrike">
                <a:solidFill>
                  <a:srgbClr val="000000"/>
                </a:solidFill>
                <a:latin typeface="Tahoma"/>
              </a:rPr>
              <a:t>Creation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for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" strike="noStrike">
                <a:solidFill>
                  <a:srgbClr val="000000"/>
                </a:solidFill>
                <a:latin typeface="Tahoma"/>
              </a:rPr>
              <a:t>Exceeded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32" strike="noStrike">
                <a:solidFill>
                  <a:srgbClr val="000000"/>
                </a:solidFill>
                <a:latin typeface="Tahoma"/>
              </a:rPr>
              <a:t>Limits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Requests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higher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maximum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CPU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resources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5" strike="noStrike">
                <a:solidFill>
                  <a:srgbClr val="666666"/>
                </a:solidFill>
                <a:latin typeface="Lucida Sans Unicode"/>
              </a:rPr>
              <a:t>than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defined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by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LimitRange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609" name="object 4"/>
          <p:cNvSpPr/>
          <p:nvPr/>
        </p:nvSpPr>
        <p:spPr>
          <a:xfrm>
            <a:off x="521280" y="1425600"/>
            <a:ext cx="7771680" cy="100260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54800" bIns="0" anchor="t">
            <a:spAutoFit/>
          </a:bodyPr>
          <a:p>
            <a:pPr marL="165600" algn="just">
              <a:lnSpc>
                <a:spcPts val="1664"/>
              </a:lnSpc>
              <a:spcBef>
                <a:spcPts val="121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-f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pod.yaml</a:t>
            </a:r>
            <a:endParaRPr b="0" lang="fr-FR" sz="1400" spc="-1" strike="noStrike">
              <a:latin typeface="Arial"/>
            </a:endParaRPr>
          </a:p>
          <a:p>
            <a:pPr marL="165600" algn="just">
              <a:lnSpc>
                <a:spcPts val="1650"/>
              </a:lnSpc>
              <a:spcBef>
                <a:spcPts val="65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Error from server (Forbidden): error when creating "pod.yaml": pods </a:t>
            </a:r>
            <a:r>
              <a:rPr b="0" lang="fr-FR" sz="1400" spc="-1" strike="noStrike">
                <a:solidFill>
                  <a:srgbClr val="000000"/>
                </a:solidFill>
                <a:latin typeface="MS Gothic"/>
                <a:ea typeface="DejaVu Sans"/>
              </a:rPr>
              <a:t>↵ </a:t>
            </a:r>
            <a:r>
              <a:rPr b="0" lang="fr-FR" sz="1400" spc="-687" strike="noStrike">
                <a:solidFill>
                  <a:srgbClr val="000000"/>
                </a:solidFill>
                <a:latin typeface="MS Gothic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"rate-limiter" is forbidden: maximum cpu usage per Container is 1,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MS Gothic"/>
                <a:ea typeface="DejaVu Sans"/>
              </a:rPr>
              <a:t>↵ </a:t>
            </a:r>
            <a:r>
              <a:rPr b="0" lang="fr-FR" sz="1400" spc="-687" strike="noStrike">
                <a:solidFill>
                  <a:srgbClr val="000000"/>
                </a:solidFill>
                <a:latin typeface="MS Gothic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but</a:t>
            </a:r>
            <a:r>
              <a:rPr b="0" lang="fr-FR" sz="14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limit is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2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610" name="object 5"/>
          <p:cNvSpPr/>
          <p:nvPr/>
        </p:nvSpPr>
        <p:spPr>
          <a:xfrm>
            <a:off x="8701560" y="4908600"/>
            <a:ext cx="26028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8FE1BF82-7AE1-4F01-B302-31B5460E8B84}" type="slidenum">
              <a:rPr b="0" lang="fr-FR" sz="800" spc="-21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1" name="object 2"/>
          <p:cNvSpPr/>
          <p:nvPr/>
        </p:nvSpPr>
        <p:spPr>
          <a:xfrm>
            <a:off x="494280" y="371880"/>
            <a:ext cx="128268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2400" spc="-15" strike="noStrike">
                <a:solidFill>
                  <a:srgbClr val="000000"/>
                </a:solidFill>
                <a:latin typeface="Tahoma"/>
                <a:ea typeface="DejaVu Sans"/>
              </a:rPr>
              <a:t>Lab 15</a:t>
            </a:r>
            <a:endParaRPr b="0" lang="fr-FR" sz="2400" spc="-1" strike="noStrike">
              <a:latin typeface="Arial"/>
            </a:endParaRPr>
          </a:p>
        </p:txBody>
      </p:sp>
      <p:sp>
        <p:nvSpPr>
          <p:cNvPr id="1612" name="object 3"/>
          <p:cNvSpPr/>
          <p:nvPr/>
        </p:nvSpPr>
        <p:spPr>
          <a:xfrm>
            <a:off x="494280" y="1323360"/>
            <a:ext cx="5804280" cy="51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14000"/>
              </a:lnSpc>
              <a:spcBef>
                <a:spcPts val="99"/>
              </a:spcBef>
              <a:buNone/>
            </a:pP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Resources requirements</a:t>
            </a:r>
            <a:endParaRPr b="0" lang="fr-FR" sz="2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13" name="object 2"/>
          <p:cNvGrpSpPr/>
          <p:nvPr/>
        </p:nvGrpSpPr>
        <p:grpSpPr>
          <a:xfrm>
            <a:off x="0" y="0"/>
            <a:ext cx="9140760" cy="5140080"/>
            <a:chOff x="0" y="0"/>
            <a:chExt cx="9140760" cy="5140080"/>
          </a:xfrm>
        </p:grpSpPr>
        <p:pic>
          <p:nvPicPr>
            <p:cNvPr id="1614" name="object 3" descr=""/>
            <p:cNvPicPr/>
            <p:nvPr/>
          </p:nvPicPr>
          <p:blipFill>
            <a:blip r:embed="rId1"/>
            <a:stretch/>
          </p:blipFill>
          <p:spPr>
            <a:xfrm>
              <a:off x="0" y="0"/>
              <a:ext cx="9140760" cy="514008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615" name="object 4" descr=""/>
            <p:cNvPicPr/>
            <p:nvPr/>
          </p:nvPicPr>
          <p:blipFill>
            <a:blip r:embed="rId2"/>
            <a:stretch/>
          </p:blipFill>
          <p:spPr>
            <a:xfrm>
              <a:off x="8714160" y="146160"/>
              <a:ext cx="284400" cy="22968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616" name="PlaceHolder 1"/>
          <p:cNvSpPr>
            <a:spLocks noGrp="1"/>
          </p:cNvSpPr>
          <p:nvPr>
            <p:ph type="title"/>
          </p:nvPr>
        </p:nvSpPr>
        <p:spPr>
          <a:xfrm>
            <a:off x="494280" y="1665000"/>
            <a:ext cx="6704280" cy="1656000"/>
          </a:xfrm>
          <a:prstGeom prst="rect">
            <a:avLst/>
          </a:prstGeom>
          <a:noFill/>
          <a:ln w="0">
            <a:noFill/>
          </a:ln>
        </p:spPr>
        <p:txBody>
          <a:bodyPr lIns="0" rIns="0" tIns="195480" bIns="0" anchor="t">
            <a:noAutofit/>
          </a:bodyPr>
          <a:p>
            <a:pPr marL="12600">
              <a:lnSpc>
                <a:spcPct val="100000"/>
              </a:lnSpc>
              <a:spcBef>
                <a:spcPts val="1539"/>
              </a:spcBef>
              <a:buNone/>
            </a:pPr>
            <a:r>
              <a:rPr b="1" lang="fr-FR" sz="3600" spc="55" strike="noStrike">
                <a:solidFill>
                  <a:srgbClr val="ffffff"/>
                </a:solidFill>
                <a:latin typeface="Tahoma"/>
              </a:rPr>
              <a:t>Con</a:t>
            </a:r>
            <a:r>
              <a:rPr b="1" lang="fr-FR" sz="3600" spc="55" strike="noStrike">
                <a:solidFill>
                  <a:srgbClr val="ffffff"/>
                </a:solidFill>
                <a:latin typeface="Tahoma"/>
              </a:rPr>
              <a:t>fig</a:t>
            </a:r>
            <a:r>
              <a:rPr b="1" lang="fr-FR" sz="3600" spc="55" strike="noStrike">
                <a:solidFill>
                  <a:srgbClr val="ffffff"/>
                </a:solidFill>
                <a:latin typeface="Tahoma"/>
              </a:rPr>
              <a:t>Ma</a:t>
            </a:r>
            <a:r>
              <a:rPr b="1" lang="fr-FR" sz="3600" spc="55" strike="noStrike">
                <a:solidFill>
                  <a:srgbClr val="ffffff"/>
                </a:solidFill>
                <a:latin typeface="Tahoma"/>
              </a:rPr>
              <a:t>ps</a:t>
            </a:r>
            <a:r>
              <a:rPr b="1" lang="fr-FR" sz="3600" spc="-231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600" spc="66" strike="noStrike">
                <a:solidFill>
                  <a:srgbClr val="ffffff"/>
                </a:solidFill>
                <a:latin typeface="Tahoma"/>
              </a:rPr>
              <a:t>and</a:t>
            </a:r>
            <a:r>
              <a:rPr b="1" lang="fr-FR" sz="3600" spc="-225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600" spc="9" strike="noStrike">
                <a:solidFill>
                  <a:srgbClr val="ffffff"/>
                </a:solidFill>
                <a:latin typeface="Tahoma"/>
              </a:rPr>
              <a:t>Sec</a:t>
            </a:r>
            <a:r>
              <a:rPr b="1" lang="fr-FR" sz="3600" spc="9" strike="noStrike">
                <a:solidFill>
                  <a:srgbClr val="ffffff"/>
                </a:solidFill>
                <a:latin typeface="Tahoma"/>
              </a:rPr>
              <a:t>rets</a:t>
            </a:r>
            <a:endParaRPr b="0" lang="fr-FR" sz="36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720"/>
              </a:spcBef>
              <a:buNone/>
            </a:pPr>
            <a:r>
              <a:rPr b="0" lang="fr-FR" sz="1800" spc="-7" strike="noStrike">
                <a:solidFill>
                  <a:srgbClr val="ffffff"/>
                </a:solidFill>
                <a:latin typeface="Lucida Sans Unicode"/>
              </a:rPr>
              <a:t>Defining</a:t>
            </a:r>
            <a:r>
              <a:rPr b="0" lang="fr-FR" sz="1800" spc="-86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86" strike="noStrike">
                <a:solidFill>
                  <a:srgbClr val="ffffff"/>
                </a:solidFill>
                <a:latin typeface="Lucida Sans Unicode"/>
              </a:rPr>
              <a:t>and</a:t>
            </a:r>
            <a:r>
              <a:rPr b="0" lang="fr-FR" sz="1800" spc="-86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29" strike="noStrike">
                <a:solidFill>
                  <a:srgbClr val="ffffff"/>
                </a:solidFill>
                <a:latin typeface="Lucida Sans Unicode"/>
              </a:rPr>
              <a:t>consumi</a:t>
            </a:r>
            <a:r>
              <a:rPr b="0" lang="fr-FR" sz="1800" spc="29" strike="noStrike">
                <a:solidFill>
                  <a:srgbClr val="ffffff"/>
                </a:solidFill>
                <a:latin typeface="Lucida Sans Unicode"/>
              </a:rPr>
              <a:t>ng</a:t>
            </a:r>
            <a:r>
              <a:rPr b="0" lang="fr-FR" sz="1800" spc="-86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1" strike="noStrike">
                <a:solidFill>
                  <a:srgbClr val="ffffff"/>
                </a:solidFill>
                <a:latin typeface="Lucida Sans Unicode"/>
              </a:rPr>
              <a:t>configura</a:t>
            </a:r>
            <a:r>
              <a:rPr b="0" lang="fr-FR" sz="1800" spc="1" strike="noStrike">
                <a:solidFill>
                  <a:srgbClr val="ffffff"/>
                </a:solidFill>
                <a:latin typeface="Lucida Sans Unicode"/>
              </a:rPr>
              <a:t>tion</a:t>
            </a:r>
            <a:r>
              <a:rPr b="0" lang="fr-FR" sz="1800" spc="-86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100" strike="noStrike">
                <a:solidFill>
                  <a:srgbClr val="ffffff"/>
                </a:solidFill>
                <a:latin typeface="Lucida Sans Unicode"/>
              </a:rPr>
              <a:t>data</a:t>
            </a:r>
            <a:endParaRPr b="0" lang="fr-FR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7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34428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6" strike="noStrike">
                <a:solidFill>
                  <a:srgbClr val="000000"/>
                </a:solidFill>
                <a:latin typeface="Tahoma"/>
              </a:rPr>
              <a:t>Defining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Configuration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6" strike="noStrike">
                <a:solidFill>
                  <a:srgbClr val="000000"/>
                </a:solidFill>
                <a:latin typeface="Tahoma"/>
              </a:rPr>
              <a:t>Data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Control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runtime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behavior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centralized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information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618" name="PlaceHolder 2"/>
          <p:cNvSpPr>
            <a:spLocks noGrp="1"/>
          </p:cNvSpPr>
          <p:nvPr>
            <p:ph type="sldNum" idx="16"/>
          </p:nvPr>
        </p:nvSpPr>
        <p:spPr>
          <a:xfrm>
            <a:off x="8701560" y="4908600"/>
            <a:ext cx="261720" cy="299808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8B01C192-7A86-4C42-A709-A5F7432A5584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sp>
        <p:nvSpPr>
          <p:cNvPr id="1619" name="object 3"/>
          <p:cNvSpPr/>
          <p:nvPr/>
        </p:nvSpPr>
        <p:spPr>
          <a:xfrm>
            <a:off x="600120" y="1360440"/>
            <a:ext cx="8218440" cy="30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Stored as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key-value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pairs in dedicated Kubernetes primitives with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lifecycle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decoupled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from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consuming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Pod.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1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ConfigMap:</a:t>
            </a:r>
            <a:r>
              <a:rPr b="0" i="1" lang="fr-FR" sz="1600" spc="-15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Plain-text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values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suited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configuring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applications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e.g.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flags,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URLs.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Secret: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Base64-encoded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values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suited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storing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sensitive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data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like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passwords,</a:t>
            </a:r>
            <a:r>
              <a:rPr b="0" lang="fr-FR" sz="1600" spc="-9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API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keys,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or SSL</a:t>
            </a:r>
            <a:r>
              <a:rPr b="0" lang="fr-FR" sz="1600" spc="-6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certificates. </a:t>
            </a:r>
            <a:r>
              <a:rPr b="1" lang="fr-FR" sz="1600" spc="-21" strike="noStrike">
                <a:solidFill>
                  <a:srgbClr val="000000"/>
                </a:solidFill>
                <a:latin typeface="Arial"/>
                <a:ea typeface="DejaVu Sans"/>
              </a:rPr>
              <a:t>Values</a:t>
            </a:r>
            <a:r>
              <a:rPr b="1" lang="fr-FR" sz="1600" spc="-12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are not encrypted!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ConfigMap and Secret objects are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stored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 etcd in unencrypted form by default.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Encryption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 data in etcd is</a:t>
            </a:r>
            <a:r>
              <a:rPr b="0" lang="fr-FR" sz="1600" spc="15" strike="noStrike">
                <a:solidFill>
                  <a:srgbClr val="d3002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1"/>
              </a:rPr>
              <a:t>configurable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0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44428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26" strike="noStrike">
                <a:solidFill>
                  <a:srgbClr val="000000"/>
                </a:solidFill>
                <a:latin typeface="Tahoma"/>
              </a:rPr>
              <a:t>Consuming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Configuration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6" strike="noStrike">
                <a:solidFill>
                  <a:srgbClr val="000000"/>
                </a:solidFill>
                <a:latin typeface="Tahoma"/>
              </a:rPr>
              <a:t>Data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Applicable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ConfigMap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Secret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1621" name="object 3" descr=""/>
          <p:cNvPicPr/>
          <p:nvPr/>
        </p:nvPicPr>
        <p:blipFill>
          <a:blip r:embed="rId1"/>
          <a:stretch/>
        </p:blipFill>
        <p:spPr>
          <a:xfrm>
            <a:off x="2247840" y="1557360"/>
            <a:ext cx="4732200" cy="3206160"/>
          </a:xfrm>
          <a:prstGeom prst="rect">
            <a:avLst/>
          </a:prstGeom>
          <a:ln w="0">
            <a:noFill/>
          </a:ln>
        </p:spPr>
      </p:pic>
      <p:sp>
        <p:nvSpPr>
          <p:cNvPr id="1622" name="PlaceHolder 2"/>
          <p:cNvSpPr>
            <a:spLocks noGrp="1"/>
          </p:cNvSpPr>
          <p:nvPr>
            <p:ph type="sldNum" idx="17"/>
          </p:nvPr>
        </p:nvSpPr>
        <p:spPr>
          <a:xfrm>
            <a:off x="8701560" y="4908600"/>
            <a:ext cx="261720" cy="299808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119D41BB-150B-4EB9-9572-1C04616545DA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3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50428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9" strike="noStrike">
                <a:solidFill>
                  <a:srgbClr val="000000"/>
                </a:solidFill>
                <a:latin typeface="Tahoma"/>
              </a:rPr>
              <a:t>Creating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6" strike="noStrike">
                <a:solidFill>
                  <a:srgbClr val="000000"/>
                </a:solidFill>
                <a:latin typeface="Tahoma"/>
              </a:rPr>
              <a:t>ConfigMap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52" strike="noStrike">
                <a:solidFill>
                  <a:srgbClr val="000000"/>
                </a:solidFill>
                <a:latin typeface="Tahoma"/>
              </a:rPr>
              <a:t>with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Imperative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60" strike="noStrike">
                <a:solidFill>
                  <a:srgbClr val="000000"/>
                </a:solidFill>
                <a:latin typeface="Tahoma"/>
              </a:rPr>
              <a:t>Approach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Key-value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pairs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00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0" strike="noStrike">
                <a:solidFill>
                  <a:srgbClr val="666666"/>
                </a:solidFill>
                <a:latin typeface="Lucida Sans Unicode"/>
              </a:rPr>
              <a:t>be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parsed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from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different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sources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624" name="object 3"/>
          <p:cNvGrpSpPr/>
          <p:nvPr/>
        </p:nvGrpSpPr>
        <p:grpSpPr>
          <a:xfrm>
            <a:off x="467640" y="1377000"/>
            <a:ext cx="7237080" cy="2876760"/>
            <a:chOff x="467640" y="1377000"/>
            <a:chExt cx="7237080" cy="2876760"/>
          </a:xfrm>
        </p:grpSpPr>
        <p:pic>
          <p:nvPicPr>
            <p:cNvPr id="1625" name="object 4" descr=""/>
            <p:cNvPicPr/>
            <p:nvPr/>
          </p:nvPicPr>
          <p:blipFill>
            <a:blip r:embed="rId1"/>
            <a:stretch/>
          </p:blipFill>
          <p:spPr>
            <a:xfrm>
              <a:off x="467640" y="1377000"/>
              <a:ext cx="7237080" cy="287676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626" name="object 5"/>
            <p:cNvSpPr/>
            <p:nvPr/>
          </p:nvSpPr>
          <p:spPr>
            <a:xfrm>
              <a:off x="521280" y="1425600"/>
              <a:ext cx="7122600" cy="2763000"/>
            </a:xfrm>
            <a:custGeom>
              <a:avLst/>
              <a:gdLst/>
              <a:ahLst/>
              <a:rect l="l" t="t" r="r" b="b"/>
              <a:pathLst>
                <a:path w="7125970" h="2766060">
                  <a:moveTo>
                    <a:pt x="7125899" y="2765699"/>
                  </a:moveTo>
                  <a:lnTo>
                    <a:pt x="0" y="2765699"/>
                  </a:lnTo>
                  <a:lnTo>
                    <a:pt x="0" y="0"/>
                  </a:lnTo>
                  <a:lnTo>
                    <a:pt x="7125899" y="0"/>
                  </a:lnTo>
                  <a:lnTo>
                    <a:pt x="7125899" y="27656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627" name="object 6"/>
          <p:cNvSpPr/>
          <p:nvPr/>
        </p:nvSpPr>
        <p:spPr>
          <a:xfrm>
            <a:off x="674640" y="1567800"/>
            <a:ext cx="6743160" cy="235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configmap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db-config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--from-literal=db=staging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configmap/db-config</a:t>
            </a:r>
            <a:r>
              <a:rPr b="0" lang="fr-FR" sz="14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31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spcBef>
                <a:spcPts val="6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configmap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db-config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--from-env-file=config.env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configmap/db-config</a:t>
            </a:r>
            <a:r>
              <a:rPr b="0" lang="fr-FR" sz="14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31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configmap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db-config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--from-file=config.txt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configmap/db-config</a:t>
            </a:r>
            <a:r>
              <a:rPr b="0" lang="fr-FR" sz="14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34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configmap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db-config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--from-file=app-config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configmap/db-config</a:t>
            </a:r>
            <a:r>
              <a:rPr b="0" lang="fr-FR" sz="14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628" name="PlaceHolder 2"/>
          <p:cNvSpPr>
            <a:spLocks noGrp="1"/>
          </p:cNvSpPr>
          <p:nvPr>
            <p:ph type="sldNum" idx="18"/>
          </p:nvPr>
        </p:nvSpPr>
        <p:spPr>
          <a:xfrm>
            <a:off x="8701560" y="4908600"/>
            <a:ext cx="261720" cy="299808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7463A74D-BF1E-4F86-94B7-C6E9B99F2834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9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50428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7" strike="noStrike">
                <a:solidFill>
                  <a:srgbClr val="000000"/>
                </a:solidFill>
                <a:latin typeface="Tahoma"/>
              </a:rPr>
              <a:t>Source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Options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for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6" strike="noStrike">
                <a:solidFill>
                  <a:srgbClr val="000000"/>
                </a:solidFill>
                <a:latin typeface="Tahoma"/>
              </a:rPr>
              <a:t>Data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5" strike="noStrike">
                <a:solidFill>
                  <a:srgbClr val="000000"/>
                </a:solidFill>
                <a:latin typeface="Tahoma"/>
              </a:rPr>
              <a:t>Parsed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66" strike="noStrike">
                <a:solidFill>
                  <a:srgbClr val="000000"/>
                </a:solidFill>
                <a:latin typeface="Tahoma"/>
              </a:rPr>
              <a:t>by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6" strike="noStrike">
                <a:solidFill>
                  <a:srgbClr val="000000"/>
                </a:solidFill>
                <a:latin typeface="Tahoma"/>
              </a:rPr>
              <a:t>ConfigMap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Configuration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options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example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values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630" name="PlaceHolder 2"/>
          <p:cNvSpPr>
            <a:spLocks noGrp="1"/>
          </p:cNvSpPr>
          <p:nvPr>
            <p:ph type="sldNum" idx="19"/>
          </p:nvPr>
        </p:nvSpPr>
        <p:spPr>
          <a:xfrm>
            <a:off x="8701560" y="4908600"/>
            <a:ext cx="261720" cy="299808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62EDA0D1-AD24-44DB-9327-F04B4206E7E3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pic>
        <p:nvPicPr>
          <p:cNvPr id="1631" name="" descr=""/>
          <p:cNvPicPr/>
          <p:nvPr/>
        </p:nvPicPr>
        <p:blipFill>
          <a:blip r:embed="rId1"/>
          <a:stretch/>
        </p:blipFill>
        <p:spPr>
          <a:xfrm>
            <a:off x="494280" y="1275840"/>
            <a:ext cx="8405640" cy="2862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78428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9" strike="noStrike">
                <a:solidFill>
                  <a:srgbClr val="000000"/>
                </a:solidFill>
                <a:latin typeface="Tahoma"/>
              </a:rPr>
              <a:t>Creating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6" strike="noStrike">
                <a:solidFill>
                  <a:srgbClr val="000000"/>
                </a:solidFill>
                <a:latin typeface="Tahoma"/>
              </a:rPr>
              <a:t>ConfigMap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" strike="noStrike">
                <a:solidFill>
                  <a:srgbClr val="000000"/>
                </a:solidFill>
                <a:latin typeface="Tahoma"/>
              </a:rPr>
              <a:t>from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Literal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1" strike="noStrike">
                <a:solidFill>
                  <a:srgbClr val="000000"/>
                </a:solidFill>
                <a:latin typeface="Tahoma"/>
              </a:rPr>
              <a:t>Values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Imperative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creation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by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pointing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plain-text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key-value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pairs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633" name="PlaceHolder 2"/>
          <p:cNvSpPr>
            <a:spLocks noGrp="1"/>
          </p:cNvSpPr>
          <p:nvPr>
            <p:ph type="sldNum" idx="20"/>
          </p:nvPr>
        </p:nvSpPr>
        <p:spPr>
          <a:xfrm>
            <a:off x="8701560" y="4908600"/>
            <a:ext cx="261720" cy="299808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446837F6-C75B-4A31-B7B0-BAA553C88DF3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pic>
        <p:nvPicPr>
          <p:cNvPr id="1634" name="" descr=""/>
          <p:cNvPicPr/>
          <p:nvPr/>
        </p:nvPicPr>
        <p:blipFill>
          <a:blip r:embed="rId1"/>
          <a:stretch/>
        </p:blipFill>
        <p:spPr>
          <a:xfrm>
            <a:off x="504000" y="1494720"/>
            <a:ext cx="6740280" cy="1491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16428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26" strike="noStrike">
                <a:solidFill>
                  <a:srgbClr val="000000"/>
                </a:solidFill>
                <a:latin typeface="Tahoma"/>
              </a:rPr>
              <a:t>ConfigMap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YAML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Manifest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Key-value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pair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definition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under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dat</a:t>
            </a:r>
            <a:r>
              <a:rPr b="0" lang="fr-FR" sz="1600" spc="-1" strike="noStrike">
                <a:solidFill>
                  <a:srgbClr val="666666"/>
                </a:solidFill>
                <a:latin typeface="Courier New"/>
              </a:rPr>
              <a:t>a</a:t>
            </a:r>
            <a:r>
              <a:rPr b="0" lang="fr-FR" sz="1600" spc="-596" strike="noStrike">
                <a:solidFill>
                  <a:srgbClr val="666666"/>
                </a:solidFill>
                <a:latin typeface="Courier New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attribute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636" name="PlaceHolder 2"/>
          <p:cNvSpPr>
            <a:spLocks noGrp="1"/>
          </p:cNvSpPr>
          <p:nvPr>
            <p:ph type="sldNum" idx="21"/>
          </p:nvPr>
        </p:nvSpPr>
        <p:spPr>
          <a:xfrm>
            <a:off x="8701560" y="4908600"/>
            <a:ext cx="261720" cy="299808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647EA333-A154-4966-9536-EC53961FD971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pic>
        <p:nvPicPr>
          <p:cNvPr id="1637" name="" descr=""/>
          <p:cNvPicPr/>
          <p:nvPr/>
        </p:nvPicPr>
        <p:blipFill>
          <a:blip r:embed="rId1"/>
          <a:stretch/>
        </p:blipFill>
        <p:spPr>
          <a:xfrm>
            <a:off x="504000" y="1392120"/>
            <a:ext cx="5719320" cy="2026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64828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26" strike="noStrike">
                <a:solidFill>
                  <a:srgbClr val="000000"/>
                </a:solidFill>
                <a:latin typeface="Tahoma"/>
              </a:rPr>
              <a:t>Consuming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6" strike="noStrike">
                <a:solidFill>
                  <a:srgbClr val="000000"/>
                </a:solidFill>
                <a:latin typeface="Tahoma"/>
              </a:rPr>
              <a:t>ConfigMap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06" strike="noStrike">
                <a:solidFill>
                  <a:srgbClr val="000000"/>
                </a:solidFill>
                <a:latin typeface="Tahoma"/>
              </a:rPr>
              <a:t>as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5" strike="noStrike">
                <a:solidFill>
                  <a:srgbClr val="000000"/>
                </a:solidFill>
                <a:latin typeface="Tahoma"/>
              </a:rPr>
              <a:t>Environment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9" strike="noStrike">
                <a:solidFill>
                  <a:srgbClr val="000000"/>
                </a:solidFill>
                <a:latin typeface="Tahoma"/>
              </a:rPr>
              <a:t>Variables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Controlling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runtime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behavior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help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simple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values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639" name="object 3"/>
          <p:cNvGrpSpPr/>
          <p:nvPr/>
        </p:nvGrpSpPr>
        <p:grpSpPr>
          <a:xfrm>
            <a:off x="483840" y="1418040"/>
            <a:ext cx="4040640" cy="2842200"/>
            <a:chOff x="483840" y="1418040"/>
            <a:chExt cx="4040640" cy="2842200"/>
          </a:xfrm>
        </p:grpSpPr>
        <p:pic>
          <p:nvPicPr>
            <p:cNvPr id="1640" name="object 4" descr=""/>
            <p:cNvPicPr/>
            <p:nvPr/>
          </p:nvPicPr>
          <p:blipFill>
            <a:blip r:embed="rId1"/>
            <a:stretch/>
          </p:blipFill>
          <p:spPr>
            <a:xfrm>
              <a:off x="483840" y="1418040"/>
              <a:ext cx="4040640" cy="28422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641" name="object 5"/>
            <p:cNvSpPr/>
            <p:nvPr/>
          </p:nvSpPr>
          <p:spPr>
            <a:xfrm>
              <a:off x="537480" y="1466280"/>
              <a:ext cx="3926880" cy="2728440"/>
            </a:xfrm>
            <a:custGeom>
              <a:avLst/>
              <a:gdLst/>
              <a:ahLst/>
              <a:rect l="l" t="t" r="r" b="b"/>
              <a:pathLst>
                <a:path w="3930015" h="2731770">
                  <a:moveTo>
                    <a:pt x="3929399" y="2731199"/>
                  </a:moveTo>
                  <a:lnTo>
                    <a:pt x="0" y="2731199"/>
                  </a:lnTo>
                  <a:lnTo>
                    <a:pt x="0" y="0"/>
                  </a:lnTo>
                  <a:lnTo>
                    <a:pt x="3929399" y="0"/>
                  </a:lnTo>
                  <a:lnTo>
                    <a:pt x="3929399" y="27311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642" name="object 6"/>
          <p:cNvSpPr/>
          <p:nvPr/>
        </p:nvSpPr>
        <p:spPr>
          <a:xfrm>
            <a:off x="711360" y="1614240"/>
            <a:ext cx="3542760" cy="238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2600">
              <a:lnSpc>
                <a:spcPts val="1650"/>
              </a:lnSpc>
              <a:spcBef>
                <a:spcPts val="181"/>
              </a:spcBef>
              <a:buNone/>
            </a:pP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apiVersion:</a:t>
            </a:r>
            <a:r>
              <a:rPr b="1" lang="fr-FR" sz="1400" spc="-97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v1 </a:t>
            </a:r>
            <a:r>
              <a:rPr b="0" lang="fr-FR" sz="1400" spc="-8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50"/>
              </a:lnSpc>
              <a:spcBef>
                <a:spcPts val="181"/>
              </a:spcBef>
              <a:buNone/>
            </a:pP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50"/>
              </a:lnSpc>
              <a:spcBef>
                <a:spcPts val="181"/>
              </a:spcBef>
              <a:buNone/>
            </a:pP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metadata:</a:t>
            </a:r>
            <a:endParaRPr b="0" lang="fr-FR" sz="1400" spc="-1" strike="noStrike">
              <a:latin typeface="Arial"/>
            </a:endParaRPr>
          </a:p>
          <a:p>
            <a:pPr marL="226080">
              <a:lnSpc>
                <a:spcPts val="1585"/>
              </a:lnSpc>
              <a:buNone/>
            </a:pP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4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backend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50"/>
              </a:lnSpc>
              <a:buNone/>
            </a:pP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spec:</a:t>
            </a:r>
            <a:endParaRPr b="0" lang="fr-FR" sz="1400" spc="-1" strike="noStrike">
              <a:latin typeface="Arial"/>
            </a:endParaRPr>
          </a:p>
          <a:p>
            <a:pPr marL="226080">
              <a:lnSpc>
                <a:spcPts val="1650"/>
              </a:lnSpc>
              <a:buNone/>
            </a:pP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containers:</a:t>
            </a:r>
            <a:endParaRPr b="0" lang="fr-FR" sz="1400" spc="-1" strike="noStrike">
              <a:latin typeface="Arial"/>
            </a:endParaRPr>
          </a:p>
          <a:p>
            <a:pPr marL="226080">
              <a:lnSpc>
                <a:spcPts val="1650"/>
              </a:lnSpc>
              <a:buNone/>
            </a:pPr>
            <a:r>
              <a:rPr b="1" lang="fr-FR" sz="1400" spc="-1" strike="noStrike">
                <a:solidFill>
                  <a:srgbClr val="4618a2"/>
                </a:solidFill>
                <a:latin typeface="Courier New"/>
                <a:ea typeface="DejaVu Sans"/>
              </a:rPr>
              <a:t>-</a:t>
            </a:r>
            <a:r>
              <a:rPr b="1" lang="fr-FR" sz="1400" spc="-5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image:</a:t>
            </a:r>
            <a:r>
              <a:rPr b="1" lang="fr-FR" sz="1400" spc="-4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bmuschko/web-app:1.0.1</a:t>
            </a:r>
            <a:endParaRPr b="0" lang="fr-FR" sz="1400" spc="-1" strike="noStrike">
              <a:latin typeface="Arial"/>
            </a:endParaRPr>
          </a:p>
          <a:p>
            <a:pPr marL="439560">
              <a:lnSpc>
                <a:spcPts val="1650"/>
              </a:lnSpc>
              <a:buNone/>
            </a:pP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4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backend</a:t>
            </a:r>
            <a:endParaRPr b="0" lang="fr-FR" sz="1400" spc="-1" strike="noStrike">
              <a:latin typeface="Arial"/>
            </a:endParaRPr>
          </a:p>
          <a:p>
            <a:pPr marL="439560">
              <a:lnSpc>
                <a:spcPts val="1650"/>
              </a:lnSpc>
              <a:buNone/>
            </a:pP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envFrom:</a:t>
            </a:r>
            <a:endParaRPr b="0" lang="fr-FR" sz="1400" spc="-1" strike="noStrike">
              <a:latin typeface="Arial"/>
            </a:endParaRPr>
          </a:p>
          <a:p>
            <a:pPr marL="866160" indent="-426600">
              <a:lnSpc>
                <a:spcPts val="1650"/>
              </a:lnSpc>
              <a:spcBef>
                <a:spcPts val="65"/>
              </a:spcBef>
              <a:buNone/>
              <a:tabLst>
                <a:tab algn="l" pos="0"/>
              </a:tabLst>
            </a:pPr>
            <a:r>
              <a:rPr b="1" lang="fr-FR" sz="1400" spc="-1" strike="noStrike">
                <a:solidFill>
                  <a:srgbClr val="4618a2"/>
                </a:solidFill>
                <a:latin typeface="Courier New"/>
                <a:ea typeface="DejaVu Sans"/>
              </a:rPr>
              <a:t>- </a:t>
            </a: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configMapRef:</a:t>
            </a:r>
            <a:endParaRPr b="0" lang="fr-FR" sz="1400" spc="-1" strike="noStrike">
              <a:latin typeface="Arial"/>
            </a:endParaRPr>
          </a:p>
          <a:p>
            <a:pPr marL="866160" indent="-426600">
              <a:lnSpc>
                <a:spcPts val="1650"/>
              </a:lnSpc>
              <a:spcBef>
                <a:spcPts val="65"/>
              </a:spcBef>
              <a:buNone/>
              <a:tabLst>
                <a:tab algn="l" pos="0"/>
              </a:tabLst>
            </a:pP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1" lang="fr-FR" sz="1400" spc="-1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400" spc="-97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db-config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643" name="object 8"/>
          <p:cNvSpPr/>
          <p:nvPr/>
        </p:nvSpPr>
        <p:spPr>
          <a:xfrm>
            <a:off x="5069520" y="1466280"/>
            <a:ext cx="3689280" cy="32220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4560" bIns="0" anchor="t">
            <a:spAutoFit/>
          </a:bodyPr>
          <a:p>
            <a:pPr marL="226800">
              <a:lnSpc>
                <a:spcPct val="100000"/>
              </a:lnSpc>
              <a:spcBef>
                <a:spcPts val="981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exec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-it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backend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--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env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644" name="object 9"/>
          <p:cNvSpPr/>
          <p:nvPr/>
        </p:nvSpPr>
        <p:spPr>
          <a:xfrm>
            <a:off x="5211000" y="1801080"/>
            <a:ext cx="2247120" cy="38736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85680">
              <a:lnSpc>
                <a:spcPts val="1480"/>
              </a:lnSpc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DB_HOST=mysql-service</a:t>
            </a:r>
            <a:endParaRPr b="0" lang="fr-FR" sz="1300" spc="-1" strike="noStrike">
              <a:latin typeface="Arial"/>
            </a:endParaRPr>
          </a:p>
          <a:p>
            <a:pPr marL="8568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DB_USER=backend</a:t>
            </a:r>
            <a:endParaRPr b="0" lang="fr-FR" sz="1300" spc="-1" strike="noStrike">
              <a:latin typeface="Arial"/>
            </a:endParaRPr>
          </a:p>
        </p:txBody>
      </p:sp>
      <p:grpSp>
        <p:nvGrpSpPr>
          <p:cNvPr id="1645" name="object 10"/>
          <p:cNvGrpSpPr/>
          <p:nvPr/>
        </p:nvGrpSpPr>
        <p:grpSpPr>
          <a:xfrm>
            <a:off x="1069200" y="2411640"/>
            <a:ext cx="5104080" cy="1600200"/>
            <a:chOff x="1069200" y="2411640"/>
            <a:chExt cx="5104080" cy="1600200"/>
          </a:xfrm>
        </p:grpSpPr>
        <p:sp>
          <p:nvSpPr>
            <p:cNvPr id="1646" name="object 11"/>
            <p:cNvSpPr/>
            <p:nvPr/>
          </p:nvSpPr>
          <p:spPr>
            <a:xfrm>
              <a:off x="3444480" y="2507760"/>
              <a:ext cx="2687760" cy="1349280"/>
            </a:xfrm>
            <a:custGeom>
              <a:avLst/>
              <a:gdLst/>
              <a:ahLst/>
              <a:rect l="l" t="t" r="r" b="b"/>
              <a:pathLst>
                <a:path w="2691129" h="1352550">
                  <a:moveTo>
                    <a:pt x="0" y="1352408"/>
                  </a:moveTo>
                  <a:lnTo>
                    <a:pt x="2691126" y="1352408"/>
                  </a:lnTo>
                  <a:lnTo>
                    <a:pt x="2691126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647" name="object 12" descr=""/>
            <p:cNvPicPr/>
            <p:nvPr/>
          </p:nvPicPr>
          <p:blipFill>
            <a:blip r:embed="rId2"/>
            <a:stretch/>
          </p:blipFill>
          <p:spPr>
            <a:xfrm>
              <a:off x="6094440" y="2411640"/>
              <a:ext cx="78840" cy="1026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648" name="object 13"/>
            <p:cNvSpPr/>
            <p:nvPr/>
          </p:nvSpPr>
          <p:spPr>
            <a:xfrm>
              <a:off x="1069200" y="3303720"/>
              <a:ext cx="2173680" cy="708120"/>
            </a:xfrm>
            <a:custGeom>
              <a:avLst/>
              <a:gdLst/>
              <a:ahLst/>
              <a:rect l="l" t="t" r="r" b="b"/>
              <a:pathLst>
                <a:path w="2176780" h="711200">
                  <a:moveTo>
                    <a:pt x="0" y="0"/>
                  </a:moveTo>
                  <a:lnTo>
                    <a:pt x="2176499" y="0"/>
                  </a:lnTo>
                  <a:lnTo>
                    <a:pt x="2176499" y="710699"/>
                  </a:lnTo>
                  <a:lnTo>
                    <a:pt x="0" y="71069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9049">
              <a:solidFill>
                <a:srgbClr val="ff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649" name="PlaceHolder 2"/>
          <p:cNvSpPr>
            <a:spLocks noGrp="1"/>
          </p:cNvSpPr>
          <p:nvPr>
            <p:ph type="sldNum" idx="22"/>
          </p:nvPr>
        </p:nvSpPr>
        <p:spPr>
          <a:xfrm>
            <a:off x="8701560" y="4908600"/>
            <a:ext cx="261720" cy="299808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DC6AE49D-04C4-4485-88A2-C6A27A5E3BA6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0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14428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Reassigning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5" strike="noStrike">
                <a:solidFill>
                  <a:srgbClr val="000000"/>
                </a:solidFill>
                <a:latin typeface="Tahoma"/>
              </a:rPr>
              <a:t>Environment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9" strike="noStrike">
                <a:solidFill>
                  <a:srgbClr val="000000"/>
                </a:solidFill>
                <a:latin typeface="Tahoma"/>
              </a:rPr>
              <a:t>Variable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" strike="noStrike">
                <a:solidFill>
                  <a:srgbClr val="000000"/>
                </a:solidFill>
                <a:latin typeface="Tahoma"/>
              </a:rPr>
              <a:t>Keys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Keys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00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0" strike="noStrike">
                <a:solidFill>
                  <a:srgbClr val="666666"/>
                </a:solidFill>
                <a:latin typeface="Lucida Sans Unicode"/>
              </a:rPr>
              <a:t>be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0" strike="noStrike">
                <a:solidFill>
                  <a:srgbClr val="666666"/>
                </a:solidFill>
                <a:latin typeface="Lucida Sans Unicode"/>
              </a:rPr>
              <a:t>renamed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reformatted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0" strike="noStrike">
                <a:solidFill>
                  <a:srgbClr val="666666"/>
                </a:solidFill>
                <a:latin typeface="Lucida Sans Unicode"/>
              </a:rPr>
              <a:t>make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them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suitable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consumption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651" name="object 3"/>
          <p:cNvGrpSpPr/>
          <p:nvPr/>
        </p:nvGrpSpPr>
        <p:grpSpPr>
          <a:xfrm>
            <a:off x="483840" y="1418040"/>
            <a:ext cx="4040640" cy="3400560"/>
            <a:chOff x="483840" y="1418040"/>
            <a:chExt cx="4040640" cy="3400560"/>
          </a:xfrm>
        </p:grpSpPr>
        <p:pic>
          <p:nvPicPr>
            <p:cNvPr id="1652" name="object 4" descr=""/>
            <p:cNvPicPr/>
            <p:nvPr/>
          </p:nvPicPr>
          <p:blipFill>
            <a:blip r:embed="rId1"/>
            <a:stretch/>
          </p:blipFill>
          <p:spPr>
            <a:xfrm>
              <a:off x="483840" y="1418040"/>
              <a:ext cx="4040640" cy="340056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653" name="object 5"/>
            <p:cNvSpPr/>
            <p:nvPr/>
          </p:nvSpPr>
          <p:spPr>
            <a:xfrm>
              <a:off x="537480" y="1466280"/>
              <a:ext cx="3926880" cy="3286800"/>
            </a:xfrm>
            <a:custGeom>
              <a:avLst/>
              <a:gdLst/>
              <a:ahLst/>
              <a:rect l="l" t="t" r="r" b="b"/>
              <a:pathLst>
                <a:path w="3930015" h="3289935">
                  <a:moveTo>
                    <a:pt x="3929399" y="3289499"/>
                  </a:moveTo>
                  <a:lnTo>
                    <a:pt x="0" y="3289499"/>
                  </a:lnTo>
                  <a:lnTo>
                    <a:pt x="0" y="0"/>
                  </a:lnTo>
                  <a:lnTo>
                    <a:pt x="3929399" y="0"/>
                  </a:lnTo>
                  <a:lnTo>
                    <a:pt x="3929399" y="32894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654" name="object 6"/>
          <p:cNvSpPr/>
          <p:nvPr/>
        </p:nvSpPr>
        <p:spPr>
          <a:xfrm>
            <a:off x="711360" y="1614240"/>
            <a:ext cx="3542760" cy="127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2600">
              <a:lnSpc>
                <a:spcPts val="1650"/>
              </a:lnSpc>
              <a:spcBef>
                <a:spcPts val="181"/>
              </a:spcBef>
              <a:buNone/>
            </a:pP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apiVersion:</a:t>
            </a:r>
            <a:r>
              <a:rPr b="1" lang="fr-FR" sz="1400" spc="-97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v1 </a:t>
            </a:r>
            <a:r>
              <a:rPr b="0" lang="fr-FR" sz="1400" spc="-8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metadata:</a:t>
            </a:r>
            <a:endParaRPr b="0" lang="fr-FR" sz="1400" spc="-1" strike="noStrike">
              <a:latin typeface="Arial"/>
            </a:endParaRPr>
          </a:p>
          <a:p>
            <a:pPr marL="226080">
              <a:lnSpc>
                <a:spcPts val="1585"/>
              </a:lnSpc>
              <a:buNone/>
            </a:pP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4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backend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50"/>
              </a:lnSpc>
              <a:buNone/>
            </a:pP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spec:</a:t>
            </a:r>
            <a:endParaRPr b="0" lang="fr-FR" sz="1400" spc="-1" strike="noStrike">
              <a:latin typeface="Arial"/>
            </a:endParaRPr>
          </a:p>
          <a:p>
            <a:pPr marL="226080">
              <a:lnSpc>
                <a:spcPts val="1650"/>
              </a:lnSpc>
              <a:buNone/>
            </a:pP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containers:</a:t>
            </a:r>
            <a:endParaRPr b="0" lang="fr-FR" sz="1400" spc="-1" strike="noStrike">
              <a:latin typeface="Arial"/>
            </a:endParaRPr>
          </a:p>
          <a:p>
            <a:pPr marL="226080">
              <a:lnSpc>
                <a:spcPts val="1664"/>
              </a:lnSpc>
              <a:buNone/>
            </a:pPr>
            <a:r>
              <a:rPr b="1" lang="fr-FR" sz="1400" spc="-1" strike="noStrike">
                <a:solidFill>
                  <a:srgbClr val="4618a2"/>
                </a:solidFill>
                <a:latin typeface="Courier New"/>
                <a:ea typeface="DejaVu Sans"/>
              </a:rPr>
              <a:t>-</a:t>
            </a:r>
            <a:r>
              <a:rPr b="1" lang="fr-FR" sz="1400" spc="-5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image:</a:t>
            </a:r>
            <a:r>
              <a:rPr b="1" lang="fr-FR" sz="1400" spc="-4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bmuschko/web-app:1.0.1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655" name="object 7"/>
          <p:cNvSpPr/>
          <p:nvPr/>
        </p:nvSpPr>
        <p:spPr>
          <a:xfrm>
            <a:off x="1138320" y="3081240"/>
            <a:ext cx="2795040" cy="148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</a:pP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4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backend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50"/>
              </a:lnSpc>
              <a:buNone/>
            </a:pP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env: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50"/>
              </a:lnSpc>
              <a:buNone/>
            </a:pPr>
            <a:r>
              <a:rPr b="1" lang="fr-FR" sz="1400" spc="-1" strike="noStrike">
                <a:solidFill>
                  <a:srgbClr val="4618a2"/>
                </a:solidFill>
                <a:latin typeface="Courier New"/>
                <a:ea typeface="DejaVu Sans"/>
              </a:rPr>
              <a:t>-</a:t>
            </a:r>
            <a:r>
              <a:rPr b="1" lang="fr-FR" sz="1400" spc="-55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400" spc="-5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DATABASE_URL</a:t>
            </a:r>
            <a:endParaRPr b="0" lang="fr-FR" sz="1400" spc="-1" strike="noStrike">
              <a:latin typeface="Arial"/>
            </a:endParaRPr>
          </a:p>
          <a:p>
            <a:pPr marL="439560" indent="-213480">
              <a:lnSpc>
                <a:spcPts val="1650"/>
              </a:lnSpc>
              <a:spcBef>
                <a:spcPts val="65"/>
              </a:spcBef>
              <a:buNone/>
              <a:tabLst>
                <a:tab algn="l" pos="0"/>
              </a:tabLst>
            </a:pP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valueFrom: </a:t>
            </a:r>
            <a:r>
              <a:rPr b="1" lang="fr-FR" sz="1400" spc="-1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configMapKeyRef:</a:t>
            </a:r>
            <a:endParaRPr b="0" lang="fr-FR" sz="1400" spc="-1" strike="noStrike">
              <a:latin typeface="Arial"/>
            </a:endParaRPr>
          </a:p>
          <a:p>
            <a:pPr marL="652680" indent="-213480">
              <a:lnSpc>
                <a:spcPts val="1585"/>
              </a:lnSpc>
              <a:buNone/>
              <a:tabLst>
                <a:tab algn="l" pos="0"/>
              </a:tabLst>
            </a:pP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400" spc="-9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backend-config</a:t>
            </a:r>
            <a:endParaRPr b="0" lang="fr-FR" sz="1400" spc="-1" strike="noStrike">
              <a:latin typeface="Arial"/>
            </a:endParaRPr>
          </a:p>
          <a:p>
            <a:pPr marL="652680" indent="-213480">
              <a:lnSpc>
                <a:spcPts val="1664"/>
              </a:lnSpc>
              <a:buNone/>
              <a:tabLst>
                <a:tab algn="l" pos="0"/>
              </a:tabLst>
            </a:pP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key:</a:t>
            </a:r>
            <a:r>
              <a:rPr b="1" lang="fr-FR" sz="14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database_url</a:t>
            </a:r>
            <a:endParaRPr b="0" lang="fr-FR" sz="1400" spc="-1" strike="noStrike">
              <a:latin typeface="Arial"/>
            </a:endParaRPr>
          </a:p>
        </p:txBody>
      </p:sp>
      <p:grpSp>
        <p:nvGrpSpPr>
          <p:cNvPr id="1656" name="object 8"/>
          <p:cNvGrpSpPr/>
          <p:nvPr/>
        </p:nvGrpSpPr>
        <p:grpSpPr>
          <a:xfrm>
            <a:off x="5015880" y="1418040"/>
            <a:ext cx="3810600" cy="1077120"/>
            <a:chOff x="5015880" y="1418040"/>
            <a:chExt cx="3810600" cy="1077120"/>
          </a:xfrm>
        </p:grpSpPr>
        <p:pic>
          <p:nvPicPr>
            <p:cNvPr id="1657" name="object 9" descr=""/>
            <p:cNvPicPr/>
            <p:nvPr/>
          </p:nvPicPr>
          <p:blipFill>
            <a:blip r:embed="rId2"/>
            <a:stretch/>
          </p:blipFill>
          <p:spPr>
            <a:xfrm>
              <a:off x="5015880" y="1418040"/>
              <a:ext cx="3810600" cy="107712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658" name="object 10"/>
            <p:cNvSpPr/>
            <p:nvPr/>
          </p:nvSpPr>
          <p:spPr>
            <a:xfrm>
              <a:off x="5069520" y="1466280"/>
              <a:ext cx="3696840" cy="963360"/>
            </a:xfrm>
            <a:custGeom>
              <a:avLst/>
              <a:gdLst/>
              <a:ahLst/>
              <a:rect l="l" t="t" r="r" b="b"/>
              <a:pathLst>
                <a:path w="3700145" h="966469">
                  <a:moveTo>
                    <a:pt x="3699599" y="965999"/>
                  </a:moveTo>
                  <a:lnTo>
                    <a:pt x="0" y="965999"/>
                  </a:lnTo>
                  <a:lnTo>
                    <a:pt x="0" y="0"/>
                  </a:lnTo>
                  <a:lnTo>
                    <a:pt x="3699599" y="0"/>
                  </a:lnTo>
                  <a:lnTo>
                    <a:pt x="3699599" y="9659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659" name="object 11"/>
          <p:cNvSpPr/>
          <p:nvPr/>
        </p:nvSpPr>
        <p:spPr>
          <a:xfrm>
            <a:off x="5069520" y="1466280"/>
            <a:ext cx="3696840" cy="32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4560" bIns="0" anchor="t">
            <a:spAutoFit/>
          </a:bodyPr>
          <a:p>
            <a:pPr marL="226800">
              <a:lnSpc>
                <a:spcPct val="100000"/>
              </a:lnSpc>
              <a:spcBef>
                <a:spcPts val="981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exec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-it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backend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--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env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660" name="object 12"/>
          <p:cNvSpPr/>
          <p:nvPr/>
        </p:nvSpPr>
        <p:spPr>
          <a:xfrm>
            <a:off x="5256720" y="1812960"/>
            <a:ext cx="3105000" cy="37548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39240">
              <a:lnSpc>
                <a:spcPts val="1386"/>
              </a:lnSpc>
              <a:buNone/>
            </a:pPr>
            <a:r>
              <a:rPr b="0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DATABASE_URL=jdbc:postgresql:</a:t>
            </a:r>
            <a:r>
              <a:rPr b="0" lang="fr-FR" sz="1300" spc="-21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300" spc="-1" strike="noStrike">
              <a:latin typeface="Arial"/>
            </a:endParaRPr>
          </a:p>
          <a:p>
            <a:pPr marL="3924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//localhost/test</a:t>
            </a:r>
            <a:endParaRPr b="0" lang="fr-FR" sz="1300" spc="-1" strike="noStrike">
              <a:latin typeface="Arial"/>
            </a:endParaRPr>
          </a:p>
        </p:txBody>
      </p:sp>
      <p:grpSp>
        <p:nvGrpSpPr>
          <p:cNvPr id="1661" name="object 13"/>
          <p:cNvGrpSpPr/>
          <p:nvPr/>
        </p:nvGrpSpPr>
        <p:grpSpPr>
          <a:xfrm>
            <a:off x="1107360" y="2396160"/>
            <a:ext cx="5767200" cy="2242440"/>
            <a:chOff x="1107360" y="2396160"/>
            <a:chExt cx="5767200" cy="2242440"/>
          </a:xfrm>
        </p:grpSpPr>
        <p:sp>
          <p:nvSpPr>
            <p:cNvPr id="1662" name="object 14"/>
            <p:cNvSpPr/>
            <p:nvPr/>
          </p:nvSpPr>
          <p:spPr>
            <a:xfrm>
              <a:off x="4145760" y="2491920"/>
              <a:ext cx="2687760" cy="1349280"/>
            </a:xfrm>
            <a:custGeom>
              <a:avLst/>
              <a:gdLst/>
              <a:ahLst/>
              <a:rect l="l" t="t" r="r" b="b"/>
              <a:pathLst>
                <a:path w="2691129" h="1352550">
                  <a:moveTo>
                    <a:pt x="0" y="1352408"/>
                  </a:moveTo>
                  <a:lnTo>
                    <a:pt x="2691126" y="1352408"/>
                  </a:lnTo>
                  <a:lnTo>
                    <a:pt x="2691126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663" name="object 15" descr=""/>
            <p:cNvPicPr/>
            <p:nvPr/>
          </p:nvPicPr>
          <p:blipFill>
            <a:blip r:embed="rId3"/>
            <a:stretch/>
          </p:blipFill>
          <p:spPr>
            <a:xfrm>
              <a:off x="6795720" y="2396160"/>
              <a:ext cx="78840" cy="1026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664" name="object 16"/>
            <p:cNvSpPr/>
            <p:nvPr/>
          </p:nvSpPr>
          <p:spPr>
            <a:xfrm>
              <a:off x="1107360" y="3321720"/>
              <a:ext cx="2896920" cy="1316880"/>
            </a:xfrm>
            <a:custGeom>
              <a:avLst/>
              <a:gdLst/>
              <a:ahLst/>
              <a:rect l="l" t="t" r="r" b="b"/>
              <a:pathLst>
                <a:path w="2900045" h="1320164">
                  <a:moveTo>
                    <a:pt x="0" y="0"/>
                  </a:moveTo>
                  <a:lnTo>
                    <a:pt x="2899499" y="0"/>
                  </a:lnTo>
                  <a:lnTo>
                    <a:pt x="2899499" y="1319699"/>
                  </a:lnTo>
                  <a:lnTo>
                    <a:pt x="0" y="131969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9049">
              <a:solidFill>
                <a:srgbClr val="ff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665" name="PlaceHolder 2"/>
          <p:cNvSpPr>
            <a:spLocks noGrp="1"/>
          </p:cNvSpPr>
          <p:nvPr>
            <p:ph type="sldNum" idx="23"/>
          </p:nvPr>
        </p:nvSpPr>
        <p:spPr>
          <a:xfrm>
            <a:off x="8701560" y="4908600"/>
            <a:ext cx="261720" cy="299808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14D92BB9-E0CC-4455-95BE-99ED4A5F784C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6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88428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9" strike="noStrike">
                <a:solidFill>
                  <a:srgbClr val="000000"/>
                </a:solidFill>
                <a:latin typeface="Tahoma"/>
              </a:rPr>
              <a:t>Creating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6" strike="noStrike">
                <a:solidFill>
                  <a:srgbClr val="000000"/>
                </a:solidFill>
                <a:latin typeface="Tahoma"/>
              </a:rPr>
              <a:t>ConfigMap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" strike="noStrike">
                <a:solidFill>
                  <a:srgbClr val="000000"/>
                </a:solidFill>
                <a:latin typeface="Tahoma"/>
              </a:rPr>
              <a:t>from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JSON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file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Imperative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creation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by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pointing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file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667" name="object 3"/>
          <p:cNvGrpSpPr/>
          <p:nvPr/>
        </p:nvGrpSpPr>
        <p:grpSpPr>
          <a:xfrm>
            <a:off x="467640" y="1377000"/>
            <a:ext cx="6008040" cy="907920"/>
            <a:chOff x="467640" y="1377000"/>
            <a:chExt cx="6008040" cy="907920"/>
          </a:xfrm>
        </p:grpSpPr>
        <p:pic>
          <p:nvPicPr>
            <p:cNvPr id="1668" name="object 4" descr=""/>
            <p:cNvPicPr/>
            <p:nvPr/>
          </p:nvPicPr>
          <p:blipFill>
            <a:blip r:embed="rId1"/>
            <a:stretch/>
          </p:blipFill>
          <p:spPr>
            <a:xfrm>
              <a:off x="467640" y="1377000"/>
              <a:ext cx="6008040" cy="90792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669" name="object 5"/>
            <p:cNvSpPr/>
            <p:nvPr/>
          </p:nvSpPr>
          <p:spPr>
            <a:xfrm>
              <a:off x="521280" y="1425600"/>
              <a:ext cx="5893920" cy="793800"/>
            </a:xfrm>
            <a:custGeom>
              <a:avLst/>
              <a:gdLst/>
              <a:ahLst/>
              <a:rect l="l" t="t" r="r" b="b"/>
              <a:pathLst>
                <a:path w="5897245" h="796925">
                  <a:moveTo>
                    <a:pt x="5897099" y="796799"/>
                  </a:moveTo>
                  <a:lnTo>
                    <a:pt x="0" y="796799"/>
                  </a:lnTo>
                  <a:lnTo>
                    <a:pt x="0" y="0"/>
                  </a:lnTo>
                  <a:lnTo>
                    <a:pt x="5897099" y="0"/>
                  </a:lnTo>
                  <a:lnTo>
                    <a:pt x="5897099" y="7967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670" name="object 6"/>
          <p:cNvSpPr/>
          <p:nvPr/>
        </p:nvSpPr>
        <p:spPr>
          <a:xfrm>
            <a:off x="4335480" y="1548360"/>
            <a:ext cx="1965960" cy="23004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32400" bIns="0" anchor="t">
            <a:spAutoFit/>
          </a:bodyPr>
          <a:p>
            <a:pPr marL="16560">
              <a:lnSpc>
                <a:spcPct val="100000"/>
              </a:lnSpc>
              <a:spcBef>
                <a:spcPts val="255"/>
              </a:spcBef>
              <a:buNone/>
            </a:pP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--from-file=db.json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671" name="object 7"/>
          <p:cNvSpPr/>
          <p:nvPr/>
        </p:nvSpPr>
        <p:spPr>
          <a:xfrm>
            <a:off x="674640" y="1568160"/>
            <a:ext cx="35884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3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</a:t>
            </a:r>
            <a:r>
              <a:rPr b="1" lang="fr-FR" sz="13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configmap</a:t>
            </a:r>
            <a:r>
              <a:rPr b="1" lang="fr-FR" sz="13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db-config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configmap/db-config</a:t>
            </a:r>
            <a:r>
              <a:rPr b="0" lang="fr-FR" sz="13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672" name="object 9"/>
          <p:cNvSpPr/>
          <p:nvPr/>
        </p:nvSpPr>
        <p:spPr>
          <a:xfrm>
            <a:off x="4192560" y="2958840"/>
            <a:ext cx="3306240" cy="135144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54800" bIns="0" anchor="t">
            <a:spAutoFit/>
          </a:bodyPr>
          <a:p>
            <a:pPr marL="165600">
              <a:lnSpc>
                <a:spcPct val="100000"/>
              </a:lnSpc>
              <a:spcBef>
                <a:spcPts val="1219"/>
              </a:spcBef>
              <a:buNone/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{</a:t>
            </a:r>
            <a:endParaRPr b="0" lang="fr-FR" sz="1300" spc="-1" strike="noStrike">
              <a:latin typeface="Arial"/>
            </a:endParaRPr>
          </a:p>
          <a:p>
            <a:pPr marL="45720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"db"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:</a:t>
            </a:r>
            <a:r>
              <a:rPr b="0" lang="fr-FR" sz="13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{</a:t>
            </a:r>
            <a:endParaRPr b="0" lang="fr-FR" sz="1300" spc="-1" strike="noStrike">
              <a:latin typeface="Arial"/>
            </a:endParaRPr>
          </a:p>
          <a:p>
            <a:pPr marL="74880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"host"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:</a:t>
            </a:r>
            <a:r>
              <a:rPr b="0" lang="fr-FR" sz="1300" spc="-9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d15e35"/>
                </a:solidFill>
                <a:latin typeface="Courier New"/>
                <a:ea typeface="DejaVu Sans"/>
              </a:rPr>
              <a:t>"mysql-service"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,</a:t>
            </a:r>
            <a:endParaRPr b="0" lang="fr-FR" sz="1300" spc="-1" strike="noStrike">
              <a:latin typeface="Arial"/>
            </a:endParaRPr>
          </a:p>
          <a:p>
            <a:pPr marL="74880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"user"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:</a:t>
            </a:r>
            <a:r>
              <a:rPr b="0" lang="fr-FR" sz="1300" spc="-97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d15e35"/>
                </a:solidFill>
                <a:latin typeface="Courier New"/>
                <a:ea typeface="DejaVu Sans"/>
              </a:rPr>
              <a:t>"backend"</a:t>
            </a:r>
            <a:endParaRPr b="0" lang="fr-FR" sz="1300" spc="-1" strike="noStrike">
              <a:latin typeface="Arial"/>
            </a:endParaRPr>
          </a:p>
          <a:p>
            <a:pPr marL="46296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}</a:t>
            </a:r>
            <a:endParaRPr b="0" lang="fr-FR" sz="1300" spc="-1" strike="noStrike">
              <a:latin typeface="Arial"/>
            </a:endParaRPr>
          </a:p>
          <a:p>
            <a:pPr marL="1656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}</a:t>
            </a:r>
            <a:endParaRPr b="0" lang="fr-FR" sz="1300" spc="-1" strike="noStrike">
              <a:latin typeface="Arial"/>
            </a:endParaRPr>
          </a:p>
        </p:txBody>
      </p:sp>
      <p:grpSp>
        <p:nvGrpSpPr>
          <p:cNvPr id="1673" name="object 10"/>
          <p:cNvGrpSpPr/>
          <p:nvPr/>
        </p:nvGrpSpPr>
        <p:grpSpPr>
          <a:xfrm>
            <a:off x="5835960" y="1939680"/>
            <a:ext cx="78840" cy="856080"/>
            <a:chOff x="5835960" y="1939680"/>
            <a:chExt cx="78840" cy="856080"/>
          </a:xfrm>
        </p:grpSpPr>
        <p:sp>
          <p:nvSpPr>
            <p:cNvPr id="1674" name="object 11"/>
            <p:cNvSpPr/>
            <p:nvPr/>
          </p:nvSpPr>
          <p:spPr>
            <a:xfrm>
              <a:off x="5876640" y="1939680"/>
              <a:ext cx="360" cy="759960"/>
            </a:xfrm>
            <a:custGeom>
              <a:avLst/>
              <a:gdLst/>
              <a:ahLst/>
              <a:rect l="l" t="t" r="r" b="b"/>
              <a:pathLst>
                <a:path w="0" h="763269">
                  <a:moveTo>
                    <a:pt x="0" y="0"/>
                  </a:moveTo>
                  <a:lnTo>
                    <a:pt x="0" y="763199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675" name="object 12" descr=""/>
            <p:cNvPicPr/>
            <p:nvPr/>
          </p:nvPicPr>
          <p:blipFill>
            <a:blip r:embed="rId2"/>
            <a:stretch/>
          </p:blipFill>
          <p:spPr>
            <a:xfrm>
              <a:off x="5835960" y="2693520"/>
              <a:ext cx="78840" cy="1022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676" name="object 13"/>
          <p:cNvSpPr/>
          <p:nvPr/>
        </p:nvSpPr>
        <p:spPr>
          <a:xfrm>
            <a:off x="4183560" y="2570760"/>
            <a:ext cx="59544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i="1" lang="fr-FR" sz="1400" spc="-7" strike="noStrike">
                <a:solidFill>
                  <a:srgbClr val="000000"/>
                </a:solidFill>
                <a:latin typeface="Arial"/>
                <a:ea typeface="DejaVu Sans"/>
              </a:rPr>
              <a:t>db.json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677" name="PlaceHolder 2"/>
          <p:cNvSpPr>
            <a:spLocks noGrp="1"/>
          </p:cNvSpPr>
          <p:nvPr>
            <p:ph type="sldNum" idx="24"/>
          </p:nvPr>
        </p:nvSpPr>
        <p:spPr>
          <a:xfrm>
            <a:off x="8701560" y="4908600"/>
            <a:ext cx="261720" cy="299808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DCE2D965-3134-4DEB-9007-7DAB92CB67AD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44428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26" strike="noStrike">
                <a:solidFill>
                  <a:srgbClr val="000000"/>
                </a:solidFill>
                <a:latin typeface="Tahoma"/>
              </a:rPr>
              <a:t>ConfigMap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YAML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Manifest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Key-value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pair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definition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under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dat</a:t>
            </a:r>
            <a:r>
              <a:rPr b="0" lang="fr-FR" sz="1600" spc="-1" strike="noStrike">
                <a:solidFill>
                  <a:srgbClr val="666666"/>
                </a:solidFill>
                <a:latin typeface="Courier New"/>
              </a:rPr>
              <a:t>a</a:t>
            </a:r>
            <a:r>
              <a:rPr b="0" lang="fr-FR" sz="1600" spc="-596" strike="noStrike">
                <a:solidFill>
                  <a:srgbClr val="666666"/>
                </a:solidFill>
                <a:latin typeface="Courier New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attribute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679" name="PlaceHolder 2"/>
          <p:cNvSpPr>
            <a:spLocks noGrp="1"/>
          </p:cNvSpPr>
          <p:nvPr>
            <p:ph type="sldNum" idx="25"/>
          </p:nvPr>
        </p:nvSpPr>
        <p:spPr>
          <a:xfrm>
            <a:off x="8701560" y="4908600"/>
            <a:ext cx="261720" cy="299808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87A2891E-B7D3-4C6E-B398-90343B7606F2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pic>
        <p:nvPicPr>
          <p:cNvPr id="1680" name="" descr=""/>
          <p:cNvPicPr/>
          <p:nvPr/>
        </p:nvPicPr>
        <p:blipFill>
          <a:blip r:embed="rId1"/>
          <a:stretch/>
        </p:blipFill>
        <p:spPr>
          <a:xfrm>
            <a:off x="457200" y="1176840"/>
            <a:ext cx="7281360" cy="3193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1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42428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26" strike="noStrike">
                <a:solidFill>
                  <a:srgbClr val="000000"/>
                </a:solidFill>
                <a:latin typeface="Tahoma"/>
              </a:rPr>
              <a:t>Consuming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6" strike="noStrike">
                <a:solidFill>
                  <a:srgbClr val="000000"/>
                </a:solidFill>
                <a:latin typeface="Tahoma"/>
              </a:rPr>
              <a:t>ConfigMap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06" strike="noStrike">
                <a:solidFill>
                  <a:srgbClr val="000000"/>
                </a:solidFill>
                <a:latin typeface="Tahoma"/>
              </a:rPr>
              <a:t>as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1" strike="noStrike">
                <a:solidFill>
                  <a:srgbClr val="000000"/>
                </a:solidFill>
                <a:latin typeface="Tahoma"/>
              </a:rPr>
              <a:t>Volume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5" strike="noStrike">
                <a:solidFill>
                  <a:srgbClr val="666666"/>
                </a:solidFill>
                <a:latin typeface="Lucida Sans Unicode"/>
              </a:rPr>
              <a:t>good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choice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processing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6" strike="noStrike">
                <a:solidFill>
                  <a:srgbClr val="666666"/>
                </a:solidFill>
                <a:latin typeface="Lucida Sans Unicode"/>
              </a:rPr>
              <a:t>machine-readable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configuration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file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682" name="PlaceHolder 2"/>
          <p:cNvSpPr>
            <a:spLocks noGrp="1"/>
          </p:cNvSpPr>
          <p:nvPr>
            <p:ph type="sldNum" idx="26"/>
          </p:nvPr>
        </p:nvSpPr>
        <p:spPr>
          <a:xfrm>
            <a:off x="8701560" y="4908600"/>
            <a:ext cx="261720" cy="299808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036D28C1-62F4-4200-B29B-60500599D430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pic>
        <p:nvPicPr>
          <p:cNvPr id="1683" name="" descr=""/>
          <p:cNvPicPr/>
          <p:nvPr/>
        </p:nvPicPr>
        <p:blipFill>
          <a:blip r:embed="rId1"/>
          <a:stretch/>
        </p:blipFill>
        <p:spPr>
          <a:xfrm>
            <a:off x="468000" y="1364400"/>
            <a:ext cx="7918560" cy="2842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4" name="PlaceHolder 1"/>
          <p:cNvSpPr>
            <a:spLocks noGrp="1"/>
          </p:cNvSpPr>
          <p:nvPr>
            <p:ph type="title"/>
          </p:nvPr>
        </p:nvSpPr>
        <p:spPr>
          <a:xfrm>
            <a:off x="494280" y="360000"/>
            <a:ext cx="7064280" cy="1276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26" strike="noStrike">
                <a:solidFill>
                  <a:srgbClr val="000000"/>
                </a:solidFill>
                <a:latin typeface="Tahoma"/>
              </a:rPr>
              <a:t>Consuming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60" strike="noStrike">
                <a:solidFill>
                  <a:srgbClr val="000000"/>
                </a:solidFill>
                <a:latin typeface="Tahoma"/>
              </a:rPr>
              <a:t>Changed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6" strike="noStrike">
                <a:solidFill>
                  <a:srgbClr val="000000"/>
                </a:solidFill>
                <a:latin typeface="Tahoma"/>
              </a:rPr>
              <a:t>ConfigMap</a:t>
            </a:r>
            <a:r>
              <a:rPr b="1" lang="fr-FR" sz="2400" spc="-126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6" strike="noStrike">
                <a:solidFill>
                  <a:srgbClr val="000000"/>
                </a:solidFill>
                <a:latin typeface="Tahoma"/>
              </a:rPr>
              <a:t>Data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Containers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5" strike="noStrike">
                <a:solidFill>
                  <a:srgbClr val="666666"/>
                </a:solidFill>
                <a:latin typeface="Lucida Sans Unicode"/>
              </a:rPr>
              <a:t>will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not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refresh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consumed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6" strike="noStrike">
                <a:solidFill>
                  <a:srgbClr val="666666"/>
                </a:solidFill>
                <a:latin typeface="Lucida Sans Unicode"/>
              </a:rPr>
              <a:t>data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upon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2" strike="noStrike">
                <a:solidFill>
                  <a:srgbClr val="666666"/>
                </a:solidFill>
                <a:latin typeface="Lucida Sans Unicode"/>
              </a:rPr>
              <a:t>change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685" name="PlaceHolder 2"/>
          <p:cNvSpPr>
            <a:spLocks noGrp="1"/>
          </p:cNvSpPr>
          <p:nvPr>
            <p:ph type="sldNum" idx="27"/>
          </p:nvPr>
        </p:nvSpPr>
        <p:spPr>
          <a:xfrm>
            <a:off x="8701560" y="4908600"/>
            <a:ext cx="261720" cy="299808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99E28582-3AC7-4F13-AB6F-10918DB6AA4E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sp>
        <p:nvSpPr>
          <p:cNvPr id="1686" name="object 3"/>
          <p:cNvSpPr/>
          <p:nvPr/>
        </p:nvSpPr>
        <p:spPr>
          <a:xfrm>
            <a:off x="600120" y="1392840"/>
            <a:ext cx="8398440" cy="193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00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key-value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pairs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ConfigMap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changed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live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object.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Changed ConfigMap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key-value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pairs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consumed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by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containers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will not be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reloaded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automatically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for an already-running Pod.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application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code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needs to implement logic to either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reload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configuration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data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periodically or on-demand.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7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96428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9" strike="noStrike">
                <a:solidFill>
                  <a:srgbClr val="000000"/>
                </a:solidFill>
                <a:latin typeface="Tahoma"/>
              </a:rPr>
              <a:t>Creating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Secret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52" strike="noStrike">
                <a:solidFill>
                  <a:srgbClr val="000000"/>
                </a:solidFill>
                <a:latin typeface="Tahoma"/>
              </a:rPr>
              <a:t>with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Imperative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60" strike="noStrike">
                <a:solidFill>
                  <a:srgbClr val="000000"/>
                </a:solidFill>
                <a:latin typeface="Tahoma"/>
              </a:rPr>
              <a:t>Approach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35" strike="noStrike">
                <a:solidFill>
                  <a:srgbClr val="666666"/>
                </a:solidFill>
                <a:latin typeface="Lucida Sans Unicode"/>
              </a:rPr>
              <a:t>Parsed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values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5" strike="noStrike">
                <a:solidFill>
                  <a:srgbClr val="666666"/>
                </a:solidFill>
                <a:latin typeface="Lucida Sans Unicode"/>
              </a:rPr>
              <a:t>are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base64-encoded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5" strike="noStrike">
                <a:solidFill>
                  <a:srgbClr val="666666"/>
                </a:solidFill>
                <a:latin typeface="Lucida Sans Unicode"/>
              </a:rPr>
              <a:t>automatically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688" name="object 3"/>
          <p:cNvGrpSpPr/>
          <p:nvPr/>
        </p:nvGrpSpPr>
        <p:grpSpPr>
          <a:xfrm>
            <a:off x="467640" y="1377000"/>
            <a:ext cx="7862760" cy="2616840"/>
            <a:chOff x="467640" y="1377000"/>
            <a:chExt cx="7862760" cy="2616840"/>
          </a:xfrm>
        </p:grpSpPr>
        <p:pic>
          <p:nvPicPr>
            <p:cNvPr id="1689" name="object 4" descr=""/>
            <p:cNvPicPr/>
            <p:nvPr/>
          </p:nvPicPr>
          <p:blipFill>
            <a:blip r:embed="rId1"/>
            <a:stretch/>
          </p:blipFill>
          <p:spPr>
            <a:xfrm>
              <a:off x="467640" y="1377000"/>
              <a:ext cx="7862760" cy="26168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690" name="object 5"/>
            <p:cNvSpPr/>
            <p:nvPr/>
          </p:nvSpPr>
          <p:spPr>
            <a:xfrm>
              <a:off x="521280" y="1425600"/>
              <a:ext cx="7749000" cy="2503080"/>
            </a:xfrm>
            <a:custGeom>
              <a:avLst/>
              <a:gdLst/>
              <a:ahLst/>
              <a:rect l="l" t="t" r="r" b="b"/>
              <a:pathLst>
                <a:path w="7752080" h="2506345">
                  <a:moveTo>
                    <a:pt x="7751699" y="2505899"/>
                  </a:moveTo>
                  <a:lnTo>
                    <a:pt x="0" y="2505899"/>
                  </a:lnTo>
                  <a:lnTo>
                    <a:pt x="0" y="0"/>
                  </a:lnTo>
                  <a:lnTo>
                    <a:pt x="7751699" y="0"/>
                  </a:lnTo>
                  <a:lnTo>
                    <a:pt x="7751699" y="25058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691" name="object 6"/>
          <p:cNvSpPr/>
          <p:nvPr/>
        </p:nvSpPr>
        <p:spPr>
          <a:xfrm>
            <a:off x="674640" y="1567800"/>
            <a:ext cx="7423920" cy="21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secret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generic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db-creds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--from-literal=pwd=s3cre!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secret/db-creds</a:t>
            </a:r>
            <a:r>
              <a:rPr b="0" lang="fr-FR" sz="14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31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spcBef>
                <a:spcPts val="6"/>
              </a:spcBef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secret</a:t>
            </a:r>
            <a:r>
              <a:rPr b="1" lang="fr-FR" sz="14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docker-registry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my-secret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300" spc="-1" strike="noStrike">
              <a:latin typeface="Arial"/>
            </a:endParaRPr>
          </a:p>
          <a:p>
            <a:pPr marL="226080">
              <a:lnSpc>
                <a:spcPts val="1650"/>
              </a:lnSpc>
              <a:buNone/>
            </a:pP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--from-file=.dockerconfigjson=~/.docker/config.json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secret/my-secret</a:t>
            </a:r>
            <a:r>
              <a:rPr b="0" lang="fr-FR" sz="14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31"/>
              </a:spcBef>
              <a:buNone/>
            </a:pP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1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secret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tls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accounting-secret</a:t>
            </a:r>
            <a:r>
              <a:rPr b="1" lang="fr-FR" sz="14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--cert=accounting.crt</a:t>
            </a:r>
            <a:r>
              <a:rPr b="1" lang="fr-FR" sz="14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300" spc="-1" strike="noStrike">
              <a:latin typeface="Arial"/>
            </a:endParaRPr>
          </a:p>
          <a:p>
            <a:pPr marL="226080">
              <a:lnSpc>
                <a:spcPts val="1650"/>
              </a:lnSpc>
              <a:buNone/>
            </a:pPr>
            <a:r>
              <a:rPr b="1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--key=accounting.key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64"/>
              </a:lnSpc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secret/accounting-secret</a:t>
            </a:r>
            <a:r>
              <a:rPr b="0" lang="fr-FR" sz="14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692" name="object 7"/>
          <p:cNvSpPr/>
          <p:nvPr/>
        </p:nvSpPr>
        <p:spPr>
          <a:xfrm>
            <a:off x="8701560" y="4908600"/>
            <a:ext cx="2552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1367F752-3B54-4762-B504-AB516CF53E7D}" type="slidenum">
              <a:rPr b="0" lang="fr-FR" sz="800" spc="-3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3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78428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Imperative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77" strike="noStrike">
                <a:solidFill>
                  <a:srgbClr val="000000"/>
                </a:solidFill>
                <a:latin typeface="Tahoma"/>
              </a:rPr>
              <a:t>CLI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Options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for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9" strike="noStrike">
                <a:solidFill>
                  <a:srgbClr val="000000"/>
                </a:solidFill>
                <a:latin typeface="Tahoma"/>
              </a:rPr>
              <a:t>Creating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Secret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You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5" strike="noStrike">
                <a:solidFill>
                  <a:srgbClr val="666666"/>
                </a:solidFill>
                <a:latin typeface="Lucida Sans Unicode"/>
              </a:rPr>
              <a:t>will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need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provide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one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options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694" name="object 5"/>
          <p:cNvSpPr/>
          <p:nvPr/>
        </p:nvSpPr>
        <p:spPr>
          <a:xfrm>
            <a:off x="8701560" y="4908600"/>
            <a:ext cx="2552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3AF5B105-B772-44EA-BCA0-B8DDE04125D1}" type="slidenum">
              <a:rPr b="0" lang="fr-FR" sz="800" spc="-3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695" name="" descr=""/>
          <p:cNvPicPr/>
          <p:nvPr/>
        </p:nvPicPr>
        <p:blipFill>
          <a:blip r:embed="rId1"/>
          <a:stretch/>
        </p:blipFill>
        <p:spPr>
          <a:xfrm>
            <a:off x="494280" y="1377360"/>
            <a:ext cx="7537320" cy="2671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6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64828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7" strike="noStrike">
                <a:solidFill>
                  <a:srgbClr val="000000"/>
                </a:solidFill>
                <a:latin typeface="Tahoma"/>
              </a:rPr>
              <a:t>Source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Options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for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6" strike="noStrike">
                <a:solidFill>
                  <a:srgbClr val="000000"/>
                </a:solidFill>
                <a:latin typeface="Tahoma"/>
              </a:rPr>
              <a:t>Data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5" strike="noStrike">
                <a:solidFill>
                  <a:srgbClr val="000000"/>
                </a:solidFill>
                <a:latin typeface="Tahoma"/>
              </a:rPr>
              <a:t>Parsed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66" strike="noStrike">
                <a:solidFill>
                  <a:srgbClr val="000000"/>
                </a:solidFill>
                <a:latin typeface="Tahoma"/>
              </a:rPr>
              <a:t>by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Generic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Secret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Configuration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options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example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values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697" name="object 6"/>
          <p:cNvSpPr/>
          <p:nvPr/>
        </p:nvSpPr>
        <p:spPr>
          <a:xfrm>
            <a:off x="8701560" y="4908600"/>
            <a:ext cx="2552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1265EFFF-4856-4D85-8A64-2184C758F6AE}" type="slidenum">
              <a:rPr b="0" lang="fr-FR" sz="800" spc="-3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698" name="" descr=""/>
          <p:cNvPicPr/>
          <p:nvPr/>
        </p:nvPicPr>
        <p:blipFill>
          <a:blip r:embed="rId1"/>
          <a:stretch/>
        </p:blipFill>
        <p:spPr>
          <a:xfrm>
            <a:off x="504000" y="1570320"/>
            <a:ext cx="8278560" cy="2856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9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96428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7" strike="noStrike">
                <a:solidFill>
                  <a:srgbClr val="000000"/>
                </a:solidFill>
                <a:latin typeface="Tahoma"/>
              </a:rPr>
              <a:t>Specialized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Secret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1" strike="noStrike">
                <a:solidFill>
                  <a:srgbClr val="000000"/>
                </a:solidFill>
                <a:latin typeface="Tahoma"/>
              </a:rPr>
              <a:t>Types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89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0" strike="noStrike">
                <a:solidFill>
                  <a:srgbClr val="666666"/>
                </a:solidFill>
                <a:latin typeface="Lucida Sans Unicode"/>
              </a:rPr>
              <a:t>be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set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--type</a:t>
            </a:r>
            <a:r>
              <a:rPr b="0" lang="fr-FR" sz="1600" spc="-622" strike="noStrike">
                <a:solidFill>
                  <a:srgbClr val="666666"/>
                </a:solidFill>
                <a:latin typeface="Courier New"/>
              </a:rPr>
              <a:t> </a:t>
            </a:r>
            <a:r>
              <a:rPr b="0" lang="fr-FR" sz="1600" spc="-35" strike="noStrike">
                <a:solidFill>
                  <a:srgbClr val="666666"/>
                </a:solidFill>
                <a:latin typeface="Lucida Sans Unicode"/>
              </a:rPr>
              <a:t>CLI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option,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type</a:t>
            </a:r>
            <a:r>
              <a:rPr b="0" lang="fr-FR" sz="1600" spc="-591" strike="noStrike">
                <a:solidFill>
                  <a:srgbClr val="666666"/>
                </a:solidFill>
                <a:latin typeface="Courier New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attribute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manifest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6" strike="noStrike">
                <a:solidFill>
                  <a:srgbClr val="666666"/>
                </a:solidFill>
                <a:latin typeface="Lucida Sans Unicode"/>
              </a:rPr>
              <a:t>(</a:t>
            </a:r>
            <a:r>
              <a:rPr b="0" lang="fr-FR" sz="1600" spc="86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Lucida Sans Unicode"/>
                <a:hlinkClick r:id="rId1"/>
              </a:rPr>
              <a:t>docs</a:t>
            </a:r>
            <a:r>
              <a:rPr b="0" lang="fr-FR" sz="1600" spc="86" strike="noStrike">
                <a:solidFill>
                  <a:srgbClr val="666666"/>
                </a:solidFill>
                <a:latin typeface="Lucida Sans Unicode"/>
              </a:rPr>
              <a:t>)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700" name="object 6"/>
          <p:cNvSpPr/>
          <p:nvPr/>
        </p:nvSpPr>
        <p:spPr>
          <a:xfrm>
            <a:off x="8701560" y="4908600"/>
            <a:ext cx="2552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80715A3C-0001-4CCF-866B-9F4169E5DEA7}" type="slidenum">
              <a:rPr b="0" lang="fr-FR" sz="800" spc="-3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701" name="" descr=""/>
          <p:cNvPicPr/>
          <p:nvPr/>
        </p:nvPicPr>
        <p:blipFill>
          <a:blip r:embed="rId2"/>
          <a:stretch/>
        </p:blipFill>
        <p:spPr>
          <a:xfrm>
            <a:off x="540000" y="1328760"/>
            <a:ext cx="6905160" cy="29898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06428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9" strike="noStrike">
                <a:solidFill>
                  <a:srgbClr val="000000"/>
                </a:solidFill>
                <a:latin typeface="Tahoma"/>
              </a:rPr>
              <a:t>Creating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Secret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" strike="noStrike">
                <a:solidFill>
                  <a:srgbClr val="000000"/>
                </a:solidFill>
                <a:latin typeface="Tahoma"/>
              </a:rPr>
              <a:t>from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Literal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1" strike="noStrike">
                <a:solidFill>
                  <a:srgbClr val="000000"/>
                </a:solidFill>
                <a:latin typeface="Tahoma"/>
              </a:rPr>
              <a:t>Values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Imperative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9" strike="noStrike">
                <a:solidFill>
                  <a:srgbClr val="666666"/>
                </a:solidFill>
                <a:latin typeface="Lucida Sans Unicode"/>
              </a:rPr>
              <a:t>command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5" strike="noStrike">
                <a:solidFill>
                  <a:srgbClr val="666666"/>
                </a:solidFill>
                <a:latin typeface="Lucida Sans Unicode"/>
              </a:rPr>
              <a:t>will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base64-encode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values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5" strike="noStrike">
                <a:solidFill>
                  <a:srgbClr val="666666"/>
                </a:solidFill>
                <a:latin typeface="Lucida Sans Unicode"/>
              </a:rPr>
              <a:t>automatically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703" name="object 10"/>
          <p:cNvSpPr/>
          <p:nvPr/>
        </p:nvSpPr>
        <p:spPr>
          <a:xfrm>
            <a:off x="8701560" y="4908600"/>
            <a:ext cx="2552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AA7EBBE8-8B32-4FBE-B56B-3D1091C3BA90}" type="slidenum">
              <a:rPr b="0" lang="fr-FR" sz="800" spc="-3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704" name="" descr=""/>
          <p:cNvPicPr/>
          <p:nvPr/>
        </p:nvPicPr>
        <p:blipFill>
          <a:blip r:embed="rId1"/>
          <a:stretch/>
        </p:blipFill>
        <p:spPr>
          <a:xfrm>
            <a:off x="513000" y="1440000"/>
            <a:ext cx="5533560" cy="1458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06428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Secret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YAML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Manifest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Assigned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values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need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0" strike="noStrike">
                <a:solidFill>
                  <a:srgbClr val="666666"/>
                </a:solidFill>
                <a:latin typeface="Lucida Sans Unicode"/>
              </a:rPr>
              <a:t>be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provided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base64-encoded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form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706" name="object 4"/>
          <p:cNvSpPr/>
          <p:nvPr/>
        </p:nvSpPr>
        <p:spPr>
          <a:xfrm>
            <a:off x="4607640" y="1425600"/>
            <a:ext cx="2574360" cy="130104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60200" bIns="0" anchor="t">
            <a:spAutoFit/>
          </a:bodyPr>
          <a:p>
            <a:pPr marL="222120">
              <a:lnSpc>
                <a:spcPct val="100000"/>
              </a:lnSpc>
              <a:spcBef>
                <a:spcPts val="1261"/>
              </a:spcBef>
              <a:buNone/>
            </a:pPr>
            <a:r>
              <a:rPr b="1" lang="fr-FR" sz="1500" spc="-7" strike="noStrike">
                <a:solidFill>
                  <a:srgbClr val="4618a2"/>
                </a:solidFill>
                <a:latin typeface="Courier New"/>
                <a:ea typeface="DejaVu Sans"/>
              </a:rPr>
              <a:t>apiVersion:</a:t>
            </a:r>
            <a:r>
              <a:rPr b="1" lang="fr-FR" sz="1500" spc="-9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Courier New"/>
                <a:ea typeface="DejaVu Sans"/>
              </a:rPr>
              <a:t>v1 </a:t>
            </a:r>
            <a:r>
              <a:rPr b="0" lang="fr-FR" sz="1500" spc="-88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5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 </a:t>
            </a:r>
            <a:r>
              <a:rPr b="0" lang="fr-FR" sz="1500" spc="-7" strike="noStrike">
                <a:solidFill>
                  <a:srgbClr val="000000"/>
                </a:solidFill>
                <a:latin typeface="Courier New"/>
                <a:ea typeface="DejaVu Sans"/>
              </a:rPr>
              <a:t>Secret </a:t>
            </a:r>
            <a:r>
              <a:rPr b="0" lang="fr-FR" sz="15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500" spc="-7" strike="noStrike">
                <a:solidFill>
                  <a:srgbClr val="4618a2"/>
                </a:solidFill>
                <a:latin typeface="Courier New"/>
                <a:ea typeface="DejaVu Sans"/>
              </a:rPr>
              <a:t>metadata:</a:t>
            </a:r>
            <a:endParaRPr b="0" lang="fr-FR" sz="1500" spc="-1" strike="noStrike">
              <a:latin typeface="Arial"/>
            </a:endParaRPr>
          </a:p>
          <a:p>
            <a:pPr marL="450720">
              <a:lnSpc>
                <a:spcPct val="100000"/>
              </a:lnSpc>
              <a:buNone/>
            </a:pPr>
            <a:r>
              <a:rPr b="1" lang="fr-FR" sz="15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500" spc="-6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Courier New"/>
                <a:ea typeface="DejaVu Sans"/>
              </a:rPr>
              <a:t>mysecret</a:t>
            </a:r>
            <a:endParaRPr b="0" lang="fr-FR" sz="1500" spc="-1" strike="noStrike">
              <a:latin typeface="Arial"/>
            </a:endParaRPr>
          </a:p>
          <a:p>
            <a:pPr marL="222120">
              <a:lnSpc>
                <a:spcPct val="100000"/>
              </a:lnSpc>
              <a:buNone/>
            </a:pPr>
            <a:r>
              <a:rPr b="1" lang="fr-FR" sz="1500" spc="-7" strike="noStrike">
                <a:solidFill>
                  <a:srgbClr val="4618a2"/>
                </a:solidFill>
                <a:latin typeface="Courier New"/>
                <a:ea typeface="DejaVu Sans"/>
              </a:rPr>
              <a:t>type:</a:t>
            </a:r>
            <a:r>
              <a:rPr b="1" lang="fr-FR" sz="1500" spc="-6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Courier New"/>
                <a:ea typeface="DejaVu Sans"/>
              </a:rPr>
              <a:t>Opaque</a:t>
            </a:r>
            <a:endParaRPr b="0" lang="fr-FR" sz="1500" spc="-1" strike="noStrike">
              <a:latin typeface="Arial"/>
            </a:endParaRPr>
          </a:p>
        </p:txBody>
      </p:sp>
      <p:sp>
        <p:nvSpPr>
          <p:cNvPr id="1707" name="object 5"/>
          <p:cNvSpPr/>
          <p:nvPr/>
        </p:nvSpPr>
        <p:spPr>
          <a:xfrm>
            <a:off x="4744440" y="2764080"/>
            <a:ext cx="1892880" cy="42084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85680">
              <a:lnSpc>
                <a:spcPts val="1519"/>
              </a:lnSpc>
              <a:buNone/>
            </a:pPr>
            <a:r>
              <a:rPr b="1" lang="fr-FR" sz="1500" spc="-7" strike="noStrike">
                <a:solidFill>
                  <a:srgbClr val="4618a2"/>
                </a:solidFill>
                <a:latin typeface="Courier New"/>
                <a:ea typeface="DejaVu Sans"/>
              </a:rPr>
              <a:t>data:</a:t>
            </a:r>
            <a:endParaRPr b="0" lang="fr-FR" sz="1500" spc="-1" strike="noStrike">
              <a:latin typeface="Arial"/>
            </a:endParaRPr>
          </a:p>
          <a:p>
            <a:pPr marL="314280">
              <a:lnSpc>
                <a:spcPct val="100000"/>
              </a:lnSpc>
              <a:buNone/>
            </a:pPr>
            <a:r>
              <a:rPr b="1" lang="fr-FR" sz="1500" spc="-7" strike="noStrike">
                <a:solidFill>
                  <a:srgbClr val="4618a2"/>
                </a:solidFill>
                <a:latin typeface="Courier New"/>
                <a:ea typeface="DejaVu Sans"/>
              </a:rPr>
              <a:t>pwd:</a:t>
            </a:r>
            <a:r>
              <a:rPr b="1" lang="fr-FR" sz="1500" spc="-6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Courier New"/>
                <a:ea typeface="DejaVu Sans"/>
              </a:rPr>
              <a:t>czNjcmUh</a:t>
            </a:r>
            <a:endParaRPr b="0" lang="fr-FR" sz="1500" spc="-1" strike="noStrike">
              <a:latin typeface="Arial"/>
            </a:endParaRPr>
          </a:p>
        </p:txBody>
      </p:sp>
      <p:grpSp>
        <p:nvGrpSpPr>
          <p:cNvPr id="1708" name="object 6"/>
          <p:cNvGrpSpPr/>
          <p:nvPr/>
        </p:nvGrpSpPr>
        <p:grpSpPr>
          <a:xfrm>
            <a:off x="454320" y="1377360"/>
            <a:ext cx="3600360" cy="979920"/>
            <a:chOff x="454320" y="1377360"/>
            <a:chExt cx="3600360" cy="979920"/>
          </a:xfrm>
        </p:grpSpPr>
        <p:pic>
          <p:nvPicPr>
            <p:cNvPr id="1709" name="object 7" descr=""/>
            <p:cNvPicPr/>
            <p:nvPr/>
          </p:nvPicPr>
          <p:blipFill>
            <a:blip r:embed="rId1"/>
            <a:stretch/>
          </p:blipFill>
          <p:spPr>
            <a:xfrm>
              <a:off x="454320" y="1377360"/>
              <a:ext cx="3600360" cy="97992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710" name="object 8"/>
            <p:cNvSpPr/>
            <p:nvPr/>
          </p:nvSpPr>
          <p:spPr>
            <a:xfrm>
              <a:off x="507960" y="1425600"/>
              <a:ext cx="3486240" cy="866160"/>
            </a:xfrm>
            <a:custGeom>
              <a:avLst/>
              <a:gdLst/>
              <a:ahLst/>
              <a:rect l="l" t="t" r="r" b="b"/>
              <a:pathLst>
                <a:path w="3489325" h="869314">
                  <a:moveTo>
                    <a:pt x="3489299" y="868800"/>
                  </a:moveTo>
                  <a:lnTo>
                    <a:pt x="0" y="868800"/>
                  </a:lnTo>
                  <a:lnTo>
                    <a:pt x="0" y="0"/>
                  </a:lnTo>
                  <a:lnTo>
                    <a:pt x="3489299" y="0"/>
                  </a:lnTo>
                  <a:lnTo>
                    <a:pt x="3489299" y="868800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711" name="object 9"/>
          <p:cNvSpPr/>
          <p:nvPr/>
        </p:nvSpPr>
        <p:spPr>
          <a:xfrm>
            <a:off x="507960" y="1425600"/>
            <a:ext cx="3486240" cy="60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53720" bIns="0" anchor="t">
            <a:spAutoFit/>
          </a:bodyPr>
          <a:p>
            <a:pPr marL="198000">
              <a:lnSpc>
                <a:spcPct val="100000"/>
              </a:lnSpc>
              <a:spcBef>
                <a:spcPts val="1210"/>
              </a:spcBef>
              <a:buNone/>
            </a:pPr>
            <a:r>
              <a:rPr b="1" lang="fr-FR" sz="15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5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500" spc="-7" strike="noStrike">
                <a:solidFill>
                  <a:srgbClr val="000000"/>
                </a:solidFill>
                <a:latin typeface="Courier New"/>
                <a:ea typeface="DejaVu Sans"/>
              </a:rPr>
              <a:t>echo</a:t>
            </a:r>
            <a:r>
              <a:rPr b="1" lang="fr-FR" sz="15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500" spc="-7" strike="noStrike">
                <a:solidFill>
                  <a:srgbClr val="000000"/>
                </a:solidFill>
                <a:latin typeface="Courier New"/>
                <a:ea typeface="DejaVu Sans"/>
              </a:rPr>
              <a:t>-n</a:t>
            </a:r>
            <a:r>
              <a:rPr b="1" lang="fr-FR" sz="15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500" spc="-7" strike="noStrike">
                <a:solidFill>
                  <a:srgbClr val="000000"/>
                </a:solidFill>
                <a:latin typeface="Courier New"/>
                <a:ea typeface="DejaVu Sans"/>
              </a:rPr>
              <a:t>'s3cre!'</a:t>
            </a:r>
            <a:r>
              <a:rPr b="1" lang="fr-FR" sz="15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500" spc="-1" strike="noStrike">
                <a:solidFill>
                  <a:srgbClr val="000000"/>
                </a:solidFill>
                <a:latin typeface="Courier New"/>
                <a:ea typeface="DejaVu Sans"/>
              </a:rPr>
              <a:t>|</a:t>
            </a:r>
            <a:r>
              <a:rPr b="1" lang="fr-FR" sz="15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500" spc="-7" strike="noStrike">
                <a:solidFill>
                  <a:srgbClr val="000000"/>
                </a:solidFill>
                <a:latin typeface="Courier New"/>
                <a:ea typeface="DejaVu Sans"/>
              </a:rPr>
              <a:t>base64</a:t>
            </a:r>
            <a:endParaRPr b="0" lang="fr-FR" sz="1500" spc="-1" strike="noStrike">
              <a:latin typeface="Arial"/>
            </a:endParaRPr>
          </a:p>
          <a:p>
            <a:pPr marL="198000">
              <a:lnSpc>
                <a:spcPct val="100000"/>
              </a:lnSpc>
              <a:buNone/>
            </a:pPr>
            <a:r>
              <a:rPr b="0" lang="fr-FR" sz="1500" spc="-7" strike="noStrike">
                <a:solidFill>
                  <a:srgbClr val="000000"/>
                </a:solidFill>
                <a:latin typeface="Courier New"/>
                <a:ea typeface="DejaVu Sans"/>
              </a:rPr>
              <a:t>czNjcmUh</a:t>
            </a:r>
            <a:endParaRPr b="0" lang="fr-FR" sz="1500" spc="-1" strike="noStrike">
              <a:latin typeface="Arial"/>
            </a:endParaRPr>
          </a:p>
        </p:txBody>
      </p:sp>
      <p:grpSp>
        <p:nvGrpSpPr>
          <p:cNvPr id="1712" name="object 10"/>
          <p:cNvGrpSpPr/>
          <p:nvPr/>
        </p:nvGrpSpPr>
        <p:grpSpPr>
          <a:xfrm>
            <a:off x="1065960" y="2219400"/>
            <a:ext cx="3350160" cy="869760"/>
            <a:chOff x="1065960" y="2219400"/>
            <a:chExt cx="3350160" cy="869760"/>
          </a:xfrm>
        </p:grpSpPr>
        <p:sp>
          <p:nvSpPr>
            <p:cNvPr id="1713" name="object 11"/>
            <p:cNvSpPr/>
            <p:nvPr/>
          </p:nvSpPr>
          <p:spPr>
            <a:xfrm>
              <a:off x="1065960" y="2219400"/>
              <a:ext cx="3254400" cy="829080"/>
            </a:xfrm>
            <a:custGeom>
              <a:avLst/>
              <a:gdLst/>
              <a:ahLst/>
              <a:rect l="l" t="t" r="r" b="b"/>
              <a:pathLst>
                <a:path w="3257550" h="832485">
                  <a:moveTo>
                    <a:pt x="0" y="0"/>
                  </a:moveTo>
                  <a:lnTo>
                    <a:pt x="0" y="831899"/>
                  </a:lnTo>
                  <a:lnTo>
                    <a:pt x="3257099" y="831899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714" name="object 12" descr=""/>
            <p:cNvPicPr/>
            <p:nvPr/>
          </p:nvPicPr>
          <p:blipFill>
            <a:blip r:embed="rId2"/>
            <a:stretch/>
          </p:blipFill>
          <p:spPr>
            <a:xfrm>
              <a:off x="4313880" y="3010320"/>
              <a:ext cx="102240" cy="788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715" name="object 13"/>
          <p:cNvSpPr/>
          <p:nvPr/>
        </p:nvSpPr>
        <p:spPr>
          <a:xfrm>
            <a:off x="8701560" y="4908600"/>
            <a:ext cx="2552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E1DF27EE-0A6B-4C92-A0F7-F6BBC31E0280}" type="slidenum">
              <a:rPr b="0" lang="fr-FR" sz="800" spc="-3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6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14428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26" strike="noStrike">
                <a:solidFill>
                  <a:srgbClr val="000000"/>
                </a:solidFill>
                <a:latin typeface="Tahoma"/>
              </a:rPr>
              <a:t>Consuming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Secret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06" strike="noStrike">
                <a:solidFill>
                  <a:srgbClr val="000000"/>
                </a:solidFill>
                <a:latin typeface="Tahoma"/>
              </a:rPr>
              <a:t>as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5" strike="noStrike">
                <a:solidFill>
                  <a:srgbClr val="000000"/>
                </a:solidFill>
                <a:latin typeface="Tahoma"/>
              </a:rPr>
              <a:t>Environment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9" strike="noStrike">
                <a:solidFill>
                  <a:srgbClr val="000000"/>
                </a:solidFill>
                <a:latin typeface="Tahoma"/>
              </a:rPr>
              <a:t>Variables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46" strike="noStrike">
                <a:solidFill>
                  <a:srgbClr val="666666"/>
                </a:solidFill>
                <a:latin typeface="Lucida Sans Unicode"/>
              </a:rPr>
              <a:t>Accessed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values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5" strike="noStrike">
                <a:solidFill>
                  <a:srgbClr val="666666"/>
                </a:solidFill>
                <a:latin typeface="Lucida Sans Unicode"/>
              </a:rPr>
              <a:t>are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base64-decoded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717" name="object 3"/>
          <p:cNvGrpSpPr/>
          <p:nvPr/>
        </p:nvGrpSpPr>
        <p:grpSpPr>
          <a:xfrm>
            <a:off x="483840" y="1418040"/>
            <a:ext cx="4040640" cy="2842200"/>
            <a:chOff x="483840" y="1418040"/>
            <a:chExt cx="4040640" cy="2842200"/>
          </a:xfrm>
        </p:grpSpPr>
        <p:pic>
          <p:nvPicPr>
            <p:cNvPr id="1718" name="object 4" descr=""/>
            <p:cNvPicPr/>
            <p:nvPr/>
          </p:nvPicPr>
          <p:blipFill>
            <a:blip r:embed="rId1"/>
            <a:stretch/>
          </p:blipFill>
          <p:spPr>
            <a:xfrm>
              <a:off x="483840" y="1418040"/>
              <a:ext cx="4040640" cy="28422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719" name="object 5"/>
            <p:cNvSpPr/>
            <p:nvPr/>
          </p:nvSpPr>
          <p:spPr>
            <a:xfrm>
              <a:off x="537480" y="1466280"/>
              <a:ext cx="3926880" cy="2728440"/>
            </a:xfrm>
            <a:custGeom>
              <a:avLst/>
              <a:gdLst/>
              <a:ahLst/>
              <a:rect l="l" t="t" r="r" b="b"/>
              <a:pathLst>
                <a:path w="3930015" h="2731770">
                  <a:moveTo>
                    <a:pt x="3929399" y="2731199"/>
                  </a:moveTo>
                  <a:lnTo>
                    <a:pt x="0" y="2731199"/>
                  </a:lnTo>
                  <a:lnTo>
                    <a:pt x="0" y="0"/>
                  </a:lnTo>
                  <a:lnTo>
                    <a:pt x="3929399" y="0"/>
                  </a:lnTo>
                  <a:lnTo>
                    <a:pt x="3929399" y="27311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720" name="object 6"/>
          <p:cNvSpPr/>
          <p:nvPr/>
        </p:nvSpPr>
        <p:spPr>
          <a:xfrm>
            <a:off x="711360" y="1542240"/>
            <a:ext cx="3542760" cy="173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040" bIns="0" anchor="t">
            <a:spAutoFit/>
          </a:bodyPr>
          <a:p>
            <a:pPr marL="12600">
              <a:lnSpc>
                <a:spcPts val="1650"/>
              </a:lnSpc>
              <a:spcBef>
                <a:spcPts val="181"/>
              </a:spcBef>
              <a:buNone/>
            </a:pP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apiVersion:</a:t>
            </a:r>
            <a:r>
              <a:rPr b="1" lang="fr-FR" sz="1400" spc="-97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v1 </a:t>
            </a:r>
            <a:r>
              <a:rPr b="0" lang="fr-FR" sz="1400" spc="-8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50"/>
              </a:lnSpc>
              <a:spcBef>
                <a:spcPts val="181"/>
              </a:spcBef>
              <a:buNone/>
            </a:pP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Pod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50"/>
              </a:lnSpc>
              <a:spcBef>
                <a:spcPts val="181"/>
              </a:spcBef>
              <a:buNone/>
            </a:pP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metadata:</a:t>
            </a:r>
            <a:endParaRPr b="0" lang="fr-FR" sz="1400" spc="-1" strike="noStrike">
              <a:latin typeface="Arial"/>
            </a:endParaRPr>
          </a:p>
          <a:p>
            <a:pPr marL="226080">
              <a:lnSpc>
                <a:spcPts val="1585"/>
              </a:lnSpc>
              <a:buNone/>
            </a:pP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4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backend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50"/>
              </a:lnSpc>
              <a:buNone/>
            </a:pP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spec:</a:t>
            </a:r>
            <a:endParaRPr b="0" lang="fr-FR" sz="1400" spc="-1" strike="noStrike">
              <a:latin typeface="Arial"/>
            </a:endParaRPr>
          </a:p>
          <a:p>
            <a:pPr marL="226080">
              <a:lnSpc>
                <a:spcPts val="1650"/>
              </a:lnSpc>
              <a:buNone/>
            </a:pP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containers:</a:t>
            </a:r>
            <a:endParaRPr b="0" lang="fr-FR" sz="1400" spc="-1" strike="noStrike">
              <a:latin typeface="Arial"/>
            </a:endParaRPr>
          </a:p>
          <a:p>
            <a:pPr marL="226080">
              <a:lnSpc>
                <a:spcPts val="1650"/>
              </a:lnSpc>
              <a:buNone/>
            </a:pPr>
            <a:r>
              <a:rPr b="1" lang="fr-FR" sz="1400" spc="-1" strike="noStrike">
                <a:solidFill>
                  <a:srgbClr val="4618a2"/>
                </a:solidFill>
                <a:latin typeface="Courier New"/>
                <a:ea typeface="DejaVu Sans"/>
              </a:rPr>
              <a:t>-</a:t>
            </a:r>
            <a:r>
              <a:rPr b="1" lang="fr-FR" sz="1400" spc="-5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image:</a:t>
            </a:r>
            <a:r>
              <a:rPr b="1" lang="fr-FR" sz="1400" spc="-4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bmuschko/web-app:1.0.1</a:t>
            </a:r>
            <a:endParaRPr b="0" lang="fr-FR" sz="1400" spc="-1" strike="noStrike">
              <a:latin typeface="Arial"/>
            </a:endParaRPr>
          </a:p>
          <a:p>
            <a:pPr marL="439560">
              <a:lnSpc>
                <a:spcPts val="1664"/>
              </a:lnSpc>
              <a:buNone/>
            </a:pP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4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backend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721" name="object 7"/>
          <p:cNvSpPr/>
          <p:nvPr/>
        </p:nvSpPr>
        <p:spPr>
          <a:xfrm>
            <a:off x="1138320" y="3290760"/>
            <a:ext cx="1942560" cy="64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664"/>
              </a:lnSpc>
              <a:spcBef>
                <a:spcPts val="99"/>
              </a:spcBef>
              <a:buNone/>
            </a:pP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envFrom: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ts val="1650"/>
              </a:lnSpc>
              <a:buNone/>
            </a:pPr>
            <a:r>
              <a:rPr b="1" lang="fr-FR" sz="1400" spc="-1" strike="noStrike">
                <a:solidFill>
                  <a:srgbClr val="4618a2"/>
                </a:solidFill>
                <a:latin typeface="Courier New"/>
                <a:ea typeface="DejaVu Sans"/>
              </a:rPr>
              <a:t>-</a:t>
            </a:r>
            <a:r>
              <a:rPr b="1" lang="fr-FR" sz="14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secretRef:</a:t>
            </a:r>
            <a:endParaRPr b="0" lang="fr-FR" sz="1400" spc="-1" strike="noStrike">
              <a:latin typeface="Arial"/>
            </a:endParaRPr>
          </a:p>
          <a:p>
            <a:pPr marL="439560">
              <a:lnSpc>
                <a:spcPts val="1664"/>
              </a:lnSpc>
              <a:buNone/>
            </a:pPr>
            <a:r>
              <a:rPr b="1" lang="fr-FR" sz="14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400" spc="-8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Courier New"/>
                <a:ea typeface="DejaVu Sans"/>
              </a:rPr>
              <a:t>mysecret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722" name="object 9"/>
          <p:cNvSpPr/>
          <p:nvPr/>
        </p:nvSpPr>
        <p:spPr>
          <a:xfrm>
            <a:off x="5069520" y="1466280"/>
            <a:ext cx="3681720" cy="32220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4560" bIns="0" anchor="t">
            <a:spAutoFit/>
          </a:bodyPr>
          <a:p>
            <a:pPr marL="226800">
              <a:lnSpc>
                <a:spcPct val="100000"/>
              </a:lnSpc>
              <a:spcBef>
                <a:spcPts val="981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exec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-it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backend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--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env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723" name="object 10"/>
          <p:cNvSpPr/>
          <p:nvPr/>
        </p:nvSpPr>
        <p:spPr>
          <a:xfrm>
            <a:off x="5245560" y="1824840"/>
            <a:ext cx="1086480" cy="16416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50760">
              <a:lnSpc>
                <a:spcPts val="1295"/>
              </a:lnSpc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pwd=s3cre!</a:t>
            </a:r>
            <a:endParaRPr b="0" lang="fr-FR" sz="1300" spc="-1" strike="noStrike">
              <a:latin typeface="Arial"/>
            </a:endParaRPr>
          </a:p>
        </p:txBody>
      </p:sp>
      <p:grpSp>
        <p:nvGrpSpPr>
          <p:cNvPr id="1724" name="object 11"/>
          <p:cNvGrpSpPr/>
          <p:nvPr/>
        </p:nvGrpSpPr>
        <p:grpSpPr>
          <a:xfrm>
            <a:off x="1069560" y="2411640"/>
            <a:ext cx="4928760" cy="1623240"/>
            <a:chOff x="1069560" y="2411640"/>
            <a:chExt cx="4928760" cy="1623240"/>
          </a:xfrm>
        </p:grpSpPr>
        <p:sp>
          <p:nvSpPr>
            <p:cNvPr id="1725" name="object 12"/>
            <p:cNvSpPr/>
            <p:nvPr/>
          </p:nvSpPr>
          <p:spPr>
            <a:xfrm>
              <a:off x="3269160" y="2507760"/>
              <a:ext cx="2687760" cy="1349280"/>
            </a:xfrm>
            <a:custGeom>
              <a:avLst/>
              <a:gdLst/>
              <a:ahLst/>
              <a:rect l="l" t="t" r="r" b="b"/>
              <a:pathLst>
                <a:path w="2691129" h="1352550">
                  <a:moveTo>
                    <a:pt x="0" y="1352408"/>
                  </a:moveTo>
                  <a:lnTo>
                    <a:pt x="2691126" y="1352408"/>
                  </a:lnTo>
                  <a:lnTo>
                    <a:pt x="2691126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726" name="object 13" descr=""/>
            <p:cNvPicPr/>
            <p:nvPr/>
          </p:nvPicPr>
          <p:blipFill>
            <a:blip r:embed="rId2"/>
            <a:stretch/>
          </p:blipFill>
          <p:spPr>
            <a:xfrm>
              <a:off x="5919480" y="2411640"/>
              <a:ext cx="78840" cy="1026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727" name="object 14"/>
            <p:cNvSpPr/>
            <p:nvPr/>
          </p:nvSpPr>
          <p:spPr>
            <a:xfrm>
              <a:off x="1069560" y="3326760"/>
              <a:ext cx="2086560" cy="708120"/>
            </a:xfrm>
            <a:custGeom>
              <a:avLst/>
              <a:gdLst/>
              <a:ahLst/>
              <a:rect l="l" t="t" r="r" b="b"/>
              <a:pathLst>
                <a:path w="2089785" h="711200">
                  <a:moveTo>
                    <a:pt x="0" y="0"/>
                  </a:moveTo>
                  <a:lnTo>
                    <a:pt x="2089499" y="0"/>
                  </a:lnTo>
                  <a:lnTo>
                    <a:pt x="2089499" y="710699"/>
                  </a:lnTo>
                  <a:lnTo>
                    <a:pt x="0" y="71069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9049">
              <a:solidFill>
                <a:srgbClr val="ff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728" name="object 15"/>
          <p:cNvSpPr/>
          <p:nvPr/>
        </p:nvSpPr>
        <p:spPr>
          <a:xfrm>
            <a:off x="8701560" y="4908600"/>
            <a:ext cx="2552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FD52A4E0-A098-425F-B035-D83C2D493CDA}" type="slidenum">
              <a:rPr b="0" lang="fr-FR" sz="800" spc="-3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9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96428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9" strike="noStrike">
                <a:solidFill>
                  <a:srgbClr val="000000"/>
                </a:solidFill>
                <a:latin typeface="Tahoma"/>
              </a:rPr>
              <a:t>Creating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Secret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" strike="noStrike">
                <a:solidFill>
                  <a:srgbClr val="000000"/>
                </a:solidFill>
                <a:latin typeface="Tahoma"/>
              </a:rPr>
              <a:t>from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80" strike="noStrike">
                <a:solidFill>
                  <a:srgbClr val="000000"/>
                </a:solidFill>
                <a:latin typeface="Tahoma"/>
              </a:rPr>
              <a:t>SSH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" strike="noStrike">
                <a:solidFill>
                  <a:srgbClr val="000000"/>
                </a:solidFill>
                <a:latin typeface="Tahoma"/>
              </a:rPr>
              <a:t>Private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Key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52" strike="noStrike">
                <a:solidFill>
                  <a:srgbClr val="000000"/>
                </a:solidFill>
                <a:latin typeface="Tahoma"/>
              </a:rPr>
              <a:t>File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Imperative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creation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by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pointing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file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730" name="object 3"/>
          <p:cNvGrpSpPr/>
          <p:nvPr/>
        </p:nvGrpSpPr>
        <p:grpSpPr>
          <a:xfrm>
            <a:off x="467640" y="1377000"/>
            <a:ext cx="6244920" cy="1094400"/>
            <a:chOff x="467640" y="1377000"/>
            <a:chExt cx="6244920" cy="1094400"/>
          </a:xfrm>
        </p:grpSpPr>
        <p:pic>
          <p:nvPicPr>
            <p:cNvPr id="1731" name="object 4" descr=""/>
            <p:cNvPicPr/>
            <p:nvPr/>
          </p:nvPicPr>
          <p:blipFill>
            <a:blip r:embed="rId1"/>
            <a:stretch/>
          </p:blipFill>
          <p:spPr>
            <a:xfrm>
              <a:off x="467640" y="1377000"/>
              <a:ext cx="6244920" cy="10944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732" name="object 5"/>
            <p:cNvSpPr/>
            <p:nvPr/>
          </p:nvSpPr>
          <p:spPr>
            <a:xfrm>
              <a:off x="521280" y="1425600"/>
              <a:ext cx="6130800" cy="980280"/>
            </a:xfrm>
            <a:custGeom>
              <a:avLst/>
              <a:gdLst/>
              <a:ahLst/>
              <a:rect l="l" t="t" r="r" b="b"/>
              <a:pathLst>
                <a:path w="6134100" h="983614">
                  <a:moveTo>
                    <a:pt x="6133799" y="983399"/>
                  </a:moveTo>
                  <a:lnTo>
                    <a:pt x="0" y="983399"/>
                  </a:lnTo>
                  <a:lnTo>
                    <a:pt x="0" y="0"/>
                  </a:lnTo>
                  <a:lnTo>
                    <a:pt x="6133799" y="0"/>
                  </a:lnTo>
                  <a:lnTo>
                    <a:pt x="6133799" y="9833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733" name="object 6"/>
          <p:cNvSpPr/>
          <p:nvPr/>
        </p:nvSpPr>
        <p:spPr>
          <a:xfrm>
            <a:off x="674640" y="1568160"/>
            <a:ext cx="467748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secret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generic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secret-ssh-auth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734" name="object 7"/>
          <p:cNvSpPr/>
          <p:nvPr/>
        </p:nvSpPr>
        <p:spPr>
          <a:xfrm>
            <a:off x="3824280" y="1782720"/>
            <a:ext cx="2682720" cy="19584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32400">
              <a:lnSpc>
                <a:spcPts val="1545"/>
              </a:lnSpc>
              <a:buNone/>
            </a:pP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--from-file=ssh-privatekey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735" name="object 8"/>
          <p:cNvSpPr/>
          <p:nvPr/>
        </p:nvSpPr>
        <p:spPr>
          <a:xfrm>
            <a:off x="674640" y="1768320"/>
            <a:ext cx="30931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21096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--type=kubernetes.io/ssh-auth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secret/secret-ssh-auth</a:t>
            </a:r>
            <a:r>
              <a:rPr b="0" lang="fr-FR" sz="13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736" name="object 10"/>
          <p:cNvSpPr/>
          <p:nvPr/>
        </p:nvSpPr>
        <p:spPr>
          <a:xfrm>
            <a:off x="3488040" y="2958840"/>
            <a:ext cx="4667040" cy="150444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53000" bIns="0" anchor="t">
            <a:spAutoFit/>
          </a:bodyPr>
          <a:p>
            <a:pPr marL="162000">
              <a:lnSpc>
                <a:spcPct val="101000"/>
              </a:lnSpc>
              <a:spcBef>
                <a:spcPts val="1205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-----BEGIN RSA PRIVATE KEY----- </a:t>
            </a:r>
            <a:r>
              <a:rPr b="0" lang="fr-FR" sz="1300" spc="-7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300" spc="-1" strike="noStrike">
              <a:latin typeface="Arial"/>
            </a:endParaRPr>
          </a:p>
          <a:p>
            <a:pPr marL="162000">
              <a:lnSpc>
                <a:spcPct val="101000"/>
              </a:lnSpc>
              <a:spcBef>
                <a:spcPts val="1205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Proc-Type:</a:t>
            </a:r>
            <a:r>
              <a:rPr b="0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4,ENCRYPTED</a:t>
            </a:r>
            <a:endParaRPr b="0" lang="fr-FR" sz="1300" spc="-1" strike="noStrike">
              <a:latin typeface="Arial"/>
            </a:endParaRPr>
          </a:p>
          <a:p>
            <a:pPr marL="1620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DEK-Info:</a:t>
            </a:r>
            <a:endParaRPr b="0" lang="fr-FR" sz="1300" spc="-1" strike="noStrike">
              <a:latin typeface="Arial"/>
            </a:endParaRPr>
          </a:p>
          <a:p>
            <a:pPr marL="1620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AES-128-CBC,8734C9153079F2E8497C8075289EBBF1</a:t>
            </a:r>
            <a:endParaRPr b="0" lang="fr-FR" sz="1300" spc="-1" strike="noStrike">
              <a:latin typeface="Arial"/>
            </a:endParaRPr>
          </a:p>
          <a:p>
            <a:pPr marL="1620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300" spc="-1" strike="noStrike">
              <a:latin typeface="Arial"/>
            </a:endParaRPr>
          </a:p>
          <a:p>
            <a:pPr marL="1620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-----END</a:t>
            </a:r>
            <a:r>
              <a:rPr b="0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RSA</a:t>
            </a:r>
            <a:r>
              <a:rPr b="0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PRIVATE</a:t>
            </a:r>
            <a:r>
              <a:rPr b="0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KEY-----</a:t>
            </a:r>
            <a:endParaRPr b="0" lang="fr-FR" sz="1300" spc="-1" strike="noStrike">
              <a:latin typeface="Arial"/>
            </a:endParaRPr>
          </a:p>
        </p:txBody>
      </p:sp>
      <p:grpSp>
        <p:nvGrpSpPr>
          <p:cNvPr id="1737" name="object 11"/>
          <p:cNvGrpSpPr/>
          <p:nvPr/>
        </p:nvGrpSpPr>
        <p:grpSpPr>
          <a:xfrm>
            <a:off x="5835960" y="2199240"/>
            <a:ext cx="78840" cy="596520"/>
            <a:chOff x="5835960" y="2199240"/>
            <a:chExt cx="78840" cy="596520"/>
          </a:xfrm>
        </p:grpSpPr>
        <p:sp>
          <p:nvSpPr>
            <p:cNvPr id="1738" name="object 12"/>
            <p:cNvSpPr/>
            <p:nvPr/>
          </p:nvSpPr>
          <p:spPr>
            <a:xfrm>
              <a:off x="5877000" y="2199240"/>
              <a:ext cx="360" cy="501120"/>
            </a:xfrm>
            <a:custGeom>
              <a:avLst/>
              <a:gdLst/>
              <a:ahLst/>
              <a:rect l="l" t="t" r="r" b="b"/>
              <a:pathLst>
                <a:path w="0" h="504189">
                  <a:moveTo>
                    <a:pt x="0" y="0"/>
                  </a:moveTo>
                  <a:lnTo>
                    <a:pt x="0" y="503699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739" name="object 13" descr=""/>
            <p:cNvPicPr/>
            <p:nvPr/>
          </p:nvPicPr>
          <p:blipFill>
            <a:blip r:embed="rId2"/>
            <a:stretch/>
          </p:blipFill>
          <p:spPr>
            <a:xfrm>
              <a:off x="5835960" y="2693520"/>
              <a:ext cx="78840" cy="1022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740" name="object 14"/>
          <p:cNvSpPr/>
          <p:nvPr/>
        </p:nvSpPr>
        <p:spPr>
          <a:xfrm>
            <a:off x="3497760" y="2570760"/>
            <a:ext cx="116892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i="1" lang="fr-FR" sz="1400" spc="-1" strike="noStrike">
                <a:solidFill>
                  <a:srgbClr val="000000"/>
                </a:solidFill>
                <a:latin typeface="Arial"/>
                <a:ea typeface="DejaVu Sans"/>
              </a:rPr>
              <a:t>ssh-privatekey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741" name="object 15"/>
          <p:cNvSpPr/>
          <p:nvPr/>
        </p:nvSpPr>
        <p:spPr>
          <a:xfrm>
            <a:off x="8701560" y="4908600"/>
            <a:ext cx="2552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7E4F5EEC-4D84-4024-9ECD-54C84C5DA034}" type="slidenum">
              <a:rPr b="0" lang="fr-FR" sz="800" spc="-3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60428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26" strike="noStrike">
                <a:solidFill>
                  <a:srgbClr val="000000"/>
                </a:solidFill>
                <a:latin typeface="Tahoma"/>
              </a:rPr>
              <a:t>Consuming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Secret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06" strike="noStrike">
                <a:solidFill>
                  <a:srgbClr val="000000"/>
                </a:solidFill>
                <a:latin typeface="Tahoma"/>
              </a:rPr>
              <a:t>as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1" strike="noStrike">
                <a:solidFill>
                  <a:srgbClr val="000000"/>
                </a:solidFill>
                <a:latin typeface="Tahoma"/>
              </a:rPr>
              <a:t>Volume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5" strike="noStrike">
                <a:solidFill>
                  <a:srgbClr val="666666"/>
                </a:solidFill>
                <a:latin typeface="Lucida Sans Unicode"/>
              </a:rPr>
              <a:t>good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choice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processing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6" strike="noStrike">
                <a:solidFill>
                  <a:srgbClr val="666666"/>
                </a:solidFill>
                <a:latin typeface="Lucida Sans Unicode"/>
              </a:rPr>
              <a:t>machine-readable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configuration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file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743" name="object 14"/>
          <p:cNvSpPr/>
          <p:nvPr/>
        </p:nvSpPr>
        <p:spPr>
          <a:xfrm>
            <a:off x="8701560" y="4908600"/>
            <a:ext cx="2552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D5D8A0E2-71A7-46D3-B79F-5FB804503CB2}" type="slidenum">
              <a:rPr b="0" lang="fr-FR" sz="800" spc="-3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744" name="" descr=""/>
          <p:cNvPicPr/>
          <p:nvPr/>
        </p:nvPicPr>
        <p:blipFill>
          <a:blip r:embed="rId1"/>
          <a:stretch/>
        </p:blipFill>
        <p:spPr>
          <a:xfrm>
            <a:off x="494280" y="1141200"/>
            <a:ext cx="8458560" cy="33573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88428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Plain-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Text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Secre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t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1" strike="noStrike">
                <a:solidFill>
                  <a:srgbClr val="000000"/>
                </a:solidFill>
                <a:latin typeface="Tahoma"/>
              </a:rPr>
              <a:t>Value</a:t>
            </a:r>
            <a:r>
              <a:rPr b="1" lang="fr-FR" sz="2400" spc="41" strike="noStrike">
                <a:solidFill>
                  <a:srgbClr val="000000"/>
                </a:solidFill>
                <a:latin typeface="Tahoma"/>
              </a:rPr>
              <a:t>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stringDa</a:t>
            </a: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t</a:t>
            </a:r>
            <a:r>
              <a:rPr b="0" lang="fr-FR" sz="1600" spc="-1" strike="noStrike">
                <a:solidFill>
                  <a:srgbClr val="666666"/>
                </a:solidFill>
                <a:latin typeface="Courier New"/>
              </a:rPr>
              <a:t>a</a:t>
            </a:r>
            <a:r>
              <a:rPr b="0" lang="fr-FR" sz="1600" spc="-687" strike="noStrike">
                <a:solidFill>
                  <a:srgbClr val="666666"/>
                </a:solidFill>
                <a:latin typeface="Courier New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attribute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allows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plain-text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values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746" name="object 12"/>
          <p:cNvSpPr/>
          <p:nvPr/>
        </p:nvSpPr>
        <p:spPr>
          <a:xfrm>
            <a:off x="8701560" y="4908600"/>
            <a:ext cx="25524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5DF9BC88-C99F-4898-B918-526FFEB659C6}" type="slidenum">
              <a:rPr b="0" lang="fr-FR" sz="800" spc="-32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747" name="" descr=""/>
          <p:cNvPicPr/>
          <p:nvPr/>
        </p:nvPicPr>
        <p:blipFill>
          <a:blip r:embed="rId1"/>
          <a:stretch/>
        </p:blipFill>
        <p:spPr>
          <a:xfrm>
            <a:off x="504000" y="1241640"/>
            <a:ext cx="7918560" cy="3556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8" name="object 2"/>
          <p:cNvSpPr/>
          <p:nvPr/>
        </p:nvSpPr>
        <p:spPr>
          <a:xfrm>
            <a:off x="494280" y="371880"/>
            <a:ext cx="128268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2400" spc="-15" strike="noStrike">
                <a:solidFill>
                  <a:srgbClr val="000000"/>
                </a:solidFill>
                <a:latin typeface="Tahoma"/>
                <a:ea typeface="DejaVu Sans"/>
              </a:rPr>
              <a:t>Lab 16</a:t>
            </a:r>
            <a:endParaRPr b="0" lang="fr-FR" sz="2400" spc="-1" strike="noStrike">
              <a:latin typeface="Arial"/>
            </a:endParaRPr>
          </a:p>
        </p:txBody>
      </p:sp>
      <p:sp>
        <p:nvSpPr>
          <p:cNvPr id="1749" name="object 3"/>
          <p:cNvSpPr/>
          <p:nvPr/>
        </p:nvSpPr>
        <p:spPr>
          <a:xfrm>
            <a:off x="494280" y="1323360"/>
            <a:ext cx="4320000" cy="152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14000"/>
              </a:lnSpc>
              <a:spcBef>
                <a:spcPts val="99"/>
              </a:spcBef>
              <a:buNone/>
            </a:pP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Creating</a:t>
            </a:r>
            <a:r>
              <a:rPr b="0" lang="fr-FR" sz="29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and</a:t>
            </a:r>
            <a:r>
              <a:rPr b="0" lang="fr-FR" sz="29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1" strike="noStrike">
                <a:solidFill>
                  <a:srgbClr val="000000"/>
                </a:solidFill>
                <a:latin typeface="Arial MT"/>
                <a:ea typeface="DejaVu Sans"/>
              </a:rPr>
              <a:t>consuming</a:t>
            </a:r>
            <a:r>
              <a:rPr b="0" lang="fr-FR" sz="2900" spc="-35" strike="noStrike">
                <a:solidFill>
                  <a:srgbClr val="000000"/>
                </a:solidFill>
                <a:latin typeface="Arial MT"/>
                <a:ea typeface="DejaVu Sans"/>
              </a:rPr>
              <a:t> ConfigMap and</a:t>
            </a:r>
            <a:r>
              <a:rPr b="0" lang="fr-FR" sz="29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9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Secret</a:t>
            </a:r>
            <a:endParaRPr b="0" lang="fr-FR" sz="2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50" name="object 2"/>
          <p:cNvGrpSpPr/>
          <p:nvPr/>
        </p:nvGrpSpPr>
        <p:grpSpPr>
          <a:xfrm>
            <a:off x="0" y="0"/>
            <a:ext cx="9140760" cy="5140080"/>
            <a:chOff x="0" y="0"/>
            <a:chExt cx="9140760" cy="5140080"/>
          </a:xfrm>
        </p:grpSpPr>
        <p:pic>
          <p:nvPicPr>
            <p:cNvPr id="1751" name="object 3" descr=""/>
            <p:cNvPicPr/>
            <p:nvPr/>
          </p:nvPicPr>
          <p:blipFill>
            <a:blip r:embed="rId1"/>
            <a:stretch/>
          </p:blipFill>
          <p:spPr>
            <a:xfrm>
              <a:off x="0" y="0"/>
              <a:ext cx="9140760" cy="514008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752" name="object 4" descr=""/>
            <p:cNvPicPr/>
            <p:nvPr/>
          </p:nvPicPr>
          <p:blipFill>
            <a:blip r:embed="rId2"/>
            <a:stretch/>
          </p:blipFill>
          <p:spPr>
            <a:xfrm>
              <a:off x="8714160" y="146160"/>
              <a:ext cx="284400" cy="22968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753" name="PlaceHolder 1"/>
          <p:cNvSpPr>
            <a:spLocks noGrp="1"/>
          </p:cNvSpPr>
          <p:nvPr>
            <p:ph type="title"/>
          </p:nvPr>
        </p:nvSpPr>
        <p:spPr>
          <a:xfrm>
            <a:off x="494280" y="1665000"/>
            <a:ext cx="6164280" cy="1930320"/>
          </a:xfrm>
          <a:prstGeom prst="rect">
            <a:avLst/>
          </a:prstGeom>
          <a:noFill/>
          <a:ln w="0">
            <a:noFill/>
          </a:ln>
        </p:spPr>
        <p:txBody>
          <a:bodyPr lIns="0" rIns="0" tIns="195480" bIns="0" anchor="t">
            <a:noAutofit/>
          </a:bodyPr>
          <a:p>
            <a:pPr marL="12600">
              <a:lnSpc>
                <a:spcPct val="100000"/>
              </a:lnSpc>
              <a:spcBef>
                <a:spcPts val="1539"/>
              </a:spcBef>
              <a:buNone/>
            </a:pPr>
            <a:r>
              <a:rPr b="1" lang="fr-FR" sz="3600" spc="-1" strike="noStrike">
                <a:solidFill>
                  <a:srgbClr val="ffffff"/>
                </a:solidFill>
                <a:latin typeface="Tahoma"/>
              </a:rPr>
              <a:t>Security</a:t>
            </a:r>
            <a:r>
              <a:rPr b="1" lang="fr-FR" sz="3600" spc="-225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600" spc="-1" strike="noStrike">
                <a:solidFill>
                  <a:srgbClr val="ffffff"/>
                </a:solidFill>
                <a:latin typeface="Tahoma"/>
              </a:rPr>
              <a:t>Context</a:t>
            </a:r>
            <a:endParaRPr b="0" lang="fr-FR" sz="36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720"/>
              </a:spcBef>
              <a:buNone/>
            </a:pPr>
            <a:r>
              <a:rPr b="0" lang="fr-FR" sz="1800" spc="-1" strike="noStrike">
                <a:solidFill>
                  <a:srgbClr val="ffffff"/>
                </a:solidFill>
                <a:latin typeface="Lucida Sans Unicode"/>
              </a:rPr>
              <a:t>Privilege</a:t>
            </a:r>
            <a:r>
              <a:rPr b="0" lang="fr-FR" sz="1800" spc="-97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86" strike="noStrike">
                <a:solidFill>
                  <a:srgbClr val="ffffff"/>
                </a:solidFill>
                <a:latin typeface="Lucida Sans Unicode"/>
              </a:rPr>
              <a:t>and</a:t>
            </a:r>
            <a:r>
              <a:rPr b="0" lang="fr-FR" sz="1800" spc="-97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94" strike="noStrike">
                <a:solidFill>
                  <a:srgbClr val="ffffff"/>
                </a:solidFill>
                <a:latin typeface="Lucida Sans Unicode"/>
              </a:rPr>
              <a:t>access</a:t>
            </a:r>
            <a:r>
              <a:rPr b="0" lang="fr-FR" sz="1800" spc="-97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1" strike="noStrike">
                <a:solidFill>
                  <a:srgbClr val="ffffff"/>
                </a:solidFill>
                <a:latin typeface="Lucida Sans Unicode"/>
              </a:rPr>
              <a:t>control</a:t>
            </a:r>
            <a:r>
              <a:rPr b="0" lang="fr-FR" sz="1800" spc="-97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32" strike="noStrike">
                <a:solidFill>
                  <a:srgbClr val="ffffff"/>
                </a:solidFill>
                <a:latin typeface="Lucida Sans Unicode"/>
              </a:rPr>
              <a:t>for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197" strike="noStrike">
                <a:solidFill>
                  <a:srgbClr val="ffffff"/>
                </a:solidFill>
                <a:latin typeface="Lucida Sans Unicode"/>
              </a:rPr>
              <a:t>a</a:t>
            </a:r>
            <a:r>
              <a:rPr b="0" lang="fr-FR" sz="1800" spc="-97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29" strike="noStrike">
                <a:solidFill>
                  <a:srgbClr val="ffffff"/>
                </a:solidFill>
                <a:latin typeface="Lucida Sans Unicode"/>
              </a:rPr>
              <a:t>Pod</a:t>
            </a:r>
            <a:endParaRPr b="0" lang="fr-FR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4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985360" cy="1276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5" strike="noStrike">
                <a:solidFill>
                  <a:srgbClr val="000000"/>
                </a:solidFill>
                <a:latin typeface="Tahoma"/>
              </a:rPr>
              <a:t>What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is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Security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Context?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Defines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security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settings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containers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Pod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755" name="object 4"/>
          <p:cNvSpPr/>
          <p:nvPr/>
        </p:nvSpPr>
        <p:spPr>
          <a:xfrm>
            <a:off x="8701560" y="4908600"/>
            <a:ext cx="2563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AF975E11-0F9A-4AD9-B62A-B2CBE44EA86C}" type="slidenum">
              <a:rPr b="0" lang="fr-FR" sz="800" spc="-2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sp>
        <p:nvSpPr>
          <p:cNvPr id="1756" name="object 3"/>
          <p:cNvSpPr/>
          <p:nvPr/>
        </p:nvSpPr>
        <p:spPr>
          <a:xfrm>
            <a:off x="600120" y="1360440"/>
            <a:ext cx="7953840" cy="307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Modeled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" strike="noStrike">
                <a:solidFill>
                  <a:srgbClr val="d3002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1"/>
              </a:rPr>
              <a:t>set </a:t>
            </a:r>
            <a:r>
              <a:rPr b="0" lang="fr-FR" sz="1600" spc="-7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2"/>
              </a:rPr>
              <a:t>of attributes</a:t>
            </a:r>
            <a:r>
              <a:rPr b="0" lang="fr-FR" sz="1600" spc="-7" strike="noStrike" u="sng">
                <a:solidFill>
                  <a:srgbClr val="0000ff"/>
                </a:solidFill>
                <a:uFillTx/>
                <a:latin typeface="Arial MT"/>
                <a:ea typeface="DejaVu Sans"/>
                <a:hlinkClick r:id="rId3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within the Pod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specification,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e.g. for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configuring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Linux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capabilities,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file access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control,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privileges to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parent process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or host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system.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Ca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n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b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applie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d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o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al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l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containers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i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n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Po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d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wit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h</a:t>
            </a:r>
            <a:r>
              <a:rPr b="0" lang="fr-FR" sz="1600" spc="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Courier New"/>
                <a:ea typeface="DejaVu Sans"/>
              </a:rPr>
              <a:t>spec.securityContex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  <a:ea typeface="DejaVu Sans"/>
              </a:rPr>
              <a:t>t</a:t>
            </a:r>
            <a:r>
              <a:rPr b="0" lang="fr-FR" sz="1600" spc="-817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for  individual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containers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with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21" strike="noStrike">
                <a:solidFill>
                  <a:srgbClr val="000000"/>
                </a:solidFill>
                <a:latin typeface="Courier New"/>
                <a:ea typeface="DejaVu Sans"/>
              </a:rPr>
              <a:t>spec.containers[].securityContext</a:t>
            </a:r>
            <a:r>
              <a:rPr b="0" lang="fr-FR" sz="1600" spc="-21" strike="noStrike">
                <a:solidFill>
                  <a:srgbClr val="000000"/>
                </a:solidFill>
                <a:latin typeface="Arial MT"/>
                <a:ea typeface="DejaVu Sans"/>
              </a:rPr>
              <a:t>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Some of the attributes on the Pod- and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container-level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are 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same.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Container-level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definition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 an attribute takes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precedence.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1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i="1" lang="fr-FR" sz="1600" spc="-7" strike="noStrike">
                <a:solidFill>
                  <a:srgbClr val="000000"/>
                </a:solidFill>
                <a:latin typeface="Arial"/>
                <a:ea typeface="DejaVu Sans"/>
              </a:rPr>
              <a:t>Example: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“This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container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needs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run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with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non-root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21" strike="noStrike">
                <a:solidFill>
                  <a:srgbClr val="000000"/>
                </a:solidFill>
                <a:latin typeface="Arial MT"/>
                <a:ea typeface="DejaVu Sans"/>
              </a:rPr>
              <a:t>user.”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7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32428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Security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Context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82" strike="noStrike">
                <a:solidFill>
                  <a:srgbClr val="000000"/>
                </a:solidFill>
                <a:latin typeface="Tahoma"/>
              </a:rPr>
              <a:t>API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55" strike="noStrike">
                <a:solidFill>
                  <a:srgbClr val="666666"/>
                </a:solidFill>
                <a:latin typeface="Lucida Sans Unicode"/>
              </a:rPr>
              <a:t>All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attributes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00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0" strike="noStrike">
                <a:solidFill>
                  <a:srgbClr val="666666"/>
                </a:solidFill>
                <a:latin typeface="Lucida Sans Unicode"/>
              </a:rPr>
              <a:t>be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discovered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documentation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Kubernetes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version</a:t>
            </a:r>
            <a:endParaRPr b="0" lang="fr-FR" sz="1600" spc="-1" strike="noStrike">
              <a:latin typeface="Arial"/>
            </a:endParaRPr>
          </a:p>
        </p:txBody>
      </p:sp>
      <p:graphicFrame>
        <p:nvGraphicFramePr>
          <p:cNvPr id="1758" name="object 3"/>
          <p:cNvGraphicFramePr/>
          <p:nvPr/>
        </p:nvGraphicFramePr>
        <p:xfrm>
          <a:off x="1355400" y="2064600"/>
          <a:ext cx="6744240" cy="1654920"/>
        </p:xfrm>
        <a:graphic>
          <a:graphicData uri="http://schemas.openxmlformats.org/drawingml/2006/table">
            <a:tbl>
              <a:tblPr/>
              <a:tblGrid>
                <a:gridCol w="2400480"/>
                <a:gridCol w="4344120"/>
              </a:tblGrid>
              <a:tr h="553320">
                <a:tc>
                  <a:txBody>
                    <a:bodyPr anchor="t">
                      <a:noAutofit/>
                    </a:bodyPr>
                    <a:p>
                      <a:pPr marL="90000">
                        <a:lnSpc>
                          <a:spcPct val="100000"/>
                        </a:lnSpc>
                        <a:spcBef>
                          <a:spcPts val="1114"/>
                        </a:spcBef>
                        <a:buNone/>
                      </a:pPr>
                      <a:r>
                        <a:rPr b="0" lang="fr-FR" sz="1700" spc="-7" strike="noStrike">
                          <a:solidFill>
                            <a:srgbClr val="ffffff"/>
                          </a:solidFill>
                          <a:latin typeface="Arial MT"/>
                        </a:rPr>
                        <a:t>API</a:t>
                      </a:r>
                      <a:r>
                        <a:rPr b="0" lang="fr-FR" sz="1700" spc="-80" strike="noStrike">
                          <a:solidFill>
                            <a:srgbClr val="ffffff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700" spc="-26" strike="noStrike">
                          <a:solidFill>
                            <a:srgbClr val="ffffff"/>
                          </a:solidFill>
                          <a:latin typeface="Arial MT"/>
                        </a:rPr>
                        <a:t>Type</a:t>
                      </a:r>
                      <a:endParaRPr b="0" lang="fr-FR" sz="17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 w="38160">
                      <a:solidFill>
                        <a:srgbClr val="660000"/>
                      </a:solidFill>
                    </a:lnB>
                    <a:solidFill>
                      <a:srgbClr val="d3002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ct val="100000"/>
                        </a:lnSpc>
                        <a:spcBef>
                          <a:spcPts val="1114"/>
                        </a:spcBef>
                        <a:buNone/>
                      </a:pPr>
                      <a:r>
                        <a:rPr b="0" lang="fr-FR" sz="1700" spc="-7" strike="noStrike">
                          <a:solidFill>
                            <a:srgbClr val="ffffff"/>
                          </a:solidFill>
                          <a:latin typeface="Arial MT"/>
                        </a:rPr>
                        <a:t>Description</a:t>
                      </a:r>
                      <a:endParaRPr b="0" lang="fr-FR" sz="17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 w="38160">
                      <a:solidFill>
                        <a:srgbClr val="660000"/>
                      </a:solidFill>
                    </a:lnB>
                    <a:solidFill>
                      <a:srgbClr val="d30020"/>
                    </a:solidFill>
                  </a:tcPr>
                </a:tc>
              </a:tr>
              <a:tr h="1101960">
                <a:tc>
                  <a:txBody>
                    <a:bodyPr anchor="t">
                      <a:noAutofit/>
                    </a:bodyPr>
                    <a:p>
                      <a:pPr marL="90000">
                        <a:lnSpc>
                          <a:spcPct val="100000"/>
                        </a:lnSpc>
                        <a:spcBef>
                          <a:spcPts val="615"/>
                        </a:spcBef>
                        <a:buNone/>
                      </a:pPr>
                      <a:r>
                        <a:rPr b="0" lang="fr-FR" sz="1500" spc="-7" strike="noStrike" u="heavy">
                          <a:solidFill>
                            <a:srgbClr val="0000ff"/>
                          </a:solidFill>
                          <a:uFill>
                            <a:solidFill>
                              <a:srgbClr val="d30020"/>
                            </a:solidFill>
                          </a:uFill>
                          <a:latin typeface="Arial MT"/>
                          <a:hlinkClick r:id="rId1"/>
                        </a:rPr>
                        <a:t>PodSecurityContext</a:t>
                      </a:r>
                      <a:endParaRPr b="0" lang="fr-FR" sz="1500" spc="-1" strike="noStrike">
                        <a:latin typeface="Arial"/>
                      </a:endParaRPr>
                    </a:p>
                    <a:p>
                      <a:pPr marL="90000">
                        <a:lnSpc>
                          <a:spcPct val="100000"/>
                        </a:lnSpc>
                        <a:spcBef>
                          <a:spcPts val="45"/>
                        </a:spcBef>
                        <a:buNone/>
                      </a:pPr>
                      <a:endParaRPr b="0" lang="fr-FR" sz="2150" spc="-1" strike="noStrike">
                        <a:latin typeface="Arial"/>
                      </a:endParaRPr>
                    </a:p>
                    <a:p>
                      <a:pPr marL="90000">
                        <a:lnSpc>
                          <a:spcPct val="100000"/>
                        </a:lnSpc>
                        <a:buNone/>
                      </a:pPr>
                      <a:r>
                        <a:rPr b="0" lang="fr-FR" sz="1500" spc="-7" strike="noStrike" u="heavy">
                          <a:solidFill>
                            <a:srgbClr val="0000ff"/>
                          </a:solidFill>
                          <a:uFill>
                            <a:solidFill>
                              <a:srgbClr val="d30020"/>
                            </a:solidFill>
                          </a:uFill>
                          <a:latin typeface="Arial MT"/>
                          <a:hlinkClick r:id="rId2"/>
                        </a:rPr>
                        <a:t>SecurityContext</a:t>
                      </a:r>
                      <a:endParaRPr b="0" lang="fr-FR" sz="15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 w="9360">
                      <a:solidFill>
                        <a:srgbClr val="ffffff"/>
                      </a:solidFill>
                    </a:lnR>
                    <a:lnT w="38160">
                      <a:solidFill>
                        <a:srgbClr val="660000"/>
                      </a:solidFill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ct val="100000"/>
                        </a:lnSpc>
                        <a:spcBef>
                          <a:spcPts val="615"/>
                        </a:spcBef>
                        <a:buNone/>
                      </a:pPr>
                      <a:r>
                        <a:rPr b="0" lang="fr-FR" sz="15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Defines</a:t>
                      </a:r>
                      <a:r>
                        <a:rPr b="0" lang="fr-FR" sz="1500" spc="-3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5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Pod-level</a:t>
                      </a:r>
                      <a:r>
                        <a:rPr b="0" lang="fr-FR" sz="1500" spc="-26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5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security</a:t>
                      </a:r>
                      <a:r>
                        <a:rPr b="0" lang="fr-FR" sz="1500" spc="-26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5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attributes.</a:t>
                      </a:r>
                      <a:endParaRPr b="0" lang="fr-FR" sz="150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ct val="100000"/>
                        </a:lnSpc>
                        <a:spcBef>
                          <a:spcPts val="45"/>
                        </a:spcBef>
                        <a:buNone/>
                      </a:pPr>
                      <a:endParaRPr b="0" lang="fr-FR" sz="215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ct val="100000"/>
                        </a:lnSpc>
                        <a:buNone/>
                      </a:pPr>
                      <a:r>
                        <a:rPr b="0" lang="fr-FR" sz="15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Defines</a:t>
                      </a:r>
                      <a:r>
                        <a:rPr b="0" lang="fr-FR" sz="1500" spc="-3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5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container-level</a:t>
                      </a:r>
                      <a:r>
                        <a:rPr b="0" lang="fr-FR" sz="1500" spc="-3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5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security</a:t>
                      </a:r>
                      <a:r>
                        <a:rPr b="0" lang="fr-FR" sz="1500" spc="-26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5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attributes.</a:t>
                      </a:r>
                      <a:endParaRPr b="0" lang="fr-FR" sz="15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38160">
                      <a:solidFill>
                        <a:srgbClr val="660000"/>
                      </a:solidFill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759" name="object 5"/>
          <p:cNvSpPr/>
          <p:nvPr/>
        </p:nvSpPr>
        <p:spPr>
          <a:xfrm>
            <a:off x="8701560" y="4908600"/>
            <a:ext cx="2563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9835DA0C-1CD5-40B5-8E6E-07EA486C797B}" type="slidenum">
              <a:rPr b="0" lang="fr-FR" sz="800" spc="-2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0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62428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6" strike="noStrike">
                <a:solidFill>
                  <a:srgbClr val="000000"/>
                </a:solidFill>
                <a:latin typeface="Tahoma"/>
              </a:rPr>
              <a:t>Defining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Security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Context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Pod-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and/or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container-level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definition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761" name="object 13"/>
          <p:cNvSpPr/>
          <p:nvPr/>
        </p:nvSpPr>
        <p:spPr>
          <a:xfrm>
            <a:off x="8701560" y="4908600"/>
            <a:ext cx="2563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6BBB32B8-7B95-48CB-B805-15D8E76062CF}" type="slidenum">
              <a:rPr b="0" lang="fr-FR" sz="800" spc="-2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  <p:pic>
        <p:nvPicPr>
          <p:cNvPr id="1762" name="" descr=""/>
          <p:cNvPicPr/>
          <p:nvPr/>
        </p:nvPicPr>
        <p:blipFill>
          <a:blip r:embed="rId1"/>
          <a:stretch/>
        </p:blipFill>
        <p:spPr>
          <a:xfrm>
            <a:off x="480960" y="1183680"/>
            <a:ext cx="6897600" cy="33958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3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16428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Inspecting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the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Runtime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Behavior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Rendering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file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system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Linux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group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ID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764" name="object 3"/>
          <p:cNvGrpSpPr/>
          <p:nvPr/>
        </p:nvGrpSpPr>
        <p:grpSpPr>
          <a:xfrm>
            <a:off x="467640" y="1377000"/>
            <a:ext cx="5194440" cy="1950120"/>
            <a:chOff x="467640" y="1377000"/>
            <a:chExt cx="5194440" cy="1950120"/>
          </a:xfrm>
        </p:grpSpPr>
        <p:pic>
          <p:nvPicPr>
            <p:cNvPr id="1765" name="object 4" descr=""/>
            <p:cNvPicPr/>
            <p:nvPr/>
          </p:nvPicPr>
          <p:blipFill>
            <a:blip r:embed="rId1"/>
            <a:stretch/>
          </p:blipFill>
          <p:spPr>
            <a:xfrm>
              <a:off x="467640" y="1377000"/>
              <a:ext cx="5194440" cy="195012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766" name="object 5"/>
            <p:cNvSpPr/>
            <p:nvPr/>
          </p:nvSpPr>
          <p:spPr>
            <a:xfrm>
              <a:off x="521280" y="1425600"/>
              <a:ext cx="5080680" cy="1836360"/>
            </a:xfrm>
            <a:custGeom>
              <a:avLst/>
              <a:gdLst/>
              <a:ahLst/>
              <a:rect l="l" t="t" r="r" b="b"/>
              <a:pathLst>
                <a:path w="5083810" h="1839595">
                  <a:moveTo>
                    <a:pt x="5083499" y="1838999"/>
                  </a:moveTo>
                  <a:lnTo>
                    <a:pt x="0" y="1838999"/>
                  </a:lnTo>
                  <a:lnTo>
                    <a:pt x="0" y="0"/>
                  </a:lnTo>
                  <a:lnTo>
                    <a:pt x="5083499" y="0"/>
                  </a:lnTo>
                  <a:lnTo>
                    <a:pt x="5083499" y="18389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767" name="object 6"/>
          <p:cNvSpPr/>
          <p:nvPr/>
        </p:nvSpPr>
        <p:spPr>
          <a:xfrm>
            <a:off x="674640" y="1568160"/>
            <a:ext cx="4083480" cy="80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exec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secured-pod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-it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--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/bin/sh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#</a:t>
            </a:r>
            <a:r>
              <a:rPr b="0" lang="fr-FR" sz="13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cd</a:t>
            </a:r>
            <a:r>
              <a:rPr b="0" lang="fr-FR" sz="13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/data/app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1000"/>
              </a:lnSpc>
              <a:buNone/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#</a:t>
            </a:r>
            <a:r>
              <a:rPr b="0" lang="fr-FR" sz="1300" spc="-5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touch</a:t>
            </a:r>
            <a:r>
              <a:rPr b="0" lang="fr-FR" sz="1300" spc="-5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hello.txt </a:t>
            </a:r>
            <a:r>
              <a:rPr b="0" lang="fr-FR" sz="1300" spc="-76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1000"/>
              </a:lnSpc>
              <a:buNone/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#</a:t>
            </a:r>
            <a:r>
              <a:rPr b="0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ls</a:t>
            </a:r>
            <a:r>
              <a:rPr b="0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-l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768" name="object 7"/>
          <p:cNvSpPr/>
          <p:nvPr/>
        </p:nvSpPr>
        <p:spPr>
          <a:xfrm>
            <a:off x="2440800" y="2571840"/>
            <a:ext cx="460440" cy="20664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9000" bIns="0" anchor="t">
            <a:spAutoFit/>
          </a:bodyPr>
          <a:p>
            <a:pPr marL="29160">
              <a:lnSpc>
                <a:spcPct val="100000"/>
              </a:lnSpc>
              <a:spcBef>
                <a:spcPts val="71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3000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769" name="object 8"/>
          <p:cNvSpPr/>
          <p:nvPr/>
        </p:nvSpPr>
        <p:spPr>
          <a:xfrm>
            <a:off x="2952720" y="2568240"/>
            <a:ext cx="239976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0</a:t>
            </a:r>
            <a:r>
              <a:rPr b="0" lang="fr-FR" sz="13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Apr</a:t>
            </a:r>
            <a:r>
              <a:rPr b="0" lang="fr-FR" sz="13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30</a:t>
            </a:r>
            <a:r>
              <a:rPr b="0" lang="fr-FR" sz="13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18:27</a:t>
            </a:r>
            <a:r>
              <a:rPr b="0" lang="fr-FR" sz="13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hello.txt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770" name="object 9"/>
          <p:cNvSpPr/>
          <p:nvPr/>
        </p:nvSpPr>
        <p:spPr>
          <a:xfrm>
            <a:off x="674640" y="2368080"/>
            <a:ext cx="1706040" cy="60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total</a:t>
            </a:r>
            <a:r>
              <a:rPr b="0" lang="fr-FR" sz="13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0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1000"/>
              </a:lnSpc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-rw-r--r--</a:t>
            </a:r>
            <a:r>
              <a:rPr b="0" lang="fr-FR" sz="1300" spc="-5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1</a:t>
            </a:r>
            <a:r>
              <a:rPr b="0" lang="fr-FR" sz="1300" spc="-5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root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#</a:t>
            </a:r>
            <a:r>
              <a:rPr b="0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exit</a:t>
            </a:r>
            <a:endParaRPr b="0" lang="fr-FR" sz="1300" spc="-1" strike="noStrike">
              <a:latin typeface="Arial"/>
            </a:endParaRPr>
          </a:p>
        </p:txBody>
      </p:sp>
      <p:grpSp>
        <p:nvGrpSpPr>
          <p:cNvPr id="1771" name="object 10"/>
          <p:cNvGrpSpPr/>
          <p:nvPr/>
        </p:nvGrpSpPr>
        <p:grpSpPr>
          <a:xfrm>
            <a:off x="2602800" y="3010320"/>
            <a:ext cx="78840" cy="615240"/>
            <a:chOff x="2602800" y="3010320"/>
            <a:chExt cx="78840" cy="615240"/>
          </a:xfrm>
        </p:grpSpPr>
        <p:sp>
          <p:nvSpPr>
            <p:cNvPr id="1772" name="object 11"/>
            <p:cNvSpPr/>
            <p:nvPr/>
          </p:nvSpPr>
          <p:spPr>
            <a:xfrm>
              <a:off x="2643840" y="3106080"/>
              <a:ext cx="360" cy="519480"/>
            </a:xfrm>
            <a:custGeom>
              <a:avLst/>
              <a:gdLst/>
              <a:ahLst/>
              <a:rect l="l" t="t" r="r" b="b"/>
              <a:pathLst>
                <a:path w="0" h="522604">
                  <a:moveTo>
                    <a:pt x="0" y="522299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773" name="object 12" descr=""/>
            <p:cNvPicPr/>
            <p:nvPr/>
          </p:nvPicPr>
          <p:blipFill>
            <a:blip r:embed="rId2"/>
            <a:stretch/>
          </p:blipFill>
          <p:spPr>
            <a:xfrm>
              <a:off x="2602800" y="3010320"/>
              <a:ext cx="78840" cy="1022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774" name="object 13"/>
          <p:cNvSpPr/>
          <p:nvPr/>
        </p:nvSpPr>
        <p:spPr>
          <a:xfrm>
            <a:off x="1656720" y="3761640"/>
            <a:ext cx="2481840" cy="46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File</a:t>
            </a:r>
            <a:r>
              <a:rPr b="0" lang="fr-FR" sz="15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system</a:t>
            </a:r>
            <a:r>
              <a:rPr b="0" lang="fr-FR" sz="15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group</a:t>
            </a:r>
            <a:r>
              <a:rPr b="0" lang="fr-FR" sz="15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ID</a:t>
            </a:r>
            <a:r>
              <a:rPr b="0" lang="fr-FR" sz="15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is </a:t>
            </a:r>
            <a:r>
              <a:rPr b="0" lang="fr-FR" sz="1500" spc="-40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assigned</a:t>
            </a:r>
            <a:r>
              <a:rPr b="0" lang="fr-FR" sz="1500" spc="-7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automatically</a:t>
            </a:r>
            <a:endParaRPr b="0" lang="fr-FR" sz="1500" spc="-1" strike="noStrike">
              <a:latin typeface="Arial"/>
            </a:endParaRPr>
          </a:p>
        </p:txBody>
      </p:sp>
      <p:sp>
        <p:nvSpPr>
          <p:cNvPr id="1775" name="object 14"/>
          <p:cNvSpPr/>
          <p:nvPr/>
        </p:nvSpPr>
        <p:spPr>
          <a:xfrm>
            <a:off x="8701560" y="4908600"/>
            <a:ext cx="2563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297544A0-8C7F-47DE-A012-1AF355434D9E}" type="slidenum">
              <a:rPr b="0" lang="fr-FR" sz="800" spc="-2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6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78428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Overriding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41" strike="noStrike">
                <a:solidFill>
                  <a:srgbClr val="000000"/>
                </a:solidFill>
                <a:latin typeface="Tahoma"/>
              </a:rPr>
              <a:t>Value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" strike="noStrike">
                <a:solidFill>
                  <a:srgbClr val="000000"/>
                </a:solidFill>
                <a:latin typeface="Tahoma"/>
              </a:rPr>
              <a:t>on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the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" strike="noStrike">
                <a:solidFill>
                  <a:srgbClr val="000000"/>
                </a:solidFill>
                <a:latin typeface="Tahoma"/>
              </a:rPr>
              <a:t>Container-Level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Container-level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definition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wins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777" name="object 3"/>
          <p:cNvGrpSpPr/>
          <p:nvPr/>
        </p:nvGrpSpPr>
        <p:grpSpPr>
          <a:xfrm>
            <a:off x="483840" y="1387440"/>
            <a:ext cx="3673800" cy="2868840"/>
            <a:chOff x="483840" y="1387440"/>
            <a:chExt cx="3673800" cy="2868840"/>
          </a:xfrm>
        </p:grpSpPr>
        <p:pic>
          <p:nvPicPr>
            <p:cNvPr id="1778" name="object 4" descr=""/>
            <p:cNvPicPr/>
            <p:nvPr/>
          </p:nvPicPr>
          <p:blipFill>
            <a:blip r:embed="rId1"/>
            <a:stretch/>
          </p:blipFill>
          <p:spPr>
            <a:xfrm>
              <a:off x="483840" y="1387440"/>
              <a:ext cx="3673800" cy="28688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779" name="object 5"/>
            <p:cNvSpPr/>
            <p:nvPr/>
          </p:nvSpPr>
          <p:spPr>
            <a:xfrm>
              <a:off x="537480" y="1435680"/>
              <a:ext cx="3559680" cy="2755080"/>
            </a:xfrm>
            <a:custGeom>
              <a:avLst/>
              <a:gdLst/>
              <a:ahLst/>
              <a:rect l="l" t="t" r="r" b="b"/>
              <a:pathLst>
                <a:path w="3562985" h="2758440">
                  <a:moveTo>
                    <a:pt x="3562799" y="2757899"/>
                  </a:moveTo>
                  <a:lnTo>
                    <a:pt x="0" y="2757899"/>
                  </a:lnTo>
                  <a:lnTo>
                    <a:pt x="0" y="0"/>
                  </a:lnTo>
                  <a:lnTo>
                    <a:pt x="3562799" y="0"/>
                  </a:lnTo>
                  <a:lnTo>
                    <a:pt x="3562799" y="27578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780" name="object 6"/>
          <p:cNvSpPr/>
          <p:nvPr/>
        </p:nvSpPr>
        <p:spPr>
          <a:xfrm>
            <a:off x="747360" y="1566360"/>
            <a:ext cx="2395800" cy="103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800" bIns="0" anchor="t">
            <a:spAutoFit/>
          </a:bodyPr>
          <a:p>
            <a:pPr marL="12600">
              <a:lnSpc>
                <a:spcPct val="101000"/>
              </a:lnSpc>
              <a:spcBef>
                <a:spcPts val="85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apiVersion:</a:t>
            </a:r>
            <a:r>
              <a:rPr b="1" lang="fr-FR" sz="1300" spc="-97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v1 </a:t>
            </a:r>
            <a:r>
              <a:rPr b="0" lang="fr-FR" sz="1300" spc="-76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1000"/>
              </a:lnSpc>
              <a:spcBef>
                <a:spcPts val="85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Pod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1000"/>
              </a:lnSpc>
              <a:spcBef>
                <a:spcPts val="85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metadata:</a:t>
            </a:r>
            <a:endParaRPr b="0" lang="fr-FR" sz="1300" spc="-1" strike="noStrike">
              <a:latin typeface="Arial"/>
            </a:endParaRPr>
          </a:p>
          <a:p>
            <a:pPr marL="20700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300" spc="-8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non-root-success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spec: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781" name="object 7"/>
          <p:cNvSpPr/>
          <p:nvPr/>
        </p:nvSpPr>
        <p:spPr>
          <a:xfrm>
            <a:off x="933840" y="2597040"/>
            <a:ext cx="2193120" cy="37980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3400">
              <a:lnSpc>
                <a:spcPts val="1420"/>
              </a:lnSpc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securityContext:</a:t>
            </a:r>
            <a:endParaRPr b="0" lang="fr-FR" sz="1300" spc="-1" strike="noStrike">
              <a:latin typeface="Arial"/>
            </a:endParaRPr>
          </a:p>
          <a:p>
            <a:pPr marL="21456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runAsNonRoot: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false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782" name="object 8"/>
          <p:cNvSpPr/>
          <p:nvPr/>
        </p:nvSpPr>
        <p:spPr>
          <a:xfrm>
            <a:off x="941760" y="2966400"/>
            <a:ext cx="2891160" cy="60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containers:</a:t>
            </a:r>
            <a:endParaRPr b="0" lang="fr-FR" sz="1300" spc="-1" strike="noStrike">
              <a:latin typeface="Arial"/>
            </a:endParaRPr>
          </a:p>
          <a:p>
            <a:pPr marL="1584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-</a:t>
            </a:r>
            <a:r>
              <a:rPr b="0" lang="fr-FR" sz="1300" spc="-100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image:</a:t>
            </a:r>
            <a:r>
              <a:rPr b="1" lang="fr-FR" sz="1300" spc="-5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bitnami/nginx:1.23.1</a:t>
            </a:r>
            <a:endParaRPr b="0" lang="fr-FR" sz="1300" spc="-1" strike="noStrike">
              <a:latin typeface="Arial"/>
            </a:endParaRPr>
          </a:p>
          <a:p>
            <a:pPr marL="20700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nginx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783" name="object 9"/>
          <p:cNvSpPr/>
          <p:nvPr/>
        </p:nvSpPr>
        <p:spPr>
          <a:xfrm>
            <a:off x="1074600" y="3597480"/>
            <a:ext cx="2129760" cy="37908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81360">
              <a:lnSpc>
                <a:spcPts val="1414"/>
              </a:lnSpc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securityContext:</a:t>
            </a:r>
            <a:endParaRPr b="0" lang="fr-FR" sz="1300" spc="-1" strike="noStrike">
              <a:latin typeface="Arial"/>
            </a:endParaRPr>
          </a:p>
          <a:p>
            <a:pPr marL="26784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runAsNonRoot: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true</a:t>
            </a:r>
            <a:endParaRPr b="0" lang="fr-FR" sz="1300" spc="-1" strike="noStrike">
              <a:latin typeface="Arial"/>
            </a:endParaRPr>
          </a:p>
        </p:txBody>
      </p:sp>
      <p:grpSp>
        <p:nvGrpSpPr>
          <p:cNvPr id="1784" name="object 10"/>
          <p:cNvGrpSpPr/>
          <p:nvPr/>
        </p:nvGrpSpPr>
        <p:grpSpPr>
          <a:xfrm>
            <a:off x="3343320" y="3782880"/>
            <a:ext cx="1824840" cy="78840"/>
            <a:chOff x="3343320" y="3782880"/>
            <a:chExt cx="1824840" cy="78840"/>
          </a:xfrm>
        </p:grpSpPr>
        <p:sp>
          <p:nvSpPr>
            <p:cNvPr id="1785" name="object 11"/>
            <p:cNvSpPr/>
            <p:nvPr/>
          </p:nvSpPr>
          <p:spPr>
            <a:xfrm>
              <a:off x="3439080" y="3823920"/>
              <a:ext cx="1729080" cy="360"/>
            </a:xfrm>
            <a:custGeom>
              <a:avLst/>
              <a:gdLst/>
              <a:ahLst/>
              <a:rect l="l" t="t" r="r" b="b"/>
              <a:pathLst>
                <a:path w="1732279" h="0">
                  <a:moveTo>
                    <a:pt x="17321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786" name="object 12" descr=""/>
            <p:cNvPicPr/>
            <p:nvPr/>
          </p:nvPicPr>
          <p:blipFill>
            <a:blip r:embed="rId2"/>
            <a:stretch/>
          </p:blipFill>
          <p:spPr>
            <a:xfrm>
              <a:off x="3343320" y="3782880"/>
              <a:ext cx="102240" cy="788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787" name="object 13"/>
          <p:cNvSpPr/>
          <p:nvPr/>
        </p:nvSpPr>
        <p:spPr>
          <a:xfrm>
            <a:off x="5241600" y="3663000"/>
            <a:ext cx="1956960" cy="24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500" spc="-171" strike="noStrike">
                <a:solidFill>
                  <a:srgbClr val="000000"/>
                </a:solidFill>
                <a:latin typeface="Arial MT"/>
                <a:ea typeface="DejaVu Sans"/>
              </a:rPr>
              <a:t>T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ake</a:t>
            </a:r>
            <a:r>
              <a:rPr b="0" lang="fr-FR" sz="1500" spc="-1" strike="noStrike">
                <a:solidFill>
                  <a:srgbClr val="000000"/>
                </a:solidFill>
                <a:latin typeface="Arial MT"/>
                <a:ea typeface="DejaVu Sans"/>
              </a:rPr>
              <a:t>s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 precedence</a:t>
            </a:r>
            <a:endParaRPr b="0" lang="fr-FR" sz="1500" spc="-1" strike="noStrike">
              <a:latin typeface="Arial"/>
            </a:endParaRPr>
          </a:p>
        </p:txBody>
      </p:sp>
      <p:sp>
        <p:nvSpPr>
          <p:cNvPr id="1788" name="object 14"/>
          <p:cNvSpPr/>
          <p:nvPr/>
        </p:nvSpPr>
        <p:spPr>
          <a:xfrm>
            <a:off x="8701560" y="4908600"/>
            <a:ext cx="2563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B7FC3D25-95B7-4B99-884A-59D4CA16B3C5}" type="slidenum">
              <a:rPr b="0" lang="fr-FR" sz="800" spc="-2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9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88428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Inspecting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the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Runtime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Behavior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Rendering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current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user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ID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group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ID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790" name="object 3"/>
          <p:cNvGrpSpPr/>
          <p:nvPr/>
        </p:nvGrpSpPr>
        <p:grpSpPr>
          <a:xfrm>
            <a:off x="467640" y="1377000"/>
            <a:ext cx="5117400" cy="1349640"/>
            <a:chOff x="467640" y="1377000"/>
            <a:chExt cx="5117400" cy="1349640"/>
          </a:xfrm>
        </p:grpSpPr>
        <p:pic>
          <p:nvPicPr>
            <p:cNvPr id="1791" name="object 4" descr=""/>
            <p:cNvPicPr/>
            <p:nvPr/>
          </p:nvPicPr>
          <p:blipFill>
            <a:blip r:embed="rId1"/>
            <a:stretch/>
          </p:blipFill>
          <p:spPr>
            <a:xfrm>
              <a:off x="467640" y="1377000"/>
              <a:ext cx="5117400" cy="13496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792" name="object 5"/>
            <p:cNvSpPr/>
            <p:nvPr/>
          </p:nvSpPr>
          <p:spPr>
            <a:xfrm>
              <a:off x="521280" y="1425600"/>
              <a:ext cx="5003640" cy="1235520"/>
            </a:xfrm>
            <a:custGeom>
              <a:avLst/>
              <a:gdLst/>
              <a:ahLst/>
              <a:rect l="l" t="t" r="r" b="b"/>
              <a:pathLst>
                <a:path w="5006975" h="1238885">
                  <a:moveTo>
                    <a:pt x="5006399" y="1238399"/>
                  </a:moveTo>
                  <a:lnTo>
                    <a:pt x="0" y="1238399"/>
                  </a:lnTo>
                  <a:lnTo>
                    <a:pt x="0" y="0"/>
                  </a:lnTo>
                  <a:lnTo>
                    <a:pt x="5006399" y="0"/>
                  </a:lnTo>
                  <a:lnTo>
                    <a:pt x="5006399" y="12383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793" name="object 6"/>
          <p:cNvSpPr/>
          <p:nvPr/>
        </p:nvSpPr>
        <p:spPr>
          <a:xfrm>
            <a:off x="674640" y="1568160"/>
            <a:ext cx="45788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exec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non-root-success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-it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--</a:t>
            </a:r>
            <a:r>
              <a:rPr b="1" lang="fr-FR" sz="13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/bin/sh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0" lang="fr-FR" sz="13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id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794" name="object 7"/>
          <p:cNvSpPr/>
          <p:nvPr/>
        </p:nvSpPr>
        <p:spPr>
          <a:xfrm>
            <a:off x="656280" y="2008800"/>
            <a:ext cx="846360" cy="16992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30960">
              <a:lnSpc>
                <a:spcPts val="1341"/>
              </a:lnSpc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uid=1001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795" name="object 8"/>
          <p:cNvSpPr/>
          <p:nvPr/>
        </p:nvSpPr>
        <p:spPr>
          <a:xfrm>
            <a:off x="1566000" y="1968120"/>
            <a:ext cx="259776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gid=0(root)</a:t>
            </a:r>
            <a:r>
              <a:rPr b="0" lang="fr-FR" sz="1300" spc="-80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groups=0(root)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1796" name="object 9"/>
          <p:cNvSpPr/>
          <p:nvPr/>
        </p:nvSpPr>
        <p:spPr>
          <a:xfrm>
            <a:off x="674640" y="2168280"/>
            <a:ext cx="616680" cy="2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0" lang="fr-FR" sz="1300" spc="-97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exit</a:t>
            </a:r>
            <a:endParaRPr b="0" lang="fr-FR" sz="1300" spc="-1" strike="noStrike">
              <a:latin typeface="Arial"/>
            </a:endParaRPr>
          </a:p>
        </p:txBody>
      </p:sp>
      <p:grpSp>
        <p:nvGrpSpPr>
          <p:cNvPr id="1797" name="object 10"/>
          <p:cNvGrpSpPr/>
          <p:nvPr/>
        </p:nvGrpSpPr>
        <p:grpSpPr>
          <a:xfrm>
            <a:off x="1439280" y="2373480"/>
            <a:ext cx="78840" cy="691560"/>
            <a:chOff x="1439280" y="2373480"/>
            <a:chExt cx="78840" cy="691560"/>
          </a:xfrm>
        </p:grpSpPr>
        <p:sp>
          <p:nvSpPr>
            <p:cNvPr id="1798" name="object 11"/>
            <p:cNvSpPr/>
            <p:nvPr/>
          </p:nvSpPr>
          <p:spPr>
            <a:xfrm>
              <a:off x="1479960" y="2469600"/>
              <a:ext cx="360" cy="595440"/>
            </a:xfrm>
            <a:custGeom>
              <a:avLst/>
              <a:gdLst/>
              <a:ahLst/>
              <a:rect l="l" t="t" r="r" b="b"/>
              <a:pathLst>
                <a:path w="0" h="598805">
                  <a:moveTo>
                    <a:pt x="0" y="598199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799" name="object 12" descr=""/>
            <p:cNvPicPr/>
            <p:nvPr/>
          </p:nvPicPr>
          <p:blipFill>
            <a:blip r:embed="rId2"/>
            <a:stretch/>
          </p:blipFill>
          <p:spPr>
            <a:xfrm>
              <a:off x="1439280" y="2373480"/>
              <a:ext cx="78840" cy="1022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800" name="object 13"/>
          <p:cNvSpPr/>
          <p:nvPr/>
        </p:nvSpPr>
        <p:spPr>
          <a:xfrm>
            <a:off x="740160" y="3133080"/>
            <a:ext cx="1778400" cy="24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Non-root</a:t>
            </a:r>
            <a:r>
              <a:rPr b="0" lang="fr-FR" sz="1500" spc="-4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user</a:t>
            </a:r>
            <a:r>
              <a:rPr b="0" lang="fr-FR" sz="1500" spc="-4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500" spc="-7" strike="noStrike">
                <a:solidFill>
                  <a:srgbClr val="000000"/>
                </a:solidFill>
                <a:latin typeface="Arial MT"/>
                <a:ea typeface="DejaVu Sans"/>
              </a:rPr>
              <a:t>ID</a:t>
            </a:r>
            <a:endParaRPr b="0" lang="fr-FR" sz="1500" spc="-1" strike="noStrike">
              <a:latin typeface="Arial"/>
            </a:endParaRPr>
          </a:p>
        </p:txBody>
      </p:sp>
      <p:sp>
        <p:nvSpPr>
          <p:cNvPr id="1801" name="object 14"/>
          <p:cNvSpPr/>
          <p:nvPr/>
        </p:nvSpPr>
        <p:spPr>
          <a:xfrm>
            <a:off x="8701560" y="4908600"/>
            <a:ext cx="256320" cy="1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640" bIns="0" anchor="t">
            <a:spAutoFit/>
          </a:bodyPr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6619E882-CC01-4999-BAE6-B451FBD46BEB}" type="slidenum">
              <a:rPr b="0" lang="fr-FR" sz="800" spc="-26" strike="noStrike">
                <a:solidFill>
                  <a:srgbClr val="000000"/>
                </a:solidFill>
                <a:latin typeface="Lucida Sans Unicode"/>
                <a:ea typeface="DejaVu Sans"/>
              </a:rPr>
              <a:t>&lt;numéro&gt;</a:t>
            </a:fld>
            <a:endParaRPr b="0" lang="fr-FR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2" name="object 2"/>
          <p:cNvSpPr/>
          <p:nvPr/>
        </p:nvSpPr>
        <p:spPr>
          <a:xfrm>
            <a:off x="494280" y="371880"/>
            <a:ext cx="128268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2400" spc="-15" strike="noStrike">
                <a:solidFill>
                  <a:srgbClr val="000000"/>
                </a:solidFill>
                <a:latin typeface="Tahoma"/>
                <a:ea typeface="DejaVu Sans"/>
              </a:rPr>
              <a:t>Lab 17</a:t>
            </a:r>
            <a:endParaRPr b="0" lang="fr-FR" sz="2400" spc="-1" strike="noStrike">
              <a:latin typeface="Arial"/>
            </a:endParaRPr>
          </a:p>
        </p:txBody>
      </p:sp>
      <p:sp>
        <p:nvSpPr>
          <p:cNvPr id="1803" name="object 3"/>
          <p:cNvSpPr/>
          <p:nvPr/>
        </p:nvSpPr>
        <p:spPr>
          <a:xfrm>
            <a:off x="494280" y="1323360"/>
            <a:ext cx="3824280" cy="101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14000"/>
              </a:lnSpc>
              <a:spcBef>
                <a:spcPts val="99"/>
              </a:spcBef>
              <a:buNone/>
            </a:pP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Defining</a:t>
            </a:r>
            <a:r>
              <a:rPr b="0" lang="fr-FR" sz="2900" spc="-5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2900" spc="-5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12" strike="noStrike">
                <a:solidFill>
                  <a:srgbClr val="000000"/>
                </a:solidFill>
                <a:latin typeface="Arial MT"/>
                <a:ea typeface="DejaVu Sans"/>
              </a:rPr>
              <a:t>Security </a:t>
            </a:r>
            <a:r>
              <a:rPr b="0" lang="fr-FR" sz="2900" spc="-79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Context</a:t>
            </a:r>
            <a:r>
              <a:rPr b="0" lang="fr-FR" sz="29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for</a:t>
            </a:r>
            <a:r>
              <a:rPr b="0" lang="fr-FR" sz="29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29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Pod</a:t>
            </a:r>
            <a:endParaRPr b="0" lang="fr-FR" sz="2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04" name="object 2" descr=""/>
          <p:cNvPicPr/>
          <p:nvPr/>
        </p:nvPicPr>
        <p:blipFill>
          <a:blip r:embed="rId1"/>
          <a:stretch/>
        </p:blipFill>
        <p:spPr>
          <a:xfrm>
            <a:off x="0" y="0"/>
            <a:ext cx="9140760" cy="5140080"/>
          </a:xfrm>
          <a:prstGeom prst="rect">
            <a:avLst/>
          </a:prstGeom>
          <a:ln w="0">
            <a:noFill/>
          </a:ln>
        </p:spPr>
      </p:pic>
      <p:sp>
        <p:nvSpPr>
          <p:cNvPr id="1805" name="PlaceHolder 1"/>
          <p:cNvSpPr>
            <a:spLocks noGrp="1"/>
          </p:cNvSpPr>
          <p:nvPr>
            <p:ph type="title"/>
          </p:nvPr>
        </p:nvSpPr>
        <p:spPr>
          <a:xfrm>
            <a:off x="494280" y="1767960"/>
            <a:ext cx="4004280" cy="2511360"/>
          </a:xfrm>
          <a:prstGeom prst="rect">
            <a:avLst/>
          </a:prstGeom>
          <a:noFill/>
          <a:ln w="0">
            <a:noFill/>
          </a:ln>
        </p:spPr>
        <p:txBody>
          <a:bodyPr lIns="0" rIns="0" tIns="12600" bIns="0" anchor="t">
            <a:noAutofit/>
          </a:bodyPr>
          <a:p>
            <a:pPr marL="12600">
              <a:lnSpc>
                <a:spcPct val="114000"/>
              </a:lnSpc>
              <a:spcBef>
                <a:spcPts val="99"/>
              </a:spcBef>
              <a:buNone/>
            </a:pPr>
            <a:r>
              <a:rPr b="1" lang="fr-FR" sz="3600" spc="15" strike="noStrike">
                <a:solidFill>
                  <a:srgbClr val="ffffff"/>
                </a:solidFill>
                <a:latin typeface="Tahoma"/>
              </a:rPr>
              <a:t>Services </a:t>
            </a:r>
            <a:r>
              <a:rPr b="1" lang="fr-FR" sz="3600" spc="-15" strike="noStrike">
                <a:solidFill>
                  <a:srgbClr val="ffffff"/>
                </a:solidFill>
                <a:latin typeface="Tahoma"/>
              </a:rPr>
              <a:t>&amp; </a:t>
            </a:r>
            <a:r>
              <a:rPr b="1" lang="fr-FR" sz="3600" spc="-12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600" spc="-41" strike="noStrike">
                <a:solidFill>
                  <a:srgbClr val="ffffff"/>
                </a:solidFill>
                <a:latin typeface="Tahoma"/>
              </a:rPr>
              <a:t>Networking</a:t>
            </a:r>
            <a:endParaRPr b="0" lang="fr-FR" sz="3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06" name="object 2"/>
          <p:cNvGrpSpPr/>
          <p:nvPr/>
        </p:nvGrpSpPr>
        <p:grpSpPr>
          <a:xfrm>
            <a:off x="0" y="0"/>
            <a:ext cx="9140760" cy="5140080"/>
            <a:chOff x="0" y="0"/>
            <a:chExt cx="9140760" cy="5140080"/>
          </a:xfrm>
        </p:grpSpPr>
        <p:pic>
          <p:nvPicPr>
            <p:cNvPr id="1807" name="object 3" descr=""/>
            <p:cNvPicPr/>
            <p:nvPr/>
          </p:nvPicPr>
          <p:blipFill>
            <a:blip r:embed="rId1"/>
            <a:stretch/>
          </p:blipFill>
          <p:spPr>
            <a:xfrm>
              <a:off x="0" y="0"/>
              <a:ext cx="9140760" cy="514008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808" name="object 4" descr=""/>
            <p:cNvPicPr/>
            <p:nvPr/>
          </p:nvPicPr>
          <p:blipFill>
            <a:blip r:embed="rId2"/>
            <a:stretch/>
          </p:blipFill>
          <p:spPr>
            <a:xfrm>
              <a:off x="8714160" y="146160"/>
              <a:ext cx="284400" cy="22968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809" name="PlaceHolder 1"/>
          <p:cNvSpPr>
            <a:spLocks noGrp="1"/>
          </p:cNvSpPr>
          <p:nvPr>
            <p:ph type="title"/>
          </p:nvPr>
        </p:nvSpPr>
        <p:spPr>
          <a:xfrm>
            <a:off x="494280" y="1665000"/>
            <a:ext cx="6524280" cy="1381680"/>
          </a:xfrm>
          <a:prstGeom prst="rect">
            <a:avLst/>
          </a:prstGeom>
          <a:noFill/>
          <a:ln w="0">
            <a:noFill/>
          </a:ln>
        </p:spPr>
        <p:txBody>
          <a:bodyPr lIns="0" rIns="0" tIns="195480" bIns="0" anchor="t">
            <a:noAutofit/>
          </a:bodyPr>
          <a:p>
            <a:pPr marL="12600">
              <a:lnSpc>
                <a:spcPct val="100000"/>
              </a:lnSpc>
              <a:spcBef>
                <a:spcPts val="1539"/>
              </a:spcBef>
              <a:buNone/>
            </a:pPr>
            <a:r>
              <a:rPr b="1" lang="fr-FR" sz="3600" spc="15" strike="noStrike">
                <a:solidFill>
                  <a:srgbClr val="ffffff"/>
                </a:solidFill>
                <a:latin typeface="Tahoma"/>
              </a:rPr>
              <a:t>Services</a:t>
            </a:r>
            <a:endParaRPr b="0" lang="fr-FR" sz="36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720"/>
              </a:spcBef>
              <a:buNone/>
            </a:pPr>
            <a:r>
              <a:rPr b="0" lang="fr-FR" sz="1800" spc="-1" strike="noStrike">
                <a:solidFill>
                  <a:srgbClr val="ffffff"/>
                </a:solidFill>
                <a:latin typeface="Lucida Sans Unicode"/>
              </a:rPr>
              <a:t>Providing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197" strike="noStrike">
                <a:solidFill>
                  <a:srgbClr val="ffffff"/>
                </a:solidFill>
                <a:latin typeface="Lucida Sans Unicode"/>
              </a:rPr>
              <a:t>a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29" strike="noStrike">
                <a:solidFill>
                  <a:srgbClr val="ffffff"/>
                </a:solidFill>
                <a:latin typeface="Lucida Sans Unicode"/>
              </a:rPr>
              <a:t>stable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1" strike="noStrike">
                <a:solidFill>
                  <a:srgbClr val="ffffff"/>
                </a:solidFill>
                <a:latin typeface="Lucida Sans Unicode"/>
              </a:rPr>
              <a:t>network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9" strike="noStrike">
                <a:solidFill>
                  <a:srgbClr val="ffffff"/>
                </a:solidFill>
                <a:latin typeface="Lucida Sans Unicode"/>
              </a:rPr>
              <a:t>endpoint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1" strike="noStrike">
                <a:solidFill>
                  <a:srgbClr val="ffffff"/>
                </a:solidFill>
                <a:latin typeface="Lucida Sans Unicode"/>
              </a:rPr>
              <a:t>to</a:t>
            </a:r>
            <a:r>
              <a:rPr b="0" lang="fr-FR" sz="1800" spc="-92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21" strike="noStrike">
                <a:solidFill>
                  <a:srgbClr val="ffffff"/>
                </a:solidFill>
                <a:latin typeface="Lucida Sans Unicode"/>
              </a:rPr>
              <a:t>Pods</a:t>
            </a:r>
            <a:endParaRPr b="0" lang="fr-FR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0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34428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5" strike="noStrike">
                <a:solidFill>
                  <a:srgbClr val="000000"/>
                </a:solidFill>
                <a:latin typeface="Tahoma"/>
              </a:rPr>
              <a:t>What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is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Service?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35" strike="noStrike">
                <a:solidFill>
                  <a:srgbClr val="666666"/>
                </a:solidFill>
                <a:latin typeface="Lucida Sans Unicode"/>
              </a:rPr>
              <a:t>Stable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endpoint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routing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traffic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set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Pods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811" name="PlaceHolder 2"/>
          <p:cNvSpPr>
            <a:spLocks noGrp="1"/>
          </p:cNvSpPr>
          <p:nvPr>
            <p:ph type="sldNum" idx="28"/>
          </p:nvPr>
        </p:nvSpPr>
        <p:spPr>
          <a:xfrm>
            <a:off x="8701560" y="4908600"/>
            <a:ext cx="261720" cy="299808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BA55CA3B-A625-45D9-A1B1-D6A12EF61A4C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sp>
        <p:nvSpPr>
          <p:cNvPr id="1812" name="object 3"/>
          <p:cNvSpPr/>
          <p:nvPr/>
        </p:nvSpPr>
        <p:spPr>
          <a:xfrm>
            <a:off x="600120" y="1360440"/>
            <a:ext cx="8398440" cy="19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00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Pod’s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virtual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IP</a:t>
            </a:r>
            <a:r>
              <a:rPr b="0" lang="fr-FR" sz="1600" spc="-4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address is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not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considered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stable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over time.</a:t>
            </a:r>
            <a:r>
              <a:rPr b="0" lang="fr-FR" sz="1600" spc="-100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00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Pod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restart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leases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new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IP</a:t>
            </a:r>
            <a:r>
              <a:rPr b="0" lang="fr-FR" sz="16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address.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Building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microservices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architecture on Kubernetes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requires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network endpoints that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are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stable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over time.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00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Service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provides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discoverable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names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and load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balancing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set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 Pods.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3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42428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Request</a:t>
            </a:r>
            <a:r>
              <a:rPr b="1" lang="fr-FR" sz="2400" spc="-16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6" strike="noStrike">
                <a:solidFill>
                  <a:srgbClr val="000000"/>
                </a:solidFill>
                <a:latin typeface="Tahoma"/>
              </a:rPr>
              <a:t>Routing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"How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does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Service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6" strike="noStrike">
                <a:solidFill>
                  <a:srgbClr val="666666"/>
                </a:solidFill>
                <a:latin typeface="Lucida Sans Unicode"/>
              </a:rPr>
              <a:t>decide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which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Pod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forward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request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to?"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1814" name="object 3" descr=""/>
          <p:cNvPicPr/>
          <p:nvPr/>
        </p:nvPicPr>
        <p:blipFill>
          <a:blip r:embed="rId1"/>
          <a:stretch/>
        </p:blipFill>
        <p:spPr>
          <a:xfrm>
            <a:off x="2268000" y="1542960"/>
            <a:ext cx="5387040" cy="2983680"/>
          </a:xfrm>
          <a:prstGeom prst="rect">
            <a:avLst/>
          </a:prstGeom>
          <a:ln w="0">
            <a:noFill/>
          </a:ln>
        </p:spPr>
      </p:pic>
      <p:sp>
        <p:nvSpPr>
          <p:cNvPr id="1815" name="PlaceHolder 2"/>
          <p:cNvSpPr>
            <a:spLocks noGrp="1"/>
          </p:cNvSpPr>
          <p:nvPr>
            <p:ph type="sldNum" idx="29"/>
          </p:nvPr>
        </p:nvSpPr>
        <p:spPr>
          <a:xfrm>
            <a:off x="8701560" y="4908600"/>
            <a:ext cx="261720" cy="299808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EC74812B-2395-4E7F-AD3F-79CB07845C8D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6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06428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55" strike="noStrike">
                <a:solidFill>
                  <a:srgbClr val="000000"/>
                </a:solidFill>
                <a:latin typeface="Tahoma"/>
              </a:rPr>
              <a:t>Port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9" strike="noStrike">
                <a:solidFill>
                  <a:srgbClr val="000000"/>
                </a:solidFill>
                <a:latin typeface="Tahoma"/>
              </a:rPr>
              <a:t>Mapping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"How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14" strike="noStrike">
                <a:solidFill>
                  <a:srgbClr val="666666"/>
                </a:solidFill>
                <a:latin typeface="Lucida Sans Unicode"/>
              </a:rPr>
              <a:t>map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Service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port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container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port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Pod?"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1817" name="object 3" descr=""/>
          <p:cNvPicPr/>
          <p:nvPr/>
        </p:nvPicPr>
        <p:blipFill>
          <a:blip r:embed="rId1"/>
          <a:stretch/>
        </p:blipFill>
        <p:spPr>
          <a:xfrm>
            <a:off x="1612080" y="1690200"/>
            <a:ext cx="5829480" cy="3001320"/>
          </a:xfrm>
          <a:prstGeom prst="rect">
            <a:avLst/>
          </a:prstGeom>
          <a:ln w="0">
            <a:noFill/>
          </a:ln>
        </p:spPr>
      </p:pic>
      <p:sp>
        <p:nvSpPr>
          <p:cNvPr id="1818" name="PlaceHolder 2"/>
          <p:cNvSpPr>
            <a:spLocks noGrp="1"/>
          </p:cNvSpPr>
          <p:nvPr>
            <p:ph type="sldNum" idx="30"/>
          </p:nvPr>
        </p:nvSpPr>
        <p:spPr>
          <a:xfrm>
            <a:off x="8701560" y="4908600"/>
            <a:ext cx="261720" cy="299808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EB0F68DE-98D3-43FF-ABD6-A61641B3ACC2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9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96428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9" strike="noStrike">
                <a:solidFill>
                  <a:srgbClr val="000000"/>
                </a:solidFill>
                <a:latin typeface="Tahoma"/>
              </a:rPr>
              <a:t>Creating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Service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52" strike="noStrike">
                <a:solidFill>
                  <a:srgbClr val="000000"/>
                </a:solidFill>
                <a:latin typeface="Tahoma"/>
              </a:rPr>
              <a:t>with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Imperative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60" strike="noStrike">
                <a:solidFill>
                  <a:srgbClr val="000000"/>
                </a:solidFill>
                <a:latin typeface="Tahoma"/>
              </a:rPr>
              <a:t>Approach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Needs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provide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service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type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ports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820" name="object 3"/>
          <p:cNvGrpSpPr/>
          <p:nvPr/>
        </p:nvGrpSpPr>
        <p:grpSpPr>
          <a:xfrm>
            <a:off x="455400" y="1360440"/>
            <a:ext cx="3727800" cy="3502800"/>
            <a:chOff x="455400" y="1360440"/>
            <a:chExt cx="3727800" cy="3502800"/>
          </a:xfrm>
        </p:grpSpPr>
        <p:pic>
          <p:nvPicPr>
            <p:cNvPr id="1821" name="object 4" descr=""/>
            <p:cNvPicPr/>
            <p:nvPr/>
          </p:nvPicPr>
          <p:blipFill>
            <a:blip r:embed="rId1"/>
            <a:stretch/>
          </p:blipFill>
          <p:spPr>
            <a:xfrm>
              <a:off x="455400" y="1360440"/>
              <a:ext cx="3727800" cy="35028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822" name="object 5"/>
            <p:cNvSpPr/>
            <p:nvPr/>
          </p:nvSpPr>
          <p:spPr>
            <a:xfrm>
              <a:off x="509040" y="1408680"/>
              <a:ext cx="3613680" cy="3389040"/>
            </a:xfrm>
            <a:custGeom>
              <a:avLst/>
              <a:gdLst/>
              <a:ahLst/>
              <a:rect l="l" t="t" r="r" b="b"/>
              <a:pathLst>
                <a:path w="3616960" h="3392170">
                  <a:moveTo>
                    <a:pt x="3616799" y="3391799"/>
                  </a:moveTo>
                  <a:lnTo>
                    <a:pt x="0" y="3391799"/>
                  </a:lnTo>
                  <a:lnTo>
                    <a:pt x="0" y="0"/>
                  </a:lnTo>
                  <a:lnTo>
                    <a:pt x="3616799" y="0"/>
                  </a:lnTo>
                  <a:lnTo>
                    <a:pt x="3616799" y="33917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823" name="object 6"/>
          <p:cNvSpPr/>
          <p:nvPr/>
        </p:nvSpPr>
        <p:spPr>
          <a:xfrm>
            <a:off x="718920" y="1557720"/>
            <a:ext cx="3114720" cy="3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429"/>
              </a:lnSpc>
              <a:spcBef>
                <a:spcPts val="99"/>
              </a:spcBef>
              <a:buNone/>
            </a:pPr>
            <a:r>
              <a:rPr b="1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1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1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run</a:t>
            </a:r>
            <a:r>
              <a:rPr b="1" lang="fr-FR" sz="11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echoserver</a:t>
            </a:r>
            <a:r>
              <a:rPr b="0" lang="fr-FR" sz="1200" spc="-7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200" spc="-1" strike="noStrike">
              <a:latin typeface="Arial"/>
            </a:endParaRPr>
          </a:p>
          <a:p>
            <a:pPr marL="180360">
              <a:lnSpc>
                <a:spcPts val="1434"/>
              </a:lnSpc>
              <a:buNone/>
            </a:pPr>
            <a:r>
              <a:rPr b="1" lang="fr-FR" sz="1100" spc="-12" strike="noStrike">
                <a:solidFill>
                  <a:srgbClr val="000000"/>
                </a:solidFill>
                <a:latin typeface="Courier New"/>
                <a:ea typeface="DejaVu Sans"/>
              </a:rPr>
              <a:t>--image=k8s.gcr.io/echoserver:1.10</a:t>
            </a:r>
            <a:r>
              <a:rPr b="0" lang="fr-FR" sz="1200" spc="-12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824" name="object 7"/>
          <p:cNvSpPr/>
          <p:nvPr/>
        </p:nvSpPr>
        <p:spPr>
          <a:xfrm>
            <a:off x="871560" y="1936800"/>
            <a:ext cx="1004400" cy="16344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7360">
              <a:lnSpc>
                <a:spcPts val="1290"/>
              </a:lnSpc>
              <a:buNone/>
            </a:pP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--port=8080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825" name="object 8"/>
          <p:cNvSpPr/>
          <p:nvPr/>
        </p:nvSpPr>
        <p:spPr>
          <a:xfrm>
            <a:off x="718920" y="2091960"/>
            <a:ext cx="1866240" cy="91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pod/echoserver</a:t>
            </a:r>
            <a:r>
              <a:rPr b="0" lang="fr-FR" sz="1100" spc="-80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1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endParaRPr b="0" lang="fr-FR" sz="1250" spc="-1" strike="noStrike">
              <a:latin typeface="Arial"/>
            </a:endParaRPr>
          </a:p>
          <a:p>
            <a:pPr marL="180360" indent="-167760">
              <a:lnSpc>
                <a:spcPts val="1429"/>
              </a:lnSpc>
              <a:buNone/>
              <a:tabLst>
                <a:tab algn="l" pos="0"/>
              </a:tabLst>
            </a:pPr>
            <a:r>
              <a:rPr b="1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$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 create</a:t>
            </a:r>
            <a:r>
              <a:rPr b="0" lang="fr-FR" sz="1200" spc="-7" strike="noStrike">
                <a:solidFill>
                  <a:srgbClr val="000000"/>
                </a:solidFill>
                <a:latin typeface="MS Gothic"/>
                <a:ea typeface="DejaVu Sans"/>
              </a:rPr>
              <a:t>↵ </a:t>
            </a:r>
            <a:r>
              <a:rPr b="0" lang="fr-FR" sz="1200" spc="-1" strike="noStrike">
                <a:solidFill>
                  <a:srgbClr val="000000"/>
                </a:solidFill>
                <a:latin typeface="MS Gothic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service</a:t>
            </a:r>
            <a:r>
              <a:rPr b="1" lang="fr-FR" sz="1100" spc="-9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clusterip</a:t>
            </a:r>
            <a:r>
              <a:rPr b="0" lang="fr-FR" sz="1200" spc="-7" strike="noStrike">
                <a:solidFill>
                  <a:srgbClr val="000000"/>
                </a:solidFill>
                <a:latin typeface="MS Gothic"/>
                <a:ea typeface="DejaVu Sans"/>
              </a:rPr>
              <a:t>↵ </a:t>
            </a:r>
            <a:r>
              <a:rPr b="0" lang="fr-FR" sz="1200" spc="-585" strike="noStrike">
                <a:solidFill>
                  <a:srgbClr val="000000"/>
                </a:solidFill>
                <a:latin typeface="MS Gothic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echoserver</a:t>
            </a:r>
            <a:r>
              <a:rPr b="0" lang="fr-FR" sz="1200" spc="-7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826" name="object 9"/>
          <p:cNvSpPr/>
          <p:nvPr/>
        </p:nvSpPr>
        <p:spPr>
          <a:xfrm>
            <a:off x="854280" y="3009240"/>
            <a:ext cx="1188720" cy="14832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44280">
              <a:lnSpc>
                <a:spcPts val="1171"/>
              </a:lnSpc>
              <a:buNone/>
            </a:pP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--tcp=80:8080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827" name="object 10"/>
          <p:cNvSpPr/>
          <p:nvPr/>
        </p:nvSpPr>
        <p:spPr>
          <a:xfrm>
            <a:off x="718920" y="3148920"/>
            <a:ext cx="3114720" cy="90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service/echoserver</a:t>
            </a:r>
            <a:r>
              <a:rPr b="0" lang="fr-FR" sz="11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1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endParaRPr b="0" lang="fr-FR" sz="1200" spc="-1" strike="noStrike">
              <a:latin typeface="Arial"/>
            </a:endParaRPr>
          </a:p>
          <a:p>
            <a:pPr marL="12600">
              <a:lnSpc>
                <a:spcPts val="1434"/>
              </a:lnSpc>
              <a:buNone/>
            </a:pPr>
            <a:r>
              <a:rPr b="1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1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1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run</a:t>
            </a:r>
            <a:r>
              <a:rPr b="1" lang="fr-FR" sz="11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echoserver</a:t>
            </a:r>
            <a:r>
              <a:rPr b="0" lang="fr-FR" sz="1200" spc="-7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200" spc="-1" strike="noStrike">
              <a:latin typeface="Arial"/>
            </a:endParaRPr>
          </a:p>
          <a:p>
            <a:pPr marL="180360">
              <a:lnSpc>
                <a:spcPts val="1426"/>
              </a:lnSpc>
              <a:buNone/>
            </a:pPr>
            <a:r>
              <a:rPr b="1" lang="fr-FR" sz="1100" spc="-12" strike="noStrike">
                <a:solidFill>
                  <a:srgbClr val="000000"/>
                </a:solidFill>
                <a:latin typeface="Courier New"/>
                <a:ea typeface="DejaVu Sans"/>
              </a:rPr>
              <a:t>--image=k8s.gcr.io/echoserver:1.10</a:t>
            </a:r>
            <a:r>
              <a:rPr b="0" lang="fr-FR" sz="1200" spc="-12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200" spc="-1" strike="noStrike">
              <a:latin typeface="Arial"/>
            </a:endParaRPr>
          </a:p>
          <a:p>
            <a:pPr marL="180360">
              <a:lnSpc>
                <a:spcPts val="1434"/>
              </a:lnSpc>
              <a:buNone/>
            </a:pP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--port=8080</a:t>
            </a:r>
            <a:r>
              <a:rPr b="0" lang="fr-FR" sz="1200" spc="-7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828" name="object 11"/>
          <p:cNvSpPr/>
          <p:nvPr/>
        </p:nvSpPr>
        <p:spPr>
          <a:xfrm>
            <a:off x="862920" y="4064400"/>
            <a:ext cx="767520" cy="15084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36360">
              <a:lnSpc>
                <a:spcPts val="1191"/>
              </a:lnSpc>
              <a:buNone/>
            </a:pP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--expose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829" name="object 12"/>
          <p:cNvSpPr/>
          <p:nvPr/>
        </p:nvSpPr>
        <p:spPr>
          <a:xfrm>
            <a:off x="718920" y="4206240"/>
            <a:ext cx="2201400" cy="34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9000" bIns="0" anchor="t">
            <a:spAutoFit/>
          </a:bodyPr>
          <a:p>
            <a:pPr marL="12600">
              <a:lnSpc>
                <a:spcPct val="102000"/>
              </a:lnSpc>
              <a:spcBef>
                <a:spcPts val="71"/>
              </a:spcBef>
              <a:buNone/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service/echoserver created pod/echoserver</a:t>
            </a:r>
            <a:r>
              <a:rPr b="0" lang="fr-FR" sz="11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created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830" name="object 13"/>
          <p:cNvSpPr/>
          <p:nvPr/>
        </p:nvSpPr>
        <p:spPr>
          <a:xfrm>
            <a:off x="4761360" y="4016880"/>
            <a:ext cx="33372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Shortcut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for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creating</a:t>
            </a:r>
            <a:r>
              <a:rPr b="0" lang="fr-FR" sz="14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Pod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+</a:t>
            </a:r>
            <a:r>
              <a:rPr b="0" lang="fr-FR" sz="14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Service</a:t>
            </a:r>
            <a:endParaRPr b="0" lang="fr-FR" sz="1400" spc="-1" strike="noStrike">
              <a:latin typeface="Arial"/>
            </a:endParaRPr>
          </a:p>
        </p:txBody>
      </p:sp>
      <p:grpSp>
        <p:nvGrpSpPr>
          <p:cNvPr id="1831" name="object 14"/>
          <p:cNvGrpSpPr/>
          <p:nvPr/>
        </p:nvGrpSpPr>
        <p:grpSpPr>
          <a:xfrm>
            <a:off x="1800360" y="1991880"/>
            <a:ext cx="2902680" cy="2198160"/>
            <a:chOff x="1800360" y="1991880"/>
            <a:chExt cx="2902680" cy="2198160"/>
          </a:xfrm>
        </p:grpSpPr>
        <p:sp>
          <p:nvSpPr>
            <p:cNvPr id="1832" name="object 15"/>
            <p:cNvSpPr/>
            <p:nvPr/>
          </p:nvSpPr>
          <p:spPr>
            <a:xfrm>
              <a:off x="1896120" y="4152240"/>
              <a:ext cx="2789640" cy="13320"/>
            </a:xfrm>
            <a:custGeom>
              <a:avLst/>
              <a:gdLst/>
              <a:ahLst/>
              <a:rect l="l" t="t" r="r" b="b"/>
              <a:pathLst>
                <a:path w="2792729" h="16510">
                  <a:moveTo>
                    <a:pt x="2792101" y="16427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833" name="object 16" descr=""/>
            <p:cNvPicPr/>
            <p:nvPr/>
          </p:nvPicPr>
          <p:blipFill>
            <a:blip r:embed="rId2"/>
            <a:stretch/>
          </p:blipFill>
          <p:spPr>
            <a:xfrm>
              <a:off x="1800360" y="4111200"/>
              <a:ext cx="102600" cy="788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834" name="object 17"/>
            <p:cNvSpPr/>
            <p:nvPr/>
          </p:nvSpPr>
          <p:spPr>
            <a:xfrm>
              <a:off x="2297520" y="3096360"/>
              <a:ext cx="2387520" cy="5760"/>
            </a:xfrm>
            <a:custGeom>
              <a:avLst/>
              <a:gdLst/>
              <a:ahLst/>
              <a:rect l="l" t="t" r="r" b="b"/>
              <a:pathLst>
                <a:path w="2390775" h="8889">
                  <a:moveTo>
                    <a:pt x="2390700" y="8303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835" name="object 18" descr=""/>
            <p:cNvPicPr/>
            <p:nvPr/>
          </p:nvPicPr>
          <p:blipFill>
            <a:blip r:embed="rId3"/>
            <a:stretch/>
          </p:blipFill>
          <p:spPr>
            <a:xfrm>
              <a:off x="2201760" y="3055320"/>
              <a:ext cx="102240" cy="788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836" name="object 19"/>
            <p:cNvSpPr/>
            <p:nvPr/>
          </p:nvSpPr>
          <p:spPr>
            <a:xfrm>
              <a:off x="2145960" y="2032920"/>
              <a:ext cx="2557080" cy="5760"/>
            </a:xfrm>
            <a:custGeom>
              <a:avLst/>
              <a:gdLst/>
              <a:ahLst/>
              <a:rect l="l" t="t" r="r" b="b"/>
              <a:pathLst>
                <a:path w="2560320" h="8889">
                  <a:moveTo>
                    <a:pt x="2560200" y="8328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837" name="object 20" descr=""/>
            <p:cNvPicPr/>
            <p:nvPr/>
          </p:nvPicPr>
          <p:blipFill>
            <a:blip r:embed="rId4"/>
            <a:stretch/>
          </p:blipFill>
          <p:spPr>
            <a:xfrm>
              <a:off x="2049840" y="1991880"/>
              <a:ext cx="102240" cy="788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838" name="object 21"/>
          <p:cNvSpPr/>
          <p:nvPr/>
        </p:nvSpPr>
        <p:spPr>
          <a:xfrm>
            <a:off x="4761360" y="2953080"/>
            <a:ext cx="26172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Incoming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and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outgoing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port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839" name="PlaceHolder 2"/>
          <p:cNvSpPr>
            <a:spLocks noGrp="1"/>
          </p:cNvSpPr>
          <p:nvPr>
            <p:ph type="sldNum" idx="31"/>
          </p:nvPr>
        </p:nvSpPr>
        <p:spPr>
          <a:xfrm>
            <a:off x="8701560" y="4908600"/>
            <a:ext cx="261720" cy="299808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37FD20EE-D824-4D95-817C-2D695529C5B5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sp>
        <p:nvSpPr>
          <p:cNvPr id="1840" name="object 22"/>
          <p:cNvSpPr/>
          <p:nvPr/>
        </p:nvSpPr>
        <p:spPr>
          <a:xfrm>
            <a:off x="4779000" y="1889280"/>
            <a:ext cx="295956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Exposed</a:t>
            </a:r>
            <a:r>
              <a:rPr b="0" lang="fr-FR" sz="1400" spc="-5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container</a:t>
            </a:r>
            <a:r>
              <a:rPr b="0" lang="fr-FR" sz="1400" spc="-4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port</a:t>
            </a:r>
            <a:endParaRPr b="0" lang="fr-FR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1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34428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Service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YAML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Manifest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Needs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provide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service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type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ports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842" name="object 3"/>
          <p:cNvGrpSpPr/>
          <p:nvPr/>
        </p:nvGrpSpPr>
        <p:grpSpPr>
          <a:xfrm>
            <a:off x="480600" y="1375560"/>
            <a:ext cx="2525400" cy="2710440"/>
            <a:chOff x="480600" y="1375560"/>
            <a:chExt cx="2525400" cy="2710440"/>
          </a:xfrm>
        </p:grpSpPr>
        <p:pic>
          <p:nvPicPr>
            <p:cNvPr id="1843" name="object 4" descr=""/>
            <p:cNvPicPr/>
            <p:nvPr/>
          </p:nvPicPr>
          <p:blipFill>
            <a:blip r:embed="rId1"/>
            <a:stretch/>
          </p:blipFill>
          <p:spPr>
            <a:xfrm>
              <a:off x="480600" y="1375560"/>
              <a:ext cx="2525400" cy="27104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844" name="object 5"/>
            <p:cNvSpPr/>
            <p:nvPr/>
          </p:nvSpPr>
          <p:spPr>
            <a:xfrm>
              <a:off x="534240" y="1424160"/>
              <a:ext cx="2411640" cy="2596320"/>
            </a:xfrm>
            <a:custGeom>
              <a:avLst/>
              <a:gdLst/>
              <a:ahLst/>
              <a:rect l="l" t="t" r="r" b="b"/>
              <a:pathLst>
                <a:path w="2414905" h="2599690">
                  <a:moveTo>
                    <a:pt x="2414399" y="2599499"/>
                  </a:moveTo>
                  <a:lnTo>
                    <a:pt x="0" y="2599499"/>
                  </a:lnTo>
                  <a:lnTo>
                    <a:pt x="0" y="0"/>
                  </a:lnTo>
                  <a:lnTo>
                    <a:pt x="2414399" y="0"/>
                  </a:lnTo>
                  <a:lnTo>
                    <a:pt x="2414399" y="25994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845" name="object 6"/>
          <p:cNvSpPr/>
          <p:nvPr/>
        </p:nvSpPr>
        <p:spPr>
          <a:xfrm>
            <a:off x="730080" y="1562040"/>
            <a:ext cx="2003400" cy="22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800" bIns="0" anchor="t">
            <a:spAutoFit/>
          </a:bodyPr>
          <a:p>
            <a:pPr marL="12600">
              <a:lnSpc>
                <a:spcPct val="101000"/>
              </a:lnSpc>
              <a:spcBef>
                <a:spcPts val="85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apiVersion:</a:t>
            </a:r>
            <a:r>
              <a:rPr b="1" lang="fr-FR" sz="1300" spc="-97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v1 </a:t>
            </a:r>
            <a:r>
              <a:rPr b="0" lang="fr-FR" sz="1300" spc="-76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kind: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Service </a:t>
            </a:r>
            <a:r>
              <a:rPr b="0" lang="fr-FR" sz="1300" spc="-7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metadata:</a:t>
            </a:r>
            <a:endParaRPr b="0" lang="fr-FR" sz="1300" spc="-1" strike="noStrike">
              <a:latin typeface="Arial"/>
            </a:endParaRPr>
          </a:p>
          <a:p>
            <a:pPr marL="21096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name: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echoserver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spec:</a:t>
            </a:r>
            <a:endParaRPr b="0" lang="fr-FR" sz="1300" spc="-1" strike="noStrike">
              <a:latin typeface="Arial"/>
            </a:endParaRPr>
          </a:p>
          <a:p>
            <a:pPr marL="21096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selector:</a:t>
            </a:r>
            <a:endParaRPr b="0" lang="fr-FR" sz="1300" spc="-1" strike="noStrike">
              <a:latin typeface="Arial"/>
            </a:endParaRPr>
          </a:p>
          <a:p>
            <a:pPr marL="40896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app: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echoserver</a:t>
            </a:r>
            <a:endParaRPr b="0" lang="fr-FR" sz="1300" spc="-1" strike="noStrike">
              <a:latin typeface="Arial"/>
            </a:endParaRPr>
          </a:p>
          <a:p>
            <a:pPr marL="21096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ports:</a:t>
            </a:r>
            <a:endParaRPr b="0" lang="fr-FR" sz="1300" spc="-1" strike="noStrike">
              <a:latin typeface="Arial"/>
            </a:endParaRPr>
          </a:p>
          <a:p>
            <a:pPr marL="21096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1" strike="noStrike">
                <a:solidFill>
                  <a:srgbClr val="4618a2"/>
                </a:solidFill>
                <a:latin typeface="Courier New"/>
                <a:ea typeface="DejaVu Sans"/>
              </a:rPr>
              <a:t>-</a:t>
            </a:r>
            <a:r>
              <a:rPr b="1" lang="fr-FR" sz="1300" spc="-4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port:</a:t>
            </a:r>
            <a:r>
              <a:rPr b="1" lang="fr-FR" sz="1300" spc="-41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80</a:t>
            </a:r>
            <a:endParaRPr b="0" lang="fr-FR" sz="1300" spc="-1" strike="noStrike">
              <a:latin typeface="Arial"/>
            </a:endParaRPr>
          </a:p>
          <a:p>
            <a:pPr marL="40896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targetPort:</a:t>
            </a:r>
            <a:r>
              <a:rPr b="1" lang="fr-FR" sz="1300" spc="-86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8080</a:t>
            </a:r>
            <a:endParaRPr b="0" lang="fr-FR" sz="1300" spc="-1" strike="noStrike">
              <a:latin typeface="Arial"/>
            </a:endParaRPr>
          </a:p>
          <a:p>
            <a:pPr marL="40140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4618a2"/>
                </a:solidFill>
                <a:latin typeface="Courier New"/>
                <a:ea typeface="DejaVu Sans"/>
              </a:rPr>
              <a:t>protocol:</a:t>
            </a:r>
            <a:r>
              <a:rPr b="1" lang="fr-FR" sz="1300" spc="-72" strike="noStrike">
                <a:solidFill>
                  <a:srgbClr val="4618a2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TCP</a:t>
            </a:r>
            <a:endParaRPr b="0" lang="fr-FR" sz="1300" spc="-1" strike="noStrike">
              <a:latin typeface="Arial"/>
            </a:endParaRPr>
          </a:p>
        </p:txBody>
      </p:sp>
      <p:grpSp>
        <p:nvGrpSpPr>
          <p:cNvPr id="1846" name="object 7"/>
          <p:cNvGrpSpPr/>
          <p:nvPr/>
        </p:nvGrpSpPr>
        <p:grpSpPr>
          <a:xfrm>
            <a:off x="2759040" y="2846160"/>
            <a:ext cx="1904400" cy="673920"/>
            <a:chOff x="2759040" y="2846160"/>
            <a:chExt cx="1904400" cy="673920"/>
          </a:xfrm>
        </p:grpSpPr>
        <p:sp>
          <p:nvSpPr>
            <p:cNvPr id="1847" name="object 8"/>
            <p:cNvSpPr/>
            <p:nvPr/>
          </p:nvSpPr>
          <p:spPr>
            <a:xfrm>
              <a:off x="3017520" y="3482280"/>
              <a:ext cx="1645920" cy="360"/>
            </a:xfrm>
            <a:custGeom>
              <a:avLst/>
              <a:gdLst/>
              <a:ahLst/>
              <a:rect l="l" t="t" r="r" b="b"/>
              <a:pathLst>
                <a:path w="1649095" h="0">
                  <a:moveTo>
                    <a:pt x="16487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848" name="object 9" descr=""/>
            <p:cNvPicPr/>
            <p:nvPr/>
          </p:nvPicPr>
          <p:blipFill>
            <a:blip r:embed="rId2"/>
            <a:stretch/>
          </p:blipFill>
          <p:spPr>
            <a:xfrm>
              <a:off x="2921400" y="3441240"/>
              <a:ext cx="102240" cy="788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849" name="object 10"/>
            <p:cNvSpPr/>
            <p:nvPr/>
          </p:nvSpPr>
          <p:spPr>
            <a:xfrm>
              <a:off x="2855160" y="2886840"/>
              <a:ext cx="1798920" cy="360"/>
            </a:xfrm>
            <a:custGeom>
              <a:avLst/>
              <a:gdLst/>
              <a:ahLst/>
              <a:rect l="l" t="t" r="r" b="b"/>
              <a:pathLst>
                <a:path w="1802129" h="0">
                  <a:moveTo>
                    <a:pt x="1802099" y="0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850" name="object 11" descr=""/>
            <p:cNvPicPr/>
            <p:nvPr/>
          </p:nvPicPr>
          <p:blipFill>
            <a:blip r:embed="rId3"/>
            <a:stretch/>
          </p:blipFill>
          <p:spPr>
            <a:xfrm>
              <a:off x="2759040" y="2846160"/>
              <a:ext cx="102240" cy="788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851" name="object 12"/>
          <p:cNvSpPr/>
          <p:nvPr/>
        </p:nvSpPr>
        <p:spPr>
          <a:xfrm>
            <a:off x="4759560" y="3351960"/>
            <a:ext cx="36990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Mapping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of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incoming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to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outgoing</a:t>
            </a:r>
            <a:r>
              <a:rPr b="0" lang="fr-FR" sz="1400" spc="-2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port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852" name="PlaceHolder 2"/>
          <p:cNvSpPr>
            <a:spLocks noGrp="1"/>
          </p:cNvSpPr>
          <p:nvPr>
            <p:ph type="sldNum" idx="32"/>
          </p:nvPr>
        </p:nvSpPr>
        <p:spPr>
          <a:xfrm>
            <a:off x="8701560" y="4908600"/>
            <a:ext cx="261720" cy="299808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4A8F68C6-DC39-4F7A-8B5C-F9AF8CC97B6F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sp>
        <p:nvSpPr>
          <p:cNvPr id="1853" name="object 13"/>
          <p:cNvSpPr/>
          <p:nvPr/>
        </p:nvSpPr>
        <p:spPr>
          <a:xfrm>
            <a:off x="4764960" y="2751120"/>
            <a:ext cx="24336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Label</a:t>
            </a:r>
            <a:r>
              <a:rPr b="0" lang="fr-FR" sz="14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000000"/>
                </a:solidFill>
                <a:latin typeface="Arial MT"/>
                <a:ea typeface="DejaVu Sans"/>
              </a:rPr>
              <a:t>selection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for</a:t>
            </a:r>
            <a:r>
              <a:rPr b="0" lang="fr-FR" sz="14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Pods</a:t>
            </a:r>
            <a:endParaRPr b="0" lang="fr-FR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4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16428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Service</a:t>
            </a:r>
            <a:r>
              <a:rPr b="1" lang="fr-FR" sz="2400" spc="-17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1" strike="noStrike">
                <a:solidFill>
                  <a:srgbClr val="000000"/>
                </a:solidFill>
                <a:latin typeface="Tahoma"/>
              </a:rPr>
              <a:t>Types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following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table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shows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limited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5" strike="noStrike">
                <a:solidFill>
                  <a:srgbClr val="666666"/>
                </a:solidFill>
                <a:latin typeface="Lucida Sans Unicode"/>
              </a:rPr>
              <a:t>list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Service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types</a:t>
            </a:r>
            <a:endParaRPr b="0" lang="fr-FR" sz="1600" spc="-1" strike="noStrike">
              <a:latin typeface="Arial"/>
            </a:endParaRPr>
          </a:p>
        </p:txBody>
      </p:sp>
      <p:graphicFrame>
        <p:nvGraphicFramePr>
          <p:cNvPr id="1855" name="object 3"/>
          <p:cNvGraphicFramePr/>
          <p:nvPr/>
        </p:nvGraphicFramePr>
        <p:xfrm>
          <a:off x="502200" y="1408680"/>
          <a:ext cx="7237440" cy="2654280"/>
        </p:xfrm>
        <a:graphic>
          <a:graphicData uri="http://schemas.openxmlformats.org/drawingml/2006/table">
            <a:tbl>
              <a:tblPr/>
              <a:tblGrid>
                <a:gridCol w="2492280"/>
                <a:gridCol w="4745520"/>
              </a:tblGrid>
              <a:tr h="553320">
                <a:tc>
                  <a:txBody>
                    <a:bodyPr anchor="t">
                      <a:noAutofit/>
                    </a:bodyPr>
                    <a:p>
                      <a:pPr marL="90000">
                        <a:lnSpc>
                          <a:spcPct val="100000"/>
                        </a:lnSpc>
                        <a:spcBef>
                          <a:spcPts val="1315"/>
                        </a:spcBef>
                        <a:buNone/>
                      </a:pPr>
                      <a:r>
                        <a:rPr b="0" lang="fr-FR" sz="1400" spc="-21" strike="noStrike">
                          <a:solidFill>
                            <a:srgbClr val="ffffff"/>
                          </a:solidFill>
                          <a:latin typeface="Arial MT"/>
                        </a:rPr>
                        <a:t>Type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 w="38160">
                      <a:solidFill>
                        <a:srgbClr val="660000"/>
                      </a:solidFill>
                    </a:lnB>
                    <a:solidFill>
                      <a:srgbClr val="d3002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ct val="100000"/>
                        </a:lnSpc>
                        <a:spcBef>
                          <a:spcPts val="1315"/>
                        </a:spcBef>
                        <a:buNone/>
                      </a:pPr>
                      <a:r>
                        <a:rPr b="0" lang="fr-FR" sz="1400" spc="-7" strike="noStrike">
                          <a:solidFill>
                            <a:srgbClr val="ffffff"/>
                          </a:solidFill>
                          <a:latin typeface="Arial MT"/>
                        </a:rPr>
                        <a:t>Description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 w="38160">
                      <a:solidFill>
                        <a:srgbClr val="660000"/>
                      </a:solidFill>
                    </a:lnB>
                    <a:solidFill>
                      <a:srgbClr val="d30020"/>
                    </a:solidFill>
                  </a:tcPr>
                </a:tc>
              </a:tr>
              <a:tr h="2101320">
                <a:tc>
                  <a:txBody>
                    <a:bodyPr anchor="t">
                      <a:noAutofit/>
                    </a:bodyPr>
                    <a:p>
                      <a:pPr marL="90000">
                        <a:lnSpc>
                          <a:spcPct val="100000"/>
                        </a:lnSpc>
                        <a:spcBef>
                          <a:spcPts val="624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ClusterIP</a:t>
                      </a:r>
                      <a:endParaRPr b="0" lang="fr-FR" sz="1200" spc="-1" strike="noStrike">
                        <a:latin typeface="Arial"/>
                      </a:endParaRPr>
                    </a:p>
                    <a:p>
                      <a:pPr marL="90000">
                        <a:lnSpc>
                          <a:spcPct val="100000"/>
                        </a:lnSpc>
                        <a:spcBef>
                          <a:spcPts val="14"/>
                        </a:spcBef>
                        <a:buNone/>
                      </a:pPr>
                      <a:endParaRPr b="0" lang="fr-FR" sz="1200" spc="-1" strike="noStrike">
                        <a:latin typeface="Arial"/>
                      </a:endParaRPr>
                    </a:p>
                    <a:p>
                      <a:pPr marL="90000">
                        <a:lnSpc>
                          <a:spcPct val="300000"/>
                        </a:lnSpc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NodePort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Courier New"/>
                        </a:rPr>
                        <a:t> </a:t>
                      </a:r>
                      <a:endParaRPr b="0" lang="fr-FR" sz="1200" spc="-1" strike="noStrike">
                        <a:latin typeface="Arial"/>
                      </a:endParaRPr>
                    </a:p>
                    <a:p>
                      <a:pPr marL="90000">
                        <a:lnSpc>
                          <a:spcPct val="300000"/>
                        </a:lnSpc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LoadBalancer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 w="9360">
                      <a:solidFill>
                        <a:srgbClr val="f3f3f3"/>
                      </a:solidFill>
                    </a:lnR>
                    <a:lnT w="38160">
                      <a:solidFill>
                        <a:srgbClr val="660000"/>
                      </a:solidFill>
                    </a:lnT>
                    <a:lnB w="9360">
                      <a:solidFill>
                        <a:srgbClr val="f3f3f3"/>
                      </a:solidFill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 algn="just">
                        <a:lnSpc>
                          <a:spcPts val="1429"/>
                        </a:lnSpc>
                        <a:spcBef>
                          <a:spcPts val="680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Exposes the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service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on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a cluster-internal </a:t>
                      </a:r>
                      <a:r>
                        <a:rPr b="0" lang="fr-FR" sz="1200" spc="-55" strike="noStrike">
                          <a:solidFill>
                            <a:srgbClr val="000000"/>
                          </a:solidFill>
                          <a:latin typeface="Arial MT"/>
                        </a:rPr>
                        <a:t>IP.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Only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reachable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from Pods within the 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cluster.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Default if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value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for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spec.type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has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not been assigned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in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manifest.</a:t>
                      </a:r>
                      <a:endParaRPr b="0" lang="fr-FR" sz="120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ct val="100000"/>
                        </a:lnSpc>
                        <a:spcBef>
                          <a:spcPts val="45"/>
                        </a:spcBef>
                        <a:buNone/>
                      </a:pPr>
                      <a:endParaRPr b="0" lang="fr-FR" sz="120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ts val="1429"/>
                        </a:lnSpc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Exposes the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service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on each node's IP at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a static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port. </a:t>
                      </a:r>
                      <a:r>
                        <a:rPr b="0" lang="fr-FR" sz="1200" spc="-321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Accessible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from outside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of the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cluster.</a:t>
                      </a:r>
                      <a:endParaRPr b="0" lang="fr-FR" sz="120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ct val="100000"/>
                        </a:lnSpc>
                        <a:spcBef>
                          <a:spcPts val="26"/>
                        </a:spcBef>
                        <a:buNone/>
                      </a:pPr>
                      <a:endParaRPr b="0" lang="fr-FR" sz="125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ts val="1429"/>
                        </a:lnSpc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Exposes the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service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externally using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a cloud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provider’s load </a:t>
                      </a:r>
                      <a:r>
                        <a:rPr b="0" lang="fr-FR" sz="1200" spc="-321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balancer.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 w="38160">
                      <a:solidFill>
                        <a:srgbClr val="660000"/>
                      </a:solidFill>
                    </a:lnT>
                    <a:lnB w="9360">
                      <a:solidFill>
                        <a:srgbClr val="f3f3f3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856" name="PlaceHolder 2"/>
          <p:cNvSpPr>
            <a:spLocks noGrp="1"/>
          </p:cNvSpPr>
          <p:nvPr>
            <p:ph type="sldNum" idx="33"/>
          </p:nvPr>
        </p:nvSpPr>
        <p:spPr>
          <a:xfrm>
            <a:off x="8701560" y="4908600"/>
            <a:ext cx="261720" cy="299808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DE3FFB32-5434-47B1-80A8-67C80C424969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7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98428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Service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9" strike="noStrike">
                <a:solidFill>
                  <a:srgbClr val="000000"/>
                </a:solidFill>
                <a:latin typeface="Tahoma"/>
              </a:rPr>
              <a:t>Type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6" strike="noStrike">
                <a:solidFill>
                  <a:srgbClr val="000000"/>
                </a:solidFill>
                <a:latin typeface="Tahoma"/>
              </a:rPr>
              <a:t>Inheritance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Services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build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top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4" strike="noStrike">
                <a:solidFill>
                  <a:srgbClr val="666666"/>
                </a:solidFill>
                <a:latin typeface="Lucida Sans Unicode"/>
              </a:rPr>
              <a:t>each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other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1858" name="object 3" descr=""/>
          <p:cNvPicPr/>
          <p:nvPr/>
        </p:nvPicPr>
        <p:blipFill>
          <a:blip r:embed="rId1"/>
          <a:stretch/>
        </p:blipFill>
        <p:spPr>
          <a:xfrm>
            <a:off x="1754280" y="1519920"/>
            <a:ext cx="5544720" cy="3149640"/>
          </a:xfrm>
          <a:prstGeom prst="rect">
            <a:avLst/>
          </a:prstGeom>
          <a:ln w="0">
            <a:noFill/>
          </a:ln>
        </p:spPr>
      </p:pic>
      <p:sp>
        <p:nvSpPr>
          <p:cNvPr id="1859" name="PlaceHolder 2"/>
          <p:cNvSpPr>
            <a:spLocks noGrp="1"/>
          </p:cNvSpPr>
          <p:nvPr>
            <p:ph type="sldNum" idx="34"/>
          </p:nvPr>
        </p:nvSpPr>
        <p:spPr>
          <a:xfrm>
            <a:off x="8701560" y="4908600"/>
            <a:ext cx="261720" cy="299808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F244F241-8B94-4DA6-A4CC-9A5ED0EA4917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0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88428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46" strike="noStrike">
                <a:solidFill>
                  <a:srgbClr val="000000"/>
                </a:solidFill>
                <a:latin typeface="Tahoma"/>
              </a:rPr>
              <a:t>ClusterIP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Service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9" strike="noStrike">
                <a:solidFill>
                  <a:srgbClr val="000000"/>
                </a:solidFill>
                <a:latin typeface="Tahoma"/>
              </a:rPr>
              <a:t>Type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Only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5" strike="noStrike">
                <a:solidFill>
                  <a:srgbClr val="666666"/>
                </a:solidFill>
                <a:latin typeface="Lucida Sans Unicode"/>
              </a:rPr>
              <a:t>reachable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from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within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cluster,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41" strike="noStrike">
                <a:solidFill>
                  <a:srgbClr val="666666"/>
                </a:solidFill>
                <a:latin typeface="Lucida Sans Unicode"/>
              </a:rPr>
              <a:t>e.g.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another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Pod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1861" name="object 3" descr=""/>
          <p:cNvPicPr/>
          <p:nvPr/>
        </p:nvPicPr>
        <p:blipFill>
          <a:blip r:embed="rId1"/>
          <a:stretch/>
        </p:blipFill>
        <p:spPr>
          <a:xfrm>
            <a:off x="2920680" y="1514880"/>
            <a:ext cx="3212640" cy="3153600"/>
          </a:xfrm>
          <a:prstGeom prst="rect">
            <a:avLst/>
          </a:prstGeom>
          <a:ln w="0">
            <a:noFill/>
          </a:ln>
        </p:spPr>
      </p:pic>
      <p:sp>
        <p:nvSpPr>
          <p:cNvPr id="1862" name="PlaceHolder 2"/>
          <p:cNvSpPr>
            <a:spLocks noGrp="1"/>
          </p:cNvSpPr>
          <p:nvPr>
            <p:ph type="sldNum" idx="35"/>
          </p:nvPr>
        </p:nvSpPr>
        <p:spPr>
          <a:xfrm>
            <a:off x="8701560" y="4908600"/>
            <a:ext cx="261720" cy="299808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FEAE8CAF-54F4-4EC3-85DC-8C1940CBD7B3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3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784280" cy="1276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46" strike="noStrike">
                <a:solidFill>
                  <a:srgbClr val="000000"/>
                </a:solidFill>
                <a:latin typeface="Tahoma"/>
              </a:rPr>
              <a:t>ClusterIP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Service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YAML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Manifest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35" strike="noStrike">
                <a:solidFill>
                  <a:srgbClr val="000000"/>
                </a:solidFill>
                <a:latin typeface="Tahoma"/>
              </a:rPr>
              <a:t>at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Runtime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7" strike="noStrike">
                <a:solidFill>
                  <a:srgbClr val="666666"/>
                </a:solidFill>
                <a:latin typeface="Courier New"/>
              </a:rPr>
              <a:t>ClusterIP</a:t>
            </a:r>
            <a:r>
              <a:rPr b="0" lang="fr-FR" sz="1600" spc="-670" strike="noStrike">
                <a:solidFill>
                  <a:srgbClr val="666666"/>
                </a:solidFill>
                <a:latin typeface="Courier New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service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type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5" strike="noStrike">
                <a:solidFill>
                  <a:srgbClr val="666666"/>
                </a:solidFill>
                <a:latin typeface="Lucida Sans Unicode"/>
              </a:rPr>
              <a:t>has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been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assigned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if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not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6" strike="noStrike">
                <a:solidFill>
                  <a:srgbClr val="666666"/>
                </a:solidFill>
                <a:latin typeface="Lucida Sans Unicode"/>
              </a:rPr>
              <a:t>already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provided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864" name="PlaceHolder 2"/>
          <p:cNvSpPr>
            <a:spLocks noGrp="1"/>
          </p:cNvSpPr>
          <p:nvPr>
            <p:ph type="sldNum" idx="36"/>
          </p:nvPr>
        </p:nvSpPr>
        <p:spPr>
          <a:xfrm>
            <a:off x="8701560" y="4908600"/>
            <a:ext cx="261720" cy="299808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46222370-E196-4E59-99F7-F666DB8CA0AF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pic>
        <p:nvPicPr>
          <p:cNvPr id="1865" name="" descr=""/>
          <p:cNvPicPr/>
          <p:nvPr/>
        </p:nvPicPr>
        <p:blipFill>
          <a:blip r:embed="rId1"/>
          <a:stretch/>
        </p:blipFill>
        <p:spPr>
          <a:xfrm>
            <a:off x="504000" y="1260000"/>
            <a:ext cx="3011400" cy="31338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6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42428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35" strike="noStrike">
                <a:solidFill>
                  <a:srgbClr val="000000"/>
                </a:solidFill>
                <a:latin typeface="Tahoma"/>
              </a:rPr>
              <a:t>Accessing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6" strike="noStrike">
                <a:solidFill>
                  <a:srgbClr val="000000"/>
                </a:solidFill>
                <a:latin typeface="Tahoma"/>
              </a:rPr>
              <a:t>ClusterIP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Service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Use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combination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cluster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IP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incoming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service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port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867" name="object 3"/>
          <p:cNvGrpSpPr/>
          <p:nvPr/>
        </p:nvGrpSpPr>
        <p:grpSpPr>
          <a:xfrm>
            <a:off x="455400" y="1360440"/>
            <a:ext cx="7589520" cy="2558520"/>
            <a:chOff x="455400" y="1360440"/>
            <a:chExt cx="7589520" cy="2558520"/>
          </a:xfrm>
        </p:grpSpPr>
        <p:pic>
          <p:nvPicPr>
            <p:cNvPr id="1868" name="object 4" descr=""/>
            <p:cNvPicPr/>
            <p:nvPr/>
          </p:nvPicPr>
          <p:blipFill>
            <a:blip r:embed="rId1"/>
            <a:stretch/>
          </p:blipFill>
          <p:spPr>
            <a:xfrm>
              <a:off x="455400" y="1360440"/>
              <a:ext cx="7589520" cy="255852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869" name="object 5"/>
            <p:cNvSpPr/>
            <p:nvPr/>
          </p:nvSpPr>
          <p:spPr>
            <a:xfrm>
              <a:off x="509040" y="1408680"/>
              <a:ext cx="7475040" cy="2444760"/>
            </a:xfrm>
            <a:custGeom>
              <a:avLst/>
              <a:gdLst/>
              <a:ahLst/>
              <a:rect l="l" t="t" r="r" b="b"/>
              <a:pathLst>
                <a:path w="7478395" h="2447925">
                  <a:moveTo>
                    <a:pt x="7478399" y="2447399"/>
                  </a:moveTo>
                  <a:lnTo>
                    <a:pt x="0" y="2447399"/>
                  </a:lnTo>
                  <a:lnTo>
                    <a:pt x="0" y="0"/>
                  </a:lnTo>
                  <a:lnTo>
                    <a:pt x="7478399" y="0"/>
                  </a:lnTo>
                  <a:lnTo>
                    <a:pt x="7478399" y="24473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870" name="object 6"/>
          <p:cNvSpPr/>
          <p:nvPr/>
        </p:nvSpPr>
        <p:spPr>
          <a:xfrm>
            <a:off x="731520" y="1557720"/>
            <a:ext cx="2935440" cy="55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ts val="1429"/>
              </a:lnSpc>
              <a:spcBef>
                <a:spcPts val="99"/>
              </a:spcBef>
              <a:buNone/>
            </a:pPr>
            <a:r>
              <a:rPr b="1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2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2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get</a:t>
            </a:r>
            <a:r>
              <a:rPr b="1" lang="fr-FR" sz="12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pod,service</a:t>
            </a:r>
            <a:endParaRPr b="0" lang="fr-FR" sz="1200" spc="-1" strike="noStrike">
              <a:latin typeface="Arial"/>
            </a:endParaRPr>
          </a:p>
          <a:p>
            <a:pPr>
              <a:lnSpc>
                <a:spcPts val="1426"/>
              </a:lnSpc>
              <a:buNone/>
              <a:tabLst>
                <a:tab algn="l" pos="1553760"/>
                <a:tab algn="l" pos="228528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READY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STATUS</a:t>
            </a:r>
            <a:endParaRPr b="0" lang="fr-FR" sz="1200" spc="-1" strike="noStrike">
              <a:latin typeface="Arial"/>
            </a:endParaRPr>
          </a:p>
          <a:p>
            <a:pPr>
              <a:lnSpc>
                <a:spcPts val="1434"/>
              </a:lnSpc>
              <a:buNone/>
              <a:tabLst>
                <a:tab algn="l" pos="1553760"/>
                <a:tab algn="l" pos="228528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pod/echoserve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r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1/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1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Running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871" name="object 7"/>
          <p:cNvSpPr/>
          <p:nvPr/>
        </p:nvSpPr>
        <p:spPr>
          <a:xfrm>
            <a:off x="3931560" y="1738800"/>
            <a:ext cx="1290240" cy="3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ts val="1429"/>
              </a:lnSpc>
              <a:spcBef>
                <a:spcPts val="99"/>
              </a:spcBef>
              <a:buNone/>
              <a:tabLst>
                <a:tab algn="l" pos="100512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RESTART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S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AGE</a:t>
            </a:r>
            <a:endParaRPr b="0" lang="fr-FR" sz="1200" spc="-1" strike="noStrike">
              <a:latin typeface="Arial"/>
            </a:endParaRPr>
          </a:p>
          <a:p>
            <a:pPr>
              <a:lnSpc>
                <a:spcPts val="1434"/>
              </a:lnSpc>
              <a:buNone/>
              <a:tabLst>
                <a:tab algn="l" pos="100512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0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23s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872" name="object 8"/>
          <p:cNvSpPr/>
          <p:nvPr/>
        </p:nvSpPr>
        <p:spPr>
          <a:xfrm>
            <a:off x="731520" y="2281680"/>
            <a:ext cx="1655280" cy="3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ts val="1429"/>
              </a:lnSpc>
              <a:spcBef>
                <a:spcPts val="99"/>
              </a:spcBef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</a:t>
            </a:r>
            <a:endParaRPr b="0" lang="fr-FR" sz="1200" spc="-1" strike="noStrike">
              <a:latin typeface="Arial"/>
            </a:endParaRPr>
          </a:p>
          <a:p>
            <a:pPr>
              <a:lnSpc>
                <a:spcPts val="1434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service/echoserver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873" name="object 9"/>
          <p:cNvSpPr/>
          <p:nvPr/>
        </p:nvSpPr>
        <p:spPr>
          <a:xfrm>
            <a:off x="2651400" y="2281680"/>
            <a:ext cx="832320" cy="3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ts val="1429"/>
              </a:lnSpc>
              <a:spcBef>
                <a:spcPts val="99"/>
              </a:spcBef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TYPE</a:t>
            </a:r>
            <a:endParaRPr b="0" lang="fr-FR" sz="1200" spc="-1" strike="noStrike">
              <a:latin typeface="Arial"/>
            </a:endParaRPr>
          </a:p>
          <a:p>
            <a:pPr>
              <a:lnSpc>
                <a:spcPts val="1434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ClusterIP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874" name="object 10"/>
          <p:cNvSpPr/>
          <p:nvPr/>
        </p:nvSpPr>
        <p:spPr>
          <a:xfrm>
            <a:off x="3748680" y="2281680"/>
            <a:ext cx="2295360" cy="38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9800" bIns="0" anchor="t">
            <a:spAutoFit/>
          </a:bodyPr>
          <a:p>
            <a:pPr>
              <a:lnSpc>
                <a:spcPts val="1429"/>
              </a:lnSpc>
              <a:spcBef>
                <a:spcPts val="156"/>
              </a:spcBef>
              <a:buNone/>
              <a:tabLst>
                <a:tab algn="l" pos="127944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CLUSTER-I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P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EXTERNAL-IP  10.96.254.0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&lt;none&gt;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875" name="object 11"/>
          <p:cNvSpPr/>
          <p:nvPr/>
        </p:nvSpPr>
        <p:spPr>
          <a:xfrm>
            <a:off x="6308640" y="2281680"/>
            <a:ext cx="1290240" cy="3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ts val="1429"/>
              </a:lnSpc>
              <a:spcBef>
                <a:spcPts val="99"/>
              </a:spcBef>
              <a:buNone/>
              <a:tabLst>
                <a:tab algn="l" pos="100584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PORT(S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)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AGE</a:t>
            </a:r>
            <a:endParaRPr b="0" lang="fr-FR" sz="1200" spc="-1" strike="noStrike">
              <a:latin typeface="Arial"/>
            </a:endParaRPr>
          </a:p>
          <a:p>
            <a:pPr>
              <a:lnSpc>
                <a:spcPts val="1434"/>
              </a:lnSpc>
              <a:buNone/>
              <a:tabLst>
                <a:tab algn="l" pos="1005120"/>
              </a:tabLst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8080/TCP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8s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876" name="object 12"/>
          <p:cNvSpPr/>
          <p:nvPr/>
        </p:nvSpPr>
        <p:spPr>
          <a:xfrm>
            <a:off x="1604160" y="3049200"/>
            <a:ext cx="1551960" cy="17100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41400">
              <a:lnSpc>
                <a:spcPts val="1349"/>
              </a:lnSpc>
              <a:buNone/>
            </a:pP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10.96.254.0:8080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877" name="object 13"/>
          <p:cNvSpPr/>
          <p:nvPr/>
        </p:nvSpPr>
        <p:spPr>
          <a:xfrm>
            <a:off x="731520" y="2824200"/>
            <a:ext cx="5567040" cy="75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2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2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run</a:t>
            </a:r>
            <a:r>
              <a:rPr b="1" lang="fr-FR" sz="12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tmp</a:t>
            </a:r>
            <a:r>
              <a:rPr b="1" lang="fr-FR" sz="12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--image=busybox</a:t>
            </a:r>
            <a:r>
              <a:rPr b="1" lang="fr-FR" sz="12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--restart=Never</a:t>
            </a:r>
            <a:r>
              <a:rPr b="1" lang="fr-FR" sz="12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-it</a:t>
            </a:r>
            <a:r>
              <a:rPr b="1" lang="fr-FR" sz="12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--rm</a:t>
            </a:r>
            <a:r>
              <a:rPr b="1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300" spc="-1" strike="noStrike">
              <a:latin typeface="Arial"/>
            </a:endParaRPr>
          </a:p>
          <a:p>
            <a:pPr marL="182880">
              <a:lnSpc>
                <a:spcPts val="1429"/>
              </a:lnSpc>
              <a:spcBef>
                <a:spcPts val="20"/>
              </a:spcBef>
              <a:buNone/>
            </a:pP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--</a:t>
            </a:r>
            <a:r>
              <a:rPr b="1" lang="fr-FR" sz="12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wget</a:t>
            </a:r>
            <a:endParaRPr b="0" lang="fr-FR" sz="1200" spc="-1" strike="noStrike">
              <a:latin typeface="Arial"/>
            </a:endParaRPr>
          </a:p>
          <a:p>
            <a:pPr marL="182880">
              <a:lnSpc>
                <a:spcPts val="1426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Connecting</a:t>
            </a:r>
            <a:r>
              <a:rPr b="0" lang="fr-FR" sz="12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to</a:t>
            </a:r>
            <a:r>
              <a:rPr b="0" lang="fr-FR" sz="12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10.96.254.0:8080</a:t>
            </a:r>
            <a:r>
              <a:rPr b="0" lang="fr-FR" sz="12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(10.96.254.0:8080)</a:t>
            </a:r>
            <a:endParaRPr b="0" lang="fr-FR" sz="1200" spc="-1" strike="noStrike">
              <a:latin typeface="Arial"/>
            </a:endParaRPr>
          </a:p>
          <a:p>
            <a:pPr marL="182880">
              <a:lnSpc>
                <a:spcPts val="1429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200" spc="-1" strike="noStrike">
              <a:latin typeface="Arial"/>
            </a:endParaRPr>
          </a:p>
        </p:txBody>
      </p:sp>
      <p:grpSp>
        <p:nvGrpSpPr>
          <p:cNvPr id="1878" name="object 14"/>
          <p:cNvGrpSpPr/>
          <p:nvPr/>
        </p:nvGrpSpPr>
        <p:grpSpPr>
          <a:xfrm>
            <a:off x="2381400" y="2472480"/>
            <a:ext cx="4346640" cy="1027080"/>
            <a:chOff x="2381400" y="2472480"/>
            <a:chExt cx="4346640" cy="1027080"/>
          </a:xfrm>
        </p:grpSpPr>
        <p:sp>
          <p:nvSpPr>
            <p:cNvPr id="1879" name="object 15"/>
            <p:cNvSpPr/>
            <p:nvPr/>
          </p:nvSpPr>
          <p:spPr>
            <a:xfrm>
              <a:off x="3668400" y="2482920"/>
              <a:ext cx="1129680" cy="212760"/>
            </a:xfrm>
            <a:custGeom>
              <a:avLst/>
              <a:gdLst/>
              <a:ahLst/>
              <a:rect l="l" t="t" r="r" b="b"/>
              <a:pathLst>
                <a:path w="1132839" h="215900">
                  <a:moveTo>
                    <a:pt x="0" y="0"/>
                  </a:moveTo>
                  <a:lnTo>
                    <a:pt x="1132499" y="0"/>
                  </a:lnTo>
                  <a:lnTo>
                    <a:pt x="1132499" y="215399"/>
                  </a:lnTo>
                  <a:lnTo>
                    <a:pt x="0" y="21539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9049">
              <a:solidFill>
                <a:srgbClr val="ff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80" name="object 16"/>
            <p:cNvSpPr/>
            <p:nvPr/>
          </p:nvSpPr>
          <p:spPr>
            <a:xfrm>
              <a:off x="2381400" y="2698200"/>
              <a:ext cx="1850400" cy="801360"/>
            </a:xfrm>
            <a:custGeom>
              <a:avLst/>
              <a:gdLst/>
              <a:ahLst/>
              <a:rect l="l" t="t" r="r" b="b"/>
              <a:pathLst>
                <a:path w="1853564" h="804545">
                  <a:moveTo>
                    <a:pt x="1853099" y="0"/>
                  </a:moveTo>
                  <a:lnTo>
                    <a:pt x="1853099" y="804372"/>
                  </a:lnTo>
                  <a:lnTo>
                    <a:pt x="0" y="804372"/>
                  </a:lnTo>
                  <a:lnTo>
                    <a:pt x="0" y="680699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81" name="object 17"/>
            <p:cNvSpPr/>
            <p:nvPr/>
          </p:nvSpPr>
          <p:spPr>
            <a:xfrm>
              <a:off x="6253920" y="2472480"/>
              <a:ext cx="474120" cy="212760"/>
            </a:xfrm>
            <a:custGeom>
              <a:avLst/>
              <a:gdLst/>
              <a:ahLst/>
              <a:rect l="l" t="t" r="r" b="b"/>
              <a:pathLst>
                <a:path w="477520" h="215900">
                  <a:moveTo>
                    <a:pt x="0" y="0"/>
                  </a:moveTo>
                  <a:lnTo>
                    <a:pt x="477300" y="0"/>
                  </a:lnTo>
                  <a:lnTo>
                    <a:pt x="477300" y="215399"/>
                  </a:lnTo>
                  <a:lnTo>
                    <a:pt x="0" y="21539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9049">
              <a:solidFill>
                <a:srgbClr val="ff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82" name="object 18"/>
            <p:cNvSpPr/>
            <p:nvPr/>
          </p:nvSpPr>
          <p:spPr>
            <a:xfrm>
              <a:off x="3273120" y="2688120"/>
              <a:ext cx="3216240" cy="466200"/>
            </a:xfrm>
            <a:custGeom>
              <a:avLst/>
              <a:gdLst/>
              <a:ahLst/>
              <a:rect l="l" t="t" r="r" b="b"/>
              <a:pathLst>
                <a:path w="3219450" h="469264">
                  <a:moveTo>
                    <a:pt x="3219299" y="0"/>
                  </a:moveTo>
                  <a:lnTo>
                    <a:pt x="3219299" y="468899"/>
                  </a:lnTo>
                  <a:lnTo>
                    <a:pt x="0" y="468899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883" name="object 19"/>
          <p:cNvGrpSpPr/>
          <p:nvPr/>
        </p:nvGrpSpPr>
        <p:grpSpPr>
          <a:xfrm>
            <a:off x="2340720" y="3115800"/>
            <a:ext cx="938880" cy="269280"/>
            <a:chOff x="2340720" y="3115800"/>
            <a:chExt cx="938880" cy="269280"/>
          </a:xfrm>
        </p:grpSpPr>
        <p:pic>
          <p:nvPicPr>
            <p:cNvPr id="1884" name="object 20" descr=""/>
            <p:cNvPicPr/>
            <p:nvPr/>
          </p:nvPicPr>
          <p:blipFill>
            <a:blip r:embed="rId2"/>
            <a:stretch/>
          </p:blipFill>
          <p:spPr>
            <a:xfrm>
              <a:off x="2340720" y="3282840"/>
              <a:ext cx="78840" cy="10224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885" name="object 21" descr=""/>
            <p:cNvPicPr/>
            <p:nvPr/>
          </p:nvPicPr>
          <p:blipFill>
            <a:blip r:embed="rId3"/>
            <a:stretch/>
          </p:blipFill>
          <p:spPr>
            <a:xfrm>
              <a:off x="3177360" y="3115800"/>
              <a:ext cx="102240" cy="788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886" name="PlaceHolder 2"/>
          <p:cNvSpPr>
            <a:spLocks noGrp="1"/>
          </p:cNvSpPr>
          <p:nvPr>
            <p:ph type="sldNum" idx="37"/>
          </p:nvPr>
        </p:nvSpPr>
        <p:spPr>
          <a:xfrm>
            <a:off x="8701560" y="4908600"/>
            <a:ext cx="261720" cy="299808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D9D2765E-9BE8-4D9A-81B2-7FE929B5375E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7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864280" cy="1276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Discovering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the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Service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66" strike="noStrike">
                <a:solidFill>
                  <a:srgbClr val="000000"/>
                </a:solidFill>
                <a:latin typeface="Tahoma"/>
              </a:rPr>
              <a:t>by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5" strike="noStrike">
                <a:solidFill>
                  <a:srgbClr val="000000"/>
                </a:solidFill>
                <a:latin typeface="Tahoma"/>
              </a:rPr>
              <a:t>Environment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9" strike="noStrike">
                <a:solidFill>
                  <a:srgbClr val="000000"/>
                </a:solidFill>
                <a:latin typeface="Tahoma"/>
              </a:rPr>
              <a:t>Variables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Application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6" strike="noStrike">
                <a:solidFill>
                  <a:srgbClr val="666666"/>
                </a:solidFill>
                <a:latin typeface="Lucida Sans Unicode"/>
              </a:rPr>
              <a:t>code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running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container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00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get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0" strike="noStrike">
                <a:solidFill>
                  <a:srgbClr val="666666"/>
                </a:solidFill>
                <a:latin typeface="Lucida Sans Unicode"/>
              </a:rPr>
              <a:t>access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Service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endpoint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888" name="object 4"/>
          <p:cNvSpPr/>
          <p:nvPr/>
        </p:nvSpPr>
        <p:spPr>
          <a:xfrm>
            <a:off x="509040" y="1408680"/>
            <a:ext cx="3742560" cy="893880"/>
          </a:xfrm>
          <a:prstGeom prst="rect">
            <a:avLst/>
          </a:prstGeom>
          <a:solidFill>
            <a:srgbClr val="f6f6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720" bIns="0" anchor="t">
            <a:spAutoFit/>
          </a:bodyPr>
          <a:p>
            <a:pPr>
              <a:lnSpc>
                <a:spcPct val="100000"/>
              </a:lnSpc>
              <a:spcBef>
                <a:spcPts val="6"/>
              </a:spcBef>
              <a:buNone/>
            </a:pPr>
            <a:endParaRPr b="0" lang="fr-FR" sz="1150" spc="-1" strike="noStrike">
              <a:latin typeface="Arial"/>
            </a:endParaRPr>
          </a:p>
          <a:p>
            <a:pPr marL="222120">
              <a:lnSpc>
                <a:spcPts val="1429"/>
              </a:lnSpc>
              <a:buNone/>
            </a:pPr>
            <a:r>
              <a:rPr b="1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$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 exec -it echoserver -- env </a:t>
            </a:r>
            <a:r>
              <a:rPr b="1" lang="fr-FR" sz="1200" spc="-710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ECHOSERVER_SERVICE_HOST=10.96.254.0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ECHOSERVER_SERVICE_PORT=8080</a:t>
            </a:r>
            <a:endParaRPr b="0" lang="fr-FR" sz="1200" spc="-1" strike="noStrike">
              <a:latin typeface="Arial"/>
            </a:endParaRPr>
          </a:p>
          <a:p>
            <a:pPr marL="222120">
              <a:lnSpc>
                <a:spcPts val="1369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889" name="PlaceHolder 2"/>
          <p:cNvSpPr>
            <a:spLocks noGrp="1"/>
          </p:cNvSpPr>
          <p:nvPr>
            <p:ph type="sldNum" idx="38"/>
          </p:nvPr>
        </p:nvSpPr>
        <p:spPr>
          <a:xfrm>
            <a:off x="8701560" y="4908600"/>
            <a:ext cx="261720" cy="299808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2DFDD566-328B-4DC8-BCE2-5C809961C144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0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424280" cy="1276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Discovering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the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Service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66" strike="noStrike">
                <a:solidFill>
                  <a:srgbClr val="000000"/>
                </a:solidFill>
                <a:latin typeface="Tahoma"/>
              </a:rPr>
              <a:t>by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86" strike="noStrike">
                <a:solidFill>
                  <a:srgbClr val="000000"/>
                </a:solidFill>
                <a:latin typeface="Tahoma"/>
              </a:rPr>
              <a:t>DNS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Lookup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Kubernetes’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DNS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service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6" strike="noStrike">
                <a:solidFill>
                  <a:srgbClr val="666666"/>
                </a:solidFill>
                <a:latin typeface="Lucida Sans Unicode"/>
              </a:rPr>
              <a:t>maps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cluster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IP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5" strike="noStrike">
                <a:solidFill>
                  <a:srgbClr val="666666"/>
                </a:solidFill>
                <a:latin typeface="Lucida Sans Unicode"/>
              </a:rPr>
              <a:t>address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Service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4" strike="noStrike">
                <a:solidFill>
                  <a:srgbClr val="666666"/>
                </a:solidFill>
                <a:latin typeface="Lucida Sans Unicode"/>
              </a:rPr>
              <a:t>name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891" name="object 3"/>
          <p:cNvGrpSpPr/>
          <p:nvPr/>
        </p:nvGrpSpPr>
        <p:grpSpPr>
          <a:xfrm>
            <a:off x="455400" y="1360440"/>
            <a:ext cx="7346160" cy="1333440"/>
            <a:chOff x="455400" y="1360440"/>
            <a:chExt cx="7346160" cy="1333440"/>
          </a:xfrm>
        </p:grpSpPr>
        <p:pic>
          <p:nvPicPr>
            <p:cNvPr id="1892" name="object 4" descr=""/>
            <p:cNvPicPr/>
            <p:nvPr/>
          </p:nvPicPr>
          <p:blipFill>
            <a:blip r:embed="rId1"/>
            <a:stretch/>
          </p:blipFill>
          <p:spPr>
            <a:xfrm>
              <a:off x="455400" y="1360440"/>
              <a:ext cx="7346160" cy="13334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893" name="object 5"/>
            <p:cNvSpPr/>
            <p:nvPr/>
          </p:nvSpPr>
          <p:spPr>
            <a:xfrm>
              <a:off x="509040" y="1408680"/>
              <a:ext cx="7232040" cy="1219680"/>
            </a:xfrm>
            <a:custGeom>
              <a:avLst/>
              <a:gdLst/>
              <a:ahLst/>
              <a:rect l="l" t="t" r="r" b="b"/>
              <a:pathLst>
                <a:path w="7235190" h="1223010">
                  <a:moveTo>
                    <a:pt x="7235099" y="1222499"/>
                  </a:moveTo>
                  <a:lnTo>
                    <a:pt x="0" y="1222499"/>
                  </a:lnTo>
                  <a:lnTo>
                    <a:pt x="0" y="0"/>
                  </a:lnTo>
                  <a:lnTo>
                    <a:pt x="7235099" y="0"/>
                  </a:lnTo>
                  <a:lnTo>
                    <a:pt x="7235099" y="12224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894" name="object 6"/>
          <p:cNvSpPr/>
          <p:nvPr/>
        </p:nvSpPr>
        <p:spPr>
          <a:xfrm>
            <a:off x="718920" y="1557360"/>
            <a:ext cx="557964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2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2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run</a:t>
            </a:r>
            <a:r>
              <a:rPr b="1" lang="fr-FR" sz="12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tmp</a:t>
            </a:r>
            <a:r>
              <a:rPr b="1" lang="fr-FR" sz="12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--image=busybox</a:t>
            </a:r>
            <a:r>
              <a:rPr b="1" lang="fr-FR" sz="12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--restart=Never</a:t>
            </a:r>
            <a:r>
              <a:rPr b="1" lang="fr-FR" sz="12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-it</a:t>
            </a:r>
            <a:r>
              <a:rPr b="1" lang="fr-FR" sz="12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--rm</a:t>
            </a:r>
            <a:r>
              <a:rPr b="1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300" spc="-1" strike="noStrike">
              <a:latin typeface="Arial"/>
            </a:endParaRPr>
          </a:p>
          <a:p>
            <a:pPr marL="195480">
              <a:lnSpc>
                <a:spcPct val="100000"/>
              </a:lnSpc>
              <a:spcBef>
                <a:spcPts val="20"/>
              </a:spcBef>
              <a:buNone/>
            </a:pP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--</a:t>
            </a:r>
            <a:r>
              <a:rPr b="1" lang="fr-FR" sz="12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wget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895" name="object 7"/>
          <p:cNvSpPr/>
          <p:nvPr/>
        </p:nvSpPr>
        <p:spPr>
          <a:xfrm>
            <a:off x="1604160" y="1771200"/>
            <a:ext cx="3842280" cy="18180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41400">
              <a:lnSpc>
                <a:spcPts val="1434"/>
              </a:lnSpc>
              <a:buNone/>
            </a:pP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echoserver.default.svc.cluster.local:8080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896" name="object 8"/>
          <p:cNvSpPr/>
          <p:nvPr/>
        </p:nvSpPr>
        <p:spPr>
          <a:xfrm>
            <a:off x="718920" y="1938960"/>
            <a:ext cx="6788160" cy="37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434"/>
              </a:lnSpc>
              <a:spcBef>
                <a:spcPts val="99"/>
              </a:spcBef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Connecting</a:t>
            </a:r>
            <a:r>
              <a:rPr b="0" lang="fr-FR" sz="12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to</a:t>
            </a:r>
            <a:r>
              <a:rPr b="0" lang="fr-FR" sz="12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echoserver.default.svc.cluster.local:8080</a:t>
            </a:r>
            <a:r>
              <a:rPr b="0" lang="fr-FR" sz="12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(10.96.254.0:8080)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34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200" spc="-1" strike="noStrike">
              <a:latin typeface="Arial"/>
            </a:endParaRPr>
          </a:p>
        </p:txBody>
      </p:sp>
      <p:grpSp>
        <p:nvGrpSpPr>
          <p:cNvPr id="1897" name="object 9"/>
          <p:cNvGrpSpPr/>
          <p:nvPr/>
        </p:nvGrpSpPr>
        <p:grpSpPr>
          <a:xfrm>
            <a:off x="2095560" y="2237040"/>
            <a:ext cx="2048760" cy="1216800"/>
            <a:chOff x="2095560" y="2237040"/>
            <a:chExt cx="2048760" cy="1216800"/>
          </a:xfrm>
        </p:grpSpPr>
        <p:sp>
          <p:nvSpPr>
            <p:cNvPr id="1898" name="object 10"/>
            <p:cNvSpPr/>
            <p:nvPr/>
          </p:nvSpPr>
          <p:spPr>
            <a:xfrm>
              <a:off x="2136600" y="2333160"/>
              <a:ext cx="360" cy="613440"/>
            </a:xfrm>
            <a:custGeom>
              <a:avLst/>
              <a:gdLst/>
              <a:ahLst/>
              <a:rect l="l" t="t" r="r" b="b"/>
              <a:pathLst>
                <a:path w="0" h="616585">
                  <a:moveTo>
                    <a:pt x="0" y="616199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899" name="object 11" descr=""/>
            <p:cNvPicPr/>
            <p:nvPr/>
          </p:nvPicPr>
          <p:blipFill>
            <a:blip r:embed="rId2"/>
            <a:stretch/>
          </p:blipFill>
          <p:spPr>
            <a:xfrm>
              <a:off x="2095560" y="2237040"/>
              <a:ext cx="78840" cy="1022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900" name="object 12"/>
            <p:cNvSpPr/>
            <p:nvPr/>
          </p:nvSpPr>
          <p:spPr>
            <a:xfrm>
              <a:off x="3046680" y="2333160"/>
              <a:ext cx="360" cy="1120680"/>
            </a:xfrm>
            <a:custGeom>
              <a:avLst/>
              <a:gdLst/>
              <a:ahLst/>
              <a:rect l="l" t="t" r="r" b="b"/>
              <a:pathLst>
                <a:path w="0" h="1123950">
                  <a:moveTo>
                    <a:pt x="0" y="1123799"/>
                  </a:move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901" name="object 13" descr=""/>
            <p:cNvPicPr/>
            <p:nvPr/>
          </p:nvPicPr>
          <p:blipFill>
            <a:blip r:embed="rId3"/>
            <a:stretch/>
          </p:blipFill>
          <p:spPr>
            <a:xfrm>
              <a:off x="3005640" y="2237040"/>
              <a:ext cx="78840" cy="1022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902" name="object 14"/>
            <p:cNvSpPr/>
            <p:nvPr/>
          </p:nvSpPr>
          <p:spPr>
            <a:xfrm>
              <a:off x="3505680" y="2333160"/>
              <a:ext cx="638640" cy="979200"/>
            </a:xfrm>
            <a:custGeom>
              <a:avLst/>
              <a:gdLst/>
              <a:ahLst/>
              <a:rect l="l" t="t" r="r" b="b"/>
              <a:pathLst>
                <a:path w="641985" h="982345">
                  <a:moveTo>
                    <a:pt x="641699" y="981899"/>
                  </a:moveTo>
                  <a:lnTo>
                    <a:pt x="0" y="981899"/>
                  </a:ln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903" name="object 15" descr=""/>
            <p:cNvPicPr/>
            <p:nvPr/>
          </p:nvPicPr>
          <p:blipFill>
            <a:blip r:embed="rId4"/>
            <a:stretch/>
          </p:blipFill>
          <p:spPr>
            <a:xfrm>
              <a:off x="3464640" y="2237400"/>
              <a:ext cx="78840" cy="1022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904" name="object 16"/>
          <p:cNvSpPr/>
          <p:nvPr/>
        </p:nvSpPr>
        <p:spPr>
          <a:xfrm>
            <a:off x="1580760" y="2988000"/>
            <a:ext cx="12978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Service</a:t>
            </a:r>
            <a:r>
              <a:rPr b="0" lang="fr-FR" sz="1400" spc="-80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name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905" name="object 17"/>
          <p:cNvSpPr/>
          <p:nvPr/>
        </p:nvSpPr>
        <p:spPr>
          <a:xfrm>
            <a:off x="2559600" y="3066120"/>
            <a:ext cx="3018960" cy="66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5640" bIns="0" anchor="t">
            <a:spAutoFit/>
          </a:bodyPr>
          <a:p>
            <a:pPr marL="1743120">
              <a:lnSpc>
                <a:spcPct val="100000"/>
              </a:lnSpc>
              <a:spcBef>
                <a:spcPts val="98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Resource</a:t>
            </a:r>
            <a:r>
              <a:rPr b="0" lang="fr-FR" sz="1400" spc="-7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type</a:t>
            </a:r>
            <a:endParaRPr b="0" lang="fr-FR" sz="1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890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Namespace</a:t>
            </a:r>
            <a:endParaRPr b="0" lang="fr-FR" sz="1400" spc="-1" strike="noStrike">
              <a:latin typeface="Arial"/>
            </a:endParaRPr>
          </a:p>
        </p:txBody>
      </p:sp>
      <p:grpSp>
        <p:nvGrpSpPr>
          <p:cNvPr id="1906" name="object 18"/>
          <p:cNvGrpSpPr/>
          <p:nvPr/>
        </p:nvGrpSpPr>
        <p:grpSpPr>
          <a:xfrm>
            <a:off x="4331160" y="2237400"/>
            <a:ext cx="872280" cy="711720"/>
            <a:chOff x="4331160" y="2237400"/>
            <a:chExt cx="872280" cy="711720"/>
          </a:xfrm>
        </p:grpSpPr>
        <p:sp>
          <p:nvSpPr>
            <p:cNvPr id="1907" name="object 19"/>
            <p:cNvSpPr/>
            <p:nvPr/>
          </p:nvSpPr>
          <p:spPr>
            <a:xfrm>
              <a:off x="4372200" y="2333160"/>
              <a:ext cx="831240" cy="615960"/>
            </a:xfrm>
            <a:custGeom>
              <a:avLst/>
              <a:gdLst/>
              <a:ahLst/>
              <a:rect l="l" t="t" r="r" b="b"/>
              <a:pathLst>
                <a:path w="834389" h="619125">
                  <a:moveTo>
                    <a:pt x="834073" y="618602"/>
                  </a:moveTo>
                  <a:lnTo>
                    <a:pt x="0" y="618602"/>
                  </a:lnTo>
                  <a:lnTo>
                    <a:pt x="0" y="0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908" name="object 20" descr=""/>
            <p:cNvPicPr/>
            <p:nvPr/>
          </p:nvPicPr>
          <p:blipFill>
            <a:blip r:embed="rId5"/>
            <a:stretch/>
          </p:blipFill>
          <p:spPr>
            <a:xfrm>
              <a:off x="4331160" y="2237400"/>
              <a:ext cx="78840" cy="1026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909" name="object 21"/>
          <p:cNvSpPr/>
          <p:nvPr/>
        </p:nvSpPr>
        <p:spPr>
          <a:xfrm>
            <a:off x="5292360" y="2815920"/>
            <a:ext cx="190620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400" spc="-7" strike="noStrike">
                <a:solidFill>
                  <a:srgbClr val="000000"/>
                </a:solidFill>
                <a:latin typeface="Arial MT"/>
                <a:ea typeface="DejaVu Sans"/>
              </a:rPr>
              <a:t>Cluster-specific</a:t>
            </a:r>
            <a:r>
              <a:rPr b="0" lang="fr-FR" sz="1400" spc="-60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400" spc="-12" strike="noStrike">
                <a:solidFill>
                  <a:srgbClr val="000000"/>
                </a:solidFill>
                <a:latin typeface="Arial MT"/>
                <a:ea typeface="DejaVu Sans"/>
              </a:rPr>
              <a:t>suffix</a:t>
            </a:r>
            <a:endParaRPr b="0" lang="fr-FR" sz="1400" spc="-1" strike="noStrike">
              <a:latin typeface="Arial"/>
            </a:endParaRPr>
          </a:p>
        </p:txBody>
      </p:sp>
      <p:sp>
        <p:nvSpPr>
          <p:cNvPr id="1910" name="PlaceHolder 2"/>
          <p:cNvSpPr>
            <a:spLocks noGrp="1"/>
          </p:cNvSpPr>
          <p:nvPr>
            <p:ph type="sldNum" idx="39"/>
          </p:nvPr>
        </p:nvSpPr>
        <p:spPr>
          <a:xfrm>
            <a:off x="8701560" y="4908600"/>
            <a:ext cx="261720" cy="299808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CEFE27D8-97C3-47CA-8D28-D1BC73D98CED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1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16428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NodePort</a:t>
            </a:r>
            <a:r>
              <a:rPr b="1" lang="fr-FR" sz="2400" spc="-15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Service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9" strike="noStrike">
                <a:solidFill>
                  <a:srgbClr val="000000"/>
                </a:solidFill>
                <a:latin typeface="Tahoma"/>
              </a:rPr>
              <a:t>Type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89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0" strike="noStrike">
                <a:solidFill>
                  <a:srgbClr val="666666"/>
                </a:solidFill>
                <a:latin typeface="Lucida Sans Unicode"/>
              </a:rPr>
              <a:t>be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resolved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from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outside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Kubernetes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cluster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1912" name="object 3" descr=""/>
          <p:cNvPicPr/>
          <p:nvPr/>
        </p:nvPicPr>
        <p:blipFill>
          <a:blip r:embed="rId1"/>
          <a:stretch/>
        </p:blipFill>
        <p:spPr>
          <a:xfrm>
            <a:off x="2833920" y="1523880"/>
            <a:ext cx="3386160" cy="2903400"/>
          </a:xfrm>
          <a:prstGeom prst="rect">
            <a:avLst/>
          </a:prstGeom>
          <a:ln w="0">
            <a:noFill/>
          </a:ln>
        </p:spPr>
      </p:pic>
      <p:sp>
        <p:nvSpPr>
          <p:cNvPr id="1913" name="PlaceHolder 2"/>
          <p:cNvSpPr>
            <a:spLocks noGrp="1"/>
          </p:cNvSpPr>
          <p:nvPr>
            <p:ph type="sldNum" idx="40"/>
          </p:nvPr>
        </p:nvSpPr>
        <p:spPr>
          <a:xfrm>
            <a:off x="8701560" y="4908600"/>
            <a:ext cx="261720" cy="299808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3C700A8B-2F8C-425D-AE19-6BF85CFC4641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4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14428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NodePort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Service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YAML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Manifest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35" strike="noStrike">
                <a:solidFill>
                  <a:srgbClr val="000000"/>
                </a:solidFill>
                <a:latin typeface="Tahoma"/>
              </a:rPr>
              <a:t>at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Runtime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Service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type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is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Courier New"/>
              </a:rPr>
              <a:t>NodePort</a:t>
            </a:r>
            <a:r>
              <a:rPr b="0" lang="fr-FR" sz="1600" spc="-21" strike="noStrike">
                <a:solidFill>
                  <a:srgbClr val="666666"/>
                </a:solidFill>
                <a:latin typeface="Arial MT"/>
              </a:rPr>
              <a:t>,</a:t>
            </a:r>
            <a:r>
              <a:rPr b="0" lang="fr-FR" sz="1600" spc="-12" strike="noStrike">
                <a:solidFill>
                  <a:srgbClr val="666666"/>
                </a:solidFill>
                <a:latin typeface="Arial MT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Arial MT"/>
              </a:rPr>
              <a:t>node port</a:t>
            </a:r>
            <a:r>
              <a:rPr b="0" lang="fr-FR" sz="1600" spc="-12" strike="noStrike">
                <a:solidFill>
                  <a:srgbClr val="666666"/>
                </a:solidFill>
                <a:latin typeface="Arial MT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Arial MT"/>
              </a:rPr>
              <a:t>has</a:t>
            </a:r>
            <a:r>
              <a:rPr b="0" lang="fr-FR" sz="1600" spc="-12" strike="noStrike">
                <a:solidFill>
                  <a:srgbClr val="666666"/>
                </a:solidFill>
                <a:latin typeface="Arial MT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Arial MT"/>
              </a:rPr>
              <a:t>been assigned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915" name="PlaceHolder 2"/>
          <p:cNvSpPr>
            <a:spLocks noGrp="1"/>
          </p:cNvSpPr>
          <p:nvPr>
            <p:ph type="sldNum" idx="41"/>
          </p:nvPr>
        </p:nvSpPr>
        <p:spPr>
          <a:xfrm>
            <a:off x="8701560" y="4908600"/>
            <a:ext cx="261720" cy="299808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55508247-2322-42EE-A29E-CC8FC93B2AD8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pic>
        <p:nvPicPr>
          <p:cNvPr id="1916" name="" descr=""/>
          <p:cNvPicPr/>
          <p:nvPr/>
        </p:nvPicPr>
        <p:blipFill>
          <a:blip r:embed="rId1"/>
          <a:stretch/>
        </p:blipFill>
        <p:spPr>
          <a:xfrm>
            <a:off x="468000" y="1232640"/>
            <a:ext cx="3123720" cy="3445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7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52428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35" strike="noStrike">
                <a:solidFill>
                  <a:srgbClr val="000000"/>
                </a:solidFill>
                <a:latin typeface="Tahoma"/>
              </a:rPr>
              <a:t>Accessing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NodePort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Service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Use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combination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5" strike="noStrike">
                <a:solidFill>
                  <a:srgbClr val="666666"/>
                </a:solidFill>
                <a:latin typeface="Lucida Sans Unicode"/>
              </a:rPr>
              <a:t>node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IP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statically-assigned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port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918" name="object 3"/>
          <p:cNvGrpSpPr/>
          <p:nvPr/>
        </p:nvGrpSpPr>
        <p:grpSpPr>
          <a:xfrm>
            <a:off x="455400" y="1360440"/>
            <a:ext cx="7257240" cy="2863800"/>
            <a:chOff x="455400" y="1360440"/>
            <a:chExt cx="7257240" cy="2863800"/>
          </a:xfrm>
        </p:grpSpPr>
        <p:pic>
          <p:nvPicPr>
            <p:cNvPr id="1919" name="object 4" descr=""/>
            <p:cNvPicPr/>
            <p:nvPr/>
          </p:nvPicPr>
          <p:blipFill>
            <a:blip r:embed="rId1"/>
            <a:stretch/>
          </p:blipFill>
          <p:spPr>
            <a:xfrm>
              <a:off x="455400" y="1360440"/>
              <a:ext cx="7257240" cy="28638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920" name="object 5"/>
            <p:cNvSpPr/>
            <p:nvPr/>
          </p:nvSpPr>
          <p:spPr>
            <a:xfrm>
              <a:off x="509040" y="1408680"/>
              <a:ext cx="7143840" cy="2750040"/>
            </a:xfrm>
            <a:custGeom>
              <a:avLst/>
              <a:gdLst/>
              <a:ahLst/>
              <a:rect l="l" t="t" r="r" b="b"/>
              <a:pathLst>
                <a:path w="7146925" h="2753360">
                  <a:moveTo>
                    <a:pt x="7146299" y="2752799"/>
                  </a:moveTo>
                  <a:lnTo>
                    <a:pt x="0" y="2752799"/>
                  </a:lnTo>
                  <a:lnTo>
                    <a:pt x="0" y="0"/>
                  </a:lnTo>
                  <a:lnTo>
                    <a:pt x="7146299" y="0"/>
                  </a:lnTo>
                  <a:lnTo>
                    <a:pt x="7146299" y="27527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921" name="object 6"/>
          <p:cNvSpPr/>
          <p:nvPr/>
        </p:nvSpPr>
        <p:spPr>
          <a:xfrm>
            <a:off x="731520" y="1558440"/>
            <a:ext cx="411660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1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1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get</a:t>
            </a:r>
            <a:r>
              <a:rPr b="1" lang="fr-FR" sz="11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pod,service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31"/>
              </a:spcBef>
              <a:buNone/>
              <a:tabLst>
                <a:tab algn="l" pos="1424160"/>
                <a:tab algn="l" pos="2094840"/>
                <a:tab algn="l" pos="2932920"/>
                <a:tab algn="l" pos="3855240"/>
              </a:tabLst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NAM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E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READ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Y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STATU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S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RESTART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S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AGE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31"/>
              </a:spcBef>
              <a:buNone/>
              <a:tabLst>
                <a:tab algn="l" pos="1424160"/>
                <a:tab algn="l" pos="2094840"/>
                <a:tab algn="l" pos="2932920"/>
                <a:tab algn="l" pos="3855240"/>
              </a:tabLst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pod/echoserve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r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1/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1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Runnin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g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0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23s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922" name="object 7"/>
          <p:cNvSpPr/>
          <p:nvPr/>
        </p:nvSpPr>
        <p:spPr>
          <a:xfrm>
            <a:off x="731520" y="2244240"/>
            <a:ext cx="1518120" cy="3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9000" bIns="0" anchor="t">
            <a:spAutoFit/>
          </a:bodyPr>
          <a:p>
            <a:pPr>
              <a:lnSpc>
                <a:spcPct val="102000"/>
              </a:lnSpc>
              <a:spcBef>
                <a:spcPts val="71"/>
              </a:spcBef>
              <a:buNone/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  AGE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31"/>
              </a:spcBef>
              <a:buNone/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service/echoserver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923" name="object 8"/>
          <p:cNvSpPr/>
          <p:nvPr/>
        </p:nvSpPr>
        <p:spPr>
          <a:xfrm>
            <a:off x="2491560" y="2244240"/>
            <a:ext cx="4871160" cy="53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  <a:tabLst>
                <a:tab algn="l" pos="921960"/>
                <a:tab algn="l" pos="2094840"/>
                <a:tab algn="l" pos="3268440"/>
              </a:tabLst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TYPE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CLUSTER-IP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EXTERNAL-IP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PORT(S)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20"/>
              </a:spcBef>
              <a:buNone/>
              <a:tabLst>
                <a:tab algn="l" pos="921960"/>
                <a:tab algn="l" pos="2094840"/>
                <a:tab algn="l" pos="3268440"/>
              </a:tabLst>
            </a:pPr>
            <a:endParaRPr b="0" lang="fr-FR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921240"/>
                <a:tab algn="l" pos="2094840"/>
                <a:tab algn="l" pos="3268440"/>
                <a:tab algn="l" pos="4693320"/>
              </a:tabLst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NodePor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t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10.96.254.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0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&lt;none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&gt;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8080:30158/TC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P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8s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924" name="object 9"/>
          <p:cNvSpPr/>
          <p:nvPr/>
        </p:nvSpPr>
        <p:spPr>
          <a:xfrm>
            <a:off x="731520" y="2929320"/>
            <a:ext cx="6463080" cy="12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ts val="1434"/>
              </a:lnSpc>
              <a:spcBef>
                <a:spcPts val="99"/>
              </a:spcBef>
              <a:buNone/>
            </a:pPr>
            <a:r>
              <a:rPr b="1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1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1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get</a:t>
            </a:r>
            <a:r>
              <a:rPr b="1" lang="fr-FR" sz="11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nodes</a:t>
            </a:r>
            <a:r>
              <a:rPr b="1" lang="fr-FR" sz="11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-o</a:t>
            </a:r>
            <a:r>
              <a:rPr b="1" lang="fr-FR" sz="1100" spc="-2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200" spc="-1" strike="noStrike">
              <a:latin typeface="Arial"/>
            </a:endParaRPr>
          </a:p>
          <a:p>
            <a:pPr marL="167760">
              <a:lnSpc>
                <a:spcPts val="1315"/>
              </a:lnSpc>
              <a:buNone/>
            </a:pP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jsonpath='{</a:t>
            </a:r>
            <a:r>
              <a:rPr b="1" lang="fr-FR" sz="11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$.items[*].status.addresses[?(@.type=="InternalIP")].address</a:t>
            </a:r>
            <a:r>
              <a:rPr b="1" lang="fr-FR" sz="11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}'</a:t>
            </a:r>
            <a:endParaRPr b="0" lang="fr-FR" sz="1100" spc="-1" strike="noStrike">
              <a:latin typeface="Arial"/>
            </a:endParaRPr>
          </a:p>
          <a:p>
            <a:pPr marL="167760">
              <a:lnSpc>
                <a:spcPct val="100000"/>
              </a:lnSpc>
              <a:spcBef>
                <a:spcPts val="31"/>
              </a:spcBef>
              <a:buNone/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192.168.64.15</a:t>
            </a:r>
            <a:endParaRPr b="0" lang="fr-FR" sz="1100" spc="-1" strike="noStrike">
              <a:latin typeface="Arial"/>
            </a:endParaRPr>
          </a:p>
          <a:p>
            <a:pPr marL="167760">
              <a:lnSpc>
                <a:spcPct val="100000"/>
              </a:lnSpc>
              <a:spcBef>
                <a:spcPts val="20"/>
              </a:spcBef>
              <a:buNone/>
            </a:pPr>
            <a:endParaRPr b="0" lang="fr-FR" sz="1200" spc="-1" strike="noStrike">
              <a:latin typeface="Arial"/>
            </a:endParaRPr>
          </a:p>
          <a:p>
            <a:pPr marL="167760">
              <a:lnSpc>
                <a:spcPct val="100000"/>
              </a:lnSpc>
              <a:buNone/>
            </a:pPr>
            <a:r>
              <a:rPr b="1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1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wget</a:t>
            </a:r>
            <a:r>
              <a:rPr b="1" lang="fr-FR" sz="11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192.168.64.15:30158</a:t>
            </a:r>
            <a:endParaRPr b="0" lang="fr-FR" sz="1100" spc="-1" strike="noStrike">
              <a:latin typeface="Arial"/>
            </a:endParaRPr>
          </a:p>
          <a:p>
            <a:pPr marL="167760">
              <a:lnSpc>
                <a:spcPct val="100000"/>
              </a:lnSpc>
              <a:spcBef>
                <a:spcPts val="31"/>
              </a:spcBef>
              <a:buNone/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Connecting</a:t>
            </a:r>
            <a:r>
              <a:rPr b="0" lang="fr-FR" sz="11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to</a:t>
            </a:r>
            <a:r>
              <a:rPr b="0" lang="fr-FR" sz="11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192.168.64.15:30158...</a:t>
            </a:r>
            <a:r>
              <a:rPr b="0" lang="fr-FR" sz="11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connected.</a:t>
            </a:r>
            <a:endParaRPr b="0" lang="fr-FR" sz="1100" spc="-1" strike="noStrike">
              <a:latin typeface="Arial"/>
            </a:endParaRPr>
          </a:p>
          <a:p>
            <a:pPr marL="167760">
              <a:lnSpc>
                <a:spcPct val="100000"/>
              </a:lnSpc>
              <a:spcBef>
                <a:spcPts val="31"/>
              </a:spcBef>
              <a:buNone/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100" spc="-1" strike="noStrike">
              <a:latin typeface="Arial"/>
            </a:endParaRPr>
          </a:p>
        </p:txBody>
      </p:sp>
      <p:grpSp>
        <p:nvGrpSpPr>
          <p:cNvPr id="1925" name="object 10"/>
          <p:cNvGrpSpPr/>
          <p:nvPr/>
        </p:nvGrpSpPr>
        <p:grpSpPr>
          <a:xfrm>
            <a:off x="732960" y="2608920"/>
            <a:ext cx="5932080" cy="1235520"/>
            <a:chOff x="732960" y="2608920"/>
            <a:chExt cx="5932080" cy="1235520"/>
          </a:xfrm>
        </p:grpSpPr>
        <p:sp>
          <p:nvSpPr>
            <p:cNvPr id="1926" name="object 11"/>
            <p:cNvSpPr/>
            <p:nvPr/>
          </p:nvSpPr>
          <p:spPr>
            <a:xfrm>
              <a:off x="732960" y="2608920"/>
              <a:ext cx="5932080" cy="1235520"/>
            </a:xfrm>
            <a:custGeom>
              <a:avLst/>
              <a:gdLst/>
              <a:ahLst/>
              <a:rect l="l" t="t" r="r" b="b"/>
              <a:pathLst>
                <a:path w="5935345" h="1238885">
                  <a:moveTo>
                    <a:pt x="5466851" y="0"/>
                  </a:moveTo>
                  <a:lnTo>
                    <a:pt x="5935152" y="0"/>
                  </a:lnTo>
                  <a:lnTo>
                    <a:pt x="5935152" y="215399"/>
                  </a:lnTo>
                  <a:lnTo>
                    <a:pt x="5466851" y="215399"/>
                  </a:lnTo>
                  <a:lnTo>
                    <a:pt x="5466851" y="0"/>
                  </a:lnTo>
                  <a:close/>
                </a:path>
                <a:path w="5935345" h="1238885">
                  <a:moveTo>
                    <a:pt x="0" y="699976"/>
                  </a:moveTo>
                  <a:lnTo>
                    <a:pt x="1168499" y="699976"/>
                  </a:lnTo>
                  <a:lnTo>
                    <a:pt x="1168499" y="915376"/>
                  </a:lnTo>
                  <a:lnTo>
                    <a:pt x="0" y="915376"/>
                  </a:lnTo>
                  <a:lnTo>
                    <a:pt x="0" y="699976"/>
                  </a:lnTo>
                  <a:close/>
                </a:path>
                <a:path w="5935345" h="1238885">
                  <a:moveTo>
                    <a:pt x="583273" y="1022926"/>
                  </a:moveTo>
                  <a:lnTo>
                    <a:pt x="2263573" y="1022926"/>
                  </a:lnTo>
                  <a:lnTo>
                    <a:pt x="2263573" y="1238326"/>
                  </a:lnTo>
                  <a:lnTo>
                    <a:pt x="583273" y="1238326"/>
                  </a:lnTo>
                  <a:lnTo>
                    <a:pt x="583273" y="1022926"/>
                  </a:lnTo>
                  <a:close/>
                </a:path>
              </a:pathLst>
            </a:custGeom>
            <a:noFill/>
            <a:ln w="19049">
              <a:solidFill>
                <a:srgbClr val="ff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27" name="object 12"/>
            <p:cNvSpPr/>
            <p:nvPr/>
          </p:nvSpPr>
          <p:spPr>
            <a:xfrm>
              <a:off x="3110760" y="2824560"/>
              <a:ext cx="3320280" cy="912600"/>
            </a:xfrm>
            <a:custGeom>
              <a:avLst/>
              <a:gdLst/>
              <a:ahLst/>
              <a:rect l="l" t="t" r="r" b="b"/>
              <a:pathLst>
                <a:path w="3323590" h="915670">
                  <a:moveTo>
                    <a:pt x="3323099" y="0"/>
                  </a:moveTo>
                  <a:lnTo>
                    <a:pt x="3323099" y="915299"/>
                  </a:lnTo>
                  <a:lnTo>
                    <a:pt x="0" y="915299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928" name="object 13" descr=""/>
            <p:cNvPicPr/>
            <p:nvPr/>
          </p:nvPicPr>
          <p:blipFill>
            <a:blip r:embed="rId2"/>
            <a:stretch/>
          </p:blipFill>
          <p:spPr>
            <a:xfrm>
              <a:off x="3015000" y="3698640"/>
              <a:ext cx="102240" cy="788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929" name="object 14"/>
            <p:cNvSpPr/>
            <p:nvPr/>
          </p:nvSpPr>
          <p:spPr>
            <a:xfrm>
              <a:off x="1901520" y="3416760"/>
              <a:ext cx="252000" cy="98280"/>
            </a:xfrm>
            <a:custGeom>
              <a:avLst/>
              <a:gdLst/>
              <a:ahLst/>
              <a:rect l="l" t="t" r="r" b="b"/>
              <a:pathLst>
                <a:path w="255269" h="101600">
                  <a:moveTo>
                    <a:pt x="0" y="0"/>
                  </a:moveTo>
                  <a:lnTo>
                    <a:pt x="254999" y="0"/>
                  </a:lnTo>
                  <a:lnTo>
                    <a:pt x="254999" y="101099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930" name="object 15" descr=""/>
            <p:cNvPicPr/>
            <p:nvPr/>
          </p:nvPicPr>
          <p:blipFill>
            <a:blip r:embed="rId3"/>
            <a:stretch/>
          </p:blipFill>
          <p:spPr>
            <a:xfrm>
              <a:off x="2115360" y="3508200"/>
              <a:ext cx="78840" cy="1022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931" name="PlaceHolder 2"/>
          <p:cNvSpPr>
            <a:spLocks noGrp="1"/>
          </p:cNvSpPr>
          <p:nvPr>
            <p:ph type="sldNum" idx="42"/>
          </p:nvPr>
        </p:nvSpPr>
        <p:spPr>
          <a:xfrm>
            <a:off x="8701560" y="4908600"/>
            <a:ext cx="261720" cy="299808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FA5D7273-AA7E-4108-BB03-B5514BD393C1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88428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7" strike="noStrike">
                <a:solidFill>
                  <a:srgbClr val="000000"/>
                </a:solidFill>
                <a:latin typeface="Tahoma"/>
              </a:rPr>
              <a:t>LoadBalancer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Service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9" strike="noStrike">
                <a:solidFill>
                  <a:srgbClr val="000000"/>
                </a:solidFill>
                <a:latin typeface="Tahoma"/>
              </a:rPr>
              <a:t>Type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Routes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traffic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from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41" strike="noStrike">
                <a:solidFill>
                  <a:srgbClr val="666666"/>
                </a:solidFill>
                <a:latin typeface="Lucida Sans Unicode"/>
              </a:rPr>
              <a:t>existing,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external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5" strike="noStrike">
                <a:solidFill>
                  <a:srgbClr val="666666"/>
                </a:solidFill>
                <a:latin typeface="Lucida Sans Unicode"/>
              </a:rPr>
              <a:t>load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balancer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Service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1933" name="object 3" descr=""/>
          <p:cNvPicPr/>
          <p:nvPr/>
        </p:nvPicPr>
        <p:blipFill>
          <a:blip r:embed="rId1"/>
          <a:stretch/>
        </p:blipFill>
        <p:spPr>
          <a:xfrm>
            <a:off x="3291480" y="1528200"/>
            <a:ext cx="2470320" cy="3157560"/>
          </a:xfrm>
          <a:prstGeom prst="rect">
            <a:avLst/>
          </a:prstGeom>
          <a:ln w="0">
            <a:noFill/>
          </a:ln>
        </p:spPr>
      </p:pic>
      <p:sp>
        <p:nvSpPr>
          <p:cNvPr id="1934" name="PlaceHolder 2"/>
          <p:cNvSpPr>
            <a:spLocks noGrp="1"/>
          </p:cNvSpPr>
          <p:nvPr>
            <p:ph type="sldNum" idx="43"/>
          </p:nvPr>
        </p:nvSpPr>
        <p:spPr>
          <a:xfrm>
            <a:off x="8701560" y="4908600"/>
            <a:ext cx="261720" cy="299808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1CE08C41-6794-4FD7-A869-B7A5A4C1E7C7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50428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7" strike="noStrike">
                <a:solidFill>
                  <a:srgbClr val="000000"/>
                </a:solidFill>
                <a:latin typeface="Tahoma"/>
              </a:rPr>
              <a:t>LoadBalancer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Service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YAML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Manifest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35" strike="noStrike">
                <a:solidFill>
                  <a:srgbClr val="000000"/>
                </a:solidFill>
                <a:latin typeface="Tahoma"/>
              </a:rPr>
              <a:t>at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Runtime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Service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type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is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Courier New"/>
              </a:rPr>
              <a:t>LoadBalancer</a:t>
            </a:r>
            <a:r>
              <a:rPr b="0" lang="fr-FR" sz="1600" spc="-21" strike="noStrike">
                <a:solidFill>
                  <a:srgbClr val="666666"/>
                </a:solidFill>
                <a:latin typeface="Arial MT"/>
              </a:rPr>
              <a:t>,</a:t>
            </a:r>
            <a:r>
              <a:rPr b="0" lang="fr-FR" sz="1600" spc="-7" strike="noStrike">
                <a:solidFill>
                  <a:srgbClr val="666666"/>
                </a:solidFill>
                <a:latin typeface="Arial MT"/>
              </a:rPr>
              <a:t> external</a:t>
            </a:r>
            <a:r>
              <a:rPr b="0" lang="fr-FR" sz="1600" spc="-12" strike="noStrike">
                <a:solidFill>
                  <a:srgbClr val="666666"/>
                </a:solidFill>
                <a:latin typeface="Arial MT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Arial MT"/>
              </a:rPr>
              <a:t>IP</a:t>
            </a:r>
            <a:r>
              <a:rPr b="0" lang="fr-FR" sz="1600" spc="-35" strike="noStrike">
                <a:solidFill>
                  <a:srgbClr val="666666"/>
                </a:solidFill>
                <a:latin typeface="Arial MT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Arial MT"/>
              </a:rPr>
              <a:t>address</a:t>
            </a:r>
            <a:r>
              <a:rPr b="0" lang="fr-FR" sz="1600" spc="-12" strike="noStrike">
                <a:solidFill>
                  <a:srgbClr val="666666"/>
                </a:solidFill>
                <a:latin typeface="Arial MT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Arial MT"/>
              </a:rPr>
              <a:t>has been assigned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936" name="PlaceHolder 2"/>
          <p:cNvSpPr>
            <a:spLocks noGrp="1"/>
          </p:cNvSpPr>
          <p:nvPr>
            <p:ph type="sldNum" idx="44"/>
          </p:nvPr>
        </p:nvSpPr>
        <p:spPr>
          <a:xfrm>
            <a:off x="8701560" y="4908600"/>
            <a:ext cx="261720" cy="299808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F4BA10B6-7A31-4A73-ADBC-9A811E9482BD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pic>
        <p:nvPicPr>
          <p:cNvPr id="1937" name="" descr=""/>
          <p:cNvPicPr/>
          <p:nvPr/>
        </p:nvPicPr>
        <p:blipFill>
          <a:blip r:embed="rId1"/>
          <a:stretch/>
        </p:blipFill>
        <p:spPr>
          <a:xfrm>
            <a:off x="494280" y="1260000"/>
            <a:ext cx="3715920" cy="35521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70428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35" strike="noStrike">
                <a:solidFill>
                  <a:srgbClr val="000000"/>
                </a:solidFill>
                <a:latin typeface="Tahoma"/>
              </a:rPr>
              <a:t>Accessing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7" strike="noStrike">
                <a:solidFill>
                  <a:srgbClr val="000000"/>
                </a:solidFill>
                <a:latin typeface="Tahoma"/>
              </a:rPr>
              <a:t>LoadBalancer</a:t>
            </a:r>
            <a:r>
              <a:rPr b="1" lang="fr-FR" sz="2400" spc="-140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Service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Use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combination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external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IP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statically-assigned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port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939" name="object 3"/>
          <p:cNvGrpSpPr/>
          <p:nvPr/>
        </p:nvGrpSpPr>
        <p:grpSpPr>
          <a:xfrm>
            <a:off x="455400" y="1360440"/>
            <a:ext cx="7948440" cy="2424960"/>
            <a:chOff x="455400" y="1360440"/>
            <a:chExt cx="7948440" cy="2424960"/>
          </a:xfrm>
        </p:grpSpPr>
        <p:pic>
          <p:nvPicPr>
            <p:cNvPr id="1940" name="object 4" descr=""/>
            <p:cNvPicPr/>
            <p:nvPr/>
          </p:nvPicPr>
          <p:blipFill>
            <a:blip r:embed="rId1"/>
            <a:stretch/>
          </p:blipFill>
          <p:spPr>
            <a:xfrm>
              <a:off x="455400" y="1360440"/>
              <a:ext cx="7948440" cy="242496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941" name="object 5"/>
            <p:cNvSpPr/>
            <p:nvPr/>
          </p:nvSpPr>
          <p:spPr>
            <a:xfrm>
              <a:off x="509040" y="1408680"/>
              <a:ext cx="7834680" cy="2310840"/>
            </a:xfrm>
            <a:custGeom>
              <a:avLst/>
              <a:gdLst/>
              <a:ahLst/>
              <a:rect l="l" t="t" r="r" b="b"/>
              <a:pathLst>
                <a:path w="7837805" h="2313940">
                  <a:moveTo>
                    <a:pt x="7837499" y="2313899"/>
                  </a:moveTo>
                  <a:lnTo>
                    <a:pt x="0" y="2313899"/>
                  </a:lnTo>
                  <a:lnTo>
                    <a:pt x="0" y="0"/>
                  </a:lnTo>
                  <a:lnTo>
                    <a:pt x="7837499" y="0"/>
                  </a:lnTo>
                  <a:lnTo>
                    <a:pt x="7837499" y="23138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942" name="object 6"/>
          <p:cNvSpPr/>
          <p:nvPr/>
        </p:nvSpPr>
        <p:spPr>
          <a:xfrm>
            <a:off x="731520" y="1558440"/>
            <a:ext cx="411660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1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1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get</a:t>
            </a:r>
            <a:r>
              <a:rPr b="1" lang="fr-FR" sz="11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pod,service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31"/>
              </a:spcBef>
              <a:buNone/>
              <a:tabLst>
                <a:tab algn="l" pos="1424160"/>
                <a:tab algn="l" pos="2094840"/>
                <a:tab algn="l" pos="2932920"/>
                <a:tab algn="l" pos="3855240"/>
              </a:tabLst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NAM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E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READ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Y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STATU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S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RESTART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S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AGE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31"/>
              </a:spcBef>
              <a:buNone/>
              <a:tabLst>
                <a:tab algn="l" pos="1424160"/>
                <a:tab algn="l" pos="2094840"/>
                <a:tab algn="l" pos="2932920"/>
                <a:tab algn="l" pos="3855240"/>
              </a:tabLst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pod/echoserve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r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1/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1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Runnin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g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0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23s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943" name="object 7"/>
          <p:cNvSpPr/>
          <p:nvPr/>
        </p:nvSpPr>
        <p:spPr>
          <a:xfrm>
            <a:off x="5090040" y="2244240"/>
            <a:ext cx="931320" cy="17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EXTERNAL-IP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944" name="object 8"/>
          <p:cNvSpPr/>
          <p:nvPr/>
        </p:nvSpPr>
        <p:spPr>
          <a:xfrm>
            <a:off x="6431040" y="2244240"/>
            <a:ext cx="596160" cy="17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PORT(S)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945" name="object 9"/>
          <p:cNvSpPr/>
          <p:nvPr/>
        </p:nvSpPr>
        <p:spPr>
          <a:xfrm>
            <a:off x="731520" y="2244240"/>
            <a:ext cx="1518120" cy="52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9000" bIns="0" anchor="t">
            <a:spAutoFit/>
          </a:bodyPr>
          <a:p>
            <a:pPr>
              <a:lnSpc>
                <a:spcPct val="102000"/>
              </a:lnSpc>
              <a:spcBef>
                <a:spcPts val="71"/>
              </a:spcBef>
              <a:buNone/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NAME  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31"/>
              </a:spcBef>
              <a:buNone/>
            </a:pP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31"/>
              </a:spcBef>
              <a:buNone/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service/echoserver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946" name="object 10"/>
          <p:cNvSpPr/>
          <p:nvPr/>
        </p:nvSpPr>
        <p:spPr>
          <a:xfrm>
            <a:off x="2491560" y="2244240"/>
            <a:ext cx="2356560" cy="5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  <a:tabLst>
                <a:tab algn="l" pos="1257480"/>
              </a:tabLst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TYPE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CLUSTER-IP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20"/>
              </a:spcBef>
              <a:buNone/>
              <a:tabLst>
                <a:tab algn="l" pos="1257480"/>
              </a:tabLst>
            </a:pP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1256760"/>
              </a:tabLst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LoadBalancer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10.109.76.157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947" name="object 11"/>
          <p:cNvSpPr/>
          <p:nvPr/>
        </p:nvSpPr>
        <p:spPr>
          <a:xfrm>
            <a:off x="5089680" y="2586960"/>
            <a:ext cx="2943000" cy="17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  <a:tabLst>
                <a:tab algn="l" pos="1340640"/>
                <a:tab algn="l" pos="2765520"/>
              </a:tabLst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10.109.76.15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7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8080:30158/TC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P</a:t>
            </a:r>
            <a:r>
              <a:rPr b="0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endParaRPr b="0" lang="fr-FR" sz="1100" spc="-1" strike="noStrike">
              <a:latin typeface="Arial"/>
            </a:endParaRPr>
          </a:p>
        </p:txBody>
      </p:sp>
      <p:sp>
        <p:nvSpPr>
          <p:cNvPr id="1948" name="object 12"/>
          <p:cNvSpPr/>
          <p:nvPr/>
        </p:nvSpPr>
        <p:spPr>
          <a:xfrm>
            <a:off x="731520" y="3101400"/>
            <a:ext cx="386532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1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1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wget</a:t>
            </a:r>
            <a:r>
              <a:rPr b="1" lang="fr-FR" sz="11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10.109.76.157:8080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31"/>
              </a:spcBef>
              <a:buNone/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Connecting</a:t>
            </a:r>
            <a:r>
              <a:rPr b="0" lang="fr-FR" sz="11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to</a:t>
            </a:r>
            <a:r>
              <a:rPr b="0" lang="fr-FR" sz="11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10.109.76.157:8080...</a:t>
            </a:r>
            <a:r>
              <a:rPr b="0" lang="fr-FR" sz="11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connected.</a:t>
            </a:r>
            <a:endParaRPr b="0" lang="fr-FR" sz="11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31"/>
              </a:spcBef>
              <a:buNone/>
            </a:pPr>
            <a:r>
              <a:rPr b="0" lang="fr-FR" sz="11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100" spc="-1" strike="noStrike">
              <a:latin typeface="Arial"/>
            </a:endParaRPr>
          </a:p>
        </p:txBody>
      </p:sp>
      <p:grpSp>
        <p:nvGrpSpPr>
          <p:cNvPr id="1949" name="object 13"/>
          <p:cNvGrpSpPr/>
          <p:nvPr/>
        </p:nvGrpSpPr>
        <p:grpSpPr>
          <a:xfrm>
            <a:off x="1280880" y="2572920"/>
            <a:ext cx="5528160" cy="714240"/>
            <a:chOff x="1280880" y="2572920"/>
            <a:chExt cx="5528160" cy="714240"/>
          </a:xfrm>
        </p:grpSpPr>
        <p:sp>
          <p:nvSpPr>
            <p:cNvPr id="1950" name="object 14"/>
            <p:cNvSpPr/>
            <p:nvPr/>
          </p:nvSpPr>
          <p:spPr>
            <a:xfrm>
              <a:off x="1280880" y="2572920"/>
              <a:ext cx="5528160" cy="714240"/>
            </a:xfrm>
            <a:custGeom>
              <a:avLst/>
              <a:gdLst/>
              <a:ahLst/>
              <a:rect l="l" t="t" r="r" b="b"/>
              <a:pathLst>
                <a:path w="5531484" h="717550">
                  <a:moveTo>
                    <a:pt x="3763892" y="0"/>
                  </a:moveTo>
                  <a:lnTo>
                    <a:pt x="4932392" y="0"/>
                  </a:lnTo>
                  <a:lnTo>
                    <a:pt x="4932392" y="215399"/>
                  </a:lnTo>
                  <a:lnTo>
                    <a:pt x="3763892" y="215399"/>
                  </a:lnTo>
                  <a:lnTo>
                    <a:pt x="3763892" y="0"/>
                  </a:lnTo>
                  <a:close/>
                </a:path>
                <a:path w="5531484" h="717550">
                  <a:moveTo>
                    <a:pt x="5089461" y="0"/>
                  </a:moveTo>
                  <a:lnTo>
                    <a:pt x="5531061" y="0"/>
                  </a:lnTo>
                  <a:lnTo>
                    <a:pt x="5531061" y="215399"/>
                  </a:lnTo>
                  <a:lnTo>
                    <a:pt x="5089461" y="215399"/>
                  </a:lnTo>
                  <a:lnTo>
                    <a:pt x="5089461" y="0"/>
                  </a:lnTo>
                  <a:close/>
                </a:path>
                <a:path w="5531484" h="717550">
                  <a:moveTo>
                    <a:pt x="0" y="501562"/>
                  </a:moveTo>
                  <a:lnTo>
                    <a:pt x="1581600" y="501562"/>
                  </a:lnTo>
                  <a:lnTo>
                    <a:pt x="1581600" y="716962"/>
                  </a:lnTo>
                  <a:lnTo>
                    <a:pt x="0" y="716962"/>
                  </a:lnTo>
                  <a:lnTo>
                    <a:pt x="0" y="501562"/>
                  </a:lnTo>
                  <a:close/>
                </a:path>
              </a:pathLst>
            </a:custGeom>
            <a:noFill/>
            <a:ln w="19049">
              <a:solidFill>
                <a:srgbClr val="ff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51" name="object 15"/>
            <p:cNvSpPr/>
            <p:nvPr/>
          </p:nvSpPr>
          <p:spPr>
            <a:xfrm>
              <a:off x="2976840" y="2788560"/>
              <a:ext cx="3611160" cy="390960"/>
            </a:xfrm>
            <a:custGeom>
              <a:avLst/>
              <a:gdLst/>
              <a:ahLst/>
              <a:rect l="l" t="t" r="r" b="b"/>
              <a:pathLst>
                <a:path w="3614420" h="394335">
                  <a:moveTo>
                    <a:pt x="3614400" y="0"/>
                  </a:moveTo>
                  <a:lnTo>
                    <a:pt x="3614400" y="393899"/>
                  </a:lnTo>
                  <a:lnTo>
                    <a:pt x="0" y="393899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952" name="object 16" descr=""/>
            <p:cNvPicPr/>
            <p:nvPr/>
          </p:nvPicPr>
          <p:blipFill>
            <a:blip r:embed="rId2"/>
            <a:stretch/>
          </p:blipFill>
          <p:spPr>
            <a:xfrm>
              <a:off x="2881080" y="3141360"/>
              <a:ext cx="102240" cy="788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953" name="object 17"/>
            <p:cNvSpPr/>
            <p:nvPr/>
          </p:nvSpPr>
          <p:spPr>
            <a:xfrm>
              <a:off x="2071800" y="2788560"/>
              <a:ext cx="3554640" cy="168840"/>
            </a:xfrm>
            <a:custGeom>
              <a:avLst/>
              <a:gdLst/>
              <a:ahLst/>
              <a:rect l="l" t="t" r="r" b="b"/>
              <a:pathLst>
                <a:path w="3557904" h="172085">
                  <a:moveTo>
                    <a:pt x="3557399" y="0"/>
                  </a:moveTo>
                  <a:lnTo>
                    <a:pt x="3557399" y="143082"/>
                  </a:lnTo>
                  <a:lnTo>
                    <a:pt x="0" y="143082"/>
                  </a:lnTo>
                  <a:lnTo>
                    <a:pt x="0" y="171899"/>
                  </a:lnTo>
                </a:path>
              </a:pathLst>
            </a:custGeom>
            <a:noFill/>
            <a:ln w="19049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pic>
          <p:nvPicPr>
            <p:cNvPr id="1954" name="object 18" descr=""/>
            <p:cNvPicPr/>
            <p:nvPr/>
          </p:nvPicPr>
          <p:blipFill>
            <a:blip r:embed="rId3"/>
            <a:stretch/>
          </p:blipFill>
          <p:spPr>
            <a:xfrm>
              <a:off x="2030760" y="2950920"/>
              <a:ext cx="78840" cy="10224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955" name="PlaceHolder 2"/>
          <p:cNvSpPr>
            <a:spLocks noGrp="1"/>
          </p:cNvSpPr>
          <p:nvPr>
            <p:ph type="sldNum" idx="45"/>
          </p:nvPr>
        </p:nvSpPr>
        <p:spPr>
          <a:xfrm>
            <a:off x="8701560" y="4908600"/>
            <a:ext cx="261720" cy="299808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59D0E0A9-82C2-4799-AA29-2470903C3CBB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6" name="object 2"/>
          <p:cNvSpPr/>
          <p:nvPr/>
        </p:nvSpPr>
        <p:spPr>
          <a:xfrm>
            <a:off x="494280" y="371880"/>
            <a:ext cx="128268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2400" spc="-15" strike="noStrike">
                <a:solidFill>
                  <a:srgbClr val="000000"/>
                </a:solidFill>
                <a:latin typeface="Tahoma"/>
                <a:ea typeface="DejaVu Sans"/>
              </a:rPr>
              <a:t>Lab 18</a:t>
            </a:r>
            <a:endParaRPr b="0" lang="fr-FR" sz="2400" spc="-1" strike="noStrike">
              <a:latin typeface="Arial"/>
            </a:endParaRPr>
          </a:p>
        </p:txBody>
      </p:sp>
      <p:sp>
        <p:nvSpPr>
          <p:cNvPr id="1957" name="object 3"/>
          <p:cNvSpPr/>
          <p:nvPr/>
        </p:nvSpPr>
        <p:spPr>
          <a:xfrm>
            <a:off x="494280" y="1323360"/>
            <a:ext cx="4724280" cy="152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14000"/>
              </a:lnSpc>
              <a:spcBef>
                <a:spcPts val="99"/>
              </a:spcBef>
              <a:buNone/>
            </a:pP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Routing </a:t>
            </a:r>
            <a:r>
              <a:rPr b="0" lang="fr-FR" sz="2900" spc="-15" strike="noStrike">
                <a:solidFill>
                  <a:srgbClr val="000000"/>
                </a:solidFill>
                <a:latin typeface="Arial MT"/>
                <a:ea typeface="DejaVu Sans"/>
              </a:rPr>
              <a:t>traffic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to </a:t>
            </a:r>
            <a:r>
              <a:rPr b="0" lang="fr-FR" sz="2900" spc="-12" strike="noStrike">
                <a:solidFill>
                  <a:srgbClr val="000000"/>
                </a:solidFill>
                <a:latin typeface="Arial MT"/>
                <a:ea typeface="DejaVu Sans"/>
              </a:rPr>
              <a:t>Pods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 from</a:t>
            </a:r>
            <a:r>
              <a:rPr b="0" lang="fr-FR" sz="29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inside</a:t>
            </a:r>
            <a:r>
              <a:rPr b="0" lang="fr-FR" sz="29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and</a:t>
            </a:r>
            <a:r>
              <a:rPr b="0" lang="fr-FR" sz="29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outside</a:t>
            </a:r>
            <a:r>
              <a:rPr b="0" lang="fr-FR" sz="2900" spc="-2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of </a:t>
            </a:r>
            <a:r>
              <a:rPr b="0" lang="fr-FR" sz="2900" spc="-79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29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1" strike="noStrike">
                <a:solidFill>
                  <a:srgbClr val="000000"/>
                </a:solidFill>
                <a:latin typeface="Arial MT"/>
                <a:ea typeface="DejaVu Sans"/>
              </a:rPr>
              <a:t>cluster</a:t>
            </a:r>
            <a:endParaRPr b="0" lang="fr-FR" sz="2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58" name="object 2"/>
          <p:cNvGrpSpPr/>
          <p:nvPr/>
        </p:nvGrpSpPr>
        <p:grpSpPr>
          <a:xfrm>
            <a:off x="0" y="0"/>
            <a:ext cx="9140760" cy="5140080"/>
            <a:chOff x="0" y="0"/>
            <a:chExt cx="9140760" cy="5140080"/>
          </a:xfrm>
        </p:grpSpPr>
        <p:pic>
          <p:nvPicPr>
            <p:cNvPr id="1959" name="object 3" descr=""/>
            <p:cNvPicPr/>
            <p:nvPr/>
          </p:nvPicPr>
          <p:blipFill>
            <a:blip r:embed="rId1"/>
            <a:stretch/>
          </p:blipFill>
          <p:spPr>
            <a:xfrm>
              <a:off x="0" y="0"/>
              <a:ext cx="9140760" cy="514008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960" name="object 4" descr=""/>
            <p:cNvPicPr/>
            <p:nvPr/>
          </p:nvPicPr>
          <p:blipFill>
            <a:blip r:embed="rId2"/>
            <a:stretch/>
          </p:blipFill>
          <p:spPr>
            <a:xfrm>
              <a:off x="8714160" y="146160"/>
              <a:ext cx="284400" cy="22968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1961" name="PlaceHolder 1"/>
          <p:cNvSpPr>
            <a:spLocks noGrp="1"/>
          </p:cNvSpPr>
          <p:nvPr>
            <p:ph type="title"/>
          </p:nvPr>
        </p:nvSpPr>
        <p:spPr>
          <a:xfrm>
            <a:off x="494280" y="1665000"/>
            <a:ext cx="7964280" cy="1381680"/>
          </a:xfrm>
          <a:prstGeom prst="rect">
            <a:avLst/>
          </a:prstGeom>
          <a:noFill/>
          <a:ln w="0">
            <a:noFill/>
          </a:ln>
        </p:spPr>
        <p:txBody>
          <a:bodyPr lIns="0" rIns="0" tIns="195480" bIns="0" anchor="t">
            <a:noAutofit/>
          </a:bodyPr>
          <a:p>
            <a:pPr marL="12600">
              <a:lnSpc>
                <a:spcPct val="100000"/>
              </a:lnSpc>
              <a:spcBef>
                <a:spcPts val="1539"/>
              </a:spcBef>
              <a:buNone/>
            </a:pPr>
            <a:r>
              <a:rPr b="1" lang="fr-FR" sz="3600" spc="-60" strike="noStrike">
                <a:solidFill>
                  <a:srgbClr val="ffffff"/>
                </a:solidFill>
                <a:latin typeface="Tahoma"/>
              </a:rPr>
              <a:t>Ingress</a:t>
            </a:r>
            <a:endParaRPr b="0" lang="fr-FR" sz="36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720"/>
              </a:spcBef>
              <a:buNone/>
            </a:pPr>
            <a:r>
              <a:rPr b="0" lang="fr-FR" sz="1800" spc="-1" strike="noStrike">
                <a:solidFill>
                  <a:srgbClr val="ffffff"/>
                </a:solidFill>
                <a:latin typeface="Lucida Sans Unicode"/>
              </a:rPr>
              <a:t>Providing</a:t>
            </a:r>
            <a:r>
              <a:rPr b="0" lang="fr-FR" sz="1800" spc="-97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1" strike="noStrike">
                <a:solidFill>
                  <a:srgbClr val="ffffff"/>
                </a:solidFill>
                <a:latin typeface="Lucida Sans Unicode"/>
              </a:rPr>
              <a:t>external</a:t>
            </a:r>
            <a:r>
              <a:rPr b="0" lang="fr-FR" sz="1800" spc="-97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94" strike="noStrike">
                <a:solidFill>
                  <a:srgbClr val="ffffff"/>
                </a:solidFill>
                <a:latin typeface="Lucida Sans Unicode"/>
              </a:rPr>
              <a:t>access</a:t>
            </a:r>
            <a:r>
              <a:rPr b="0" lang="fr-FR" sz="1800" spc="-97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-1" strike="noStrike">
                <a:solidFill>
                  <a:srgbClr val="ffffff"/>
                </a:solidFill>
                <a:latin typeface="Lucida Sans Unicode"/>
              </a:rPr>
              <a:t>to</a:t>
            </a:r>
            <a:r>
              <a:rPr b="0" lang="fr-FR" sz="1800" spc="-97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29" strike="noStrike">
                <a:solidFill>
                  <a:srgbClr val="ffffff"/>
                </a:solidFill>
                <a:latin typeface="Lucida Sans Unicode"/>
              </a:rPr>
              <a:t>Services</a:t>
            </a:r>
            <a:r>
              <a:rPr b="0" lang="fr-FR" sz="1800" spc="-97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46" strike="noStrike">
                <a:solidFill>
                  <a:srgbClr val="ffffff"/>
                </a:solidFill>
                <a:latin typeface="Lucida Sans Unicode"/>
              </a:rPr>
              <a:t>via</a:t>
            </a:r>
            <a:r>
              <a:rPr b="0" lang="fr-FR" sz="1800" spc="-97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1" strike="noStrike">
                <a:solidFill>
                  <a:srgbClr val="ffffff"/>
                </a:solidFill>
                <a:latin typeface="Lucida Sans Unicode"/>
              </a:rPr>
              <a:t>HTTP(S)</a:t>
            </a:r>
            <a:endParaRPr b="0" lang="fr-FR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24428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5" strike="noStrike">
                <a:solidFill>
                  <a:srgbClr val="000000"/>
                </a:solidFill>
                <a:latin typeface="Tahoma"/>
              </a:rPr>
              <a:t>What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is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1" strike="noStrike">
                <a:solidFill>
                  <a:srgbClr val="000000"/>
                </a:solidFill>
                <a:latin typeface="Tahoma"/>
              </a:rPr>
              <a:t>an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6" strike="noStrike">
                <a:solidFill>
                  <a:srgbClr val="000000"/>
                </a:solidFill>
                <a:latin typeface="Tahoma"/>
              </a:rPr>
              <a:t>Ingress?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Route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HTTP(S)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traffic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from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outside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cluster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5" strike="noStrike">
                <a:solidFill>
                  <a:srgbClr val="666666"/>
                </a:solidFill>
                <a:latin typeface="Lucida Sans Unicode"/>
              </a:rPr>
              <a:t>Service(s)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963" name="PlaceHolder 2"/>
          <p:cNvSpPr>
            <a:spLocks noGrp="1"/>
          </p:cNvSpPr>
          <p:nvPr>
            <p:ph type="sldNum" idx="46"/>
          </p:nvPr>
        </p:nvSpPr>
        <p:spPr>
          <a:xfrm>
            <a:off x="8701560" y="4908600"/>
            <a:ext cx="261720" cy="299808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E612950E-5FC8-4C70-B9FF-0EF391A2F92D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sp>
        <p:nvSpPr>
          <p:cNvPr id="1964" name="object 3"/>
          <p:cNvSpPr/>
          <p:nvPr/>
        </p:nvSpPr>
        <p:spPr>
          <a:xfrm>
            <a:off x="600120" y="1360440"/>
            <a:ext cx="8038440" cy="24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5000" bIns="0" anchor="t">
            <a:spAutoFit/>
          </a:bodyPr>
          <a:p>
            <a:pPr marL="363960" indent="-351720">
              <a:lnSpc>
                <a:spcPct val="100000"/>
              </a:lnSpc>
              <a:spcBef>
                <a:spcPts val="354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It’s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not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specific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Service type,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nor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should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it be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confused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with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Service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type</a:t>
            </a:r>
            <a:endParaRPr b="0" lang="fr-FR" sz="1600" spc="-1" strike="noStrike">
              <a:latin typeface="Arial"/>
            </a:endParaRPr>
          </a:p>
          <a:p>
            <a:pPr marL="363960">
              <a:lnSpc>
                <a:spcPct val="100000"/>
              </a:lnSpc>
              <a:spcBef>
                <a:spcPts val="255"/>
              </a:spcBef>
              <a:buNone/>
              <a:tabLst>
                <a:tab algn="l" pos="363960"/>
                <a:tab algn="l" pos="364320"/>
              </a:tabLst>
            </a:pPr>
            <a:r>
              <a:rPr b="0" lang="fr-FR" sz="1600" spc="-21" strike="noStrike">
                <a:solidFill>
                  <a:srgbClr val="000000"/>
                </a:solidFill>
                <a:latin typeface="Courier New"/>
                <a:ea typeface="DejaVu Sans"/>
              </a:rPr>
              <a:t>LoadBalancer</a:t>
            </a:r>
            <a:r>
              <a:rPr b="0" lang="fr-FR" sz="1600" spc="-21" strike="noStrike">
                <a:solidFill>
                  <a:srgbClr val="000000"/>
                </a:solidFill>
                <a:latin typeface="Arial MT"/>
                <a:ea typeface="DejaVu Sans"/>
              </a:rPr>
              <a:t>.</a:t>
            </a:r>
            <a:endParaRPr b="0" lang="fr-FR" sz="1600" spc="-1" strike="noStrike">
              <a:latin typeface="Arial"/>
            </a:endParaRPr>
          </a:p>
          <a:p>
            <a:pPr marL="363960">
              <a:lnSpc>
                <a:spcPct val="100000"/>
              </a:lnSpc>
              <a:spcBef>
                <a:spcPts val="14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Defines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rules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mapping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URL</a:t>
            </a:r>
            <a:r>
              <a:rPr b="0" lang="fr-FR" sz="1600" spc="-66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context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path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one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many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Service objects.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1"/>
              </a:rPr>
              <a:t>TLS termination</a:t>
            </a:r>
            <a:r>
              <a:rPr b="0" lang="fr-FR" sz="1600" spc="-7" strike="noStrike" u="sng">
                <a:solidFill>
                  <a:srgbClr val="0000ff"/>
                </a:solidFill>
                <a:uFillTx/>
                <a:latin typeface="Arial MT"/>
                <a:ea typeface="DejaVu Sans"/>
                <a:hlinkClick r:id="rId2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(support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for HTTPS) needs to be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configured 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explicitly.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By default,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only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HTTP</a:t>
            </a:r>
            <a:r>
              <a:rPr b="0" lang="fr-FR" sz="16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supported.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98428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5" strike="noStrike">
                <a:solidFill>
                  <a:srgbClr val="000000"/>
                </a:solidFill>
                <a:latin typeface="Tahoma"/>
              </a:rPr>
              <a:t>What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1" strike="noStrike">
                <a:solidFill>
                  <a:srgbClr val="000000"/>
                </a:solidFill>
                <a:latin typeface="Tahoma"/>
              </a:rPr>
              <a:t>an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Ingress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" strike="noStrike">
                <a:solidFill>
                  <a:srgbClr val="000000"/>
                </a:solidFill>
                <a:latin typeface="Tahoma"/>
              </a:rPr>
              <a:t>Controller?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Evaluating</a:t>
            </a:r>
            <a:r>
              <a:rPr b="0" lang="fr-FR" sz="1600" spc="-97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Ingress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rules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966" name="PlaceHolder 2"/>
          <p:cNvSpPr>
            <a:spLocks noGrp="1"/>
          </p:cNvSpPr>
          <p:nvPr>
            <p:ph type="sldNum" idx="47"/>
          </p:nvPr>
        </p:nvSpPr>
        <p:spPr>
          <a:xfrm>
            <a:off x="8701560" y="4908600"/>
            <a:ext cx="261720" cy="299808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F022745C-F207-4038-AC64-D104171283D3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sp>
        <p:nvSpPr>
          <p:cNvPr id="1967" name="object 3"/>
          <p:cNvSpPr/>
          <p:nvPr/>
        </p:nvSpPr>
        <p:spPr>
          <a:xfrm>
            <a:off x="600120" y="1360440"/>
            <a:ext cx="8218440" cy="16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 Ingress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cannot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work without an</a:t>
            </a:r>
            <a:r>
              <a:rPr b="0" lang="fr-FR" sz="1600" spc="-7" strike="noStrike">
                <a:solidFill>
                  <a:srgbClr val="d3002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1"/>
              </a:rPr>
              <a:t>Ingress </a:t>
            </a:r>
            <a:r>
              <a:rPr b="0" lang="fr-FR" sz="1600" spc="-1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2"/>
              </a:rPr>
              <a:t>controller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.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Ingress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controller 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evaluates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collection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rules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defined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by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 Ingress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that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determine 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traffic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routing.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Multiple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Ingres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controller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b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e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deploye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d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o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cluste</a:t>
            </a:r>
            <a:r>
              <a:rPr b="0" lang="fr-FR" sz="1600" spc="-92" strike="noStrike">
                <a:solidFill>
                  <a:srgbClr val="000000"/>
                </a:solidFill>
                <a:latin typeface="Arial MT"/>
                <a:ea typeface="DejaVu Sans"/>
              </a:rPr>
              <a:t>r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.</a:t>
            </a:r>
            <a:r>
              <a:rPr b="0" lang="fr-FR" sz="1600" spc="-9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n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Ingres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be 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configured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pick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specific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one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via </a:t>
            </a:r>
            <a:r>
              <a:rPr b="0" lang="fr-FR" sz="1600" spc="-21" strike="noStrike">
                <a:solidFill>
                  <a:srgbClr val="000000"/>
                </a:solidFill>
                <a:latin typeface="Courier New"/>
                <a:ea typeface="DejaVu Sans"/>
              </a:rPr>
              <a:t>spec.ingressClassName</a:t>
            </a:r>
            <a:r>
              <a:rPr b="0" lang="fr-FR" sz="1600" spc="-21" strike="noStrike">
                <a:solidFill>
                  <a:srgbClr val="000000"/>
                </a:solidFill>
                <a:latin typeface="Arial MT"/>
                <a:ea typeface="DejaVu Sans"/>
              </a:rPr>
              <a:t>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78428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Ingress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" strike="noStrike">
                <a:solidFill>
                  <a:srgbClr val="000000"/>
                </a:solidFill>
                <a:latin typeface="Tahoma"/>
              </a:rPr>
              <a:t>Traffic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6" strike="noStrike">
                <a:solidFill>
                  <a:srgbClr val="000000"/>
                </a:solidFill>
                <a:latin typeface="Tahoma"/>
              </a:rPr>
              <a:t>Routing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context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6" strike="noStrike">
                <a:solidFill>
                  <a:srgbClr val="666666"/>
                </a:solidFill>
                <a:latin typeface="Lucida Sans Unicode"/>
              </a:rPr>
              <a:t>path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is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6" strike="noStrike">
                <a:solidFill>
                  <a:srgbClr val="666666"/>
                </a:solidFill>
                <a:latin typeface="Lucida Sans Unicode"/>
              </a:rPr>
              <a:t>mapped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80" strike="noStrike">
                <a:solidFill>
                  <a:srgbClr val="666666"/>
                </a:solidFill>
                <a:latin typeface="Lucida Sans Unicode"/>
              </a:rPr>
              <a:t>a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6" strike="noStrike">
                <a:solidFill>
                  <a:srgbClr val="666666"/>
                </a:solidFill>
                <a:latin typeface="Lucida Sans Unicode"/>
              </a:rPr>
              <a:t>backend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6" strike="noStrike">
                <a:solidFill>
                  <a:srgbClr val="666666"/>
                </a:solidFill>
                <a:latin typeface="Lucida Sans Unicode"/>
              </a:rPr>
              <a:t>(Service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4" strike="noStrike">
                <a:solidFill>
                  <a:srgbClr val="666666"/>
                </a:solidFill>
                <a:latin typeface="Lucida Sans Unicode"/>
              </a:rPr>
              <a:t>name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port)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969" name="object 3"/>
          <p:cNvSpPr/>
          <p:nvPr/>
        </p:nvSpPr>
        <p:spPr>
          <a:xfrm>
            <a:off x="4046400" y="3627360"/>
            <a:ext cx="555480" cy="16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000" spc="-7" strike="noStrike">
                <a:solidFill>
                  <a:srgbClr val="000000"/>
                </a:solidFill>
                <a:latin typeface="Courier New"/>
                <a:ea typeface="DejaVu Sans"/>
              </a:rPr>
              <a:t>/health</a:t>
            </a:r>
            <a:endParaRPr b="0" lang="fr-FR" sz="1000" spc="-1" strike="noStrike">
              <a:latin typeface="Arial"/>
            </a:endParaRPr>
          </a:p>
        </p:txBody>
      </p:sp>
      <p:pic>
        <p:nvPicPr>
          <p:cNvPr id="1970" name="object 4" descr=""/>
          <p:cNvPicPr/>
          <p:nvPr/>
        </p:nvPicPr>
        <p:blipFill>
          <a:blip r:embed="rId1"/>
          <a:stretch/>
        </p:blipFill>
        <p:spPr>
          <a:xfrm>
            <a:off x="506880" y="1649520"/>
            <a:ext cx="7986600" cy="2564640"/>
          </a:xfrm>
          <a:prstGeom prst="rect">
            <a:avLst/>
          </a:prstGeom>
          <a:ln w="0">
            <a:noFill/>
          </a:ln>
        </p:spPr>
      </p:pic>
      <p:sp>
        <p:nvSpPr>
          <p:cNvPr id="1971" name="PlaceHolder 2"/>
          <p:cNvSpPr>
            <a:spLocks noGrp="1"/>
          </p:cNvSpPr>
          <p:nvPr>
            <p:ph type="sldNum" idx="48"/>
          </p:nvPr>
        </p:nvSpPr>
        <p:spPr>
          <a:xfrm>
            <a:off x="8701560" y="4908600"/>
            <a:ext cx="261720" cy="299808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424BDE3A-4C4D-4552-AC55-8F1834D2C902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814428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9" strike="noStrike">
                <a:solidFill>
                  <a:srgbClr val="000000"/>
                </a:solidFill>
                <a:latin typeface="Tahoma"/>
              </a:rPr>
              <a:t>Creating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1" strike="noStrike">
                <a:solidFill>
                  <a:srgbClr val="000000"/>
                </a:solidFill>
                <a:latin typeface="Tahoma"/>
              </a:rPr>
              <a:t>an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Ingress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52" strike="noStrike">
                <a:solidFill>
                  <a:srgbClr val="000000"/>
                </a:solidFill>
                <a:latin typeface="Tahoma"/>
              </a:rPr>
              <a:t>with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Imperative</a:t>
            </a:r>
            <a:r>
              <a:rPr b="1" lang="fr-FR" sz="2400" spc="-13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60" strike="noStrike">
                <a:solidFill>
                  <a:srgbClr val="000000"/>
                </a:solidFill>
                <a:latin typeface="Tahoma"/>
              </a:rPr>
              <a:t>Approach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rule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definition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requires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intricate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knowledge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of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syntax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973" name="PlaceHolder 2"/>
          <p:cNvSpPr>
            <a:spLocks noGrp="1"/>
          </p:cNvSpPr>
          <p:nvPr>
            <p:ph type="sldNum" idx="49"/>
          </p:nvPr>
        </p:nvSpPr>
        <p:spPr>
          <a:xfrm>
            <a:off x="8701560" y="4908600"/>
            <a:ext cx="261720" cy="299808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8DE354C7-4A67-49EF-8D4A-4C88CADC3748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pic>
        <p:nvPicPr>
          <p:cNvPr id="1974" name="" descr=""/>
          <p:cNvPicPr/>
          <p:nvPr/>
        </p:nvPicPr>
        <p:blipFill>
          <a:blip r:embed="rId1"/>
          <a:stretch/>
        </p:blipFill>
        <p:spPr>
          <a:xfrm>
            <a:off x="497160" y="1542240"/>
            <a:ext cx="6521400" cy="1336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42428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Ingress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YAML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Manifest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Allows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defining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multiple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rules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that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14" strike="noStrike">
                <a:solidFill>
                  <a:srgbClr val="666666"/>
                </a:solidFill>
                <a:latin typeface="Lucida Sans Unicode"/>
              </a:rPr>
              <a:t>map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6" strike="noStrike">
                <a:solidFill>
                  <a:srgbClr val="666666"/>
                </a:solidFill>
                <a:latin typeface="Lucida Sans Unicode"/>
              </a:rPr>
              <a:t>backend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976" name="PlaceHolder 2"/>
          <p:cNvSpPr>
            <a:spLocks noGrp="1"/>
          </p:cNvSpPr>
          <p:nvPr>
            <p:ph type="sldNum" idx="50"/>
          </p:nvPr>
        </p:nvSpPr>
        <p:spPr>
          <a:xfrm>
            <a:off x="8701560" y="4908600"/>
            <a:ext cx="261720" cy="299808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581DD1A9-FDA2-4937-B5E4-835CB4E491E8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pic>
        <p:nvPicPr>
          <p:cNvPr id="1977" name="" descr=""/>
          <p:cNvPicPr/>
          <p:nvPr/>
        </p:nvPicPr>
        <p:blipFill>
          <a:blip r:embed="rId1"/>
          <a:stretch/>
        </p:blipFill>
        <p:spPr>
          <a:xfrm>
            <a:off x="496800" y="1288440"/>
            <a:ext cx="6449760" cy="34981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24428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Ingress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Rules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Traffic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routing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6" strike="noStrike">
                <a:solidFill>
                  <a:srgbClr val="666666"/>
                </a:solidFill>
                <a:latin typeface="Lucida Sans Unicode"/>
              </a:rPr>
              <a:t>is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controlled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by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rules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defined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Ingress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resource</a:t>
            </a:r>
            <a:endParaRPr b="0" lang="fr-FR" sz="1600" spc="-1" strike="noStrike">
              <a:latin typeface="Arial"/>
            </a:endParaRPr>
          </a:p>
        </p:txBody>
      </p:sp>
      <p:graphicFrame>
        <p:nvGraphicFramePr>
          <p:cNvPr id="1979" name="object 3"/>
          <p:cNvGraphicFramePr/>
          <p:nvPr/>
        </p:nvGraphicFramePr>
        <p:xfrm>
          <a:off x="502200" y="1408680"/>
          <a:ext cx="8317440" cy="2642040"/>
        </p:xfrm>
        <a:graphic>
          <a:graphicData uri="http://schemas.openxmlformats.org/drawingml/2006/table">
            <a:tbl>
              <a:tblPr/>
              <a:tblGrid>
                <a:gridCol w="1785240"/>
                <a:gridCol w="2150280"/>
                <a:gridCol w="4382280"/>
              </a:tblGrid>
              <a:tr h="553320">
                <a:tc>
                  <a:txBody>
                    <a:bodyPr anchor="t">
                      <a:noAutofit/>
                    </a:bodyPr>
                    <a:p>
                      <a:pPr marL="90000">
                        <a:lnSpc>
                          <a:spcPct val="100000"/>
                        </a:lnSpc>
                        <a:spcBef>
                          <a:spcPts val="1315"/>
                        </a:spcBef>
                        <a:buNone/>
                      </a:pPr>
                      <a:r>
                        <a:rPr b="0" lang="fr-FR" sz="1400" spc="-21" strike="noStrike">
                          <a:solidFill>
                            <a:srgbClr val="ffffff"/>
                          </a:solidFill>
                          <a:latin typeface="Arial MT"/>
                        </a:rPr>
                        <a:t>Type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 w="38160">
                      <a:solidFill>
                        <a:srgbClr val="660000"/>
                      </a:solidFill>
                    </a:lnB>
                    <a:solidFill>
                      <a:srgbClr val="d3002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ct val="100000"/>
                        </a:lnSpc>
                        <a:spcBef>
                          <a:spcPts val="1315"/>
                        </a:spcBef>
                        <a:buNone/>
                      </a:pPr>
                      <a:r>
                        <a:rPr b="0" lang="fr-FR" sz="1400" spc="-7" strike="noStrike">
                          <a:solidFill>
                            <a:srgbClr val="ffffff"/>
                          </a:solidFill>
                          <a:latin typeface="Arial MT"/>
                        </a:rPr>
                        <a:t>Example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 w="38160">
                      <a:solidFill>
                        <a:srgbClr val="660000"/>
                      </a:solidFill>
                    </a:lnB>
                    <a:solidFill>
                      <a:srgbClr val="d3002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ct val="100000"/>
                        </a:lnSpc>
                        <a:spcBef>
                          <a:spcPts val="1315"/>
                        </a:spcBef>
                        <a:buNone/>
                      </a:pPr>
                      <a:r>
                        <a:rPr b="0" lang="fr-FR" sz="1400" spc="-7" strike="noStrike">
                          <a:solidFill>
                            <a:srgbClr val="ffffff"/>
                          </a:solidFill>
                          <a:latin typeface="Arial MT"/>
                        </a:rPr>
                        <a:t>Description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 w="38160">
                      <a:solidFill>
                        <a:srgbClr val="660000"/>
                      </a:solidFill>
                    </a:lnB>
                    <a:solidFill>
                      <a:srgbClr val="d30020"/>
                    </a:solidFill>
                  </a:tcPr>
                </a:tc>
              </a:tr>
              <a:tr h="2089080">
                <a:tc>
                  <a:txBody>
                    <a:bodyPr anchor="t">
                      <a:noAutofit/>
                    </a:bodyPr>
                    <a:p>
                      <a:pPr marL="90000">
                        <a:lnSpc>
                          <a:spcPct val="100000"/>
                        </a:lnSpc>
                        <a:spcBef>
                          <a:spcPts val="624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An</a:t>
                      </a:r>
                      <a:r>
                        <a:rPr b="0" lang="fr-FR" sz="1200" spc="-3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optional</a:t>
                      </a:r>
                      <a:r>
                        <a:rPr b="0" lang="fr-FR" sz="1200" spc="-3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host</a:t>
                      </a:r>
                      <a:endParaRPr b="0" lang="fr-FR" sz="1200" spc="-1" strike="noStrike">
                        <a:latin typeface="Arial"/>
                      </a:endParaRPr>
                    </a:p>
                    <a:p>
                      <a:pPr marL="90000">
                        <a:lnSpc>
                          <a:spcPct val="100000"/>
                        </a:lnSpc>
                        <a:spcBef>
                          <a:spcPts val="14"/>
                        </a:spcBef>
                        <a:buNone/>
                      </a:pPr>
                      <a:endParaRPr b="0" lang="fr-FR" sz="1200" spc="-1" strike="noStrike">
                        <a:latin typeface="Arial"/>
                      </a:endParaRPr>
                    </a:p>
                    <a:p>
                      <a:pPr marL="90000">
                        <a:lnSpc>
                          <a:spcPct val="300000"/>
                        </a:lnSpc>
                        <a:buNone/>
                      </a:pP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A</a:t>
                      </a:r>
                      <a:r>
                        <a:rPr b="0" lang="fr-FR" sz="1200" spc="-7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lis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t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 o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f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 paths  The</a:t>
                      </a:r>
                      <a:r>
                        <a:rPr b="0" lang="fr-FR" sz="1200" spc="-60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backend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 w="9360">
                      <a:solidFill>
                        <a:srgbClr val="f3f3f3"/>
                      </a:solidFill>
                    </a:lnR>
                    <a:lnT w="38160">
                      <a:solidFill>
                        <a:srgbClr val="660000"/>
                      </a:solidFill>
                    </a:lnT>
                    <a:lnB w="9360">
                      <a:solidFill>
                        <a:srgbClr val="f3f3f3"/>
                      </a:solidFill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ct val="100000"/>
                        </a:lnSpc>
                        <a:spcBef>
                          <a:spcPts val="624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mycompany.abc.com</a:t>
                      </a:r>
                      <a:endParaRPr b="0" lang="fr-FR" sz="120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ct val="100000"/>
                        </a:lnSpc>
                        <a:spcBef>
                          <a:spcPts val="14"/>
                        </a:spcBef>
                        <a:buNone/>
                      </a:pPr>
                      <a:endParaRPr b="0" lang="fr-FR" sz="120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ct val="300000"/>
                        </a:lnSpc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/corellian/api  corellian:8080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 w="38160">
                      <a:solidFill>
                        <a:srgbClr val="660000"/>
                      </a:solidFill>
                    </a:lnT>
                    <a:lnB w="9360">
                      <a:solidFill>
                        <a:srgbClr val="f3f3f3"/>
                      </a:solidFill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 algn="just">
                        <a:lnSpc>
                          <a:spcPts val="1429"/>
                        </a:lnSpc>
                        <a:spcBef>
                          <a:spcPts val="680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If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a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host is provided, then the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rules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apply to that host. </a:t>
                      </a:r>
                      <a:r>
                        <a:rPr b="0" lang="fr-FR" sz="1200" spc="-321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If no host is defined, then all inbound HTTP(S) 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traffic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 is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handled.</a:t>
                      </a:r>
                      <a:endParaRPr b="0" lang="fr-FR" sz="120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ct val="100000"/>
                        </a:lnSpc>
                        <a:spcBef>
                          <a:spcPts val="45"/>
                        </a:spcBef>
                        <a:buNone/>
                      </a:pPr>
                      <a:endParaRPr b="0" lang="fr-FR" sz="120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ts val="1429"/>
                        </a:lnSpc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Incoming 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traffic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must match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the host and path to </a:t>
                      </a:r>
                      <a:r>
                        <a:rPr b="0" lang="fr-FR" sz="1200" spc="-321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correctly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forward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the 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traffic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to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a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 Service.</a:t>
                      </a:r>
                      <a:endParaRPr b="0" lang="fr-FR" sz="120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ct val="100000"/>
                        </a:lnSpc>
                        <a:spcBef>
                          <a:spcPts val="26"/>
                        </a:spcBef>
                        <a:buNone/>
                      </a:pPr>
                      <a:endParaRPr b="0" lang="fr-FR" sz="120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ct val="100000"/>
                        </a:lnSpc>
                        <a:buNone/>
                      </a:pP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A</a:t>
                      </a:r>
                      <a:r>
                        <a:rPr b="0" lang="fr-FR" sz="1200" spc="-80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combination</a:t>
                      </a:r>
                      <a:r>
                        <a:rPr b="0" lang="fr-FR" sz="1200" spc="-21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of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Service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name</a:t>
                      </a:r>
                      <a:r>
                        <a:rPr b="0" lang="fr-FR" sz="1200" spc="-15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and</a:t>
                      </a:r>
                      <a:r>
                        <a:rPr b="0" lang="fr-FR" sz="1200" spc="-21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port.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 w="38160">
                      <a:solidFill>
                        <a:srgbClr val="660000"/>
                      </a:solidFill>
                    </a:lnT>
                    <a:lnB w="9360">
                      <a:solidFill>
                        <a:srgbClr val="f3f3f3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980" name="PlaceHolder 2"/>
          <p:cNvSpPr>
            <a:spLocks noGrp="1"/>
          </p:cNvSpPr>
          <p:nvPr>
            <p:ph type="sldNum" idx="51"/>
          </p:nvPr>
        </p:nvSpPr>
        <p:spPr>
          <a:xfrm>
            <a:off x="8701560" y="4908600"/>
            <a:ext cx="261720" cy="299808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3906E378-83E9-4DF1-BE3B-FFA67282026E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1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24428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Path</a:t>
            </a:r>
            <a:r>
              <a:rPr b="1" lang="fr-FR" sz="2400" spc="-17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1" strike="noStrike">
                <a:solidFill>
                  <a:srgbClr val="000000"/>
                </a:solidFill>
                <a:latin typeface="Tahoma"/>
              </a:rPr>
              <a:t>Types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Incoming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requests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match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6" strike="noStrike">
                <a:solidFill>
                  <a:srgbClr val="666666"/>
                </a:solidFill>
                <a:latin typeface="Lucida Sans Unicode"/>
              </a:rPr>
              <a:t>based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on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assigned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type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rule</a:t>
            </a:r>
            <a:endParaRPr b="0" lang="fr-FR" sz="1600" spc="-1" strike="noStrike">
              <a:latin typeface="Arial"/>
            </a:endParaRPr>
          </a:p>
        </p:txBody>
      </p:sp>
      <p:graphicFrame>
        <p:nvGraphicFramePr>
          <p:cNvPr id="1982" name="object 3"/>
          <p:cNvGraphicFramePr/>
          <p:nvPr/>
        </p:nvGraphicFramePr>
        <p:xfrm>
          <a:off x="502200" y="1408680"/>
          <a:ext cx="8317440" cy="1654920"/>
        </p:xfrm>
        <a:graphic>
          <a:graphicData uri="http://schemas.openxmlformats.org/drawingml/2006/table">
            <a:tbl>
              <a:tblPr/>
              <a:tblGrid>
                <a:gridCol w="1785240"/>
                <a:gridCol w="2101680"/>
                <a:gridCol w="4430880"/>
              </a:tblGrid>
              <a:tr h="553320">
                <a:tc>
                  <a:txBody>
                    <a:bodyPr anchor="t">
                      <a:noAutofit/>
                    </a:bodyPr>
                    <a:p>
                      <a:pPr marL="90000">
                        <a:lnSpc>
                          <a:spcPct val="100000"/>
                        </a:lnSpc>
                        <a:spcBef>
                          <a:spcPts val="1315"/>
                        </a:spcBef>
                        <a:buNone/>
                      </a:pPr>
                      <a:r>
                        <a:rPr b="0" lang="fr-FR" sz="1400" spc="-7" strike="noStrike">
                          <a:solidFill>
                            <a:srgbClr val="ffffff"/>
                          </a:solidFill>
                          <a:latin typeface="Arial MT"/>
                        </a:rPr>
                        <a:t>Path</a:t>
                      </a:r>
                      <a:r>
                        <a:rPr b="0" lang="fr-FR" sz="1400" spc="-75" strike="noStrike">
                          <a:solidFill>
                            <a:srgbClr val="ffffff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400" spc="-21" strike="noStrike">
                          <a:solidFill>
                            <a:srgbClr val="ffffff"/>
                          </a:solidFill>
                          <a:latin typeface="Arial MT"/>
                        </a:rPr>
                        <a:t>Type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 w="38160">
                      <a:solidFill>
                        <a:srgbClr val="660000"/>
                      </a:solidFill>
                    </a:lnB>
                    <a:solidFill>
                      <a:srgbClr val="d3002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ct val="100000"/>
                        </a:lnSpc>
                        <a:spcBef>
                          <a:spcPts val="1315"/>
                        </a:spcBef>
                        <a:buNone/>
                      </a:pPr>
                      <a:r>
                        <a:rPr b="0" lang="fr-FR" sz="1400" spc="-7" strike="noStrike">
                          <a:solidFill>
                            <a:srgbClr val="ffffff"/>
                          </a:solidFill>
                          <a:latin typeface="Arial MT"/>
                        </a:rPr>
                        <a:t>Rule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 w="38160">
                      <a:solidFill>
                        <a:srgbClr val="660000"/>
                      </a:solidFill>
                    </a:lnB>
                    <a:solidFill>
                      <a:srgbClr val="d3002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ct val="100000"/>
                        </a:lnSpc>
                        <a:spcBef>
                          <a:spcPts val="1315"/>
                        </a:spcBef>
                        <a:buNone/>
                      </a:pPr>
                      <a:r>
                        <a:rPr b="0" lang="fr-FR" sz="1400" spc="-7" strike="noStrike">
                          <a:solidFill>
                            <a:srgbClr val="ffffff"/>
                          </a:solidFill>
                          <a:latin typeface="Arial MT"/>
                        </a:rPr>
                        <a:t>Incoming</a:t>
                      </a:r>
                      <a:r>
                        <a:rPr b="0" lang="fr-FR" sz="1400" spc="-52" strike="noStrike">
                          <a:solidFill>
                            <a:srgbClr val="ffffff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400" spc="-7" strike="noStrike">
                          <a:solidFill>
                            <a:srgbClr val="ffffff"/>
                          </a:solidFill>
                          <a:latin typeface="Arial MT"/>
                        </a:rPr>
                        <a:t>Request</a:t>
                      </a:r>
                      <a:endParaRPr b="0" lang="fr-FR" sz="14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3f3f3"/>
                      </a:solidFill>
                    </a:lnL>
                    <a:lnR w="9360">
                      <a:solidFill>
                        <a:srgbClr val="f3f3f3"/>
                      </a:solidFill>
                    </a:lnR>
                    <a:lnT>
                      <a:noFill/>
                    </a:lnT>
                    <a:lnB w="38160">
                      <a:solidFill>
                        <a:srgbClr val="660000"/>
                      </a:solidFill>
                    </a:lnB>
                    <a:solidFill>
                      <a:srgbClr val="d30020"/>
                    </a:solidFill>
                  </a:tcPr>
                </a:tc>
              </a:tr>
              <a:tr h="1101960">
                <a:tc>
                  <a:txBody>
                    <a:bodyPr anchor="t">
                      <a:noAutofit/>
                    </a:bodyPr>
                    <a:p>
                      <a:pPr marL="90000">
                        <a:lnSpc>
                          <a:spcPct val="100000"/>
                        </a:lnSpc>
                        <a:spcBef>
                          <a:spcPts val="624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Exact</a:t>
                      </a:r>
                      <a:endParaRPr b="0" lang="fr-FR" sz="1200" spc="-1" strike="noStrike">
                        <a:latin typeface="Arial"/>
                      </a:endParaRPr>
                    </a:p>
                    <a:p>
                      <a:pPr marL="90000">
                        <a:lnSpc>
                          <a:spcPct val="100000"/>
                        </a:lnSpc>
                        <a:buNone/>
                      </a:pPr>
                      <a:endParaRPr b="0" lang="fr-FR" sz="1300" spc="-1" strike="noStrike">
                        <a:latin typeface="Arial"/>
                      </a:endParaRPr>
                    </a:p>
                    <a:p>
                      <a:pPr marL="90000">
                        <a:lnSpc>
                          <a:spcPct val="100000"/>
                        </a:lnSpc>
                        <a:spcBef>
                          <a:spcPts val="6"/>
                        </a:spcBef>
                        <a:buNone/>
                      </a:pPr>
                      <a:endParaRPr b="0" lang="fr-FR" sz="1200" spc="-1" strike="noStrike">
                        <a:latin typeface="Arial"/>
                      </a:endParaRPr>
                    </a:p>
                    <a:p>
                      <a:pPr marL="90000">
                        <a:lnSpc>
                          <a:spcPct val="100000"/>
                        </a:lnSpc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Prefix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>
                      <a:noFill/>
                    </a:lnL>
                    <a:lnR w="9360">
                      <a:solidFill>
                        <a:srgbClr val="ffffff"/>
                      </a:solidFill>
                    </a:lnR>
                    <a:lnT w="38160">
                      <a:solidFill>
                        <a:srgbClr val="660000"/>
                      </a:solidFill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ct val="100000"/>
                        </a:lnSpc>
                        <a:spcBef>
                          <a:spcPts val="624"/>
                        </a:spcBef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/corellian/api</a:t>
                      </a:r>
                      <a:endParaRPr b="0" lang="fr-FR" sz="120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ct val="100000"/>
                        </a:lnSpc>
                        <a:buNone/>
                      </a:pPr>
                      <a:endParaRPr b="0" lang="fr-FR" sz="130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ct val="100000"/>
                        </a:lnSpc>
                        <a:spcBef>
                          <a:spcPts val="6"/>
                        </a:spcBef>
                        <a:buNone/>
                      </a:pPr>
                      <a:endParaRPr b="0" lang="fr-FR" sz="120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ct val="100000"/>
                        </a:lnSpc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/corellian/api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38160">
                      <a:solidFill>
                        <a:srgbClr val="660000"/>
                      </a:solidFill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85680">
                        <a:lnSpc>
                          <a:spcPts val="1429"/>
                        </a:lnSpc>
                        <a:spcBef>
                          <a:spcPts val="624"/>
                        </a:spcBef>
                        <a:buNone/>
                      </a:pP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Matches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/corellian/ap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Courier New"/>
                        </a:rPr>
                        <a:t>i</a:t>
                      </a:r>
                      <a:r>
                        <a:rPr b="0" lang="fr-FR" sz="1200" spc="-392" strike="noStrike">
                          <a:solidFill>
                            <a:srgbClr val="000000"/>
                          </a:solidFill>
                          <a:latin typeface="Courier New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bu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t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 doe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s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 no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t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match</a:t>
                      </a:r>
                      <a:endParaRPr b="0" lang="fr-FR" sz="120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ts val="1434"/>
                        </a:lnSpc>
                        <a:buNone/>
                      </a:pP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/corellian/tes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Courier New"/>
                        </a:rPr>
                        <a:t>t</a:t>
                      </a:r>
                      <a:r>
                        <a:rPr b="0" lang="fr-FR" sz="1200" spc="-392" strike="noStrike">
                          <a:solidFill>
                            <a:srgbClr val="000000"/>
                          </a:solidFill>
                          <a:latin typeface="Courier New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o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r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/corellian/api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Courier New"/>
                        </a:rPr>
                        <a:t>/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.</a:t>
                      </a:r>
                      <a:endParaRPr b="0" lang="fr-FR" sz="120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ct val="100000"/>
                        </a:lnSpc>
                        <a:spcBef>
                          <a:spcPts val="14"/>
                        </a:spcBef>
                        <a:buNone/>
                      </a:pPr>
                      <a:endParaRPr b="0" lang="fr-FR" sz="1300" spc="-1" strike="noStrike">
                        <a:latin typeface="Arial"/>
                      </a:endParaRPr>
                    </a:p>
                    <a:p>
                      <a:pPr marL="85680">
                        <a:lnSpc>
                          <a:spcPts val="1429"/>
                        </a:lnSpc>
                        <a:buNone/>
                      </a:pP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Matches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/corellian/ap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Courier New"/>
                        </a:rPr>
                        <a:t>i</a:t>
                      </a:r>
                      <a:r>
                        <a:rPr b="0" lang="fr-FR" sz="1200" spc="-392" strike="noStrike">
                          <a:solidFill>
                            <a:srgbClr val="000000"/>
                          </a:solidFill>
                          <a:latin typeface="Courier New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an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d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/corellian/api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Courier New"/>
                        </a:rPr>
                        <a:t>/</a:t>
                      </a:r>
                      <a:r>
                        <a:rPr b="0" lang="fr-FR" sz="1200" spc="-392" strike="noStrike">
                          <a:solidFill>
                            <a:srgbClr val="000000"/>
                          </a:solidFill>
                          <a:latin typeface="Courier New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but  does</a:t>
                      </a:r>
                      <a:r>
                        <a:rPr b="0" lang="fr-FR" sz="1200" spc="-12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not </a:t>
                      </a:r>
                      <a:r>
                        <a:rPr b="0" lang="fr-FR" sz="1200" spc="-1" strike="noStrike">
                          <a:solidFill>
                            <a:srgbClr val="000000"/>
                          </a:solidFill>
                          <a:latin typeface="Arial MT"/>
                        </a:rPr>
                        <a:t>match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 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Courier New"/>
                        </a:rPr>
                        <a:t>/corellian/test</a:t>
                      </a:r>
                      <a:r>
                        <a:rPr b="0" lang="fr-FR" sz="1200" spc="-7" strike="noStrike">
                          <a:solidFill>
                            <a:srgbClr val="000000"/>
                          </a:solidFill>
                          <a:latin typeface="Arial MT"/>
                        </a:rPr>
                        <a:t>.</a:t>
                      </a:r>
                      <a:endParaRPr b="0" lang="fr-FR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38160">
                      <a:solidFill>
                        <a:srgbClr val="660000"/>
                      </a:solidFill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983" name="PlaceHolder 2"/>
          <p:cNvSpPr>
            <a:spLocks noGrp="1"/>
          </p:cNvSpPr>
          <p:nvPr>
            <p:ph type="sldNum" idx="52"/>
          </p:nvPr>
        </p:nvSpPr>
        <p:spPr>
          <a:xfrm>
            <a:off x="8701560" y="4908600"/>
            <a:ext cx="261720" cy="299808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3E8C8174-B1E4-4972-8909-5CDAAA2F79C9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4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80428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Listing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35" strike="noStrike">
                <a:solidFill>
                  <a:srgbClr val="000000"/>
                </a:solidFill>
                <a:latin typeface="Tahoma"/>
              </a:rPr>
              <a:t>and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Describing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Ingresses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Renders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hosts,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5" strike="noStrike">
                <a:solidFill>
                  <a:srgbClr val="666666"/>
                </a:solidFill>
                <a:latin typeface="Lucida Sans Unicode"/>
              </a:rPr>
              <a:t>IP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addresses,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ports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985" name="PlaceHolder 2"/>
          <p:cNvSpPr>
            <a:spLocks noGrp="1"/>
          </p:cNvSpPr>
          <p:nvPr>
            <p:ph type="sldNum" idx="53"/>
          </p:nvPr>
        </p:nvSpPr>
        <p:spPr>
          <a:xfrm>
            <a:off x="8701560" y="4908600"/>
            <a:ext cx="261720" cy="299808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21367342-36A6-4C8A-9D97-9A79567E8F57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pic>
        <p:nvPicPr>
          <p:cNvPr id="1986" name="" descr=""/>
          <p:cNvPicPr/>
          <p:nvPr/>
        </p:nvPicPr>
        <p:blipFill>
          <a:blip r:embed="rId1"/>
          <a:stretch/>
        </p:blipFill>
        <p:spPr>
          <a:xfrm>
            <a:off x="500760" y="1212120"/>
            <a:ext cx="6949800" cy="35301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7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164280" cy="1276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Configuring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86" strike="noStrike">
                <a:solidFill>
                  <a:srgbClr val="000000"/>
                </a:solidFill>
                <a:latin typeface="Tahoma"/>
              </a:rPr>
              <a:t>DNS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for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1" strike="noStrike">
                <a:solidFill>
                  <a:srgbClr val="000000"/>
                </a:solidFill>
                <a:latin typeface="Tahoma"/>
              </a:rPr>
              <a:t>an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Ingress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Making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6" strike="noStrike">
                <a:solidFill>
                  <a:srgbClr val="666666"/>
                </a:solidFill>
                <a:latin typeface="Lucida Sans Unicode"/>
              </a:rPr>
              <a:t>an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Ingress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convenient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use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by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end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users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1988" name="PlaceHolder 2"/>
          <p:cNvSpPr>
            <a:spLocks noGrp="1"/>
          </p:cNvSpPr>
          <p:nvPr>
            <p:ph type="sldNum" idx="54"/>
          </p:nvPr>
        </p:nvSpPr>
        <p:spPr>
          <a:xfrm>
            <a:off x="8701560" y="4908600"/>
            <a:ext cx="261720" cy="299808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207D9702-5F12-44A0-B8BB-229044796E3E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sp>
        <p:nvSpPr>
          <p:cNvPr id="1989" name="object 3"/>
          <p:cNvSpPr/>
          <p:nvPr/>
        </p:nvSpPr>
        <p:spPr>
          <a:xfrm>
            <a:off x="600120" y="1392840"/>
            <a:ext cx="8218440" cy="244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00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92" strike="noStrike">
                <a:solidFill>
                  <a:srgbClr val="000000"/>
                </a:solidFill>
                <a:latin typeface="Arial MT"/>
                <a:ea typeface="DejaVu Sans"/>
              </a:rPr>
              <a:t>To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resolve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Ingress,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you’ll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need to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configure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DNS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entries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 the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external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address.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32" strike="noStrike">
                <a:solidFill>
                  <a:srgbClr val="000000"/>
                </a:solidFill>
                <a:latin typeface="Arial MT"/>
                <a:ea typeface="DejaVu Sans"/>
              </a:rPr>
              <a:t>You’ll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need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either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configure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</a:t>
            </a:r>
            <a:r>
              <a:rPr b="0" lang="fr-FR" sz="1600" spc="-9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00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record,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CNAME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record.</a:t>
            </a:r>
            <a:r>
              <a:rPr b="0" lang="fr-FR" sz="1600" spc="-4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</a:t>
            </a:r>
            <a:r>
              <a:rPr b="0" lang="fr-FR" sz="1600" spc="-1" strike="noStrike">
                <a:solidFill>
                  <a:srgbClr val="d3002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1"/>
              </a:rPr>
              <a:t>ExternalDNS </a:t>
            </a:r>
            <a:r>
              <a:rPr b="0" lang="fr-FR" sz="1600" spc="-432" strike="noStrike">
                <a:solidFill>
                  <a:srgbClr val="d3002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cluster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add-on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help with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managing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those DNS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records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for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you.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If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you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have no domain or are using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local Kubernetes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solution, you can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add the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mapping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between IP</a:t>
            </a:r>
            <a:r>
              <a:rPr b="0" lang="fr-FR" sz="16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address and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domain name to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21" strike="noStrike">
                <a:solidFill>
                  <a:srgbClr val="000000"/>
                </a:solidFill>
                <a:latin typeface="Courier New"/>
                <a:ea typeface="DejaVu Sans"/>
              </a:rPr>
              <a:t>/etc/hosts</a:t>
            </a:r>
            <a:r>
              <a:rPr b="0" lang="fr-FR" sz="1600" spc="-21" strike="noStrike">
                <a:solidFill>
                  <a:srgbClr val="000000"/>
                </a:solidFill>
                <a:latin typeface="Arial MT"/>
                <a:ea typeface="DejaVu Sans"/>
              </a:rPr>
              <a:t>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0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62428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35" strike="noStrike">
                <a:solidFill>
                  <a:srgbClr val="000000"/>
                </a:solidFill>
                <a:latin typeface="Tahoma"/>
              </a:rPr>
              <a:t>Accessing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1" strike="noStrike">
                <a:solidFill>
                  <a:srgbClr val="000000"/>
                </a:solidFill>
                <a:latin typeface="Tahoma"/>
              </a:rPr>
              <a:t>an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Ingress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Use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host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9" strike="noStrike">
                <a:solidFill>
                  <a:srgbClr val="666666"/>
                </a:solidFill>
                <a:latin typeface="Lucida Sans Unicode"/>
              </a:rPr>
              <a:t>name,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port,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context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6" strike="noStrike">
                <a:solidFill>
                  <a:srgbClr val="666666"/>
                </a:solidFill>
                <a:latin typeface="Lucida Sans Unicode"/>
              </a:rPr>
              <a:t>path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1991" name="object 3"/>
          <p:cNvGrpSpPr/>
          <p:nvPr/>
        </p:nvGrpSpPr>
        <p:grpSpPr>
          <a:xfrm>
            <a:off x="455400" y="1360440"/>
            <a:ext cx="7377480" cy="3247200"/>
            <a:chOff x="455400" y="1360440"/>
            <a:chExt cx="7377480" cy="3247200"/>
          </a:xfrm>
        </p:grpSpPr>
        <p:pic>
          <p:nvPicPr>
            <p:cNvPr id="1992" name="object 4" descr=""/>
            <p:cNvPicPr/>
            <p:nvPr/>
          </p:nvPicPr>
          <p:blipFill>
            <a:blip r:embed="rId1"/>
            <a:stretch/>
          </p:blipFill>
          <p:spPr>
            <a:xfrm>
              <a:off x="455400" y="1360440"/>
              <a:ext cx="7377480" cy="32472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993" name="object 5"/>
            <p:cNvSpPr/>
            <p:nvPr/>
          </p:nvSpPr>
          <p:spPr>
            <a:xfrm>
              <a:off x="509040" y="1408680"/>
              <a:ext cx="7263000" cy="3133080"/>
            </a:xfrm>
            <a:custGeom>
              <a:avLst/>
              <a:gdLst/>
              <a:ahLst/>
              <a:rect l="l" t="t" r="r" b="b"/>
              <a:pathLst>
                <a:path w="7266305" h="3136265">
                  <a:moveTo>
                    <a:pt x="7266299" y="3136199"/>
                  </a:moveTo>
                  <a:lnTo>
                    <a:pt x="0" y="3136199"/>
                  </a:lnTo>
                  <a:lnTo>
                    <a:pt x="0" y="0"/>
                  </a:lnTo>
                  <a:lnTo>
                    <a:pt x="7266299" y="0"/>
                  </a:lnTo>
                  <a:lnTo>
                    <a:pt x="7266299" y="31361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994" name="object 6"/>
          <p:cNvSpPr/>
          <p:nvPr/>
        </p:nvSpPr>
        <p:spPr>
          <a:xfrm>
            <a:off x="1323720" y="1576080"/>
            <a:ext cx="2918520" cy="17748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47520">
              <a:lnSpc>
                <a:spcPts val="1400"/>
              </a:lnSpc>
              <a:buNone/>
            </a:pP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star-alliance.com/corellian/api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995" name="PlaceHolder 2"/>
          <p:cNvSpPr>
            <a:spLocks noGrp="1"/>
          </p:cNvSpPr>
          <p:nvPr>
            <p:ph type="sldNum" idx="55"/>
          </p:nvPr>
        </p:nvSpPr>
        <p:spPr>
          <a:xfrm>
            <a:off x="8701560" y="4908600"/>
            <a:ext cx="261720" cy="299808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FC6706CD-B01A-462D-87EE-A45623E17491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sp>
        <p:nvSpPr>
          <p:cNvPr id="1996" name="object 7"/>
          <p:cNvSpPr/>
          <p:nvPr/>
        </p:nvSpPr>
        <p:spPr>
          <a:xfrm>
            <a:off x="718920" y="1557720"/>
            <a:ext cx="2125440" cy="3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429"/>
              </a:lnSpc>
              <a:spcBef>
                <a:spcPts val="99"/>
              </a:spcBef>
              <a:buNone/>
            </a:pPr>
            <a:r>
              <a:rPr b="1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2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wget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34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--2021-11-30</a:t>
            </a:r>
            <a:r>
              <a:rPr b="0" lang="fr-FR" sz="1200" spc="-80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19:34:57--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997" name="object 8"/>
          <p:cNvSpPr/>
          <p:nvPr/>
        </p:nvSpPr>
        <p:spPr>
          <a:xfrm>
            <a:off x="3004560" y="1557720"/>
            <a:ext cx="3497040" cy="3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92400">
              <a:lnSpc>
                <a:spcPts val="1429"/>
              </a:lnSpc>
              <a:spcBef>
                <a:spcPts val="99"/>
              </a:spcBef>
              <a:buNone/>
            </a:pP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--timeout=5</a:t>
            </a:r>
            <a:r>
              <a:rPr b="1" lang="fr-FR" sz="12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--tries=1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34"/>
              </a:lnSpc>
              <a:buNone/>
            </a:pPr>
            <a:r>
              <a:rPr b="0" lang="fr-FR" sz="1200" spc="-7" strike="noStrike" u="sng">
                <a:solidFill>
                  <a:srgbClr val="0000ff"/>
                </a:solidFill>
                <a:uFillTx/>
                <a:latin typeface="Courier New"/>
                <a:ea typeface="DejaVu Sans"/>
                <a:hlinkClick r:id="rId2"/>
              </a:rPr>
              <a:t>http://star-alliance.com/corellian/api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998" name="object 9"/>
          <p:cNvSpPr/>
          <p:nvPr/>
        </p:nvSpPr>
        <p:spPr>
          <a:xfrm>
            <a:off x="718920" y="1919880"/>
            <a:ext cx="6774840" cy="91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9800" bIns="0" anchor="t">
            <a:spAutoFit/>
          </a:bodyPr>
          <a:p>
            <a:pPr marL="12600">
              <a:lnSpc>
                <a:spcPts val="1429"/>
              </a:lnSpc>
              <a:spcBef>
                <a:spcPts val="156"/>
              </a:spcBef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Resolving</a:t>
            </a:r>
            <a:r>
              <a:rPr b="0" lang="fr-FR" sz="1200" spc="5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star-alliance.com</a:t>
            </a:r>
            <a:r>
              <a:rPr b="0" lang="fr-FR" sz="1200" spc="5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(star-alliance.com)...</a:t>
            </a:r>
            <a:r>
              <a:rPr b="0" lang="fr-FR" sz="1200" spc="60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192.168.64.15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Connecting to star-alliance.com (star-alliance.com)|192.168.64.15|:80... </a:t>
            </a:r>
            <a:r>
              <a:rPr b="0" lang="fr-FR" sz="1200" spc="-1" strike="noStrike">
                <a:solidFill>
                  <a:srgbClr val="000000"/>
                </a:solidFill>
                <a:latin typeface="MS Gothic"/>
                <a:ea typeface="DejaVu Sans"/>
              </a:rPr>
              <a:t>↵ </a:t>
            </a:r>
            <a:r>
              <a:rPr b="0" lang="fr-FR" sz="1200" spc="-585" strike="noStrike">
                <a:solidFill>
                  <a:srgbClr val="000000"/>
                </a:solidFill>
                <a:latin typeface="MS Gothic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connected.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361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HTTP</a:t>
            </a:r>
            <a:r>
              <a:rPr b="0" lang="fr-FR" sz="12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request</a:t>
            </a:r>
            <a:r>
              <a:rPr b="0" lang="fr-FR" sz="12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sent,</a:t>
            </a:r>
            <a:r>
              <a:rPr b="0" lang="fr-FR" sz="12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awaiting</a:t>
            </a:r>
            <a:r>
              <a:rPr b="0" lang="fr-FR" sz="12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response...</a:t>
            </a:r>
            <a:r>
              <a:rPr b="0" lang="fr-FR" sz="12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200</a:t>
            </a:r>
            <a:r>
              <a:rPr b="0" lang="fr-FR" sz="12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OK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34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...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1999" name="object 10"/>
          <p:cNvSpPr/>
          <p:nvPr/>
        </p:nvSpPr>
        <p:spPr>
          <a:xfrm>
            <a:off x="1323720" y="3029760"/>
            <a:ext cx="3015000" cy="171000"/>
          </a:xfrm>
          <a:prstGeom prst="rect">
            <a:avLst/>
          </a:prstGeom>
          <a:solidFill>
            <a:srgbClr val="f6f6f7"/>
          </a:solidFill>
          <a:ln w="19049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47520">
              <a:lnSpc>
                <a:spcPts val="1349"/>
              </a:lnSpc>
              <a:buNone/>
            </a:pP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star-alliance.com/corellian/api/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2000" name="object 11"/>
          <p:cNvSpPr/>
          <p:nvPr/>
        </p:nvSpPr>
        <p:spPr>
          <a:xfrm>
            <a:off x="718920" y="3005640"/>
            <a:ext cx="2125440" cy="3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ts val="1429"/>
              </a:lnSpc>
              <a:spcBef>
                <a:spcPts val="99"/>
              </a:spcBef>
              <a:buNone/>
            </a:pPr>
            <a:r>
              <a:rPr b="1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2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wget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34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--2021-11-30</a:t>
            </a:r>
            <a:r>
              <a:rPr b="0" lang="fr-FR" sz="1200" spc="-80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15:36:26--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2001" name="object 12"/>
          <p:cNvSpPr/>
          <p:nvPr/>
        </p:nvSpPr>
        <p:spPr>
          <a:xfrm>
            <a:off x="3004560" y="3005640"/>
            <a:ext cx="3588480" cy="3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383840">
              <a:lnSpc>
                <a:spcPts val="1429"/>
              </a:lnSpc>
              <a:spcBef>
                <a:spcPts val="99"/>
              </a:spcBef>
              <a:buNone/>
            </a:pP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--timeout=5</a:t>
            </a:r>
            <a:r>
              <a:rPr b="1" lang="fr-FR" sz="1200" spc="-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--tries=1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34"/>
              </a:lnSpc>
              <a:buNone/>
            </a:pPr>
            <a:r>
              <a:rPr b="0" lang="fr-FR" sz="1200" spc="-7" strike="noStrike" u="sng">
                <a:solidFill>
                  <a:srgbClr val="0000ff"/>
                </a:solidFill>
                <a:uFillTx/>
                <a:latin typeface="Courier New"/>
                <a:ea typeface="DejaVu Sans"/>
                <a:hlinkClick r:id="rId3"/>
              </a:rPr>
              <a:t>http://star-alliance.com/corellian/api/</a:t>
            </a:r>
            <a:endParaRPr b="0" lang="fr-FR" sz="1200" spc="-1" strike="noStrike">
              <a:latin typeface="Arial"/>
            </a:endParaRPr>
          </a:p>
        </p:txBody>
      </p:sp>
      <p:sp>
        <p:nvSpPr>
          <p:cNvPr id="2002" name="object 13"/>
          <p:cNvSpPr/>
          <p:nvPr/>
        </p:nvSpPr>
        <p:spPr>
          <a:xfrm>
            <a:off x="718920" y="3367800"/>
            <a:ext cx="6774840" cy="91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9800" bIns="0" anchor="t">
            <a:spAutoFit/>
          </a:bodyPr>
          <a:p>
            <a:pPr marL="12600">
              <a:lnSpc>
                <a:spcPts val="1429"/>
              </a:lnSpc>
              <a:spcBef>
                <a:spcPts val="156"/>
              </a:spcBef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Resolving</a:t>
            </a:r>
            <a:r>
              <a:rPr b="0" lang="fr-FR" sz="1200" spc="5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star-alliance.com</a:t>
            </a:r>
            <a:r>
              <a:rPr b="0" lang="fr-FR" sz="1200" spc="5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(star-alliance.com)...</a:t>
            </a:r>
            <a:r>
              <a:rPr b="0" lang="fr-FR" sz="1200" spc="60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192.168.64.15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Connecting to star-alliance.com (star-alliance.com)|192.168.64.15|:80... </a:t>
            </a:r>
            <a:r>
              <a:rPr b="0" lang="fr-FR" sz="1200" spc="-1" strike="noStrike">
                <a:solidFill>
                  <a:srgbClr val="000000"/>
                </a:solidFill>
                <a:latin typeface="MS Gothic"/>
                <a:ea typeface="DejaVu Sans"/>
              </a:rPr>
              <a:t>↵ </a:t>
            </a:r>
            <a:r>
              <a:rPr b="0" lang="fr-FR" sz="1200" spc="-585" strike="noStrike">
                <a:solidFill>
                  <a:srgbClr val="000000"/>
                </a:solidFill>
                <a:latin typeface="MS Gothic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connected.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361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HTTP</a:t>
            </a:r>
            <a:r>
              <a:rPr b="0" lang="fr-FR" sz="12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request</a:t>
            </a:r>
            <a:r>
              <a:rPr b="0" lang="fr-FR" sz="12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sent,</a:t>
            </a:r>
            <a:r>
              <a:rPr b="0" lang="fr-FR" sz="12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awaiting</a:t>
            </a:r>
            <a:r>
              <a:rPr b="0" lang="fr-FR" sz="12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response...</a:t>
            </a:r>
            <a:r>
              <a:rPr b="0" lang="fr-FR" sz="12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404</a:t>
            </a:r>
            <a:r>
              <a:rPr b="0" lang="fr-FR" sz="12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Not</a:t>
            </a:r>
            <a:r>
              <a:rPr b="0" lang="fr-FR" sz="12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Found</a:t>
            </a:r>
            <a:endParaRPr b="0" lang="fr-FR" sz="1200" spc="-1" strike="noStrike">
              <a:latin typeface="Arial"/>
            </a:endParaRPr>
          </a:p>
          <a:p>
            <a:pPr marL="12600">
              <a:lnSpc>
                <a:spcPts val="1434"/>
              </a:lnSpc>
              <a:buNone/>
            </a:pP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2021-11-30</a:t>
            </a:r>
            <a:r>
              <a:rPr b="0" lang="fr-FR" sz="12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15:36:26</a:t>
            </a:r>
            <a:r>
              <a:rPr b="0" lang="fr-FR" sz="12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ERROR</a:t>
            </a:r>
            <a:r>
              <a:rPr b="0" lang="fr-FR" sz="12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404:</a:t>
            </a:r>
            <a:r>
              <a:rPr b="0" lang="fr-FR" sz="12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Not</a:t>
            </a:r>
            <a:r>
              <a:rPr b="0" lang="fr-FR" sz="1200" spc="-2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200" spc="-7" strike="noStrike">
                <a:solidFill>
                  <a:srgbClr val="000000"/>
                </a:solidFill>
                <a:latin typeface="Courier New"/>
                <a:ea typeface="DejaVu Sans"/>
              </a:rPr>
              <a:t>Found.</a:t>
            </a:r>
            <a:endParaRPr b="0" lang="fr-FR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3" name="object 2"/>
          <p:cNvSpPr/>
          <p:nvPr/>
        </p:nvSpPr>
        <p:spPr>
          <a:xfrm>
            <a:off x="494280" y="371880"/>
            <a:ext cx="128268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2400" spc="-15" strike="noStrike">
                <a:solidFill>
                  <a:srgbClr val="000000"/>
                </a:solidFill>
                <a:latin typeface="Tahoma"/>
                <a:ea typeface="DejaVu Sans"/>
              </a:rPr>
              <a:t>Lab 19</a:t>
            </a:r>
            <a:endParaRPr b="0" lang="fr-FR" sz="2400" spc="-1" strike="noStrike">
              <a:latin typeface="Arial"/>
            </a:endParaRPr>
          </a:p>
        </p:txBody>
      </p:sp>
      <p:sp>
        <p:nvSpPr>
          <p:cNvPr id="2004" name="object 3"/>
          <p:cNvSpPr/>
          <p:nvPr/>
        </p:nvSpPr>
        <p:spPr>
          <a:xfrm>
            <a:off x="494280" y="1323360"/>
            <a:ext cx="3582720" cy="101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14000"/>
              </a:lnSpc>
              <a:spcBef>
                <a:spcPts val="99"/>
              </a:spcBef>
              <a:buNone/>
            </a:pP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Defining</a:t>
            </a:r>
            <a:r>
              <a:rPr b="0" lang="fr-FR" sz="29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and</a:t>
            </a:r>
            <a:r>
              <a:rPr b="0" lang="fr-FR" sz="2900" spc="-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using</a:t>
            </a:r>
            <a:r>
              <a:rPr b="0" lang="fr-FR" sz="29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an </a:t>
            </a:r>
            <a:r>
              <a:rPr b="0" lang="fr-FR" sz="2900" spc="-79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Ingress</a:t>
            </a:r>
            <a:endParaRPr b="0" lang="fr-FR" sz="2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05" name="object 2"/>
          <p:cNvGrpSpPr/>
          <p:nvPr/>
        </p:nvGrpSpPr>
        <p:grpSpPr>
          <a:xfrm>
            <a:off x="0" y="0"/>
            <a:ext cx="9140760" cy="5140080"/>
            <a:chOff x="0" y="0"/>
            <a:chExt cx="9140760" cy="5140080"/>
          </a:xfrm>
        </p:grpSpPr>
        <p:pic>
          <p:nvPicPr>
            <p:cNvPr id="2006" name="object 3" descr=""/>
            <p:cNvPicPr/>
            <p:nvPr/>
          </p:nvPicPr>
          <p:blipFill>
            <a:blip r:embed="rId1"/>
            <a:stretch/>
          </p:blipFill>
          <p:spPr>
            <a:xfrm>
              <a:off x="0" y="0"/>
              <a:ext cx="9140760" cy="514008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2007" name="object 4" descr=""/>
            <p:cNvPicPr/>
            <p:nvPr/>
          </p:nvPicPr>
          <p:blipFill>
            <a:blip r:embed="rId2"/>
            <a:stretch/>
          </p:blipFill>
          <p:spPr>
            <a:xfrm>
              <a:off x="8714160" y="146160"/>
              <a:ext cx="284400" cy="22968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2008" name="PlaceHolder 1"/>
          <p:cNvSpPr>
            <a:spLocks noGrp="1"/>
          </p:cNvSpPr>
          <p:nvPr>
            <p:ph type="title"/>
          </p:nvPr>
        </p:nvSpPr>
        <p:spPr>
          <a:xfrm>
            <a:off x="494280" y="1665000"/>
            <a:ext cx="4526280" cy="1381680"/>
          </a:xfrm>
          <a:prstGeom prst="rect">
            <a:avLst/>
          </a:prstGeom>
          <a:noFill/>
          <a:ln w="0">
            <a:noFill/>
          </a:ln>
        </p:spPr>
        <p:txBody>
          <a:bodyPr lIns="0" rIns="0" tIns="195480" bIns="0" anchor="t">
            <a:noAutofit/>
          </a:bodyPr>
          <a:p>
            <a:pPr marL="12600">
              <a:lnSpc>
                <a:spcPct val="100000"/>
              </a:lnSpc>
              <a:spcBef>
                <a:spcPts val="1539"/>
              </a:spcBef>
              <a:buNone/>
            </a:pPr>
            <a:r>
              <a:rPr b="1" lang="fr-FR" sz="3600" spc="-60" strike="noStrike">
                <a:solidFill>
                  <a:srgbClr val="ffffff"/>
                </a:solidFill>
                <a:latin typeface="Tahoma"/>
              </a:rPr>
              <a:t>Network</a:t>
            </a:r>
            <a:r>
              <a:rPr b="1" lang="fr-FR" sz="3600" spc="-202" strike="noStrike">
                <a:solidFill>
                  <a:srgbClr val="ffffff"/>
                </a:solidFill>
                <a:latin typeface="Tahoma"/>
              </a:rPr>
              <a:t> </a:t>
            </a:r>
            <a:r>
              <a:rPr b="1" lang="fr-FR" sz="3600" spc="-1" strike="noStrike">
                <a:solidFill>
                  <a:srgbClr val="ffffff"/>
                </a:solidFill>
                <a:latin typeface="Tahoma"/>
              </a:rPr>
              <a:t>Policies</a:t>
            </a:r>
            <a:endParaRPr b="0" lang="fr-FR" sz="36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720"/>
              </a:spcBef>
              <a:buNone/>
            </a:pPr>
            <a:r>
              <a:rPr b="0" lang="fr-FR" sz="1800" spc="-1" strike="noStrike">
                <a:solidFill>
                  <a:srgbClr val="ffffff"/>
                </a:solidFill>
                <a:latin typeface="Lucida Sans Unicode"/>
              </a:rPr>
              <a:t>Restricting</a:t>
            </a:r>
            <a:r>
              <a:rPr b="0" lang="fr-FR" sz="1800" spc="-100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1" strike="noStrike">
                <a:solidFill>
                  <a:srgbClr val="ffffff"/>
                </a:solidFill>
                <a:latin typeface="Lucida Sans Unicode"/>
              </a:rPr>
              <a:t>Pod-to-Pod</a:t>
            </a:r>
            <a:r>
              <a:rPr b="0" lang="fr-FR" sz="1800" spc="-97" strike="noStrike">
                <a:solidFill>
                  <a:srgbClr val="ffffff"/>
                </a:solidFill>
                <a:latin typeface="Lucida Sans Unicode"/>
              </a:rPr>
              <a:t> </a:t>
            </a:r>
            <a:r>
              <a:rPr b="0" lang="fr-FR" sz="1800" spc="46" strike="noStrike">
                <a:solidFill>
                  <a:srgbClr val="ffffff"/>
                </a:solidFill>
                <a:latin typeface="Lucida Sans Unicode"/>
              </a:rPr>
              <a:t>communication</a:t>
            </a:r>
            <a:endParaRPr b="0" lang="fr-FR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9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444280" cy="89784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5" strike="noStrike">
                <a:solidFill>
                  <a:srgbClr val="000000"/>
                </a:solidFill>
                <a:latin typeface="Tahoma"/>
              </a:rPr>
              <a:t>What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180" strike="noStrike">
                <a:solidFill>
                  <a:srgbClr val="000000"/>
                </a:solidFill>
                <a:latin typeface="Tahoma"/>
              </a:rPr>
              <a:t>a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Network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" strike="noStrike">
                <a:solidFill>
                  <a:srgbClr val="000000"/>
                </a:solidFill>
                <a:latin typeface="Tahoma"/>
              </a:rPr>
              <a:t>Policy?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Firewall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rules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2" strike="noStrike">
                <a:solidFill>
                  <a:srgbClr val="666666"/>
                </a:solidFill>
                <a:latin typeface="Lucida Sans Unicode"/>
              </a:rPr>
              <a:t>for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Pod-to-Pod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35" strike="noStrike">
                <a:solidFill>
                  <a:srgbClr val="666666"/>
                </a:solidFill>
                <a:latin typeface="Lucida Sans Unicode"/>
              </a:rPr>
              <a:t>communication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2010" name="PlaceHolder 2"/>
          <p:cNvSpPr>
            <a:spLocks noGrp="1"/>
          </p:cNvSpPr>
          <p:nvPr>
            <p:ph type="sldNum" idx="56"/>
          </p:nvPr>
        </p:nvSpPr>
        <p:spPr>
          <a:xfrm>
            <a:off x="8701560" y="4908600"/>
            <a:ext cx="261720" cy="299808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56F07796-FEF1-40CC-ACA3-588049C22665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sp>
        <p:nvSpPr>
          <p:cNvPr id="2011" name="object 3"/>
          <p:cNvSpPr/>
          <p:nvPr/>
        </p:nvSpPr>
        <p:spPr>
          <a:xfrm>
            <a:off x="600120" y="1360440"/>
            <a:ext cx="8398440" cy="307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installed</a:t>
            </a:r>
            <a:r>
              <a:rPr b="0" lang="fr-FR" sz="1600" spc="-7" strike="noStrike">
                <a:solidFill>
                  <a:srgbClr val="d3002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1"/>
              </a:rPr>
              <a:t>Container Network Interface </a:t>
            </a:r>
            <a:r>
              <a:rPr b="0" lang="fr-FR" sz="1600" spc="-1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2"/>
              </a:rPr>
              <a:t>(CNI) </a:t>
            </a:r>
            <a:r>
              <a:rPr b="0" lang="fr-FR" sz="1600" spc="-7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3"/>
              </a:rPr>
              <a:t>plugin</a:t>
            </a:r>
            <a:r>
              <a:rPr b="0" lang="fr-FR" sz="1600" spc="-7" strike="noStrike" u="sng">
                <a:solidFill>
                  <a:srgbClr val="0000ff"/>
                </a:solidFill>
                <a:uFillTx/>
                <a:latin typeface="Arial MT"/>
                <a:ea typeface="DejaVu Sans"/>
                <a:hlinkClick r:id="rId4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leases and assigns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new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virtual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IP</a:t>
            </a:r>
            <a:r>
              <a:rPr b="0" lang="fr-FR" sz="16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address to every Pod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when it is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created.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Communication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between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Pods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within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same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cluster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unrestricted.</a:t>
            </a:r>
            <a:r>
              <a:rPr b="0" lang="fr-FR" sz="1600" spc="-4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55" strike="noStrike">
                <a:solidFill>
                  <a:srgbClr val="000000"/>
                </a:solidFill>
                <a:latin typeface="Arial MT"/>
                <a:ea typeface="DejaVu Sans"/>
              </a:rPr>
              <a:t>You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use</a:t>
            </a:r>
            <a:r>
              <a:rPr b="0" lang="fr-FR" sz="1600" spc="9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Pod’s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IP</a:t>
            </a:r>
            <a:r>
              <a:rPr b="0" lang="fr-FR" sz="1600" spc="-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address to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communicate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with it.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Network policies implement the principle of least privilege. Only allow Pods to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communicate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if it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is needed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to fulfill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requirements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 architecture.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None/>
              <a:tabLst>
                <a:tab algn="l" pos="363960"/>
                <a:tab algn="l" pos="364320"/>
              </a:tabLst>
            </a:pPr>
            <a:endParaRPr b="0" lang="fr-FR" sz="1850" spc="-1" strike="noStrike">
              <a:latin typeface="Arial"/>
            </a:endParaRPr>
          </a:p>
          <a:p>
            <a:pPr marL="363960" indent="-351720">
              <a:lnSpc>
                <a:spcPct val="113000"/>
              </a:lnSpc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55" strike="noStrike">
                <a:solidFill>
                  <a:srgbClr val="000000"/>
                </a:solidFill>
                <a:latin typeface="Arial MT"/>
                <a:ea typeface="DejaVu Sans"/>
              </a:rPr>
              <a:t>You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disallow and allow network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communication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with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coarse-grained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and </a:t>
            </a:r>
            <a:r>
              <a:rPr b="0" lang="fr-FR" sz="1600" spc="-43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fine-grained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rules.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70428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5" strike="noStrike">
                <a:solidFill>
                  <a:srgbClr val="000000"/>
                </a:solidFill>
                <a:latin typeface="Tahoma"/>
              </a:rPr>
              <a:t>What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is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21" strike="noStrike">
                <a:solidFill>
                  <a:srgbClr val="000000"/>
                </a:solidFill>
                <a:latin typeface="Tahoma"/>
              </a:rPr>
              <a:t>an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Network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Policy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" strike="noStrike">
                <a:solidFill>
                  <a:srgbClr val="000000"/>
                </a:solidFill>
                <a:latin typeface="Tahoma"/>
              </a:rPr>
              <a:t>Controller?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Evaluating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Network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Policy</a:t>
            </a:r>
            <a:r>
              <a:rPr b="0" lang="fr-FR" sz="1600" spc="-9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rules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2013" name="PlaceHolder 2"/>
          <p:cNvSpPr>
            <a:spLocks noGrp="1"/>
          </p:cNvSpPr>
          <p:nvPr>
            <p:ph type="sldNum" idx="57"/>
          </p:nvPr>
        </p:nvSpPr>
        <p:spPr>
          <a:xfrm>
            <a:off x="8701560" y="4908600"/>
            <a:ext cx="261720" cy="299808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5D26B210-738D-4125-801A-C6FB3249AB11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sp>
        <p:nvSpPr>
          <p:cNvPr id="2014" name="object 3"/>
          <p:cNvSpPr/>
          <p:nvPr/>
        </p:nvSpPr>
        <p:spPr>
          <a:xfrm>
            <a:off x="600120" y="1360440"/>
            <a:ext cx="8038440" cy="14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363960" indent="-351720">
              <a:lnSpc>
                <a:spcPct val="113000"/>
              </a:lnSpc>
              <a:spcBef>
                <a:spcPts val="99"/>
              </a:spcBef>
              <a:buClr>
                <a:srgbClr val="000000"/>
              </a:buClr>
              <a:buFont typeface="Wingdings" charset="2"/>
              <a:buChar char=""/>
              <a:tabLst>
                <a:tab algn="l" pos="363960"/>
                <a:tab algn="l" pos="36432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Network Policy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cannot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work without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Network Policy 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controller.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Network </a:t>
            </a:r>
            <a:r>
              <a:rPr b="0" lang="fr-FR" sz="1600" spc="-43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Policy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controller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evaluates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the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collection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of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rules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defined by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 Network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26" strike="noStrike">
                <a:solidFill>
                  <a:srgbClr val="000000"/>
                </a:solidFill>
                <a:latin typeface="Arial MT"/>
                <a:ea typeface="DejaVu Sans"/>
              </a:rPr>
              <a:t>Policy.</a:t>
            </a:r>
            <a:endParaRPr b="0" lang="fr-FR" sz="1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1"/>
              </a:spcBef>
              <a:buNone/>
              <a:tabLst>
                <a:tab algn="l" pos="363960"/>
                <a:tab algn="l" pos="364320"/>
              </a:tabLst>
            </a:pPr>
            <a:endParaRPr b="0" lang="fr-FR" sz="2100" spc="-1" strike="noStrike">
              <a:latin typeface="Arial"/>
            </a:endParaRPr>
          </a:p>
          <a:p>
            <a:pPr marL="363960" indent="-351720">
              <a:lnSpc>
                <a:spcPct val="100000"/>
              </a:lnSpc>
              <a:spcBef>
                <a:spcPts val="6"/>
              </a:spcBef>
              <a:buClr>
                <a:srgbClr val="000000"/>
              </a:buClr>
              <a:buFont typeface="Arial MT"/>
              <a:buChar char="●"/>
              <a:tabLst>
                <a:tab algn="l" pos="363960"/>
                <a:tab algn="l" pos="364320"/>
              </a:tabLst>
            </a:pP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One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option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for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such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a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Network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Policy</a:t>
            </a:r>
            <a:r>
              <a:rPr b="0" lang="fr-FR" sz="1600" spc="-15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1" strike="noStrike">
                <a:solidFill>
                  <a:srgbClr val="000000"/>
                </a:solidFill>
                <a:latin typeface="Arial MT"/>
                <a:ea typeface="DejaVu Sans"/>
              </a:rPr>
              <a:t>controller</a:t>
            </a:r>
            <a:r>
              <a:rPr b="0" lang="fr-FR" sz="1600" spc="-12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is</a:t>
            </a:r>
            <a:r>
              <a:rPr b="0" lang="fr-FR" sz="1600" spc="9" strike="noStrike">
                <a:solidFill>
                  <a:srgbClr val="d30020"/>
                </a:solidFill>
                <a:latin typeface="Arial MT"/>
                <a:ea typeface="DejaVu Sans"/>
              </a:rPr>
              <a:t> </a:t>
            </a:r>
            <a:r>
              <a:rPr b="0" lang="fr-FR" sz="1600" spc="-7" strike="noStrike" u="heavy">
                <a:solidFill>
                  <a:srgbClr val="0000ff"/>
                </a:solidFill>
                <a:uFill>
                  <a:solidFill>
                    <a:srgbClr val="d30020"/>
                  </a:solidFill>
                </a:uFill>
                <a:latin typeface="Arial MT"/>
                <a:ea typeface="DejaVu Sans"/>
                <a:hlinkClick r:id="rId1"/>
              </a:rPr>
              <a:t>Cilium</a:t>
            </a:r>
            <a:r>
              <a:rPr b="0" lang="fr-FR" sz="1600" spc="-7" strike="noStrike">
                <a:solidFill>
                  <a:srgbClr val="000000"/>
                </a:solidFill>
                <a:latin typeface="Arial MT"/>
                <a:ea typeface="DejaVu Sans"/>
              </a:rPr>
              <a:t>.</a:t>
            </a:r>
            <a:endParaRPr b="0" lang="fr-F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98428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Network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Policy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72" strike="noStrike">
                <a:solidFill>
                  <a:srgbClr val="000000"/>
                </a:solidFill>
                <a:latin typeface="Tahoma"/>
              </a:rPr>
              <a:t>YAML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Manifest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Key-value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pairs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00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0" strike="noStrike">
                <a:solidFill>
                  <a:srgbClr val="666666"/>
                </a:solidFill>
                <a:latin typeface="Lucida Sans Unicode"/>
              </a:rPr>
              <a:t>be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parsed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from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different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sources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2016" name="PlaceHolder 2"/>
          <p:cNvSpPr>
            <a:spLocks noGrp="1"/>
          </p:cNvSpPr>
          <p:nvPr>
            <p:ph type="sldNum" idx="58"/>
          </p:nvPr>
        </p:nvSpPr>
        <p:spPr>
          <a:xfrm>
            <a:off x="8701560" y="4908600"/>
            <a:ext cx="261720" cy="299808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474031E8-171C-4FC7-8FE9-589AEAA1B4BB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pic>
        <p:nvPicPr>
          <p:cNvPr id="2017" name="" descr=""/>
          <p:cNvPicPr/>
          <p:nvPr/>
        </p:nvPicPr>
        <p:blipFill>
          <a:blip r:embed="rId1"/>
          <a:stretch/>
        </p:blipFill>
        <p:spPr>
          <a:xfrm>
            <a:off x="494280" y="1254960"/>
            <a:ext cx="7628040" cy="35118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8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62428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Network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Policy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Rules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Attributes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that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form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rules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2019" name="PlaceHolder 2"/>
          <p:cNvSpPr>
            <a:spLocks noGrp="1"/>
          </p:cNvSpPr>
          <p:nvPr>
            <p:ph type="sldNum" idx="59"/>
          </p:nvPr>
        </p:nvSpPr>
        <p:spPr>
          <a:xfrm>
            <a:off x="8701560" y="4908600"/>
            <a:ext cx="261720" cy="299808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ABCA0567-7D54-408B-AC42-3F0905AE729C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pic>
        <p:nvPicPr>
          <p:cNvPr id="2020" name="" descr=""/>
          <p:cNvPicPr/>
          <p:nvPr/>
        </p:nvPicPr>
        <p:blipFill>
          <a:blip r:embed="rId1"/>
          <a:stretch/>
        </p:blipFill>
        <p:spPr>
          <a:xfrm>
            <a:off x="540000" y="1361880"/>
            <a:ext cx="7265880" cy="2956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1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164280" cy="1276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Behavior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21" strike="noStrike">
                <a:solidFill>
                  <a:srgbClr val="000000"/>
                </a:solidFill>
                <a:latin typeface="Tahoma"/>
              </a:rPr>
              <a:t>of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0" lang="fr-FR" sz="2400" spc="-7" strike="noStrike">
                <a:solidFill>
                  <a:srgbClr val="000000"/>
                </a:solidFill>
                <a:latin typeface="Courier New"/>
              </a:rPr>
              <a:t>t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o</a:t>
            </a:r>
            <a:r>
              <a:rPr b="0" lang="fr-FR" sz="2400" spc="-871" strike="noStrike">
                <a:solidFill>
                  <a:srgbClr val="000000"/>
                </a:solidFill>
                <a:latin typeface="Courier New"/>
              </a:rPr>
              <a:t> </a:t>
            </a:r>
            <a:r>
              <a:rPr b="1" lang="fr-FR" sz="2400" spc="35" strike="noStrike">
                <a:solidFill>
                  <a:srgbClr val="000000"/>
                </a:solidFill>
                <a:latin typeface="Tahoma"/>
              </a:rPr>
              <a:t>and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0" lang="fr-FR" sz="2400" spc="-7" strike="noStrike">
                <a:solidFill>
                  <a:srgbClr val="000000"/>
                </a:solidFill>
                <a:latin typeface="Courier New"/>
              </a:rPr>
              <a:t>fro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m</a:t>
            </a:r>
            <a:r>
              <a:rPr b="0" lang="fr-FR" sz="2400" spc="-871" strike="noStrike">
                <a:solidFill>
                  <a:srgbClr val="000000"/>
                </a:solidFill>
                <a:latin typeface="Courier New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Selectors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Ingress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egress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sections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" strike="noStrike">
                <a:solidFill>
                  <a:srgbClr val="666666"/>
                </a:solidFill>
                <a:latin typeface="Lucida Sans Unicode"/>
              </a:rPr>
              <a:t>define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6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9" strike="noStrike">
                <a:solidFill>
                  <a:srgbClr val="666666"/>
                </a:solidFill>
                <a:latin typeface="Lucida Sans Unicode"/>
              </a:rPr>
              <a:t>same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attributes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2022" name="PlaceHolder 2"/>
          <p:cNvSpPr>
            <a:spLocks noGrp="1"/>
          </p:cNvSpPr>
          <p:nvPr>
            <p:ph type="sldNum" idx="60"/>
          </p:nvPr>
        </p:nvSpPr>
        <p:spPr>
          <a:xfrm>
            <a:off x="8701560" y="4908600"/>
            <a:ext cx="261720" cy="299808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5D824D41-F2B6-4389-B551-35C69FCCB254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pic>
        <p:nvPicPr>
          <p:cNvPr id="2023" name="" descr=""/>
          <p:cNvPicPr/>
          <p:nvPr/>
        </p:nvPicPr>
        <p:blipFill>
          <a:blip r:embed="rId1"/>
          <a:stretch/>
        </p:blipFill>
        <p:spPr>
          <a:xfrm>
            <a:off x="540000" y="1299960"/>
            <a:ext cx="7085880" cy="2478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4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24428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1" strike="noStrike">
                <a:solidFill>
                  <a:srgbClr val="000000"/>
                </a:solidFill>
                <a:latin typeface="Tahoma"/>
              </a:rPr>
              <a:t>Example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Network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Policy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Restricting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80" strike="noStrike">
                <a:solidFill>
                  <a:srgbClr val="666666"/>
                </a:solidFill>
                <a:latin typeface="Lucida Sans Unicode"/>
              </a:rPr>
              <a:t>access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to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the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0" strike="noStrike">
                <a:solidFill>
                  <a:srgbClr val="666666"/>
                </a:solidFill>
                <a:latin typeface="Lucida Sans Unicode"/>
              </a:rPr>
              <a:t>payment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processor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Pod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from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other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Pods</a:t>
            </a:r>
            <a:endParaRPr b="0" lang="fr-FR" sz="1600" spc="-1" strike="noStrike">
              <a:latin typeface="Arial"/>
            </a:endParaRPr>
          </a:p>
        </p:txBody>
      </p:sp>
      <p:pic>
        <p:nvPicPr>
          <p:cNvPr id="2025" name="object 3" descr=""/>
          <p:cNvPicPr/>
          <p:nvPr/>
        </p:nvPicPr>
        <p:blipFill>
          <a:blip r:embed="rId1"/>
          <a:stretch/>
        </p:blipFill>
        <p:spPr>
          <a:xfrm>
            <a:off x="773280" y="2229120"/>
            <a:ext cx="7507080" cy="1215720"/>
          </a:xfrm>
          <a:prstGeom prst="rect">
            <a:avLst/>
          </a:prstGeom>
          <a:ln w="0">
            <a:noFill/>
          </a:ln>
        </p:spPr>
      </p:pic>
      <p:sp>
        <p:nvSpPr>
          <p:cNvPr id="2026" name="PlaceHolder 2"/>
          <p:cNvSpPr>
            <a:spLocks noGrp="1"/>
          </p:cNvSpPr>
          <p:nvPr>
            <p:ph type="sldNum" idx="61"/>
          </p:nvPr>
        </p:nvSpPr>
        <p:spPr>
          <a:xfrm>
            <a:off x="8701560" y="4908600"/>
            <a:ext cx="261720" cy="299808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57FC3A04-1300-4304-A979-F4604658C9AE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7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70428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Listing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Network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Policies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2" strike="noStrike">
                <a:solidFill>
                  <a:srgbClr val="666666"/>
                </a:solidFill>
                <a:latin typeface="Lucida Sans Unicode"/>
              </a:rPr>
              <a:t>Doesn’t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provide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6" strike="noStrike">
                <a:solidFill>
                  <a:srgbClr val="666666"/>
                </a:solidFill>
                <a:latin typeface="Lucida Sans Unicode"/>
              </a:rPr>
              <a:t>much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details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9" strike="noStrike">
                <a:solidFill>
                  <a:srgbClr val="666666"/>
                </a:solidFill>
                <a:latin typeface="Lucida Sans Unicode"/>
              </a:rPr>
              <a:t>apart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from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Pod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selector</a:t>
            </a:r>
            <a:r>
              <a:rPr b="0" lang="fr-FR" sz="1600" spc="-72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labels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2028" name="object 3"/>
          <p:cNvGrpSpPr/>
          <p:nvPr/>
        </p:nvGrpSpPr>
        <p:grpSpPr>
          <a:xfrm>
            <a:off x="455400" y="1360440"/>
            <a:ext cx="5446800" cy="1148400"/>
            <a:chOff x="455400" y="1360440"/>
            <a:chExt cx="5446800" cy="1148400"/>
          </a:xfrm>
        </p:grpSpPr>
        <p:pic>
          <p:nvPicPr>
            <p:cNvPr id="2029" name="object 4" descr=""/>
            <p:cNvPicPr/>
            <p:nvPr/>
          </p:nvPicPr>
          <p:blipFill>
            <a:blip r:embed="rId1"/>
            <a:stretch/>
          </p:blipFill>
          <p:spPr>
            <a:xfrm>
              <a:off x="455400" y="1360440"/>
              <a:ext cx="5446800" cy="11484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2030" name="object 5"/>
            <p:cNvSpPr/>
            <p:nvPr/>
          </p:nvSpPr>
          <p:spPr>
            <a:xfrm>
              <a:off x="509040" y="1408680"/>
              <a:ext cx="5332680" cy="1034280"/>
            </a:xfrm>
            <a:custGeom>
              <a:avLst/>
              <a:gdLst/>
              <a:ahLst/>
              <a:rect l="l" t="t" r="r" b="b"/>
              <a:pathLst>
                <a:path w="5335905" h="1037589">
                  <a:moveTo>
                    <a:pt x="5335799" y="1037399"/>
                  </a:moveTo>
                  <a:lnTo>
                    <a:pt x="0" y="1037399"/>
                  </a:lnTo>
                  <a:lnTo>
                    <a:pt x="0" y="0"/>
                  </a:lnTo>
                  <a:lnTo>
                    <a:pt x="5335799" y="0"/>
                  </a:lnTo>
                  <a:lnTo>
                    <a:pt x="5335799" y="10373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2031" name="object 6"/>
          <p:cNvSpPr/>
          <p:nvPr/>
        </p:nvSpPr>
        <p:spPr>
          <a:xfrm>
            <a:off x="731520" y="1557360"/>
            <a:ext cx="4863240" cy="60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3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get</a:t>
            </a:r>
            <a:r>
              <a:rPr b="1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networkpolicy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1287000"/>
                <a:tab algn="l" pos="455616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NAM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E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POD-SELECTO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R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AGE</a:t>
            </a:r>
            <a:endParaRPr b="0" lang="fr-FR" sz="13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4"/>
              </a:spcBef>
              <a:buNone/>
              <a:tabLst>
                <a:tab algn="l" pos="1287000"/>
                <a:tab algn="l" pos="4555440"/>
              </a:tabLst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api-allo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w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app=payment-processor,role=ap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i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	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83m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2032" name="PlaceHolder 2"/>
          <p:cNvSpPr>
            <a:spLocks noGrp="1"/>
          </p:cNvSpPr>
          <p:nvPr>
            <p:ph type="sldNum" idx="62"/>
          </p:nvPr>
        </p:nvSpPr>
        <p:spPr>
          <a:xfrm>
            <a:off x="8701560" y="4908600"/>
            <a:ext cx="261720" cy="299808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E7A10D23-A3B6-45CA-854D-7753F4F500AE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3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6884280" cy="127656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Rendering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Network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Policy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Details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Ingress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5" strike="noStrike">
                <a:solidFill>
                  <a:srgbClr val="666666"/>
                </a:solidFill>
                <a:latin typeface="Lucida Sans Unicode"/>
              </a:rPr>
              <a:t>and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egress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rules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00" strike="noStrike">
                <a:solidFill>
                  <a:srgbClr val="666666"/>
                </a:solidFill>
                <a:latin typeface="Lucida Sans Unicode"/>
              </a:rPr>
              <a:t>can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0" strike="noStrike">
                <a:solidFill>
                  <a:srgbClr val="666666"/>
                </a:solidFill>
                <a:latin typeface="Lucida Sans Unicode"/>
              </a:rPr>
              <a:t>be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6" strike="noStrike">
                <a:solidFill>
                  <a:srgbClr val="666666"/>
                </a:solidFill>
                <a:latin typeface="Lucida Sans Unicode"/>
              </a:rPr>
              <a:t>inspected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21" strike="noStrike">
                <a:solidFill>
                  <a:srgbClr val="666666"/>
                </a:solidFill>
                <a:latin typeface="Lucida Sans Unicode"/>
              </a:rPr>
              <a:t>in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7" strike="noStrike">
                <a:solidFill>
                  <a:srgbClr val="666666"/>
                </a:solidFill>
                <a:latin typeface="Lucida Sans Unicode"/>
              </a:rPr>
              <a:t>details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2034" name="PlaceHolder 2"/>
          <p:cNvSpPr>
            <a:spLocks noGrp="1"/>
          </p:cNvSpPr>
          <p:nvPr>
            <p:ph type="sldNum" idx="63"/>
          </p:nvPr>
        </p:nvSpPr>
        <p:spPr>
          <a:xfrm>
            <a:off x="8701560" y="4908600"/>
            <a:ext cx="261720" cy="299808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44ABF119-B6EA-44B0-A0A8-CEADC4E6E09A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pic>
        <p:nvPicPr>
          <p:cNvPr id="2035" name="" descr=""/>
          <p:cNvPicPr/>
          <p:nvPr/>
        </p:nvPicPr>
        <p:blipFill>
          <a:blip r:embed="rId1"/>
          <a:stretch/>
        </p:blipFill>
        <p:spPr>
          <a:xfrm>
            <a:off x="540000" y="1260000"/>
            <a:ext cx="5490720" cy="3381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6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7424280" cy="9108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Verifying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the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Runtime</a:t>
            </a:r>
            <a:r>
              <a:rPr b="1" lang="fr-FR" sz="2400" spc="-145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Behavior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35" strike="noStrike">
                <a:solidFill>
                  <a:srgbClr val="666666"/>
                </a:solidFill>
                <a:latin typeface="Lucida Sans Unicode"/>
              </a:rPr>
              <a:t>Communication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from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Pods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not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6" strike="noStrike">
                <a:solidFill>
                  <a:srgbClr val="666666"/>
                </a:solidFill>
                <a:latin typeface="Lucida Sans Unicode"/>
              </a:rPr>
              <a:t>matching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with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15" strike="noStrike">
                <a:solidFill>
                  <a:srgbClr val="666666"/>
                </a:solidFill>
                <a:latin typeface="Lucida Sans Unicode"/>
              </a:rPr>
              <a:t>labels</a:t>
            </a:r>
            <a:r>
              <a:rPr b="0" lang="fr-FR" sz="1600" spc="-80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35" strike="noStrike">
                <a:solidFill>
                  <a:srgbClr val="666666"/>
                </a:solidFill>
                <a:latin typeface="Lucida Sans Unicode"/>
              </a:rPr>
              <a:t>will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60" strike="noStrike">
                <a:solidFill>
                  <a:srgbClr val="666666"/>
                </a:solidFill>
                <a:latin typeface="Lucida Sans Unicode"/>
              </a:rPr>
              <a:t>be</a:t>
            </a:r>
            <a:r>
              <a:rPr b="0" lang="fr-FR" sz="1600" spc="-75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9" strike="noStrike">
                <a:solidFill>
                  <a:srgbClr val="666666"/>
                </a:solidFill>
                <a:latin typeface="Lucida Sans Unicode"/>
              </a:rPr>
              <a:t>blocked</a:t>
            </a:r>
            <a:endParaRPr b="0" lang="fr-FR" sz="1600" spc="-1" strike="noStrike">
              <a:latin typeface="Arial"/>
            </a:endParaRPr>
          </a:p>
        </p:txBody>
      </p:sp>
      <p:grpSp>
        <p:nvGrpSpPr>
          <p:cNvPr id="2037" name="object 3"/>
          <p:cNvGrpSpPr/>
          <p:nvPr/>
        </p:nvGrpSpPr>
        <p:grpSpPr>
          <a:xfrm>
            <a:off x="455400" y="1360440"/>
            <a:ext cx="6701400" cy="3542040"/>
            <a:chOff x="455400" y="1360440"/>
            <a:chExt cx="6701400" cy="3542040"/>
          </a:xfrm>
        </p:grpSpPr>
        <p:pic>
          <p:nvPicPr>
            <p:cNvPr id="2038" name="object 4" descr=""/>
            <p:cNvPicPr/>
            <p:nvPr/>
          </p:nvPicPr>
          <p:blipFill>
            <a:blip r:embed="rId1"/>
            <a:stretch/>
          </p:blipFill>
          <p:spPr>
            <a:xfrm>
              <a:off x="455400" y="1360440"/>
              <a:ext cx="6701400" cy="35420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2039" name="object 5"/>
            <p:cNvSpPr/>
            <p:nvPr/>
          </p:nvSpPr>
          <p:spPr>
            <a:xfrm>
              <a:off x="509040" y="1408680"/>
              <a:ext cx="6587280" cy="3428280"/>
            </a:xfrm>
            <a:custGeom>
              <a:avLst/>
              <a:gdLst/>
              <a:ahLst/>
              <a:rect l="l" t="t" r="r" b="b"/>
              <a:pathLst>
                <a:path w="6590665" h="3431540">
                  <a:moveTo>
                    <a:pt x="6590399" y="3431099"/>
                  </a:moveTo>
                  <a:lnTo>
                    <a:pt x="0" y="3431099"/>
                  </a:lnTo>
                  <a:lnTo>
                    <a:pt x="0" y="0"/>
                  </a:lnTo>
                  <a:lnTo>
                    <a:pt x="6590399" y="0"/>
                  </a:lnTo>
                  <a:lnTo>
                    <a:pt x="6590399" y="3431099"/>
                  </a:lnTo>
                  <a:close/>
                </a:path>
              </a:pathLst>
            </a:custGeom>
            <a:solidFill>
              <a:srgbClr val="f6f6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2040" name="object 6"/>
          <p:cNvSpPr/>
          <p:nvPr/>
        </p:nvSpPr>
        <p:spPr>
          <a:xfrm>
            <a:off x="718920" y="1557360"/>
            <a:ext cx="5399640" cy="30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run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grocery-store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--rm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-it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--image=busybox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300" spc="-1" strike="noStrike">
              <a:latin typeface="Arial"/>
            </a:endParaRPr>
          </a:p>
          <a:p>
            <a:pPr marL="21096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-l</a:t>
            </a:r>
            <a:r>
              <a:rPr b="1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app=grocery-store,role=backend</a:t>
            </a:r>
            <a:r>
              <a:rPr b="1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--</a:t>
            </a:r>
            <a:r>
              <a:rPr b="1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/bin/sh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1000"/>
              </a:lnSpc>
              <a:buNone/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/ #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wget --spider --timeout=1 10.0.0.51 </a:t>
            </a:r>
            <a:r>
              <a:rPr b="0" lang="fr-FR" sz="1300" spc="-7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1000"/>
              </a:lnSpc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Connecting to 10.0.0.51 (10.0.0.51:80)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1000"/>
              </a:lnSpc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wget: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download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timed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out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/</a:t>
            </a:r>
            <a:r>
              <a:rPr b="0" lang="fr-FR" sz="13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#</a:t>
            </a:r>
            <a:r>
              <a:rPr b="0" lang="fr-FR" sz="13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exit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pod</a:t>
            </a:r>
            <a:r>
              <a:rPr b="0" lang="fr-FR" sz="13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"grocery-store"</a:t>
            </a:r>
            <a:r>
              <a:rPr b="0" lang="fr-FR" sz="13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deleted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buNone/>
            </a:pPr>
            <a:endParaRPr b="0" lang="fr-FR" sz="1400" spc="-1" strike="noStrike">
              <a:latin typeface="Arial"/>
            </a:endParaRPr>
          </a:p>
          <a:p>
            <a:pPr marL="12600">
              <a:lnSpc>
                <a:spcPct val="100000"/>
              </a:lnSpc>
              <a:buNone/>
            </a:pPr>
            <a:r>
              <a:rPr b="1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$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kubectl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run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coffeeshop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--rm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-it</a:t>
            </a:r>
            <a:r>
              <a:rPr b="1" lang="fr-FR" sz="1300" spc="-15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--image=busybox</a:t>
            </a:r>
            <a:r>
              <a:rPr b="1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000000"/>
                </a:solidFill>
                <a:latin typeface="MS Gothic"/>
                <a:ea typeface="DejaVu Sans"/>
              </a:rPr>
              <a:t>↵</a:t>
            </a:r>
            <a:endParaRPr b="0" lang="fr-FR" sz="1300" spc="-1" strike="noStrike">
              <a:latin typeface="Arial"/>
            </a:endParaRPr>
          </a:p>
          <a:p>
            <a:pPr marL="210960">
              <a:lnSpc>
                <a:spcPct val="100000"/>
              </a:lnSpc>
              <a:spcBef>
                <a:spcPts val="14"/>
              </a:spcBef>
              <a:buNone/>
            </a:pP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-l</a:t>
            </a:r>
            <a:r>
              <a:rPr b="1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app=coffeeshop,role=backend</a:t>
            </a:r>
            <a:r>
              <a:rPr b="1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--</a:t>
            </a:r>
            <a:r>
              <a:rPr b="1" lang="fr-FR" sz="1300" spc="-3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1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/bin/sh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1000"/>
              </a:lnSpc>
              <a:buNone/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/ #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wget --spider --timeout=1 10.0.0.51 </a:t>
            </a:r>
            <a:r>
              <a:rPr b="0" lang="fr-FR" sz="1300" spc="-77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1000"/>
              </a:lnSpc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Connecting to 10.0.0.51 (10.0.0.51:80)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1000"/>
              </a:lnSpc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remote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file</a:t>
            </a:r>
            <a:r>
              <a:rPr b="0" lang="fr-FR" sz="1300" spc="-12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exists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/</a:t>
            </a:r>
            <a:r>
              <a:rPr b="0" lang="fr-FR" sz="13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000000"/>
                </a:solidFill>
                <a:latin typeface="Courier New"/>
                <a:ea typeface="DejaVu Sans"/>
              </a:rPr>
              <a:t>#</a:t>
            </a:r>
            <a:r>
              <a:rPr b="0" lang="fr-FR" sz="13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exit</a:t>
            </a:r>
            <a:endParaRPr b="0" lang="fr-FR" sz="13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4"/>
              </a:spcBef>
              <a:buNone/>
            </a:pP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pod</a:t>
            </a:r>
            <a:r>
              <a:rPr b="0" lang="fr-FR" sz="1300" spc="-46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"coffeeshop"</a:t>
            </a:r>
            <a:r>
              <a:rPr b="0" lang="fr-FR" sz="1300" spc="-41" strike="noStrike">
                <a:solidFill>
                  <a:srgbClr val="000000"/>
                </a:solidFill>
                <a:latin typeface="Courier New"/>
                <a:ea typeface="DejaVu Sans"/>
              </a:rPr>
              <a:t> </a:t>
            </a:r>
            <a:r>
              <a:rPr b="0" lang="fr-FR" sz="1300" spc="-7" strike="noStrike">
                <a:solidFill>
                  <a:srgbClr val="000000"/>
                </a:solidFill>
                <a:latin typeface="Courier New"/>
                <a:ea typeface="DejaVu Sans"/>
              </a:rPr>
              <a:t>deleted</a:t>
            </a:r>
            <a:endParaRPr b="0" lang="fr-FR" sz="1300" spc="-1" strike="noStrike">
              <a:latin typeface="Arial"/>
            </a:endParaRPr>
          </a:p>
        </p:txBody>
      </p:sp>
      <p:sp>
        <p:nvSpPr>
          <p:cNvPr id="2041" name="PlaceHolder 2"/>
          <p:cNvSpPr>
            <a:spLocks noGrp="1"/>
          </p:cNvSpPr>
          <p:nvPr>
            <p:ph type="sldNum" idx="64"/>
          </p:nvPr>
        </p:nvSpPr>
        <p:spPr>
          <a:xfrm>
            <a:off x="8701560" y="4908600"/>
            <a:ext cx="261720" cy="299808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F979627C-D8AB-479F-AC1F-36AA12068F83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2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526428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7" strike="noStrike">
                <a:solidFill>
                  <a:srgbClr val="000000"/>
                </a:solidFill>
                <a:latin typeface="Tahoma"/>
              </a:rPr>
              <a:t>Default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Deny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41" strike="noStrike">
                <a:solidFill>
                  <a:srgbClr val="000000"/>
                </a:solidFill>
                <a:latin typeface="Tahoma"/>
              </a:rPr>
              <a:t>Network</a:t>
            </a:r>
            <a:r>
              <a:rPr b="1" lang="fr-FR" sz="2400" spc="-137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" strike="noStrike">
                <a:solidFill>
                  <a:srgbClr val="000000"/>
                </a:solidFill>
                <a:latin typeface="Tahoma"/>
              </a:rPr>
              <a:t>Policies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-7" strike="noStrike">
                <a:solidFill>
                  <a:srgbClr val="666666"/>
                </a:solidFill>
                <a:latin typeface="Lucida Sans Unicode"/>
              </a:rPr>
              <a:t>Network</a:t>
            </a:r>
            <a:r>
              <a:rPr b="0" lang="fr-FR" sz="1600" spc="-97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policies</a:t>
            </a:r>
            <a:r>
              <a:rPr b="0" lang="fr-FR" sz="1600" spc="-97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5" strike="noStrike">
                <a:solidFill>
                  <a:srgbClr val="666666"/>
                </a:solidFill>
                <a:latin typeface="Lucida Sans Unicode"/>
              </a:rPr>
              <a:t>are</a:t>
            </a:r>
            <a:r>
              <a:rPr b="0" lang="fr-FR" sz="1600" spc="-97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21" strike="noStrike">
                <a:solidFill>
                  <a:srgbClr val="666666"/>
                </a:solidFill>
                <a:latin typeface="Lucida Sans Unicode"/>
              </a:rPr>
              <a:t>additive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2043" name="PlaceHolder 2"/>
          <p:cNvSpPr>
            <a:spLocks noGrp="1"/>
          </p:cNvSpPr>
          <p:nvPr>
            <p:ph type="sldNum" idx="65"/>
          </p:nvPr>
        </p:nvSpPr>
        <p:spPr>
          <a:xfrm>
            <a:off x="8701560" y="4908600"/>
            <a:ext cx="261720" cy="299808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D0F30DA8-DD86-4376-95C0-9211B165E653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pic>
        <p:nvPicPr>
          <p:cNvPr id="2044" name="" descr=""/>
          <p:cNvPicPr/>
          <p:nvPr/>
        </p:nvPicPr>
        <p:blipFill>
          <a:blip r:embed="rId1"/>
          <a:stretch/>
        </p:blipFill>
        <p:spPr>
          <a:xfrm>
            <a:off x="545760" y="1260000"/>
            <a:ext cx="5932800" cy="3257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5" name="PlaceHolder 1"/>
          <p:cNvSpPr>
            <a:spLocks noGrp="1"/>
          </p:cNvSpPr>
          <p:nvPr>
            <p:ph type="title"/>
          </p:nvPr>
        </p:nvSpPr>
        <p:spPr>
          <a:xfrm>
            <a:off x="494280" y="342720"/>
            <a:ext cx="4904280" cy="1033200"/>
          </a:xfrm>
          <a:prstGeom prst="rect">
            <a:avLst/>
          </a:prstGeom>
          <a:noFill/>
          <a:ln w="0">
            <a:noFill/>
          </a:ln>
        </p:spPr>
        <p:txBody>
          <a:bodyPr lIns="0" rIns="0" tIns="41760" bIns="0" anchor="t">
            <a:noAutofit/>
          </a:bodyPr>
          <a:p>
            <a:pPr marL="12600">
              <a:lnSpc>
                <a:spcPct val="100000"/>
              </a:lnSpc>
              <a:spcBef>
                <a:spcPts val="329"/>
              </a:spcBef>
              <a:buNone/>
            </a:pPr>
            <a:r>
              <a:rPr b="1" lang="fr-FR" sz="2400" spc="-15" strike="noStrike">
                <a:solidFill>
                  <a:srgbClr val="000000"/>
                </a:solidFill>
                <a:latin typeface="Tahoma"/>
              </a:rPr>
              <a:t>Restricting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80" strike="noStrike">
                <a:solidFill>
                  <a:srgbClr val="000000"/>
                </a:solidFill>
                <a:latin typeface="Tahoma"/>
              </a:rPr>
              <a:t>Access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12" strike="noStrike">
                <a:solidFill>
                  <a:srgbClr val="000000"/>
                </a:solidFill>
                <a:latin typeface="Tahoma"/>
              </a:rPr>
              <a:t>to</a:t>
            </a:r>
            <a:r>
              <a:rPr b="1" lang="fr-FR" sz="2400" spc="-151" strike="noStrike">
                <a:solidFill>
                  <a:srgbClr val="000000"/>
                </a:solidFill>
                <a:latin typeface="Tahoma"/>
              </a:rPr>
              <a:t> </a:t>
            </a:r>
            <a:r>
              <a:rPr b="1" lang="fr-FR" sz="2400" spc="-32" strike="noStrike">
                <a:solidFill>
                  <a:srgbClr val="000000"/>
                </a:solidFill>
                <a:latin typeface="Tahoma"/>
              </a:rPr>
              <a:t>Ports</a:t>
            </a:r>
            <a:endParaRPr b="0" lang="fr-FR" sz="2400" spc="-1" strike="noStrike"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50"/>
              </a:spcBef>
              <a:buNone/>
            </a:pPr>
            <a:r>
              <a:rPr b="0" lang="fr-FR" sz="1600" spc="35" strike="noStrike">
                <a:solidFill>
                  <a:srgbClr val="666666"/>
                </a:solidFill>
                <a:latin typeface="Lucida Sans Unicode"/>
              </a:rPr>
              <a:t>By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default,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all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-1" strike="noStrike">
                <a:solidFill>
                  <a:srgbClr val="666666"/>
                </a:solidFill>
                <a:latin typeface="Lucida Sans Unicode"/>
              </a:rPr>
              <a:t>ports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55" strike="noStrike">
                <a:solidFill>
                  <a:srgbClr val="666666"/>
                </a:solidFill>
                <a:latin typeface="Lucida Sans Unicode"/>
              </a:rPr>
              <a:t>are</a:t>
            </a:r>
            <a:r>
              <a:rPr b="0" lang="fr-FR" sz="1600" spc="-86" strike="noStrike">
                <a:solidFill>
                  <a:srgbClr val="666666"/>
                </a:solidFill>
                <a:latin typeface="Lucida Sans Unicode"/>
              </a:rPr>
              <a:t> </a:t>
            </a:r>
            <a:r>
              <a:rPr b="0" lang="fr-FR" sz="1600" spc="41" strike="noStrike">
                <a:solidFill>
                  <a:srgbClr val="666666"/>
                </a:solidFill>
                <a:latin typeface="Lucida Sans Unicode"/>
              </a:rPr>
              <a:t>accessible</a:t>
            </a:r>
            <a:endParaRPr b="0" lang="fr-FR" sz="1600" spc="-1" strike="noStrike">
              <a:latin typeface="Arial"/>
            </a:endParaRPr>
          </a:p>
        </p:txBody>
      </p:sp>
      <p:sp>
        <p:nvSpPr>
          <p:cNvPr id="2046" name="PlaceHolder 2"/>
          <p:cNvSpPr>
            <a:spLocks noGrp="1"/>
          </p:cNvSpPr>
          <p:nvPr>
            <p:ph type="sldNum" idx="66"/>
          </p:nvPr>
        </p:nvSpPr>
        <p:spPr>
          <a:xfrm>
            <a:off x="8701560" y="4908600"/>
            <a:ext cx="261720" cy="2998080"/>
          </a:xfrm>
          <a:prstGeom prst="rect">
            <a:avLst/>
          </a:prstGeom>
          <a:noFill/>
          <a:ln w="0">
            <a:noFill/>
          </a:ln>
        </p:spPr>
        <p:txBody>
          <a:bodyPr lIns="0" rIns="0" tIns="17640" bIns="0" anchor="t">
            <a:noAutofit/>
          </a:bodyPr>
          <a:lstStyle>
            <a:lvl1pPr marL="38160">
              <a:lnSpc>
                <a:spcPct val="100000"/>
              </a:lnSpc>
              <a:spcBef>
                <a:spcPts val="139"/>
              </a:spcBef>
              <a:buNone/>
              <a:defRPr b="0" lang="fr-FR" sz="800" spc="-15" strike="noStrike">
                <a:solidFill>
                  <a:srgbClr val="000000"/>
                </a:solidFill>
                <a:latin typeface="Lucida Sans Unicode"/>
              </a:defRPr>
            </a:lvl1pPr>
          </a:lstStyle>
          <a:p>
            <a:pPr marL="38160">
              <a:lnSpc>
                <a:spcPct val="100000"/>
              </a:lnSpc>
              <a:spcBef>
                <a:spcPts val="139"/>
              </a:spcBef>
              <a:buNone/>
            </a:pPr>
            <a:fld id="{B04CBDA5-C117-4BB0-93AF-D7374E3CF642}" type="slidenum">
              <a:rPr b="0" lang="fr-FR" sz="800" spc="-15" strike="noStrike">
                <a:solidFill>
                  <a:srgbClr val="000000"/>
                </a:solidFill>
                <a:latin typeface="Lucida Sans Unicode"/>
              </a:rPr>
              <a:t>&lt;numéro&gt;</a:t>
            </a:fld>
            <a:endParaRPr b="0" lang="fr-FR" sz="800" spc="-1" strike="noStrike">
              <a:latin typeface="Times New Roman"/>
            </a:endParaRPr>
          </a:p>
        </p:txBody>
      </p:sp>
      <p:pic>
        <p:nvPicPr>
          <p:cNvPr id="2047" name="" descr=""/>
          <p:cNvPicPr/>
          <p:nvPr/>
        </p:nvPicPr>
        <p:blipFill>
          <a:blip r:embed="rId1"/>
          <a:stretch/>
        </p:blipFill>
        <p:spPr>
          <a:xfrm>
            <a:off x="540000" y="1260000"/>
            <a:ext cx="6075360" cy="3363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" name="object 2"/>
          <p:cNvSpPr/>
          <p:nvPr/>
        </p:nvSpPr>
        <p:spPr>
          <a:xfrm>
            <a:off x="494280" y="371880"/>
            <a:ext cx="128268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  <a:buNone/>
            </a:pPr>
            <a:r>
              <a:rPr b="1" lang="fr-FR" sz="2400" spc="-15" strike="noStrike">
                <a:solidFill>
                  <a:srgbClr val="000000"/>
                </a:solidFill>
                <a:latin typeface="Tahoma"/>
                <a:ea typeface="DejaVu Sans"/>
              </a:rPr>
              <a:t>Lab 20</a:t>
            </a:r>
            <a:endParaRPr b="0" lang="fr-FR" sz="2400" spc="-1" strike="noStrike">
              <a:latin typeface="Arial"/>
            </a:endParaRPr>
          </a:p>
        </p:txBody>
      </p:sp>
      <p:sp>
        <p:nvSpPr>
          <p:cNvPr id="2049" name="object 3"/>
          <p:cNvSpPr/>
          <p:nvPr/>
        </p:nvSpPr>
        <p:spPr>
          <a:xfrm>
            <a:off x="494280" y="1323360"/>
            <a:ext cx="4544280" cy="152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 algn="just">
              <a:lnSpc>
                <a:spcPct val="114000"/>
              </a:lnSpc>
              <a:spcBef>
                <a:spcPts val="99"/>
              </a:spcBef>
              <a:buNone/>
            </a:pP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Restricting access to and </a:t>
            </a:r>
            <a:r>
              <a:rPr b="0" lang="fr-FR" sz="2900" spc="-800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from </a:t>
            </a:r>
            <a:r>
              <a:rPr b="0" lang="fr-FR" sz="2900" spc="-1" strike="noStrike">
                <a:solidFill>
                  <a:srgbClr val="000000"/>
                </a:solidFill>
                <a:latin typeface="Arial MT"/>
                <a:ea typeface="DejaVu Sans"/>
              </a:rPr>
              <a:t>a </a:t>
            </a:r>
            <a:r>
              <a:rPr b="0" lang="fr-FR" sz="2900" spc="-12" strike="noStrike">
                <a:solidFill>
                  <a:srgbClr val="000000"/>
                </a:solidFill>
                <a:latin typeface="Arial MT"/>
                <a:ea typeface="DejaVu Sans"/>
              </a:rPr>
              <a:t>Pod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with Network </a:t>
            </a:r>
            <a:r>
              <a:rPr b="0" lang="fr-FR" sz="2900" spc="-1" strike="noStrike">
                <a:solidFill>
                  <a:srgbClr val="000000"/>
                </a:solidFill>
                <a:latin typeface="Arial MT"/>
                <a:ea typeface="DejaVu Sans"/>
              </a:rPr>
              <a:t> </a:t>
            </a:r>
            <a:r>
              <a:rPr b="0" lang="fr-FR" sz="2900" spc="-7" strike="noStrike">
                <a:solidFill>
                  <a:srgbClr val="000000"/>
                </a:solidFill>
                <a:latin typeface="Arial MT"/>
                <a:ea typeface="DejaVu Sans"/>
              </a:rPr>
              <a:t>Policies</a:t>
            </a:r>
            <a:endParaRPr b="0" lang="fr-FR" sz="2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523</TotalTime>
  <Application>LibreOffice/7.3.7.2$Linux_X86_64 LibreOffice_project/30$Build-2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2024-08-21T21:28:36Z</dcterms:created>
  <dc:creator/>
  <dc:description/>
  <dc:language>fr-FR</dc:language>
  <cp:lastModifiedBy/>
  <dcterms:modified xsi:type="dcterms:W3CDTF">2024-08-26T19:47:36Z</dcterms:modified>
  <cp:revision>221</cp:revision>
  <dc:subject/>
  <dc:title>[v3] Certified Kubernetes Application Developer (CKAD) Crash Course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or">
    <vt:lpwstr>Google</vt:lpwstr>
  </property>
  <property fmtid="{D5CDD505-2E9C-101B-9397-08002B2CF9AE}" pid="3" name="PresentationFormat">
    <vt:lpwstr>On-screen Show (4:3)</vt:lpwstr>
  </property>
</Properties>
</file>